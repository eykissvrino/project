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6.xml" ContentType="application/vnd.openxmlformats-officedocument.themeOverrid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ppt/notesSlides/notesSlide17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heme/themeOverride10.xml" ContentType="application/vnd.openxmlformats-officedocument.themeOverride+xml"/>
  <Override PartName="/ppt/charts/chart14.xml" ContentType="application/vnd.openxmlformats-officedocument.drawingml.chart+xml"/>
  <Override PartName="/ppt/notesSlides/notesSlide18.xml" ContentType="application/vnd.openxmlformats-officedocument.presentationml.notesSlide+xml"/>
  <Override PartName="/ppt/charts/chart1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6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charts/chart17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3.xml" ContentType="application/vnd.openxmlformats-officedocument.themeOverride+xml"/>
  <Override PartName="/ppt/notesSlides/notesSlide19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theme/themeOverride14.xml" ContentType="application/vnd.openxmlformats-officedocument.themeOverride+xml"/>
  <Override PartName="/ppt/charts/chart20.xml" ContentType="application/vnd.openxmlformats-officedocument.drawingml.chart+xml"/>
  <Override PartName="/ppt/theme/themeOverride15.xml" ContentType="application/vnd.openxmlformats-officedocument.themeOverride+xml"/>
  <Override PartName="/ppt/charts/chartEx1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notesSlides/notesSlide20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21.xml" ContentType="application/vnd.openxmlformats-officedocument.presentationml.notes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2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6.xml" ContentType="application/vnd.openxmlformats-officedocument.themeOverr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2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7.xml" ContentType="application/vnd.openxmlformats-officedocument.themeOverride+xml"/>
  <Override PartName="/ppt/tags/tag16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28.xml" ContentType="application/vnd.openxmlformats-officedocument.drawingml.chart+xml"/>
  <Override PartName="/ppt/tags/tag17.xml" ContentType="application/vnd.openxmlformats-officedocument.presentationml.tags+xml"/>
  <Override PartName="/ppt/notesSlides/notesSlide33.xml" ContentType="application/vnd.openxmlformats-officedocument.presentationml.notesSlide+xml"/>
  <Override PartName="/ppt/charts/chart29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34.xml" ContentType="application/vnd.openxmlformats-officedocument.presentationml.notesSlide+xml"/>
  <Override PartName="/ppt/charts/chart30.xml" ContentType="application/vnd.openxmlformats-officedocument.drawingml.chart+xml"/>
  <Override PartName="/ppt/theme/themeOverride18.xml" ContentType="application/vnd.openxmlformats-officedocument.themeOverride+xml"/>
  <Override PartName="/ppt/charts/chart31.xml" ContentType="application/vnd.openxmlformats-officedocument.drawingml.chart+xml"/>
  <Override PartName="/ppt/theme/themeOverride19.xml" ContentType="application/vnd.openxmlformats-officedocument.themeOverride+xml"/>
  <Override PartName="/ppt/notesSlides/notesSlide35.xml" ContentType="application/vnd.openxmlformats-officedocument.presentationml.notesSlide+xml"/>
  <Override PartName="/ppt/charts/chart32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33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20.xml" ContentType="application/vnd.openxmlformats-officedocument.themeOverr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34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21.xml" ContentType="application/vnd.openxmlformats-officedocument.themeOverride+xml"/>
  <Override PartName="/ppt/charts/chart35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22.xml" ContentType="application/vnd.openxmlformats-officedocument.themeOverr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charts/chart36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23.xml" ContentType="application/vnd.openxmlformats-officedocument.themeOverride+xml"/>
  <Override PartName="/ppt/charts/chart37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24.xml" ContentType="application/vnd.openxmlformats-officedocument.themeOverride+xml"/>
  <Override PartName="/ppt/charts/chart38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25.xml" ContentType="application/vnd.openxmlformats-officedocument.themeOverride+xml"/>
  <Override PartName="/ppt/charts/chart39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40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theme/themeOverride26.xml" ContentType="application/vnd.openxmlformats-officedocument.themeOverride+xml"/>
  <Override PartName="/ppt/charts/chart41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42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heme/themeOverride27.xml" ContentType="application/vnd.openxmlformats-officedocument.themeOverride+xml"/>
  <Override PartName="/ppt/charts/chart43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44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heme/themeOverride28.xml" ContentType="application/vnd.openxmlformats-officedocument.themeOverride+xml"/>
  <Override PartName="/ppt/charts/chart45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46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heme/themeOverride29.xml" ContentType="application/vnd.openxmlformats-officedocument.themeOverride+xml"/>
  <Override PartName="/ppt/charts/chart47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48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heme/themeOverride30.xml" ContentType="application/vnd.openxmlformats-officedocument.themeOverride+xml"/>
  <Override PartName="/ppt/charts/chart49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50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heme/themeOverride31.xml" ContentType="application/vnd.openxmlformats-officedocument.themeOverride+xml"/>
  <Override PartName="/ppt/charts/chart51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52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theme/themeOverride32.xml" ContentType="application/vnd.openxmlformats-officedocument.themeOverride+xml"/>
  <Override PartName="/ppt/charts/chart53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notesSlides/notesSlide38.xml" ContentType="application/vnd.openxmlformats-officedocument.presentationml.notesSlide+xml"/>
  <Override PartName="/ppt/charts/chart54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heme/themeOverride33.xml" ContentType="application/vnd.openxmlformats-officedocument.themeOverride+xml"/>
  <Override PartName="/ppt/charts/chart55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56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57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theme/themeOverride34.xml" ContentType="application/vnd.openxmlformats-officedocument.themeOverride+xml"/>
  <Override PartName="/ppt/charts/chart58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heme/themeOverride35.xml" ContentType="application/vnd.openxmlformats-officedocument.themeOverride+xml"/>
  <Override PartName="/ppt/charts/chart59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60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theme/themeOverride36.xml" ContentType="application/vnd.openxmlformats-officedocument.themeOverride+xml"/>
  <Override PartName="/ppt/charts/chart61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notesSlides/notesSlide39.xml" ContentType="application/vnd.openxmlformats-officedocument.presentationml.notesSlide+xml"/>
  <Override PartName="/ppt/charts/chart62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theme/themeOverride37.xml" ContentType="application/vnd.openxmlformats-officedocument.themeOverride+xml"/>
  <Override PartName="/ppt/charts/chart63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notesSlides/notesSlide40.xml" ContentType="application/vnd.openxmlformats-officedocument.presentationml.notesSlide+xml"/>
  <Override PartName="/ppt/charts/chart64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theme/themeOverride38.xml" ContentType="application/vnd.openxmlformats-officedocument.themeOverride+xml"/>
  <Override PartName="/ppt/charts/chart65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66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67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theme/themeOverride39.xml" ContentType="application/vnd.openxmlformats-officedocument.themeOverride+xml"/>
  <Override PartName="/ppt/charts/chart68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notesSlides/notesSlide41.xml" ContentType="application/vnd.openxmlformats-officedocument.presentationml.notesSlide+xml"/>
  <Override PartName="/ppt/charts/chart69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theme/themeOverride40.xml" ContentType="application/vnd.openxmlformats-officedocument.themeOverride+xml"/>
  <Override PartName="/ppt/charts/chart70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71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theme/themeOverride41.xml" ContentType="application/vnd.openxmlformats-officedocument.themeOverride+xml"/>
  <Override PartName="/ppt/charts/chart72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notesSlides/notesSlide42.xml" ContentType="application/vnd.openxmlformats-officedocument.presentationml.notesSlide+xml"/>
  <Override PartName="/ppt/charts/chart73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theme/themeOverride42.xml" ContentType="application/vnd.openxmlformats-officedocument.themeOverride+xml"/>
  <Override PartName="/ppt/charts/chart74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75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notesSlides/notesSlide43.xml" ContentType="application/vnd.openxmlformats-officedocument.presentationml.notesSlide+xml"/>
  <Override PartName="/ppt/charts/chart76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77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theme/themeOverride43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9"/>
  </p:notesMasterIdLst>
  <p:sldIdLst>
    <p:sldId id="10016" r:id="rId2"/>
    <p:sldId id="10241" r:id="rId3"/>
    <p:sldId id="9803" r:id="rId4"/>
    <p:sldId id="9834" r:id="rId5"/>
    <p:sldId id="9363" r:id="rId6"/>
    <p:sldId id="9909" r:id="rId7"/>
    <p:sldId id="1009" r:id="rId8"/>
    <p:sldId id="9855" r:id="rId9"/>
    <p:sldId id="10261" r:id="rId10"/>
    <p:sldId id="10017" r:id="rId11"/>
    <p:sldId id="9820" r:id="rId12"/>
    <p:sldId id="11514" r:id="rId13"/>
    <p:sldId id="11515" r:id="rId14"/>
    <p:sldId id="11518" r:id="rId15"/>
    <p:sldId id="11517" r:id="rId16"/>
    <p:sldId id="9884" r:id="rId17"/>
    <p:sldId id="11561" r:id="rId18"/>
    <p:sldId id="9883" r:id="rId19"/>
    <p:sldId id="11516" r:id="rId20"/>
    <p:sldId id="11547" r:id="rId21"/>
    <p:sldId id="11548" r:id="rId22"/>
    <p:sldId id="11550" r:id="rId23"/>
    <p:sldId id="11551" r:id="rId24"/>
    <p:sldId id="10177" r:id="rId25"/>
    <p:sldId id="1032" r:id="rId26"/>
    <p:sldId id="10246" r:id="rId27"/>
    <p:sldId id="9288" r:id="rId28"/>
    <p:sldId id="1128" r:id="rId29"/>
    <p:sldId id="10178" r:id="rId30"/>
    <p:sldId id="10181" r:id="rId31"/>
    <p:sldId id="10019" r:id="rId32"/>
    <p:sldId id="11477" r:id="rId33"/>
    <p:sldId id="11558" r:id="rId34"/>
    <p:sldId id="11560" r:id="rId35"/>
    <p:sldId id="11559" r:id="rId36"/>
    <p:sldId id="11552" r:id="rId37"/>
    <p:sldId id="11557" r:id="rId38"/>
    <p:sldId id="11556" r:id="rId39"/>
    <p:sldId id="11555" r:id="rId40"/>
    <p:sldId id="11553" r:id="rId41"/>
    <p:sldId id="10021" r:id="rId42"/>
    <p:sldId id="10185" r:id="rId43"/>
    <p:sldId id="9806" r:id="rId44"/>
    <p:sldId id="9252" r:id="rId45"/>
    <p:sldId id="10293" r:id="rId46"/>
    <p:sldId id="10294" r:id="rId47"/>
    <p:sldId id="9357" r:id="rId48"/>
    <p:sldId id="9358" r:id="rId49"/>
    <p:sldId id="9365" r:id="rId50"/>
    <p:sldId id="11562" r:id="rId51"/>
    <p:sldId id="9856" r:id="rId52"/>
    <p:sldId id="10187" r:id="rId53"/>
    <p:sldId id="10191" r:id="rId54"/>
    <p:sldId id="10258" r:id="rId55"/>
    <p:sldId id="10265" r:id="rId56"/>
    <p:sldId id="11564" r:id="rId57"/>
    <p:sldId id="11584" r:id="rId58"/>
    <p:sldId id="11586" r:id="rId59"/>
    <p:sldId id="11585" r:id="rId60"/>
    <p:sldId id="11587" r:id="rId61"/>
    <p:sldId id="11569" r:id="rId62"/>
    <p:sldId id="11570" r:id="rId63"/>
    <p:sldId id="11572" r:id="rId64"/>
    <p:sldId id="11573" r:id="rId65"/>
    <p:sldId id="11580" r:id="rId66"/>
    <p:sldId id="11588" r:id="rId67"/>
    <p:sldId id="11581" r:id="rId68"/>
    <p:sldId id="11596" r:id="rId69"/>
    <p:sldId id="11603" r:id="rId70"/>
    <p:sldId id="11591" r:id="rId71"/>
    <p:sldId id="11582" r:id="rId72"/>
    <p:sldId id="11598" r:id="rId73"/>
    <p:sldId id="11589" r:id="rId74"/>
    <p:sldId id="11590" r:id="rId75"/>
    <p:sldId id="11597" r:id="rId76"/>
    <p:sldId id="11592" r:id="rId77"/>
    <p:sldId id="11599" r:id="rId78"/>
    <p:sldId id="11606" r:id="rId79"/>
    <p:sldId id="11607" r:id="rId80"/>
    <p:sldId id="11608" r:id="rId81"/>
    <p:sldId id="11600" r:id="rId82"/>
    <p:sldId id="11616" r:id="rId83"/>
    <p:sldId id="11609" r:id="rId84"/>
    <p:sldId id="11610" r:id="rId85"/>
    <p:sldId id="11611" r:id="rId86"/>
    <p:sldId id="11613" r:id="rId87"/>
    <p:sldId id="11617" r:id="rId88"/>
    <p:sldId id="11625" r:id="rId89"/>
    <p:sldId id="11601" r:id="rId90"/>
    <p:sldId id="11594" r:id="rId91"/>
    <p:sldId id="11595" r:id="rId92"/>
    <p:sldId id="11614" r:id="rId93"/>
    <p:sldId id="11623" r:id="rId94"/>
    <p:sldId id="11624" r:id="rId95"/>
    <p:sldId id="11615" r:id="rId96"/>
    <p:sldId id="11568" r:id="rId97"/>
    <p:sldId id="11565" r:id="rId98"/>
    <p:sldId id="11571" r:id="rId99"/>
    <p:sldId id="11574" r:id="rId100"/>
    <p:sldId id="11628" r:id="rId101"/>
    <p:sldId id="11644" r:id="rId102"/>
    <p:sldId id="11629" r:id="rId103"/>
    <p:sldId id="11648" r:id="rId104"/>
    <p:sldId id="11626" r:id="rId105"/>
    <p:sldId id="11633" r:id="rId106"/>
    <p:sldId id="11649" r:id="rId107"/>
    <p:sldId id="11650" r:id="rId108"/>
    <p:sldId id="11646" r:id="rId109"/>
    <p:sldId id="11645" r:id="rId110"/>
    <p:sldId id="11647" r:id="rId111"/>
    <p:sldId id="11627" r:id="rId112"/>
    <p:sldId id="11639" r:id="rId113"/>
    <p:sldId id="9930" r:id="rId114"/>
    <p:sldId id="9394" r:id="rId115"/>
    <p:sldId id="11651" r:id="rId116"/>
    <p:sldId id="9851" r:id="rId117"/>
    <p:sldId id="11563" r:id="rId118"/>
    <p:sldId id="11528" r:id="rId119"/>
    <p:sldId id="11529" r:id="rId120"/>
    <p:sldId id="11530" r:id="rId121"/>
    <p:sldId id="11531" r:id="rId122"/>
    <p:sldId id="11532" r:id="rId123"/>
    <p:sldId id="11533" r:id="rId124"/>
    <p:sldId id="11534" r:id="rId125"/>
    <p:sldId id="11535" r:id="rId126"/>
    <p:sldId id="11536" r:id="rId127"/>
    <p:sldId id="11537" r:id="rId128"/>
    <p:sldId id="11538" r:id="rId129"/>
    <p:sldId id="11539" r:id="rId130"/>
    <p:sldId id="11540" r:id="rId131"/>
    <p:sldId id="11541" r:id="rId132"/>
    <p:sldId id="11542" r:id="rId133"/>
    <p:sldId id="11543" r:id="rId134"/>
    <p:sldId id="11544" r:id="rId135"/>
    <p:sldId id="11545" r:id="rId136"/>
    <p:sldId id="11546" r:id="rId137"/>
    <p:sldId id="9912" r:id="rId138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4C8B6967-A6F1-49D7-8123-89D6430275BE}">
          <p14:sldIdLst>
            <p14:sldId id="10016"/>
            <p14:sldId id="10241"/>
          </p14:sldIdLst>
        </p14:section>
        <p14:section name="컨설팅 개요" id="{B0800315-7DAF-439C-AFE3-6CA3AD6ED631}">
          <p14:sldIdLst>
            <p14:sldId id="9803"/>
            <p14:sldId id="9834"/>
            <p14:sldId id="9363"/>
            <p14:sldId id="9909"/>
            <p14:sldId id="1009"/>
          </p14:sldIdLst>
        </p14:section>
        <p14:section name="현황진단" id="{DBA32269-4AC9-48A0-BAA9-95C5A612C101}">
          <p14:sldIdLst>
            <p14:sldId id="9855"/>
            <p14:sldId id="10261"/>
          </p14:sldIdLst>
        </p14:section>
        <p14:section name="조직진단" id="{EF447314-5ED3-4291-BD94-B41FDC4232C8}">
          <p14:sldIdLst>
            <p14:sldId id="10017"/>
            <p14:sldId id="9820"/>
            <p14:sldId id="11514"/>
            <p14:sldId id="11515"/>
            <p14:sldId id="11518"/>
            <p14:sldId id="11517"/>
            <p14:sldId id="9884"/>
            <p14:sldId id="11561"/>
            <p14:sldId id="9883"/>
            <p14:sldId id="11516"/>
            <p14:sldId id="11547"/>
            <p14:sldId id="11548"/>
            <p14:sldId id="11550"/>
            <p14:sldId id="11551"/>
            <p14:sldId id="10177"/>
            <p14:sldId id="1032"/>
            <p14:sldId id="10246"/>
            <p14:sldId id="9288"/>
            <p14:sldId id="1128"/>
            <p14:sldId id="10178"/>
            <p14:sldId id="10181"/>
          </p14:sldIdLst>
        </p14:section>
        <p14:section name="제도분석" id="{85B89582-1FE0-4AA3-B6BB-C448FEB6D9BD}">
          <p14:sldIdLst>
            <p14:sldId id="10019"/>
            <p14:sldId id="11477"/>
            <p14:sldId id="11558"/>
            <p14:sldId id="11560"/>
            <p14:sldId id="11559"/>
            <p14:sldId id="11552"/>
            <p14:sldId id="11557"/>
            <p14:sldId id="11556"/>
            <p14:sldId id="11555"/>
            <p14:sldId id="11553"/>
          </p14:sldIdLst>
        </p14:section>
        <p14:section name="요구분석" id="{E400710E-7902-46A8-80BD-88BD4A64E7BB}">
          <p14:sldIdLst>
            <p14:sldId id="10021"/>
            <p14:sldId id="10185"/>
            <p14:sldId id="9806"/>
            <p14:sldId id="9252"/>
            <p14:sldId id="10293"/>
            <p14:sldId id="10294"/>
            <p14:sldId id="9357"/>
            <p14:sldId id="9358"/>
            <p14:sldId id="9365"/>
            <p14:sldId id="11562"/>
          </p14:sldIdLst>
        </p14:section>
        <p14:section name="제도설계방향" id="{04D4CA46-A88A-41D5-8C5C-80CCDD37B6A1}">
          <p14:sldIdLst>
            <p14:sldId id="9856"/>
            <p14:sldId id="10187"/>
            <p14:sldId id="10191"/>
            <p14:sldId id="10258"/>
            <p14:sldId id="10265"/>
          </p14:sldIdLst>
        </p14:section>
        <p14:section name="제도설계" id="{85AF78C8-EA0E-4E7C-9FE3-4432E962644E}">
          <p14:sldIdLst>
            <p14:sldId id="11564"/>
            <p14:sldId id="11584"/>
            <p14:sldId id="11586"/>
            <p14:sldId id="11585"/>
            <p14:sldId id="11587"/>
            <p14:sldId id="11569"/>
            <p14:sldId id="11570"/>
            <p14:sldId id="11572"/>
            <p14:sldId id="11573"/>
            <p14:sldId id="11580"/>
            <p14:sldId id="11588"/>
            <p14:sldId id="11581"/>
            <p14:sldId id="11596"/>
            <p14:sldId id="11603"/>
            <p14:sldId id="11591"/>
            <p14:sldId id="11582"/>
            <p14:sldId id="11598"/>
            <p14:sldId id="11589"/>
            <p14:sldId id="11590"/>
            <p14:sldId id="11597"/>
            <p14:sldId id="11592"/>
            <p14:sldId id="11599"/>
            <p14:sldId id="11606"/>
            <p14:sldId id="11607"/>
            <p14:sldId id="11608"/>
            <p14:sldId id="11600"/>
            <p14:sldId id="11616"/>
            <p14:sldId id="11609"/>
            <p14:sldId id="11610"/>
            <p14:sldId id="11611"/>
            <p14:sldId id="11613"/>
            <p14:sldId id="11617"/>
            <p14:sldId id="11625"/>
            <p14:sldId id="11601"/>
            <p14:sldId id="11594"/>
            <p14:sldId id="11595"/>
            <p14:sldId id="11614"/>
            <p14:sldId id="11623"/>
            <p14:sldId id="11624"/>
            <p14:sldId id="11615"/>
            <p14:sldId id="11568"/>
            <p14:sldId id="11565"/>
            <p14:sldId id="11571"/>
            <p14:sldId id="11574"/>
            <p14:sldId id="11628"/>
            <p14:sldId id="11644"/>
            <p14:sldId id="11629"/>
            <p14:sldId id="11648"/>
            <p14:sldId id="11626"/>
            <p14:sldId id="11633"/>
            <p14:sldId id="11649"/>
            <p14:sldId id="11650"/>
            <p14:sldId id="11646"/>
            <p14:sldId id="11645"/>
            <p14:sldId id="11647"/>
            <p14:sldId id="11627"/>
            <p14:sldId id="11639"/>
          </p14:sldIdLst>
        </p14:section>
        <p14:section name="변화관리" id="{B4E43E2C-5EA3-4957-AE37-A3C98B6AA8E0}">
          <p14:sldIdLst>
            <p14:sldId id="9930"/>
            <p14:sldId id="9394"/>
            <p14:sldId id="11651"/>
            <p14:sldId id="9851"/>
          </p14:sldIdLst>
        </p14:section>
        <p14:section name="Appendix" id="{5EC2DAC2-AFD9-4251-B3A3-03D4AA9629DF}">
          <p14:sldIdLst>
            <p14:sldId id="11563"/>
            <p14:sldId id="11528"/>
            <p14:sldId id="11529"/>
            <p14:sldId id="11530"/>
            <p14:sldId id="11531"/>
            <p14:sldId id="11532"/>
            <p14:sldId id="11533"/>
            <p14:sldId id="11534"/>
            <p14:sldId id="11535"/>
            <p14:sldId id="11536"/>
            <p14:sldId id="11537"/>
            <p14:sldId id="11538"/>
            <p14:sldId id="11539"/>
            <p14:sldId id="11540"/>
            <p14:sldId id="11541"/>
            <p14:sldId id="11542"/>
            <p14:sldId id="11543"/>
            <p14:sldId id="11544"/>
            <p14:sldId id="11545"/>
            <p14:sldId id="11546"/>
            <p14:sldId id="9912"/>
          </p14:sldIdLst>
        </p14:section>
      </p14:sectionLst>
    </p:ext>
    <p:ext uri="{EFAFB233-063F-42B5-8137-9DF3F51BA10A}">
      <p15:sldGuideLst xmlns:p15="http://schemas.microsoft.com/office/powerpoint/2012/main">
        <p15:guide id="9" pos="308" userDrawn="1">
          <p15:clr>
            <a:srgbClr val="A4A3A4"/>
          </p15:clr>
        </p15:guide>
        <p15:guide id="10" orient="horz" pos="459" userDrawn="1">
          <p15:clr>
            <a:srgbClr val="A4A3A4"/>
          </p15:clr>
        </p15:guide>
        <p15:guide id="11" orient="horz" pos="414" userDrawn="1">
          <p15:clr>
            <a:srgbClr val="A4A3A4"/>
          </p15:clr>
        </p15:guide>
        <p15:guide id="12" pos="81" userDrawn="1">
          <p15:clr>
            <a:srgbClr val="A4A3A4"/>
          </p15:clr>
        </p15:guide>
        <p15:guide id="13" pos="3120" userDrawn="1">
          <p15:clr>
            <a:srgbClr val="5ACBF0"/>
          </p15:clr>
        </p15:guide>
        <p15:guide id="14" pos="3846" userDrawn="1">
          <p15:clr>
            <a:srgbClr val="5ACBF0"/>
          </p15:clr>
        </p15:guide>
        <p15:guide id="15" orient="horz" pos="27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blabla" initials="kb" lastIdx="1" clrIdx="0">
    <p:extLst>
      <p:ext uri="{19B8F6BF-5375-455C-9EA6-DF929625EA0E}">
        <p15:presenceInfo xmlns:p15="http://schemas.microsoft.com/office/powerpoint/2012/main" userId="206145890fada2d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17365D"/>
    <a:srgbClr val="E6EEF9"/>
    <a:srgbClr val="295FA7"/>
    <a:srgbClr val="0C1B2E"/>
    <a:srgbClr val="F0F4F4"/>
    <a:srgbClr val="F2F2F2"/>
    <a:srgbClr val="C0D5EF"/>
    <a:srgbClr val="EDF3FB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6270" autoAdjust="0"/>
  </p:normalViewPr>
  <p:slideViewPr>
    <p:cSldViewPr snapToGrid="0" showGuides="1">
      <p:cViewPr varScale="1">
        <p:scale>
          <a:sx n="73" d="100"/>
          <a:sy n="73" d="100"/>
        </p:scale>
        <p:origin x="1272" y="267"/>
      </p:cViewPr>
      <p:guideLst>
        <p:guide pos="308"/>
        <p:guide orient="horz" pos="459"/>
        <p:guide orient="horz" pos="414"/>
        <p:guide pos="81"/>
        <p:guide pos="3120"/>
        <p:guide pos="3846"/>
        <p:guide orient="horz" pos="2795"/>
      </p:guideLst>
    </p:cSldViewPr>
  </p:slideViewPr>
  <p:outlineViewPr>
    <p:cViewPr>
      <p:scale>
        <a:sx n="33" d="100"/>
        <a:sy n="33" d="100"/>
      </p:scale>
      <p:origin x="0" y="-2949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commentAuthors" Target="commentAuthors.xml"/><Relationship Id="rId14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delSld modSection">
      <pc:chgData name="석주 이" userId="b6553f64e91d015d" providerId="LiveId" clId="{7E74A06A-B2AA-4EEC-A19D-AA52293F645A}" dt="2025-11-11T12:21:00.619" v="0" actId="47"/>
      <pc:docMkLst>
        <pc:docMk/>
      </pc:docMkLst>
      <pc:sldChg chg="del">
        <pc:chgData name="석주 이" userId="b6553f64e91d015d" providerId="LiveId" clId="{7E74A06A-B2AA-4EEC-A19D-AA52293F645A}" dt="2025-11-11T12:21:00.619" v="0" actId="47"/>
        <pc:sldMkLst>
          <pc:docMk/>
          <pc:sldMk cId="1973251650" sldId="1017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\Downloads\&#45432;&#46041;&#49373;&#49328;&#49457;&#51648;&#49688;_&#49328;&#50629;&#49373;&#49328;&#44592;&#51456;__2025070813390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10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5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14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15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16.xlsx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oleObject" Target="file:///C:\Users\eykis\Downloads\0-2.2023_&#51064;&#51201;&#51088;&#50896;&#44288;&#47532;%20&#54788;&#54889;%20&#48516;&#49437;%20Tool(50&#51064;%20&#48120;&#47564;)_&#48288;&#51060;&#49884;&#49828;&#49548;&#54532;&#53944;.xlsx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3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9.xlsx"/><Relationship Id="rId1" Type="http://schemas.openxmlformats.org/officeDocument/2006/relationships/themeOverride" Target="../theme/themeOverride18.xml"/></Relationships>
</file>

<file path=ppt/charts/_rels/chart3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0.xlsx"/><Relationship Id="rId1" Type="http://schemas.openxmlformats.org/officeDocument/2006/relationships/themeOverride" Target="../theme/themeOverride19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package" Target="../embeddings/Microsoft_Excel_Worksheet22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oleObject" Target="&#53685;&#54633;%20&#47928;&#49436;1" TargetMode="Externa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oleObject" Target="&#53685;&#54633;%20&#47928;&#49436;1" TargetMode="Externa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22.xml"/><Relationship Id="rId1" Type="http://schemas.microsoft.com/office/2011/relationships/chartStyle" Target="style22.xml"/><Relationship Id="rId4" Type="http://schemas.openxmlformats.org/officeDocument/2006/relationships/oleObject" Target="&#53685;&#54633;%20&#47928;&#49436;1" TargetMode="Externa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oleObject" Target="&#53685;&#54633;%20&#47928;&#49436;1" TargetMode="Externa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package" Target="../embeddings/Microsoft_Excel_Worksheet23.xlsx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26.xml"/><Relationship Id="rId1" Type="http://schemas.microsoft.com/office/2011/relationships/chartStyle" Target="style26.xml"/><Relationship Id="rId4" Type="http://schemas.openxmlformats.org/officeDocument/2006/relationships/package" Target="../embeddings/Microsoft_Excel_Worksheet24.xlsx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28.xml"/><Relationship Id="rId1" Type="http://schemas.microsoft.com/office/2011/relationships/chartStyle" Target="style28.xml"/><Relationship Id="rId4" Type="http://schemas.openxmlformats.org/officeDocument/2006/relationships/package" Target="../embeddings/Microsoft_Excel_Worksheet25.xlsx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30.xml"/><Relationship Id="rId1" Type="http://schemas.microsoft.com/office/2011/relationships/chartStyle" Target="style30.xml"/><Relationship Id="rId4" Type="http://schemas.openxmlformats.org/officeDocument/2006/relationships/package" Target="../embeddings/Microsoft_Excel_Worksheet26.xlsx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32.xml"/><Relationship Id="rId1" Type="http://schemas.microsoft.com/office/2011/relationships/chartStyle" Target="style32.xml"/><Relationship Id="rId4" Type="http://schemas.openxmlformats.org/officeDocument/2006/relationships/package" Target="../embeddings/Microsoft_Excel_Worksheet27.xlsx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0.xml"/><Relationship Id="rId2" Type="http://schemas.microsoft.com/office/2011/relationships/chartColorStyle" Target="colors34.xml"/><Relationship Id="rId1" Type="http://schemas.microsoft.com/office/2011/relationships/chartStyle" Target="style34.xml"/><Relationship Id="rId4" Type="http://schemas.openxmlformats.org/officeDocument/2006/relationships/package" Target="../embeddings/Microsoft_Excel_Worksheet28.xlsx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1.xml"/><Relationship Id="rId2" Type="http://schemas.microsoft.com/office/2011/relationships/chartColorStyle" Target="colors36.xml"/><Relationship Id="rId1" Type="http://schemas.microsoft.com/office/2011/relationships/chartStyle" Target="style36.xml"/><Relationship Id="rId4" Type="http://schemas.openxmlformats.org/officeDocument/2006/relationships/package" Target="../embeddings/Microsoft_Excel_Worksheet29.xlsx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2.xml"/><Relationship Id="rId2" Type="http://schemas.microsoft.com/office/2011/relationships/chartColorStyle" Target="colors38.xml"/><Relationship Id="rId1" Type="http://schemas.microsoft.com/office/2011/relationships/chartStyle" Target="style38.xml"/><Relationship Id="rId4" Type="http://schemas.openxmlformats.org/officeDocument/2006/relationships/package" Target="../embeddings/Microsoft_Excel_Worksheet30.xlsx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3.xml"/><Relationship Id="rId2" Type="http://schemas.microsoft.com/office/2011/relationships/chartColorStyle" Target="colors40.xml"/><Relationship Id="rId1" Type="http://schemas.microsoft.com/office/2011/relationships/chartStyle" Target="style40.xml"/><Relationship Id="rId4" Type="http://schemas.openxmlformats.org/officeDocument/2006/relationships/package" Target="../embeddings/Microsoft_Excel_Worksheet31.xlsx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4.xml"/><Relationship Id="rId2" Type="http://schemas.microsoft.com/office/2011/relationships/chartColorStyle" Target="colors43.xml"/><Relationship Id="rId1" Type="http://schemas.microsoft.com/office/2011/relationships/chartStyle" Target="style43.xml"/><Relationship Id="rId4" Type="http://schemas.openxmlformats.org/officeDocument/2006/relationships/package" Target="../embeddings/Microsoft_Excel_Worksheet32.xlsx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5.xml"/><Relationship Id="rId2" Type="http://schemas.microsoft.com/office/2011/relationships/chartColorStyle" Target="colors44.xml"/><Relationship Id="rId1" Type="http://schemas.microsoft.com/office/2011/relationships/chartStyle" Target="style44.xml"/><Relationship Id="rId4" Type="http://schemas.openxmlformats.org/officeDocument/2006/relationships/package" Target="../embeddings/Microsoft_Excel_Worksheet33.xlsx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6.xml"/><Relationship Id="rId2" Type="http://schemas.microsoft.com/office/2011/relationships/chartColorStyle" Target="colors46.xml"/><Relationship Id="rId1" Type="http://schemas.microsoft.com/office/2011/relationships/chartStyle" Target="style46.xml"/><Relationship Id="rId4" Type="http://schemas.openxmlformats.org/officeDocument/2006/relationships/package" Target="../embeddings/Microsoft_Excel_Worksheet34.xlsx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7.xml"/><Relationship Id="rId2" Type="http://schemas.microsoft.com/office/2011/relationships/chartColorStyle" Target="colors48.xml"/><Relationship Id="rId1" Type="http://schemas.microsoft.com/office/2011/relationships/chartStyle" Target="style48.xml"/><Relationship Id="rId4" Type="http://schemas.openxmlformats.org/officeDocument/2006/relationships/package" Target="../embeddings/Microsoft_Excel_Worksheet35.xlsx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8.xml"/><Relationship Id="rId2" Type="http://schemas.microsoft.com/office/2011/relationships/chartColorStyle" Target="colors50.xml"/><Relationship Id="rId1" Type="http://schemas.microsoft.com/office/2011/relationships/chartStyle" Target="style50.xml"/><Relationship Id="rId4" Type="http://schemas.openxmlformats.org/officeDocument/2006/relationships/package" Target="../embeddings/Microsoft_Excel_Worksheet36.xlsx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9.xml"/><Relationship Id="rId2" Type="http://schemas.microsoft.com/office/2011/relationships/chartColorStyle" Target="colors53.xml"/><Relationship Id="rId1" Type="http://schemas.microsoft.com/office/2011/relationships/chartStyle" Target="style53.xml"/><Relationship Id="rId4" Type="http://schemas.openxmlformats.org/officeDocument/2006/relationships/package" Target="../embeddings/Microsoft_Excel_Worksheet38.xlsx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0.xml"/><Relationship Id="rId2" Type="http://schemas.microsoft.com/office/2011/relationships/chartColorStyle" Target="colors55.xml"/><Relationship Id="rId1" Type="http://schemas.microsoft.com/office/2011/relationships/chartStyle" Target="style55.xml"/><Relationship Id="rId4" Type="http://schemas.openxmlformats.org/officeDocument/2006/relationships/package" Target="../embeddings/Microsoft_Excel_Worksheet39.xlsx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1.xml"/><Relationship Id="rId2" Type="http://schemas.microsoft.com/office/2011/relationships/chartColorStyle" Target="colors57.xml"/><Relationship Id="rId1" Type="http://schemas.microsoft.com/office/2011/relationships/chartStyle" Target="style57.xml"/><Relationship Id="rId4" Type="http://schemas.openxmlformats.org/officeDocument/2006/relationships/package" Target="../embeddings/Microsoft_Excel_Worksheet40.xlsx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.xlsx" TargetMode="External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2.xml"/><Relationship Id="rId2" Type="http://schemas.microsoft.com/office/2011/relationships/chartColorStyle" Target="colors59.xml"/><Relationship Id="rId1" Type="http://schemas.microsoft.com/office/2011/relationships/chartStyle" Target="style59.xml"/><Relationship Id="rId4" Type="http://schemas.openxmlformats.org/officeDocument/2006/relationships/package" Target="../embeddings/Microsoft_Excel_Worksheet41.xlsx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\AppData\Roaming\Microsoft\Excel\(&#48516;&#49437;)2025%2520&#51068;&#53552;&#54785;&#49888;&#49345;&#49373;&#52968;&#49444;&#54021;%2520&#53685;&#54633;&#51652;&#45800;%2520&#49444;&#47928;&#51648;_&#51452;&#48288;&#51060;&#49884;&#49828;&#49548;&#54532;&#53944;%20(version%201).xlsb" TargetMode="External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%20(version%201).xlsb.xlsx" TargetMode="External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2a649f3e8a4d328/Desktop/(&#48516;&#49437;)2025%20&#51068;&#53552;&#54785;&#49888;&#49345;&#49373;&#52968;&#49444;&#54021;%20&#53685;&#54633;&#51652;&#45800;%20&#49444;&#47928;&#51648;_&#51452;&#48288;&#51060;&#49884;&#49828;&#49548;&#54532;&#53944;%20(version%201).xlsb.xlsx" TargetMode="External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3.xml"/><Relationship Id="rId2" Type="http://schemas.microsoft.com/office/2011/relationships/chartColorStyle" Target="colors63.xml"/><Relationship Id="rId1" Type="http://schemas.microsoft.com/office/2011/relationships/chartStyle" Target="style63.xml"/><Relationship Id="rId4" Type="http://schemas.openxmlformats.org/officeDocument/2006/relationships/package" Target="../embeddings/Microsoft_Excel_Worksheet42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데이터!$A$2</c:f>
              <c:strCache>
                <c:ptCount val="1"/>
                <c:pt idx="0">
                  <c:v>비농전산업</c:v>
                </c:pt>
              </c:strCache>
            </c:strRef>
          </c:tx>
          <c:spPr>
            <a:ln w="127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2">
                  <a:lumMod val="90000"/>
                  <a:lumOff val="10000"/>
                </a:schemeClr>
              </a:solidFill>
              <a:ln w="12700">
                <a:solidFill>
                  <a:schemeClr val="tx2">
                    <a:lumMod val="90000"/>
                    <a:lumOff val="1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데이터!$B$2:$K$2</c:f>
              <c:numCache>
                <c:formatCode>#,##0.0</c:formatCode>
                <c:ptCount val="10"/>
                <c:pt idx="0">
                  <c:v>100.7</c:v>
                </c:pt>
                <c:pt idx="1">
                  <c:v>102.4</c:v>
                </c:pt>
                <c:pt idx="2">
                  <c:v>105</c:v>
                </c:pt>
                <c:pt idx="3">
                  <c:v>105.3</c:v>
                </c:pt>
                <c:pt idx="4">
                  <c:v>104.1</c:v>
                </c:pt>
                <c:pt idx="5">
                  <c:v>100</c:v>
                </c:pt>
                <c:pt idx="6">
                  <c:v>104.1</c:v>
                </c:pt>
                <c:pt idx="7">
                  <c:v>106.6</c:v>
                </c:pt>
                <c:pt idx="8">
                  <c:v>108.6</c:v>
                </c:pt>
                <c:pt idx="9">
                  <c:v>108.8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1E-4043-923C-44859D8C7B23}"/>
            </c:ext>
          </c:extLst>
        </c:ser>
        <c:ser>
          <c:idx val="1"/>
          <c:order val="1"/>
          <c:tx>
            <c:strRef>
              <c:f>데이터!$A$3</c:f>
              <c:strCache>
                <c:ptCount val="1"/>
                <c:pt idx="0">
                  <c:v>광공업</c:v>
                </c:pt>
              </c:strCache>
            </c:strRef>
          </c:tx>
          <c:spPr>
            <a:ln w="12700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2">
                  <a:lumMod val="50000"/>
                </a:schemeClr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데이터!$B$3:$K$3</c:f>
              <c:numCache>
                <c:formatCode>#,##0.0</c:formatCode>
                <c:ptCount val="10"/>
                <c:pt idx="0">
                  <c:v>91.9</c:v>
                </c:pt>
                <c:pt idx="1">
                  <c:v>94.4</c:v>
                </c:pt>
                <c:pt idx="2">
                  <c:v>97.6</c:v>
                </c:pt>
                <c:pt idx="3">
                  <c:v>98.9</c:v>
                </c:pt>
                <c:pt idx="4">
                  <c:v>99.1</c:v>
                </c:pt>
                <c:pt idx="5">
                  <c:v>100</c:v>
                </c:pt>
                <c:pt idx="6">
                  <c:v>104.5</c:v>
                </c:pt>
                <c:pt idx="7">
                  <c:v>107</c:v>
                </c:pt>
                <c:pt idx="8">
                  <c:v>105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1E-4043-923C-44859D8C7B23}"/>
            </c:ext>
          </c:extLst>
        </c:ser>
        <c:ser>
          <c:idx val="2"/>
          <c:order val="2"/>
          <c:tx>
            <c:strRef>
              <c:f>데이터!$A$4</c:f>
              <c:strCache>
                <c:ptCount val="1"/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데이터!$B$4:$K$4</c:f>
            </c:numRef>
          </c:val>
          <c:smooth val="0"/>
          <c:extLst>
            <c:ext xmlns:c16="http://schemas.microsoft.com/office/drawing/2014/chart" uri="{C3380CC4-5D6E-409C-BE32-E72D297353CC}">
              <c16:uniqueId val="{00000002-6D1E-4043-923C-44859D8C7B23}"/>
            </c:ext>
          </c:extLst>
        </c:ser>
        <c:ser>
          <c:idx val="3"/>
          <c:order val="3"/>
          <c:tx>
            <c:strRef>
              <c:f>데이터!$A$5</c:f>
              <c:strCache>
                <c:ptCount val="1"/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데이터!$B$5:$K$5</c:f>
            </c:numRef>
          </c:val>
          <c:smooth val="0"/>
          <c:extLst>
            <c:ext xmlns:c16="http://schemas.microsoft.com/office/drawing/2014/chart" uri="{C3380CC4-5D6E-409C-BE32-E72D297353CC}">
              <c16:uniqueId val="{00000003-6D1E-4043-923C-44859D8C7B23}"/>
            </c:ext>
          </c:extLst>
        </c:ser>
        <c:ser>
          <c:idx val="4"/>
          <c:order val="4"/>
          <c:tx>
            <c:strRef>
              <c:f>데이터!$A$6</c:f>
              <c:strCache>
                <c:ptCount val="1"/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데이터!$B$6:$K$6</c:f>
            </c:numRef>
          </c:val>
          <c:smooth val="0"/>
          <c:extLst>
            <c:ext xmlns:c16="http://schemas.microsoft.com/office/drawing/2014/chart" uri="{C3380CC4-5D6E-409C-BE32-E72D297353CC}">
              <c16:uniqueId val="{00000004-6D1E-4043-923C-44859D8C7B23}"/>
            </c:ext>
          </c:extLst>
        </c:ser>
        <c:ser>
          <c:idx val="5"/>
          <c:order val="5"/>
          <c:tx>
            <c:strRef>
              <c:f>데이터!$A$7</c:f>
              <c:strCache>
                <c:ptCount val="1"/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데이터!$B$7:$K$7</c:f>
            </c:numRef>
          </c:val>
          <c:smooth val="0"/>
          <c:extLst>
            <c:ext xmlns:c16="http://schemas.microsoft.com/office/drawing/2014/chart" uri="{C3380CC4-5D6E-409C-BE32-E72D297353CC}">
              <c16:uniqueId val="{00000005-6D1E-4043-923C-44859D8C7B23}"/>
            </c:ext>
          </c:extLst>
        </c:ser>
        <c:ser>
          <c:idx val="6"/>
          <c:order val="6"/>
          <c:tx>
            <c:strRef>
              <c:f>데이터!$A$8</c:f>
              <c:strCache>
                <c:ptCount val="1"/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데이터!$B$8:$K$8</c:f>
            </c:numRef>
          </c:val>
          <c:smooth val="0"/>
          <c:extLst>
            <c:ext xmlns:c16="http://schemas.microsoft.com/office/drawing/2014/chart" uri="{C3380CC4-5D6E-409C-BE32-E72D297353CC}">
              <c16:uniqueId val="{00000006-6D1E-4043-923C-44859D8C7B23}"/>
            </c:ext>
          </c:extLst>
        </c:ser>
        <c:ser>
          <c:idx val="7"/>
          <c:order val="7"/>
          <c:tx>
            <c:strRef>
              <c:f>데이터!$A$9</c:f>
              <c:strCache>
                <c:ptCount val="1"/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데이터!$B$9:$K$9</c:f>
            </c:numRef>
          </c:val>
          <c:smooth val="0"/>
          <c:extLst>
            <c:ext xmlns:c16="http://schemas.microsoft.com/office/drawing/2014/chart" uri="{C3380CC4-5D6E-409C-BE32-E72D297353CC}">
              <c16:uniqueId val="{00000007-6D1E-4043-923C-44859D8C7B23}"/>
            </c:ext>
          </c:extLst>
        </c:ser>
        <c:ser>
          <c:idx val="8"/>
          <c:order val="8"/>
          <c:tx>
            <c:strRef>
              <c:f>데이터!$A$10</c:f>
              <c:strCache>
                <c:ptCount val="1"/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데이터!$B$10:$K$10</c:f>
            </c:numRef>
          </c:val>
          <c:smooth val="0"/>
          <c:extLst>
            <c:ext xmlns:c16="http://schemas.microsoft.com/office/drawing/2014/chart" uri="{C3380CC4-5D6E-409C-BE32-E72D297353CC}">
              <c16:uniqueId val="{00000008-6D1E-4043-923C-44859D8C7B23}"/>
            </c:ext>
          </c:extLst>
        </c:ser>
        <c:ser>
          <c:idx val="9"/>
          <c:order val="9"/>
          <c:tx>
            <c:strRef>
              <c:f>데이터!$A$11</c:f>
              <c:strCache>
                <c:ptCount val="1"/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데이터!$B$11:$K$11</c:f>
            </c:numRef>
          </c:val>
          <c:smooth val="0"/>
          <c:extLst>
            <c:ext xmlns:c16="http://schemas.microsoft.com/office/drawing/2014/chart" uri="{C3380CC4-5D6E-409C-BE32-E72D297353CC}">
              <c16:uniqueId val="{00000009-6D1E-4043-923C-44859D8C7B23}"/>
            </c:ext>
          </c:extLst>
        </c:ser>
        <c:ser>
          <c:idx val="10"/>
          <c:order val="10"/>
          <c:tx>
            <c:strRef>
              <c:f>데이터!$A$12</c:f>
              <c:strCache>
                <c:ptCount val="1"/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데이터!$B$12:$K$12</c:f>
            </c:numRef>
          </c:val>
          <c:smooth val="0"/>
          <c:extLst>
            <c:ext xmlns:c16="http://schemas.microsoft.com/office/drawing/2014/chart" uri="{C3380CC4-5D6E-409C-BE32-E72D297353CC}">
              <c16:uniqueId val="{0000000A-6D1E-4043-923C-44859D8C7B23}"/>
            </c:ext>
          </c:extLst>
        </c:ser>
        <c:ser>
          <c:idx val="11"/>
          <c:order val="11"/>
          <c:tx>
            <c:strRef>
              <c:f>데이터!$A$13</c:f>
              <c:strCache>
                <c:ptCount val="1"/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데이터!$B$13:$K$13</c:f>
            </c:numRef>
          </c:val>
          <c:smooth val="0"/>
          <c:extLst>
            <c:ext xmlns:c16="http://schemas.microsoft.com/office/drawing/2014/chart" uri="{C3380CC4-5D6E-409C-BE32-E72D297353CC}">
              <c16:uniqueId val="{0000000B-6D1E-4043-923C-44859D8C7B23}"/>
            </c:ext>
          </c:extLst>
        </c:ser>
        <c:ser>
          <c:idx val="12"/>
          <c:order val="12"/>
          <c:tx>
            <c:strRef>
              <c:f>데이터!$A$14</c:f>
              <c:strCache>
                <c:ptCount val="1"/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데이터!$B$14:$K$14</c:f>
            </c:numRef>
          </c:val>
          <c:smooth val="0"/>
          <c:extLst>
            <c:ext xmlns:c16="http://schemas.microsoft.com/office/drawing/2014/chart" uri="{C3380CC4-5D6E-409C-BE32-E72D297353CC}">
              <c16:uniqueId val="{0000000C-6D1E-4043-923C-44859D8C7B23}"/>
            </c:ext>
          </c:extLst>
        </c:ser>
        <c:ser>
          <c:idx val="13"/>
          <c:order val="13"/>
          <c:tx>
            <c:strRef>
              <c:f>데이터!$A$15</c:f>
              <c:strCache>
                <c:ptCount val="1"/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  <a:lumOff val="20000"/>
                </a:schemeClr>
              </a:solidFill>
              <a:ln w="9525">
                <a:solidFill>
                  <a:schemeClr val="accent2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데이터!$B$15:$K$15</c:f>
            </c:numRef>
          </c:val>
          <c:smooth val="0"/>
          <c:extLst>
            <c:ext xmlns:c16="http://schemas.microsoft.com/office/drawing/2014/chart" uri="{C3380CC4-5D6E-409C-BE32-E72D297353CC}">
              <c16:uniqueId val="{0000000D-6D1E-4043-923C-44859D8C7B23}"/>
            </c:ext>
          </c:extLst>
        </c:ser>
        <c:ser>
          <c:idx val="14"/>
          <c:order val="14"/>
          <c:tx>
            <c:strRef>
              <c:f>데이터!$A$16</c:f>
              <c:strCache>
                <c:ptCount val="1"/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데이터!$B$16:$K$16</c:f>
            </c:numRef>
          </c:val>
          <c:smooth val="0"/>
          <c:extLst>
            <c:ext xmlns:c16="http://schemas.microsoft.com/office/drawing/2014/chart" uri="{C3380CC4-5D6E-409C-BE32-E72D297353CC}">
              <c16:uniqueId val="{0000000E-6D1E-4043-923C-44859D8C7B23}"/>
            </c:ext>
          </c:extLst>
        </c:ser>
        <c:ser>
          <c:idx val="15"/>
          <c:order val="15"/>
          <c:tx>
            <c:strRef>
              <c:f>데이터!$A$17</c:f>
              <c:strCache>
                <c:ptCount val="1"/>
              </c:strCache>
            </c:strRef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80000"/>
                  <a:lumOff val="20000"/>
                </a:schemeClr>
              </a:solidFill>
              <a:ln w="9525">
                <a:solidFill>
                  <a:schemeClr val="accent4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데이터!$B$17:$K$17</c:f>
            </c:numRef>
          </c:val>
          <c:smooth val="0"/>
          <c:extLst>
            <c:ext xmlns:c16="http://schemas.microsoft.com/office/drawing/2014/chart" uri="{C3380CC4-5D6E-409C-BE32-E72D297353CC}">
              <c16:uniqueId val="{0000000F-6D1E-4043-923C-44859D8C7B23}"/>
            </c:ext>
          </c:extLst>
        </c:ser>
        <c:ser>
          <c:idx val="16"/>
          <c:order val="16"/>
          <c:tx>
            <c:strRef>
              <c:f>데이터!$A$18</c:f>
              <c:strCache>
                <c:ptCount val="1"/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80000"/>
                  <a:lumOff val="20000"/>
                </a:schemeClr>
              </a:solidFill>
              <a:ln w="9525">
                <a:solidFill>
                  <a:schemeClr val="accent5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데이터!$B$18:$K$18</c:f>
            </c:numRef>
          </c:val>
          <c:smooth val="0"/>
          <c:extLst>
            <c:ext xmlns:c16="http://schemas.microsoft.com/office/drawing/2014/chart" uri="{C3380CC4-5D6E-409C-BE32-E72D297353CC}">
              <c16:uniqueId val="{00000010-6D1E-4043-923C-44859D8C7B23}"/>
            </c:ext>
          </c:extLst>
        </c:ser>
        <c:ser>
          <c:idx val="17"/>
          <c:order val="17"/>
          <c:tx>
            <c:strRef>
              <c:f>데이터!$A$19</c:f>
              <c:strCache>
                <c:ptCount val="1"/>
              </c:strCache>
            </c:strRef>
          </c:tx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80000"/>
                  <a:lumOff val="20000"/>
                </a:schemeClr>
              </a:solidFill>
              <a:ln w="9525">
                <a:solidFill>
                  <a:schemeClr val="accent6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데이터!$B$19:$K$19</c:f>
            </c:numRef>
          </c:val>
          <c:smooth val="0"/>
          <c:extLst>
            <c:ext xmlns:c16="http://schemas.microsoft.com/office/drawing/2014/chart" uri="{C3380CC4-5D6E-409C-BE32-E72D297353CC}">
              <c16:uniqueId val="{00000011-6D1E-4043-923C-44859D8C7B23}"/>
            </c:ext>
          </c:extLst>
        </c:ser>
        <c:ser>
          <c:idx val="18"/>
          <c:order val="18"/>
          <c:tx>
            <c:strRef>
              <c:f>데이터!$A$20</c:f>
              <c:strCache>
                <c:ptCount val="1"/>
              </c:strCache>
            </c:strRef>
          </c:tx>
          <c:spPr>
            <a:ln w="28575" cap="rnd">
              <a:solidFill>
                <a:schemeClr val="accent1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80000"/>
                </a:schemeClr>
              </a:solidFill>
              <a:ln w="9525">
                <a:solidFill>
                  <a:schemeClr val="accent1">
                    <a:lumMod val="8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데이터!$B$20:$K$20</c:f>
            </c:numRef>
          </c:val>
          <c:smooth val="0"/>
          <c:extLst>
            <c:ext xmlns:c16="http://schemas.microsoft.com/office/drawing/2014/chart" uri="{C3380CC4-5D6E-409C-BE32-E72D297353CC}">
              <c16:uniqueId val="{00000012-6D1E-4043-923C-44859D8C7B23}"/>
            </c:ext>
          </c:extLst>
        </c:ser>
        <c:ser>
          <c:idx val="19"/>
          <c:order val="19"/>
          <c:tx>
            <c:strRef>
              <c:f>데이터!$A$21</c:f>
              <c:strCache>
                <c:ptCount val="1"/>
              </c:strCache>
            </c:strRef>
          </c:tx>
          <c:spPr>
            <a:ln w="28575" cap="rnd">
              <a:solidFill>
                <a:schemeClr val="accent2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80000"/>
                </a:schemeClr>
              </a:solidFill>
              <a:ln w="9525">
                <a:solidFill>
                  <a:schemeClr val="accent2">
                    <a:lumMod val="8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데이터!$B$21:$K$21</c:f>
            </c:numRef>
          </c:val>
          <c:smooth val="0"/>
          <c:extLst>
            <c:ext xmlns:c16="http://schemas.microsoft.com/office/drawing/2014/chart" uri="{C3380CC4-5D6E-409C-BE32-E72D297353CC}">
              <c16:uniqueId val="{00000013-6D1E-4043-923C-44859D8C7B23}"/>
            </c:ext>
          </c:extLst>
        </c:ser>
        <c:ser>
          <c:idx val="20"/>
          <c:order val="20"/>
          <c:tx>
            <c:strRef>
              <c:f>데이터!$A$22</c:f>
              <c:strCache>
                <c:ptCount val="1"/>
              </c:strCache>
            </c:strRef>
          </c:tx>
          <c:spPr>
            <a:ln w="28575" cap="rnd">
              <a:solidFill>
                <a:schemeClr val="accent3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80000"/>
                </a:schemeClr>
              </a:solidFill>
              <a:ln w="9525">
                <a:solidFill>
                  <a:schemeClr val="accent3">
                    <a:lumMod val="8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데이터!$B$22:$K$22</c:f>
            </c:numRef>
          </c:val>
          <c:smooth val="0"/>
          <c:extLst>
            <c:ext xmlns:c16="http://schemas.microsoft.com/office/drawing/2014/chart" uri="{C3380CC4-5D6E-409C-BE32-E72D297353CC}">
              <c16:uniqueId val="{00000014-6D1E-4043-923C-44859D8C7B23}"/>
            </c:ext>
          </c:extLst>
        </c:ser>
        <c:ser>
          <c:idx val="21"/>
          <c:order val="21"/>
          <c:tx>
            <c:strRef>
              <c:f>데이터!$A$23</c:f>
              <c:strCache>
                <c:ptCount val="1"/>
              </c:strCache>
            </c:strRef>
          </c:tx>
          <c:spPr>
            <a:ln w="28575" cap="rnd">
              <a:solidFill>
                <a:schemeClr val="accent4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80000"/>
                </a:schemeClr>
              </a:solidFill>
              <a:ln w="9525">
                <a:solidFill>
                  <a:schemeClr val="accent4">
                    <a:lumMod val="8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데이터!$B$23:$K$23</c:f>
            </c:numRef>
          </c:val>
          <c:smooth val="0"/>
          <c:extLst>
            <c:ext xmlns:c16="http://schemas.microsoft.com/office/drawing/2014/chart" uri="{C3380CC4-5D6E-409C-BE32-E72D297353CC}">
              <c16:uniqueId val="{00000015-6D1E-4043-923C-44859D8C7B23}"/>
            </c:ext>
          </c:extLst>
        </c:ser>
        <c:ser>
          <c:idx val="22"/>
          <c:order val="22"/>
          <c:tx>
            <c:strRef>
              <c:f>데이터!$A$24</c:f>
              <c:strCache>
                <c:ptCount val="1"/>
              </c:strCache>
            </c:strRef>
          </c:tx>
          <c:spPr>
            <a:ln w="28575" cap="rnd">
              <a:solidFill>
                <a:schemeClr val="accent5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80000"/>
                </a:schemeClr>
              </a:solidFill>
              <a:ln w="9525">
                <a:solidFill>
                  <a:schemeClr val="accent5">
                    <a:lumMod val="8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데이터!$B$24:$K$24</c:f>
            </c:numRef>
          </c:val>
          <c:smooth val="0"/>
          <c:extLst>
            <c:ext xmlns:c16="http://schemas.microsoft.com/office/drawing/2014/chart" uri="{C3380CC4-5D6E-409C-BE32-E72D297353CC}">
              <c16:uniqueId val="{00000016-6D1E-4043-923C-44859D8C7B23}"/>
            </c:ext>
          </c:extLst>
        </c:ser>
        <c:ser>
          <c:idx val="23"/>
          <c:order val="23"/>
          <c:tx>
            <c:strRef>
              <c:f>데이터!$A$25</c:f>
              <c:strCache>
                <c:ptCount val="1"/>
              </c:strCache>
            </c:strRef>
          </c:tx>
          <c:spPr>
            <a:ln w="28575" cap="rnd">
              <a:solidFill>
                <a:schemeClr val="accent6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80000"/>
                </a:schemeClr>
              </a:solidFill>
              <a:ln w="9525">
                <a:solidFill>
                  <a:schemeClr val="accent6">
                    <a:lumMod val="8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데이터!$B$25:$K$25</c:f>
            </c:numRef>
          </c:val>
          <c:smooth val="0"/>
          <c:extLst>
            <c:ext xmlns:c16="http://schemas.microsoft.com/office/drawing/2014/chart" uri="{C3380CC4-5D6E-409C-BE32-E72D297353CC}">
              <c16:uniqueId val="{00000017-6D1E-4043-923C-44859D8C7B23}"/>
            </c:ext>
          </c:extLst>
        </c:ser>
        <c:ser>
          <c:idx val="24"/>
          <c:order val="24"/>
          <c:tx>
            <c:strRef>
              <c:f>데이터!$A$26</c:f>
              <c:strCache>
                <c:ptCount val="1"/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데이터!$B$26:$K$26</c:f>
            </c:numRef>
          </c:val>
          <c:smooth val="0"/>
          <c:extLst>
            <c:ext xmlns:c16="http://schemas.microsoft.com/office/drawing/2014/chart" uri="{C3380CC4-5D6E-409C-BE32-E72D297353CC}">
              <c16:uniqueId val="{00000018-6D1E-4043-923C-44859D8C7B23}"/>
            </c:ext>
          </c:extLst>
        </c:ser>
        <c:ser>
          <c:idx val="25"/>
          <c:order val="25"/>
          <c:tx>
            <c:strRef>
              <c:f>데이터!$A$27</c:f>
              <c:strCache>
                <c:ptCount val="1"/>
              </c:strCache>
            </c:strRef>
          </c:tx>
          <c:spPr>
            <a:ln w="28575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데이터!$B$27:$K$27</c:f>
            </c:numRef>
          </c:val>
          <c:smooth val="0"/>
          <c:extLst>
            <c:ext xmlns:c16="http://schemas.microsoft.com/office/drawing/2014/chart" uri="{C3380CC4-5D6E-409C-BE32-E72D297353CC}">
              <c16:uniqueId val="{00000019-6D1E-4043-923C-44859D8C7B23}"/>
            </c:ext>
          </c:extLst>
        </c:ser>
        <c:ser>
          <c:idx val="26"/>
          <c:order val="26"/>
          <c:tx>
            <c:strRef>
              <c:f>데이터!$A$28</c:f>
              <c:strCache>
                <c:ptCount val="1"/>
              </c:strCache>
            </c:strRef>
          </c:tx>
          <c:spPr>
            <a:ln w="2857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  <a:lumOff val="40000"/>
                </a:schemeClr>
              </a:solidFill>
              <a:ln w="9525">
                <a:solidFill>
                  <a:schemeClr val="accent3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데이터!$B$28:$K$28</c:f>
            </c:numRef>
          </c:val>
          <c:smooth val="0"/>
          <c:extLst>
            <c:ext xmlns:c16="http://schemas.microsoft.com/office/drawing/2014/chart" uri="{C3380CC4-5D6E-409C-BE32-E72D297353CC}">
              <c16:uniqueId val="{0000001A-6D1E-4043-923C-44859D8C7B23}"/>
            </c:ext>
          </c:extLst>
        </c:ser>
        <c:ser>
          <c:idx val="27"/>
          <c:order val="27"/>
          <c:tx>
            <c:strRef>
              <c:f>데이터!$A$29</c:f>
              <c:strCache>
                <c:ptCount val="1"/>
              </c:strCache>
            </c:strRef>
          </c:tx>
          <c:spPr>
            <a:ln w="28575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  <a:lumOff val="40000"/>
                </a:schemeClr>
              </a:solidFill>
              <a:ln w="9525"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데이터!$B$29:$K$29</c:f>
            </c:numRef>
          </c:val>
          <c:smooth val="0"/>
          <c:extLst>
            <c:ext xmlns:c16="http://schemas.microsoft.com/office/drawing/2014/chart" uri="{C3380CC4-5D6E-409C-BE32-E72D297353CC}">
              <c16:uniqueId val="{0000001B-6D1E-4043-923C-44859D8C7B23}"/>
            </c:ext>
          </c:extLst>
        </c:ser>
        <c:ser>
          <c:idx val="28"/>
          <c:order val="28"/>
          <c:tx>
            <c:strRef>
              <c:f>데이터!$A$30</c:f>
              <c:strCache>
                <c:ptCount val="1"/>
              </c:strCache>
            </c:strRef>
          </c:tx>
          <c:spPr>
            <a:ln w="28575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데이터!$B$30:$K$30</c:f>
            </c:numRef>
          </c:val>
          <c:smooth val="0"/>
          <c:extLst>
            <c:ext xmlns:c16="http://schemas.microsoft.com/office/drawing/2014/chart" uri="{C3380CC4-5D6E-409C-BE32-E72D297353CC}">
              <c16:uniqueId val="{0000001C-6D1E-4043-923C-44859D8C7B23}"/>
            </c:ext>
          </c:extLst>
        </c:ser>
        <c:ser>
          <c:idx val="29"/>
          <c:order val="29"/>
          <c:tx>
            <c:strRef>
              <c:f>데이터!$A$31</c:f>
              <c:strCache>
                <c:ptCount val="1"/>
              </c:strCache>
            </c:strRef>
          </c:tx>
          <c:spPr>
            <a:ln w="28575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데이터!$B$31:$K$31</c:f>
            </c:numRef>
          </c:val>
          <c:smooth val="0"/>
          <c:extLst>
            <c:ext xmlns:c16="http://schemas.microsoft.com/office/drawing/2014/chart" uri="{C3380CC4-5D6E-409C-BE32-E72D297353CC}">
              <c16:uniqueId val="{0000001D-6D1E-4043-923C-44859D8C7B23}"/>
            </c:ext>
          </c:extLst>
        </c:ser>
        <c:ser>
          <c:idx val="30"/>
          <c:order val="30"/>
          <c:tx>
            <c:strRef>
              <c:f>데이터!$A$32</c:f>
              <c:strCache>
                <c:ptCount val="1"/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 w="9525">
                <a:solidFill>
                  <a:schemeClr val="accent1">
                    <a:lumMod val="5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데이터!$B$32:$K$32</c:f>
            </c:numRef>
          </c:val>
          <c:smooth val="0"/>
          <c:extLst>
            <c:ext xmlns:c16="http://schemas.microsoft.com/office/drawing/2014/chart" uri="{C3380CC4-5D6E-409C-BE32-E72D297353CC}">
              <c16:uniqueId val="{0000001E-6D1E-4043-923C-44859D8C7B23}"/>
            </c:ext>
          </c:extLst>
        </c:ser>
        <c:ser>
          <c:idx val="31"/>
          <c:order val="31"/>
          <c:tx>
            <c:strRef>
              <c:f>데이터!$A$33</c:f>
              <c:strCache>
                <c:ptCount val="1"/>
              </c:strCache>
            </c:strRef>
          </c:tx>
          <c:spPr>
            <a:ln w="28575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50000"/>
                </a:schemeClr>
              </a:solidFill>
              <a:ln w="9525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데이터!$B$33:$K$33</c:f>
            </c:numRef>
          </c:val>
          <c:smooth val="0"/>
          <c:extLst>
            <c:ext xmlns:c16="http://schemas.microsoft.com/office/drawing/2014/chart" uri="{C3380CC4-5D6E-409C-BE32-E72D297353CC}">
              <c16:uniqueId val="{0000001F-6D1E-4043-923C-44859D8C7B23}"/>
            </c:ext>
          </c:extLst>
        </c:ser>
        <c:ser>
          <c:idx val="32"/>
          <c:order val="32"/>
          <c:tx>
            <c:strRef>
              <c:f>데이터!$A$34</c:f>
              <c:strCache>
                <c:ptCount val="1"/>
              </c:strCache>
            </c:strRef>
          </c:tx>
          <c:spPr>
            <a:ln w="28575" cap="rnd">
              <a:solidFill>
                <a:schemeClr val="accent3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50000"/>
                </a:schemeClr>
              </a:solidFill>
              <a:ln w="9525">
                <a:solidFill>
                  <a:schemeClr val="accent3">
                    <a:lumMod val="5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데이터!$B$34:$K$34</c:f>
            </c:numRef>
          </c:val>
          <c:smooth val="0"/>
          <c:extLst>
            <c:ext xmlns:c16="http://schemas.microsoft.com/office/drawing/2014/chart" uri="{C3380CC4-5D6E-409C-BE32-E72D297353CC}">
              <c16:uniqueId val="{00000020-6D1E-4043-923C-44859D8C7B23}"/>
            </c:ext>
          </c:extLst>
        </c:ser>
        <c:ser>
          <c:idx val="33"/>
          <c:order val="33"/>
          <c:tx>
            <c:strRef>
              <c:f>데이터!$A$35</c:f>
              <c:strCache>
                <c:ptCount val="1"/>
                <c:pt idx="0">
                  <c:v>건설업</c:v>
                </c:pt>
              </c:strCache>
            </c:strRef>
          </c:tx>
          <c:spPr>
            <a:ln w="12700" cap="rnd">
              <a:solidFill>
                <a:srgbClr val="EE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E0000"/>
              </a:solidFill>
              <a:ln w="12700">
                <a:solidFill>
                  <a:srgbClr val="EE0000"/>
                </a:solidFill>
              </a:ln>
              <a:effectLst/>
            </c:spPr>
          </c:marker>
          <c:dLbls>
            <c:dLbl>
              <c:idx val="6"/>
              <c:layout>
                <c:manualLayout>
                  <c:x val="-4.7371318669858387E-2"/>
                  <c:y val="-4.53644106588872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D1E-4043-923C-44859D8C7B23}"/>
                </c:ext>
              </c:extLst>
            </c:dLbl>
            <c:dLbl>
              <c:idx val="7"/>
              <c:layout>
                <c:manualLayout>
                  <c:x val="-4.7371318669858387E-2"/>
                  <c:y val="-4.53644106588872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D1E-4043-923C-44859D8C7B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데이터!$B$35:$K$35</c:f>
              <c:numCache>
                <c:formatCode>#,##0.0</c:formatCode>
                <c:ptCount val="10"/>
                <c:pt idx="0">
                  <c:v>110.8</c:v>
                </c:pt>
                <c:pt idx="1">
                  <c:v>116.9</c:v>
                </c:pt>
                <c:pt idx="2">
                  <c:v>130.80000000000001</c:v>
                </c:pt>
                <c:pt idx="3">
                  <c:v>124.5</c:v>
                </c:pt>
                <c:pt idx="4">
                  <c:v>119.5</c:v>
                </c:pt>
                <c:pt idx="5">
                  <c:v>100</c:v>
                </c:pt>
                <c:pt idx="6">
                  <c:v>88.9</c:v>
                </c:pt>
                <c:pt idx="7">
                  <c:v>88.4</c:v>
                </c:pt>
                <c:pt idx="8">
                  <c:v>99.2</c:v>
                </c:pt>
                <c:pt idx="9">
                  <c:v>95.3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1-6D1E-4043-923C-44859D8C7B23}"/>
            </c:ext>
          </c:extLst>
        </c:ser>
        <c:ser>
          <c:idx val="34"/>
          <c:order val="34"/>
          <c:tx>
            <c:strRef>
              <c:f>데이터!$A$36</c:f>
              <c:strCache>
                <c:ptCount val="1"/>
                <c:pt idx="0">
                  <c:v>서비스업</c:v>
                </c:pt>
              </c:strCache>
            </c:strRef>
          </c:tx>
          <c:spPr>
            <a:ln w="12700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2">
                  <a:lumMod val="50000"/>
                  <a:lumOff val="50000"/>
                </a:schemeClr>
              </a:solidFill>
              <a:ln w="12700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cat>
            <c:strRef>
              <c:f>데이터!$B$1:$K$1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데이터!$B$36:$K$36</c:f>
              <c:numCache>
                <c:formatCode>#,##0.0</c:formatCode>
                <c:ptCount val="10"/>
                <c:pt idx="0">
                  <c:v>102.5</c:v>
                </c:pt>
                <c:pt idx="1">
                  <c:v>103.8</c:v>
                </c:pt>
                <c:pt idx="2">
                  <c:v>105.1</c:v>
                </c:pt>
                <c:pt idx="3">
                  <c:v>105.8</c:v>
                </c:pt>
                <c:pt idx="4">
                  <c:v>104.6</c:v>
                </c:pt>
                <c:pt idx="5">
                  <c:v>100</c:v>
                </c:pt>
                <c:pt idx="6">
                  <c:v>104.9</c:v>
                </c:pt>
                <c:pt idx="7">
                  <c:v>108.5</c:v>
                </c:pt>
                <c:pt idx="8">
                  <c:v>111.7</c:v>
                </c:pt>
                <c:pt idx="9">
                  <c:v>113.4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2-6D1E-4043-923C-44859D8C7B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5619408"/>
        <c:axId val="405614704"/>
      </c:lineChart>
      <c:catAx>
        <c:axId val="40561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5614704"/>
        <c:crosses val="autoZero"/>
        <c:auto val="1"/>
        <c:lblAlgn val="ctr"/>
        <c:lblOffset val="100"/>
        <c:noMultiLvlLbl val="0"/>
      </c:catAx>
      <c:valAx>
        <c:axId val="405614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561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pattFill prst="dkDnDiag">
              <a:fgClr>
                <a:srgbClr val="DCE6F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재무현황!$D$14:$F$14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재무현황!$D$15:$F$15</c:f>
              <c:numCache>
                <c:formatCode>General</c:formatCode>
                <c:ptCount val="3"/>
                <c:pt idx="0">
                  <c:v>39</c:v>
                </c:pt>
                <c:pt idx="1">
                  <c:v>33.1</c:v>
                </c:pt>
                <c:pt idx="2">
                  <c:v>37.6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60-4A83-BAA4-984F8EBE81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pattFill prst="dkDnDiag">
              <a:fgClr>
                <a:srgbClr val="DCE6F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재무현황!$D$16:$F$16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재무현황!$D$17:$F$17</c:f>
              <c:numCache>
                <c:formatCode>General</c:formatCode>
                <c:ptCount val="3"/>
                <c:pt idx="0">
                  <c:v>0.6</c:v>
                </c:pt>
                <c:pt idx="1">
                  <c:v>-2.8</c:v>
                </c:pt>
                <c:pt idx="2">
                  <c:v>-1.3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B7-4106-9D8D-3ACF23F53D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pattFill prst="dkDnDiag">
              <a:fgClr>
                <a:srgbClr val="DCE6F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재무현황!$D$23:$F$23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재무현황!$D$29:$F$29</c:f>
              <c:numCache>
                <c:formatCode>0%</c:formatCode>
                <c:ptCount val="3"/>
                <c:pt idx="0">
                  <c:v>1.5384615384615384E-2</c:v>
                </c:pt>
                <c:pt idx="1">
                  <c:v>-8.459214501510573E-2</c:v>
                </c:pt>
                <c:pt idx="2">
                  <c:v>-3.4574468085106384E-2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F9-4849-A4D6-16106DBF12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재무현황!$D$6:$F$6</c:f>
              <c:strCache>
                <c:ptCount val="3"/>
                <c:pt idx="0">
                  <c:v>16.4</c:v>
                </c:pt>
                <c:pt idx="1">
                  <c:v>16.5</c:v>
                </c:pt>
                <c:pt idx="2">
                  <c:v>16.7</c:v>
                </c:pt>
              </c:strCache>
            </c:strRef>
          </c:tx>
          <c:spPr>
            <a:pattFill prst="dkDnDiag">
              <a:fgClr>
                <a:srgbClr val="DCE6F2"/>
              </a:fgClr>
              <a:bgClr>
                <a:sysClr val="window" lastClr="FFFFFF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재무현황!$D$4:$F$4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재무현황!$D$6:$F$6</c:f>
              <c:numCache>
                <c:formatCode>General</c:formatCode>
                <c:ptCount val="3"/>
                <c:pt idx="0">
                  <c:v>16.399999999999999</c:v>
                </c:pt>
                <c:pt idx="1">
                  <c:v>16.5</c:v>
                </c:pt>
                <c:pt idx="2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C5-4B3A-9746-D138E50ADA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pattFill prst="dkDnDiag">
              <a:fgClr>
                <a:srgbClr val="DCE6F2"/>
              </a:fgClr>
              <a:bgClr>
                <a:sysClr val="window" lastClr="FFFFFF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재무현황!$D$16:$F$16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재무현황!$D$7:$F$7</c:f>
              <c:numCache>
                <c:formatCode>General</c:formatCode>
                <c:ptCount val="3"/>
                <c:pt idx="0">
                  <c:v>22.3</c:v>
                </c:pt>
                <c:pt idx="1">
                  <c:v>24.6</c:v>
                </c:pt>
                <c:pt idx="2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27-4857-B4CF-6C102F8301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재무현황!$D$8:$F$8</c:f>
              <c:strCache>
                <c:ptCount val="3"/>
                <c:pt idx="0">
                  <c:v>0.8</c:v>
                </c:pt>
                <c:pt idx="1">
                  <c:v>11.5</c:v>
                </c:pt>
                <c:pt idx="2">
                  <c:v>20.1</c:v>
                </c:pt>
              </c:strCache>
            </c:strRef>
          </c:tx>
          <c:spPr>
            <a:pattFill prst="dkDnDiag">
              <a:fgClr>
                <a:srgbClr val="DCE6F2"/>
              </a:fgClr>
              <a:bgClr>
                <a:sysClr val="window" lastClr="FFFFFF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재무현황!$D$18:$F$18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재무현황!$D$8:$F$8</c:f>
              <c:numCache>
                <c:formatCode>General</c:formatCode>
                <c:ptCount val="3"/>
                <c:pt idx="0">
                  <c:v>0.8</c:v>
                </c:pt>
                <c:pt idx="1">
                  <c:v>11.5</c:v>
                </c:pt>
                <c:pt idx="2">
                  <c:v>20.100000000000001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84-42D6-929E-E9CF25F1FF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pattFill prst="dkDnDiag">
              <a:fgClr>
                <a:srgbClr val="DCE6F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재무현황!$D$18:$F$18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재무현황!$D$19:$F$19</c:f>
              <c:numCache>
                <c:formatCode>General</c:formatCode>
                <c:ptCount val="3"/>
                <c:pt idx="0">
                  <c:v>9.8000000000000007</c:v>
                </c:pt>
                <c:pt idx="1">
                  <c:v>13.2</c:v>
                </c:pt>
                <c:pt idx="2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FD-4F2A-97F4-A7410F367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pattFill prst="dkDnDiag">
              <a:fgClr>
                <a:srgbClr val="DCE6F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재무현황!$D$14:$F$14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재무현황!$D$30:$F$30</c:f>
              <c:numCache>
                <c:formatCode>0%</c:formatCode>
                <c:ptCount val="3"/>
                <c:pt idx="0">
                  <c:v>0.25128205128205128</c:v>
                </c:pt>
                <c:pt idx="1">
                  <c:v>0.39879154078549844</c:v>
                </c:pt>
                <c:pt idx="2">
                  <c:v>0.36702127659574468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52-4A5D-9903-E384804A9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pattFill prst="dkDnDiag">
              <a:fgClr>
                <a:srgbClr val="DCE6F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 cmpd="sng">
                <a:solidFill>
                  <a:srgbClr val="FF0000">
                    <a:alpha val="30000"/>
                  </a:srgbClr>
                </a:solidFill>
                <a:prstDash val="solid"/>
                <a:headEnd type="none"/>
                <a:tailEnd type="triangle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재무현황!$D$23:$F$23</c:f>
              <c:strCache>
                <c:ptCount val="3"/>
                <c:pt idx="0">
                  <c:v>2022년</c:v>
                </c:pt>
                <c:pt idx="1">
                  <c:v>2023년</c:v>
                </c:pt>
                <c:pt idx="2">
                  <c:v>2024년</c:v>
                </c:pt>
              </c:strCache>
            </c:strRef>
          </c:cat>
          <c:val>
            <c:numRef>
              <c:f>재무현황!$D$31:$F$31</c:f>
              <c:numCache>
                <c:formatCode>_-* #,##0.00_-;\-* #,##0.00_-;_-* "-"_-;_-@_-</c:formatCode>
                <c:ptCount val="3"/>
                <c:pt idx="0">
                  <c:v>0.44545454545454549</c:v>
                </c:pt>
                <c:pt idx="1">
                  <c:v>0.45517241379310341</c:v>
                </c:pt>
                <c:pt idx="2">
                  <c:v>0.43125000000000002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F5-4C54-A393-39A72E8D23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2023200"/>
        <c:axId val="392026464"/>
      </c:barChart>
      <c:catAx>
        <c:axId val="39202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2026464"/>
        <c:crosses val="autoZero"/>
        <c:auto val="1"/>
        <c:lblAlgn val="ctr"/>
        <c:lblOffset val="100"/>
        <c:noMultiLvlLbl val="0"/>
      </c:catAx>
      <c:valAx>
        <c:axId val="392026464"/>
        <c:scaling>
          <c:orientation val="minMax"/>
        </c:scaling>
        <c:delete val="1"/>
        <c:axPos val="l"/>
        <c:numFmt formatCode="_-* #,##0.00_-;\-* #,##0.00_-;_-* &quot;-&quot;_-;_-@_-" sourceLinked="1"/>
        <c:majorTickMark val="none"/>
        <c:minorTickMark val="none"/>
        <c:tickLblPos val="nextTo"/>
        <c:crossAx val="39202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7289098342029054"/>
          <c:y val="2.4347176119786856E-2"/>
          <c:w val="0.39702278303742972"/>
          <c:h val="0.806772794562039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341-47BA-A1C8-3301FDB8019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41-47BA-A1C8-3301FDB8019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5341-47BA-A1C8-3301FDB80198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가격 경쟁력 확보가 중요</c:v>
                </c:pt>
                <c:pt idx="1">
                  <c:v>신제품/서비스 개발 및 도입이 중요</c:v>
                </c:pt>
                <c:pt idx="2">
                  <c:v>품질 향상이 중요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5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41-47BA-A1C8-3301FDB801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7"/>
        <c:axId val="448405200"/>
        <c:axId val="448401280"/>
      </c:barChart>
      <c:catAx>
        <c:axId val="44840520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448401280"/>
        <c:crosses val="autoZero"/>
        <c:auto val="1"/>
        <c:lblAlgn val="ctr"/>
        <c:lblOffset val="100"/>
        <c:noMultiLvlLbl val="0"/>
      </c:catAx>
      <c:valAx>
        <c:axId val="448401280"/>
        <c:scaling>
          <c:orientation val="minMax"/>
          <c:max val="5"/>
          <c:min val="1"/>
        </c:scaling>
        <c:delete val="0"/>
        <c:axPos val="b"/>
        <c:majorGridlines>
          <c:spPr>
            <a:ln w="3175">
              <a:solidFill>
                <a:schemeClr val="bg1">
                  <a:lumMod val="65000"/>
                </a:schemeClr>
              </a:solidFill>
              <a:prstDash val="dash"/>
            </a:ln>
          </c:spPr>
        </c:majorGridlines>
        <c:numFmt formatCode="#,##0_);[Red]\(#,##0\)" sourceLinked="0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448405200"/>
        <c:crosses val="max"/>
        <c:crossBetween val="between"/>
        <c:majorUnit val="1"/>
      </c:valAx>
      <c:spPr>
        <a:ln>
          <a:solidFill>
            <a:schemeClr val="tx1">
              <a:lumMod val="50000"/>
              <a:lumOff val="50000"/>
            </a:schemeClr>
          </a:solidFill>
        </a:ln>
      </c:spPr>
    </c:plotArea>
    <c:plotVisOnly val="1"/>
    <c:dispBlanksAs val="gap"/>
    <c:showDLblsOverMax val="0"/>
  </c:chart>
  <c:txPr>
    <a:bodyPr/>
    <a:lstStyle/>
    <a:p>
      <a:pPr>
        <a:defRPr lang="en-US" altLang="ko-KR"/>
      </a:pPr>
      <a:endParaRPr lang="ko-K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2450740089864822"/>
          <c:y val="0.11549234294860136"/>
          <c:w val="0.43873596051023178"/>
          <c:h val="0.672193728048371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879-4851-ADA8-7359C3C10927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인력충원의 양적 용이성</c:v>
                </c:pt>
                <c:pt idx="1">
                  <c:v>인력충원의 질적 용이성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9-4851-ADA8-7359C3C109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7"/>
        <c:axId val="448407944"/>
        <c:axId val="448400888"/>
      </c:barChart>
      <c:catAx>
        <c:axId val="44840794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crossAx val="448400888"/>
        <c:crosses val="autoZero"/>
        <c:auto val="1"/>
        <c:lblAlgn val="ctr"/>
        <c:lblOffset val="100"/>
        <c:noMultiLvlLbl val="0"/>
      </c:catAx>
      <c:valAx>
        <c:axId val="448400888"/>
        <c:scaling>
          <c:orientation val="minMax"/>
          <c:max val="5"/>
          <c:min val="1"/>
        </c:scaling>
        <c:delete val="0"/>
        <c:axPos val="b"/>
        <c:majorGridlines>
          <c:spPr>
            <a:ln w="3175">
              <a:solidFill>
                <a:schemeClr val="bg1">
                  <a:lumMod val="65000"/>
                </a:schemeClr>
              </a:solidFill>
              <a:prstDash val="dash"/>
            </a:ln>
          </c:spPr>
        </c:majorGridlines>
        <c:numFmt formatCode="#,##0_);[Red]\(#,##0\)" sourceLinked="0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448407944"/>
        <c:crosses val="max"/>
        <c:crossBetween val="between"/>
        <c:majorUnit val="1"/>
      </c:valAx>
      <c:spPr>
        <a:ln>
          <a:solidFill>
            <a:schemeClr val="tx1">
              <a:lumMod val="50000"/>
              <a:lumOff val="50000"/>
            </a:schemeClr>
          </a:solidFill>
        </a:ln>
      </c:spPr>
    </c:plotArea>
    <c:plotVisOnly val="1"/>
    <c:dispBlanksAs val="gap"/>
    <c:showDLblsOverMax val="0"/>
  </c:chart>
  <c:txPr>
    <a:bodyPr/>
    <a:lstStyle/>
    <a:p>
      <a:pPr>
        <a:defRPr lang="en-US" altLang="ko-KR"/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0384301335191163"/>
          <c:y val="8.0418526959942546E-2"/>
          <c:w val="0.60413582594053339"/>
          <c:h val="0.85384924599581624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rgbClr val="17365D">
                <a:lumMod val="60000"/>
                <a:lumOff val="40000"/>
                <a:alpha val="50000"/>
              </a:srgbClr>
            </a:solidFill>
            <a:ln w="25400">
              <a:noFill/>
            </a:ln>
          </c:spPr>
          <c:dLbls>
            <c:delete val="1"/>
          </c:dLbls>
          <c:cat>
            <c:strRef>
              <c:f>Sheet1!$A$2:$A$6</c:f>
              <c:strCache>
                <c:ptCount val="5"/>
                <c:pt idx="0">
                  <c:v>가격 경쟁력</c:v>
                </c:pt>
                <c:pt idx="1">
                  <c:v>품질경쟁력</c:v>
                </c:pt>
                <c:pt idx="2">
                  <c:v>신제품/서비스 개발 속도</c:v>
                </c:pt>
                <c:pt idx="3">
                  <c:v>신제품/서비스 품목 다양성</c:v>
                </c:pt>
                <c:pt idx="4">
                  <c:v>제품/서비스 기술력 수준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09-4626-8320-19F08CE1E6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48411472"/>
        <c:axId val="448407160"/>
      </c:radarChart>
      <c:radarChart>
        <c:radarStyle val="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ln w="15875">
              <a:solidFill>
                <a:schemeClr val="accent1"/>
              </a:solidFill>
              <a:prstDash val="dash"/>
            </a:ln>
          </c:spPr>
          <c:marker>
            <c:symbol val="square"/>
            <c:size val="6"/>
            <c:spPr>
              <a:solidFill>
                <a:schemeClr val="accent1"/>
              </a:solidFill>
              <a:ln w="28575">
                <a:solidFill>
                  <a:schemeClr val="accent1"/>
                </a:solidFill>
              </a:ln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가격 경쟁력</c:v>
                </c:pt>
                <c:pt idx="1">
                  <c:v>품질경쟁력</c:v>
                </c:pt>
                <c:pt idx="2">
                  <c:v>신제품/서비스 개발 속도</c:v>
                </c:pt>
                <c:pt idx="3">
                  <c:v>신제품/서비스 품목 다양성</c:v>
                </c:pt>
                <c:pt idx="4">
                  <c:v>제품/서비스 기술력 수준</c:v>
                </c:pt>
              </c:strCache>
            </c:strRef>
          </c:cat>
          <c:val>
            <c:numRef>
              <c:f>Sheet1!$C$2:$C$6</c:f>
              <c:numCache>
                <c:formatCode>###0</c:formatCode>
                <c:ptCount val="5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09-4626-8320-19F08CE1E6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48411472"/>
        <c:axId val="448407160"/>
      </c:radarChart>
      <c:catAx>
        <c:axId val="448411472"/>
        <c:scaling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800"/>
            </a:pPr>
            <a:endParaRPr lang="ko-KR"/>
          </a:p>
        </c:txPr>
        <c:crossAx val="448407160"/>
        <c:crosses val="autoZero"/>
        <c:auto val="1"/>
        <c:lblAlgn val="ctr"/>
        <c:lblOffset val="100"/>
        <c:noMultiLvlLbl val="0"/>
      </c:catAx>
      <c:valAx>
        <c:axId val="448407160"/>
        <c:scaling>
          <c:orientation val="minMax"/>
          <c:max val="5"/>
          <c:min val="1"/>
        </c:scaling>
        <c:delete val="0"/>
        <c:axPos val="l"/>
        <c:majorGridlines>
          <c:spPr>
            <a:ln w="6350">
              <a:solidFill>
                <a:sysClr val="window" lastClr="FFFFFF">
                  <a:lumMod val="85000"/>
                </a:sysClr>
              </a:solidFill>
              <a:prstDash val="dash"/>
            </a:ln>
          </c:spPr>
        </c:majorGridlines>
        <c:numFmt formatCode="0.0" sourceLinked="1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  <a:prstDash val="solid"/>
          </a:ln>
        </c:spPr>
        <c:txPr>
          <a:bodyPr/>
          <a:lstStyle/>
          <a:p>
            <a:pPr>
              <a:defRPr>
                <a:noFill/>
              </a:defRPr>
            </a:pPr>
            <a:endParaRPr lang="ko-KR"/>
          </a:p>
        </c:txPr>
        <c:crossAx val="448411472"/>
        <c:crosses val="autoZero"/>
        <c:crossBetween val="between"/>
        <c:majorUnit val="1"/>
        <c:minorUnit val="1"/>
      </c:valAx>
      <c:spPr>
        <a:ln>
          <a:noFill/>
        </a:ln>
      </c:spPr>
    </c:plotArea>
    <c:plotVisOnly val="1"/>
    <c:dispBlanksAs val="gap"/>
    <c:showDLblsOverMax val="0"/>
  </c:chart>
  <c:spPr>
    <a:ln w="9525">
      <a:noFill/>
    </a:ln>
  </c:spPr>
  <c:txPr>
    <a:bodyPr/>
    <a:lstStyle/>
    <a:p>
      <a:pPr>
        <a:defRPr lang="en-US" altLang="ko-KR"/>
      </a:pPr>
      <a:endParaRPr lang="ko-KR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8296449718408"/>
          <c:y val="0.18803330371380231"/>
          <c:w val="0.63841365691267726"/>
          <c:h val="0.517604347984857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23D-477D-AE2C-3AD22A9A37BF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시장경쟁수준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3D-477D-AE2C-3AD22A9A37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7"/>
        <c:axId val="448407552"/>
        <c:axId val="448402848"/>
      </c:barChart>
      <c:catAx>
        <c:axId val="448407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>
                <a:noFill/>
              </a:defRPr>
            </a:pPr>
            <a:endParaRPr lang="ko-KR"/>
          </a:p>
        </c:txPr>
        <c:crossAx val="448402848"/>
        <c:crosses val="autoZero"/>
        <c:auto val="1"/>
        <c:lblAlgn val="ctr"/>
        <c:lblOffset val="100"/>
        <c:noMultiLvlLbl val="0"/>
      </c:catAx>
      <c:valAx>
        <c:axId val="448402848"/>
        <c:scaling>
          <c:orientation val="minMax"/>
          <c:max val="5"/>
          <c:min val="1"/>
        </c:scaling>
        <c:delete val="0"/>
        <c:axPos val="b"/>
        <c:majorGridlines>
          <c:spPr>
            <a:ln w="3175">
              <a:solidFill>
                <a:schemeClr val="bg1">
                  <a:lumMod val="65000"/>
                </a:schemeClr>
              </a:solidFill>
              <a:prstDash val="dash"/>
            </a:ln>
          </c:spPr>
        </c:majorGridlines>
        <c:numFmt formatCode="#,##0_);[Red]\(#,##0\)" sourceLinked="0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448407552"/>
        <c:crosses val="max"/>
        <c:crossBetween val="between"/>
        <c:majorUnit val="1"/>
      </c:valAx>
      <c:spPr>
        <a:ln>
          <a:solidFill>
            <a:schemeClr val="tx1">
              <a:lumMod val="50000"/>
              <a:lumOff val="50000"/>
            </a:schemeClr>
          </a:solidFill>
        </a:ln>
      </c:spPr>
    </c:plotArea>
    <c:plotVisOnly val="1"/>
    <c:dispBlanksAs val="gap"/>
    <c:showDLblsOverMax val="0"/>
  </c:chart>
  <c:spPr>
    <a:noFill/>
  </c:spPr>
  <c:txPr>
    <a:bodyPr/>
    <a:lstStyle/>
    <a:p>
      <a:pPr>
        <a:defRPr lang="en-US" altLang="ko-KR"/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ivotFmts>
      <c:pivotFmt>
        <c:idx val="0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7"/>
      </c:pivotFmt>
      <c:pivotFmt>
        <c:idx val="8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9480291674519064E-2"/>
          <c:y val="0.10200454545454546"/>
          <c:w val="0.86727786556362541"/>
          <c:h val="0.8665469696969697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>
              <a:gsLst>
                <a:gs pos="0">
                  <a:srgbClr val="FFFFFF"/>
                </a:gs>
                <a:gs pos="100000">
                  <a:sysClr val="window" lastClr="FFFFFF">
                    <a:lumMod val="95000"/>
                  </a:sysClr>
                </a:gs>
              </a:gsLst>
              <a:lin ang="0" scaled="1"/>
            </a:gradFill>
            <a:ln w="3175">
              <a:solidFill>
                <a:sysClr val="window" lastClr="FFFFFF">
                  <a:lumMod val="75000"/>
                </a:sysClr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0">
                <a:spAutoFit/>
              </a:bodyPr>
              <a:lstStyle/>
              <a:p>
                <a:pPr algn="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50대</c:v>
                </c:pt>
                <c:pt idx="1">
                  <c:v>40대</c:v>
                </c:pt>
                <c:pt idx="2">
                  <c:v>30대</c:v>
                </c:pt>
                <c:pt idx="3">
                  <c:v>20대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0.16</c:v>
                </c:pt>
                <c:pt idx="1">
                  <c:v>0.3</c:v>
                </c:pt>
                <c:pt idx="2">
                  <c:v>0.16</c:v>
                </c:pt>
                <c:pt idx="3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CC-4DE2-92AD-BC7ABB30B0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계열2</c:v>
                </c:pt>
              </c:strCache>
            </c:strRef>
          </c:tx>
          <c:spPr>
            <a:gradFill flip="none" rotWithShape="1">
              <a:gsLst>
                <a:gs pos="0">
                  <a:srgbClr val="FFFFFF"/>
                </a:gs>
                <a:gs pos="100000">
                  <a:sysClr val="window" lastClr="FFFFFF">
                    <a:lumMod val="95000"/>
                  </a:sysClr>
                </a:gs>
              </a:gsLst>
              <a:lin ang="10800000" scaled="1"/>
              <a:tileRect/>
            </a:gradFill>
            <a:ln w="3175">
              <a:solidFill>
                <a:sysClr val="window" lastClr="FFFFFF">
                  <a:lumMod val="75000"/>
                </a:sys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50대</c:v>
                </c:pt>
                <c:pt idx="1">
                  <c:v>40대</c:v>
                </c:pt>
                <c:pt idx="2">
                  <c:v>30대</c:v>
                </c:pt>
                <c:pt idx="3">
                  <c:v>20대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-0.16</c:v>
                </c:pt>
                <c:pt idx="1">
                  <c:v>-0.3</c:v>
                </c:pt>
                <c:pt idx="2">
                  <c:v>-0.16</c:v>
                </c:pt>
                <c:pt idx="3">
                  <c:v>-0.38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CC-4DE2-92AD-BC7ABB30B0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448408728"/>
        <c:axId val="448406768"/>
      </c:barChart>
      <c:catAx>
        <c:axId val="4484087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317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406768"/>
        <c:crosses val="autoZero"/>
        <c:auto val="1"/>
        <c:lblAlgn val="ctr"/>
        <c:lblOffset val="100"/>
        <c:noMultiLvlLbl val="0"/>
      </c:catAx>
      <c:valAx>
        <c:axId val="448406768"/>
        <c:scaling>
          <c:orientation val="minMax"/>
          <c:max val="0.5"/>
          <c:min val="-0.5"/>
        </c:scaling>
        <c:delete val="1"/>
        <c:axPos val="t"/>
        <c:numFmt formatCode="0%" sourceLinked="1"/>
        <c:majorTickMark val="out"/>
        <c:minorTickMark val="none"/>
        <c:tickLblPos val="nextTo"/>
        <c:crossAx val="448408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100"/>
      </a:pPr>
      <a:endParaRPr lang="ko-KR"/>
    </a:p>
  </c:txPr>
  <c:externalData r:id="rId4">
    <c:autoUpdate val="0"/>
  </c:externalData>
  <c:extLst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ivotFmts>
      <c:pivotFmt>
        <c:idx val="0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7"/>
      </c:pivotFmt>
      <c:pivotFmt>
        <c:idx val="8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9480291674519064E-2"/>
          <c:y val="0.10200454545454546"/>
          <c:w val="0.86727786556362541"/>
          <c:h val="0.8665469696969697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>
              <a:gsLst>
                <a:gs pos="0">
                  <a:srgbClr val="FFFFFF"/>
                </a:gs>
                <a:gs pos="100000">
                  <a:sysClr val="window" lastClr="FFFFFF">
                    <a:lumMod val="95000"/>
                  </a:sysClr>
                </a:gs>
              </a:gsLst>
              <a:lin ang="0" scaled="1"/>
            </a:gradFill>
            <a:ln w="3175">
              <a:solidFill>
                <a:sysClr val="window" lastClr="FFFFFF">
                  <a:lumMod val="75000"/>
                </a:sysClr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0">
                <a:spAutoFit/>
              </a:bodyPr>
              <a:lstStyle/>
              <a:p>
                <a:pPr algn="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10년 이상</c:v>
                </c:pt>
                <c:pt idx="1">
                  <c:v>10년 미만</c:v>
                </c:pt>
                <c:pt idx="2">
                  <c:v>5년 미만</c:v>
                </c:pt>
                <c:pt idx="3">
                  <c:v>3년 미만</c:v>
                </c:pt>
                <c:pt idx="4">
                  <c:v>1년 미만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0.16</c:v>
                </c:pt>
                <c:pt idx="1">
                  <c:v>0.16</c:v>
                </c:pt>
                <c:pt idx="2">
                  <c:v>0.05</c:v>
                </c:pt>
                <c:pt idx="3">
                  <c:v>0.49</c:v>
                </c:pt>
                <c:pt idx="4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04-40D2-AA9F-161932EC4C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계열2</c:v>
                </c:pt>
              </c:strCache>
            </c:strRef>
          </c:tx>
          <c:spPr>
            <a:gradFill flip="none" rotWithShape="1">
              <a:gsLst>
                <a:gs pos="0">
                  <a:srgbClr val="FFFFFF"/>
                </a:gs>
                <a:gs pos="100000">
                  <a:sysClr val="window" lastClr="FFFFFF">
                    <a:lumMod val="95000"/>
                  </a:sysClr>
                </a:gs>
              </a:gsLst>
              <a:lin ang="10800000" scaled="1"/>
              <a:tileRect/>
            </a:gradFill>
            <a:ln w="3175">
              <a:solidFill>
                <a:sysClr val="window" lastClr="FFFFFF">
                  <a:lumMod val="75000"/>
                </a:sys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10년 이상</c:v>
                </c:pt>
                <c:pt idx="1">
                  <c:v>10년 미만</c:v>
                </c:pt>
                <c:pt idx="2">
                  <c:v>5년 미만</c:v>
                </c:pt>
                <c:pt idx="3">
                  <c:v>3년 미만</c:v>
                </c:pt>
                <c:pt idx="4">
                  <c:v>1년 미만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-0.16</c:v>
                </c:pt>
                <c:pt idx="1">
                  <c:v>-0.16</c:v>
                </c:pt>
                <c:pt idx="2">
                  <c:v>-0.05</c:v>
                </c:pt>
                <c:pt idx="3">
                  <c:v>-0.49</c:v>
                </c:pt>
                <c:pt idx="4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04-40D2-AA9F-161932EC4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448408336"/>
        <c:axId val="448399320"/>
      </c:barChart>
      <c:catAx>
        <c:axId val="448408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317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399320"/>
        <c:crosses val="autoZero"/>
        <c:auto val="1"/>
        <c:lblAlgn val="ctr"/>
        <c:lblOffset val="100"/>
        <c:noMultiLvlLbl val="0"/>
      </c:catAx>
      <c:valAx>
        <c:axId val="448399320"/>
        <c:scaling>
          <c:orientation val="minMax"/>
          <c:max val="0.5"/>
          <c:min val="-0.5"/>
        </c:scaling>
        <c:delete val="1"/>
        <c:axPos val="t"/>
        <c:numFmt formatCode="0%" sourceLinked="1"/>
        <c:majorTickMark val="out"/>
        <c:minorTickMark val="none"/>
        <c:tickLblPos val="nextTo"/>
        <c:crossAx val="448408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100"/>
      </a:pPr>
      <a:endParaRPr lang="ko-KR"/>
    </a:p>
  </c:txPr>
  <c:externalData r:id="rId4">
    <c:autoUpdate val="0"/>
  </c:externalData>
  <c:extLst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ivotFmts>
      <c:pivotFmt>
        <c:idx val="0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7"/>
      </c:pivotFmt>
      <c:pivotFmt>
        <c:idx val="8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38100" tIns="19050" rIns="38100" bIns="19050" anchor="ctr" anchorCtr="0">
              <a:spAutoFit/>
            </a:bodyPr>
            <a:lstStyle/>
            <a:p>
              <a:pPr algn="ctr">
                <a:defRPr lang="en-US" altLang="ko-KR"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defRPr>
              </a:pPr>
              <a:endParaRPr lang="ko-KR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9480291674519064E-2"/>
          <c:y val="0.10200454545454546"/>
          <c:w val="0.86727786556362541"/>
          <c:h val="0.8665469696969697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>
              <a:gsLst>
                <a:gs pos="0">
                  <a:srgbClr val="FFFFFF"/>
                </a:gs>
                <a:gs pos="100000">
                  <a:sysClr val="window" lastClr="FFFFFF">
                    <a:lumMod val="95000"/>
                  </a:sysClr>
                </a:gs>
              </a:gsLst>
              <a:lin ang="0" scaled="1"/>
            </a:gradFill>
            <a:ln w="3175">
              <a:solidFill>
                <a:sysClr val="window" lastClr="FFFFFF">
                  <a:lumMod val="75000"/>
                </a:sysClr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0">
                <a:spAutoFit/>
              </a:bodyPr>
              <a:lstStyle/>
              <a:p>
                <a:pPr algn="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부장</c:v>
                </c:pt>
                <c:pt idx="1">
                  <c:v>차장</c:v>
                </c:pt>
                <c:pt idx="2">
                  <c:v>과장</c:v>
                </c:pt>
                <c:pt idx="3">
                  <c:v>대리</c:v>
                </c:pt>
                <c:pt idx="4">
                  <c:v>주임</c:v>
                </c:pt>
                <c:pt idx="5">
                  <c:v>사원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0.35</c:v>
                </c:pt>
                <c:pt idx="1">
                  <c:v>0.09</c:v>
                </c:pt>
                <c:pt idx="2">
                  <c:v>0.13</c:v>
                </c:pt>
                <c:pt idx="3">
                  <c:v>0.26</c:v>
                </c:pt>
                <c:pt idx="4">
                  <c:v>0.17</c:v>
                </c:pt>
                <c:pt idx="5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87-467D-83E3-B21BE1DE05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계열2</c:v>
                </c:pt>
              </c:strCache>
            </c:strRef>
          </c:tx>
          <c:spPr>
            <a:gradFill flip="none" rotWithShape="1">
              <a:gsLst>
                <a:gs pos="0">
                  <a:srgbClr val="FFFFFF"/>
                </a:gs>
                <a:gs pos="100000">
                  <a:sysClr val="window" lastClr="FFFFFF">
                    <a:lumMod val="95000"/>
                  </a:sysClr>
                </a:gs>
              </a:gsLst>
              <a:lin ang="10800000" scaled="1"/>
              <a:tileRect/>
            </a:gradFill>
            <a:ln w="3175">
              <a:solidFill>
                <a:sysClr val="window" lastClr="FFFFFF">
                  <a:lumMod val="75000"/>
                </a:sysClr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부장</c:v>
                </c:pt>
                <c:pt idx="1">
                  <c:v>차장</c:v>
                </c:pt>
                <c:pt idx="2">
                  <c:v>과장</c:v>
                </c:pt>
                <c:pt idx="3">
                  <c:v>대리</c:v>
                </c:pt>
                <c:pt idx="4">
                  <c:v>주임</c:v>
                </c:pt>
                <c:pt idx="5">
                  <c:v>사원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-0.35</c:v>
                </c:pt>
                <c:pt idx="1">
                  <c:v>-0.09</c:v>
                </c:pt>
                <c:pt idx="2">
                  <c:v>-0.13</c:v>
                </c:pt>
                <c:pt idx="3">
                  <c:v>-0.26</c:v>
                </c:pt>
                <c:pt idx="4">
                  <c:v>-0.17</c:v>
                </c:pt>
                <c:pt idx="5" formatCode="0%">
                  <c:v>-0.22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87-467D-83E3-B21BE1DE0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448409512"/>
        <c:axId val="448397752"/>
      </c:barChart>
      <c:catAx>
        <c:axId val="4484095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3175" cap="flat" cmpd="sng" algn="ctr">
            <a:solidFill>
              <a:sysClr val="window" lastClr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48397752"/>
        <c:crosses val="autoZero"/>
        <c:auto val="1"/>
        <c:lblAlgn val="ctr"/>
        <c:lblOffset val="100"/>
        <c:noMultiLvlLbl val="0"/>
      </c:catAx>
      <c:valAx>
        <c:axId val="448397752"/>
        <c:scaling>
          <c:orientation val="minMax"/>
          <c:max val="0.5"/>
          <c:min val="-0.5"/>
        </c:scaling>
        <c:delete val="1"/>
        <c:axPos val="t"/>
        <c:numFmt formatCode="0%" sourceLinked="1"/>
        <c:majorTickMark val="out"/>
        <c:minorTickMark val="none"/>
        <c:tickLblPos val="nextTo"/>
        <c:crossAx val="448409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100"/>
      </a:pPr>
      <a:endParaRPr lang="ko-KR"/>
    </a:p>
  </c:txPr>
  <c:externalData r:id="rId4">
    <c:autoUpdate val="0"/>
  </c:externalData>
  <c:extLst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algn="ctr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tabLst/>
              <a:defRPr lang="ko-KR" sz="10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0" i="0" u="none" strike="noStrike" kern="1200" spc="0" baseline="0" dirty="0">
                <a:solidFill>
                  <a:prstClr val="black"/>
                </a:solidFill>
                <a:latin typeface="+mj-ea"/>
                <a:ea typeface="+mn-ea"/>
                <a:cs typeface="+mn-cs"/>
              </a:rPr>
              <a:t>2025</a:t>
            </a:r>
            <a:r>
              <a:rPr lang="ko-KR" altLang="en-US" sz="1200" b="0" i="0" u="none" strike="noStrike" kern="1200" spc="0" baseline="0" dirty="0">
                <a:solidFill>
                  <a:prstClr val="black"/>
                </a:solidFill>
                <a:latin typeface="+mj-ea"/>
                <a:ea typeface="+mn-ea"/>
                <a:cs typeface="+mn-cs"/>
              </a:rPr>
              <a:t>년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값</c:v>
                </c:pt>
              </c:strCache>
            </c:strRef>
          </c:tx>
          <c:spPr>
            <a:ln w="2540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DFB-4D82-9AE8-DCA5029F488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DFB-4D82-9AE8-DCA5029F48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DFB-4D82-9AE8-DCA5029F488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DFB-4D82-9AE8-DCA5029F488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DFB-4D82-9AE8-DCA5029F488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DFB-4D82-9AE8-DCA5029F488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DFB-4D82-9AE8-DCA5029F488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DFB-4D82-9AE8-DCA5029F488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0" rIns="38100" bIns="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r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Sheet1!$A$2:$A$18</c:f>
              <c:numCache>
                <c:formatCode>\(0.0%\)</c:formatCode>
                <c:ptCount val="17"/>
                <c:pt idx="0">
                  <c:v>0.10810810810810811</c:v>
                </c:pt>
                <c:pt idx="1">
                  <c:v>0.27027027027027029</c:v>
                </c:pt>
                <c:pt idx="2">
                  <c:v>0.10810810810810811</c:v>
                </c:pt>
                <c:pt idx="3">
                  <c:v>5.4054054054054057E-2</c:v>
                </c:pt>
                <c:pt idx="4">
                  <c:v>0.10810810810810811</c:v>
                </c:pt>
                <c:pt idx="5">
                  <c:v>0.1891891891891892</c:v>
                </c:pt>
                <c:pt idx="6">
                  <c:v>0.13513513513513514</c:v>
                </c:pt>
                <c:pt idx="7">
                  <c:v>2.7027027027027029E-2</c:v>
                </c:pt>
                <c:pt idx="9">
                  <c:v>-0.10810810810810811</c:v>
                </c:pt>
                <c:pt idx="10">
                  <c:v>-0.27027027027027029</c:v>
                </c:pt>
                <c:pt idx="11">
                  <c:v>-0.10810810810810811</c:v>
                </c:pt>
                <c:pt idx="12">
                  <c:v>-5.4054054054054057E-2</c:v>
                </c:pt>
                <c:pt idx="13">
                  <c:v>-0.10810810810810811</c:v>
                </c:pt>
                <c:pt idx="14">
                  <c:v>-0.1891891891891892</c:v>
                </c:pt>
                <c:pt idx="15">
                  <c:v>-0.13513513513513514</c:v>
                </c:pt>
                <c:pt idx="16">
                  <c:v>-2.7027027027027029E-2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7</c:v>
                </c:pt>
                <c:pt idx="16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EDFB-4D82-9AE8-DCA5029F488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448412648"/>
        <c:axId val="300327416"/>
      </c:scatterChart>
      <c:valAx>
        <c:axId val="448412648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\(0.0%\)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0327416"/>
        <c:crossesAt val="0"/>
        <c:crossBetween val="midCat"/>
      </c:valAx>
      <c:valAx>
        <c:axId val="300327416"/>
        <c:scaling>
          <c:orientation val="minMax"/>
          <c:max val="8"/>
          <c:min val="1"/>
        </c:scaling>
        <c:delete val="1"/>
        <c:axPos val="l"/>
        <c:majorGridlines>
          <c:spPr>
            <a:ln w="317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4484126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ko-K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algn="ctr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tabLst/>
              <a:defRPr lang="ko-KR" sz="10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0" i="0" u="none" strike="noStrike" kern="1200" spc="0" baseline="0" dirty="0">
                <a:solidFill>
                  <a:prstClr val="black"/>
                </a:solidFill>
                <a:latin typeface="+mj-ea"/>
                <a:ea typeface="+mn-ea"/>
                <a:cs typeface="+mn-cs"/>
              </a:rPr>
              <a:t>2030</a:t>
            </a:r>
            <a:r>
              <a:rPr lang="ko-KR" altLang="en-US" sz="1200" b="0" i="0" u="none" strike="noStrike" kern="1200" spc="0" baseline="0" dirty="0">
                <a:solidFill>
                  <a:prstClr val="black"/>
                </a:solidFill>
                <a:latin typeface="+mj-ea"/>
                <a:ea typeface="+mn-ea"/>
                <a:cs typeface="+mn-cs"/>
              </a:rPr>
              <a:t>년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값</c:v>
                </c:pt>
              </c:strCache>
            </c:strRef>
          </c:tx>
          <c:spPr>
            <a:ln w="25400" cap="rnd">
              <a:solidFill>
                <a:sysClr val="window" lastClr="FFFFFF">
                  <a:lumMod val="75000"/>
                </a:sysClr>
              </a:solidFill>
              <a:round/>
            </a:ln>
            <a:effectLst/>
          </c:spPr>
          <c:marker>
            <c:symbol val="none"/>
          </c:marker>
          <c:dLbls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791-40FB-A8CD-24E2A10C652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91-40FB-A8CD-24E2A10C652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791-40FB-A8CD-24E2A10C652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91-40FB-A8CD-24E2A10C652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791-40FB-A8CD-24E2A10C652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791-40FB-A8CD-24E2A10C652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791-40FB-A8CD-24E2A10C652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791-40FB-A8CD-24E2A10C652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0" rIns="38100" bIns="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r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Sheet1!$A$2:$A$18</c:f>
              <c:numCache>
                <c:formatCode>\(0.0%\)</c:formatCode>
                <c:ptCount val="17"/>
                <c:pt idx="0">
                  <c:v>0</c:v>
                </c:pt>
                <c:pt idx="1">
                  <c:v>0.26271186440677968</c:v>
                </c:pt>
                <c:pt idx="2">
                  <c:v>0.25423728813559321</c:v>
                </c:pt>
                <c:pt idx="3">
                  <c:v>7.6271186440677971E-2</c:v>
                </c:pt>
                <c:pt idx="4">
                  <c:v>6.7796610169491525E-2</c:v>
                </c:pt>
                <c:pt idx="5">
                  <c:v>7.6271186440677971E-2</c:v>
                </c:pt>
                <c:pt idx="6">
                  <c:v>6.7796610169491525E-2</c:v>
                </c:pt>
                <c:pt idx="7">
                  <c:v>0.19491525423728814</c:v>
                </c:pt>
                <c:pt idx="9">
                  <c:v>0</c:v>
                </c:pt>
                <c:pt idx="10">
                  <c:v>-0.26271186440677968</c:v>
                </c:pt>
                <c:pt idx="11">
                  <c:v>-0.25423728813559321</c:v>
                </c:pt>
                <c:pt idx="12">
                  <c:v>-7.6271186440677971E-2</c:v>
                </c:pt>
                <c:pt idx="13">
                  <c:v>-6.7796610169491525E-2</c:v>
                </c:pt>
                <c:pt idx="14">
                  <c:v>-7.6271186440677971E-2</c:v>
                </c:pt>
                <c:pt idx="15">
                  <c:v>-6.7796610169491525E-2</c:v>
                </c:pt>
                <c:pt idx="16">
                  <c:v>-0.19491525423728814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7</c:v>
                </c:pt>
                <c:pt idx="16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791-40FB-A8CD-24E2A10C652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300334864"/>
        <c:axId val="300335648"/>
      </c:scatterChart>
      <c:valAx>
        <c:axId val="300334864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\(0.0%\)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0335648"/>
        <c:crossesAt val="0"/>
        <c:crossBetween val="midCat"/>
      </c:valAx>
      <c:valAx>
        <c:axId val="300335648"/>
        <c:scaling>
          <c:orientation val="minMax"/>
          <c:max val="8"/>
          <c:min val="1"/>
        </c:scaling>
        <c:delete val="1"/>
        <c:axPos val="l"/>
        <c:majorGridlines>
          <c:spPr>
            <a:ln w="317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0033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200"/>
      </a:pPr>
      <a:endParaRPr lang="ko-KR"/>
    </a:p>
  </c:tx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algn="ctr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tabLst/>
              <a:defRPr lang="ko-KR" sz="10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200" b="0" i="0" u="none" strike="noStrike" kern="1200" spc="0" baseline="0" dirty="0">
                <a:solidFill>
                  <a:prstClr val="black"/>
                </a:solidFill>
                <a:latin typeface="+mj-ea"/>
                <a:ea typeface="+mn-ea"/>
                <a:cs typeface="+mn-cs"/>
              </a:rPr>
              <a:t>2035</a:t>
            </a:r>
            <a:r>
              <a:rPr lang="ko-KR" altLang="en-US" sz="1200" b="0" i="0" u="none" strike="noStrike" kern="1200" spc="0" baseline="0" dirty="0">
                <a:solidFill>
                  <a:prstClr val="black"/>
                </a:solidFill>
                <a:latin typeface="+mj-ea"/>
                <a:ea typeface="+mn-ea"/>
                <a:cs typeface="+mn-cs"/>
              </a:rPr>
              <a:t>년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값</c:v>
                </c:pt>
              </c:strCache>
            </c:strRef>
          </c:tx>
          <c:spPr>
            <a:ln w="22225" cap="rnd">
              <a:solidFill>
                <a:sysClr val="window" lastClr="FFFFFF">
                  <a:lumMod val="75000"/>
                </a:sysClr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777-4A18-BD59-6C3F8D5B25B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777-4A18-BD59-6C3F8D5B25B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777-4A18-BD59-6C3F8D5B25B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777-4A18-BD59-6C3F8D5B25B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777-4A18-BD59-6C3F8D5B25B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77-4A18-BD59-6C3F8D5B25B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777-4A18-BD59-6C3F8D5B25B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77-4A18-BD59-6C3F8D5B25B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0" rIns="38100" bIns="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r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Sheet1!$A$2:$A$18</c:f>
              <c:numCache>
                <c:formatCode>\(0.0%\)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0.26271186440677968</c:v>
                </c:pt>
                <c:pt idx="3">
                  <c:v>0.25423728813559321</c:v>
                </c:pt>
                <c:pt idx="4">
                  <c:v>7.6271186440677971E-2</c:v>
                </c:pt>
                <c:pt idx="5">
                  <c:v>6.7796610169491525E-2</c:v>
                </c:pt>
                <c:pt idx="6">
                  <c:v>7.6271186440677971E-2</c:v>
                </c:pt>
                <c:pt idx="7">
                  <c:v>0.26271186440677968</c:v>
                </c:pt>
                <c:pt idx="9">
                  <c:v>0</c:v>
                </c:pt>
                <c:pt idx="10">
                  <c:v>0</c:v>
                </c:pt>
                <c:pt idx="11">
                  <c:v>-0.26271186440677968</c:v>
                </c:pt>
                <c:pt idx="12">
                  <c:v>-0.25423728813559321</c:v>
                </c:pt>
                <c:pt idx="13">
                  <c:v>-7.6271186440677971E-2</c:v>
                </c:pt>
                <c:pt idx="14">
                  <c:v>-6.7796610169491525E-2</c:v>
                </c:pt>
                <c:pt idx="15">
                  <c:v>-7.6271186440677971E-2</c:v>
                </c:pt>
                <c:pt idx="16">
                  <c:v>-0.26271186440677968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  <c:pt idx="12">
                  <c:v>4</c:v>
                </c:pt>
                <c:pt idx="13">
                  <c:v>5</c:v>
                </c:pt>
                <c:pt idx="14">
                  <c:v>6</c:v>
                </c:pt>
                <c:pt idx="15">
                  <c:v>7</c:v>
                </c:pt>
                <c:pt idx="16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B777-4A18-BD59-6C3F8D5B25B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300336432"/>
        <c:axId val="433721072"/>
      </c:scatterChart>
      <c:valAx>
        <c:axId val="300336432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\(0.0%\)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21072"/>
        <c:crossesAt val="0"/>
        <c:crossBetween val="midCat"/>
      </c:valAx>
      <c:valAx>
        <c:axId val="433721072"/>
        <c:scaling>
          <c:orientation val="minMax"/>
          <c:max val="8"/>
          <c:min val="1"/>
        </c:scaling>
        <c:delete val="1"/>
        <c:axPos val="l"/>
        <c:majorGridlines>
          <c:spPr>
            <a:ln w="317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003364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200"/>
      </a:pPr>
      <a:endParaRPr lang="ko-KR"/>
    </a:p>
  </c:txPr>
  <c:externalData r:id="rId2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788495389377044E-2"/>
          <c:y val="0.1420123446516785"/>
          <c:w val="0.88244826737737525"/>
          <c:h val="0.683662994580306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경영진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>
                    <a:ln>
                      <a:noFill/>
                    </a:ln>
                    <a:solidFill>
                      <a:schemeClr val="bg1"/>
                    </a:solidFill>
                    <a:latin typeface="+mj-ea"/>
                    <a:ea typeface="+mj-ea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근로자대표기구 경영 영향력</c:v>
                </c:pt>
                <c:pt idx="1">
                  <c:v>근로자대표기구 참여도</c:v>
                </c:pt>
                <c:pt idx="2">
                  <c:v>노사간 신뢰도 인식</c:v>
                </c:pt>
                <c:pt idx="3">
                  <c:v>노사갈등 심하지 않음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73-4E4E-852B-3DE1DFC884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근로자대표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>
                    <a:ln>
                      <a:noFill/>
                    </a:ln>
                    <a:solidFill>
                      <a:schemeClr val="tx1"/>
                    </a:solidFill>
                    <a:latin typeface="+mj-ea"/>
                    <a:ea typeface="+mj-ea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근로자대표기구 경영 영향력</c:v>
                </c:pt>
                <c:pt idx="1">
                  <c:v>근로자대표기구 참여도</c:v>
                </c:pt>
                <c:pt idx="2">
                  <c:v>노사간 신뢰도 인식</c:v>
                </c:pt>
                <c:pt idx="3">
                  <c:v>노사갈등 심하지 않음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73-4E4E-852B-3DE1DFC884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0"/>
        <c:overlap val="-25"/>
        <c:axId val="447936704"/>
        <c:axId val="447931608"/>
      </c:barChart>
      <c:catAx>
        <c:axId val="447936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US" altLang="ko-KR" sz="1000"/>
            </a:pPr>
            <a:endParaRPr lang="ko-KR"/>
          </a:p>
        </c:txPr>
        <c:crossAx val="447931608"/>
        <c:crosses val="autoZero"/>
        <c:auto val="1"/>
        <c:lblAlgn val="ctr"/>
        <c:lblOffset val="100"/>
        <c:noMultiLvlLbl val="0"/>
      </c:catAx>
      <c:valAx>
        <c:axId val="447931608"/>
        <c:scaling>
          <c:orientation val="minMax"/>
          <c:max val="5"/>
          <c:min val="0"/>
        </c:scaling>
        <c:delete val="1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447936704"/>
        <c:crosses val="autoZero"/>
        <c:crossBetween val="between"/>
        <c:majorUnit val="1"/>
      </c:valAx>
      <c:spPr>
        <a:noFill/>
        <a:ln w="25388">
          <a:noFill/>
        </a:ln>
        <a:effectLst/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90"/>
      </a:pPr>
      <a:endParaRPr lang="ko-K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2784079172547185"/>
          <c:y val="0.11402387549822821"/>
          <c:w val="0.57215920827452826"/>
          <c:h val="0.828491129010831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회사경쟁력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93-4465-BD08-3B1DF199DB85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>
                    <a:ln>
                      <a:noFill/>
                    </a:ln>
                    <a:solidFill>
                      <a:schemeClr val="bg1"/>
                    </a:solidFill>
                    <a:latin typeface="+mj-ea"/>
                    <a:ea typeface="+mj-ea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근로자에 대한 신뢰</c:v>
                </c:pt>
                <c:pt idx="1">
                  <c:v>노동기본권의 인정</c:v>
                </c:pt>
                <c:pt idx="2">
                  <c:v>기업경쟁력에 대한 인식</c:v>
                </c:pt>
                <c:pt idx="3">
                  <c:v>노사협력의 긍정적 인식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93-4465-BD08-3B1DF199DB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47935528"/>
        <c:axId val="447933176"/>
      </c:barChart>
      <c:catAx>
        <c:axId val="447935528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US" altLang="ko-KR"/>
            </a:pPr>
            <a:endParaRPr lang="ko-KR"/>
          </a:p>
        </c:txPr>
        <c:crossAx val="447933176"/>
        <c:crosses val="autoZero"/>
        <c:auto val="1"/>
        <c:lblAlgn val="ctr"/>
        <c:lblOffset val="100"/>
        <c:noMultiLvlLbl val="0"/>
      </c:catAx>
      <c:valAx>
        <c:axId val="447933176"/>
        <c:scaling>
          <c:orientation val="minMax"/>
          <c:max val="5"/>
          <c:min val="0"/>
        </c:scaling>
        <c:delete val="1"/>
        <c:axPos val="t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447935528"/>
        <c:crosses val="autoZero"/>
        <c:crossBetween val="between"/>
        <c:majorUnit val="1"/>
      </c:valAx>
      <c:spPr>
        <a:noFill/>
        <a:ln w="25388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lang="en-US" altLang="ko-KR"/>
      </a:pPr>
      <a:endParaRPr lang="ko-K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3066592779668555"/>
          <c:y val="0.11402424640252729"/>
          <c:w val="0.56893215615667558"/>
          <c:h val="0.750155852431990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근로자 대표 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FA-4A33-B578-F1FB0AF1602C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경영진에 대한 신뢰</c:v>
                </c:pt>
                <c:pt idx="1">
                  <c:v>경영권의 인정</c:v>
                </c:pt>
                <c:pt idx="2">
                  <c:v>기업경쟁력에 대한 인식</c:v>
                </c:pt>
                <c:pt idx="3">
                  <c:v>노사협력의 긍정적 인식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FA-4A33-B578-F1FB0AF16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47939056"/>
        <c:axId val="447940624"/>
      </c:barChart>
      <c:catAx>
        <c:axId val="44793905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crossAx val="447940624"/>
        <c:crosses val="autoZero"/>
        <c:auto val="1"/>
        <c:lblAlgn val="ctr"/>
        <c:lblOffset val="100"/>
        <c:noMultiLvlLbl val="0"/>
      </c:catAx>
      <c:valAx>
        <c:axId val="447940624"/>
        <c:scaling>
          <c:orientation val="minMax"/>
          <c:max val="5"/>
          <c:min val="0"/>
        </c:scaling>
        <c:delete val="1"/>
        <c:axPos val="t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447939056"/>
        <c:crosses val="autoZero"/>
        <c:crossBetween val="between"/>
        <c:majorUnit val="1"/>
      </c:valAx>
      <c:spPr>
        <a:noFill/>
        <a:ln w="25388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000"/>
      </a:pPr>
      <a:endParaRPr lang="ko-K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2817148326105945"/>
          <c:y val="0.11402387549822821"/>
          <c:w val="0.47182851673894061"/>
          <c:h val="0.828491129010831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회사경쟁력</c:v>
                </c:pt>
              </c:strCache>
            </c:strRef>
          </c:tx>
          <c:spPr>
            <a:solidFill>
              <a:srgbClr val="F2F2F2"/>
            </a:solidFill>
            <a:ln w="3175">
              <a:solidFill>
                <a:schemeClr val="tx1"/>
              </a:solidFill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0F4-4DC5-8402-88D739620096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>
                    <a:ln>
                      <a:noFill/>
                    </a:ln>
                    <a:solidFill>
                      <a:schemeClr val="tx1"/>
                    </a:solidFill>
                    <a:latin typeface="+mj-ea"/>
                    <a:ea typeface="+mj-ea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연구개발 인력 외 일반사원들의 혁신활동 참여</c:v>
                </c:pt>
                <c:pt idx="1">
                  <c:v>직원들의 비공식적 지식활용</c:v>
                </c:pt>
                <c:pt idx="2">
                  <c:v>직원들의 제안이나 아이디어 수집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F4-4DC5-8402-88D7396200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47937096"/>
        <c:axId val="447930432"/>
      </c:barChart>
      <c:catAx>
        <c:axId val="44793709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US" altLang="ko-KR">
                <a:noFill/>
              </a:defRPr>
            </a:pPr>
            <a:endParaRPr lang="ko-KR"/>
          </a:p>
        </c:txPr>
        <c:crossAx val="447930432"/>
        <c:crosses val="autoZero"/>
        <c:auto val="1"/>
        <c:lblAlgn val="ctr"/>
        <c:lblOffset val="100"/>
        <c:noMultiLvlLbl val="0"/>
      </c:catAx>
      <c:valAx>
        <c:axId val="447930432"/>
        <c:scaling>
          <c:orientation val="minMax"/>
          <c:max val="5"/>
          <c:min val="0"/>
        </c:scaling>
        <c:delete val="1"/>
        <c:axPos val="t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447937096"/>
        <c:crosses val="autoZero"/>
        <c:crossBetween val="between"/>
        <c:majorUnit val="1"/>
      </c:valAx>
      <c:spPr>
        <a:noFill/>
        <a:ln w="25388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lang="en-US" altLang="ko-KR"/>
      </a:pPr>
      <a:endParaRPr lang="ko-K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2817148326105945"/>
          <c:y val="4.9192249343445897E-2"/>
          <c:w val="0.47182851673894061"/>
          <c:h val="0.893322894676145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회사경쟁력</c:v>
                </c:pt>
              </c:strCache>
            </c:strRef>
          </c:tx>
          <c:spPr>
            <a:solidFill>
              <a:srgbClr val="F2F2F2"/>
            </a:solidFill>
            <a:ln w="3175">
              <a:solidFill>
                <a:schemeClr val="tx1"/>
              </a:solidFill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085-4973-8F42-5A6BD46D8991}"/>
              </c:ext>
            </c:extLst>
          </c:dPt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>
                    <a:ln>
                      <a:noFill/>
                    </a:ln>
                    <a:solidFill>
                      <a:schemeClr val="tx1"/>
                    </a:solidFill>
                    <a:latin typeface="+mj-ea"/>
                    <a:ea typeface="+mj-ea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업무 배분이나 업무수행방법</c:v>
                </c:pt>
                <c:pt idx="1">
                  <c:v>새로운 아이디어 적용을 통한 업무 개선</c:v>
                </c:pt>
                <c:pt idx="2">
                  <c:v>교육훈련 대상자 선정</c:v>
                </c:pt>
                <c:pt idx="3">
                  <c:v>팀원의 채용</c:v>
                </c:pt>
                <c:pt idx="4">
                  <c:v>팀원의 평가</c:v>
                </c:pt>
                <c:pt idx="5">
                  <c:v>다른 팀과의 소통 및 업무 조정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1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85-4973-8F42-5A6BD46D8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47934744"/>
        <c:axId val="447937880"/>
      </c:barChart>
      <c:catAx>
        <c:axId val="44793474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US" altLang="ko-KR">
                <a:noFill/>
              </a:defRPr>
            </a:pPr>
            <a:endParaRPr lang="ko-KR"/>
          </a:p>
        </c:txPr>
        <c:crossAx val="447937880"/>
        <c:crosses val="autoZero"/>
        <c:auto val="1"/>
        <c:lblAlgn val="ctr"/>
        <c:lblOffset val="100"/>
        <c:noMultiLvlLbl val="0"/>
      </c:catAx>
      <c:valAx>
        <c:axId val="447937880"/>
        <c:scaling>
          <c:orientation val="minMax"/>
          <c:max val="5"/>
          <c:min val="0"/>
        </c:scaling>
        <c:delete val="1"/>
        <c:axPos val="t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447934744"/>
        <c:crosses val="autoZero"/>
        <c:crossBetween val="between"/>
        <c:majorUnit val="1"/>
      </c:valAx>
      <c:spPr>
        <a:noFill/>
        <a:ln w="25388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lang="en-US" altLang="ko-KR"/>
      </a:pPr>
      <a:endParaRPr lang="ko-K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647935001395046"/>
          <c:y val="0.14489712590043488"/>
          <c:w val="0.76538189862800021"/>
          <c:h val="0.76588657281661099"/>
        </c:manualLayout>
      </c:layout>
      <c:radarChart>
        <c:radarStyle val="marker"/>
        <c:varyColors val="0"/>
        <c:ser>
          <c:idx val="0"/>
          <c:order val="0"/>
          <c:tx>
            <c:v>인사담당자</c:v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'최종 진단지(내부용_대외비)'!$D$6:$D$22</c:f>
              <c:strCache>
                <c:ptCount val="17"/>
                <c:pt idx="0">
                  <c:v>근로시간 관리</c:v>
                </c:pt>
                <c:pt idx="1">
                  <c:v>근무체계 개편</c:v>
                </c:pt>
                <c:pt idx="2">
                  <c:v>임금관리체계 개선</c:v>
                </c:pt>
                <c:pt idx="3">
                  <c:v>임금체계 재설계</c:v>
                </c:pt>
                <c:pt idx="4">
                  <c:v>노사협의회활성화</c:v>
                </c:pt>
                <c:pt idx="5">
                  <c:v>노사파트너십 증진</c:v>
                </c:pt>
                <c:pt idx="6">
                  <c:v>참여적 혁신활동</c:v>
                </c:pt>
                <c:pt idx="7">
                  <c:v>일가정양립 프로그램</c:v>
                </c:pt>
                <c:pt idx="8">
                  <c:v>직장내 괴롭힘/성희롱예방</c:v>
                </c:pt>
                <c:pt idx="9">
                  <c:v>학습체계 기준 수립</c:v>
                </c:pt>
                <c:pt idx="10">
                  <c:v>학습체계 설계</c:v>
                </c:pt>
                <c:pt idx="11">
                  <c:v>직무분석 및 업무 정의</c:v>
                </c:pt>
                <c:pt idx="12">
                  <c:v>업무기능 개선</c:v>
                </c:pt>
                <c:pt idx="13">
                  <c:v>평가체계 설계</c:v>
                </c:pt>
                <c:pt idx="14">
                  <c:v>채용제도 진단</c:v>
                </c:pt>
                <c:pt idx="15">
                  <c:v>채용제도 마련</c:v>
                </c:pt>
                <c:pt idx="16">
                  <c:v>장년친화 인사제도</c:v>
                </c:pt>
              </c:strCache>
            </c:strRef>
          </c:cat>
          <c:val>
            <c:numRef>
              <c:f>'최종 진단지(내부용_대외비)'!$E$6:$E$22</c:f>
              <c:numCache>
                <c:formatCode>0.00_ </c:formatCode>
                <c:ptCount val="17"/>
                <c:pt idx="0">
                  <c:v>4</c:v>
                </c:pt>
                <c:pt idx="1">
                  <c:v>4</c:v>
                </c:pt>
                <c:pt idx="2">
                  <c:v>3.6666666666666665</c:v>
                </c:pt>
                <c:pt idx="3">
                  <c:v>3.6666666666666665</c:v>
                </c:pt>
                <c:pt idx="4">
                  <c:v>3.6666666666666665</c:v>
                </c:pt>
                <c:pt idx="5">
                  <c:v>3.6666666666666665</c:v>
                </c:pt>
                <c:pt idx="6">
                  <c:v>5.333333333333333</c:v>
                </c:pt>
                <c:pt idx="7">
                  <c:v>5.333333333333333</c:v>
                </c:pt>
                <c:pt idx="8">
                  <c:v>5.666666666666667</c:v>
                </c:pt>
                <c:pt idx="9">
                  <c:v>4.333333333333333</c:v>
                </c:pt>
                <c:pt idx="10">
                  <c:v>4.333333333333333</c:v>
                </c:pt>
                <c:pt idx="11">
                  <c:v>5.333333333333333</c:v>
                </c:pt>
                <c:pt idx="12">
                  <c:v>5.333333333333333</c:v>
                </c:pt>
                <c:pt idx="13">
                  <c:v>2</c:v>
                </c:pt>
                <c:pt idx="14">
                  <c:v>4</c:v>
                </c:pt>
                <c:pt idx="15">
                  <c:v>4</c:v>
                </c:pt>
                <c:pt idx="16">
                  <c:v>5.666666666666667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02-46EC-843E-6E434A29250B}"/>
            </c:ext>
          </c:extLst>
        </c:ser>
        <c:ser>
          <c:idx val="1"/>
          <c:order val="1"/>
          <c:tx>
            <c:v>컨설턴트</c:v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star"/>
            <c:size val="5"/>
            <c:spPr>
              <a:noFill/>
              <a:ln w="3175">
                <a:solidFill>
                  <a:schemeClr val="accent2"/>
                </a:solidFill>
              </a:ln>
              <a:effectLst/>
            </c:spPr>
          </c:marker>
          <c:dLbls>
            <c:dLbl>
              <c:idx val="13"/>
              <c:layout>
                <c:manualLayout>
                  <c:x val="0.16783216783216784"/>
                  <c:y val="6.00600742616807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02-46EC-843E-6E434A2925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'최종 진단지(내부용_대외비)'!$D$6:$D$22</c:f>
              <c:strCache>
                <c:ptCount val="17"/>
                <c:pt idx="0">
                  <c:v>근로시간 관리</c:v>
                </c:pt>
                <c:pt idx="1">
                  <c:v>근무체계 개편</c:v>
                </c:pt>
                <c:pt idx="2">
                  <c:v>임금관리체계 개선</c:v>
                </c:pt>
                <c:pt idx="3">
                  <c:v>임금체계 재설계</c:v>
                </c:pt>
                <c:pt idx="4">
                  <c:v>노사협의회활성화</c:v>
                </c:pt>
                <c:pt idx="5">
                  <c:v>노사파트너십 증진</c:v>
                </c:pt>
                <c:pt idx="6">
                  <c:v>참여적 혁신활동</c:v>
                </c:pt>
                <c:pt idx="7">
                  <c:v>일가정양립 프로그램</c:v>
                </c:pt>
                <c:pt idx="8">
                  <c:v>직장내 괴롭힘/성희롱예방</c:v>
                </c:pt>
                <c:pt idx="9">
                  <c:v>학습체계 기준 수립</c:v>
                </c:pt>
                <c:pt idx="10">
                  <c:v>학습체계 설계</c:v>
                </c:pt>
                <c:pt idx="11">
                  <c:v>직무분석 및 업무 정의</c:v>
                </c:pt>
                <c:pt idx="12">
                  <c:v>업무기능 개선</c:v>
                </c:pt>
                <c:pt idx="13">
                  <c:v>평가체계 설계</c:v>
                </c:pt>
                <c:pt idx="14">
                  <c:v>채용제도 진단</c:v>
                </c:pt>
                <c:pt idx="15">
                  <c:v>채용제도 마련</c:v>
                </c:pt>
                <c:pt idx="16">
                  <c:v>장년친화 인사제도</c:v>
                </c:pt>
              </c:strCache>
            </c:strRef>
          </c:cat>
          <c:val>
            <c:numRef>
              <c:f>'최종 진단지(내부용_대외비)'!$E$25:$E$41</c:f>
              <c:numCache>
                <c:formatCode>0.00_ </c:formatCode>
                <c:ptCount val="17"/>
                <c:pt idx="0">
                  <c:v>5</c:v>
                </c:pt>
                <c:pt idx="1">
                  <c:v>5</c:v>
                </c:pt>
                <c:pt idx="2">
                  <c:v>3.6666666666666665</c:v>
                </c:pt>
                <c:pt idx="3">
                  <c:v>3.6666666666666665</c:v>
                </c:pt>
                <c:pt idx="4">
                  <c:v>2.6666666666666665</c:v>
                </c:pt>
                <c:pt idx="5">
                  <c:v>2.6666666666666665</c:v>
                </c:pt>
                <c:pt idx="6">
                  <c:v>5.333333333333333</c:v>
                </c:pt>
                <c:pt idx="7">
                  <c:v>4</c:v>
                </c:pt>
                <c:pt idx="8">
                  <c:v>4.333333333333333</c:v>
                </c:pt>
                <c:pt idx="9">
                  <c:v>3</c:v>
                </c:pt>
                <c:pt idx="10">
                  <c:v>3</c:v>
                </c:pt>
                <c:pt idx="11">
                  <c:v>4.666666666666667</c:v>
                </c:pt>
                <c:pt idx="12">
                  <c:v>4.666666666666667</c:v>
                </c:pt>
                <c:pt idx="13">
                  <c:v>2</c:v>
                </c:pt>
                <c:pt idx="14">
                  <c:v>3.6666666666666665</c:v>
                </c:pt>
                <c:pt idx="15">
                  <c:v>3.6666666666666665</c:v>
                </c:pt>
                <c:pt idx="1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02-46EC-843E-6E434A2925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772041615"/>
        <c:axId val="772035791"/>
        <c:extLst>
          <c:ext xmlns:c15="http://schemas.microsoft.com/office/drawing/2012/chart" uri="{02D57815-91ED-43cb-92C2-25804820EDAC}">
            <c15:filteredRadarSeries>
              <c15:ser>
                <c:idx val="2"/>
                <c:order val="2"/>
                <c:tx>
                  <c:v>기업단계</c:v>
                </c:tx>
                <c:spPr>
                  <a:ln w="127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3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Ref>
                    <c:extLst>
                      <c:ext uri="{02D57815-91ED-43cb-92C2-25804820EDAC}">
                        <c15:formulaRef>
                          <c15:sqref>'base1. 1.조직 외형 및 진단지 기본'!$S$45:$S$61</c15:sqref>
                        </c15:formulaRef>
                      </c:ext>
                    </c:extLst>
                    <c:numCache>
                      <c:formatCode>General</c:formatCode>
                      <c:ptCount val="17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AD02-46EC-843E-6E434A29250B}"/>
                  </c:ext>
                </c:extLst>
              </c15:ser>
            </c15:filteredRadarSeries>
          </c:ext>
        </c:extLst>
      </c:radarChart>
      <c:catAx>
        <c:axId val="772041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72035791"/>
        <c:crosses val="autoZero"/>
        <c:auto val="1"/>
        <c:lblAlgn val="ctr"/>
        <c:lblOffset val="100"/>
        <c:noMultiLvlLbl val="0"/>
      </c:catAx>
      <c:valAx>
        <c:axId val="77203579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crossAx val="772041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768219556461149"/>
          <c:y val="4.4871211712737773E-2"/>
          <c:w val="0.23310023310023312"/>
          <c:h val="0.15202812703131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603634067292761"/>
          <c:y val="0.14512217089186843"/>
          <c:w val="0.88741361454804168"/>
          <c:h val="0.76136186172650777"/>
        </c:manualLayout>
      </c:layout>
      <c:barChart>
        <c:barDir val="col"/>
        <c:grouping val="stacked"/>
        <c:varyColors val="0"/>
        <c:ser>
          <c:idx val="3"/>
          <c:order val="0"/>
          <c:tx>
            <c:strRef>
              <c:f>'베이시스_페이밴드 (2)'!$G$19</c:f>
              <c:strCache>
                <c:ptCount val="1"/>
                <c:pt idx="0">
                  <c:v>최소값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'베이시스_페이밴드 (2)'!$H$18:$M$18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'베이시스_페이밴드 (2)'!$H$19:$M$19</c:f>
              <c:numCache>
                <c:formatCode>_(* #,##0_);_(* \(#,##0\);_(* "-"_);_(@_)</c:formatCode>
                <c:ptCount val="6"/>
                <c:pt idx="0">
                  <c:v>32000000</c:v>
                </c:pt>
                <c:pt idx="1">
                  <c:v>36000000</c:v>
                </c:pt>
                <c:pt idx="2">
                  <c:v>42500000</c:v>
                </c:pt>
                <c:pt idx="3">
                  <c:v>47500000</c:v>
                </c:pt>
                <c:pt idx="4">
                  <c:v>52000000</c:v>
                </c:pt>
                <c:pt idx="5">
                  <c:v>56500000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5A-4A70-8134-F6A927FEDC22}"/>
            </c:ext>
          </c:extLst>
        </c:ser>
        <c:ser>
          <c:idx val="2"/>
          <c:order val="1"/>
          <c:tx>
            <c:strRef>
              <c:f>'베이시스_페이밴드 (2)'!$G$20</c:f>
              <c:strCache>
                <c:ptCount val="1"/>
                <c:pt idx="0">
                  <c:v>하위폭</c:v>
                </c:pt>
              </c:strCache>
            </c:strRef>
          </c:tx>
          <c:spPr>
            <a:pattFill prst="pct50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'베이시스_페이밴드 (2)'!$H$18:$M$18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'베이시스_페이밴드 (2)'!$H$20:$M$20</c:f>
              <c:numCache>
                <c:formatCode>_(* #,##0_);_(* \(#,##0\);_(* "-"_);_(@_)</c:formatCode>
                <c:ptCount val="6"/>
                <c:pt idx="0">
                  <c:v>0</c:v>
                </c:pt>
                <c:pt idx="1">
                  <c:v>3250000</c:v>
                </c:pt>
                <c:pt idx="2">
                  <c:v>2500000</c:v>
                </c:pt>
                <c:pt idx="3">
                  <c:v>2250000</c:v>
                </c:pt>
                <c:pt idx="4">
                  <c:v>2250000</c:v>
                </c:pt>
                <c:pt idx="5">
                  <c:v>4250000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5A-4A70-8134-F6A927FEDC22}"/>
            </c:ext>
          </c:extLst>
        </c:ser>
        <c:ser>
          <c:idx val="1"/>
          <c:order val="2"/>
          <c:tx>
            <c:strRef>
              <c:f>'베이시스_페이밴드 (2)'!$G$21</c:f>
              <c:strCache>
                <c:ptCount val="1"/>
                <c:pt idx="0">
                  <c:v>상위폭</c:v>
                </c:pt>
              </c:strCache>
            </c:strRef>
          </c:tx>
          <c:spPr>
            <a:pattFill prst="wdDn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'베이시스_페이밴드 (2)'!$H$18:$M$18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'베이시스_페이밴드 (2)'!$H$21:$M$21</c:f>
              <c:numCache>
                <c:formatCode>_(* #,##0_);_(* \(#,##0\);_(* "-"_);_(@_)</c:formatCode>
                <c:ptCount val="6"/>
                <c:pt idx="0">
                  <c:v>0</c:v>
                </c:pt>
                <c:pt idx="1">
                  <c:v>3250000</c:v>
                </c:pt>
                <c:pt idx="2">
                  <c:v>2500000</c:v>
                </c:pt>
                <c:pt idx="3">
                  <c:v>2250000</c:v>
                </c:pt>
                <c:pt idx="4">
                  <c:v>2250000</c:v>
                </c:pt>
                <c:pt idx="5">
                  <c:v>4250000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5A-4A70-8134-F6A927FED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1217664"/>
        <c:axId val="711218080"/>
      </c:barChart>
      <c:lineChart>
        <c:grouping val="standard"/>
        <c:varyColors val="0"/>
        <c:ser>
          <c:idx val="4"/>
          <c:order val="3"/>
          <c:tx>
            <c:strRef>
              <c:f>'베이시스_페이밴드 (2)'!$G$22</c:f>
              <c:strCache>
                <c:ptCount val="1"/>
                <c:pt idx="0">
                  <c:v>중위값</c:v>
                </c:pt>
              </c:strCache>
            </c:strRef>
          </c:tx>
          <c:spPr>
            <a:ln w="15875" cap="rnd">
              <a:solidFill>
                <a:srgbClr val="FF0000">
                  <a:alpha val="40000"/>
                </a:srgbClr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'베이시스_페이밴드 (2)'!$H$18:$M$18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'베이시스_페이밴드 (2)'!$H$22:$M$22</c:f>
              <c:numCache>
                <c:formatCode>_(* #,##0_);_(* \(#,##0\);_(* "-"_);_(@_)</c:formatCode>
                <c:ptCount val="6"/>
                <c:pt idx="0">
                  <c:v>32000000</c:v>
                </c:pt>
                <c:pt idx="1">
                  <c:v>39250000</c:v>
                </c:pt>
                <c:pt idx="2">
                  <c:v>45000000</c:v>
                </c:pt>
                <c:pt idx="3">
                  <c:v>49750000</c:v>
                </c:pt>
                <c:pt idx="4">
                  <c:v>54250000</c:v>
                </c:pt>
                <c:pt idx="5">
                  <c:v>60750000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55A-4A70-8134-F6A927FED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8003808"/>
        <c:axId val="1067990496"/>
      </c:lineChart>
      <c:catAx>
        <c:axId val="71121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8080"/>
        <c:crosses val="autoZero"/>
        <c:auto val="1"/>
        <c:lblAlgn val="ctr"/>
        <c:lblOffset val="100"/>
        <c:tickMarkSkip val="1"/>
        <c:noMultiLvlLbl val="0"/>
      </c:catAx>
      <c:valAx>
        <c:axId val="711218080"/>
        <c:scaling>
          <c:orientation val="minMax"/>
          <c:max val="70000000"/>
          <c:min val="300000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7664"/>
        <c:crosses val="autoZero"/>
        <c:crossBetween val="between"/>
        <c:majorUnit val="10000000"/>
        <c:dispUnits>
          <c:builtInUnit val="thousands"/>
        </c:dispUnits>
      </c:valAx>
      <c:valAx>
        <c:axId val="1067990496"/>
        <c:scaling>
          <c:orientation val="minMax"/>
        </c:scaling>
        <c:delete val="1"/>
        <c:axPos val="r"/>
        <c:numFmt formatCode="_(* #,##0_);_(* \(#,##0\);_(* &quot;-&quot;_);_(@_)" sourceLinked="1"/>
        <c:majorTickMark val="out"/>
        <c:minorTickMark val="none"/>
        <c:tickLblPos val="nextTo"/>
        <c:crossAx val="1068003808"/>
        <c:crosses val="max"/>
        <c:crossBetween val="between"/>
      </c:valAx>
      <c:catAx>
        <c:axId val="1068003808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7990496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ayout>
        <c:manualLayout>
          <c:xMode val="edge"/>
          <c:yMode val="edge"/>
          <c:x val="0.24614290586334367"/>
          <c:y val="2.9854126157581987E-2"/>
          <c:w val="0.4774911906198559"/>
          <c:h val="7.978645242820263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798639016379621"/>
          <c:y val="0.11771182620631225"/>
          <c:w val="0.55450170741059701"/>
          <c:h val="0.71798628723853397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㈜베이시스소프트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 w="9525">
              <a:noFill/>
            </a:ln>
          </c:spPr>
          <c:dLbls>
            <c:dLbl>
              <c:idx val="0"/>
              <c:layout>
                <c:manualLayout>
                  <c:x val="-8.4106721495713823E-3"/>
                  <c:y val="-0.120404842885208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046596889729024"/>
                      <c:h val="0.148980718269266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6889-4F69-8BEF-EB8F70635510}"/>
                </c:ext>
              </c:extLst>
            </c:dLbl>
            <c:dLbl>
              <c:idx val="1"/>
              <c:layout>
                <c:manualLayout>
                  <c:x val="0.16801498644910473"/>
                  <c:y val="-2.2071789196091002E-2"/>
                </c:manualLayout>
              </c:layout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lnSpc>
                      <a:spcPts val="1100"/>
                    </a:lnSpc>
                    <a:defRPr sz="1000">
                      <a:latin typeface="+mj-ea"/>
                      <a:ea typeface="+mj-ea"/>
                    </a:defRPr>
                  </a:pPr>
                  <a:endParaRPr lang="ko-K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046596889729024"/>
                      <c:h val="0.1526834554192333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889-4F69-8BEF-EB8F70635510}"/>
                </c:ext>
              </c:extLst>
            </c:dLbl>
            <c:dLbl>
              <c:idx val="2"/>
              <c:layout>
                <c:manualLayout>
                  <c:x val="0.1658559161352233"/>
                  <c:y val="6.603686215750610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238982727499519"/>
                      <c:h val="0.1612459058874506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889-4F69-8BEF-EB8F70635510}"/>
                </c:ext>
              </c:extLst>
            </c:dLbl>
            <c:dLbl>
              <c:idx val="3"/>
              <c:layout>
                <c:manualLayout>
                  <c:x val="-0.1025695817555965"/>
                  <c:y val="7.797643156639158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89-4F69-8BEF-EB8F70635510}"/>
                </c:ext>
              </c:extLst>
            </c:dLbl>
            <c:dLbl>
              <c:idx val="4"/>
              <c:layout>
                <c:manualLayout>
                  <c:x val="-0.10247245063365917"/>
                  <c:y val="-1.258456140972698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521-4F14-B08E-F1DCDD7222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lnSpc>
                    <a:spcPts val="1100"/>
                  </a:lnSpc>
                  <a:defRPr sz="1000">
                    <a:latin typeface="+mj-ea"/>
                    <a:ea typeface="+mj-ea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인적자원관리</c:v>
                </c:pt>
                <c:pt idx="1">
                  <c:v>인적자원개발</c:v>
                </c:pt>
                <c:pt idx="2">
                  <c:v>작업조직/근로환경</c:v>
                </c:pt>
                <c:pt idx="3">
                  <c:v>노사관계</c:v>
                </c:pt>
                <c:pt idx="4">
                  <c:v>조직성과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3.34</c:v>
                </c:pt>
                <c:pt idx="1">
                  <c:v>3.24</c:v>
                </c:pt>
                <c:pt idx="2">
                  <c:v>3.65</c:v>
                </c:pt>
                <c:pt idx="3">
                  <c:v>3.81</c:v>
                </c:pt>
                <c:pt idx="4">
                  <c:v>3.93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889-4F69-8BEF-EB8F706355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8398928"/>
        <c:axId val="440003392"/>
      </c:radarChart>
      <c:radarChart>
        <c:radarStyle val="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준거집단</c:v>
                </c:pt>
              </c:strCache>
            </c:strRef>
          </c:tx>
          <c:spPr>
            <a:ln w="15875">
              <a:solidFill>
                <a:schemeClr val="tx1"/>
              </a:solidFill>
              <a:prstDash val="solid"/>
            </a:ln>
          </c:spPr>
          <c:marker>
            <c:symbol val="none"/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인적자원관리</c:v>
                </c:pt>
                <c:pt idx="1">
                  <c:v>인적자원개발</c:v>
                </c:pt>
                <c:pt idx="2">
                  <c:v>작업조직/근로환경</c:v>
                </c:pt>
                <c:pt idx="3">
                  <c:v>노사관계</c:v>
                </c:pt>
                <c:pt idx="4">
                  <c:v>조직성과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3.4</c:v>
                </c:pt>
                <c:pt idx="1">
                  <c:v>3.25</c:v>
                </c:pt>
                <c:pt idx="2">
                  <c:v>3.72</c:v>
                </c:pt>
                <c:pt idx="3">
                  <c:v>3.49</c:v>
                </c:pt>
                <c:pt idx="4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89-4F69-8BEF-EB8F706355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48398928"/>
        <c:axId val="440003392"/>
      </c:radarChart>
      <c:catAx>
        <c:axId val="448398928"/>
        <c:scaling>
          <c:orientation val="minMax"/>
        </c:scaling>
        <c:delete val="1"/>
        <c:axPos val="b"/>
        <c:majorGridlines/>
        <c:numFmt formatCode="General" sourceLinked="1"/>
        <c:majorTickMark val="none"/>
        <c:minorTickMark val="none"/>
        <c:tickLblPos val="nextTo"/>
        <c:crossAx val="440003392"/>
        <c:crosses val="autoZero"/>
        <c:auto val="1"/>
        <c:lblAlgn val="ctr"/>
        <c:lblOffset val="100"/>
        <c:noMultiLvlLbl val="0"/>
      </c:catAx>
      <c:valAx>
        <c:axId val="440003392"/>
        <c:scaling>
          <c:orientation val="minMax"/>
          <c:max val="5"/>
          <c:min val="1"/>
        </c:scaling>
        <c:delete val="0"/>
        <c:axPos val="l"/>
        <c:majorGridlines>
          <c:spPr>
            <a:ln w="6350">
              <a:solidFill>
                <a:schemeClr val="bg1">
                  <a:lumMod val="85000"/>
                </a:schemeClr>
              </a:solidFill>
              <a:prstDash val="solid"/>
            </a:ln>
          </c:spPr>
        </c:majorGridlines>
        <c:minorGridlines>
          <c:spPr>
            <a:ln>
              <a:solidFill>
                <a:schemeClr val="bg1">
                  <a:lumMod val="50000"/>
                </a:schemeClr>
              </a:solidFill>
              <a:prstDash val="dash"/>
            </a:ln>
          </c:spPr>
        </c:minorGridlines>
        <c:numFmt formatCode="General" sourceLinked="1"/>
        <c:majorTickMark val="none"/>
        <c:minorTickMark val="none"/>
        <c:tickLblPos val="none"/>
        <c:spPr>
          <a:ln w="6350">
            <a:solidFill>
              <a:schemeClr val="bg1">
                <a:lumMod val="85000"/>
              </a:schemeClr>
            </a:solidFill>
            <a:prstDash val="solid"/>
          </a:ln>
        </c:spPr>
        <c:crossAx val="448398928"/>
        <c:crosses val="autoZero"/>
        <c:crossBetween val="between"/>
        <c:majorUnit val="1"/>
        <c:minorUnit val="1"/>
      </c:valAx>
      <c:spPr>
        <a:ln>
          <a:noFill/>
        </a:ln>
      </c:spPr>
    </c:plotArea>
    <c:legend>
      <c:legendPos val="tr"/>
      <c:layout>
        <c:manualLayout>
          <c:xMode val="edge"/>
          <c:yMode val="edge"/>
          <c:x val="0"/>
          <c:y val="2.0231606761286158E-2"/>
          <c:w val="0.3839964114465495"/>
          <c:h val="0.17576248199864911"/>
        </c:manualLayout>
      </c:layout>
      <c:overlay val="1"/>
      <c:txPr>
        <a:bodyPr/>
        <a:lstStyle/>
        <a:p>
          <a:pPr>
            <a:defRPr sz="900"/>
          </a:pPr>
          <a:endParaRPr lang="ko-KR"/>
        </a:p>
      </c:txPr>
    </c:legend>
    <c:plotVisOnly val="1"/>
    <c:dispBlanksAs val="gap"/>
    <c:showDLblsOverMax val="0"/>
  </c:chart>
  <c:spPr>
    <a:ln w="9525">
      <a:noFill/>
    </a:ln>
  </c:spPr>
  <c:txPr>
    <a:bodyPr/>
    <a:lstStyle/>
    <a:p>
      <a:pPr>
        <a:defRPr sz="1000" b="0">
          <a:latin typeface="+mn-ea"/>
          <a:ea typeface="+mn-ea"/>
        </a:defRPr>
      </a:pPr>
      <a:endParaRPr lang="ko-K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996748782497508E-2"/>
          <c:y val="9.4179540802381653E-2"/>
          <c:w val="0.92485537931242223"/>
          <c:h val="0.49217877736723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㈜베이시스소프트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1153127979105841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0" i="0" u="none" strike="noStrike" kern="1200" baseline="0">
                        <a:solidFill>
                          <a:schemeClr val="bg2"/>
                        </a:solidFill>
                        <a:latin typeface="+mj-ea"/>
                        <a:ea typeface="+mj-ea"/>
                        <a:cs typeface="+mn-cs"/>
                      </a:defRPr>
                    </a:pPr>
                    <a:fld id="{89A6D2FB-B899-49E8-B2D4-3CB9C8EBEE75}" type="CELLRANGE">
                      <a:rPr lang="en-US" altLang="ko-KR"/>
                      <a:pPr>
                        <a:defRPr sz="800">
                          <a:solidFill>
                            <a:schemeClr val="bg2"/>
                          </a:solidFill>
                          <a:latin typeface="+mj-ea"/>
                          <a:ea typeface="+mj-ea"/>
                        </a:defRPr>
                      </a:pPr>
                      <a:t>[CELLRANGE]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2"/>
                      </a:solidFill>
                      <a:latin typeface="+mj-ea"/>
                      <a:ea typeface="+mj-ea"/>
                      <a:cs typeface="+mn-cs"/>
                    </a:defRPr>
                  </a:pPr>
                  <a:endParaRPr lang="ko-KR" alt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DBBA-4E2F-9A17-E4F28BEC3E6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6B27FCA-DCBC-4692-98B8-81B3F1AE9B7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8F0E-4F5A-BF45-CA71EA1793C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0DD9B15-2CB1-4D0F-9904-4FCAA6BB403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8F0E-4F5A-BF45-CA71EA1793C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C78BF94-A8AB-4D61-89D8-7566321BEFC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F0E-4F5A-BF45-CA71EA1793C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8C3EC0E-F001-4483-8D8D-F9E98E1C190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F0E-4F5A-BF45-CA71EA1793C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679CA38E-4229-40B6-98A6-7B13D54AAFD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8F0E-4F5A-BF45-CA71EA1793C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21B77B1B-CF57-4AA8-A438-E73A029BBC1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F0E-4F5A-BF45-CA71EA1793C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43EDBCC3-8E50-424F-B135-2C8CBD52126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8F0E-4F5A-BF45-CA71EA1793C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CC553150-466D-4F30-A6AF-7B12D4F3628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8F0E-4F5A-BF45-CA71EA1793C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18D4246D-C1F2-4C3A-8F8F-FB308DD54A0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8F0E-4F5A-BF45-CA71EA1793C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65BB38E4-D14B-4F03-AB6C-453762A19E3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8F0E-4F5A-BF45-CA71EA1793CA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922BBAF8-1550-46D5-A654-C1AF9EB64F1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8F0E-4F5A-BF45-CA71EA1793C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DD22DD22-C3A6-4841-9CD6-CF333EC8FF0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8F0E-4F5A-BF45-CA71EA1793C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FA0BFBA1-C341-44A8-9735-194FB3F8364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8F0E-4F5A-BF45-CA71EA1793C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4165B371-3626-4603-BB62-F60C7947441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8F0E-4F5A-BF45-CA71EA1793C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C4674362-8095-4CD8-ACDF-5A04607F80B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8F0E-4F5A-BF45-CA71EA1793C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43C52172-E999-48B9-A173-6C780960D88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8F0E-4F5A-BF45-CA71EA1793C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EBAE865F-7A3B-4B1A-91FF-C7B4A070C14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8F0E-4F5A-BF45-CA71EA1793CA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fld id="{8C7F4967-DBE3-4205-87CF-9EB413926B6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8F0E-4F5A-BF45-CA71EA1793CA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fld id="{7F422722-D9FB-44DC-8182-3E32C948C8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8F0E-4F5A-BF45-CA71EA1793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2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Sheet1!$C$2:$V$2</c:f>
              <c:strCache>
                <c:ptCount val="20"/>
                <c:pt idx="0">
                  <c:v>전체
평균</c:v>
                </c:pt>
                <c:pt idx="1">
                  <c:v>채용</c:v>
                </c:pt>
                <c:pt idx="2">
                  <c:v>직무및배치</c:v>
                </c:pt>
                <c:pt idx="3">
                  <c:v>평가</c:v>
                </c:pt>
                <c:pt idx="4">
                  <c:v>보상</c:v>
                </c:pt>
                <c:pt idx="5">
                  <c:v>승진</c:v>
                </c:pt>
                <c:pt idx="6">
                  <c:v>교육훈련
회사인식</c:v>
                </c:pt>
                <c:pt idx="7">
                  <c:v>교육훈련지원여건</c:v>
                </c:pt>
                <c:pt idx="8">
                  <c:v>교육훈련
효과및활용</c:v>
                </c:pt>
                <c:pt idx="9">
                  <c:v>작업조직</c:v>
                </c:pt>
                <c:pt idx="10">
                  <c:v>근무제도</c:v>
                </c:pt>
                <c:pt idx="11">
                  <c:v>교대제</c:v>
                </c:pt>
                <c:pt idx="12">
                  <c:v>일가정</c:v>
                </c:pt>
                <c:pt idx="13">
                  <c:v>장년근로자 고용</c:v>
                </c:pt>
                <c:pt idx="14">
                  <c:v>노사가치관</c:v>
                </c:pt>
                <c:pt idx="15">
                  <c:v>노사관계
수준</c:v>
                </c:pt>
                <c:pt idx="16">
                  <c:v>고충처리</c:v>
                </c:pt>
                <c:pt idx="17">
                  <c:v>직무몰입</c:v>
                </c:pt>
                <c:pt idx="18">
                  <c:v>조직몰입</c:v>
                </c:pt>
                <c:pt idx="19">
                  <c:v>직장만족</c:v>
                </c:pt>
              </c:strCache>
            </c:strRef>
          </c:cat>
          <c:val>
            <c:numRef>
              <c:f>Sheet1!$C$3:$V$3</c:f>
              <c:numCache>
                <c:formatCode>0.00</c:formatCode>
                <c:ptCount val="20"/>
                <c:pt idx="0">
                  <c:v>3.5737216974059076</c:v>
                </c:pt>
                <c:pt idx="1">
                  <c:v>3.407407407407407</c:v>
                </c:pt>
                <c:pt idx="2">
                  <c:v>3.481481481481481</c:v>
                </c:pt>
                <c:pt idx="3">
                  <c:v>3.0444444444444443</c:v>
                </c:pt>
                <c:pt idx="4">
                  <c:v>3.2592592592592595</c:v>
                </c:pt>
                <c:pt idx="5">
                  <c:v>3.5259259259259261</c:v>
                </c:pt>
                <c:pt idx="6">
                  <c:v>3.8765432098765431</c:v>
                </c:pt>
                <c:pt idx="7">
                  <c:v>2.5555555555555558</c:v>
                </c:pt>
                <c:pt idx="8">
                  <c:v>3.2962962962962963</c:v>
                </c:pt>
                <c:pt idx="9">
                  <c:v>3.5061728395061729</c:v>
                </c:pt>
                <c:pt idx="10">
                  <c:v>3.9012345679012341</c:v>
                </c:pt>
                <c:pt idx="11">
                  <c:v>2.7692307692307687</c:v>
                </c:pt>
                <c:pt idx="12">
                  <c:v>4.0493827160493829</c:v>
                </c:pt>
                <c:pt idx="13">
                  <c:v>3.9999999999999996</c:v>
                </c:pt>
                <c:pt idx="14">
                  <c:v>3.9320987654320994</c:v>
                </c:pt>
                <c:pt idx="15">
                  <c:v>3.824074074074074</c:v>
                </c:pt>
                <c:pt idx="16">
                  <c:v>3.6666666666666665</c:v>
                </c:pt>
                <c:pt idx="17">
                  <c:v>4.1419753086419755</c:v>
                </c:pt>
                <c:pt idx="18">
                  <c:v>3.8296296296296299</c:v>
                </c:pt>
                <c:pt idx="19">
                  <c:v>3.8333333333333335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Sheet1!$C$5:$V$5</c15:f>
                <c15:dlblRangeCache>
                  <c:ptCount val="20"/>
                  <c:pt idx="0">
                    <c:v>순위</c:v>
                  </c:pt>
                  <c:pt idx="1">
                    <c:v>14</c:v>
                  </c:pt>
                  <c:pt idx="2">
                    <c:v>13</c:v>
                  </c:pt>
                  <c:pt idx="3">
                    <c:v>17</c:v>
                  </c:pt>
                  <c:pt idx="4">
                    <c:v>16</c:v>
                  </c:pt>
                  <c:pt idx="5">
                    <c:v>11</c:v>
                  </c:pt>
                  <c:pt idx="6">
                    <c:v>6</c:v>
                  </c:pt>
                  <c:pt idx="7">
                    <c:v>19</c:v>
                  </c:pt>
                  <c:pt idx="8">
                    <c:v>15</c:v>
                  </c:pt>
                  <c:pt idx="9">
                    <c:v>12</c:v>
                  </c:pt>
                  <c:pt idx="10">
                    <c:v>5</c:v>
                  </c:pt>
                  <c:pt idx="11">
                    <c:v>18</c:v>
                  </c:pt>
                  <c:pt idx="12">
                    <c:v>2</c:v>
                  </c:pt>
                  <c:pt idx="13">
                    <c:v>3</c:v>
                  </c:pt>
                  <c:pt idx="14">
                    <c:v>4</c:v>
                  </c:pt>
                  <c:pt idx="15">
                    <c:v>9</c:v>
                  </c:pt>
                  <c:pt idx="16">
                    <c:v>10</c:v>
                  </c:pt>
                  <c:pt idx="17">
                    <c:v>1</c:v>
                  </c:pt>
                  <c:pt idx="18">
                    <c:v>8</c:v>
                  </c:pt>
                  <c:pt idx="19">
                    <c:v>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F-DBBA-4E2F-9A17-E4F28BEC3E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521704080"/>
        <c:axId val="521703688"/>
      </c:barChart>
      <c:lineChart>
        <c:grouping val="standard"/>
        <c:varyColors val="0"/>
        <c:ser>
          <c:idx val="1"/>
          <c:order val="1"/>
          <c:tx>
            <c:strRef>
              <c:f>Sheet1!$B$4</c:f>
              <c:strCache>
                <c:ptCount val="1"/>
                <c:pt idx="0">
                  <c:v>준거집단</c:v>
                </c:pt>
              </c:strCache>
            </c:strRef>
          </c:tx>
          <c:spPr>
            <a:ln w="25400" cap="rnd">
              <a:solidFill>
                <a:schemeClr val="tx2">
                  <a:alpha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Sheet1!$C$2:$V$2</c:f>
              <c:strCache>
                <c:ptCount val="20"/>
                <c:pt idx="0">
                  <c:v>전체
평균</c:v>
                </c:pt>
                <c:pt idx="1">
                  <c:v>채용</c:v>
                </c:pt>
                <c:pt idx="2">
                  <c:v>직무및배치</c:v>
                </c:pt>
                <c:pt idx="3">
                  <c:v>평가</c:v>
                </c:pt>
                <c:pt idx="4">
                  <c:v>보상</c:v>
                </c:pt>
                <c:pt idx="5">
                  <c:v>승진</c:v>
                </c:pt>
                <c:pt idx="6">
                  <c:v>교육훈련
회사인식</c:v>
                </c:pt>
                <c:pt idx="7">
                  <c:v>교육훈련지원여건</c:v>
                </c:pt>
                <c:pt idx="8">
                  <c:v>교육훈련
효과및활용</c:v>
                </c:pt>
                <c:pt idx="9">
                  <c:v>작업조직</c:v>
                </c:pt>
                <c:pt idx="10">
                  <c:v>근무제도</c:v>
                </c:pt>
                <c:pt idx="11">
                  <c:v>교대제</c:v>
                </c:pt>
                <c:pt idx="12">
                  <c:v>일가정</c:v>
                </c:pt>
                <c:pt idx="13">
                  <c:v>장년근로자 고용</c:v>
                </c:pt>
                <c:pt idx="14">
                  <c:v>노사가치관</c:v>
                </c:pt>
                <c:pt idx="15">
                  <c:v>노사관계
수준</c:v>
                </c:pt>
                <c:pt idx="16">
                  <c:v>고충처리</c:v>
                </c:pt>
                <c:pt idx="17">
                  <c:v>직무몰입</c:v>
                </c:pt>
                <c:pt idx="18">
                  <c:v>조직몰입</c:v>
                </c:pt>
                <c:pt idx="19">
                  <c:v>직장만족</c:v>
                </c:pt>
              </c:strCache>
            </c:strRef>
          </c:cat>
          <c:val>
            <c:numRef>
              <c:f>Sheet1!$C$4:$V$4</c:f>
              <c:numCache>
                <c:formatCode>0.00</c:formatCode>
                <c:ptCount val="20"/>
                <c:pt idx="0">
                  <c:v>3.5312896894932178</c:v>
                </c:pt>
                <c:pt idx="1">
                  <c:v>3.5520620503655311</c:v>
                </c:pt>
                <c:pt idx="2">
                  <c:v>3.6727478936677724</c:v>
                </c:pt>
                <c:pt idx="3">
                  <c:v>3.2530548927365528</c:v>
                </c:pt>
                <c:pt idx="4">
                  <c:v>3.215930686316232</c:v>
                </c:pt>
                <c:pt idx="5">
                  <c:v>3.3144462619271908</c:v>
                </c:pt>
                <c:pt idx="6">
                  <c:v>3.4549264857096773</c:v>
                </c:pt>
                <c:pt idx="7">
                  <c:v>3.1021134759341527</c:v>
                </c:pt>
                <c:pt idx="8">
                  <c:v>3.1910127941535871</c:v>
                </c:pt>
                <c:pt idx="9">
                  <c:v>3.640394233344372</c:v>
                </c:pt>
                <c:pt idx="10">
                  <c:v>4.0879918356497305</c:v>
                </c:pt>
                <c:pt idx="11">
                  <c:v>3.32967772967773</c:v>
                </c:pt>
                <c:pt idx="12">
                  <c:v>4.0410321637794215</c:v>
                </c:pt>
                <c:pt idx="13">
                  <c:v>3.5132370035761333</c:v>
                </c:pt>
                <c:pt idx="14">
                  <c:v>3.6567869859326767</c:v>
                </c:pt>
                <c:pt idx="15">
                  <c:v>3.5230189484126231</c:v>
                </c:pt>
                <c:pt idx="16">
                  <c:v>3.2932095216420159</c:v>
                </c:pt>
                <c:pt idx="17">
                  <c:v>3.8201874741799542</c:v>
                </c:pt>
                <c:pt idx="18">
                  <c:v>3.7441557894903763</c:v>
                </c:pt>
                <c:pt idx="19">
                  <c:v>3.6885178738754245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0-DBBA-4E2F-9A17-E4F28BEC3E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1704080"/>
        <c:axId val="521703688"/>
      </c:lineChart>
      <c:catAx>
        <c:axId val="52170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1703688"/>
        <c:crosses val="autoZero"/>
        <c:auto val="1"/>
        <c:lblAlgn val="ctr"/>
        <c:lblOffset val="100"/>
        <c:noMultiLvlLbl val="0"/>
      </c:catAx>
      <c:valAx>
        <c:axId val="521703688"/>
        <c:scaling>
          <c:orientation val="minMax"/>
          <c:max val="5"/>
          <c:min val="1"/>
        </c:scaling>
        <c:delete val="1"/>
        <c:axPos val="l"/>
        <c:numFmt formatCode="0.00" sourceLinked="1"/>
        <c:majorTickMark val="none"/>
        <c:minorTickMark val="none"/>
        <c:tickLblPos val="nextTo"/>
        <c:crossAx val="521704080"/>
        <c:crosses val="autoZero"/>
        <c:crossBetween val="between"/>
        <c:majorUnit val="1"/>
      </c:val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pPr>
            <a:endParaRPr lang="ko-KR"/>
          </a:p>
        </c:txPr>
      </c:dTable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pPr>
            <a:endParaRPr lang="ko-K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pPr>
            <a:endParaRPr lang="ko-KR"/>
          </a:p>
        </c:txPr>
      </c:legendEntry>
      <c:layout>
        <c:manualLayout>
          <c:xMode val="edge"/>
          <c:yMode val="edge"/>
          <c:x val="0.35909028894673767"/>
          <c:y val="2.1468453344691959E-3"/>
          <c:w val="0.28269972900708462"/>
          <c:h val="8.51237594026316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j-ea"/>
              <a:ea typeface="+mj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188895824336633"/>
          <c:y val="6.6666399264950896E-2"/>
          <c:w val="0.72386477388692994"/>
          <c:h val="0.8944679861441597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</c:v>
                </c:pt>
              </c:strCache>
            </c:strRef>
          </c:tx>
          <c:spPr>
            <a:solidFill>
              <a:srgbClr val="CCDDF2"/>
            </a:solidFill>
            <a:ln w="3175">
              <a:solidFill>
                <a:sysClr val="window" lastClr="FFFFFF">
                  <a:lumMod val="50000"/>
                </a:sysClr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1BDF-4C42-90A7-48EC56C0F537}"/>
              </c:ext>
            </c:extLst>
          </c:dPt>
          <c:dPt>
            <c:idx val="1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3-1BDF-4C42-90A7-48EC56C0F537}"/>
              </c:ext>
            </c:extLst>
          </c:dPt>
          <c:dPt>
            <c:idx val="2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5-1BDF-4C42-90A7-48EC56C0F537}"/>
              </c:ext>
            </c:extLst>
          </c:dPt>
          <c:dPt>
            <c:idx val="3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7-1BDF-4C42-90A7-48EC56C0F537}"/>
              </c:ext>
            </c:extLst>
          </c:dPt>
          <c:dPt>
            <c:idx val="4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9-1BDF-4C42-90A7-48EC56C0F537}"/>
              </c:ext>
            </c:extLst>
          </c:dPt>
          <c:dPt>
            <c:idx val="5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B-1BDF-4C42-90A7-48EC56C0F537}"/>
              </c:ext>
            </c:extLst>
          </c:dPt>
          <c:dPt>
            <c:idx val="6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D-1BDF-4C42-90A7-48EC56C0F537}"/>
              </c:ext>
            </c:extLst>
          </c:dPt>
          <c:dPt>
            <c:idx val="7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F-1BDF-4C42-90A7-48EC56C0F537}"/>
              </c:ext>
            </c:extLst>
          </c:dPt>
          <c:dPt>
            <c:idx val="8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1-1BDF-4C42-90A7-48EC56C0F537}"/>
              </c:ext>
            </c:extLst>
          </c:dPt>
          <c:dPt>
            <c:idx val="9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3-1BDF-4C42-90A7-48EC56C0F537}"/>
              </c:ext>
            </c:extLst>
          </c:dPt>
          <c:dPt>
            <c:idx val="10"/>
            <c:invertIfNegative val="0"/>
            <c:bubble3D val="0"/>
            <c:spPr>
              <a:solidFill>
                <a:srgbClr val="8C1010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5-1BDF-4C42-90A7-48EC56C0F537}"/>
              </c:ext>
            </c:extLst>
          </c:dPt>
          <c:dPt>
            <c:idx val="11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7-1BDF-4C42-90A7-48EC56C0F537}"/>
              </c:ext>
            </c:extLst>
          </c:dPt>
          <c:dPt>
            <c:idx val="12"/>
            <c:invertIfNegative val="0"/>
            <c:bubble3D val="0"/>
            <c:spPr>
              <a:solidFill>
                <a:srgbClr val="112846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9-1BDF-4C42-90A7-48EC56C0F537}"/>
              </c:ext>
            </c:extLst>
          </c:dPt>
          <c:dPt>
            <c:idx val="13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B-1BDF-4C42-90A7-48EC56C0F537}"/>
              </c:ext>
            </c:extLst>
          </c:dPt>
          <c:dLbls>
            <c:dLbl>
              <c:idx val="0"/>
              <c:layout>
                <c:manualLayout>
                  <c:x val="-4.1662345107460674E-3"/>
                  <c:y val="5.7300367668642973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DF-4C42-90A7-48EC56C0F537}"/>
                </c:ext>
              </c:extLst>
            </c:dLbl>
            <c:dLbl>
              <c:idx val="1"/>
              <c:layout>
                <c:manualLayout>
                  <c:x val="-6.8432754338688291E-3"/>
                  <c:y val="5.7300367669476803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DF-4C42-90A7-48EC56C0F537}"/>
                </c:ext>
              </c:extLst>
            </c:dLbl>
            <c:dLbl>
              <c:idx val="2"/>
              <c:layout>
                <c:manualLayout>
                  <c:x val="-2.2238900821630113E-3"/>
                  <c:y val="5.7300367667809143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BDF-4C42-90A7-48EC56C0F537}"/>
                </c:ext>
              </c:extLst>
            </c:dLbl>
            <c:dLbl>
              <c:idx val="3"/>
              <c:layout>
                <c:manualLayout>
                  <c:x val="-4.6303658256529757E-3"/>
                  <c:y val="6.759768345969297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DF-4C42-90A7-48EC56C0F537}"/>
                </c:ext>
              </c:extLst>
            </c:dLbl>
            <c:dLbl>
              <c:idx val="4"/>
              <c:layout>
                <c:manualLayout>
                  <c:x val="-1.1925240482983743E-2"/>
                  <c:y val="1.8622619492371502E-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20762530478778E-2"/>
                      <c:h val="5.600099054587864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BDF-4C42-90A7-48EC56C0F537}"/>
                </c:ext>
              </c:extLst>
            </c:dLbl>
            <c:dLbl>
              <c:idx val="5"/>
              <c:layout>
                <c:manualLayout>
                  <c:x val="-7.9206165717808971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BDF-4C42-90A7-48EC56C0F537}"/>
                </c:ext>
              </c:extLst>
            </c:dLbl>
            <c:dLbl>
              <c:idx val="6"/>
              <c:layout>
                <c:manualLayout>
                  <c:x val="-1.3075938124071998E-3"/>
                  <c:y val="6.6706407428496917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BDF-4C42-90A7-48EC56C0F537}"/>
                </c:ext>
              </c:extLst>
            </c:dLbl>
            <c:dLbl>
              <c:idx val="7"/>
              <c:layout>
                <c:manualLayout>
                  <c:x val="-5.0465125488650484E-3"/>
                  <c:y val="-3.63828684506754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BDF-4C42-90A7-48EC56C0F537}"/>
                </c:ext>
              </c:extLst>
            </c:dLbl>
            <c:dLbl>
              <c:idx val="8"/>
              <c:layout>
                <c:manualLayout>
                  <c:x val="1.0463535253809751E-3"/>
                  <c:y val="9.877564612128315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BDF-4C42-90A7-48EC56C0F537}"/>
                </c:ext>
              </c:extLst>
            </c:dLbl>
            <c:dLbl>
              <c:idx val="9"/>
              <c:layout>
                <c:manualLayout>
                  <c:x val="-4.1813206810653349E-3"/>
                  <c:y val="3.638573346905947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BDF-4C42-90A7-48EC56C0F537}"/>
                </c:ext>
              </c:extLst>
            </c:dLbl>
            <c:dLbl>
              <c:idx val="10"/>
              <c:layout>
                <c:manualLayout>
                  <c:x val="-7.430127459281395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BDF-4C42-90A7-48EC56C0F537}"/>
                </c:ext>
              </c:extLst>
            </c:dLbl>
            <c:dLbl>
              <c:idx val="11"/>
              <c:layout>
                <c:manualLayout>
                  <c:x val="-7.088425701554239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1BDF-4C42-90A7-48EC56C0F537}"/>
                </c:ext>
              </c:extLst>
            </c:dLbl>
            <c:dLbl>
              <c:idx val="12"/>
              <c:layout>
                <c:manualLayout>
                  <c:x val="-1.127012353687715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1BDF-4C42-90A7-48EC56C0F537}"/>
                </c:ext>
              </c:extLst>
            </c:dLbl>
            <c:dLbl>
              <c:idx val="13"/>
              <c:layout>
                <c:manualLayout>
                  <c:x val="-9.824868420308335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1BDF-4C42-90A7-48EC56C0F537}"/>
                </c:ext>
              </c:extLst>
            </c:dLbl>
            <c:dLbl>
              <c:idx val="14"/>
              <c:layout>
                <c:manualLayout>
                  <c:x val="-3.5189496143002647E-3"/>
                  <c:y val="1.7153083918512182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1BDF-4C42-90A7-48EC56C0F537}"/>
                </c:ext>
              </c:extLst>
            </c:dLbl>
            <c:dLbl>
              <c:idx val="15"/>
              <c:layout>
                <c:manualLayout>
                  <c:x val="-5.3071033685563596E-3"/>
                  <c:y val="3.6835967227776675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1BDF-4C42-90A7-48EC56C0F537}"/>
                </c:ext>
              </c:extLst>
            </c:dLbl>
            <c:dLbl>
              <c:idx val="16"/>
              <c:layout>
                <c:manualLayout>
                  <c:x val="-9.928052226502899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1BDF-4C42-90A7-48EC56C0F5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/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채용</c:v>
                </c:pt>
                <c:pt idx="1">
                  <c:v>직무/배치</c:v>
                </c:pt>
                <c:pt idx="2">
                  <c:v>평가</c:v>
                </c:pt>
                <c:pt idx="3">
                  <c:v>보상</c:v>
                </c:pt>
                <c:pt idx="4">
                  <c:v>승진</c:v>
                </c:pt>
                <c:pt idx="5">
                  <c:v>교육인식</c:v>
                </c:pt>
                <c:pt idx="6">
                  <c:v>교육여건</c:v>
                </c:pt>
                <c:pt idx="7">
                  <c:v>교육활용</c:v>
                </c:pt>
                <c:pt idx="8">
                  <c:v>작업조직</c:v>
                </c:pt>
                <c:pt idx="9">
                  <c:v>근무제도</c:v>
                </c:pt>
                <c:pt idx="10">
                  <c:v>교대제</c:v>
                </c:pt>
                <c:pt idx="11">
                  <c:v>일가정</c:v>
                </c:pt>
                <c:pt idx="12">
                  <c:v>장년근로자고용</c:v>
                </c:pt>
                <c:pt idx="13">
                  <c:v>노사가치관</c:v>
                </c:pt>
                <c:pt idx="14">
                  <c:v>노사관계</c:v>
                </c:pt>
                <c:pt idx="15">
                  <c:v>고충처리</c:v>
                </c:pt>
                <c:pt idx="16">
                  <c:v>직무몰입</c:v>
                </c:pt>
                <c:pt idx="17">
                  <c:v>조직몰입</c:v>
                </c:pt>
                <c:pt idx="18">
                  <c:v>직장만족</c:v>
                </c:pt>
              </c:strCache>
            </c:strRef>
          </c:cat>
          <c:val>
            <c:numRef>
              <c:f>Sheet1!$B$2:$B$20</c:f>
              <c:numCache>
                <c:formatCode>0.00_ </c:formatCode>
                <c:ptCount val="19"/>
                <c:pt idx="0">
                  <c:v>-0.14206205036553099</c:v>
                </c:pt>
                <c:pt idx="1">
                  <c:v>-0.19274789366777245</c:v>
                </c:pt>
                <c:pt idx="2">
                  <c:v>-0.21305489273655276</c:v>
                </c:pt>
                <c:pt idx="3">
                  <c:v>4.4069313683767763E-2</c:v>
                </c:pt>
                <c:pt idx="4">
                  <c:v>0.21555373807280898</c:v>
                </c:pt>
                <c:pt idx="5">
                  <c:v>0.42507351429032258</c:v>
                </c:pt>
                <c:pt idx="6">
                  <c:v>-0.5421134759341526</c:v>
                </c:pt>
                <c:pt idx="7">
                  <c:v>0.10898720584641275</c:v>
                </c:pt>
                <c:pt idx="8">
                  <c:v>-0.13039423334437217</c:v>
                </c:pt>
                <c:pt idx="9">
                  <c:v>-0.18799183564973054</c:v>
                </c:pt>
                <c:pt idx="10">
                  <c:v>-0.55967772967773</c:v>
                </c:pt>
                <c:pt idx="11">
                  <c:v>8.9678362205782847E-3</c:v>
                </c:pt>
                <c:pt idx="12">
                  <c:v>0.48676299642386667</c:v>
                </c:pt>
                <c:pt idx="13">
                  <c:v>0.27321301406732346</c:v>
                </c:pt>
                <c:pt idx="14">
                  <c:v>0.29698105158737675</c:v>
                </c:pt>
                <c:pt idx="15">
                  <c:v>0.37679047835798407</c:v>
                </c:pt>
                <c:pt idx="16">
                  <c:v>0.31981252582004549</c:v>
                </c:pt>
                <c:pt idx="17">
                  <c:v>8.5844210509623764E-2</c:v>
                </c:pt>
                <c:pt idx="18">
                  <c:v>0.14148212612457556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9E5E5"/>
                  </a:solidFill>
                  <a:ln w="3175">
                    <a:solidFill>
                      <a:sysClr val="window" lastClr="FFFFFF">
                        <a:lumMod val="50000"/>
                      </a:sys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23-1BDF-4C42-90A7-48EC56C0F5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521709176"/>
        <c:axId val="521707216"/>
      </c:barChart>
      <c:catAx>
        <c:axId val="5217091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solidFill>
            <a:srgbClr val="DDEBF7"/>
          </a:solidFill>
        </c:spPr>
        <c:crossAx val="521707216"/>
        <c:crosses val="autoZero"/>
        <c:auto val="1"/>
        <c:lblAlgn val="ctr"/>
        <c:lblOffset val="100"/>
        <c:noMultiLvlLbl val="0"/>
      </c:catAx>
      <c:valAx>
        <c:axId val="521707216"/>
        <c:scaling>
          <c:orientation val="minMax"/>
          <c:max val="1"/>
          <c:min val="-1"/>
        </c:scaling>
        <c:delete val="0"/>
        <c:axPos val="t"/>
        <c:majorGridlines>
          <c:spPr>
            <a:ln>
              <a:solidFill>
                <a:sysClr val="window" lastClr="FFFFFF">
                  <a:lumMod val="75000"/>
                </a:sysClr>
              </a:solidFill>
            </a:ln>
          </c:spPr>
        </c:majorGridlines>
        <c:numFmt formatCode="0.00_ 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1000"/>
            </a:pPr>
            <a:endParaRPr lang="ko-KR"/>
          </a:p>
        </c:txPr>
        <c:crossAx val="521709176"/>
        <c:crosses val="autoZero"/>
        <c:crossBetween val="between"/>
        <c:minorUnit val="5.000000000000001E-2"/>
      </c:valAx>
      <c:spPr>
        <a:ln>
          <a:solidFill>
            <a:sysClr val="window" lastClr="FFFFFF">
              <a:lumMod val="75000"/>
            </a:sysClr>
          </a:solidFill>
        </a:ln>
      </c:spPr>
    </c:plotArea>
    <c:legend>
      <c:legendPos val="l"/>
      <c:layout>
        <c:manualLayout>
          <c:xMode val="edge"/>
          <c:yMode val="edge"/>
          <c:x val="2.4462713837399359E-2"/>
          <c:y val="0.10516263447890736"/>
          <c:w val="0.19146150696737899"/>
          <c:h val="0.8761246941693821"/>
        </c:manualLayout>
      </c:layout>
      <c:overlay val="0"/>
      <c:spPr>
        <a:ln>
          <a:noFill/>
        </a:ln>
      </c:spPr>
      <c:txPr>
        <a:bodyPr/>
        <a:lstStyle/>
        <a:p>
          <a:pPr>
            <a:defRPr lang="en-US" altLang="ko-KR" sz="900" b="0" i="0" u="none" strike="noStrike" kern="1200" spc="-100" baseline="0">
              <a:solidFill>
                <a:schemeClr val="tx1"/>
              </a:solidFill>
              <a:latin typeface="나눔스퀘어" panose="020B0603020101020101" pitchFamily="50" charset="-127"/>
              <a:ea typeface="나눔스퀘어" panose="020B0603020101020101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ln w="6350">
      <a:noFill/>
    </a:ln>
  </c:spPr>
  <c:txPr>
    <a:bodyPr/>
    <a:lstStyle/>
    <a:p>
      <a:pPr>
        <a:defRPr sz="1050">
          <a:latin typeface="나눔스퀘어" panose="020B0600000101010101" pitchFamily="50" charset="-127"/>
          <a:ea typeface="나눔스퀘어" panose="020B0600000101010101" pitchFamily="50" charset="-127"/>
        </a:defRPr>
      </a:pPr>
      <a:endParaRPr lang="ko-KR"/>
    </a:p>
  </c:txPr>
  <c:externalData r:id="rId2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2960857303618235"/>
          <c:y val="0.10318527975812031"/>
          <c:w val="0.72386477388692994"/>
          <c:h val="0.8944679861441597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</c:v>
                </c:pt>
              </c:strCache>
            </c:strRef>
          </c:tx>
          <c:spPr>
            <a:solidFill>
              <a:srgbClr val="CCDDF2"/>
            </a:solidFill>
            <a:ln w="3175">
              <a:solidFill>
                <a:sysClr val="window" lastClr="FFFFFF">
                  <a:lumMod val="50000"/>
                </a:sysClr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3904-4855-B279-A684E3C599A9}"/>
              </c:ext>
            </c:extLst>
          </c:dPt>
          <c:dPt>
            <c:idx val="1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3-3904-4855-B279-A684E3C599A9}"/>
              </c:ext>
            </c:extLst>
          </c:dPt>
          <c:dPt>
            <c:idx val="2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5-3904-4855-B279-A684E3C599A9}"/>
              </c:ext>
            </c:extLst>
          </c:dPt>
          <c:dPt>
            <c:idx val="3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7-3904-4855-B279-A684E3C599A9}"/>
              </c:ext>
            </c:extLst>
          </c:dPt>
          <c:dPt>
            <c:idx val="4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9-3904-4855-B279-A684E3C599A9}"/>
              </c:ext>
            </c:extLst>
          </c:dPt>
          <c:dPt>
            <c:idx val="5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B-3904-4855-B279-A684E3C599A9}"/>
              </c:ext>
            </c:extLst>
          </c:dPt>
          <c:dPt>
            <c:idx val="6"/>
            <c:invertIfNegative val="0"/>
            <c:bubble3D val="0"/>
            <c:spPr>
              <a:solidFill>
                <a:srgbClr val="8C1010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D-3904-4855-B279-A684E3C599A9}"/>
              </c:ext>
            </c:extLst>
          </c:dPt>
          <c:dPt>
            <c:idx val="7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F-3904-4855-B279-A684E3C599A9}"/>
              </c:ext>
            </c:extLst>
          </c:dPt>
          <c:dPt>
            <c:idx val="8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1-3904-4855-B279-A684E3C599A9}"/>
              </c:ext>
            </c:extLst>
          </c:dPt>
          <c:dPt>
            <c:idx val="9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3-3904-4855-B279-A684E3C599A9}"/>
              </c:ext>
            </c:extLst>
          </c:dPt>
          <c:dPt>
            <c:idx val="11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5-3904-4855-B279-A684E3C599A9}"/>
              </c:ext>
            </c:extLst>
          </c:dPt>
          <c:dPt>
            <c:idx val="12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7-3904-4855-B279-A684E3C599A9}"/>
              </c:ext>
            </c:extLst>
          </c:dPt>
          <c:dPt>
            <c:idx val="13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9-3904-4855-B279-A684E3C599A9}"/>
              </c:ext>
            </c:extLst>
          </c:dPt>
          <c:dPt>
            <c:idx val="14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B-3904-4855-B279-A684E3C599A9}"/>
              </c:ext>
            </c:extLst>
          </c:dPt>
          <c:dPt>
            <c:idx val="15"/>
            <c:invertIfNegative val="1"/>
            <c:bubble3D val="0"/>
            <c:spPr>
              <a:solidFill>
                <a:srgbClr val="CCDDF2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D-3904-4855-B279-A684E3C599A9}"/>
              </c:ext>
            </c:extLst>
          </c:dPt>
          <c:dPt>
            <c:idx val="16"/>
            <c:invertIfNegative val="0"/>
            <c:bubble3D val="0"/>
            <c:spPr>
              <a:solidFill>
                <a:srgbClr val="112846"/>
              </a:solidFill>
              <a:ln w="3175">
                <a:solidFill>
                  <a:sysClr val="window" lastClr="FFFFFF">
                    <a:lumMod val="50000"/>
                  </a:sysClr>
                </a:solidFill>
              </a:ln>
            </c:spPr>
            <c:extLst>
              <c:ext xmlns:c16="http://schemas.microsoft.com/office/drawing/2014/chart" uri="{C3380CC4-5D6E-409C-BE32-E72D297353CC}">
                <c16:uniqueId val="{0000001F-3904-4855-B279-A684E3C599A9}"/>
              </c:ext>
            </c:extLst>
          </c:dPt>
          <c:dLbls>
            <c:dLbl>
              <c:idx val="0"/>
              <c:layout>
                <c:manualLayout>
                  <c:x val="-4.1662345107460674E-3"/>
                  <c:y val="5.7300367668642973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04-4855-B279-A684E3C599A9}"/>
                </c:ext>
              </c:extLst>
            </c:dLbl>
            <c:dLbl>
              <c:idx val="1"/>
              <c:layout>
                <c:manualLayout>
                  <c:x val="-6.8432754338688291E-3"/>
                  <c:y val="5.7300367669476803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904-4855-B279-A684E3C599A9}"/>
                </c:ext>
              </c:extLst>
            </c:dLbl>
            <c:dLbl>
              <c:idx val="2"/>
              <c:layout>
                <c:manualLayout>
                  <c:x val="-2.2238900821630113E-3"/>
                  <c:y val="5.7300367667809143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904-4855-B279-A684E3C599A9}"/>
                </c:ext>
              </c:extLst>
            </c:dLbl>
            <c:dLbl>
              <c:idx val="3"/>
              <c:layout>
                <c:manualLayout>
                  <c:x val="8.0557878288693686E-4"/>
                  <c:y val="-2.596935689558212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904-4855-B279-A684E3C599A9}"/>
                </c:ext>
              </c:extLst>
            </c:dLbl>
            <c:dLbl>
              <c:idx val="4"/>
              <c:layout>
                <c:manualLayout>
                  <c:x val="-1.1925240482983743E-2"/>
                  <c:y val="1.8622619492371502E-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20762530478778E-2"/>
                      <c:h val="5.600099054587864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3904-4855-B279-A684E3C599A9}"/>
                </c:ext>
              </c:extLst>
            </c:dLbl>
            <c:dLbl>
              <c:idx val="5"/>
              <c:layout>
                <c:manualLayout>
                  <c:x val="-7.9206165717808971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904-4855-B279-A684E3C599A9}"/>
                </c:ext>
              </c:extLst>
            </c:dLbl>
            <c:dLbl>
              <c:idx val="6"/>
              <c:layout>
                <c:manualLayout>
                  <c:x val="-1.3075938124071998E-3"/>
                  <c:y val="6.6706407428496917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904-4855-B279-A684E3C599A9}"/>
                </c:ext>
              </c:extLst>
            </c:dLbl>
            <c:dLbl>
              <c:idx val="7"/>
              <c:layout>
                <c:manualLayout>
                  <c:x val="-5.0465125488650484E-3"/>
                  <c:y val="-3.63828684506754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904-4855-B279-A684E3C599A9}"/>
                </c:ext>
              </c:extLst>
            </c:dLbl>
            <c:dLbl>
              <c:idx val="8"/>
              <c:layout>
                <c:manualLayout>
                  <c:x val="-7.107884420418811E-3"/>
                  <c:y val="5.199028414528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904-4855-B279-A684E3C599A9}"/>
                </c:ext>
              </c:extLst>
            </c:dLbl>
            <c:dLbl>
              <c:idx val="9"/>
              <c:layout>
                <c:manualLayout>
                  <c:x val="-4.1813206810653349E-3"/>
                  <c:y val="3.638573346905947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904-4855-B279-A684E3C599A9}"/>
                </c:ext>
              </c:extLst>
            </c:dLbl>
            <c:dLbl>
              <c:idx val="11"/>
              <c:layout>
                <c:manualLayout>
                  <c:x val="-7.430127459281395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904-4855-B279-A684E3C599A9}"/>
                </c:ext>
              </c:extLst>
            </c:dLbl>
            <c:dLbl>
              <c:idx val="12"/>
              <c:layout>
                <c:manualLayout>
                  <c:x val="-7.088425701554239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904-4855-B279-A684E3C599A9}"/>
                </c:ext>
              </c:extLst>
            </c:dLbl>
            <c:dLbl>
              <c:idx val="13"/>
              <c:layout>
                <c:manualLayout>
                  <c:x val="-1.127012353687715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904-4855-B279-A684E3C599A9}"/>
                </c:ext>
              </c:extLst>
            </c:dLbl>
            <c:dLbl>
              <c:idx val="14"/>
              <c:layout>
                <c:manualLayout>
                  <c:x val="-8.2021622253610708E-3"/>
                  <c:y val="2.8650183833904572E-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904-4855-B279-A684E3C599A9}"/>
                </c:ext>
              </c:extLst>
            </c:dLbl>
            <c:dLbl>
              <c:idx val="15"/>
              <c:layout>
                <c:manualLayout>
                  <c:x val="-9.824868420308335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904-4855-B279-A684E3C599A9}"/>
                </c:ext>
              </c:extLst>
            </c:dLbl>
            <c:dLbl>
              <c:idx val="16"/>
              <c:layout>
                <c:manualLayout>
                  <c:x val="-1.1630169139441107E-2"/>
                  <c:y val="1.7153083918512182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904-4855-B279-A684E3C599A9}"/>
                </c:ext>
              </c:extLst>
            </c:dLbl>
            <c:dLbl>
              <c:idx val="17"/>
              <c:layout>
                <c:manualLayout>
                  <c:x val="-5.264084947897415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3904-4855-B279-A684E3C599A9}"/>
                </c:ext>
              </c:extLst>
            </c:dLbl>
            <c:dLbl>
              <c:idx val="18"/>
              <c:layout>
                <c:manualLayout>
                  <c:x val="-7.1956334376833235E-3"/>
                  <c:y val="1.7153083918512182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904-4855-B279-A684E3C599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/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Sheet1!$A$2:$A$20</c:f>
              <c:strCache>
                <c:ptCount val="19"/>
                <c:pt idx="0">
                  <c:v>채용</c:v>
                </c:pt>
                <c:pt idx="1">
                  <c:v>직무/배치</c:v>
                </c:pt>
                <c:pt idx="2">
                  <c:v>평가</c:v>
                </c:pt>
                <c:pt idx="3">
                  <c:v>보상</c:v>
                </c:pt>
                <c:pt idx="4">
                  <c:v>승진</c:v>
                </c:pt>
                <c:pt idx="5">
                  <c:v>교육인식</c:v>
                </c:pt>
                <c:pt idx="6">
                  <c:v>교육여건</c:v>
                </c:pt>
                <c:pt idx="7">
                  <c:v>교육활용</c:v>
                </c:pt>
                <c:pt idx="8">
                  <c:v>작업조직</c:v>
                </c:pt>
                <c:pt idx="9">
                  <c:v>근무제도</c:v>
                </c:pt>
                <c:pt idx="10">
                  <c:v>교대제</c:v>
                </c:pt>
                <c:pt idx="11">
                  <c:v>일가정</c:v>
                </c:pt>
                <c:pt idx="12">
                  <c:v>장년근로자고용</c:v>
                </c:pt>
                <c:pt idx="13">
                  <c:v>노사가치관</c:v>
                </c:pt>
                <c:pt idx="14">
                  <c:v>노사관계</c:v>
                </c:pt>
                <c:pt idx="15">
                  <c:v>고충처리</c:v>
                </c:pt>
                <c:pt idx="16">
                  <c:v>직무몰입</c:v>
                </c:pt>
                <c:pt idx="17">
                  <c:v>조직몰입</c:v>
                </c:pt>
                <c:pt idx="18">
                  <c:v>직장만족</c:v>
                </c:pt>
              </c:strCache>
            </c:strRef>
          </c:cat>
          <c:val>
            <c:numRef>
              <c:f>Sheet1!$B$2:$B$20</c:f>
              <c:numCache>
                <c:formatCode>0.00_ </c:formatCode>
                <c:ptCount val="19"/>
                <c:pt idx="0">
                  <c:v>-0.16631428999850062</c:v>
                </c:pt>
                <c:pt idx="1">
                  <c:v>-9.2240215924426661E-2</c:v>
                </c:pt>
                <c:pt idx="2">
                  <c:v>-0.52927725296146333</c:v>
                </c:pt>
                <c:pt idx="3">
                  <c:v>-0.31446243814664809</c:v>
                </c:pt>
                <c:pt idx="4">
                  <c:v>-4.7795771479981486E-2</c:v>
                </c:pt>
                <c:pt idx="5">
                  <c:v>0.30282151247063549</c:v>
                </c:pt>
                <c:pt idx="6">
                  <c:v>-1.0181661418503518</c:v>
                </c:pt>
                <c:pt idx="7">
                  <c:v>-0.27742540110961134</c:v>
                </c:pt>
                <c:pt idx="8">
                  <c:v>-6.7548857899734749E-2</c:v>
                </c:pt>
                <c:pt idx="9">
                  <c:v>0.32751287049532651</c:v>
                </c:pt>
                <c:pt idx="10">
                  <c:v>-0.8044909281751389</c:v>
                </c:pt>
                <c:pt idx="11">
                  <c:v>0.47566101864347532</c:v>
                </c:pt>
                <c:pt idx="12">
                  <c:v>0.42627830259409194</c:v>
                </c:pt>
                <c:pt idx="13">
                  <c:v>0.35837706802619174</c:v>
                </c:pt>
                <c:pt idx="14">
                  <c:v>0.25035237666816634</c:v>
                </c:pt>
                <c:pt idx="15">
                  <c:v>9.2944969260758903E-2</c:v>
                </c:pt>
                <c:pt idx="16">
                  <c:v>0.56825361123606788</c:v>
                </c:pt>
                <c:pt idx="17">
                  <c:v>0.25590793222372232</c:v>
                </c:pt>
                <c:pt idx="18">
                  <c:v>0.25961163592742587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9E5E5"/>
                  </a:solidFill>
                  <a:ln w="3175">
                    <a:solidFill>
                      <a:sysClr val="window" lastClr="FFFFFF">
                        <a:lumMod val="50000"/>
                      </a:sys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22-3904-4855-B279-A684E3C599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534361816"/>
        <c:axId val="534363384"/>
      </c:barChart>
      <c:catAx>
        <c:axId val="5343618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solidFill>
            <a:srgbClr val="DDEBF7"/>
          </a:solidFill>
        </c:spPr>
        <c:crossAx val="534363384"/>
        <c:crosses val="autoZero"/>
        <c:auto val="1"/>
        <c:lblAlgn val="ctr"/>
        <c:lblOffset val="100"/>
        <c:noMultiLvlLbl val="0"/>
      </c:catAx>
      <c:valAx>
        <c:axId val="534363384"/>
        <c:scaling>
          <c:orientation val="minMax"/>
          <c:max val="1"/>
          <c:min val="-1"/>
        </c:scaling>
        <c:delete val="0"/>
        <c:axPos val="t"/>
        <c:majorGridlines>
          <c:spPr>
            <a:ln>
              <a:solidFill>
                <a:sysClr val="window" lastClr="FFFFFF">
                  <a:lumMod val="75000"/>
                </a:sysClr>
              </a:solidFill>
            </a:ln>
          </c:spPr>
        </c:majorGridlines>
        <c:numFmt formatCode="0.00_ 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1000"/>
            </a:pPr>
            <a:endParaRPr lang="ko-KR"/>
          </a:p>
        </c:txPr>
        <c:crossAx val="534361816"/>
        <c:crosses val="autoZero"/>
        <c:crossBetween val="between"/>
        <c:minorUnit val="5.000000000000001E-2"/>
      </c:valAx>
      <c:spPr>
        <a:ln>
          <a:solidFill>
            <a:sysClr val="window" lastClr="FFFFFF">
              <a:lumMod val="75000"/>
            </a:sysClr>
          </a:solidFill>
        </a:ln>
      </c:spPr>
    </c:plotArea>
    <c:legend>
      <c:legendPos val="l"/>
      <c:layout>
        <c:manualLayout>
          <c:xMode val="edge"/>
          <c:yMode val="edge"/>
          <c:x val="8.1542379457997857E-3"/>
          <c:y val="0.10279002982976626"/>
          <c:w val="0.21021155471104491"/>
          <c:h val="0.89530848147884068"/>
        </c:manualLayout>
      </c:layout>
      <c:overlay val="0"/>
      <c:spPr>
        <a:ln>
          <a:noFill/>
        </a:ln>
      </c:spPr>
      <c:txPr>
        <a:bodyPr/>
        <a:lstStyle/>
        <a:p>
          <a:pPr>
            <a:defRPr sz="900" spc="-100" baseline="0">
              <a:latin typeface="나눔스퀘어" panose="020B0603020101020101" pitchFamily="50" charset="-127"/>
              <a:ea typeface="나눔스퀘어" panose="020B0603020101020101" pitchFamily="50" charset="-127"/>
            </a:defRPr>
          </a:pPr>
          <a:endParaRPr lang="ko-KR"/>
        </a:p>
      </c:txPr>
    </c:legend>
    <c:plotVisOnly val="1"/>
    <c:dispBlanksAs val="gap"/>
    <c:showDLblsOverMax val="0"/>
  </c:chart>
  <c:spPr>
    <a:ln w="6350">
      <a:noFill/>
    </a:ln>
  </c:spPr>
  <c:txPr>
    <a:bodyPr/>
    <a:lstStyle/>
    <a:p>
      <a:pPr>
        <a:defRPr sz="1050">
          <a:latin typeface="나눔스퀘어" panose="020B0600000101010101" pitchFamily="50" charset="-127"/>
          <a:ea typeface="나눔스퀘어" panose="020B0600000101010101" pitchFamily="50" charset="-127"/>
        </a:defRPr>
      </a:pPr>
      <a:endParaRPr lang="ko-KR"/>
    </a:p>
  </c:txPr>
  <c:externalData r:id="rId2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준거집단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21598876441479506"/>
                  <c:y val="0.13553895410885805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34-7B41-B5F7-1D842FD1BC8A}"/>
                </c:ext>
              </c:extLst>
            </c:dLbl>
            <c:dLbl>
              <c:idx val="1"/>
              <c:layout>
                <c:manualLayout>
                  <c:x val="-0.13586390019640329"/>
                  <c:y val="0.23719316969050161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34-7B41-B5F7-1D842FD1BC8A}"/>
                </c:ext>
              </c:extLst>
            </c:dLbl>
            <c:dLbl>
              <c:idx val="2"/>
              <c:layout>
                <c:manualLayout>
                  <c:x val="-0.34140159536532111"/>
                  <c:y val="6.4004506106960748E-2"/>
                </c:manualLayout>
              </c:layout>
              <c:spPr>
                <a:solidFill>
                  <a:srgbClr val="F9E5E5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2-3334-7B41-B5F7-1D842FD1BC8A}"/>
                </c:ext>
              </c:extLst>
            </c:dLbl>
            <c:dLbl>
              <c:idx val="3"/>
              <c:layout>
                <c:manualLayout>
                  <c:x val="-0.37362078802707954"/>
                  <c:y val="-3.8474149175856752E-2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3334-7B41-B5F7-1D842FD1BC8A}"/>
                </c:ext>
              </c:extLst>
            </c:dLbl>
            <c:dLbl>
              <c:idx val="4"/>
              <c:layout>
                <c:manualLayout>
                  <c:x val="-0.39365694159470699"/>
                  <c:y val="-0.11276147278548555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334-7B41-B5F7-1D842FD1BC8A}"/>
                </c:ext>
              </c:extLst>
            </c:dLbl>
            <c:dLbl>
              <c:idx val="5"/>
              <c:layout>
                <c:manualLayout>
                  <c:x val="6.2706415475263066E-2"/>
                  <c:y val="-0.218368314953160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334-7B41-B5F7-1D842FD1BC8A}"/>
                </c:ext>
              </c:extLst>
            </c:dLbl>
            <c:dLbl>
              <c:idx val="6"/>
              <c:layout>
                <c:manualLayout>
                  <c:x val="-0.19082774662877583"/>
                  <c:y val="9.0808431163287087E-2"/>
                </c:manualLayout>
              </c:layout>
              <c:spPr>
                <a:solidFill>
                  <a:srgbClr val="F9E5E5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6-3334-7B41-B5F7-1D842FD1BC8A}"/>
                </c:ext>
              </c:extLst>
            </c:dLbl>
            <c:dLbl>
              <c:idx val="7"/>
              <c:layout>
                <c:manualLayout>
                  <c:x val="-0.36334088589956004"/>
                  <c:y val="-8.097474208466737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334-7B41-B5F7-1D842FD1BC8A}"/>
                </c:ext>
              </c:extLst>
            </c:dLbl>
            <c:dLbl>
              <c:idx val="8"/>
              <c:layout>
                <c:manualLayout>
                  <c:x val="2.3833649699908803E-2"/>
                  <c:y val="0.158128779793667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334-7B41-B5F7-1D842FD1BC8A}"/>
                </c:ext>
              </c:extLst>
            </c:dLbl>
            <c:dLbl>
              <c:idx val="9"/>
              <c:layout>
                <c:manualLayout>
                  <c:x val="0.10533964603517704"/>
                  <c:y val="0.18824854737341398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334-7B41-B5F7-1D842FD1BC8A}"/>
                </c:ext>
              </c:extLst>
            </c:dLbl>
            <c:dLbl>
              <c:idx val="10"/>
              <c:layout>
                <c:manualLayout>
                  <c:x val="-9.4059623212894627E-2"/>
                  <c:y val="0.16189375074113588"/>
                </c:manualLayout>
              </c:layout>
              <c:spPr>
                <a:solidFill>
                  <a:srgbClr val="F9E5E5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A-3334-7B41-B5F7-1D842FD1BC8A}"/>
                </c:ext>
              </c:extLst>
            </c:dLbl>
            <c:dLbl>
              <c:idx val="11"/>
              <c:layout>
                <c:manualLayout>
                  <c:x val="5.5739035978011484E-2"/>
                  <c:y val="9.7889244634175199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334-7B41-B5F7-1D842FD1BC8A}"/>
                </c:ext>
              </c:extLst>
            </c:dLbl>
            <c:dLbl>
              <c:idx val="12"/>
              <c:layout>
                <c:manualLayout>
                  <c:x val="7.664117446976583E-2"/>
                  <c:y val="-0.11294912842404838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334-7B41-B5F7-1D842FD1BC8A}"/>
                </c:ext>
              </c:extLst>
            </c:dLbl>
            <c:dLbl>
              <c:idx val="13"/>
              <c:layout>
                <c:manualLayout>
                  <c:x val="0.10101191586477798"/>
                  <c:y val="-3.7649709474683484E-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334-7B41-B5F7-1D842FD1BC8A}"/>
                </c:ext>
              </c:extLst>
            </c:dLbl>
            <c:dLbl>
              <c:idx val="14"/>
              <c:layout>
                <c:manualLayout>
                  <c:x val="-9.7543312961520315E-2"/>
                  <c:y val="-0.22589825684809675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334-7B41-B5F7-1D842FD1BC8A}"/>
                </c:ext>
              </c:extLst>
            </c:dLbl>
            <c:dLbl>
              <c:idx val="15"/>
              <c:layout>
                <c:manualLayout>
                  <c:x val="-0.24037459265517513"/>
                  <c:y val="-0.18448357642594568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334-7B41-B5F7-1D842FD1BC8A}"/>
                </c:ext>
              </c:extLst>
            </c:dLbl>
            <c:dLbl>
              <c:idx val="16"/>
              <c:layout>
                <c:manualLayout>
                  <c:x val="2.0720822041058164E-2"/>
                  <c:y val="-9.035930273923874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334-7B41-B5F7-1D842FD1BC8A}"/>
                </c:ext>
              </c:extLst>
            </c:dLbl>
            <c:dLbl>
              <c:idx val="17"/>
              <c:layout>
                <c:manualLayout>
                  <c:x val="0.13238021044777756"/>
                  <c:y val="-7.529941894936559E-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334-7B41-B5F7-1D842FD1BC8A}"/>
                </c:ext>
              </c:extLst>
            </c:dLbl>
            <c:dLbl>
              <c:idx val="18"/>
              <c:layout>
                <c:manualLayout>
                  <c:x val="-0.31004838762768955"/>
                  <c:y val="-0.1618937507411360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334-7B41-B5F7-1D842FD1BC8A}"/>
                </c:ext>
              </c:extLst>
            </c:dLbl>
            <c:spPr>
              <a:noFill/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Sheet1!$A$2:$A$20</c:f>
              <c:numCache>
                <c:formatCode>0.00_ </c:formatCode>
                <c:ptCount val="19"/>
                <c:pt idx="0">
                  <c:v>-0.16631428999850062</c:v>
                </c:pt>
                <c:pt idx="1">
                  <c:v>-9.2240215924426661E-2</c:v>
                </c:pt>
                <c:pt idx="2">
                  <c:v>-0.52927725296146333</c:v>
                </c:pt>
                <c:pt idx="3">
                  <c:v>-0.31446243814664809</c:v>
                </c:pt>
                <c:pt idx="4">
                  <c:v>-4.7795771479981486E-2</c:v>
                </c:pt>
                <c:pt idx="5">
                  <c:v>0.30282151247063549</c:v>
                </c:pt>
                <c:pt idx="6">
                  <c:v>-1.0181661418503518</c:v>
                </c:pt>
                <c:pt idx="7">
                  <c:v>-0.27742540110961134</c:v>
                </c:pt>
                <c:pt idx="8">
                  <c:v>-6.7548857899734749E-2</c:v>
                </c:pt>
                <c:pt idx="9">
                  <c:v>0.32751287049532651</c:v>
                </c:pt>
                <c:pt idx="10">
                  <c:v>-0.8044909281751389</c:v>
                </c:pt>
                <c:pt idx="11">
                  <c:v>0.47566101864347532</c:v>
                </c:pt>
                <c:pt idx="12">
                  <c:v>0.42627830259409194</c:v>
                </c:pt>
                <c:pt idx="13">
                  <c:v>0.35837706802619174</c:v>
                </c:pt>
                <c:pt idx="14">
                  <c:v>0.25035237666816634</c:v>
                </c:pt>
                <c:pt idx="15">
                  <c:v>9.2944969260758903E-2</c:v>
                </c:pt>
                <c:pt idx="16">
                  <c:v>0.56825361123606788</c:v>
                </c:pt>
                <c:pt idx="17">
                  <c:v>0.25590793222372232</c:v>
                </c:pt>
                <c:pt idx="18">
                  <c:v>0.25961163592742587</c:v>
                </c:pt>
              </c:numCache>
            </c:numRef>
          </c:xVal>
          <c:yVal>
            <c:numRef>
              <c:f>Sheet1!$B$2:$B$20</c:f>
              <c:numCache>
                <c:formatCode>0.00</c:formatCode>
                <c:ptCount val="19"/>
                <c:pt idx="0">
                  <c:v>-0.14465464295812414</c:v>
                </c:pt>
                <c:pt idx="1">
                  <c:v>-0.19126641218629148</c:v>
                </c:pt>
                <c:pt idx="2">
                  <c:v>-0.20861044829210851</c:v>
                </c:pt>
                <c:pt idx="3">
                  <c:v>4.3328572943027499E-2</c:v>
                </c:pt>
                <c:pt idx="4">
                  <c:v>0.2114796639987353</c:v>
                </c:pt>
                <c:pt idx="5">
                  <c:v>0.4216167241668658</c:v>
                </c:pt>
                <c:pt idx="6">
                  <c:v>-0.54655792037859685</c:v>
                </c:pt>
                <c:pt idx="7">
                  <c:v>0.10528350214270921</c:v>
                </c:pt>
                <c:pt idx="8">
                  <c:v>-0.13422139383819909</c:v>
                </c:pt>
                <c:pt idx="9">
                  <c:v>-0.18675726774849633</c:v>
                </c:pt>
                <c:pt idx="10">
                  <c:v>-0.5604469604469613</c:v>
                </c:pt>
                <c:pt idx="11">
                  <c:v>8.3505522699613977E-3</c:v>
                </c:pt>
                <c:pt idx="12">
                  <c:v>0.48676299642386622</c:v>
                </c:pt>
                <c:pt idx="13">
                  <c:v>0.27531177949942265</c:v>
                </c:pt>
                <c:pt idx="14">
                  <c:v>0.30105512566145087</c:v>
                </c:pt>
                <c:pt idx="15">
                  <c:v>0.37345714502465066</c:v>
                </c:pt>
                <c:pt idx="16">
                  <c:v>0.3217878344620213</c:v>
                </c:pt>
                <c:pt idx="17">
                  <c:v>8.5473840139253632E-2</c:v>
                </c:pt>
                <c:pt idx="18">
                  <c:v>0.14481545945790897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3-3334-7B41-B5F7-1D842FD1B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5271712"/>
        <c:axId val="435269752"/>
      </c:scatterChart>
      <c:valAx>
        <c:axId val="435271712"/>
        <c:scaling>
          <c:orientation val="minMax"/>
          <c:max val="1"/>
        </c:scaling>
        <c:delete val="0"/>
        <c:axPos val="b"/>
        <c:numFmt formatCode="0.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69752"/>
        <c:crosses val="autoZero"/>
        <c:crossBetween val="midCat"/>
      </c:valAx>
      <c:valAx>
        <c:axId val="435269752"/>
        <c:scaling>
          <c:orientation val="minMax"/>
          <c:max val="1"/>
          <c:min val="-1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1712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65000"/>
        </a:schemeClr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ubbleChart>
        <c:varyColors val="1"/>
        <c:ser>
          <c:idx val="0"/>
          <c:order val="0"/>
          <c:tx>
            <c:strRef>
              <c:f>Sheet1!$S$8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1F39-4CA5-AE9C-5643DD97D472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F39-4CA5-AE9C-5643DD97D472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1F39-4CA5-AE9C-5643DD97D472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F39-4CA5-AE9C-5643DD97D472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1F39-4CA5-AE9C-5643DD97D472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F39-4CA5-AE9C-5643DD97D472}"/>
              </c:ext>
            </c:extLst>
          </c:dPt>
          <c:dPt>
            <c:idx val="6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1F39-4CA5-AE9C-5643DD97D472}"/>
              </c:ext>
            </c:extLst>
          </c:dPt>
          <c:dPt>
            <c:idx val="7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F39-4CA5-AE9C-5643DD97D472}"/>
              </c:ext>
            </c:extLst>
          </c:dPt>
          <c:dPt>
            <c:idx val="8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1F39-4CA5-AE9C-5643DD97D472}"/>
              </c:ext>
            </c:extLst>
          </c:dPt>
          <c:dPt>
            <c:idx val="9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F39-4CA5-AE9C-5643DD97D472}"/>
              </c:ext>
            </c:extLst>
          </c:dPt>
          <c:dPt>
            <c:idx val="1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1F39-4CA5-AE9C-5643DD97D47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dirty="0"/>
                      <a:t>9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1F39-4CA5-AE9C-5643DD97D47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DFA8EB7-E32E-40CE-94F0-2206E696A4C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1F39-4CA5-AE9C-5643DD97D47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/>
                      <a:t>8</a:t>
                    </a:r>
                    <a:endParaRPr lang="en-US" altLang="ko-KR" dirty="0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1F39-4CA5-AE9C-5643DD97D47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/>
                      <a:t>1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1F39-4CA5-AE9C-5643DD97D47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/>
                      <a:t>7</a:t>
                    </a:r>
                    <a:endParaRPr lang="en-US" altLang="ko-KR" dirty="0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1F39-4CA5-AE9C-5643DD97D47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ACE81E06-629D-4A50-A335-57A55E8CEBE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1F39-4CA5-AE9C-5643DD97D47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/>
                      <a:t>4</a:t>
                    </a:r>
                    <a:endParaRPr lang="en-US" altLang="ko-KR" dirty="0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1F39-4CA5-AE9C-5643DD97D47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dirty="0"/>
                      <a:t>3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1F39-4CA5-AE9C-5643DD97D47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B21469C-C904-4FFB-90C3-E0E41D6428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1F39-4CA5-AE9C-5643DD97D47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dirty="0"/>
                      <a:t>5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1F39-4CA5-AE9C-5643DD97D47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F39-4CA5-AE9C-5643DD97D4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Sheet1!$R$9:$R$19</c:f>
              <c:numCache>
                <c:formatCode>0.0</c:formatCode>
                <c:ptCount val="11"/>
                <c:pt idx="0">
                  <c:v>1.2</c:v>
                </c:pt>
                <c:pt idx="1">
                  <c:v>3.25</c:v>
                </c:pt>
                <c:pt idx="2">
                  <c:v>1.4</c:v>
                </c:pt>
                <c:pt idx="3">
                  <c:v>3.5</c:v>
                </c:pt>
                <c:pt idx="4">
                  <c:v>2.2000000000000002</c:v>
                </c:pt>
                <c:pt idx="5">
                  <c:v>1.6</c:v>
                </c:pt>
                <c:pt idx="6">
                  <c:v>2.4</c:v>
                </c:pt>
                <c:pt idx="7">
                  <c:v>2.6</c:v>
                </c:pt>
                <c:pt idx="8">
                  <c:v>1.8</c:v>
                </c:pt>
                <c:pt idx="9">
                  <c:v>3.75</c:v>
                </c:pt>
                <c:pt idx="10">
                  <c:v>2.8</c:v>
                </c:pt>
              </c:numCache>
            </c:numRef>
          </c:xVal>
          <c:yVal>
            <c:numRef>
              <c:f>Sheet1!$S$9:$S$19</c:f>
              <c:numCache>
                <c:formatCode>0.0</c:formatCode>
                <c:ptCount val="11"/>
                <c:pt idx="0">
                  <c:v>3.2</c:v>
                </c:pt>
                <c:pt idx="1">
                  <c:v>3.4</c:v>
                </c:pt>
                <c:pt idx="2">
                  <c:v>2.2000000000000002</c:v>
                </c:pt>
                <c:pt idx="3">
                  <c:v>3.6</c:v>
                </c:pt>
                <c:pt idx="4">
                  <c:v>1.25</c:v>
                </c:pt>
                <c:pt idx="5">
                  <c:v>1.5</c:v>
                </c:pt>
                <c:pt idx="6">
                  <c:v>2.4</c:v>
                </c:pt>
                <c:pt idx="7">
                  <c:v>3.8</c:v>
                </c:pt>
                <c:pt idx="8">
                  <c:v>2.6</c:v>
                </c:pt>
                <c:pt idx="9">
                  <c:v>2.8</c:v>
                </c:pt>
                <c:pt idx="10">
                  <c:v>1.75</c:v>
                </c:pt>
              </c:numCache>
            </c:numRef>
          </c:yVal>
          <c:bubbleSize>
            <c:numRef>
              <c:f>Sheet1!$T$9:$T$19</c:f>
              <c:numCache>
                <c:formatCode>General</c:formatCode>
                <c:ptCount val="11"/>
                <c:pt idx="0">
                  <c:v>5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2</c:v>
                </c:pt>
                <c:pt idx="5">
                  <c:v>1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Sheet1!$C$9:$C$19</c15:f>
                <c15:dlblRangeCache>
                  <c:ptCount val="11"/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B-1F39-4CA5-AE9C-5643DD97D47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40"/>
        <c:showNegBubbles val="0"/>
        <c:axId val="534344568"/>
        <c:axId val="534335160"/>
      </c:bubbleChart>
      <c:valAx>
        <c:axId val="534344568"/>
        <c:scaling>
          <c:orientation val="minMax"/>
          <c:max val="4"/>
          <c:min val="1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4335160"/>
        <c:crosses val="autoZero"/>
        <c:crossBetween val="midCat"/>
        <c:majorUnit val="1"/>
      </c:valAx>
      <c:valAx>
        <c:axId val="534335160"/>
        <c:scaling>
          <c:orientation val="minMax"/>
          <c:max val="4"/>
          <c:min val="1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4344568"/>
        <c:crosses val="autoZero"/>
        <c:crossBetween val="midCat"/>
        <c:majorUnit val="1"/>
      </c:valAx>
      <c:spPr>
        <a:noFill/>
        <a:ln w="3175"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603634067292761"/>
          <c:y val="0.14512217089186843"/>
          <c:w val="0.88741361454804168"/>
          <c:h val="0.76136186172650777"/>
        </c:manualLayout>
      </c:layout>
      <c:barChart>
        <c:barDir val="col"/>
        <c:grouping val="stacked"/>
        <c:varyColors val="0"/>
        <c:ser>
          <c:idx val="3"/>
          <c:order val="0"/>
          <c:tx>
            <c:strRef>
              <c:f>베이시스_가상!$I$19</c:f>
              <c:strCache>
                <c:ptCount val="1"/>
                <c:pt idx="0">
                  <c:v>최소값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베이시스_가상!$J$18:$O$18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베이시스_가상!$J$19:$O$19</c:f>
              <c:numCache>
                <c:formatCode>_(* #,##0_);_(* \(#,##0\);_(* "-"_);_(@_)</c:formatCode>
                <c:ptCount val="6"/>
                <c:pt idx="0">
                  <c:v>36000000</c:v>
                </c:pt>
                <c:pt idx="1">
                  <c:v>33000000</c:v>
                </c:pt>
                <c:pt idx="2">
                  <c:v>42000000</c:v>
                </c:pt>
                <c:pt idx="3">
                  <c:v>48000000</c:v>
                </c:pt>
                <c:pt idx="4">
                  <c:v>50000000</c:v>
                </c:pt>
                <c:pt idx="5">
                  <c:v>47000000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D0-4CF7-A410-A9B4F72FA407}"/>
            </c:ext>
          </c:extLst>
        </c:ser>
        <c:ser>
          <c:idx val="2"/>
          <c:order val="1"/>
          <c:tx>
            <c:strRef>
              <c:f>베이시스_가상!$I$20</c:f>
              <c:strCache>
                <c:ptCount val="1"/>
                <c:pt idx="0">
                  <c:v>하한(Min)</c:v>
                </c:pt>
              </c:strCache>
            </c:strRef>
          </c:tx>
          <c:spPr>
            <a:pattFill prst="pct50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베이시스_가상!$J$18:$O$18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베이시스_가상!$J$20:$O$20</c:f>
              <c:numCache>
                <c:formatCode>_(* #,##0_);_(* \(#,##0\);_(* "-"_);_(@_)</c:formatCode>
                <c:ptCount val="6"/>
                <c:pt idx="0">
                  <c:v>0</c:v>
                </c:pt>
                <c:pt idx="1">
                  <c:v>8000000</c:v>
                </c:pt>
                <c:pt idx="2">
                  <c:v>3000000</c:v>
                </c:pt>
                <c:pt idx="3">
                  <c:v>0</c:v>
                </c:pt>
                <c:pt idx="4">
                  <c:v>5000000</c:v>
                </c:pt>
                <c:pt idx="5">
                  <c:v>10000000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D0-4CF7-A410-A9B4F72FA407}"/>
            </c:ext>
          </c:extLst>
        </c:ser>
        <c:ser>
          <c:idx val="1"/>
          <c:order val="2"/>
          <c:tx>
            <c:strRef>
              <c:f>베이시스_가상!$I$21</c:f>
              <c:strCache>
                <c:ptCount val="1"/>
                <c:pt idx="0">
                  <c:v>상한(Max)</c:v>
                </c:pt>
              </c:strCache>
            </c:strRef>
          </c:tx>
          <c:spPr>
            <a:pattFill prst="wdDn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베이시스_가상!$J$18:$O$18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베이시스_가상!$J$21:$O$21</c:f>
              <c:numCache>
                <c:formatCode>_(* #,##0_);_(* \(#,##0\);_(* "-"_);_(@_)</c:formatCode>
                <c:ptCount val="6"/>
                <c:pt idx="0">
                  <c:v>0</c:v>
                </c:pt>
                <c:pt idx="1">
                  <c:v>9000000</c:v>
                </c:pt>
                <c:pt idx="2">
                  <c:v>10000000</c:v>
                </c:pt>
                <c:pt idx="3">
                  <c:v>4000000</c:v>
                </c:pt>
                <c:pt idx="4">
                  <c:v>5000000</c:v>
                </c:pt>
                <c:pt idx="5">
                  <c:v>3000000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D0-4CF7-A410-A9B4F72FA4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1217664"/>
        <c:axId val="711218080"/>
      </c:barChart>
      <c:lineChart>
        <c:grouping val="standard"/>
        <c:varyColors val="0"/>
        <c:ser>
          <c:idx val="4"/>
          <c:order val="3"/>
          <c:tx>
            <c:strRef>
              <c:f>베이시스_가상!$I$22</c:f>
              <c:strCache>
                <c:ptCount val="1"/>
                <c:pt idx="0">
                  <c:v>보상정책선</c:v>
                </c:pt>
              </c:strCache>
            </c:strRef>
          </c:tx>
          <c:spPr>
            <a:ln w="15875" cap="rnd">
              <a:solidFill>
                <a:srgbClr val="FF0000">
                  <a:alpha val="40000"/>
                </a:srgbClr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베이시스_가상!$J$18:$O$18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베이시스_가상!$J$22:$O$22</c:f>
              <c:numCache>
                <c:formatCode>_(* #,##0_);_(* \(#,##0\);_(* "-"_);_(@_)</c:formatCode>
                <c:ptCount val="6"/>
                <c:pt idx="0">
                  <c:v>36000000</c:v>
                </c:pt>
                <c:pt idx="1">
                  <c:v>41000000</c:v>
                </c:pt>
                <c:pt idx="2">
                  <c:v>45000000</c:v>
                </c:pt>
                <c:pt idx="3">
                  <c:v>48000000</c:v>
                </c:pt>
                <c:pt idx="4">
                  <c:v>55000000</c:v>
                </c:pt>
                <c:pt idx="5">
                  <c:v>57000000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05D0-4CF7-A410-A9B4F72FA4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8003808"/>
        <c:axId val="1067990496"/>
      </c:lineChart>
      <c:scatterChart>
        <c:scatterStyle val="lineMarker"/>
        <c:varyColors val="0"/>
        <c:ser>
          <c:idx val="0"/>
          <c:order val="4"/>
          <c:tx>
            <c:strRef>
              <c:f>베이시스_가상!$F$2</c:f>
              <c:strCache>
                <c:ptCount val="1"/>
                <c:pt idx="0">
                  <c:v>연봉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베이시스_가상!$E$3:$E$186</c:f>
              <c:numCache>
                <c:formatCode>General</c:formatCode>
                <c:ptCount val="184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1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</c:numCache>
            </c:numRef>
          </c:xVal>
          <c:yVal>
            <c:numRef>
              <c:f>베이시스_가상!$F$3:$F$186</c:f>
              <c:numCache>
                <c:formatCode>_(* #,##0_);_(* \(#,##0\);_(* "-"_);_(@_)</c:formatCode>
                <c:ptCount val="184"/>
                <c:pt idx="0">
                  <c:v>58000000</c:v>
                </c:pt>
                <c:pt idx="1">
                  <c:v>59000000</c:v>
                </c:pt>
                <c:pt idx="2">
                  <c:v>47000000</c:v>
                </c:pt>
                <c:pt idx="3">
                  <c:v>47000000</c:v>
                </c:pt>
                <c:pt idx="4">
                  <c:v>59000000</c:v>
                </c:pt>
                <c:pt idx="5">
                  <c:v>54000000</c:v>
                </c:pt>
                <c:pt idx="6">
                  <c:v>60000000</c:v>
                </c:pt>
                <c:pt idx="7">
                  <c:v>56000000</c:v>
                </c:pt>
                <c:pt idx="8">
                  <c:v>50000000</c:v>
                </c:pt>
                <c:pt idx="9">
                  <c:v>60000000</c:v>
                </c:pt>
                <c:pt idx="10">
                  <c:v>48000000</c:v>
                </c:pt>
                <c:pt idx="11">
                  <c:v>52000000</c:v>
                </c:pt>
                <c:pt idx="12">
                  <c:v>48000000</c:v>
                </c:pt>
                <c:pt idx="13">
                  <c:v>55000000</c:v>
                </c:pt>
                <c:pt idx="14">
                  <c:v>45000000</c:v>
                </c:pt>
                <c:pt idx="15">
                  <c:v>47000000</c:v>
                </c:pt>
                <c:pt idx="16">
                  <c:v>42000000</c:v>
                </c:pt>
                <c:pt idx="17">
                  <c:v>42000000</c:v>
                </c:pt>
                <c:pt idx="18">
                  <c:v>45000000</c:v>
                </c:pt>
                <c:pt idx="19">
                  <c:v>33000000</c:v>
                </c:pt>
                <c:pt idx="20">
                  <c:v>43000000</c:v>
                </c:pt>
                <c:pt idx="21">
                  <c:v>50000000</c:v>
                </c:pt>
                <c:pt idx="22">
                  <c:v>41000000</c:v>
                </c:pt>
                <c:pt idx="23">
                  <c:v>41000000</c:v>
                </c:pt>
                <c:pt idx="24">
                  <c:v>33000000</c:v>
                </c:pt>
                <c:pt idx="25">
                  <c:v>50000000</c:v>
                </c:pt>
                <c:pt idx="26">
                  <c:v>40000000</c:v>
                </c:pt>
                <c:pt idx="27">
                  <c:v>42000000</c:v>
                </c:pt>
                <c:pt idx="28">
                  <c:v>36000000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5D0-4CF7-A410-A9B4F72FA4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8003808"/>
        <c:axId val="1067990496"/>
      </c:scatterChart>
      <c:catAx>
        <c:axId val="71121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8080"/>
        <c:crosses val="autoZero"/>
        <c:auto val="1"/>
        <c:lblAlgn val="ctr"/>
        <c:lblOffset val="100"/>
        <c:tickMarkSkip val="1"/>
        <c:noMultiLvlLbl val="0"/>
      </c:catAx>
      <c:valAx>
        <c:axId val="711218080"/>
        <c:scaling>
          <c:orientation val="minMax"/>
          <c:max val="90000000"/>
          <c:min val="300000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7664"/>
        <c:crosses val="autoZero"/>
        <c:crossBetween val="between"/>
        <c:majorUnit val="20000000"/>
        <c:dispUnits>
          <c:builtInUnit val="thousands"/>
        </c:dispUnits>
      </c:valAx>
      <c:valAx>
        <c:axId val="1067990496"/>
        <c:scaling>
          <c:orientation val="minMax"/>
        </c:scaling>
        <c:delete val="1"/>
        <c:axPos val="r"/>
        <c:numFmt formatCode="_(* #,##0_);_(* \(#,##0\);_(* &quot;-&quot;_);_(@_)" sourceLinked="1"/>
        <c:majorTickMark val="out"/>
        <c:minorTickMark val="none"/>
        <c:tickLblPos val="nextTo"/>
        <c:crossAx val="1068003808"/>
        <c:crosses val="max"/>
        <c:crossBetween val="between"/>
      </c:valAx>
      <c:catAx>
        <c:axId val="1068003808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7990496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ayout>
        <c:manualLayout>
          <c:xMode val="edge"/>
          <c:yMode val="edge"/>
          <c:x val="0.24614290586334367"/>
          <c:y val="2.9854126157581987E-2"/>
          <c:w val="0.4774911906198559"/>
          <c:h val="7.978645242820263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603634067292761"/>
          <c:y val="0.14512217089186843"/>
          <c:w val="0.88741361454804168"/>
          <c:h val="0.76136186172650777"/>
        </c:manualLayout>
      </c:layout>
      <c:barChart>
        <c:barDir val="col"/>
        <c:grouping val="stacked"/>
        <c:varyColors val="0"/>
        <c:ser>
          <c:idx val="3"/>
          <c:order val="0"/>
          <c:tx>
            <c:strRef>
              <c:f>'베이시스_가상_페이밴드 적용'!$I$19</c:f>
              <c:strCache>
                <c:ptCount val="1"/>
                <c:pt idx="0">
                  <c:v>최소값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'베이시스_가상_페이밴드 적용'!$J$18:$O$18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'베이시스_가상_페이밴드 적용'!$J$19:$O$19</c:f>
              <c:numCache>
                <c:formatCode>_(* #,##0_);_(* \(#,##0\);_(* "-"_);_(@_)</c:formatCode>
                <c:ptCount val="6"/>
                <c:pt idx="0">
                  <c:v>32000000</c:v>
                </c:pt>
                <c:pt idx="1">
                  <c:v>35000000</c:v>
                </c:pt>
                <c:pt idx="2">
                  <c:v>41000000</c:v>
                </c:pt>
                <c:pt idx="3">
                  <c:v>48000000</c:v>
                </c:pt>
                <c:pt idx="4">
                  <c:v>53000000</c:v>
                </c:pt>
                <c:pt idx="5">
                  <c:v>58000000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D-4F60-974E-7940B58FA9B1}"/>
            </c:ext>
          </c:extLst>
        </c:ser>
        <c:ser>
          <c:idx val="2"/>
          <c:order val="1"/>
          <c:tx>
            <c:strRef>
              <c:f>'베이시스_가상_페이밴드 적용'!$I$20</c:f>
              <c:strCache>
                <c:ptCount val="1"/>
                <c:pt idx="0">
                  <c:v>하한(Min)</c:v>
                </c:pt>
              </c:strCache>
            </c:strRef>
          </c:tx>
          <c:spPr>
            <a:pattFill prst="pct50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'베이시스_가상_페이밴드 적용'!$J$18:$O$18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'베이시스_가상_페이밴드 적용'!$J$20:$O$20</c:f>
              <c:numCache>
                <c:formatCode>_(* #,##0_);_(* \(#,##0\);_(* "-"_);_(@_)</c:formatCode>
                <c:ptCount val="6"/>
                <c:pt idx="0">
                  <c:v>5500000</c:v>
                </c:pt>
                <c:pt idx="1">
                  <c:v>6500000</c:v>
                </c:pt>
                <c:pt idx="2">
                  <c:v>7500000</c:v>
                </c:pt>
                <c:pt idx="3">
                  <c:v>9000000</c:v>
                </c:pt>
                <c:pt idx="4">
                  <c:v>10000000</c:v>
                </c:pt>
                <c:pt idx="5">
                  <c:v>11000000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CD-4F60-974E-7940B58FA9B1}"/>
            </c:ext>
          </c:extLst>
        </c:ser>
        <c:ser>
          <c:idx val="1"/>
          <c:order val="2"/>
          <c:tx>
            <c:strRef>
              <c:f>'베이시스_가상_페이밴드 적용'!$I$21</c:f>
              <c:strCache>
                <c:ptCount val="1"/>
                <c:pt idx="0">
                  <c:v>상한(Max)</c:v>
                </c:pt>
              </c:strCache>
            </c:strRef>
          </c:tx>
          <c:spPr>
            <a:pattFill prst="wdDn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'베이시스_가상_페이밴드 적용'!$J$18:$O$18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'베이시스_가상_페이밴드 적용'!$J$21:$O$21</c:f>
              <c:numCache>
                <c:formatCode>_(* #,##0_);_(* \(#,##0\);_(* "-"_);_(@_)</c:formatCode>
                <c:ptCount val="6"/>
                <c:pt idx="0">
                  <c:v>5500000</c:v>
                </c:pt>
                <c:pt idx="1">
                  <c:v>6500000</c:v>
                </c:pt>
                <c:pt idx="2">
                  <c:v>7500000</c:v>
                </c:pt>
                <c:pt idx="3">
                  <c:v>9000000</c:v>
                </c:pt>
                <c:pt idx="4">
                  <c:v>10000000</c:v>
                </c:pt>
                <c:pt idx="5">
                  <c:v>11000000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CD-4F60-974E-7940B58FA9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1217664"/>
        <c:axId val="711218080"/>
      </c:barChart>
      <c:lineChart>
        <c:grouping val="standard"/>
        <c:varyColors val="0"/>
        <c:ser>
          <c:idx val="4"/>
          <c:order val="3"/>
          <c:tx>
            <c:strRef>
              <c:f>'베이시스_가상_페이밴드 적용'!$I$22</c:f>
              <c:strCache>
                <c:ptCount val="1"/>
                <c:pt idx="0">
                  <c:v>보상정책선</c:v>
                </c:pt>
              </c:strCache>
            </c:strRef>
          </c:tx>
          <c:spPr>
            <a:ln w="15875" cap="rnd">
              <a:solidFill>
                <a:srgbClr val="FF0000">
                  <a:alpha val="40000"/>
                </a:srgbClr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'베이시스_가상_페이밴드 적용'!$J$18:$O$18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'베이시스_가상_페이밴드 적용'!$J$22:$O$22</c:f>
              <c:numCache>
                <c:formatCode>_(* #,##0_);_(* \(#,##0\);_(* "-"_);_(@_)</c:formatCode>
                <c:ptCount val="6"/>
                <c:pt idx="0">
                  <c:v>37500000</c:v>
                </c:pt>
                <c:pt idx="1">
                  <c:v>41500000</c:v>
                </c:pt>
                <c:pt idx="2">
                  <c:v>48500000</c:v>
                </c:pt>
                <c:pt idx="3">
                  <c:v>57000000</c:v>
                </c:pt>
                <c:pt idx="4">
                  <c:v>63000000</c:v>
                </c:pt>
                <c:pt idx="5">
                  <c:v>69000000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6BCD-4F60-974E-7940B58FA9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8003808"/>
        <c:axId val="1067990496"/>
      </c:lineChart>
      <c:scatterChart>
        <c:scatterStyle val="lineMarker"/>
        <c:varyColors val="0"/>
        <c:ser>
          <c:idx val="0"/>
          <c:order val="4"/>
          <c:tx>
            <c:strRef>
              <c:f>'베이시스_가상_페이밴드 적용'!$F$2</c:f>
              <c:strCache>
                <c:ptCount val="1"/>
                <c:pt idx="0">
                  <c:v>임금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'베이시스_가상_페이밴드 적용'!$E$3:$E$186</c:f>
              <c:numCache>
                <c:formatCode>General</c:formatCode>
                <c:ptCount val="184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1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</c:numCache>
            </c:numRef>
          </c:xVal>
          <c:yVal>
            <c:numRef>
              <c:f>'베이시스_가상_페이밴드 적용'!$F$3:$F$186</c:f>
              <c:numCache>
                <c:formatCode>_(* #,##0_);_(* \(#,##0\);_(* "-"_);_(@_)</c:formatCode>
                <c:ptCount val="184"/>
                <c:pt idx="0">
                  <c:v>58000000</c:v>
                </c:pt>
                <c:pt idx="1">
                  <c:v>59000000</c:v>
                </c:pt>
                <c:pt idx="2">
                  <c:v>47000000</c:v>
                </c:pt>
                <c:pt idx="3">
                  <c:v>47000000</c:v>
                </c:pt>
                <c:pt idx="4">
                  <c:v>59000000</c:v>
                </c:pt>
                <c:pt idx="5">
                  <c:v>54000000</c:v>
                </c:pt>
                <c:pt idx="6">
                  <c:v>60000000</c:v>
                </c:pt>
                <c:pt idx="7">
                  <c:v>56000000</c:v>
                </c:pt>
                <c:pt idx="8">
                  <c:v>50000000</c:v>
                </c:pt>
                <c:pt idx="9">
                  <c:v>60000000</c:v>
                </c:pt>
                <c:pt idx="10">
                  <c:v>48000000</c:v>
                </c:pt>
                <c:pt idx="11">
                  <c:v>52000000</c:v>
                </c:pt>
                <c:pt idx="12">
                  <c:v>48000000</c:v>
                </c:pt>
                <c:pt idx="13">
                  <c:v>55000000</c:v>
                </c:pt>
                <c:pt idx="14">
                  <c:v>45000000</c:v>
                </c:pt>
                <c:pt idx="15">
                  <c:v>47000000</c:v>
                </c:pt>
                <c:pt idx="16">
                  <c:v>42000000</c:v>
                </c:pt>
                <c:pt idx="17">
                  <c:v>42000000</c:v>
                </c:pt>
                <c:pt idx="18">
                  <c:v>45000000</c:v>
                </c:pt>
                <c:pt idx="19">
                  <c:v>33000000</c:v>
                </c:pt>
                <c:pt idx="20">
                  <c:v>43000000</c:v>
                </c:pt>
                <c:pt idx="21">
                  <c:v>50000000</c:v>
                </c:pt>
                <c:pt idx="22">
                  <c:v>41000000</c:v>
                </c:pt>
                <c:pt idx="23">
                  <c:v>41000000</c:v>
                </c:pt>
                <c:pt idx="24">
                  <c:v>33000000</c:v>
                </c:pt>
                <c:pt idx="25">
                  <c:v>50000000</c:v>
                </c:pt>
                <c:pt idx="26">
                  <c:v>40000000</c:v>
                </c:pt>
                <c:pt idx="27">
                  <c:v>42000000</c:v>
                </c:pt>
                <c:pt idx="28">
                  <c:v>36000000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BCD-4F60-974E-7940B58FA9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8003808"/>
        <c:axId val="1067990496"/>
      </c:scatterChart>
      <c:catAx>
        <c:axId val="71121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8080"/>
        <c:crosses val="autoZero"/>
        <c:auto val="1"/>
        <c:lblAlgn val="ctr"/>
        <c:lblOffset val="100"/>
        <c:tickMarkSkip val="1"/>
        <c:noMultiLvlLbl val="0"/>
      </c:catAx>
      <c:valAx>
        <c:axId val="711218080"/>
        <c:scaling>
          <c:orientation val="minMax"/>
          <c:min val="300000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7664"/>
        <c:crosses val="autoZero"/>
        <c:crossBetween val="between"/>
        <c:majorUnit val="20000000"/>
        <c:dispUnits>
          <c:builtInUnit val="thousands"/>
        </c:dispUnits>
      </c:valAx>
      <c:valAx>
        <c:axId val="1067990496"/>
        <c:scaling>
          <c:orientation val="minMax"/>
        </c:scaling>
        <c:delete val="1"/>
        <c:axPos val="r"/>
        <c:numFmt formatCode="_(* #,##0_);_(* \(#,##0\);_(* &quot;-&quot;_);_(@_)" sourceLinked="1"/>
        <c:majorTickMark val="out"/>
        <c:minorTickMark val="none"/>
        <c:tickLblPos val="nextTo"/>
        <c:crossAx val="1068003808"/>
        <c:crosses val="max"/>
        <c:crossBetween val="between"/>
      </c:valAx>
      <c:catAx>
        <c:axId val="1068003808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7990496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ayout>
        <c:manualLayout>
          <c:xMode val="edge"/>
          <c:yMode val="edge"/>
          <c:x val="0.24614290586334367"/>
          <c:y val="2.9854126157581987E-2"/>
          <c:w val="0.4774911906198559"/>
          <c:h val="7.978645242820263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603634067292761"/>
          <c:y val="0.14512217089186843"/>
          <c:w val="0.88741361454804168"/>
          <c:h val="0.76136186172650777"/>
        </c:manualLayout>
      </c:layout>
      <c:barChart>
        <c:barDir val="col"/>
        <c:grouping val="stacked"/>
        <c:varyColors val="0"/>
        <c:ser>
          <c:idx val="3"/>
          <c:order val="0"/>
          <c:tx>
            <c:strRef>
              <c:f>'베이시스_가상_시뮬레이션_+1년'!$I$19</c:f>
              <c:strCache>
                <c:ptCount val="1"/>
                <c:pt idx="0">
                  <c:v>최소값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'베이시스_가상_시뮬레이션_+1년'!$J$18:$O$18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'베이시스_가상_시뮬레이션_+1년'!$J$19:$O$19</c:f>
              <c:numCache>
                <c:formatCode>_(* #,##0_);_(* \(#,##0\);_(* "-"_);_(@_)</c:formatCode>
                <c:ptCount val="6"/>
                <c:pt idx="0">
                  <c:v>32960000</c:v>
                </c:pt>
                <c:pt idx="1">
                  <c:v>36050000</c:v>
                </c:pt>
                <c:pt idx="2">
                  <c:v>42230000</c:v>
                </c:pt>
                <c:pt idx="3">
                  <c:v>49440000</c:v>
                </c:pt>
                <c:pt idx="4">
                  <c:v>54590000</c:v>
                </c:pt>
                <c:pt idx="5">
                  <c:v>59740000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28-49D2-8FF8-C02E8DED43AC}"/>
            </c:ext>
          </c:extLst>
        </c:ser>
        <c:ser>
          <c:idx val="2"/>
          <c:order val="1"/>
          <c:tx>
            <c:strRef>
              <c:f>'베이시스_가상_시뮬레이션_+1년'!$I$20</c:f>
              <c:strCache>
                <c:ptCount val="1"/>
                <c:pt idx="0">
                  <c:v>하한(Min)</c:v>
                </c:pt>
              </c:strCache>
            </c:strRef>
          </c:tx>
          <c:spPr>
            <a:pattFill prst="pct50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'베이시스_가상_시뮬레이션_+1년'!$J$18:$O$18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'베이시스_가상_시뮬레이션_+1년'!$J$20:$O$20</c:f>
              <c:numCache>
                <c:formatCode>_(* #,##0_);_(* \(#,##0\);_(* "-"_);_(@_)</c:formatCode>
                <c:ptCount val="6"/>
                <c:pt idx="0">
                  <c:v>5665000</c:v>
                </c:pt>
                <c:pt idx="1">
                  <c:v>6695000</c:v>
                </c:pt>
                <c:pt idx="2">
                  <c:v>7725000</c:v>
                </c:pt>
                <c:pt idx="3">
                  <c:v>9270000</c:v>
                </c:pt>
                <c:pt idx="4">
                  <c:v>10300000</c:v>
                </c:pt>
                <c:pt idx="5">
                  <c:v>11330000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28-49D2-8FF8-C02E8DED43AC}"/>
            </c:ext>
          </c:extLst>
        </c:ser>
        <c:ser>
          <c:idx val="1"/>
          <c:order val="2"/>
          <c:tx>
            <c:strRef>
              <c:f>'베이시스_가상_시뮬레이션_+1년'!$I$21</c:f>
              <c:strCache>
                <c:ptCount val="1"/>
                <c:pt idx="0">
                  <c:v>상한(Max)</c:v>
                </c:pt>
              </c:strCache>
            </c:strRef>
          </c:tx>
          <c:spPr>
            <a:pattFill prst="wdDn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'베이시스_가상_시뮬레이션_+1년'!$J$18:$O$18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'베이시스_가상_시뮬레이션_+1년'!$J$21:$O$21</c:f>
              <c:numCache>
                <c:formatCode>_(* #,##0_);_(* \(#,##0\);_(* "-"_);_(@_)</c:formatCode>
                <c:ptCount val="6"/>
                <c:pt idx="0">
                  <c:v>5665000</c:v>
                </c:pt>
                <c:pt idx="1">
                  <c:v>6695000</c:v>
                </c:pt>
                <c:pt idx="2">
                  <c:v>7725000</c:v>
                </c:pt>
                <c:pt idx="3">
                  <c:v>9270000</c:v>
                </c:pt>
                <c:pt idx="4">
                  <c:v>10300000</c:v>
                </c:pt>
                <c:pt idx="5">
                  <c:v>11330000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28-49D2-8FF8-C02E8DED43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1217664"/>
        <c:axId val="711218080"/>
      </c:barChart>
      <c:lineChart>
        <c:grouping val="standard"/>
        <c:varyColors val="0"/>
        <c:ser>
          <c:idx val="4"/>
          <c:order val="3"/>
          <c:tx>
            <c:strRef>
              <c:f>'베이시스_가상_시뮬레이션_+1년'!$I$22</c:f>
              <c:strCache>
                <c:ptCount val="1"/>
                <c:pt idx="0">
                  <c:v>보상정책선</c:v>
                </c:pt>
              </c:strCache>
            </c:strRef>
          </c:tx>
          <c:spPr>
            <a:ln w="15875" cap="rnd">
              <a:solidFill>
                <a:srgbClr val="FF0000">
                  <a:alpha val="40000"/>
                </a:srgbClr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'베이시스_가상_시뮬레이션_+1년'!$J$18:$O$18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'베이시스_가상_시뮬레이션_+1년'!$J$22:$O$22</c:f>
              <c:numCache>
                <c:formatCode>_(* #,##0_);_(* \(#,##0\);_(* "-"_);_(@_)</c:formatCode>
                <c:ptCount val="6"/>
                <c:pt idx="0">
                  <c:v>38625000</c:v>
                </c:pt>
                <c:pt idx="1">
                  <c:v>42745000</c:v>
                </c:pt>
                <c:pt idx="2">
                  <c:v>49955000</c:v>
                </c:pt>
                <c:pt idx="3">
                  <c:v>58710000</c:v>
                </c:pt>
                <c:pt idx="4">
                  <c:v>64890000</c:v>
                </c:pt>
                <c:pt idx="5">
                  <c:v>71070000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1B28-49D2-8FF8-C02E8DED43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8003808"/>
        <c:axId val="1067990496"/>
      </c:lineChart>
      <c:scatterChart>
        <c:scatterStyle val="lineMarker"/>
        <c:varyColors val="0"/>
        <c:ser>
          <c:idx val="0"/>
          <c:order val="4"/>
          <c:tx>
            <c:strRef>
              <c:f>'베이시스_가상_시뮬레이션_+1년'!$F$2</c:f>
              <c:strCache>
                <c:ptCount val="1"/>
                <c:pt idx="0">
                  <c:v>임금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'베이시스_가상_시뮬레이션_+1년'!$E$3:$E$186</c:f>
              <c:numCache>
                <c:formatCode>General</c:formatCode>
                <c:ptCount val="184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  <c:pt idx="15">
                  <c:v>4</c:v>
                </c:pt>
                <c:pt idx="16">
                  <c:v>4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3</c:v>
                </c:pt>
                <c:pt idx="24">
                  <c:v>3</c:v>
                </c:pt>
                <c:pt idx="25">
                  <c:v>2</c:v>
                </c:pt>
                <c:pt idx="26">
                  <c:v>4</c:v>
                </c:pt>
                <c:pt idx="27">
                  <c:v>2</c:v>
                </c:pt>
                <c:pt idx="28">
                  <c:v>1</c:v>
                </c:pt>
                <c:pt idx="29">
                  <c:v>1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</c:numCache>
            </c:numRef>
          </c:xVal>
          <c:yVal>
            <c:numRef>
              <c:f>'베이시스_가상_시뮬레이션_+1년'!$F$3:$F$186</c:f>
              <c:numCache>
                <c:formatCode>_(* #,##0_);_(* \(#,##0\);_(* "-"_);_(@_)</c:formatCode>
                <c:ptCount val="184"/>
                <c:pt idx="0">
                  <c:v>70000000</c:v>
                </c:pt>
                <c:pt idx="1">
                  <c:v>71000000</c:v>
                </c:pt>
                <c:pt idx="2">
                  <c:v>55000000</c:v>
                </c:pt>
                <c:pt idx="3">
                  <c:v>55000000</c:v>
                </c:pt>
                <c:pt idx="4">
                  <c:v>71000000</c:v>
                </c:pt>
                <c:pt idx="5">
                  <c:v>65000000</c:v>
                </c:pt>
                <c:pt idx="6">
                  <c:v>72000000</c:v>
                </c:pt>
                <c:pt idx="7">
                  <c:v>67000000</c:v>
                </c:pt>
                <c:pt idx="8">
                  <c:v>58000000</c:v>
                </c:pt>
                <c:pt idx="9">
                  <c:v>73000000</c:v>
                </c:pt>
                <c:pt idx="10">
                  <c:v>69000000</c:v>
                </c:pt>
                <c:pt idx="11">
                  <c:v>59000000</c:v>
                </c:pt>
                <c:pt idx="12">
                  <c:v>63000000</c:v>
                </c:pt>
                <c:pt idx="13">
                  <c:v>59000000</c:v>
                </c:pt>
                <c:pt idx="14">
                  <c:v>53000000</c:v>
                </c:pt>
                <c:pt idx="15">
                  <c:v>58000000</c:v>
                </c:pt>
                <c:pt idx="16">
                  <c:v>58000000</c:v>
                </c:pt>
                <c:pt idx="17">
                  <c:v>53000000</c:v>
                </c:pt>
                <c:pt idx="18">
                  <c:v>53000000</c:v>
                </c:pt>
                <c:pt idx="19">
                  <c:v>56000000</c:v>
                </c:pt>
                <c:pt idx="20">
                  <c:v>37000000</c:v>
                </c:pt>
                <c:pt idx="21">
                  <c:v>51000000</c:v>
                </c:pt>
                <c:pt idx="22">
                  <c:v>58000000</c:v>
                </c:pt>
                <c:pt idx="23">
                  <c:v>49000000</c:v>
                </c:pt>
                <c:pt idx="24">
                  <c:v>49000000</c:v>
                </c:pt>
                <c:pt idx="25">
                  <c:v>38000000</c:v>
                </c:pt>
                <c:pt idx="26">
                  <c:v>58000000</c:v>
                </c:pt>
                <c:pt idx="27">
                  <c:v>48000000</c:v>
                </c:pt>
                <c:pt idx="28">
                  <c:v>38000000</c:v>
                </c:pt>
                <c:pt idx="29">
                  <c:v>36000000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B28-49D2-8FF8-C02E8DED43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8003808"/>
        <c:axId val="1067990496"/>
      </c:scatterChart>
      <c:catAx>
        <c:axId val="71121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8080"/>
        <c:crosses val="autoZero"/>
        <c:auto val="1"/>
        <c:lblAlgn val="ctr"/>
        <c:lblOffset val="100"/>
        <c:tickMarkSkip val="1"/>
        <c:noMultiLvlLbl val="0"/>
      </c:catAx>
      <c:valAx>
        <c:axId val="711218080"/>
        <c:scaling>
          <c:orientation val="minMax"/>
          <c:min val="300000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7664"/>
        <c:crosses val="autoZero"/>
        <c:crossBetween val="between"/>
        <c:majorUnit val="20000000"/>
        <c:dispUnits>
          <c:builtInUnit val="thousands"/>
        </c:dispUnits>
      </c:valAx>
      <c:valAx>
        <c:axId val="1067990496"/>
        <c:scaling>
          <c:orientation val="minMax"/>
        </c:scaling>
        <c:delete val="1"/>
        <c:axPos val="r"/>
        <c:numFmt formatCode="_(* #,##0_);_(* \(#,##0\);_(* &quot;-&quot;_);_(@_)" sourceLinked="1"/>
        <c:majorTickMark val="out"/>
        <c:minorTickMark val="none"/>
        <c:tickLblPos val="nextTo"/>
        <c:crossAx val="1068003808"/>
        <c:crosses val="max"/>
        <c:crossBetween val="between"/>
      </c:valAx>
      <c:catAx>
        <c:axId val="1068003808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7990496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ayout>
        <c:manualLayout>
          <c:xMode val="edge"/>
          <c:yMode val="edge"/>
          <c:x val="0.24614290586334367"/>
          <c:y val="2.9854126157581987E-2"/>
          <c:w val="0.4774911906198559"/>
          <c:h val="7.978645242820263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603634067292761"/>
          <c:y val="0.14512217089186843"/>
          <c:w val="0.88741361454804168"/>
          <c:h val="0.76136186172650777"/>
        </c:manualLayout>
      </c:layout>
      <c:barChart>
        <c:barDir val="col"/>
        <c:grouping val="stacked"/>
        <c:varyColors val="0"/>
        <c:ser>
          <c:idx val="3"/>
          <c:order val="0"/>
          <c:tx>
            <c:strRef>
              <c:f>'베이시스_가상_시뮬레이션 (2)'!$I$19</c:f>
              <c:strCache>
                <c:ptCount val="1"/>
                <c:pt idx="0">
                  <c:v>최소값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'베이시스_가상_시뮬레이션 (2)'!$J$18:$O$18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'베이시스_가상_시뮬레이션 (2)'!$J$19:$O$19</c:f>
              <c:numCache>
                <c:formatCode>_(* #,##0_);_(* \(#,##0\);_(* "-"_);_(@_)</c:formatCode>
                <c:ptCount val="6"/>
                <c:pt idx="0">
                  <c:v>33948800</c:v>
                </c:pt>
                <c:pt idx="1">
                  <c:v>37131500</c:v>
                </c:pt>
                <c:pt idx="2">
                  <c:v>43496900</c:v>
                </c:pt>
                <c:pt idx="3">
                  <c:v>50923200</c:v>
                </c:pt>
                <c:pt idx="4">
                  <c:v>56227700</c:v>
                </c:pt>
                <c:pt idx="5">
                  <c:v>61532200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ED-4470-ABE5-6678435C3BF5}"/>
            </c:ext>
          </c:extLst>
        </c:ser>
        <c:ser>
          <c:idx val="2"/>
          <c:order val="1"/>
          <c:tx>
            <c:strRef>
              <c:f>'베이시스_가상_시뮬레이션 (2)'!$I$20</c:f>
              <c:strCache>
                <c:ptCount val="1"/>
                <c:pt idx="0">
                  <c:v>하한(Min)</c:v>
                </c:pt>
              </c:strCache>
            </c:strRef>
          </c:tx>
          <c:spPr>
            <a:pattFill prst="pct50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'베이시스_가상_시뮬레이션 (2)'!$J$18:$O$18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'베이시스_가상_시뮬레이션 (2)'!$J$20:$O$20</c:f>
              <c:numCache>
                <c:formatCode>_(* #,##0_);_(* \(#,##0\);_(* "-"_);_(@_)</c:formatCode>
                <c:ptCount val="6"/>
                <c:pt idx="0">
                  <c:v>5834950</c:v>
                </c:pt>
                <c:pt idx="1">
                  <c:v>6895850</c:v>
                </c:pt>
                <c:pt idx="2">
                  <c:v>7956750</c:v>
                </c:pt>
                <c:pt idx="3">
                  <c:v>9548100</c:v>
                </c:pt>
                <c:pt idx="4">
                  <c:v>10609000</c:v>
                </c:pt>
                <c:pt idx="5">
                  <c:v>11669900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ED-4470-ABE5-6678435C3BF5}"/>
            </c:ext>
          </c:extLst>
        </c:ser>
        <c:ser>
          <c:idx val="1"/>
          <c:order val="2"/>
          <c:tx>
            <c:strRef>
              <c:f>'베이시스_가상_시뮬레이션 (2)'!$I$21</c:f>
              <c:strCache>
                <c:ptCount val="1"/>
                <c:pt idx="0">
                  <c:v>상한(Max)</c:v>
                </c:pt>
              </c:strCache>
            </c:strRef>
          </c:tx>
          <c:spPr>
            <a:pattFill prst="wdDn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'베이시스_가상_시뮬레이션 (2)'!$J$18:$O$18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'베이시스_가상_시뮬레이션 (2)'!$J$21:$O$21</c:f>
              <c:numCache>
                <c:formatCode>_(* #,##0_);_(* \(#,##0\);_(* "-"_);_(@_)</c:formatCode>
                <c:ptCount val="6"/>
                <c:pt idx="0">
                  <c:v>5834950</c:v>
                </c:pt>
                <c:pt idx="1">
                  <c:v>6895850</c:v>
                </c:pt>
                <c:pt idx="2">
                  <c:v>7956750</c:v>
                </c:pt>
                <c:pt idx="3">
                  <c:v>9548100</c:v>
                </c:pt>
                <c:pt idx="4">
                  <c:v>10609000</c:v>
                </c:pt>
                <c:pt idx="5">
                  <c:v>11669900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ED-4470-ABE5-6678435C3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11217664"/>
        <c:axId val="711218080"/>
      </c:barChart>
      <c:lineChart>
        <c:grouping val="standard"/>
        <c:varyColors val="0"/>
        <c:ser>
          <c:idx val="4"/>
          <c:order val="3"/>
          <c:tx>
            <c:strRef>
              <c:f>'베이시스_가상_시뮬레이션 (2)'!$I$22</c:f>
              <c:strCache>
                <c:ptCount val="1"/>
                <c:pt idx="0">
                  <c:v>보상정책선</c:v>
                </c:pt>
              </c:strCache>
            </c:strRef>
          </c:tx>
          <c:spPr>
            <a:ln w="15875" cap="rnd">
              <a:solidFill>
                <a:srgbClr val="FF0000">
                  <a:alpha val="40000"/>
                </a:srgbClr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'베이시스_가상_시뮬레이션 (2)'!$J$18:$O$18</c:f>
              <c:strCache>
                <c:ptCount val="6"/>
                <c:pt idx="0">
                  <c:v>사원</c:v>
                </c:pt>
                <c:pt idx="1">
                  <c:v>주임</c:v>
                </c:pt>
                <c:pt idx="2">
                  <c:v>대리</c:v>
                </c:pt>
                <c:pt idx="3">
                  <c:v>과장</c:v>
                </c:pt>
                <c:pt idx="4">
                  <c:v>차장</c:v>
                </c:pt>
                <c:pt idx="5">
                  <c:v>부장</c:v>
                </c:pt>
              </c:strCache>
            </c:strRef>
          </c:cat>
          <c:val>
            <c:numRef>
              <c:f>'베이시스_가상_시뮬레이션 (2)'!$J$22:$O$22</c:f>
              <c:numCache>
                <c:formatCode>_(* #,##0_);_(* \(#,##0\);_(* "-"_);_(@_)</c:formatCode>
                <c:ptCount val="6"/>
                <c:pt idx="0">
                  <c:v>39783750</c:v>
                </c:pt>
                <c:pt idx="1">
                  <c:v>44027350</c:v>
                </c:pt>
                <c:pt idx="2">
                  <c:v>51453650</c:v>
                </c:pt>
                <c:pt idx="3">
                  <c:v>60471300</c:v>
                </c:pt>
                <c:pt idx="4">
                  <c:v>66836700</c:v>
                </c:pt>
                <c:pt idx="5">
                  <c:v>73202100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BBED-4470-ABE5-6678435C3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8003808"/>
        <c:axId val="1067990496"/>
      </c:lineChart>
      <c:scatterChart>
        <c:scatterStyle val="lineMarker"/>
        <c:varyColors val="0"/>
        <c:ser>
          <c:idx val="0"/>
          <c:order val="4"/>
          <c:tx>
            <c:strRef>
              <c:f>'베이시스_가상_시뮬레이션 (2)'!$F$2</c:f>
              <c:strCache>
                <c:ptCount val="1"/>
                <c:pt idx="0">
                  <c:v>임금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'베이시스_가상_시뮬레이션 (2)'!$E$3:$E$186</c:f>
              <c:numCache>
                <c:formatCode>General</c:formatCode>
                <c:ptCount val="184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  <c:pt idx="15">
                  <c:v>4</c:v>
                </c:pt>
                <c:pt idx="16">
                  <c:v>4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2</c:v>
                </c:pt>
                <c:pt idx="21">
                  <c:v>3</c:v>
                </c:pt>
                <c:pt idx="22">
                  <c:v>4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4</c:v>
                </c:pt>
                <c:pt idx="27">
                  <c:v>2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#N/A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#N/A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#N/A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</c:numCache>
            </c:numRef>
          </c:xVal>
          <c:yVal>
            <c:numRef>
              <c:f>'베이시스_가상_시뮬레이션 (2)'!$F$3:$F$186</c:f>
              <c:numCache>
                <c:formatCode>_(* #,##0_);_(* \(#,##0\);_(* "-"_);_(@_)</c:formatCode>
                <c:ptCount val="184"/>
                <c:pt idx="0">
                  <c:v>72000000</c:v>
                </c:pt>
                <c:pt idx="1">
                  <c:v>73000000</c:v>
                </c:pt>
                <c:pt idx="2">
                  <c:v>56000000</c:v>
                </c:pt>
                <c:pt idx="3">
                  <c:v>56000000</c:v>
                </c:pt>
                <c:pt idx="4">
                  <c:v>73000000</c:v>
                </c:pt>
                <c:pt idx="5">
                  <c:v>67000000</c:v>
                </c:pt>
                <c:pt idx="6">
                  <c:v>74000000</c:v>
                </c:pt>
                <c:pt idx="7">
                  <c:v>69000000</c:v>
                </c:pt>
                <c:pt idx="8">
                  <c:v>60000000</c:v>
                </c:pt>
                <c:pt idx="9">
                  <c:v>75000000</c:v>
                </c:pt>
                <c:pt idx="10">
                  <c:v>72000000</c:v>
                </c:pt>
                <c:pt idx="11">
                  <c:v>61000000</c:v>
                </c:pt>
                <c:pt idx="12">
                  <c:v>65000000</c:v>
                </c:pt>
                <c:pt idx="13">
                  <c:v>61000000</c:v>
                </c:pt>
                <c:pt idx="14">
                  <c:v>55000000</c:v>
                </c:pt>
                <c:pt idx="15">
                  <c:v>63000000</c:v>
                </c:pt>
                <c:pt idx="16">
                  <c:v>60000000</c:v>
                </c:pt>
                <c:pt idx="17">
                  <c:v>55000000</c:v>
                </c:pt>
                <c:pt idx="18">
                  <c:v>55000000</c:v>
                </c:pt>
                <c:pt idx="19">
                  <c:v>58000000</c:v>
                </c:pt>
                <c:pt idx="20">
                  <c:v>38000000</c:v>
                </c:pt>
                <c:pt idx="21">
                  <c:v>52000000</c:v>
                </c:pt>
                <c:pt idx="22">
                  <c:v>61000000</c:v>
                </c:pt>
                <c:pt idx="23">
                  <c:v>50000000</c:v>
                </c:pt>
                <c:pt idx="24">
                  <c:v>50000000</c:v>
                </c:pt>
                <c:pt idx="25">
                  <c:v>39000000</c:v>
                </c:pt>
                <c:pt idx="26">
                  <c:v>61000000</c:v>
                </c:pt>
                <c:pt idx="27">
                  <c:v>49000000</c:v>
                </c:pt>
                <c:pt idx="28">
                  <c:v>39000000</c:v>
                </c:pt>
                <c:pt idx="29">
                  <c:v>37000000</c:v>
                </c:pt>
                <c:pt idx="30">
                  <c:v>36000000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BED-4470-ABE5-6678435C3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8003808"/>
        <c:axId val="1067990496"/>
      </c:scatterChart>
      <c:catAx>
        <c:axId val="711217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8080"/>
        <c:crosses val="autoZero"/>
        <c:auto val="1"/>
        <c:lblAlgn val="ctr"/>
        <c:lblOffset val="100"/>
        <c:tickMarkSkip val="1"/>
        <c:noMultiLvlLbl val="0"/>
      </c:catAx>
      <c:valAx>
        <c:axId val="711218080"/>
        <c:scaling>
          <c:orientation val="minMax"/>
          <c:min val="3000000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11217664"/>
        <c:crosses val="autoZero"/>
        <c:crossBetween val="between"/>
        <c:majorUnit val="20000000"/>
        <c:dispUnits>
          <c:builtInUnit val="thousands"/>
        </c:dispUnits>
      </c:valAx>
      <c:valAx>
        <c:axId val="1067990496"/>
        <c:scaling>
          <c:orientation val="minMax"/>
        </c:scaling>
        <c:delete val="1"/>
        <c:axPos val="r"/>
        <c:numFmt formatCode="_(* #,##0_);_(* \(#,##0\);_(* &quot;-&quot;_);_(@_)" sourceLinked="1"/>
        <c:majorTickMark val="out"/>
        <c:minorTickMark val="none"/>
        <c:tickLblPos val="nextTo"/>
        <c:crossAx val="1068003808"/>
        <c:crosses val="max"/>
        <c:crossBetween val="between"/>
      </c:valAx>
      <c:catAx>
        <c:axId val="1068003808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7990496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ayout>
        <c:manualLayout>
          <c:xMode val="edge"/>
          <c:yMode val="edge"/>
          <c:x val="0.24614290586334367"/>
          <c:y val="2.9854126157581987E-2"/>
          <c:w val="0.4774911906198559"/>
          <c:h val="7.978645242820263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ysClr val="window" lastClr="FFFFFF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채용 평균</c:v>
                </c:pt>
                <c:pt idx="3">
                  <c:v>Q1. 인력은 공정하고 엄격한 절차를 통해 채용한다.</c:v>
                </c:pt>
                <c:pt idx="4">
                  <c:v>Q2. 적절한 시기에 필요한 인력을 채용하고 있다.</c:v>
                </c:pt>
                <c:pt idx="5">
                  <c:v>Q3. 우리 회사는 인재 선발을 위한 기준(인재상, 직무역량 등)이 있다.</c:v>
                </c:pt>
              </c:strCache>
            </c:strRef>
          </c:cat>
          <c:val>
            <c:numRef>
              <c:f>Sheet1!$B$2:$B$7</c:f>
              <c:numCache>
                <c:formatCode>0.00_ </c:formatCode>
                <c:ptCount val="6"/>
                <c:pt idx="0">
                  <c:v>4.0604728604728599</c:v>
                </c:pt>
                <c:pt idx="1">
                  <c:v>3.5520620503655311</c:v>
                </c:pt>
                <c:pt idx="2">
                  <c:v>3.407407407407407</c:v>
                </c:pt>
                <c:pt idx="3">
                  <c:v>3.4444444444444446</c:v>
                </c:pt>
                <c:pt idx="4">
                  <c:v>3.3703703703703702</c:v>
                </c:pt>
                <c:pt idx="5">
                  <c:v>3.4074074074074074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FD-4458-A6C9-8055400F88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(3.57)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채용 평균</c:v>
                </c:pt>
                <c:pt idx="3">
                  <c:v>Q1. 인력은 공정하고 엄격한 절차를 통해 채용한다.</c:v>
                </c:pt>
                <c:pt idx="4">
                  <c:v>Q2. 적절한 시기에 필요한 인력을 채용하고 있다.</c:v>
                </c:pt>
                <c:pt idx="5">
                  <c:v>Q3. 우리 회사는 인재 선발을 위한 기준(인재상, 직무역량 등)이 있다.</c:v>
                </c:pt>
              </c:strCache>
            </c:strRef>
          </c:cat>
          <c:val>
            <c:numRef>
              <c:f>Sheet1!$C$2:$C$7</c:f>
              <c:numCache>
                <c:formatCode>0.00_ </c:formatCode>
                <c:ptCount val="6"/>
                <c:pt idx="0">
                  <c:v>3.5737216974059076</c:v>
                </c:pt>
                <c:pt idx="1">
                  <c:v>3.5737216974059076</c:v>
                </c:pt>
                <c:pt idx="2">
                  <c:v>3.5737216974059076</c:v>
                </c:pt>
                <c:pt idx="3">
                  <c:v>3.5737216974059076</c:v>
                </c:pt>
                <c:pt idx="4">
                  <c:v>3.5737216974059076</c:v>
                </c:pt>
                <c:pt idx="5">
                  <c:v>3.5737216974059076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FD-4458-A6C9-8055400F88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09149896"/>
        <c:axId val="409147544"/>
      </c:barChart>
      <c:catAx>
        <c:axId val="4091498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7544"/>
        <c:crosses val="autoZero"/>
        <c:auto val="1"/>
        <c:lblAlgn val="ctr"/>
        <c:lblOffset val="100"/>
        <c:noMultiLvlLbl val="0"/>
      </c:catAx>
      <c:valAx>
        <c:axId val="409147544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989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분석'!$C$37:$E$37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분석'!$C$38:$E$38</c:f>
              <c:numCache>
                <c:formatCode>0.00_);[Red]\(0.00\)</c:formatCode>
                <c:ptCount val="3"/>
                <c:pt idx="0">
                  <c:v>3.6666666666666665</c:v>
                </c:pt>
                <c:pt idx="1">
                  <c:v>3.6666666666666665</c:v>
                </c:pt>
                <c:pt idx="2">
                  <c:v>3.6666666666666665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F3-4D0B-A52C-87DD29EC2F37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분석'!$C$37:$E$37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분석'!$C$39:$E$39</c:f>
              <c:numCache>
                <c:formatCode>0.00_);[Red]\(0.00\)</c:formatCode>
                <c:ptCount val="3"/>
                <c:pt idx="0">
                  <c:v>3.2857142857142856</c:v>
                </c:pt>
                <c:pt idx="1">
                  <c:v>3.2142857142857144</c:v>
                </c:pt>
                <c:pt idx="2">
                  <c:v>3.2857142857142856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F3-4D0B-A52C-87DD29EC2F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09152640"/>
        <c:axId val="409153032"/>
      </c:barChart>
      <c:catAx>
        <c:axId val="40915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53032"/>
        <c:crosses val="autoZero"/>
        <c:auto val="1"/>
        <c:lblAlgn val="ctr"/>
        <c:lblOffset val="100"/>
        <c:noMultiLvlLbl val="0"/>
      </c:catAx>
      <c:valAx>
        <c:axId val="409153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52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직무 및 배치 평균</c:v>
                </c:pt>
                <c:pt idx="3">
                  <c:v>Q1. 내가 수행하고 있는 업무의 내용, 역할, 요구조건 등을 잘 알고 있다.</c:v>
                </c:pt>
                <c:pt idx="4">
                  <c:v>Q2. 내가 수행하고 있는 업무의 내용, 역할, 요구조건 등이 잘 정리(직무기술서 등)되어 있다.</c:v>
                </c:pt>
                <c:pt idx="5">
                  <c:v>Q3. 내가 수행하고 있는 업무는 나의 능력과 적성에 맞다.</c:v>
                </c:pt>
                <c:pt idx="6">
                  <c:v>Q4. 팀 내 업무배분이 공평하고 적절하게 이루어지고 있다.</c:v>
                </c:pt>
                <c:pt idx="7">
                  <c:v>Q5. 배치 시 근로자의 희망사항이나 요구가 잘 반영된다.</c:v>
                </c:pt>
              </c:strCache>
            </c:strRef>
          </c:cat>
          <c:val>
            <c:numRef>
              <c:f>Sheet1!$B$2:$B$9</c:f>
              <c:numCache>
                <c:formatCode>0.00_ </c:formatCode>
                <c:ptCount val="8"/>
                <c:pt idx="0">
                  <c:v>4.0356983016983019</c:v>
                </c:pt>
                <c:pt idx="1">
                  <c:v>3.6727478936677724</c:v>
                </c:pt>
                <c:pt idx="2">
                  <c:v>3.481481481481481</c:v>
                </c:pt>
                <c:pt idx="3">
                  <c:v>4.333333333333333</c:v>
                </c:pt>
                <c:pt idx="4">
                  <c:v>3.1851851851851851</c:v>
                </c:pt>
                <c:pt idx="5">
                  <c:v>3.8888888888888888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A7-4D7C-87A8-E74C2F8ED4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</a:t>
                    </a:r>
                    <a:r>
                      <a:rPr lang="en-US" altLang="ko-KR" i="1" baseline="0" dirty="0"/>
                      <a:t>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직무 및 배치 평균</c:v>
                </c:pt>
                <c:pt idx="3">
                  <c:v>Q1. 내가 수행하고 있는 업무의 내용, 역할, 요구조건 등을 잘 알고 있다.</c:v>
                </c:pt>
                <c:pt idx="4">
                  <c:v>Q2. 내가 수행하고 있는 업무의 내용, 역할, 요구조건 등이 잘 정리(직무기술서 등)되어 있다.</c:v>
                </c:pt>
                <c:pt idx="5">
                  <c:v>Q3. 내가 수행하고 있는 업무는 나의 능력과 적성에 맞다.</c:v>
                </c:pt>
                <c:pt idx="6">
                  <c:v>Q4. 팀 내 업무배분이 공평하고 적절하게 이루어지고 있다.</c:v>
                </c:pt>
                <c:pt idx="7">
                  <c:v>Q5. 배치 시 근로자의 희망사항이나 요구가 잘 반영된다.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A7-4D7C-87A8-E74C2F8ED4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09147936"/>
        <c:axId val="409148720"/>
      </c:barChart>
      <c:catAx>
        <c:axId val="4091479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8720"/>
        <c:crosses val="autoZero"/>
        <c:auto val="1"/>
        <c:lblAlgn val="ctr"/>
        <c:lblOffset val="100"/>
        <c:noMultiLvlLbl val="0"/>
      </c:catAx>
      <c:valAx>
        <c:axId val="409148720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793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분석'!$F$37:$J$37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분석'!$F$38:$J$38</c:f>
              <c:numCache>
                <c:formatCode>0.00_);[Red]\(0.00\)</c:formatCode>
                <c:ptCount val="5"/>
                <c:pt idx="0">
                  <c:v>4.083333333333333</c:v>
                </c:pt>
                <c:pt idx="1">
                  <c:v>3.4166666666666665</c:v>
                </c:pt>
                <c:pt idx="2">
                  <c:v>4</c:v>
                </c:pt>
                <c:pt idx="3">
                  <c:v>3.3333333333333335</c:v>
                </c:pt>
                <c:pt idx="4">
                  <c:v>3.25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07-40E8-A760-5030CFEE32BD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분석'!$F$37:$J$37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분석'!$F$39:$J$39</c:f>
              <c:numCache>
                <c:formatCode>0.00_);[Red]\(0.00\)</c:formatCode>
                <c:ptCount val="5"/>
                <c:pt idx="0">
                  <c:v>4.6428571428571432</c:v>
                </c:pt>
                <c:pt idx="1">
                  <c:v>3.0714285714285716</c:v>
                </c:pt>
                <c:pt idx="2">
                  <c:v>3.8571428571428572</c:v>
                </c:pt>
                <c:pt idx="3">
                  <c:v>2.7857142857142856</c:v>
                </c:pt>
                <c:pt idx="4">
                  <c:v>2.9285714285714284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07-40E8-A760-5030CFEE32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09148328"/>
        <c:axId val="409147152"/>
      </c:barChart>
      <c:catAx>
        <c:axId val="409148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7152"/>
        <c:crosses val="autoZero"/>
        <c:auto val="1"/>
        <c:lblAlgn val="ctr"/>
        <c:lblOffset val="100"/>
        <c:noMultiLvlLbl val="0"/>
      </c:catAx>
      <c:valAx>
        <c:axId val="409147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8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평가 평균</c:v>
                </c:pt>
                <c:pt idx="3">
                  <c:v>Q1. 우리 회사의 평가제도(평가항목, 평가방법 등)에 대해서 충분히 알고 있다.</c:v>
                </c:pt>
                <c:pt idx="4">
                  <c:v>Q2. 우리 회사는 인사평가 절차와 과정이 투명하게 운영되고 있다.</c:v>
                </c:pt>
                <c:pt idx="5">
                  <c:v>Q3. 나는 평가자가 객관적이고 명확하게 평가할 수 있을 것이라고 기대한다.</c:v>
                </c:pt>
                <c:pt idx="6">
                  <c:v>Q4. 인사평가 결과에 대해 자유롭게 이의제기 할 수 있다.</c:v>
                </c:pt>
                <c:pt idx="7">
                  <c:v>Q5. 평가결과는 인사제도(보상, 교육, 승진 등)와 연계하여 시행하고 있다.</c:v>
                </c:pt>
              </c:strCache>
            </c:strRef>
          </c:cat>
          <c:val>
            <c:numRef>
              <c:f>Sheet1!$B$2:$B$9</c:f>
              <c:numCache>
                <c:formatCode>0.00_ </c:formatCode>
                <c:ptCount val="8"/>
                <c:pt idx="0">
                  <c:v>3.73</c:v>
                </c:pt>
                <c:pt idx="1">
                  <c:v>3.25</c:v>
                </c:pt>
                <c:pt idx="2">
                  <c:v>3.0444444444444443</c:v>
                </c:pt>
                <c:pt idx="3">
                  <c:v>2.7407407407407409</c:v>
                </c:pt>
                <c:pt idx="4">
                  <c:v>3.074074074074074</c:v>
                </c:pt>
                <c:pt idx="5">
                  <c:v>3.3703703703703702</c:v>
                </c:pt>
                <c:pt idx="6">
                  <c:v>3</c:v>
                </c:pt>
                <c:pt idx="7">
                  <c:v>3.0370370370370372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4B-405F-B184-89506E8037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</a:t>
                    </a:r>
                    <a:r>
                      <a:rPr lang="en-US" altLang="ko-KR" i="1" baseline="0" dirty="0"/>
                      <a:t>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평가 평균</c:v>
                </c:pt>
                <c:pt idx="3">
                  <c:v>Q1. 우리 회사의 평가제도(평가항목, 평가방법 등)에 대해서 충분히 알고 있다.</c:v>
                </c:pt>
                <c:pt idx="4">
                  <c:v>Q2. 우리 회사는 인사평가 절차와 과정이 투명하게 운영되고 있다.</c:v>
                </c:pt>
                <c:pt idx="5">
                  <c:v>Q3. 나는 평가자가 객관적이고 명확하게 평가할 수 있을 것이라고 기대한다.</c:v>
                </c:pt>
                <c:pt idx="6">
                  <c:v>Q4. 인사평가 결과에 대해 자유롭게 이의제기 할 수 있다.</c:v>
                </c:pt>
                <c:pt idx="7">
                  <c:v>Q5. 평가결과는 인사제도(보상, 교육, 승진 등)와 연계하여 시행하고 있다.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4B-405F-B184-89506E803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09151072"/>
        <c:axId val="409146368"/>
      </c:barChart>
      <c:catAx>
        <c:axId val="4091510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6368"/>
        <c:crosses val="autoZero"/>
        <c:auto val="1"/>
        <c:lblAlgn val="ctr"/>
        <c:lblOffset val="100"/>
        <c:noMultiLvlLbl val="0"/>
      </c:catAx>
      <c:valAx>
        <c:axId val="409146368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5107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분석'!$K$37:$O$37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분석'!$K$38:$O$38</c:f>
              <c:numCache>
                <c:formatCode>0.00_);[Red]\(0.00\)</c:formatCode>
                <c:ptCount val="5"/>
                <c:pt idx="0">
                  <c:v>2.8333333333333335</c:v>
                </c:pt>
                <c:pt idx="1">
                  <c:v>3.3333333333333335</c:v>
                </c:pt>
                <c:pt idx="2">
                  <c:v>3.6666666666666665</c:v>
                </c:pt>
                <c:pt idx="3">
                  <c:v>3.5</c:v>
                </c:pt>
                <c:pt idx="4">
                  <c:v>3.4166666666666665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A5-4F83-A02F-77455A915FAE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분석'!$K$37:$O$37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분석'!$K$39:$O$39</c:f>
              <c:numCache>
                <c:formatCode>0.00_);[Red]\(0.00\)</c:formatCode>
                <c:ptCount val="5"/>
                <c:pt idx="0">
                  <c:v>2.7857142857142856</c:v>
                </c:pt>
                <c:pt idx="1">
                  <c:v>2.9285714285714284</c:v>
                </c:pt>
                <c:pt idx="2">
                  <c:v>3.2142857142857144</c:v>
                </c:pt>
                <c:pt idx="3">
                  <c:v>2.7142857142857144</c:v>
                </c:pt>
                <c:pt idx="4">
                  <c:v>2.8571428571428572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A5-4F83-A02F-77455A915F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09145584"/>
        <c:axId val="409146760"/>
      </c:barChart>
      <c:catAx>
        <c:axId val="409145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6760"/>
        <c:crosses val="autoZero"/>
        <c:auto val="1"/>
        <c:lblAlgn val="ctr"/>
        <c:lblOffset val="100"/>
        <c:noMultiLvlLbl val="0"/>
      </c:catAx>
      <c:valAx>
        <c:axId val="409146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09145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보상 평균</c:v>
                </c:pt>
                <c:pt idx="3">
                  <c:v>Q1. 우리 회사의 임금제도(임금항목, 임금결정과정 등)에 대해서 충분히 알고 있다.</c:v>
                </c:pt>
                <c:pt idx="4">
                  <c:v>Q2. 우리 회사의 임금결정기준(연공, 성과, 역할, 직무난이도)은 합리적이다.</c:v>
                </c:pt>
                <c:pt idx="5">
                  <c:v>Q3. 회사의 경영성과에 비해 나의 임금수준이 적절하다.</c:v>
                </c:pt>
                <c:pt idx="6">
                  <c:v>Q4. 나의 직무(일)의 난이도와 중요도에 비해 임금수준이 적절하다.</c:v>
                </c:pt>
                <c:pt idx="7">
                  <c:v>Q5. 나의 임금수준은 동종업계의 동일담당자에 비해 만족스럽다.</c:v>
                </c:pt>
              </c:strCache>
            </c:strRef>
          </c:cat>
          <c:val>
            <c:numRef>
              <c:f>Sheet1!$B$2:$B$9</c:f>
              <c:numCache>
                <c:formatCode>0.00_ </c:formatCode>
                <c:ptCount val="8"/>
                <c:pt idx="0">
                  <c:v>3.73</c:v>
                </c:pt>
                <c:pt idx="1">
                  <c:v>3.22</c:v>
                </c:pt>
                <c:pt idx="2">
                  <c:v>3.2592592592592595</c:v>
                </c:pt>
                <c:pt idx="3">
                  <c:v>3.3333333333333335</c:v>
                </c:pt>
                <c:pt idx="4">
                  <c:v>3.2222222222222223</c:v>
                </c:pt>
                <c:pt idx="5">
                  <c:v>3.3703703703703702</c:v>
                </c:pt>
                <c:pt idx="6">
                  <c:v>3.1851851851851851</c:v>
                </c:pt>
                <c:pt idx="7">
                  <c:v>3.1851851851851851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CF-44CD-AB19-0A04DBD4C0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</a:t>
                    </a:r>
                    <a:r>
                      <a:rPr lang="en-US" altLang="ko-KR" i="1" baseline="0" dirty="0"/>
                      <a:t>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보상 평균</c:v>
                </c:pt>
                <c:pt idx="3">
                  <c:v>Q1. 우리 회사의 임금제도(임금항목, 임금결정과정 등)에 대해서 충분히 알고 있다.</c:v>
                </c:pt>
                <c:pt idx="4">
                  <c:v>Q2. 우리 회사의 임금결정기준(연공, 성과, 역할, 직무난이도)은 합리적이다.</c:v>
                </c:pt>
                <c:pt idx="5">
                  <c:v>Q3. 회사의 경영성과에 비해 나의 임금수준이 적절하다.</c:v>
                </c:pt>
                <c:pt idx="6">
                  <c:v>Q4. 나의 직무(일)의 난이도와 중요도에 비해 임금수준이 적절하다.</c:v>
                </c:pt>
                <c:pt idx="7">
                  <c:v>Q5. 나의 임금수준은 동종업계의 동일담당자에 비해 만족스럽다.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CF-44CD-AB19-0A04DBD4C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10099736"/>
        <c:axId val="410104048"/>
      </c:barChart>
      <c:catAx>
        <c:axId val="4100997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4048"/>
        <c:crosses val="autoZero"/>
        <c:auto val="1"/>
        <c:lblAlgn val="ctr"/>
        <c:lblOffset val="100"/>
        <c:noMultiLvlLbl val="0"/>
      </c:catAx>
      <c:valAx>
        <c:axId val="410104048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09973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분석'!$P$37:$T$37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분석'!$P$38:$T$38</c:f>
              <c:numCache>
                <c:formatCode>0.00_);[Red]\(0.00\)</c:formatCode>
                <c:ptCount val="5"/>
                <c:pt idx="0">
                  <c:v>3.4166666666666665</c:v>
                </c:pt>
                <c:pt idx="1">
                  <c:v>3.3333333333333335</c:v>
                </c:pt>
                <c:pt idx="2">
                  <c:v>3.3333333333333335</c:v>
                </c:pt>
                <c:pt idx="3">
                  <c:v>3.25</c:v>
                </c:pt>
                <c:pt idx="4">
                  <c:v>3.3333333333333335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06-439B-843C-3AC4CD621950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분석'!$P$37:$T$37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분석'!$P$39:$T$39</c:f>
              <c:numCache>
                <c:formatCode>0.00_);[Red]\(0.00\)</c:formatCode>
                <c:ptCount val="5"/>
                <c:pt idx="0">
                  <c:v>3.4285714285714284</c:v>
                </c:pt>
                <c:pt idx="1">
                  <c:v>3.2142857142857144</c:v>
                </c:pt>
                <c:pt idx="2">
                  <c:v>3.4285714285714284</c:v>
                </c:pt>
                <c:pt idx="3">
                  <c:v>3.1428571428571428</c:v>
                </c:pt>
                <c:pt idx="4">
                  <c:v>3.0714285714285716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06-439B-843C-3AC4CD6219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0102480"/>
        <c:axId val="410102872"/>
      </c:barChart>
      <c:catAx>
        <c:axId val="410102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2872"/>
        <c:crosses val="autoZero"/>
        <c:auto val="1"/>
        <c:lblAlgn val="ctr"/>
        <c:lblOffset val="100"/>
        <c:noMultiLvlLbl val="0"/>
      </c:catAx>
      <c:valAx>
        <c:axId val="410102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2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승진 평균</c:v>
                </c:pt>
                <c:pt idx="3">
                  <c:v>Q1.우리 회사의 승진제도(승진연한, 승진기준 등)에 대해 충분히 알고 있다.</c:v>
                </c:pt>
                <c:pt idx="4">
                  <c:v>Q2.직급별 승진연한 및 평균 체류연수는 적절하다.</c:v>
                </c:pt>
                <c:pt idx="5">
                  <c:v>Q3.승진은 능력과 성과를 반영하여 시행된다.</c:v>
                </c:pt>
                <c:pt idx="6">
                  <c:v>Q4.승진 시 성별, 학연, 지연, 혈연 등이 영향을 미치지 않는다.</c:v>
                </c:pt>
                <c:pt idx="7">
                  <c:v>Q5.승진은 적체되지 않고 원활하게 이루어지고 있다.</c:v>
                </c:pt>
              </c:strCache>
            </c:strRef>
          </c:cat>
          <c:val>
            <c:numRef>
              <c:f>Sheet1!$B$2:$B$9</c:f>
              <c:numCache>
                <c:formatCode>0.00_ </c:formatCode>
                <c:ptCount val="8"/>
                <c:pt idx="0">
                  <c:v>3.74</c:v>
                </c:pt>
                <c:pt idx="1">
                  <c:v>3.31</c:v>
                </c:pt>
                <c:pt idx="2">
                  <c:v>3.5259259259259261</c:v>
                </c:pt>
                <c:pt idx="3">
                  <c:v>3.8148148148148149</c:v>
                </c:pt>
                <c:pt idx="4">
                  <c:v>3.4074074074074074</c:v>
                </c:pt>
                <c:pt idx="5">
                  <c:v>3.4074074074074074</c:v>
                </c:pt>
                <c:pt idx="6">
                  <c:v>3.5925925925925926</c:v>
                </c:pt>
                <c:pt idx="7">
                  <c:v>3.4074074074074074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03-461F-9F8F-5811373692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</a:t>
                    </a:r>
                    <a:r>
                      <a:rPr lang="en-US" altLang="ko-KR" i="1" baseline="0" dirty="0"/>
                      <a:t>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승진 평균</c:v>
                </c:pt>
                <c:pt idx="3">
                  <c:v>Q1.우리 회사의 승진제도(승진연한, 승진기준 등)에 대해 충분히 알고 있다.</c:v>
                </c:pt>
                <c:pt idx="4">
                  <c:v>Q2.직급별 승진연한 및 평균 체류연수는 적절하다.</c:v>
                </c:pt>
                <c:pt idx="5">
                  <c:v>Q3.승진은 능력과 성과를 반영하여 시행된다.</c:v>
                </c:pt>
                <c:pt idx="6">
                  <c:v>Q4.승진 시 성별, 학연, 지연, 혈연 등이 영향을 미치지 않는다.</c:v>
                </c:pt>
                <c:pt idx="7">
                  <c:v>Q5.승진은 적체되지 않고 원활하게 이루어지고 있다.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03-461F-9F8F-5811373692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10100912"/>
        <c:axId val="410100128"/>
      </c:barChart>
      <c:catAx>
        <c:axId val="4101009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0128"/>
        <c:crosses val="autoZero"/>
        <c:auto val="1"/>
        <c:lblAlgn val="ctr"/>
        <c:lblOffset val="100"/>
        <c:noMultiLvlLbl val="0"/>
      </c:catAx>
      <c:valAx>
        <c:axId val="410100128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091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분석'!$U$37:$Y$37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분석'!$U$38:$Y$38</c:f>
              <c:numCache>
                <c:formatCode>0.00_);[Red]\(0.00\)</c:formatCode>
                <c:ptCount val="5"/>
                <c:pt idx="0">
                  <c:v>3.6666666666666665</c:v>
                </c:pt>
                <c:pt idx="1">
                  <c:v>3.6666666666666665</c:v>
                </c:pt>
                <c:pt idx="2">
                  <c:v>3.5</c:v>
                </c:pt>
                <c:pt idx="3">
                  <c:v>3.75</c:v>
                </c:pt>
                <c:pt idx="4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D-4EC2-897C-0DD910A09070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분석'!$U$37:$Y$37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분석'!$U$39:$Y$39</c:f>
              <c:numCache>
                <c:formatCode>0.00_);[Red]\(0.00\)</c:formatCode>
                <c:ptCount val="5"/>
                <c:pt idx="0">
                  <c:v>4</c:v>
                </c:pt>
                <c:pt idx="1">
                  <c:v>3.2857142857142856</c:v>
                </c:pt>
                <c:pt idx="2">
                  <c:v>3.4285714285714284</c:v>
                </c:pt>
                <c:pt idx="3">
                  <c:v>3.5714285714285716</c:v>
                </c:pt>
                <c:pt idx="4">
                  <c:v>3.1428571428571428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0D-4EC2-897C-0DD910A090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0103264"/>
        <c:axId val="410104440"/>
      </c:barChart>
      <c:catAx>
        <c:axId val="410103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4440"/>
        <c:crosses val="autoZero"/>
        <c:auto val="1"/>
        <c:lblAlgn val="ctr"/>
        <c:lblOffset val="100"/>
        <c:noMultiLvlLbl val="0"/>
      </c:catAx>
      <c:valAx>
        <c:axId val="41010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3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교육훈련 회사인식 평균</c:v>
                </c:pt>
                <c:pt idx="3">
                  <c:v>Q1. 우리 회사에서는 교육훈련이 충분히 이루어지고 있다.</c:v>
                </c:pt>
                <c:pt idx="4">
                  <c:v>Q2. 경영진은 근로자들에 대한 교육훈련을 중요하게 생각한다.</c:v>
                </c:pt>
                <c:pt idx="5">
                  <c:v>Q3. 교육훈련의 기회가 직원들에게 공평하게 돌아가고 있다.</c:v>
                </c:pt>
              </c:strCache>
            </c:strRef>
          </c:cat>
          <c:val>
            <c:numRef>
              <c:f>Sheet1!$B$2:$B$7</c:f>
              <c:numCache>
                <c:formatCode>0.00_ </c:formatCode>
                <c:ptCount val="6"/>
                <c:pt idx="0">
                  <c:v>3.79</c:v>
                </c:pt>
                <c:pt idx="1">
                  <c:v>3.45</c:v>
                </c:pt>
                <c:pt idx="2">
                  <c:v>3.8765432098765431</c:v>
                </c:pt>
                <c:pt idx="3">
                  <c:v>3.7777777777777777</c:v>
                </c:pt>
                <c:pt idx="4">
                  <c:v>4.0740740740740744</c:v>
                </c:pt>
                <c:pt idx="5">
                  <c:v>3.7777777777777777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7D-4B27-98A3-D5B9AA5B91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</a:t>
                    </a:r>
                    <a:r>
                      <a:rPr lang="en-US" altLang="ko-KR" i="1" baseline="0" dirty="0"/>
                      <a:t>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교육훈련 회사인식 평균</c:v>
                </c:pt>
                <c:pt idx="3">
                  <c:v>Q1. 우리 회사에서는 교육훈련이 충분히 이루어지고 있다.</c:v>
                </c:pt>
                <c:pt idx="4">
                  <c:v>Q2. 경영진은 근로자들에 대한 교육훈련을 중요하게 생각한다.</c:v>
                </c:pt>
                <c:pt idx="5">
                  <c:v>Q3. 교육훈련의 기회가 직원들에게 공평하게 돌아가고 있다.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7D-4B27-98A3-D5B9AA5B91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10101304"/>
        <c:axId val="410104832"/>
      </c:barChart>
      <c:catAx>
        <c:axId val="4101013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4832"/>
        <c:crosses val="autoZero"/>
        <c:auto val="1"/>
        <c:lblAlgn val="ctr"/>
        <c:lblOffset val="100"/>
        <c:noMultiLvlLbl val="0"/>
      </c:catAx>
      <c:valAx>
        <c:axId val="410104832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130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분석'!$Z$37:$AB$37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분석'!$Z$38:$AB$38</c:f>
              <c:numCache>
                <c:formatCode>0.00_);[Red]\(0.00\)</c:formatCode>
                <c:ptCount val="3"/>
                <c:pt idx="0">
                  <c:v>3.6666666666666665</c:v>
                </c:pt>
                <c:pt idx="1">
                  <c:v>4.083333333333333</c:v>
                </c:pt>
                <c:pt idx="2">
                  <c:v>3.6666666666666665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4-4AB8-9D0A-30AD27D9B3F9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분석'!$Z$37:$AB$37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분석'!$Z$39:$AB$39</c:f>
              <c:numCache>
                <c:formatCode>0.00_);[Red]\(0.00\)</c:formatCode>
                <c:ptCount val="3"/>
                <c:pt idx="0">
                  <c:v>3.9285714285714284</c:v>
                </c:pt>
                <c:pt idx="1">
                  <c:v>4.1428571428571432</c:v>
                </c:pt>
                <c:pt idx="2">
                  <c:v>3.9285714285714284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4-4AB8-9D0A-30AD27D9B3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0105224"/>
        <c:axId val="410098168"/>
      </c:barChart>
      <c:catAx>
        <c:axId val="410105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098168"/>
        <c:crosses val="autoZero"/>
        <c:auto val="1"/>
        <c:lblAlgn val="ctr"/>
        <c:lblOffset val="100"/>
        <c:noMultiLvlLbl val="0"/>
      </c:catAx>
      <c:valAx>
        <c:axId val="410098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5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교육훈련 지원여건</c:v>
                </c:pt>
                <c:pt idx="3">
                  <c:v>Q1. 우리 회사는 직급별, 직무별로 교육훈련 프로그램이 잘 갖추어져 있다.</c:v>
                </c:pt>
                <c:pt idx="4">
                  <c:v>Q2. 개인의 경력개발을 지원하는 교육훈련 과정이 마련되어 있다.</c:v>
                </c:pt>
                <c:pt idx="5">
                  <c:v>Q3. 실질적으로 교육에 참여할 수 있는 여건(시간, 비용 등)이 충분히 조성되어 있다.</c:v>
                </c:pt>
              </c:strCache>
            </c:strRef>
          </c:cat>
          <c:val>
            <c:numRef>
              <c:f>Sheet1!$B$2:$B$7</c:f>
              <c:numCache>
                <c:formatCode>0.00_ </c:formatCode>
                <c:ptCount val="6"/>
                <c:pt idx="0">
                  <c:v>3.5</c:v>
                </c:pt>
                <c:pt idx="1">
                  <c:v>3.1139732632040333</c:v>
                </c:pt>
                <c:pt idx="2">
                  <c:v>2.5555555555555558</c:v>
                </c:pt>
                <c:pt idx="3">
                  <c:v>3.3703703703703702</c:v>
                </c:pt>
                <c:pt idx="4">
                  <c:v>0</c:v>
                </c:pt>
                <c:pt idx="5">
                  <c:v>3.3333333333333335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1C-4CBF-AC8E-5184B35BEB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3.5</a:t>
                    </a:r>
                    <a:r>
                      <a:rPr lang="en-US" altLang="ko-KR" i="1" baseline="0" dirty="0"/>
                      <a:t>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교육훈련 지원여건</c:v>
                </c:pt>
                <c:pt idx="3">
                  <c:v>Q1. 우리 회사는 직급별, 직무별로 교육훈련 프로그램이 잘 갖추어져 있다.</c:v>
                </c:pt>
                <c:pt idx="4">
                  <c:v>Q2. 개인의 경력개발을 지원하는 교육훈련 과정이 마련되어 있다.</c:v>
                </c:pt>
                <c:pt idx="5">
                  <c:v>Q3. 실질적으로 교육에 참여할 수 있는 여건(시간, 비용 등)이 충분히 조성되어 있다.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1C-4CBF-AC8E-5184B35BE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10099344"/>
        <c:axId val="410100520"/>
      </c:barChart>
      <c:catAx>
        <c:axId val="410099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100520"/>
        <c:crosses val="autoZero"/>
        <c:auto val="1"/>
        <c:lblAlgn val="ctr"/>
        <c:lblOffset val="100"/>
        <c:noMultiLvlLbl val="0"/>
      </c:catAx>
      <c:valAx>
        <c:axId val="410100520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009934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분석'!$AC$37:$AF$37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'인적자원 분석'!$AC$38:$AF$38</c:f>
              <c:numCache>
                <c:formatCode>0.00_);[Red]\(0.00\)</c:formatCode>
                <c:ptCount val="4"/>
                <c:pt idx="0">
                  <c:v>3.5</c:v>
                </c:pt>
                <c:pt idx="1">
                  <c:v>0</c:v>
                </c:pt>
                <c:pt idx="2">
                  <c:v>3.5</c:v>
                </c:pt>
                <c:pt idx="3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4F-4608-BDC5-E1F69EBFAA14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분석'!$AC$37:$AF$37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'인적자원 분석'!$AC$39:$AF$39</c:f>
              <c:numCache>
                <c:formatCode>0.00_);[Red]\(0.00\)</c:formatCode>
                <c:ptCount val="4"/>
                <c:pt idx="0">
                  <c:v>3.2857142857142856</c:v>
                </c:pt>
                <c:pt idx="1">
                  <c:v>0</c:v>
                </c:pt>
                <c:pt idx="2">
                  <c:v>3.2142857142857144</c:v>
                </c:pt>
                <c:pt idx="3">
                  <c:v>3.3571428571428572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4F-4608-BDC5-E1F69EBFAA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125232"/>
        <c:axId val="411120528"/>
      </c:barChart>
      <c:catAx>
        <c:axId val="411125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0528"/>
        <c:crosses val="autoZero"/>
        <c:auto val="1"/>
        <c:lblAlgn val="ctr"/>
        <c:lblOffset val="100"/>
        <c:noMultiLvlLbl val="0"/>
      </c:catAx>
      <c:valAx>
        <c:axId val="4111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5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교육훈련 효과 및 활용 평균</c:v>
                </c:pt>
                <c:pt idx="3">
                  <c:v>Q1. 교육내용은 업무수행이나 회사생활에 도움이 된다.</c:v>
                </c:pt>
                <c:pt idx="4">
                  <c:v>Q2. 교육훈련 후 만족도 등 반응을 조사하여 교육운영의 개선에 적극적으로 반영한다.</c:v>
                </c:pt>
                <c:pt idx="5">
                  <c:v>Q3. 교육훈련 결과는 평가, 승진, 이동, 배치 등 타 인사제도에 활용되고 있다.</c:v>
                </c:pt>
              </c:strCache>
            </c:strRef>
          </c:cat>
          <c:val>
            <c:numRef>
              <c:f>Sheet1!$B$2:$B$7</c:f>
              <c:numCache>
                <c:formatCode>0.00_ </c:formatCode>
                <c:ptCount val="6"/>
                <c:pt idx="0">
                  <c:v>3.52</c:v>
                </c:pt>
                <c:pt idx="1">
                  <c:v>3.1901565591300338</c:v>
                </c:pt>
                <c:pt idx="2">
                  <c:v>3.2962962962962963</c:v>
                </c:pt>
                <c:pt idx="3">
                  <c:v>3.5925925925925926</c:v>
                </c:pt>
                <c:pt idx="4">
                  <c:v>3.2222222222222223</c:v>
                </c:pt>
                <c:pt idx="5">
                  <c:v>3.074074074074074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9-47E1-A644-53C28068B5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3.5</a:t>
                    </a:r>
                    <a:r>
                      <a:rPr lang="en-US" altLang="ko-KR" i="1" baseline="0" dirty="0"/>
                      <a:t>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교육훈련 효과 및 활용 평균</c:v>
                </c:pt>
                <c:pt idx="3">
                  <c:v>Q1. 교육내용은 업무수행이나 회사생활에 도움이 된다.</c:v>
                </c:pt>
                <c:pt idx="4">
                  <c:v>Q2. 교육훈련 후 만족도 등 반응을 조사하여 교육운영의 개선에 적극적으로 반영한다.</c:v>
                </c:pt>
                <c:pt idx="5">
                  <c:v>Q3. 교육훈련 결과는 평가, 승진, 이동, 배치 등 타 인사제도에 활용되고 있다.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3.34</c:v>
                </c:pt>
                <c:pt idx="1">
                  <c:v>3.34</c:v>
                </c:pt>
                <c:pt idx="2">
                  <c:v>3.34</c:v>
                </c:pt>
                <c:pt idx="3">
                  <c:v>3.34</c:v>
                </c:pt>
                <c:pt idx="4">
                  <c:v>3.34</c:v>
                </c:pt>
                <c:pt idx="5">
                  <c:v>3.34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29-47E1-A644-53C28068B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11125624"/>
        <c:axId val="411122880"/>
      </c:barChart>
      <c:catAx>
        <c:axId val="41112562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2880"/>
        <c:crosses val="autoZero"/>
        <c:auto val="1"/>
        <c:lblAlgn val="ctr"/>
        <c:lblOffset val="100"/>
        <c:noMultiLvlLbl val="0"/>
      </c:catAx>
      <c:valAx>
        <c:axId val="411122880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562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분석'!$AG$37:$AI$37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분석'!$AG$38:$AI$38</c:f>
              <c:numCache>
                <c:formatCode>0.00_);[Red]\(0.00\)</c:formatCode>
                <c:ptCount val="3"/>
                <c:pt idx="0">
                  <c:v>3.5833333333333335</c:v>
                </c:pt>
                <c:pt idx="1">
                  <c:v>3.25</c:v>
                </c:pt>
                <c:pt idx="2">
                  <c:v>3.25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E2-4FA4-B1FE-DA529623DA2D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분석'!$AG$37:$AI$37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분석'!$AG$39:$AI$39</c:f>
              <c:numCache>
                <c:formatCode>0.00_);[Red]\(0.00\)</c:formatCode>
                <c:ptCount val="3"/>
                <c:pt idx="0">
                  <c:v>3.6428571428571428</c:v>
                </c:pt>
                <c:pt idx="1">
                  <c:v>3.2142857142857144</c:v>
                </c:pt>
                <c:pt idx="2">
                  <c:v>2.9285714285714284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E2-4FA4-B1FE-DA529623DA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120920"/>
        <c:axId val="411126016"/>
      </c:barChart>
      <c:catAx>
        <c:axId val="411120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6016"/>
        <c:crosses val="autoZero"/>
        <c:auto val="1"/>
        <c:lblAlgn val="ctr"/>
        <c:lblOffset val="100"/>
        <c:noMultiLvlLbl val="0"/>
      </c:catAx>
      <c:valAx>
        <c:axId val="411126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0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작업조직 평균</c:v>
                </c:pt>
                <c:pt idx="3">
                  <c:v>Q1. 팀(소속부서) 내 구성원들 사이에 의사소통이 잘 이루어진다.</c:v>
                </c:pt>
                <c:pt idx="4">
                  <c:v>Q2. 우리 회사는 개방적 소통과 참여를 강조한다.</c:v>
                </c:pt>
                <c:pt idx="5">
                  <c:v>Q3. 나는 팀(소속부서)의 문제해결 및 의사결정에 적극적으로 참여한다.</c:v>
                </c:pt>
                <c:pt idx="6">
                  <c:v>Q4. 나는 혁신활동(아이디어 전달, 제안제도, 5S, QC 등)에 적극적으로 참여하고 있다.</c:v>
                </c:pt>
                <c:pt idx="7">
                  <c:v>Q5. 우리 회사는 혁신에 대한 적절한 보상이 이루어진다.</c:v>
                </c:pt>
                <c:pt idx="8">
                  <c:v>Q6. 작업수행 절차, 방법 등에 대해 개인이나 팀이 제안하면 회사는 그 결과를 피드백 한다.</c:v>
                </c:pt>
              </c:strCache>
            </c:strRef>
          </c:cat>
          <c:val>
            <c:numRef>
              <c:f>Sheet1!$B$2:$B$10</c:f>
              <c:numCache>
                <c:formatCode>0.00_ </c:formatCode>
                <c:ptCount val="9"/>
                <c:pt idx="0">
                  <c:v>4.03</c:v>
                </c:pt>
                <c:pt idx="1">
                  <c:v>3.64</c:v>
                </c:pt>
                <c:pt idx="2">
                  <c:v>3.5061728395061729</c:v>
                </c:pt>
                <c:pt idx="3">
                  <c:v>3.7037037037037037</c:v>
                </c:pt>
                <c:pt idx="4">
                  <c:v>3.8148148148148149</c:v>
                </c:pt>
                <c:pt idx="5">
                  <c:v>3.8518518518518516</c:v>
                </c:pt>
                <c:pt idx="6">
                  <c:v>3.2222222222222223</c:v>
                </c:pt>
                <c:pt idx="7">
                  <c:v>3.1481481481481484</c:v>
                </c:pt>
                <c:pt idx="8">
                  <c:v>3.2962962962962963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9-40B4-A172-1B2F064839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</a:t>
                    </a:r>
                    <a:r>
                      <a:rPr lang="en-US" altLang="ko-KR" i="1" baseline="0" dirty="0"/>
                      <a:t>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작업조직 평균</c:v>
                </c:pt>
                <c:pt idx="3">
                  <c:v>Q1. 팀(소속부서) 내 구성원들 사이에 의사소통이 잘 이루어진다.</c:v>
                </c:pt>
                <c:pt idx="4">
                  <c:v>Q2. 우리 회사는 개방적 소통과 참여를 강조한다.</c:v>
                </c:pt>
                <c:pt idx="5">
                  <c:v>Q3. 나는 팀(소속부서)의 문제해결 및 의사결정에 적극적으로 참여한다.</c:v>
                </c:pt>
                <c:pt idx="6">
                  <c:v>Q4. 나는 혁신활동(아이디어 전달, 제안제도, 5S, QC 등)에 적극적으로 참여하고 있다.</c:v>
                </c:pt>
                <c:pt idx="7">
                  <c:v>Q5. 우리 회사는 혁신에 대한 적절한 보상이 이루어진다.</c:v>
                </c:pt>
                <c:pt idx="8">
                  <c:v>Q6. 작업수행 절차, 방법 등에 대해 개인이나 팀이 제안하면 회사는 그 결과를 피드백 한다.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  <c:pt idx="8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39-40B4-A172-1B2F064839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11123664"/>
        <c:axId val="411122096"/>
      </c:barChart>
      <c:catAx>
        <c:axId val="4111236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2096"/>
        <c:crosses val="autoZero"/>
        <c:auto val="1"/>
        <c:lblAlgn val="ctr"/>
        <c:lblOffset val="100"/>
        <c:noMultiLvlLbl val="0"/>
      </c:catAx>
      <c:valAx>
        <c:axId val="411122096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366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분석'!$AJ$37:$AO$37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'인적자원 분석'!$AJ$38:$AO$38</c:f>
              <c:numCache>
                <c:formatCode>0.00_);[Red]\(0.00\)</c:formatCode>
                <c:ptCount val="6"/>
                <c:pt idx="0">
                  <c:v>3.75</c:v>
                </c:pt>
                <c:pt idx="1">
                  <c:v>4</c:v>
                </c:pt>
                <c:pt idx="2">
                  <c:v>4</c:v>
                </c:pt>
                <c:pt idx="3">
                  <c:v>3.3333333333333335</c:v>
                </c:pt>
                <c:pt idx="4">
                  <c:v>3.4166666666666665</c:v>
                </c:pt>
                <c:pt idx="5">
                  <c:v>3.25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C1-4808-8A27-A2B98E19FB99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분석'!$AJ$37:$AO$37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'인적자원 분석'!$AJ$39:$AO$39</c:f>
              <c:numCache>
                <c:formatCode>0.00_);[Red]\(0.00\)</c:formatCode>
                <c:ptCount val="6"/>
                <c:pt idx="0">
                  <c:v>3.7142857142857144</c:v>
                </c:pt>
                <c:pt idx="1">
                  <c:v>3.7142857142857144</c:v>
                </c:pt>
                <c:pt idx="2">
                  <c:v>3.7857142857142856</c:v>
                </c:pt>
                <c:pt idx="3">
                  <c:v>3.1428571428571428</c:v>
                </c:pt>
                <c:pt idx="4">
                  <c:v>2.9285714285714284</c:v>
                </c:pt>
                <c:pt idx="5">
                  <c:v>3.4285714285714284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C1-4808-8A27-A2B98E19FB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126800"/>
        <c:axId val="411127192"/>
      </c:barChart>
      <c:catAx>
        <c:axId val="411126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7192"/>
        <c:crosses val="autoZero"/>
        <c:auto val="1"/>
        <c:lblAlgn val="ctr"/>
        <c:lblOffset val="100"/>
        <c:noMultiLvlLbl val="0"/>
      </c:catAx>
      <c:valAx>
        <c:axId val="411127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6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분석'!$AP$37:$AR$37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분석'!$AP$38:$AR$38</c:f>
              <c:numCache>
                <c:formatCode>0.00_);[Red]\(0.00\)</c:formatCode>
                <c:ptCount val="3"/>
                <c:pt idx="0">
                  <c:v>3.5</c:v>
                </c:pt>
                <c:pt idx="1">
                  <c:v>3.6666666666666665</c:v>
                </c:pt>
                <c:pt idx="2">
                  <c:v>4.083333333333333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8C-4CED-A06B-00674E08528F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분석'!$AP$37:$AR$37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분석'!$AP$39:$AR$39</c:f>
              <c:numCache>
                <c:formatCode>0.00_);[Red]\(0.00\)</c:formatCode>
                <c:ptCount val="3"/>
                <c:pt idx="0">
                  <c:v>3.5714285714285716</c:v>
                </c:pt>
                <c:pt idx="1">
                  <c:v>4.1428571428571432</c:v>
                </c:pt>
                <c:pt idx="2">
                  <c:v>4.2857142857142856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8C-4CED-A06B-00674E0852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1121312"/>
        <c:axId val="411124840"/>
      </c:barChart>
      <c:catAx>
        <c:axId val="41112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4840"/>
        <c:crosses val="autoZero"/>
        <c:auto val="1"/>
        <c:lblAlgn val="ctr"/>
        <c:lblOffset val="100"/>
        <c:noMultiLvlLbl val="0"/>
      </c:catAx>
      <c:valAx>
        <c:axId val="411124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1121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근무제도 평균</c:v>
                </c:pt>
                <c:pt idx="3">
                  <c:v>Q1. 우리 회사는 정시퇴근(1일 8시간 근무 후 퇴근)을 잘 지켜지고 있다.</c:v>
                </c:pt>
                <c:pt idx="4">
                  <c:v>Q2. 우리 회사는 정해진 휴일(주휴일 등 법정공휴일 및 약정휴일)이 잘 지켜진다.</c:v>
                </c:pt>
                <c:pt idx="5">
                  <c:v>Q3. 나는 정해진 휴가(연차휴가 등 법정휴가 및 약정휴가)를 자유롭게 사용하고 있다.</c:v>
                </c:pt>
              </c:strCache>
            </c:strRef>
          </c:cat>
          <c:val>
            <c:numRef>
              <c:f>Sheet1!$B$2:$B$7</c:f>
              <c:numCache>
                <c:formatCode>0.00_ </c:formatCode>
                <c:ptCount val="6"/>
                <c:pt idx="0">
                  <c:v>4.41</c:v>
                </c:pt>
                <c:pt idx="1">
                  <c:v>4.09</c:v>
                </c:pt>
                <c:pt idx="2">
                  <c:v>3.9012345679012341</c:v>
                </c:pt>
                <c:pt idx="3">
                  <c:v>3.5555555555555554</c:v>
                </c:pt>
                <c:pt idx="4">
                  <c:v>3.925925925925926</c:v>
                </c:pt>
                <c:pt idx="5">
                  <c:v>4.2222222222222223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90-45D3-BFAD-8C569EF160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</a:t>
                    </a:r>
                    <a:r>
                      <a:rPr lang="en-US" altLang="ko-KR" i="1" baseline="0" dirty="0"/>
                      <a:t>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근무제도 평균</c:v>
                </c:pt>
                <c:pt idx="3">
                  <c:v>Q1. 우리 회사는 정시퇴근(1일 8시간 근무 후 퇴근)을 잘 지켜지고 있다.</c:v>
                </c:pt>
                <c:pt idx="4">
                  <c:v>Q2. 우리 회사는 정해진 휴일(주휴일 등 법정공휴일 및 약정휴일)이 잘 지켜진다.</c:v>
                </c:pt>
                <c:pt idx="5">
                  <c:v>Q3. 나는 정해진 휴가(연차휴가 등 법정휴가 및 약정휴가)를 자유롭게 사용하고 있다.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90-45D3-BFAD-8C569EF160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3723816"/>
        <c:axId val="433721464"/>
      </c:barChart>
      <c:catAx>
        <c:axId val="4337238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21464"/>
        <c:crosses val="autoZero"/>
        <c:auto val="1"/>
        <c:lblAlgn val="ctr"/>
        <c:lblOffset val="100"/>
        <c:noMultiLvlLbl val="0"/>
      </c:catAx>
      <c:valAx>
        <c:axId val="433721464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2381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모성보호 평균</c:v>
                </c:pt>
                <c:pt idx="3">
                  <c:v>Q1. 우리 회사는 평가, 승진, 배치 등 인사 상 남녀 차별이 없다고 생각한다.</c:v>
                </c:pt>
                <c:pt idx="4">
                  <c:v>Q2. 우리 회사는 일가정양립 지원제도(출산휴가,육아휴직, 유연근무제 등)를 자유롭게 사용할 수 있다.</c:v>
                </c:pt>
                <c:pt idx="5">
                  <c:v>Q3. 나의 상사는 가족을 돌봐야 하는 일이 생기면 내 일정을 조정해준다.</c:v>
                </c:pt>
              </c:strCache>
            </c:strRef>
          </c:cat>
          <c:val>
            <c:numRef>
              <c:f>Sheet1!$B$2:$B$7</c:f>
              <c:numCache>
                <c:formatCode>0.00_ </c:formatCode>
                <c:ptCount val="6"/>
                <c:pt idx="0">
                  <c:v>4.43</c:v>
                </c:pt>
                <c:pt idx="1">
                  <c:v>4.04</c:v>
                </c:pt>
                <c:pt idx="2">
                  <c:v>4.0493827160493829</c:v>
                </c:pt>
                <c:pt idx="3">
                  <c:v>4.2592592592592595</c:v>
                </c:pt>
                <c:pt idx="4">
                  <c:v>3.6296296296296298</c:v>
                </c:pt>
                <c:pt idx="5">
                  <c:v>4.2592592592592595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80-4F3C-BB07-0E07D24829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3.5</a:t>
                    </a:r>
                    <a:r>
                      <a:rPr lang="en-US" altLang="ko-KR" i="1" baseline="0" dirty="0"/>
                      <a:t>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모성보호 평균</c:v>
                </c:pt>
                <c:pt idx="3">
                  <c:v>Q1. 우리 회사는 평가, 승진, 배치 등 인사 상 남녀 차별이 없다고 생각한다.</c:v>
                </c:pt>
                <c:pt idx="4">
                  <c:v>Q2. 우리 회사는 일가정양립 지원제도(출산휴가,육아휴직, 유연근무제 등)를 자유롭게 사용할 수 있다.</c:v>
                </c:pt>
                <c:pt idx="5">
                  <c:v>Q3. 나의 상사는 가족을 돌봐야 하는 일이 생기면 내 일정을 조정해준다.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80-4F3C-BB07-0E07D2482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3718328"/>
        <c:axId val="433722248"/>
      </c:barChart>
      <c:catAx>
        <c:axId val="4337183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22248"/>
        <c:crosses val="autoZero"/>
        <c:auto val="1"/>
        <c:lblAlgn val="ctr"/>
        <c:lblOffset val="100"/>
        <c:noMultiLvlLbl val="0"/>
      </c:catAx>
      <c:valAx>
        <c:axId val="433722248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1832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분석'!$AY$37:$BA$37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분석'!$AY$38:$BA$38</c:f>
              <c:numCache>
                <c:formatCode>0.00_);[Red]\(0.00\)</c:formatCode>
                <c:ptCount val="3"/>
                <c:pt idx="0">
                  <c:v>4.083333333333333</c:v>
                </c:pt>
                <c:pt idx="1">
                  <c:v>3.75</c:v>
                </c:pt>
                <c:pt idx="2">
                  <c:v>4.333333333333333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A6-46F5-AF8F-68B2D80A3ED0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분석'!$AY$37:$BA$37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분석'!$AY$39:$BA$39</c:f>
              <c:numCache>
                <c:formatCode>0.00_);[Red]\(0.00\)</c:formatCode>
                <c:ptCount val="3"/>
                <c:pt idx="0">
                  <c:v>4.5714285714285712</c:v>
                </c:pt>
                <c:pt idx="1">
                  <c:v>3.5714285714285716</c:v>
                </c:pt>
                <c:pt idx="2">
                  <c:v>4.2857142857142856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A6-46F5-AF8F-68B2D80A3E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3718720"/>
        <c:axId val="433721856"/>
      </c:barChart>
      <c:catAx>
        <c:axId val="433718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21856"/>
        <c:crosses val="autoZero"/>
        <c:auto val="1"/>
        <c:lblAlgn val="ctr"/>
        <c:lblOffset val="100"/>
        <c:noMultiLvlLbl val="0"/>
      </c:catAx>
      <c:valAx>
        <c:axId val="433721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18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장년고용 평균</c:v>
                </c:pt>
                <c:pt idx="3">
                  <c:v>Q1. 경영진은 장년근로자의 고용안정을 중요하게 여긴다.</c:v>
                </c:pt>
                <c:pt idx="4">
                  <c:v>Q2. 내가 수행하는 업무는 장년층의 노하우나 지식, 기술을 필요로 한다.</c:v>
                </c:pt>
                <c:pt idx="5">
                  <c:v>Q3. 나는 장년층의 고용안정/연장을 위한 별도의 인사제도(평가, 승진, 임금피크제 등)가 필요하다고 생각한다.</c:v>
                </c:pt>
              </c:strCache>
            </c:strRef>
          </c:cat>
          <c:val>
            <c:numRef>
              <c:f>Sheet1!$B$2:$B$7</c:f>
              <c:numCache>
                <c:formatCode>0.00_ </c:formatCode>
                <c:ptCount val="6"/>
                <c:pt idx="0">
                  <c:v>3.79</c:v>
                </c:pt>
                <c:pt idx="1">
                  <c:v>3.51</c:v>
                </c:pt>
                <c:pt idx="2">
                  <c:v>3.9999999999999996</c:v>
                </c:pt>
                <c:pt idx="3">
                  <c:v>4.1111111111111107</c:v>
                </c:pt>
                <c:pt idx="4">
                  <c:v>3.9629629629629628</c:v>
                </c:pt>
                <c:pt idx="5">
                  <c:v>3.925925925925926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B-48E3-8D99-21FB5615B4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3.5</a:t>
                    </a:r>
                    <a:r>
                      <a:rPr lang="en-US" altLang="ko-KR" i="1" baseline="0" dirty="0"/>
                      <a:t>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Sheet1!$A$2:$A$7</c:f>
              <c:strCache>
                <c:ptCount val="6"/>
                <c:pt idx="0">
                  <c:v>상위집단</c:v>
                </c:pt>
                <c:pt idx="1">
                  <c:v>50인 미만 정보통신업</c:v>
                </c:pt>
                <c:pt idx="2">
                  <c:v>장년고용 평균</c:v>
                </c:pt>
                <c:pt idx="3">
                  <c:v>Q1. 경영진은 장년근로자의 고용안정을 중요하게 여긴다.</c:v>
                </c:pt>
                <c:pt idx="4">
                  <c:v>Q2. 내가 수행하는 업무는 장년층의 노하우나 지식, 기술을 필요로 한다.</c:v>
                </c:pt>
                <c:pt idx="5">
                  <c:v>Q3. 나는 장년층의 고용안정/연장을 위한 별도의 인사제도(평가, 승진, 임금피크제 등)가 필요하다고 생각한다.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3.34</c:v>
                </c:pt>
                <c:pt idx="1">
                  <c:v>3.34</c:v>
                </c:pt>
                <c:pt idx="2">
                  <c:v>3.34</c:v>
                </c:pt>
                <c:pt idx="3">
                  <c:v>3.34</c:v>
                </c:pt>
                <c:pt idx="4">
                  <c:v>3.34</c:v>
                </c:pt>
                <c:pt idx="5">
                  <c:v>3.34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B-48E3-8D99-21FB5615B4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3719504"/>
        <c:axId val="433723424"/>
      </c:barChart>
      <c:catAx>
        <c:axId val="4337195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23424"/>
        <c:crosses val="autoZero"/>
        <c:auto val="1"/>
        <c:lblAlgn val="ctr"/>
        <c:lblOffset val="100"/>
        <c:noMultiLvlLbl val="0"/>
      </c:catAx>
      <c:valAx>
        <c:axId val="433723424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1950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분석'!$BB$37:$BD$37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분석'!$BB$38:$BD$38</c:f>
              <c:numCache>
                <c:formatCode>0.00_);[Red]\(0.00\)</c:formatCode>
                <c:ptCount val="3"/>
                <c:pt idx="0">
                  <c:v>4.083333333333333</c:v>
                </c:pt>
                <c:pt idx="1">
                  <c:v>4.083333333333333</c:v>
                </c:pt>
                <c:pt idx="2">
                  <c:v>3.8333333333333335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D8-4537-A0A8-12C15B4F6B7D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분석'!$BB$37:$BD$37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'인적자원 분석'!$BB$39:$BD$39</c:f>
              <c:numCache>
                <c:formatCode>0.00_);[Red]\(0.00\)</c:formatCode>
                <c:ptCount val="3"/>
                <c:pt idx="0">
                  <c:v>4.2142857142857144</c:v>
                </c:pt>
                <c:pt idx="1">
                  <c:v>3.9285714285714284</c:v>
                </c:pt>
                <c:pt idx="2">
                  <c:v>4.0714285714285712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D8-4537-A0A8-12C15B4F6B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3716760"/>
        <c:axId val="433717152"/>
      </c:barChart>
      <c:catAx>
        <c:axId val="433716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17152"/>
        <c:crosses val="autoZero"/>
        <c:auto val="1"/>
        <c:lblAlgn val="ctr"/>
        <c:lblOffset val="100"/>
        <c:noMultiLvlLbl val="0"/>
      </c:catAx>
      <c:valAx>
        <c:axId val="433717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16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노사가치관 평균</c:v>
                </c:pt>
                <c:pt idx="3">
                  <c:v>Q1. 경영진은 근로자가 회사의 중요한 자산이라고 생각하고 있다.</c:v>
                </c:pt>
                <c:pt idx="4">
                  <c:v>Q2. 경영진은 근로자 단체(노동조합, 근로자대표 등)를 인정하고, 합의를 중시한다.</c:v>
                </c:pt>
                <c:pt idx="5">
                  <c:v>Q3. 경영진은 근로자 단체(노동조합, 근로자대표 등)가 경영에 참여하는 것을 인정하고 있다. </c:v>
                </c:pt>
                <c:pt idx="6">
                  <c:v>Q4. 근로자들은 경영진의 경영권을 충분히 인정하고 있다. </c:v>
                </c:pt>
                <c:pt idx="7">
                  <c:v>Q5. 근로자들은 기업 경쟁력이 중요하다고 생각한다.</c:v>
                </c:pt>
                <c:pt idx="8">
                  <c:v>Q6. 근로자들은 노사 간 대립보다는 참여와 협력을 중시한다. </c:v>
                </c:pt>
              </c:strCache>
            </c:strRef>
          </c:cat>
          <c:val>
            <c:numRef>
              <c:f>Sheet1!$B$2:$B$10</c:f>
              <c:numCache>
                <c:formatCode>0.00_ </c:formatCode>
                <c:ptCount val="9"/>
                <c:pt idx="0">
                  <c:v>4.1900000000000004</c:v>
                </c:pt>
                <c:pt idx="1">
                  <c:v>3.66</c:v>
                </c:pt>
                <c:pt idx="2">
                  <c:v>3.9320987654320994</c:v>
                </c:pt>
                <c:pt idx="3">
                  <c:v>3.8888888888888888</c:v>
                </c:pt>
                <c:pt idx="4">
                  <c:v>4</c:v>
                </c:pt>
                <c:pt idx="5">
                  <c:v>3.6666666666666665</c:v>
                </c:pt>
                <c:pt idx="6">
                  <c:v>4</c:v>
                </c:pt>
                <c:pt idx="7">
                  <c:v>3.9629629629629628</c:v>
                </c:pt>
                <c:pt idx="8">
                  <c:v>4.0740740740740744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0-4A6F-9DD5-AE26A28F3B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3.5</a:t>
                    </a:r>
                    <a:r>
                      <a:rPr lang="en-US" altLang="ko-KR" i="1" baseline="0" dirty="0"/>
                      <a:t>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노사가치관 평균</c:v>
                </c:pt>
                <c:pt idx="3">
                  <c:v>Q1. 경영진은 근로자가 회사의 중요한 자산이라고 생각하고 있다.</c:v>
                </c:pt>
                <c:pt idx="4">
                  <c:v>Q2. 경영진은 근로자 단체(노동조합, 근로자대표 등)를 인정하고, 합의를 중시한다.</c:v>
                </c:pt>
                <c:pt idx="5">
                  <c:v>Q3. 경영진은 근로자 단체(노동조합, 근로자대표 등)가 경영에 참여하는 것을 인정하고 있다. </c:v>
                </c:pt>
                <c:pt idx="6">
                  <c:v>Q4. 근로자들은 경영진의 경영권을 충분히 인정하고 있다. </c:v>
                </c:pt>
                <c:pt idx="7">
                  <c:v>Q5. 근로자들은 기업 경쟁력이 중요하다고 생각한다.</c:v>
                </c:pt>
                <c:pt idx="8">
                  <c:v>Q6. 근로자들은 노사 간 대립보다는 참여와 협력을 중시한다. 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  <c:pt idx="8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30-4A6F-9DD5-AE26A28F3B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3717544"/>
        <c:axId val="433717936"/>
      </c:barChart>
      <c:catAx>
        <c:axId val="4337175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17936"/>
        <c:crosses val="autoZero"/>
        <c:auto val="1"/>
        <c:lblAlgn val="ctr"/>
        <c:lblOffset val="100"/>
        <c:noMultiLvlLbl val="0"/>
      </c:catAx>
      <c:valAx>
        <c:axId val="433717936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71754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분석'!$BE$37:$BJ$37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'인적자원 분석'!$BE$38:$BJ$38</c:f>
              <c:numCache>
                <c:formatCode>0.00_);[Red]\(0.00\)</c:formatCode>
                <c:ptCount val="6"/>
                <c:pt idx="0">
                  <c:v>4.083333333333333</c:v>
                </c:pt>
                <c:pt idx="1">
                  <c:v>4</c:v>
                </c:pt>
                <c:pt idx="2">
                  <c:v>3.75</c:v>
                </c:pt>
                <c:pt idx="3">
                  <c:v>4.166666666666667</c:v>
                </c:pt>
                <c:pt idx="4">
                  <c:v>4.083333333333333</c:v>
                </c:pt>
                <c:pt idx="5">
                  <c:v>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41-42DD-B41C-E073292C58A2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분석'!$BE$37:$BJ$37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'인적자원 분석'!$BE$39:$BJ$39</c:f>
              <c:numCache>
                <c:formatCode>0.00_);[Red]\(0.00\)</c:formatCode>
                <c:ptCount val="6"/>
                <c:pt idx="0">
                  <c:v>3.7857142857142856</c:v>
                </c:pt>
                <c:pt idx="1">
                  <c:v>4.0714285714285712</c:v>
                </c:pt>
                <c:pt idx="2">
                  <c:v>3.6428571428571428</c:v>
                </c:pt>
                <c:pt idx="3">
                  <c:v>3.9285714285714284</c:v>
                </c:pt>
                <c:pt idx="4">
                  <c:v>3.9285714285714284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41-42DD-B41C-E073292C58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3508360"/>
        <c:axId val="433509144"/>
      </c:barChart>
      <c:catAx>
        <c:axId val="433508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9144"/>
        <c:crosses val="autoZero"/>
        <c:auto val="1"/>
        <c:lblAlgn val="ctr"/>
        <c:lblOffset val="100"/>
        <c:noMultiLvlLbl val="0"/>
      </c:catAx>
      <c:valAx>
        <c:axId val="433509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8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노사관계 평균</c:v>
                </c:pt>
                <c:pt idx="3">
                  <c:v>Q1. 경영진과 근로자는 회사에 대해 명확한 공동의 목표가 있다.</c:v>
                </c:pt>
                <c:pt idx="4">
                  <c:v>Q2. 노사화합을 위한 활동(체육대회, 워크숍, 동아리활동 등) 및 정기적인 만남이 활발하게 이루어지고 있다.</c:v>
                </c:pt>
                <c:pt idx="5">
                  <c:v>Q3. 경영진과 근로자(노사협의회, 노동조합)는 대립보다 참여와 협력을 중시한다.</c:v>
                </c:pt>
                <c:pt idx="6">
                  <c:v>Q4. 경영진은 경영현황 및 조직변화 등 회사 전반에 관한 정보를 충분히 제공하고 있다.</c:v>
                </c:pt>
                <c:pt idx="7">
                  <c:v>Q5. 근로자들은 비공식(소문 등)보다 공식 통로(경영진, 노동조합, 인사팀)로부터 얻은 소식을 더 신뢰한다.</c:v>
                </c:pt>
                <c:pt idx="8">
                  <c:v>Q6. 인사제도(임금/평가/승진) 설계 또는 변경 시 근로자들의 의견이 적극 반영된다.</c:v>
                </c:pt>
              </c:strCache>
            </c:strRef>
          </c:cat>
          <c:val>
            <c:numRef>
              <c:f>Sheet1!$B$2:$B$10</c:f>
              <c:numCache>
                <c:formatCode>0.00_ </c:formatCode>
                <c:ptCount val="9"/>
                <c:pt idx="0">
                  <c:v>4.1100000000000003</c:v>
                </c:pt>
                <c:pt idx="1">
                  <c:v>3.52</c:v>
                </c:pt>
                <c:pt idx="2">
                  <c:v>3.824074074074074</c:v>
                </c:pt>
                <c:pt idx="3">
                  <c:v>3.8148148148148149</c:v>
                </c:pt>
                <c:pt idx="4">
                  <c:v>3.8518518518518516</c:v>
                </c:pt>
                <c:pt idx="5">
                  <c:v>4</c:v>
                </c:pt>
                <c:pt idx="6">
                  <c:v>3.6296296296296298</c:v>
                </c:pt>
                <c:pt idx="7">
                  <c:v>3.7407407407407409</c:v>
                </c:pt>
                <c:pt idx="8">
                  <c:v>3.2222222222222223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F-4C68-ACBC-B2C0AB7B86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3.5</a:t>
                    </a:r>
                    <a:r>
                      <a:rPr lang="en-US" altLang="ko-KR" i="1" baseline="0" dirty="0"/>
                      <a:t>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노사관계 평균</c:v>
                </c:pt>
                <c:pt idx="3">
                  <c:v>Q1. 경영진과 근로자는 회사에 대해 명확한 공동의 목표가 있다.</c:v>
                </c:pt>
                <c:pt idx="4">
                  <c:v>Q2. 노사화합을 위한 활동(체육대회, 워크숍, 동아리활동 등) 및 정기적인 만남이 활발하게 이루어지고 있다.</c:v>
                </c:pt>
                <c:pt idx="5">
                  <c:v>Q3. 경영진과 근로자(노사협의회, 노동조합)는 대립보다 참여와 협력을 중시한다.</c:v>
                </c:pt>
                <c:pt idx="6">
                  <c:v>Q4. 경영진은 경영현황 및 조직변화 등 회사 전반에 관한 정보를 충분히 제공하고 있다.</c:v>
                </c:pt>
                <c:pt idx="7">
                  <c:v>Q5. 근로자들은 비공식(소문 등)보다 공식 통로(경영진, 노동조합, 인사팀)로부터 얻은 소식을 더 신뢰한다.</c:v>
                </c:pt>
                <c:pt idx="8">
                  <c:v>Q6. 인사제도(임금/평가/승진) 설계 또는 변경 시 근로자들의 의견이 적극 반영된다.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  <c:pt idx="8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9F-4C68-ACBC-B2C0AB7B86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3504832"/>
        <c:axId val="433509536"/>
      </c:barChart>
      <c:catAx>
        <c:axId val="4335048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9536"/>
        <c:crosses val="autoZero"/>
        <c:auto val="1"/>
        <c:lblAlgn val="ctr"/>
        <c:lblOffset val="100"/>
        <c:noMultiLvlLbl val="0"/>
      </c:catAx>
      <c:valAx>
        <c:axId val="433509536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483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분석'!$BK$37:$BP$37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'인적자원 분석'!$BK$38:$BP$38</c:f>
              <c:numCache>
                <c:formatCode>0.00_);[Red]\(0.00\)</c:formatCode>
                <c:ptCount val="6"/>
                <c:pt idx="0">
                  <c:v>3.9166666666666665</c:v>
                </c:pt>
                <c:pt idx="1">
                  <c:v>3.5833333333333335</c:v>
                </c:pt>
                <c:pt idx="2">
                  <c:v>3.9166666666666665</c:v>
                </c:pt>
                <c:pt idx="3">
                  <c:v>3.9166666666666665</c:v>
                </c:pt>
                <c:pt idx="4">
                  <c:v>3.9166666666666665</c:v>
                </c:pt>
                <c:pt idx="5">
                  <c:v>3.4166666666666665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E6-46B3-8E1D-1017674BEEF7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분석'!$BK$37:$BP$37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'인적자원 분석'!$BK$39:$BP$39</c:f>
              <c:numCache>
                <c:formatCode>0.00_);[Red]\(0.00\)</c:formatCode>
                <c:ptCount val="6"/>
                <c:pt idx="0">
                  <c:v>3.7857142857142856</c:v>
                </c:pt>
                <c:pt idx="1">
                  <c:v>4.1428571428571432</c:v>
                </c:pt>
                <c:pt idx="2">
                  <c:v>4.2142857142857144</c:v>
                </c:pt>
                <c:pt idx="3">
                  <c:v>3.5714285714285716</c:v>
                </c:pt>
                <c:pt idx="4">
                  <c:v>3.7857142857142856</c:v>
                </c:pt>
                <c:pt idx="5">
                  <c:v>3.2142857142857144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E6-46B3-8E1D-1017674BEE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3509928"/>
        <c:axId val="433507968"/>
      </c:barChart>
      <c:catAx>
        <c:axId val="43350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7968"/>
        <c:crosses val="autoZero"/>
        <c:auto val="1"/>
        <c:lblAlgn val="ctr"/>
        <c:lblOffset val="100"/>
        <c:noMultiLvlLbl val="0"/>
      </c:catAx>
      <c:valAx>
        <c:axId val="433507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9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251162439613527"/>
          <c:y val="6.3603036919810091E-2"/>
          <c:w val="0.33853242028663116"/>
          <c:h val="0.8727939261603797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노동조합, 노사협의회, 고충처리위원</c:v>
                </c:pt>
                <c:pt idx="1">
                  <c:v>그룹웨어 또는 이메일을 통한 경영진</c:v>
                </c:pt>
                <c:pt idx="2">
                  <c:v>인사부서 또는 상사</c:v>
                </c:pt>
                <c:pt idx="3">
                  <c:v>선배(부서장 제외) 또는 동료</c:v>
                </c:pt>
                <c:pt idx="4">
                  <c:v>혼자 해결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7.407407407407407E-2</c:v>
                </c:pt>
                <c:pt idx="1">
                  <c:v>3.7037037037037035E-2</c:v>
                </c:pt>
                <c:pt idx="2">
                  <c:v>0.29629629629629628</c:v>
                </c:pt>
                <c:pt idx="3">
                  <c:v>0.44444444444444442</c:v>
                </c:pt>
                <c:pt idx="4">
                  <c:v>0.14814814814814814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0-484D-BA07-0364AF7F57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33505616"/>
        <c:axId val="433511104"/>
      </c:barChart>
      <c:catAx>
        <c:axId val="433505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11104"/>
        <c:crosses val="autoZero"/>
        <c:auto val="1"/>
        <c:lblAlgn val="ctr"/>
        <c:lblOffset val="100"/>
        <c:noMultiLvlLbl val="0"/>
      </c:catAx>
      <c:valAx>
        <c:axId val="433511104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433505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1755057836842696"/>
          <c:w val="0.22436661668098451"/>
          <c:h val="0.7995510468699479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상위집단</c:v>
                </c:pt>
                <c:pt idx="1">
                  <c:v>50인 미만 정보통신업</c:v>
                </c:pt>
                <c:pt idx="2">
                  <c:v>고충처리 평균</c:v>
                </c:pt>
                <c:pt idx="3">
                  <c:v>Q1. 근로자들의 고충을 전달할 공식적인 통로(예.고충처리제도)가 충분히 제공되고 있다.</c:v>
                </c:pt>
                <c:pt idx="4">
                  <c:v>Q2. 근로자가 제기한 고충사항의 처리와 해결이 잘 이루어지고 있다.</c:v>
                </c:pt>
              </c:strCache>
            </c:strRef>
          </c:cat>
          <c:val>
            <c:numRef>
              <c:f>Sheet1!$B$2:$B$6</c:f>
              <c:numCache>
                <c:formatCode>0.00_ </c:formatCode>
                <c:ptCount val="5"/>
                <c:pt idx="0">
                  <c:v>3.89</c:v>
                </c:pt>
                <c:pt idx="1">
                  <c:v>3.29</c:v>
                </c:pt>
                <c:pt idx="2">
                  <c:v>3.6666666666666665</c:v>
                </c:pt>
                <c:pt idx="3">
                  <c:v>3.6666666666666665</c:v>
                </c:pt>
                <c:pt idx="4">
                  <c:v>3.6666666666666665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35-4393-80F2-37EF3C6B41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5.1605423852971233E-2"/>
                  <c:y val="6.709130885943318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(3.57)</a:t>
                    </a:r>
                    <a:endParaRPr lang="en-US" altLang="ko-KR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 altLang="ko-KR"/>
                </a:p>
              </c:txPr>
            </c:trendlineLbl>
          </c:trendline>
          <c:cat>
            <c:strRef>
              <c:f>Sheet1!$A$2:$A$6</c:f>
              <c:strCache>
                <c:ptCount val="5"/>
                <c:pt idx="0">
                  <c:v>상위집단</c:v>
                </c:pt>
                <c:pt idx="1">
                  <c:v>50인 미만 정보통신업</c:v>
                </c:pt>
                <c:pt idx="2">
                  <c:v>고충처리 평균</c:v>
                </c:pt>
                <c:pt idx="3">
                  <c:v>Q1. 근로자들의 고충을 전달할 공식적인 통로(예.고충처리제도)가 충분히 제공되고 있다.</c:v>
                </c:pt>
                <c:pt idx="4">
                  <c:v>Q2. 근로자가 제기한 고충사항의 처리와 해결이 잘 이루어지고 있다.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35-4393-80F2-37EF3C6B4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3508752"/>
        <c:axId val="433507576"/>
      </c:barChart>
      <c:catAx>
        <c:axId val="4335087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7576"/>
        <c:crosses val="autoZero"/>
        <c:auto val="1"/>
        <c:lblAlgn val="ctr"/>
        <c:lblOffset val="100"/>
        <c:noMultiLvlLbl val="0"/>
      </c:catAx>
      <c:valAx>
        <c:axId val="433507576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875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layout>
        <c:manualLayout>
          <c:xMode val="edge"/>
          <c:yMode val="edge"/>
          <c:x val="0.39506227657711424"/>
          <c:y val="0.89909401125052335"/>
          <c:w val="0.21571912433183069"/>
          <c:h val="8.5093238401288046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분석'!$BQ$37:$BR$37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'인적자원 분석'!$BQ$38:$BR$38</c:f>
              <c:numCache>
                <c:formatCode>0.00_);[Red]\(0.00\)</c:formatCode>
                <c:ptCount val="2"/>
                <c:pt idx="0">
                  <c:v>3.5</c:v>
                </c:pt>
                <c:pt idx="1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06-4871-8EB0-07EC9FA246A0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분석'!$BQ$37:$BR$37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'인적자원 분석'!$BQ$39:$BR$39</c:f>
              <c:numCache>
                <c:formatCode>0.00_);[Red]\(0.00\)</c:formatCode>
                <c:ptCount val="2"/>
                <c:pt idx="0">
                  <c:v>3.8333333333333335</c:v>
                </c:pt>
                <c:pt idx="1">
                  <c:v>3.8333333333333335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06-4871-8EB0-07EC9FA246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3511888"/>
        <c:axId val="433510712"/>
      </c:barChart>
      <c:catAx>
        <c:axId val="433511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10712"/>
        <c:crosses val="autoZero"/>
        <c:auto val="1"/>
        <c:lblAlgn val="ctr"/>
        <c:lblOffset val="100"/>
        <c:noMultiLvlLbl val="0"/>
      </c:catAx>
      <c:valAx>
        <c:axId val="433510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11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직무몰입 평균</c:v>
                </c:pt>
                <c:pt idx="3">
                  <c:v>Q1. 나는 내 일에 대해 열정적이다.</c:v>
                </c:pt>
                <c:pt idx="4">
                  <c:v>Q2. 내가 하고 있는 일은 나를 고취시킨다.</c:v>
                </c:pt>
                <c:pt idx="5">
                  <c:v>Q3. 내가 하고 있는 일에 자부심을 느낀다.</c:v>
                </c:pt>
                <c:pt idx="6">
                  <c:v>Q4. 나는 열심히 일할 때 행복감을 느낀다.</c:v>
                </c:pt>
                <c:pt idx="7">
                  <c:v>Q5. 나는 업무에 깊이 몰두한다.</c:v>
                </c:pt>
                <c:pt idx="8">
                  <c:v>Q6. 일할 때 나는 열중한다.</c:v>
                </c:pt>
              </c:strCache>
            </c:strRef>
          </c:cat>
          <c:val>
            <c:numRef>
              <c:f>Sheet1!$B$2:$B$10</c:f>
              <c:numCache>
                <c:formatCode>0.00_ </c:formatCode>
                <c:ptCount val="9"/>
                <c:pt idx="0">
                  <c:v>4.2699999999999996</c:v>
                </c:pt>
                <c:pt idx="1">
                  <c:v>3.82</c:v>
                </c:pt>
                <c:pt idx="2">
                  <c:v>4.1419753086419755</c:v>
                </c:pt>
                <c:pt idx="3">
                  <c:v>4.1851851851851851</c:v>
                </c:pt>
                <c:pt idx="4">
                  <c:v>4</c:v>
                </c:pt>
                <c:pt idx="5">
                  <c:v>4.1481481481481479</c:v>
                </c:pt>
                <c:pt idx="6">
                  <c:v>3.9629629629629628</c:v>
                </c:pt>
                <c:pt idx="7">
                  <c:v>4.2962962962962967</c:v>
                </c:pt>
                <c:pt idx="8">
                  <c:v>4.2592592592592595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14-4693-8730-BC6CC384DB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(3.57)</a:t>
                    </a:r>
                    <a:endParaRPr lang="en-US" altLang="ko-KR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 altLang="ko-KR"/>
                </a:p>
              </c:txPr>
            </c:trendlineLbl>
          </c:trendline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직무몰입 평균</c:v>
                </c:pt>
                <c:pt idx="3">
                  <c:v>Q1. 나는 내 일에 대해 열정적이다.</c:v>
                </c:pt>
                <c:pt idx="4">
                  <c:v>Q2. 내가 하고 있는 일은 나를 고취시킨다.</c:v>
                </c:pt>
                <c:pt idx="5">
                  <c:v>Q3. 내가 하고 있는 일에 자부심을 느낀다.</c:v>
                </c:pt>
                <c:pt idx="6">
                  <c:v>Q4. 나는 열심히 일할 때 행복감을 느낀다.</c:v>
                </c:pt>
                <c:pt idx="7">
                  <c:v>Q5. 나는 업무에 깊이 몰두한다.</c:v>
                </c:pt>
                <c:pt idx="8">
                  <c:v>Q6. 일할 때 나는 열중한다.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  <c:pt idx="8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14-4693-8730-BC6CC384DB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3506400"/>
        <c:axId val="435283864"/>
      </c:barChart>
      <c:catAx>
        <c:axId val="4335064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83864"/>
        <c:crosses val="autoZero"/>
        <c:auto val="1"/>
        <c:lblAlgn val="ctr"/>
        <c:lblOffset val="100"/>
        <c:noMultiLvlLbl val="0"/>
      </c:catAx>
      <c:valAx>
        <c:axId val="435283864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350640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분석'!$BT$37:$BY$37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'인적자원 분석'!$BT$38:$BY$38</c:f>
              <c:numCache>
                <c:formatCode>0.00_);[Red]\(0.00\)</c:formatCode>
                <c:ptCount val="6"/>
                <c:pt idx="0">
                  <c:v>4.5</c:v>
                </c:pt>
                <c:pt idx="1">
                  <c:v>4.333333333333333</c:v>
                </c:pt>
                <c:pt idx="2">
                  <c:v>4.5</c:v>
                </c:pt>
                <c:pt idx="3">
                  <c:v>4.25</c:v>
                </c:pt>
                <c:pt idx="4">
                  <c:v>4.583333333333333</c:v>
                </c:pt>
                <c:pt idx="5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8A-41A3-84AD-F64852F4BD07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분석'!$BT$37:$BY$37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'인적자원 분석'!$BT$39:$BY$39</c:f>
              <c:numCache>
                <c:formatCode>0.00_);[Red]\(0.00\)</c:formatCode>
                <c:ptCount val="6"/>
                <c:pt idx="0">
                  <c:v>4</c:v>
                </c:pt>
                <c:pt idx="1">
                  <c:v>3.7857142857142856</c:v>
                </c:pt>
                <c:pt idx="2">
                  <c:v>3.9285714285714284</c:v>
                </c:pt>
                <c:pt idx="3">
                  <c:v>3.7857142857142856</c:v>
                </c:pt>
                <c:pt idx="4">
                  <c:v>4.1428571428571432</c:v>
                </c:pt>
                <c:pt idx="5">
                  <c:v>4.1428571428571432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8A-41A3-84AD-F64852F4BD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5283080"/>
        <c:axId val="435282688"/>
      </c:barChart>
      <c:catAx>
        <c:axId val="435283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82688"/>
        <c:crosses val="autoZero"/>
        <c:auto val="1"/>
        <c:lblAlgn val="ctr"/>
        <c:lblOffset val="100"/>
        <c:noMultiLvlLbl val="0"/>
      </c:catAx>
      <c:valAx>
        <c:axId val="435282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83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조직몰입 평균</c:v>
                </c:pt>
                <c:pt idx="3">
                  <c:v>Q1. 나는 우리 직장의 문제를 내 문제처럼 느낀다.</c:v>
                </c:pt>
                <c:pt idx="4">
                  <c:v>Q2. 나는 우리 조직에 강한 소속감을 느끼고 있다.</c:v>
                </c:pt>
                <c:pt idx="5">
                  <c:v>Q3. 나는 이 조직에 애착을 느끼고 있다.</c:v>
                </c:pt>
                <c:pt idx="6">
                  <c:v>Q4. 나는 이 조직을 가족처럼 느끼고 있다.</c:v>
                </c:pt>
                <c:pt idx="7">
                  <c:v>Q5. 이 조직은 나에게 개인적으로 상당한 의미가 있다.</c:v>
                </c:pt>
              </c:strCache>
            </c:strRef>
          </c:cat>
          <c:val>
            <c:numRef>
              <c:f>Sheet1!$B$2:$B$9</c:f>
              <c:numCache>
                <c:formatCode>0.00_ </c:formatCode>
                <c:ptCount val="8"/>
                <c:pt idx="0">
                  <c:v>4.2699999999999996</c:v>
                </c:pt>
                <c:pt idx="1">
                  <c:v>3.74</c:v>
                </c:pt>
                <c:pt idx="2">
                  <c:v>3.8296296296296299</c:v>
                </c:pt>
                <c:pt idx="3">
                  <c:v>3.8888888888888888</c:v>
                </c:pt>
                <c:pt idx="4">
                  <c:v>4</c:v>
                </c:pt>
                <c:pt idx="5">
                  <c:v>3.8148148148148149</c:v>
                </c:pt>
                <c:pt idx="6">
                  <c:v>3.5185185185185186</c:v>
                </c:pt>
                <c:pt idx="7">
                  <c:v>3.925925925925926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3-446D-A7DC-E1550ADCE6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</a:t>
                    </a:r>
                    <a:r>
                      <a:rPr lang="en-US" altLang="ko-KR" i="1" baseline="0" dirty="0"/>
                      <a:t>57)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50인 미만 정보통신업</c:v>
                </c:pt>
                <c:pt idx="2">
                  <c:v>조직몰입 평균</c:v>
                </c:pt>
                <c:pt idx="3">
                  <c:v>Q1. 나는 우리 직장의 문제를 내 문제처럼 느낀다.</c:v>
                </c:pt>
                <c:pt idx="4">
                  <c:v>Q2. 나는 우리 조직에 강한 소속감을 느끼고 있다.</c:v>
                </c:pt>
                <c:pt idx="5">
                  <c:v>Q3. 나는 이 조직에 애착을 느끼고 있다.</c:v>
                </c:pt>
                <c:pt idx="6">
                  <c:v>Q4. 나는 이 조직을 가족처럼 느끼고 있다.</c:v>
                </c:pt>
                <c:pt idx="7">
                  <c:v>Q5. 이 조직은 나에게 개인적으로 상당한 의미가 있다.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73-446D-A7DC-E1550ADCE6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5285432"/>
        <c:axId val="435285040"/>
      </c:barChart>
      <c:catAx>
        <c:axId val="4352854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85040"/>
        <c:crosses val="autoZero"/>
        <c:auto val="1"/>
        <c:lblAlgn val="ctr"/>
        <c:lblOffset val="100"/>
        <c:noMultiLvlLbl val="0"/>
      </c:catAx>
      <c:valAx>
        <c:axId val="435285040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8543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'인적자원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분석'!$BZ$37:$CD$37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분석'!$BZ$38:$CD$38</c:f>
              <c:numCache>
                <c:formatCode>0.00_);[Red]\(0.00\)</c:formatCode>
                <c:ptCount val="5"/>
                <c:pt idx="0">
                  <c:v>3.9166666666666665</c:v>
                </c:pt>
                <c:pt idx="1">
                  <c:v>4</c:v>
                </c:pt>
                <c:pt idx="2">
                  <c:v>3.9166666666666665</c:v>
                </c:pt>
                <c:pt idx="3">
                  <c:v>3.4166666666666665</c:v>
                </c:pt>
                <c:pt idx="4">
                  <c:v>4.083333333333333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E9-497B-948B-82E9FCCB7607}"/>
            </c:ext>
          </c:extLst>
        </c:ser>
        <c:ser>
          <c:idx val="1"/>
          <c:order val="1"/>
          <c:tx>
            <c:strRef>
              <c:f>'인적자원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'인적자원 분석'!$BZ$37:$CD$37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'인적자원 분석'!$BZ$39:$CD$39</c:f>
              <c:numCache>
                <c:formatCode>0.00_);[Red]\(0.00\)</c:formatCode>
                <c:ptCount val="5"/>
                <c:pt idx="0">
                  <c:v>3.9285714285714284</c:v>
                </c:pt>
                <c:pt idx="1">
                  <c:v>4.0714285714285712</c:v>
                </c:pt>
                <c:pt idx="2">
                  <c:v>3.7857142857142856</c:v>
                </c:pt>
                <c:pt idx="3">
                  <c:v>3.6428571428571428</c:v>
                </c:pt>
                <c:pt idx="4">
                  <c:v>3.8571428571428572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E9-497B-948B-82E9FCCB76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5283472"/>
        <c:axId val="435274848"/>
      </c:barChart>
      <c:catAx>
        <c:axId val="43528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4848"/>
        <c:crosses val="autoZero"/>
        <c:auto val="1"/>
        <c:lblAlgn val="ctr"/>
        <c:lblOffset val="100"/>
        <c:noMultiLvlLbl val="0"/>
      </c:catAx>
      <c:valAx>
        <c:axId val="435274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83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상위집단</c:v>
                </c:pt>
                <c:pt idx="1">
                  <c:v>제조 50인이상 100인미만  </c:v>
                </c:pt>
                <c:pt idx="2">
                  <c:v>조직몰입 평균</c:v>
                </c:pt>
                <c:pt idx="3">
                  <c:v>Q1. 나는 우리 직장의 문제를 내 문제처럼 느낀다.</c:v>
                </c:pt>
                <c:pt idx="4">
                  <c:v>Q2. 나는 우리 조직에 강한 소속감을 느끼고 있다.</c:v>
                </c:pt>
                <c:pt idx="5">
                  <c:v>Q3. 나는 이 조직에 애착을 느끼고 있다.</c:v>
                </c:pt>
                <c:pt idx="6">
                  <c:v>Q4. 나는 이 조직을 가족처럼 느끼고 있다.</c:v>
                </c:pt>
                <c:pt idx="7">
                  <c:v>Q5. 이 조직은 나에게 개인적으로 상당한 의미가 있다.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3.34</c:v>
                </c:pt>
                <c:pt idx="1">
                  <c:v>3.34</c:v>
                </c:pt>
                <c:pt idx="2">
                  <c:v>3.34</c:v>
                </c:pt>
                <c:pt idx="3">
                  <c:v>3.34</c:v>
                </c:pt>
                <c:pt idx="4">
                  <c:v>3.34</c:v>
                </c:pt>
                <c:pt idx="5">
                  <c:v>3.34</c:v>
                </c:pt>
                <c:pt idx="6">
                  <c:v>3.34</c:v>
                </c:pt>
                <c:pt idx="7">
                  <c:v>3.34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ED-4159-9AC0-AA0DD7F087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5272104"/>
        <c:axId val="435276416"/>
      </c:barChart>
      <c:catAx>
        <c:axId val="435272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435276416"/>
        <c:crosses val="autoZero"/>
        <c:auto val="1"/>
        <c:lblAlgn val="ctr"/>
        <c:lblOffset val="100"/>
        <c:noMultiLvlLbl val="0"/>
      </c:catAx>
      <c:valAx>
        <c:axId val="435276416"/>
        <c:scaling>
          <c:orientation val="minMax"/>
          <c:max val="5"/>
          <c:min val="1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2104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이직의도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0E7-4960-AC72-2399FF48DF5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0E7-4960-AC72-2399FF48DF5D}"/>
              </c:ext>
            </c:extLst>
          </c:dPt>
          <c:dLbls>
            <c:dLbl>
              <c:idx val="0"/>
              <c:layout>
                <c:manualLayout>
                  <c:x val="-0.1443532859127106"/>
                  <c:y val="9.205219867038934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0E7-4960-AC72-2399FF48DF5D}"/>
                </c:ext>
              </c:extLst>
            </c:dLbl>
            <c:dLbl>
              <c:idx val="1"/>
              <c:layout>
                <c:manualLayout>
                  <c:x val="0.16961511094743487"/>
                  <c:y val="-9.94163745640204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E7-4960-AC72-2399FF48DF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'항목별 분석'!$CD$35:$CD$36</c:f>
              <c:strCache>
                <c:ptCount val="2"/>
                <c:pt idx="0">
                  <c:v>예</c:v>
                </c:pt>
                <c:pt idx="1">
                  <c:v>아니오</c:v>
                </c:pt>
              </c:strCache>
            </c:strRef>
          </c:cat>
          <c:val>
            <c:numRef>
              <c:f>'항목별 분석'!$CE$35:$CE$36</c:f>
              <c:numCache>
                <c:formatCode>0%</c:formatCode>
                <c:ptCount val="2"/>
                <c:pt idx="0">
                  <c:v>0.33333333333333331</c:v>
                </c:pt>
                <c:pt idx="1">
                  <c:v>0.66666666666666663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E7-4960-AC72-2399FF48DF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'[(분석)2025^120일터혁신상생컨설팅^120통합진단^120설문지_주베이시스소프트 (version 1).xlsb.xlsx]Sheet3'!$C$34</c:f>
              <c:strCache>
                <c:ptCount val="1"/>
                <c:pt idx="0">
                  <c:v>이직할 의향이 있다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'[(분석)2025^120일터혁신상생컨설팅^120통합진단^120설문지_주베이시스소프트 (version 1).xlsb.xlsx]Sheet3'!$B$35:$B$36</c:f>
              <c:strCache>
                <c:ptCount val="2"/>
                <c:pt idx="0">
                  <c:v>사원~대리</c:v>
                </c:pt>
                <c:pt idx="1">
                  <c:v>과장이상</c:v>
                </c:pt>
              </c:strCache>
            </c:strRef>
          </c:cat>
          <c:val>
            <c:numRef>
              <c:f>'[(분석)2025^120일터혁신상생컨설팅^120통합진단^120설문지_주베이시스소프트 (version 1).xlsb.xlsx]Sheet3'!$C$35:$C$36</c:f>
              <c:numCache>
                <c:formatCode>0%</c:formatCode>
                <c:ptCount val="2"/>
                <c:pt idx="0">
                  <c:v>0.33333333333333331</c:v>
                </c:pt>
                <c:pt idx="1">
                  <c:v>0.2857142857142857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64-4F1A-A811-0DBDA9B347C8}"/>
            </c:ext>
          </c:extLst>
        </c:ser>
        <c:ser>
          <c:idx val="1"/>
          <c:order val="1"/>
          <c:tx>
            <c:strRef>
              <c:f>'[(분석)2025^120일터혁신상생컨설팅^120통합진단^120설문지_주베이시스소프트 (version 1).xlsb.xlsx]Sheet3'!$D$34</c:f>
              <c:strCache>
                <c:ptCount val="1"/>
                <c:pt idx="0">
                  <c:v>이직할 의향이 없다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'[(분석)2025^120일터혁신상생컨설팅^120통합진단^120설문지_주베이시스소프트 (version 1).xlsb.xlsx]Sheet3'!$B$35:$B$36</c:f>
              <c:strCache>
                <c:ptCount val="2"/>
                <c:pt idx="0">
                  <c:v>사원~대리</c:v>
                </c:pt>
                <c:pt idx="1">
                  <c:v>과장이상</c:v>
                </c:pt>
              </c:strCache>
            </c:strRef>
          </c:cat>
          <c:val>
            <c:numRef>
              <c:f>'[(분석)2025^120일터혁신상생컨설팅^120통합진단^120설문지_주베이시스소프트 (version 1).xlsb.xlsx]Sheet3'!$D$35:$D$36</c:f>
              <c:numCache>
                <c:formatCode>0%</c:formatCode>
                <c:ptCount val="2"/>
                <c:pt idx="0">
                  <c:v>0.66666666666666663</c:v>
                </c:pt>
                <c:pt idx="1">
                  <c:v>0.7142857142857143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64-4F1A-A811-0DBDA9B347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5277200"/>
        <c:axId val="435279944"/>
      </c:barChart>
      <c:catAx>
        <c:axId val="435277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9944"/>
        <c:crosses val="autoZero"/>
        <c:auto val="1"/>
        <c:lblAlgn val="ctr"/>
        <c:lblOffset val="100"/>
        <c:noMultiLvlLbl val="0"/>
      </c:catAx>
      <c:valAx>
        <c:axId val="435279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7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'[(분석)2025^120일터혁신상생컨설팅^120통합진단^120설문지_주베이시스소프트 (version 1).xlsb.xlsx]항목별 분석'!$B$38</c:f>
              <c:strCache>
                <c:ptCount val="1"/>
                <c:pt idx="0">
                  <c:v>사원~대리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'[(분석)2025^120일터혁신상생컨설팅^120통합진단^120설문지_주베이시스소프트 (version 1).xlsb.xlsx]항목별 분석'!$CO$37:$CT$37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'[(분석)2025^120일터혁신상생컨설팅^120통합진단^120설문지_주베이시스소프트 (version 1).xlsb.xlsx]항목별 분석'!$CO$38:$CT$38</c:f>
              <c:numCache>
                <c:formatCode>0.00_);[Red]\(0.00\)</c:formatCode>
                <c:ptCount val="6"/>
                <c:pt idx="0">
                  <c:v>3.75</c:v>
                </c:pt>
                <c:pt idx="1">
                  <c:v>4.333333333333333</c:v>
                </c:pt>
                <c:pt idx="2">
                  <c:v>4.166666666666667</c:v>
                </c:pt>
                <c:pt idx="3">
                  <c:v>3.9166666666666665</c:v>
                </c:pt>
                <c:pt idx="4">
                  <c:v>4.416666666666667</c:v>
                </c:pt>
                <c:pt idx="5">
                  <c:v>4.333333333333333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4A-41C0-983A-CB20BDE8AC12}"/>
            </c:ext>
          </c:extLst>
        </c:ser>
        <c:ser>
          <c:idx val="1"/>
          <c:order val="1"/>
          <c:tx>
            <c:strRef>
              <c:f>'[(분석)2025^120일터혁신상생컨설팅^120통합진단^120설문지_주베이시스소프트 (version 1).xlsb.xlsx]항목별 분석'!$B$39</c:f>
              <c:strCache>
                <c:ptCount val="1"/>
                <c:pt idx="0">
                  <c:v>과장 이상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'[(분석)2025^120일터혁신상생컨설팅^120통합진단^120설문지_주베이시스소프트 (version 1).xlsb.xlsx]항목별 분석'!$CO$37:$CT$37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'[(분석)2025^120일터혁신상생컨설팅^120통합진단^120설문지_주베이시스소프트 (version 1).xlsb.xlsx]항목별 분석'!$CO$39:$CT$39</c:f>
              <c:numCache>
                <c:formatCode>0.00_);[Red]\(0.00\)</c:formatCode>
                <c:ptCount val="6"/>
                <c:pt idx="0">
                  <c:v>3.7142857142857144</c:v>
                </c:pt>
                <c:pt idx="1">
                  <c:v>3.9285714285714284</c:v>
                </c:pt>
                <c:pt idx="2">
                  <c:v>3.3571428571428572</c:v>
                </c:pt>
                <c:pt idx="3">
                  <c:v>3.2857142857142856</c:v>
                </c:pt>
                <c:pt idx="4">
                  <c:v>3.7142857142857144</c:v>
                </c:pt>
                <c:pt idx="5">
                  <c:v>3.7857142857142856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4A-41C0-983A-CB20BDE8AC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5272496"/>
        <c:axId val="435277592"/>
      </c:barChart>
      <c:catAx>
        <c:axId val="43527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7592"/>
        <c:crosses val="autoZero"/>
        <c:auto val="1"/>
        <c:lblAlgn val="ctr"/>
        <c:lblOffset val="100"/>
        <c:noMultiLvlLbl val="0"/>
      </c:catAx>
      <c:valAx>
        <c:axId val="435277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>
                <a:solidFill>
                  <a:schemeClr val="bg2"/>
                </a:solidFill>
              </a:rPr>
              <a:t>세부 문항 분석</a:t>
            </a:r>
            <a:endParaRPr lang="en-US" altLang="ko-KR" dirty="0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30188460899585834"/>
          <c:y val="1.69333333333333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52685348731884063"/>
          <c:y val="0.10707511111111111"/>
          <c:w val="0.22436661668098451"/>
          <c:h val="0.830977111111111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직무만족 평균</c:v>
                </c:pt>
                <c:pt idx="3">
                  <c:v>Q1. 나는 내 직무에서 진정한 즐거움을 찾는다.</c:v>
                </c:pt>
                <c:pt idx="4">
                  <c:v>Q2. 나는 일반적인 직무보다 내 직무가 더 좋다.</c:v>
                </c:pt>
                <c:pt idx="5">
                  <c:v>Q3. 나는 내 직무에서 좀처럼 지루함을 느끼지 않는다.</c:v>
                </c:pt>
                <c:pt idx="6">
                  <c:v>Q4. 나는 다른 직무로 바꿀 생각이 없다.</c:v>
                </c:pt>
                <c:pt idx="7">
                  <c:v>Q5. 대부분의 날, 나는 내 일에 열정적이다.</c:v>
                </c:pt>
                <c:pt idx="8">
                  <c:v>Q6. 나는 내 직무에 만족한다.</c:v>
                </c:pt>
              </c:strCache>
            </c:strRef>
          </c:cat>
          <c:val>
            <c:numRef>
              <c:f>Sheet1!$B$2:$B$10</c:f>
              <c:numCache>
                <c:formatCode>0.00_ </c:formatCode>
                <c:ptCount val="9"/>
                <c:pt idx="0">
                  <c:v>4.1500000000000004</c:v>
                </c:pt>
                <c:pt idx="1">
                  <c:v>3.69</c:v>
                </c:pt>
                <c:pt idx="2">
                  <c:v>3.8333333333333335</c:v>
                </c:pt>
                <c:pt idx="3">
                  <c:v>3.7037037037037037</c:v>
                </c:pt>
                <c:pt idx="4">
                  <c:v>4.0740740740740744</c:v>
                </c:pt>
                <c:pt idx="5">
                  <c:v>3.7037037037037037</c:v>
                </c:pt>
                <c:pt idx="6">
                  <c:v>3.5185185185185186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12-44DD-AAC7-5715248C53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당사 종합 평균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rgbClr val="FF6900">
                    <a:alpha val="50000"/>
                  </a:srgbClr>
                </a:solidFill>
                <a:prstDash val="solid"/>
              </a:ln>
              <a:effectLst/>
            </c:spPr>
            <c:trendlineType val="linear"/>
            <c:forward val="0.5"/>
            <c:backward val="0.5"/>
            <c:dispRSqr val="0"/>
            <c:dispEq val="1"/>
            <c:trendlineLbl>
              <c:layout>
                <c:manualLayout>
                  <c:x val="6.6763555146140255E-2"/>
                  <c:y val="4.537933333333333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1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ko-KR" i="1" baseline="0" dirty="0"/>
                      <a:t>(</a:t>
                    </a:r>
                    <a:r>
                      <a:rPr lang="ko-KR" altLang="en-US" i="1" baseline="0" dirty="0"/>
                      <a:t>3.5</a:t>
                    </a:r>
                    <a:r>
                      <a:rPr lang="en-US" altLang="ko-KR" i="1" baseline="0" dirty="0"/>
                      <a:t>7)</a:t>
                    </a:r>
                    <a:endParaRPr lang="ko-KR" altLang="en-US" i="1" dirty="0"/>
                  </a:p>
                </c:rich>
              </c:tx>
              <c:numFmt formatCode="#,##0.00_);[Red]\(#,##0.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1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</c:trendlineLbl>
          </c:trendline>
          <c:cat>
            <c:strRef>
              <c:f>Sheet1!$A$2:$A$10</c:f>
              <c:strCache>
                <c:ptCount val="9"/>
                <c:pt idx="0">
                  <c:v>상위집단</c:v>
                </c:pt>
                <c:pt idx="1">
                  <c:v>50인 미만 정보통신업</c:v>
                </c:pt>
                <c:pt idx="2">
                  <c:v>직무만족 평균</c:v>
                </c:pt>
                <c:pt idx="3">
                  <c:v>Q1. 나는 내 직무에서 진정한 즐거움을 찾는다.</c:v>
                </c:pt>
                <c:pt idx="4">
                  <c:v>Q2. 나는 일반적인 직무보다 내 직무가 더 좋다.</c:v>
                </c:pt>
                <c:pt idx="5">
                  <c:v>Q3. 나는 내 직무에서 좀처럼 지루함을 느끼지 않는다.</c:v>
                </c:pt>
                <c:pt idx="6">
                  <c:v>Q4. 나는 다른 직무로 바꿀 생각이 없다.</c:v>
                </c:pt>
                <c:pt idx="7">
                  <c:v>Q5. 대부분의 날, 나는 내 일에 열정적이다.</c:v>
                </c:pt>
                <c:pt idx="8">
                  <c:v>Q6. 나는 내 직무에 만족한다.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3.57</c:v>
                </c:pt>
                <c:pt idx="1">
                  <c:v>3.57</c:v>
                </c:pt>
                <c:pt idx="2">
                  <c:v>3.57</c:v>
                </c:pt>
                <c:pt idx="3">
                  <c:v>3.57</c:v>
                </c:pt>
                <c:pt idx="4">
                  <c:v>3.57</c:v>
                </c:pt>
                <c:pt idx="5">
                  <c:v>3.57</c:v>
                </c:pt>
                <c:pt idx="6">
                  <c:v>3.57</c:v>
                </c:pt>
                <c:pt idx="7">
                  <c:v>3.57</c:v>
                </c:pt>
                <c:pt idx="8">
                  <c:v>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12-44DD-AAC7-5715248C53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85"/>
        <c:axId val="435277984"/>
        <c:axId val="435273672"/>
      </c:barChart>
      <c:catAx>
        <c:axId val="43527798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r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3672"/>
        <c:crosses val="autoZero"/>
        <c:auto val="1"/>
        <c:lblAlgn val="ctr"/>
        <c:lblOffset val="100"/>
        <c:noMultiLvlLbl val="0"/>
      </c:catAx>
      <c:valAx>
        <c:axId val="435273672"/>
        <c:scaling>
          <c:orientation val="minMax"/>
          <c:max val="5"/>
          <c:min val="1"/>
        </c:scaling>
        <c:delete val="0"/>
        <c:axPos val="t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.0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27798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3175"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55세 이상</cx:pt>
          <cx:pt idx="1">50~54세</cx:pt>
          <cx:pt idx="2">45~49세</cx:pt>
          <cx:pt idx="3">40~44세</cx:pt>
          <cx:pt idx="4">35~39세</cx:pt>
          <cx:pt idx="5">30~34세</cx:pt>
          <cx:pt idx="6">25~29세</cx:pt>
          <cx:pt idx="7">20~24세</cx:pt>
        </cx:lvl>
      </cx:strDim>
      <cx:numDim type="val">
        <cx:f>Sheet1!$B$2:$B$9</cx:f>
        <cx:lvl ptCount="8" formatCode="0%"/>
      </cx:numDim>
    </cx:data>
  </cx:chartData>
  <cx:chart>
    <cx:plotArea>
      <cx:plotAreaRegion>
        <cx:series layoutId="funnel" uniqueId="{F1583053-E8CA-4828-B4B1-52E08A4F9CD2}" formatIdx="0">
          <cx:tx>
            <cx:txData>
              <cx:f>Sheet1!$B$1</cx:f>
              <cx:v>계열 1</cx:v>
            </cx:txData>
          </cx:tx>
          <cx:spPr>
            <a:gradFill flip="none" rotWithShape="1"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175">
              <a:solidFill>
                <a:schemeClr val="tx1"/>
              </a:solidFill>
            </a:ln>
          </cx:spPr>
          <cx:dataLabels>
            <cx:numFmt formatCode="0.0%" sourceLinked="0"/>
            <cx:txPr>
              <a:bodyPr vertOverflow="overflow" horzOverflow="overflow" wrap="square" lIns="0" tIns="0" rIns="0" bIns="0"/>
              <a:lstStyle/>
              <a:p>
                <a:pPr algn="ctr" rtl="0">
                  <a:defRPr sz="10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  <a:cs typeface="나눔바른고딕" panose="020B0603020101020101" pitchFamily="50" charset="-127"/>
                  </a:defRPr>
                </a:pPr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cx:txPr>
            <cx:visibility seriesName="0" categoryName="0" value="1"/>
            <cx:separator>, </cx:separator>
          </cx:dataLabels>
          <cx:dataId val="0"/>
        </cx:series>
      </cx:plotAreaRegion>
      <cx:axis id="0">
        <cx:catScaling gapWidth="0.5"/>
        <cx:tickLabels/>
        <cx:spPr>
          <a:ln>
            <a:noFill/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1000" b="0" i="0">
                <a:solidFill>
                  <a:schemeClr val="tx1"/>
                </a:solidFill>
                <a:latin typeface="+mn-ea"/>
                <a:ea typeface="+mn-ea"/>
                <a:cs typeface="나눔바른고딕" panose="020B0603020101020101" pitchFamily="50" charset="-127"/>
              </a:defRPr>
            </a:pPr>
            <a:endParaRPr lang="ko-KR" altLang="en-US" sz="1000">
              <a:solidFill>
                <a:schemeClr val="tx1"/>
              </a:solidFill>
              <a:latin typeface="+mn-ea"/>
              <a:ea typeface="+mn-ea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182CAA56-A966-4D39-8F20-FCFEC8979C7D}" type="datetimeFigureOut">
              <a:rPr lang="ko-KR" altLang="en-US" smtClean="0"/>
              <a:pPr/>
              <a:t>2025-11-11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A2FEDF01-CF25-4FBF-955F-214D98A2E1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671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410B-0389-47CE-8094-3801C566B427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208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FEDF01-CF25-4FBF-955F-214D98A2E17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575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159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060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F5B15-F356-29DF-F0BF-65D88873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0138BC-6C03-F28B-FB2A-8FA3B6011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8DF88E-0B3C-3B00-00F7-F29F4E88D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B69024-F32F-E890-BF26-A745D324C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420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963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FD39-AC8F-953C-4925-D3541E2D1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D5F57A-7397-354A-7B41-FC9B23F62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BCD1C0-35EF-B191-61BB-9D9AF9DE9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ED4F15-9692-EDF2-5C4C-E8825F1DE6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150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1576-A5A0-4C2E-D594-1BA2433C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960C6E-206E-0A5F-1B7E-3BA0BD3E5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D642A4-1639-D1F1-B396-79D3EEF81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BED880-BFA3-704A-7F07-EBAC9A252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173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F2AF-129B-F5A7-684C-38375F29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B255A4-4A91-9249-BD64-E7128E1F9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B4702-80D5-B98B-CBD2-B73075780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D7ED9A-9CB7-214C-40BE-7F1AD84BC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074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8E420-2B10-406F-08F9-2D7227993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EB9516-12D3-03AD-20D1-02EF06E15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63A63C-21C2-3A1E-727C-23BD1F9F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1355A1-29D4-0F24-E4EF-F6FE8004FD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557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410B-0389-47CE-8094-3801C566B42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7299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132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4B78-6C06-7E7C-B1AF-CE12FE1B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CCAFC7-40F4-16DC-30D9-98DF65080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9EF63D-B029-01A2-EB67-D03A8E8F2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A422CD-48E4-94AA-4B5D-8DE52506A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8660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FBBD-886F-27B2-1D37-2CACF386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A19E45-B6DC-B4AB-0D33-6FD3B4377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BA193F-D1EB-B847-1EEA-83342EBE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F6047-027E-E63C-7DE7-33420931D1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73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40F8B-EF24-B9FC-5FD2-D08AFF11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57005A-929D-F8E3-B12D-3CD1565AF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E350E5-B3F8-237E-A777-EC403F659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11E9AF-C0DD-067A-EBA1-7E4DB7D0EB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608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4D61F-FCA4-D7E3-9A79-E1F16C222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57E8C1-2E2A-DA0A-6D66-863F067F2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93B428-BCFC-4342-D2C0-33DF03FB2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F56193-7072-3E15-D2EE-CEAD4A6202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303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285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872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379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7341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0831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5677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F2A3D-EA76-EA58-F898-36121D6C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45DCE8-7B63-56F8-6338-82B11E543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5727D8-6535-AF67-3894-A61A083F7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378FCF-B07F-555B-22B0-749D62EF8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448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9DFD7-B61B-194E-97B4-93416D7E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B3D99B-7413-4A19-CBB1-D3C642425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8D21C6-EC79-F41E-797E-26F9E2BD9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984A5-A49B-4967-9F0F-CEA565A8C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1207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E4EA2-2648-D5AB-17B4-8AF148E4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50D143-02A6-AE84-E54A-07B3DB0BF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E9676D-1CEB-F7E0-6EA0-D24F19D59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6CD084-DBF0-4521-8EA7-6660E58C3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7132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E0B1-624B-62BB-3342-6BB622526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13837F-65B1-944D-F259-F0758E516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210E6A-951D-BD1D-4D84-435806888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490F63-3F94-CFD6-FE7C-92604FD5A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814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A8A4A-B0F3-0977-17B5-A90CAD04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11009F-5A8E-879A-DC62-D9E81634F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2DF908-52D2-1B43-56F3-53460D598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8DE7DB-4705-DF50-6DD2-1C427564A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4085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B5BF-0B06-297A-F174-411AD8C90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4EACAA-F7D9-F7FB-3C30-E814C7AFE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E62BB7-AC5B-60B9-ABDD-1B1D71CE0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4AAFD-0CED-E066-1D7C-A7F4D1A2A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5005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CAB75-829F-BF4D-8C9F-4F41803F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9B4DFF-00C6-E136-92B9-375A87490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16A7AC-09B1-B064-D75F-D432EFA76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C2DABB-B614-E012-EB28-BAFB29B81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1782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86AC-07EF-89A6-5FD8-5574CC1E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DB6CC0-2F7D-C115-C3E4-60C0150A3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A07207-C159-DD06-CD85-C8497F65F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8AEFE2-0140-099C-7A15-5325EDABD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734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FEDF01-CF25-4FBF-955F-214D98A2E17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2982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410B-0389-47CE-8094-3801C566B42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01599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410B-0389-47CE-8094-3801C566B42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24069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CD1F0-AED9-A29A-8F1C-694B81D4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09F505-0B7F-87B3-900B-DA916D8BC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377DA4-2095-F0DE-D1B9-5D9DF8601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8983B-BE16-0D2D-1515-9584FCCB1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410B-0389-47CE-8094-3801C566B427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2274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4413-BAC4-659A-9822-9418D83A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116735-DEA5-62E6-F048-9494D5EF6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29EEDA-BBB6-4C19-F9D2-C2455D955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C7687-889D-A4CF-BAAE-8650E947D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410B-0389-47CE-8094-3801C566B427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430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61443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D410B-0389-47CE-8094-3801C566B42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 panose="020F0502020204030204"/>
                <a:ea typeface="나눔바른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F0502020204030204"/>
              <a:ea typeface="나눔바른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4812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126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57380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130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21353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131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27567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133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9359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135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09583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DF01-CF25-4FBF-955F-214D98A2E17D}" type="slidenum">
              <a:rPr lang="ko-KR" altLang="en-US" smtClean="0"/>
              <a:pPr/>
              <a:t>136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3809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36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아이콘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B087BAD-58E3-480B-ACD7-D7FAA6A3DC0A}"/>
              </a:ext>
            </a:extLst>
          </p:cNvPr>
          <p:cNvGrpSpPr/>
          <p:nvPr userDrawn="1"/>
        </p:nvGrpSpPr>
        <p:grpSpPr bwMode="gray">
          <a:xfrm>
            <a:off x="5763090" y="2282012"/>
            <a:ext cx="222887" cy="225523"/>
            <a:chOff x="7334250" y="3847786"/>
            <a:chExt cx="222887" cy="225523"/>
          </a:xfrm>
        </p:grpSpPr>
        <p:sp>
          <p:nvSpPr>
            <p:cNvPr id="3" name="Oval 274">
              <a:extLst>
                <a:ext uri="{FF2B5EF4-FFF2-40B4-BE49-F238E27FC236}">
                  <a16:creationId xmlns:a16="http://schemas.microsoft.com/office/drawing/2014/main" id="{8D62D622-85A1-4B52-809E-4825CDB5ACF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334250" y="3847786"/>
              <a:ext cx="222887" cy="225523"/>
            </a:xfrm>
            <a:prstGeom prst="ellipse">
              <a:avLst/>
            </a:prstGeom>
            <a:solidFill>
              <a:srgbClr val="17365D"/>
            </a:solidFill>
            <a:ln w="19050">
              <a:solidFill>
                <a:sysClr val="window" lastClr="FFFFFF"/>
              </a:solidFill>
            </a:ln>
          </p:spPr>
          <p:txBody>
            <a:bodyPr lIns="40116" tIns="40116" rIns="40116" bIns="40116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0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  <p:sp>
          <p:nvSpPr>
            <p:cNvPr id="4" name="Freeform 802">
              <a:extLst>
                <a:ext uri="{FF2B5EF4-FFF2-40B4-BE49-F238E27FC236}">
                  <a16:creationId xmlns:a16="http://schemas.microsoft.com/office/drawing/2014/main" id="{05D38DF0-9EB0-43D2-983E-471BC52FD1BC}"/>
                </a:ext>
              </a:extLst>
            </p:cNvPr>
            <p:cNvSpPr>
              <a:spLocks/>
            </p:cNvSpPr>
            <p:nvPr/>
          </p:nvSpPr>
          <p:spPr bwMode="gray">
            <a:xfrm>
              <a:off x="7410273" y="3893758"/>
              <a:ext cx="88118" cy="133579"/>
            </a:xfrm>
            <a:custGeom>
              <a:avLst/>
              <a:gdLst>
                <a:gd name="T0" fmla="*/ 89 w 246"/>
                <a:gd name="T1" fmla="*/ 790 h 374"/>
                <a:gd name="T2" fmla="*/ 89 w 246"/>
                <a:gd name="T3" fmla="*/ 790 h 374"/>
                <a:gd name="T4" fmla="*/ 73 w 246"/>
                <a:gd name="T5" fmla="*/ 790 h 374"/>
                <a:gd name="T6" fmla="*/ 60 w 246"/>
                <a:gd name="T7" fmla="*/ 786 h 374"/>
                <a:gd name="T8" fmla="*/ 44 w 246"/>
                <a:gd name="T9" fmla="*/ 777 h 374"/>
                <a:gd name="T10" fmla="*/ 32 w 246"/>
                <a:gd name="T11" fmla="*/ 765 h 374"/>
                <a:gd name="T12" fmla="*/ 32 w 246"/>
                <a:gd name="T13" fmla="*/ 765 h 374"/>
                <a:gd name="T14" fmla="*/ 20 w 246"/>
                <a:gd name="T15" fmla="*/ 752 h 374"/>
                <a:gd name="T16" fmla="*/ 16 w 246"/>
                <a:gd name="T17" fmla="*/ 739 h 374"/>
                <a:gd name="T18" fmla="*/ 12 w 246"/>
                <a:gd name="T19" fmla="*/ 722 h 374"/>
                <a:gd name="T20" fmla="*/ 8 w 246"/>
                <a:gd name="T21" fmla="*/ 706 h 374"/>
                <a:gd name="T22" fmla="*/ 12 w 246"/>
                <a:gd name="T23" fmla="*/ 689 h 374"/>
                <a:gd name="T24" fmla="*/ 16 w 246"/>
                <a:gd name="T25" fmla="*/ 672 h 374"/>
                <a:gd name="T26" fmla="*/ 24 w 246"/>
                <a:gd name="T27" fmla="*/ 659 h 374"/>
                <a:gd name="T28" fmla="*/ 36 w 246"/>
                <a:gd name="T29" fmla="*/ 647 h 374"/>
                <a:gd name="T30" fmla="*/ 294 w 246"/>
                <a:gd name="T31" fmla="*/ 389 h 374"/>
                <a:gd name="T32" fmla="*/ 28 w 246"/>
                <a:gd name="T33" fmla="*/ 148 h 374"/>
                <a:gd name="T34" fmla="*/ 28 w 246"/>
                <a:gd name="T35" fmla="*/ 148 h 374"/>
                <a:gd name="T36" fmla="*/ 16 w 246"/>
                <a:gd name="T37" fmla="*/ 135 h 374"/>
                <a:gd name="T38" fmla="*/ 8 w 246"/>
                <a:gd name="T39" fmla="*/ 118 h 374"/>
                <a:gd name="T40" fmla="*/ 0 w 246"/>
                <a:gd name="T41" fmla="*/ 106 h 374"/>
                <a:gd name="T42" fmla="*/ 0 w 246"/>
                <a:gd name="T43" fmla="*/ 89 h 374"/>
                <a:gd name="T44" fmla="*/ 0 w 246"/>
                <a:gd name="T45" fmla="*/ 72 h 374"/>
                <a:gd name="T46" fmla="*/ 4 w 246"/>
                <a:gd name="T47" fmla="*/ 55 h 374"/>
                <a:gd name="T48" fmla="*/ 8 w 246"/>
                <a:gd name="T49" fmla="*/ 42 h 374"/>
                <a:gd name="T50" fmla="*/ 16 w 246"/>
                <a:gd name="T51" fmla="*/ 25 h 374"/>
                <a:gd name="T52" fmla="*/ 16 w 246"/>
                <a:gd name="T53" fmla="*/ 25 h 374"/>
                <a:gd name="T54" fmla="*/ 28 w 246"/>
                <a:gd name="T55" fmla="*/ 17 h 374"/>
                <a:gd name="T56" fmla="*/ 44 w 246"/>
                <a:gd name="T57" fmla="*/ 8 h 374"/>
                <a:gd name="T58" fmla="*/ 56 w 246"/>
                <a:gd name="T59" fmla="*/ 0 h 374"/>
                <a:gd name="T60" fmla="*/ 73 w 246"/>
                <a:gd name="T61" fmla="*/ 0 h 374"/>
                <a:gd name="T62" fmla="*/ 89 w 246"/>
                <a:gd name="T63" fmla="*/ 0 h 374"/>
                <a:gd name="T64" fmla="*/ 105 w 246"/>
                <a:gd name="T65" fmla="*/ 0 h 374"/>
                <a:gd name="T66" fmla="*/ 117 w 246"/>
                <a:gd name="T67" fmla="*/ 8 h 374"/>
                <a:gd name="T68" fmla="*/ 133 w 246"/>
                <a:gd name="T69" fmla="*/ 17 h 374"/>
                <a:gd name="T70" fmla="*/ 467 w 246"/>
                <a:gd name="T71" fmla="*/ 321 h 374"/>
                <a:gd name="T72" fmla="*/ 467 w 246"/>
                <a:gd name="T73" fmla="*/ 321 h 374"/>
                <a:gd name="T74" fmla="*/ 479 w 246"/>
                <a:gd name="T75" fmla="*/ 334 h 374"/>
                <a:gd name="T76" fmla="*/ 487 w 246"/>
                <a:gd name="T77" fmla="*/ 346 h 374"/>
                <a:gd name="T78" fmla="*/ 491 w 246"/>
                <a:gd name="T79" fmla="*/ 363 h 374"/>
                <a:gd name="T80" fmla="*/ 495 w 246"/>
                <a:gd name="T81" fmla="*/ 380 h 374"/>
                <a:gd name="T82" fmla="*/ 495 w 246"/>
                <a:gd name="T83" fmla="*/ 380 h 374"/>
                <a:gd name="T84" fmla="*/ 495 w 246"/>
                <a:gd name="T85" fmla="*/ 397 h 374"/>
                <a:gd name="T86" fmla="*/ 487 w 246"/>
                <a:gd name="T87" fmla="*/ 414 h 374"/>
                <a:gd name="T88" fmla="*/ 483 w 246"/>
                <a:gd name="T89" fmla="*/ 431 h 374"/>
                <a:gd name="T90" fmla="*/ 471 w 246"/>
                <a:gd name="T91" fmla="*/ 444 h 374"/>
                <a:gd name="T92" fmla="*/ 145 w 246"/>
                <a:gd name="T93" fmla="*/ 769 h 374"/>
                <a:gd name="T94" fmla="*/ 145 w 246"/>
                <a:gd name="T95" fmla="*/ 769 h 374"/>
                <a:gd name="T96" fmla="*/ 133 w 246"/>
                <a:gd name="T97" fmla="*/ 777 h 374"/>
                <a:gd name="T98" fmla="*/ 121 w 246"/>
                <a:gd name="T99" fmla="*/ 786 h 374"/>
                <a:gd name="T100" fmla="*/ 105 w 246"/>
                <a:gd name="T101" fmla="*/ 790 h 374"/>
                <a:gd name="T102" fmla="*/ 89 w 246"/>
                <a:gd name="T103" fmla="*/ 790 h 374"/>
                <a:gd name="T104" fmla="*/ 89 w 246"/>
                <a:gd name="T105" fmla="*/ 790 h 37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6"/>
                <a:gd name="T160" fmla="*/ 0 h 374"/>
                <a:gd name="T161" fmla="*/ 246 w 246"/>
                <a:gd name="T162" fmla="*/ 374 h 37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6" h="374">
                  <a:moveTo>
                    <a:pt x="44" y="374"/>
                  </a:moveTo>
                  <a:lnTo>
                    <a:pt x="44" y="374"/>
                  </a:lnTo>
                  <a:lnTo>
                    <a:pt x="36" y="374"/>
                  </a:lnTo>
                  <a:lnTo>
                    <a:pt x="30" y="372"/>
                  </a:lnTo>
                  <a:lnTo>
                    <a:pt x="22" y="368"/>
                  </a:lnTo>
                  <a:lnTo>
                    <a:pt x="16" y="362"/>
                  </a:lnTo>
                  <a:lnTo>
                    <a:pt x="10" y="356"/>
                  </a:lnTo>
                  <a:lnTo>
                    <a:pt x="8" y="350"/>
                  </a:lnTo>
                  <a:lnTo>
                    <a:pt x="6" y="342"/>
                  </a:lnTo>
                  <a:lnTo>
                    <a:pt x="4" y="334"/>
                  </a:lnTo>
                  <a:lnTo>
                    <a:pt x="6" y="326"/>
                  </a:lnTo>
                  <a:lnTo>
                    <a:pt x="8" y="318"/>
                  </a:lnTo>
                  <a:lnTo>
                    <a:pt x="12" y="312"/>
                  </a:lnTo>
                  <a:lnTo>
                    <a:pt x="18" y="306"/>
                  </a:lnTo>
                  <a:lnTo>
                    <a:pt x="146" y="184"/>
                  </a:lnTo>
                  <a:lnTo>
                    <a:pt x="14" y="70"/>
                  </a:lnTo>
                  <a:lnTo>
                    <a:pt x="8" y="64"/>
                  </a:lnTo>
                  <a:lnTo>
                    <a:pt x="4" y="56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8" y="12"/>
                  </a:lnTo>
                  <a:lnTo>
                    <a:pt x="14" y="8"/>
                  </a:lnTo>
                  <a:lnTo>
                    <a:pt x="22" y="4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58" y="4"/>
                  </a:lnTo>
                  <a:lnTo>
                    <a:pt x="66" y="8"/>
                  </a:lnTo>
                  <a:lnTo>
                    <a:pt x="232" y="152"/>
                  </a:lnTo>
                  <a:lnTo>
                    <a:pt x="238" y="158"/>
                  </a:lnTo>
                  <a:lnTo>
                    <a:pt x="242" y="164"/>
                  </a:lnTo>
                  <a:lnTo>
                    <a:pt x="244" y="172"/>
                  </a:lnTo>
                  <a:lnTo>
                    <a:pt x="246" y="180"/>
                  </a:lnTo>
                  <a:lnTo>
                    <a:pt x="246" y="188"/>
                  </a:lnTo>
                  <a:lnTo>
                    <a:pt x="242" y="196"/>
                  </a:lnTo>
                  <a:lnTo>
                    <a:pt x="240" y="204"/>
                  </a:lnTo>
                  <a:lnTo>
                    <a:pt x="234" y="210"/>
                  </a:lnTo>
                  <a:lnTo>
                    <a:pt x="72" y="364"/>
                  </a:lnTo>
                  <a:lnTo>
                    <a:pt x="66" y="368"/>
                  </a:lnTo>
                  <a:lnTo>
                    <a:pt x="60" y="372"/>
                  </a:lnTo>
                  <a:lnTo>
                    <a:pt x="52" y="374"/>
                  </a:lnTo>
                  <a:lnTo>
                    <a:pt x="44" y="37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</p:grp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591B4C7-185B-4295-8E07-7064BC8F9E02}"/>
              </a:ext>
            </a:extLst>
          </p:cNvPr>
          <p:cNvSpPr/>
          <p:nvPr userDrawn="1"/>
        </p:nvSpPr>
        <p:spPr bwMode="gray">
          <a:xfrm>
            <a:off x="1927143" y="2347355"/>
            <a:ext cx="90000" cy="133578"/>
          </a:xfrm>
          <a:prstGeom prst="rightArrow">
            <a:avLst>
              <a:gd name="adj1" fmla="val 50000"/>
              <a:gd name="adj2" fmla="val 20188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DA1E99B-3BCC-4110-8587-8D847C9B7B01}"/>
              </a:ext>
            </a:extLst>
          </p:cNvPr>
          <p:cNvGrpSpPr/>
          <p:nvPr userDrawn="1"/>
        </p:nvGrpSpPr>
        <p:grpSpPr bwMode="gray">
          <a:xfrm>
            <a:off x="6039611" y="2282012"/>
            <a:ext cx="222887" cy="225523"/>
            <a:chOff x="1188771" y="3906774"/>
            <a:chExt cx="222887" cy="225523"/>
          </a:xfrm>
        </p:grpSpPr>
        <p:sp>
          <p:nvSpPr>
            <p:cNvPr id="10" name="Oval 274">
              <a:extLst>
                <a:ext uri="{FF2B5EF4-FFF2-40B4-BE49-F238E27FC236}">
                  <a16:creationId xmlns:a16="http://schemas.microsoft.com/office/drawing/2014/main" id="{1CB65221-B390-4128-81CB-E6432608E42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88771" y="3906774"/>
              <a:ext cx="222887" cy="22552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ysClr val="window" lastClr="FFFFFF"/>
              </a:solidFill>
            </a:ln>
          </p:spPr>
          <p:txBody>
            <a:bodyPr lIns="40116" tIns="40116" rIns="40116" bIns="40116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0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  <p:sp>
          <p:nvSpPr>
            <p:cNvPr id="11" name="Freeform 802">
              <a:extLst>
                <a:ext uri="{FF2B5EF4-FFF2-40B4-BE49-F238E27FC236}">
                  <a16:creationId xmlns:a16="http://schemas.microsoft.com/office/drawing/2014/main" id="{17962389-7B06-42EA-A738-0506CF8F2B60}"/>
                </a:ext>
              </a:extLst>
            </p:cNvPr>
            <p:cNvSpPr>
              <a:spLocks/>
            </p:cNvSpPr>
            <p:nvPr/>
          </p:nvSpPr>
          <p:spPr bwMode="gray">
            <a:xfrm>
              <a:off x="1264794" y="3952746"/>
              <a:ext cx="88118" cy="133579"/>
            </a:xfrm>
            <a:custGeom>
              <a:avLst/>
              <a:gdLst>
                <a:gd name="T0" fmla="*/ 89 w 246"/>
                <a:gd name="T1" fmla="*/ 790 h 374"/>
                <a:gd name="T2" fmla="*/ 89 w 246"/>
                <a:gd name="T3" fmla="*/ 790 h 374"/>
                <a:gd name="T4" fmla="*/ 73 w 246"/>
                <a:gd name="T5" fmla="*/ 790 h 374"/>
                <a:gd name="T6" fmla="*/ 60 w 246"/>
                <a:gd name="T7" fmla="*/ 786 h 374"/>
                <a:gd name="T8" fmla="*/ 44 w 246"/>
                <a:gd name="T9" fmla="*/ 777 h 374"/>
                <a:gd name="T10" fmla="*/ 32 w 246"/>
                <a:gd name="T11" fmla="*/ 765 h 374"/>
                <a:gd name="T12" fmla="*/ 32 w 246"/>
                <a:gd name="T13" fmla="*/ 765 h 374"/>
                <a:gd name="T14" fmla="*/ 20 w 246"/>
                <a:gd name="T15" fmla="*/ 752 h 374"/>
                <a:gd name="T16" fmla="*/ 16 w 246"/>
                <a:gd name="T17" fmla="*/ 739 h 374"/>
                <a:gd name="T18" fmla="*/ 12 w 246"/>
                <a:gd name="T19" fmla="*/ 722 h 374"/>
                <a:gd name="T20" fmla="*/ 8 w 246"/>
                <a:gd name="T21" fmla="*/ 706 h 374"/>
                <a:gd name="T22" fmla="*/ 12 w 246"/>
                <a:gd name="T23" fmla="*/ 689 h 374"/>
                <a:gd name="T24" fmla="*/ 16 w 246"/>
                <a:gd name="T25" fmla="*/ 672 h 374"/>
                <a:gd name="T26" fmla="*/ 24 w 246"/>
                <a:gd name="T27" fmla="*/ 659 h 374"/>
                <a:gd name="T28" fmla="*/ 36 w 246"/>
                <a:gd name="T29" fmla="*/ 647 h 374"/>
                <a:gd name="T30" fmla="*/ 294 w 246"/>
                <a:gd name="T31" fmla="*/ 389 h 374"/>
                <a:gd name="T32" fmla="*/ 28 w 246"/>
                <a:gd name="T33" fmla="*/ 148 h 374"/>
                <a:gd name="T34" fmla="*/ 28 w 246"/>
                <a:gd name="T35" fmla="*/ 148 h 374"/>
                <a:gd name="T36" fmla="*/ 16 w 246"/>
                <a:gd name="T37" fmla="*/ 135 h 374"/>
                <a:gd name="T38" fmla="*/ 8 w 246"/>
                <a:gd name="T39" fmla="*/ 118 h 374"/>
                <a:gd name="T40" fmla="*/ 0 w 246"/>
                <a:gd name="T41" fmla="*/ 106 h 374"/>
                <a:gd name="T42" fmla="*/ 0 w 246"/>
                <a:gd name="T43" fmla="*/ 89 h 374"/>
                <a:gd name="T44" fmla="*/ 0 w 246"/>
                <a:gd name="T45" fmla="*/ 72 h 374"/>
                <a:gd name="T46" fmla="*/ 4 w 246"/>
                <a:gd name="T47" fmla="*/ 55 h 374"/>
                <a:gd name="T48" fmla="*/ 8 w 246"/>
                <a:gd name="T49" fmla="*/ 42 h 374"/>
                <a:gd name="T50" fmla="*/ 16 w 246"/>
                <a:gd name="T51" fmla="*/ 25 h 374"/>
                <a:gd name="T52" fmla="*/ 16 w 246"/>
                <a:gd name="T53" fmla="*/ 25 h 374"/>
                <a:gd name="T54" fmla="*/ 28 w 246"/>
                <a:gd name="T55" fmla="*/ 17 h 374"/>
                <a:gd name="T56" fmla="*/ 44 w 246"/>
                <a:gd name="T57" fmla="*/ 8 h 374"/>
                <a:gd name="T58" fmla="*/ 56 w 246"/>
                <a:gd name="T59" fmla="*/ 0 h 374"/>
                <a:gd name="T60" fmla="*/ 73 w 246"/>
                <a:gd name="T61" fmla="*/ 0 h 374"/>
                <a:gd name="T62" fmla="*/ 89 w 246"/>
                <a:gd name="T63" fmla="*/ 0 h 374"/>
                <a:gd name="T64" fmla="*/ 105 w 246"/>
                <a:gd name="T65" fmla="*/ 0 h 374"/>
                <a:gd name="T66" fmla="*/ 117 w 246"/>
                <a:gd name="T67" fmla="*/ 8 h 374"/>
                <a:gd name="T68" fmla="*/ 133 w 246"/>
                <a:gd name="T69" fmla="*/ 17 h 374"/>
                <a:gd name="T70" fmla="*/ 467 w 246"/>
                <a:gd name="T71" fmla="*/ 321 h 374"/>
                <a:gd name="T72" fmla="*/ 467 w 246"/>
                <a:gd name="T73" fmla="*/ 321 h 374"/>
                <a:gd name="T74" fmla="*/ 479 w 246"/>
                <a:gd name="T75" fmla="*/ 334 h 374"/>
                <a:gd name="T76" fmla="*/ 487 w 246"/>
                <a:gd name="T77" fmla="*/ 346 h 374"/>
                <a:gd name="T78" fmla="*/ 491 w 246"/>
                <a:gd name="T79" fmla="*/ 363 h 374"/>
                <a:gd name="T80" fmla="*/ 495 w 246"/>
                <a:gd name="T81" fmla="*/ 380 h 374"/>
                <a:gd name="T82" fmla="*/ 495 w 246"/>
                <a:gd name="T83" fmla="*/ 380 h 374"/>
                <a:gd name="T84" fmla="*/ 495 w 246"/>
                <a:gd name="T85" fmla="*/ 397 h 374"/>
                <a:gd name="T86" fmla="*/ 487 w 246"/>
                <a:gd name="T87" fmla="*/ 414 h 374"/>
                <a:gd name="T88" fmla="*/ 483 w 246"/>
                <a:gd name="T89" fmla="*/ 431 h 374"/>
                <a:gd name="T90" fmla="*/ 471 w 246"/>
                <a:gd name="T91" fmla="*/ 444 h 374"/>
                <a:gd name="T92" fmla="*/ 145 w 246"/>
                <a:gd name="T93" fmla="*/ 769 h 374"/>
                <a:gd name="T94" fmla="*/ 145 w 246"/>
                <a:gd name="T95" fmla="*/ 769 h 374"/>
                <a:gd name="T96" fmla="*/ 133 w 246"/>
                <a:gd name="T97" fmla="*/ 777 h 374"/>
                <a:gd name="T98" fmla="*/ 121 w 246"/>
                <a:gd name="T99" fmla="*/ 786 h 374"/>
                <a:gd name="T100" fmla="*/ 105 w 246"/>
                <a:gd name="T101" fmla="*/ 790 h 374"/>
                <a:gd name="T102" fmla="*/ 89 w 246"/>
                <a:gd name="T103" fmla="*/ 790 h 374"/>
                <a:gd name="T104" fmla="*/ 89 w 246"/>
                <a:gd name="T105" fmla="*/ 790 h 37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6"/>
                <a:gd name="T160" fmla="*/ 0 h 374"/>
                <a:gd name="T161" fmla="*/ 246 w 246"/>
                <a:gd name="T162" fmla="*/ 374 h 37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6" h="374">
                  <a:moveTo>
                    <a:pt x="44" y="374"/>
                  </a:moveTo>
                  <a:lnTo>
                    <a:pt x="44" y="374"/>
                  </a:lnTo>
                  <a:lnTo>
                    <a:pt x="36" y="374"/>
                  </a:lnTo>
                  <a:lnTo>
                    <a:pt x="30" y="372"/>
                  </a:lnTo>
                  <a:lnTo>
                    <a:pt x="22" y="368"/>
                  </a:lnTo>
                  <a:lnTo>
                    <a:pt x="16" y="362"/>
                  </a:lnTo>
                  <a:lnTo>
                    <a:pt x="10" y="356"/>
                  </a:lnTo>
                  <a:lnTo>
                    <a:pt x="8" y="350"/>
                  </a:lnTo>
                  <a:lnTo>
                    <a:pt x="6" y="342"/>
                  </a:lnTo>
                  <a:lnTo>
                    <a:pt x="4" y="334"/>
                  </a:lnTo>
                  <a:lnTo>
                    <a:pt x="6" y="326"/>
                  </a:lnTo>
                  <a:lnTo>
                    <a:pt x="8" y="318"/>
                  </a:lnTo>
                  <a:lnTo>
                    <a:pt x="12" y="312"/>
                  </a:lnTo>
                  <a:lnTo>
                    <a:pt x="18" y="306"/>
                  </a:lnTo>
                  <a:lnTo>
                    <a:pt x="146" y="184"/>
                  </a:lnTo>
                  <a:lnTo>
                    <a:pt x="14" y="70"/>
                  </a:lnTo>
                  <a:lnTo>
                    <a:pt x="8" y="64"/>
                  </a:lnTo>
                  <a:lnTo>
                    <a:pt x="4" y="56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8" y="12"/>
                  </a:lnTo>
                  <a:lnTo>
                    <a:pt x="14" y="8"/>
                  </a:lnTo>
                  <a:lnTo>
                    <a:pt x="22" y="4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58" y="4"/>
                  </a:lnTo>
                  <a:lnTo>
                    <a:pt x="66" y="8"/>
                  </a:lnTo>
                  <a:lnTo>
                    <a:pt x="232" y="152"/>
                  </a:lnTo>
                  <a:lnTo>
                    <a:pt x="238" y="158"/>
                  </a:lnTo>
                  <a:lnTo>
                    <a:pt x="242" y="164"/>
                  </a:lnTo>
                  <a:lnTo>
                    <a:pt x="244" y="172"/>
                  </a:lnTo>
                  <a:lnTo>
                    <a:pt x="246" y="180"/>
                  </a:lnTo>
                  <a:lnTo>
                    <a:pt x="246" y="188"/>
                  </a:lnTo>
                  <a:lnTo>
                    <a:pt x="242" y="196"/>
                  </a:lnTo>
                  <a:lnTo>
                    <a:pt x="240" y="204"/>
                  </a:lnTo>
                  <a:lnTo>
                    <a:pt x="234" y="210"/>
                  </a:lnTo>
                  <a:lnTo>
                    <a:pt x="72" y="364"/>
                  </a:lnTo>
                  <a:lnTo>
                    <a:pt x="66" y="368"/>
                  </a:lnTo>
                  <a:lnTo>
                    <a:pt x="60" y="372"/>
                  </a:lnTo>
                  <a:lnTo>
                    <a:pt x="52" y="374"/>
                  </a:lnTo>
                  <a:lnTo>
                    <a:pt x="44" y="37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</p:grp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0B839B8E-1698-44E2-BFFF-CD1B94F58231}"/>
              </a:ext>
            </a:extLst>
          </p:cNvPr>
          <p:cNvSpPr/>
          <p:nvPr userDrawn="1"/>
        </p:nvSpPr>
        <p:spPr bwMode="gray">
          <a:xfrm>
            <a:off x="2152890" y="2347355"/>
            <a:ext cx="90000" cy="133578"/>
          </a:xfrm>
          <a:prstGeom prst="rightArrow">
            <a:avLst>
              <a:gd name="adj1" fmla="val 50000"/>
              <a:gd name="adj2" fmla="val 20188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A3C7D5C-9488-4358-9E5A-F3F43A0F35EB}"/>
              </a:ext>
            </a:extLst>
          </p:cNvPr>
          <p:cNvGrpSpPr/>
          <p:nvPr userDrawn="1"/>
        </p:nvGrpSpPr>
        <p:grpSpPr bwMode="gray">
          <a:xfrm>
            <a:off x="6316132" y="2282012"/>
            <a:ext cx="222887" cy="225523"/>
            <a:chOff x="1188771" y="3906774"/>
            <a:chExt cx="222887" cy="225523"/>
          </a:xfrm>
        </p:grpSpPr>
        <p:sp>
          <p:nvSpPr>
            <p:cNvPr id="15" name="Oval 274">
              <a:extLst>
                <a:ext uri="{FF2B5EF4-FFF2-40B4-BE49-F238E27FC236}">
                  <a16:creationId xmlns:a16="http://schemas.microsoft.com/office/drawing/2014/main" id="{6C9AFAB9-CB0F-47F0-92F1-A22EDBDB45B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88771" y="3906774"/>
              <a:ext cx="222887" cy="22552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ysClr val="window" lastClr="FFFFFF"/>
              </a:solidFill>
            </a:ln>
          </p:spPr>
          <p:txBody>
            <a:bodyPr lIns="40116" tIns="40116" rIns="40116" bIns="40116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0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  <p:sp>
          <p:nvSpPr>
            <p:cNvPr id="16" name="Freeform 802">
              <a:extLst>
                <a:ext uri="{FF2B5EF4-FFF2-40B4-BE49-F238E27FC236}">
                  <a16:creationId xmlns:a16="http://schemas.microsoft.com/office/drawing/2014/main" id="{04930CBA-461B-4E6D-A4AB-3034381292D3}"/>
                </a:ext>
              </a:extLst>
            </p:cNvPr>
            <p:cNvSpPr>
              <a:spLocks/>
            </p:cNvSpPr>
            <p:nvPr/>
          </p:nvSpPr>
          <p:spPr bwMode="gray">
            <a:xfrm>
              <a:off x="1264794" y="3952746"/>
              <a:ext cx="88118" cy="133579"/>
            </a:xfrm>
            <a:custGeom>
              <a:avLst/>
              <a:gdLst>
                <a:gd name="T0" fmla="*/ 89 w 246"/>
                <a:gd name="T1" fmla="*/ 790 h 374"/>
                <a:gd name="T2" fmla="*/ 89 w 246"/>
                <a:gd name="T3" fmla="*/ 790 h 374"/>
                <a:gd name="T4" fmla="*/ 73 w 246"/>
                <a:gd name="T5" fmla="*/ 790 h 374"/>
                <a:gd name="T6" fmla="*/ 60 w 246"/>
                <a:gd name="T7" fmla="*/ 786 h 374"/>
                <a:gd name="T8" fmla="*/ 44 w 246"/>
                <a:gd name="T9" fmla="*/ 777 h 374"/>
                <a:gd name="T10" fmla="*/ 32 w 246"/>
                <a:gd name="T11" fmla="*/ 765 h 374"/>
                <a:gd name="T12" fmla="*/ 32 w 246"/>
                <a:gd name="T13" fmla="*/ 765 h 374"/>
                <a:gd name="T14" fmla="*/ 20 w 246"/>
                <a:gd name="T15" fmla="*/ 752 h 374"/>
                <a:gd name="T16" fmla="*/ 16 w 246"/>
                <a:gd name="T17" fmla="*/ 739 h 374"/>
                <a:gd name="T18" fmla="*/ 12 w 246"/>
                <a:gd name="T19" fmla="*/ 722 h 374"/>
                <a:gd name="T20" fmla="*/ 8 w 246"/>
                <a:gd name="T21" fmla="*/ 706 h 374"/>
                <a:gd name="T22" fmla="*/ 12 w 246"/>
                <a:gd name="T23" fmla="*/ 689 h 374"/>
                <a:gd name="T24" fmla="*/ 16 w 246"/>
                <a:gd name="T25" fmla="*/ 672 h 374"/>
                <a:gd name="T26" fmla="*/ 24 w 246"/>
                <a:gd name="T27" fmla="*/ 659 h 374"/>
                <a:gd name="T28" fmla="*/ 36 w 246"/>
                <a:gd name="T29" fmla="*/ 647 h 374"/>
                <a:gd name="T30" fmla="*/ 294 w 246"/>
                <a:gd name="T31" fmla="*/ 389 h 374"/>
                <a:gd name="T32" fmla="*/ 28 w 246"/>
                <a:gd name="T33" fmla="*/ 148 h 374"/>
                <a:gd name="T34" fmla="*/ 28 w 246"/>
                <a:gd name="T35" fmla="*/ 148 h 374"/>
                <a:gd name="T36" fmla="*/ 16 w 246"/>
                <a:gd name="T37" fmla="*/ 135 h 374"/>
                <a:gd name="T38" fmla="*/ 8 w 246"/>
                <a:gd name="T39" fmla="*/ 118 h 374"/>
                <a:gd name="T40" fmla="*/ 0 w 246"/>
                <a:gd name="T41" fmla="*/ 106 h 374"/>
                <a:gd name="T42" fmla="*/ 0 w 246"/>
                <a:gd name="T43" fmla="*/ 89 h 374"/>
                <a:gd name="T44" fmla="*/ 0 w 246"/>
                <a:gd name="T45" fmla="*/ 72 h 374"/>
                <a:gd name="T46" fmla="*/ 4 w 246"/>
                <a:gd name="T47" fmla="*/ 55 h 374"/>
                <a:gd name="T48" fmla="*/ 8 w 246"/>
                <a:gd name="T49" fmla="*/ 42 h 374"/>
                <a:gd name="T50" fmla="*/ 16 w 246"/>
                <a:gd name="T51" fmla="*/ 25 h 374"/>
                <a:gd name="T52" fmla="*/ 16 w 246"/>
                <a:gd name="T53" fmla="*/ 25 h 374"/>
                <a:gd name="T54" fmla="*/ 28 w 246"/>
                <a:gd name="T55" fmla="*/ 17 h 374"/>
                <a:gd name="T56" fmla="*/ 44 w 246"/>
                <a:gd name="T57" fmla="*/ 8 h 374"/>
                <a:gd name="T58" fmla="*/ 56 w 246"/>
                <a:gd name="T59" fmla="*/ 0 h 374"/>
                <a:gd name="T60" fmla="*/ 73 w 246"/>
                <a:gd name="T61" fmla="*/ 0 h 374"/>
                <a:gd name="T62" fmla="*/ 89 w 246"/>
                <a:gd name="T63" fmla="*/ 0 h 374"/>
                <a:gd name="T64" fmla="*/ 105 w 246"/>
                <a:gd name="T65" fmla="*/ 0 h 374"/>
                <a:gd name="T66" fmla="*/ 117 w 246"/>
                <a:gd name="T67" fmla="*/ 8 h 374"/>
                <a:gd name="T68" fmla="*/ 133 w 246"/>
                <a:gd name="T69" fmla="*/ 17 h 374"/>
                <a:gd name="T70" fmla="*/ 467 w 246"/>
                <a:gd name="T71" fmla="*/ 321 h 374"/>
                <a:gd name="T72" fmla="*/ 467 w 246"/>
                <a:gd name="T73" fmla="*/ 321 h 374"/>
                <a:gd name="T74" fmla="*/ 479 w 246"/>
                <a:gd name="T75" fmla="*/ 334 h 374"/>
                <a:gd name="T76" fmla="*/ 487 w 246"/>
                <a:gd name="T77" fmla="*/ 346 h 374"/>
                <a:gd name="T78" fmla="*/ 491 w 246"/>
                <a:gd name="T79" fmla="*/ 363 h 374"/>
                <a:gd name="T80" fmla="*/ 495 w 246"/>
                <a:gd name="T81" fmla="*/ 380 h 374"/>
                <a:gd name="T82" fmla="*/ 495 w 246"/>
                <a:gd name="T83" fmla="*/ 380 h 374"/>
                <a:gd name="T84" fmla="*/ 495 w 246"/>
                <a:gd name="T85" fmla="*/ 397 h 374"/>
                <a:gd name="T86" fmla="*/ 487 w 246"/>
                <a:gd name="T87" fmla="*/ 414 h 374"/>
                <a:gd name="T88" fmla="*/ 483 w 246"/>
                <a:gd name="T89" fmla="*/ 431 h 374"/>
                <a:gd name="T90" fmla="*/ 471 w 246"/>
                <a:gd name="T91" fmla="*/ 444 h 374"/>
                <a:gd name="T92" fmla="*/ 145 w 246"/>
                <a:gd name="T93" fmla="*/ 769 h 374"/>
                <a:gd name="T94" fmla="*/ 145 w 246"/>
                <a:gd name="T95" fmla="*/ 769 h 374"/>
                <a:gd name="T96" fmla="*/ 133 w 246"/>
                <a:gd name="T97" fmla="*/ 777 h 374"/>
                <a:gd name="T98" fmla="*/ 121 w 246"/>
                <a:gd name="T99" fmla="*/ 786 h 374"/>
                <a:gd name="T100" fmla="*/ 105 w 246"/>
                <a:gd name="T101" fmla="*/ 790 h 374"/>
                <a:gd name="T102" fmla="*/ 89 w 246"/>
                <a:gd name="T103" fmla="*/ 790 h 374"/>
                <a:gd name="T104" fmla="*/ 89 w 246"/>
                <a:gd name="T105" fmla="*/ 790 h 37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6"/>
                <a:gd name="T160" fmla="*/ 0 h 374"/>
                <a:gd name="T161" fmla="*/ 246 w 246"/>
                <a:gd name="T162" fmla="*/ 374 h 37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6" h="374">
                  <a:moveTo>
                    <a:pt x="44" y="374"/>
                  </a:moveTo>
                  <a:lnTo>
                    <a:pt x="44" y="374"/>
                  </a:lnTo>
                  <a:lnTo>
                    <a:pt x="36" y="374"/>
                  </a:lnTo>
                  <a:lnTo>
                    <a:pt x="30" y="372"/>
                  </a:lnTo>
                  <a:lnTo>
                    <a:pt x="22" y="368"/>
                  </a:lnTo>
                  <a:lnTo>
                    <a:pt x="16" y="362"/>
                  </a:lnTo>
                  <a:lnTo>
                    <a:pt x="10" y="356"/>
                  </a:lnTo>
                  <a:lnTo>
                    <a:pt x="8" y="350"/>
                  </a:lnTo>
                  <a:lnTo>
                    <a:pt x="6" y="342"/>
                  </a:lnTo>
                  <a:lnTo>
                    <a:pt x="4" y="334"/>
                  </a:lnTo>
                  <a:lnTo>
                    <a:pt x="6" y="326"/>
                  </a:lnTo>
                  <a:lnTo>
                    <a:pt x="8" y="318"/>
                  </a:lnTo>
                  <a:lnTo>
                    <a:pt x="12" y="312"/>
                  </a:lnTo>
                  <a:lnTo>
                    <a:pt x="18" y="306"/>
                  </a:lnTo>
                  <a:lnTo>
                    <a:pt x="146" y="184"/>
                  </a:lnTo>
                  <a:lnTo>
                    <a:pt x="14" y="70"/>
                  </a:lnTo>
                  <a:lnTo>
                    <a:pt x="8" y="64"/>
                  </a:lnTo>
                  <a:lnTo>
                    <a:pt x="4" y="56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8" y="12"/>
                  </a:lnTo>
                  <a:lnTo>
                    <a:pt x="14" y="8"/>
                  </a:lnTo>
                  <a:lnTo>
                    <a:pt x="22" y="4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58" y="4"/>
                  </a:lnTo>
                  <a:lnTo>
                    <a:pt x="66" y="8"/>
                  </a:lnTo>
                  <a:lnTo>
                    <a:pt x="232" y="152"/>
                  </a:lnTo>
                  <a:lnTo>
                    <a:pt x="238" y="158"/>
                  </a:lnTo>
                  <a:lnTo>
                    <a:pt x="242" y="164"/>
                  </a:lnTo>
                  <a:lnTo>
                    <a:pt x="244" y="172"/>
                  </a:lnTo>
                  <a:lnTo>
                    <a:pt x="246" y="180"/>
                  </a:lnTo>
                  <a:lnTo>
                    <a:pt x="246" y="188"/>
                  </a:lnTo>
                  <a:lnTo>
                    <a:pt x="242" y="196"/>
                  </a:lnTo>
                  <a:lnTo>
                    <a:pt x="240" y="204"/>
                  </a:lnTo>
                  <a:lnTo>
                    <a:pt x="234" y="210"/>
                  </a:lnTo>
                  <a:lnTo>
                    <a:pt x="72" y="364"/>
                  </a:lnTo>
                  <a:lnTo>
                    <a:pt x="66" y="368"/>
                  </a:lnTo>
                  <a:lnTo>
                    <a:pt x="60" y="372"/>
                  </a:lnTo>
                  <a:lnTo>
                    <a:pt x="52" y="374"/>
                  </a:lnTo>
                  <a:lnTo>
                    <a:pt x="44" y="37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CB6E39E-E4A4-4534-8B97-23190CD3941E}"/>
              </a:ext>
            </a:extLst>
          </p:cNvPr>
          <p:cNvGrpSpPr/>
          <p:nvPr userDrawn="1"/>
        </p:nvGrpSpPr>
        <p:grpSpPr bwMode="gray">
          <a:xfrm>
            <a:off x="5771728" y="2588036"/>
            <a:ext cx="775929" cy="225523"/>
            <a:chOff x="7348199" y="3906773"/>
            <a:chExt cx="775929" cy="225523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0998B3B-977B-4718-AE1F-644F6328F79F}"/>
                </a:ext>
              </a:extLst>
            </p:cNvPr>
            <p:cNvGrpSpPr/>
            <p:nvPr userDrawn="1"/>
          </p:nvGrpSpPr>
          <p:grpSpPr bwMode="gray">
            <a:xfrm>
              <a:off x="7348199" y="3906773"/>
              <a:ext cx="222887" cy="225523"/>
              <a:chOff x="785138" y="3917479"/>
              <a:chExt cx="222887" cy="225523"/>
            </a:xfrm>
          </p:grpSpPr>
          <p:sp>
            <p:nvSpPr>
              <p:cNvPr id="25" name="Oval 274">
                <a:extLst>
                  <a:ext uri="{FF2B5EF4-FFF2-40B4-BE49-F238E27FC236}">
                    <a16:creationId xmlns:a16="http://schemas.microsoft.com/office/drawing/2014/main" id="{7EE9C5C0-61DF-4A71-89E0-B5C3E50A24A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85138" y="3917479"/>
                <a:ext cx="222887" cy="225523"/>
              </a:xfrm>
              <a:prstGeom prst="ellipse">
                <a:avLst/>
              </a:prstGeom>
              <a:solidFill>
                <a:srgbClr val="BDBDBD"/>
              </a:solidFill>
              <a:ln w="19050">
                <a:solidFill>
                  <a:sysClr val="window" lastClr="FFFFFF"/>
                </a:solidFill>
              </a:ln>
            </p:spPr>
            <p:txBody>
              <a:bodyPr lIns="40116" tIns="40116" rIns="40116" bIns="40116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000" b="0" i="0" u="none" strike="noStrike" kern="0" cap="none" spc="0" normalizeH="0" baseline="0" noProof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endParaRPr>
              </a:p>
            </p:txBody>
          </p:sp>
          <p:sp>
            <p:nvSpPr>
              <p:cNvPr id="26" name="Freeform 802">
                <a:extLst>
                  <a:ext uri="{FF2B5EF4-FFF2-40B4-BE49-F238E27FC236}">
                    <a16:creationId xmlns:a16="http://schemas.microsoft.com/office/drawing/2014/main" id="{91DD6F76-A4FA-45C6-86F7-0EADBB224E8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861161" y="3963451"/>
                <a:ext cx="88118" cy="133579"/>
              </a:xfrm>
              <a:custGeom>
                <a:avLst/>
                <a:gdLst>
                  <a:gd name="T0" fmla="*/ 89 w 246"/>
                  <a:gd name="T1" fmla="*/ 790 h 374"/>
                  <a:gd name="T2" fmla="*/ 89 w 246"/>
                  <a:gd name="T3" fmla="*/ 790 h 374"/>
                  <a:gd name="T4" fmla="*/ 73 w 246"/>
                  <a:gd name="T5" fmla="*/ 790 h 374"/>
                  <a:gd name="T6" fmla="*/ 60 w 246"/>
                  <a:gd name="T7" fmla="*/ 786 h 374"/>
                  <a:gd name="T8" fmla="*/ 44 w 246"/>
                  <a:gd name="T9" fmla="*/ 777 h 374"/>
                  <a:gd name="T10" fmla="*/ 32 w 246"/>
                  <a:gd name="T11" fmla="*/ 765 h 374"/>
                  <a:gd name="T12" fmla="*/ 32 w 246"/>
                  <a:gd name="T13" fmla="*/ 765 h 374"/>
                  <a:gd name="T14" fmla="*/ 20 w 246"/>
                  <a:gd name="T15" fmla="*/ 752 h 374"/>
                  <a:gd name="T16" fmla="*/ 16 w 246"/>
                  <a:gd name="T17" fmla="*/ 739 h 374"/>
                  <a:gd name="T18" fmla="*/ 12 w 246"/>
                  <a:gd name="T19" fmla="*/ 722 h 374"/>
                  <a:gd name="T20" fmla="*/ 8 w 246"/>
                  <a:gd name="T21" fmla="*/ 706 h 374"/>
                  <a:gd name="T22" fmla="*/ 12 w 246"/>
                  <a:gd name="T23" fmla="*/ 689 h 374"/>
                  <a:gd name="T24" fmla="*/ 16 w 246"/>
                  <a:gd name="T25" fmla="*/ 672 h 374"/>
                  <a:gd name="T26" fmla="*/ 24 w 246"/>
                  <a:gd name="T27" fmla="*/ 659 h 374"/>
                  <a:gd name="T28" fmla="*/ 36 w 246"/>
                  <a:gd name="T29" fmla="*/ 647 h 374"/>
                  <a:gd name="T30" fmla="*/ 294 w 246"/>
                  <a:gd name="T31" fmla="*/ 389 h 374"/>
                  <a:gd name="T32" fmla="*/ 28 w 246"/>
                  <a:gd name="T33" fmla="*/ 148 h 374"/>
                  <a:gd name="T34" fmla="*/ 28 w 246"/>
                  <a:gd name="T35" fmla="*/ 148 h 374"/>
                  <a:gd name="T36" fmla="*/ 16 w 246"/>
                  <a:gd name="T37" fmla="*/ 135 h 374"/>
                  <a:gd name="T38" fmla="*/ 8 w 246"/>
                  <a:gd name="T39" fmla="*/ 118 h 374"/>
                  <a:gd name="T40" fmla="*/ 0 w 246"/>
                  <a:gd name="T41" fmla="*/ 106 h 374"/>
                  <a:gd name="T42" fmla="*/ 0 w 246"/>
                  <a:gd name="T43" fmla="*/ 89 h 374"/>
                  <a:gd name="T44" fmla="*/ 0 w 246"/>
                  <a:gd name="T45" fmla="*/ 72 h 374"/>
                  <a:gd name="T46" fmla="*/ 4 w 246"/>
                  <a:gd name="T47" fmla="*/ 55 h 374"/>
                  <a:gd name="T48" fmla="*/ 8 w 246"/>
                  <a:gd name="T49" fmla="*/ 42 h 374"/>
                  <a:gd name="T50" fmla="*/ 16 w 246"/>
                  <a:gd name="T51" fmla="*/ 25 h 374"/>
                  <a:gd name="T52" fmla="*/ 16 w 246"/>
                  <a:gd name="T53" fmla="*/ 25 h 374"/>
                  <a:gd name="T54" fmla="*/ 28 w 246"/>
                  <a:gd name="T55" fmla="*/ 17 h 374"/>
                  <a:gd name="T56" fmla="*/ 44 w 246"/>
                  <a:gd name="T57" fmla="*/ 8 h 374"/>
                  <a:gd name="T58" fmla="*/ 56 w 246"/>
                  <a:gd name="T59" fmla="*/ 0 h 374"/>
                  <a:gd name="T60" fmla="*/ 73 w 246"/>
                  <a:gd name="T61" fmla="*/ 0 h 374"/>
                  <a:gd name="T62" fmla="*/ 89 w 246"/>
                  <a:gd name="T63" fmla="*/ 0 h 374"/>
                  <a:gd name="T64" fmla="*/ 105 w 246"/>
                  <a:gd name="T65" fmla="*/ 0 h 374"/>
                  <a:gd name="T66" fmla="*/ 117 w 246"/>
                  <a:gd name="T67" fmla="*/ 8 h 374"/>
                  <a:gd name="T68" fmla="*/ 133 w 246"/>
                  <a:gd name="T69" fmla="*/ 17 h 374"/>
                  <a:gd name="T70" fmla="*/ 467 w 246"/>
                  <a:gd name="T71" fmla="*/ 321 h 374"/>
                  <a:gd name="T72" fmla="*/ 467 w 246"/>
                  <a:gd name="T73" fmla="*/ 321 h 374"/>
                  <a:gd name="T74" fmla="*/ 479 w 246"/>
                  <a:gd name="T75" fmla="*/ 334 h 374"/>
                  <a:gd name="T76" fmla="*/ 487 w 246"/>
                  <a:gd name="T77" fmla="*/ 346 h 374"/>
                  <a:gd name="T78" fmla="*/ 491 w 246"/>
                  <a:gd name="T79" fmla="*/ 363 h 374"/>
                  <a:gd name="T80" fmla="*/ 495 w 246"/>
                  <a:gd name="T81" fmla="*/ 380 h 374"/>
                  <a:gd name="T82" fmla="*/ 495 w 246"/>
                  <a:gd name="T83" fmla="*/ 380 h 374"/>
                  <a:gd name="T84" fmla="*/ 495 w 246"/>
                  <a:gd name="T85" fmla="*/ 397 h 374"/>
                  <a:gd name="T86" fmla="*/ 487 w 246"/>
                  <a:gd name="T87" fmla="*/ 414 h 374"/>
                  <a:gd name="T88" fmla="*/ 483 w 246"/>
                  <a:gd name="T89" fmla="*/ 431 h 374"/>
                  <a:gd name="T90" fmla="*/ 471 w 246"/>
                  <a:gd name="T91" fmla="*/ 444 h 374"/>
                  <a:gd name="T92" fmla="*/ 145 w 246"/>
                  <a:gd name="T93" fmla="*/ 769 h 374"/>
                  <a:gd name="T94" fmla="*/ 145 w 246"/>
                  <a:gd name="T95" fmla="*/ 769 h 374"/>
                  <a:gd name="T96" fmla="*/ 133 w 246"/>
                  <a:gd name="T97" fmla="*/ 777 h 374"/>
                  <a:gd name="T98" fmla="*/ 121 w 246"/>
                  <a:gd name="T99" fmla="*/ 786 h 374"/>
                  <a:gd name="T100" fmla="*/ 105 w 246"/>
                  <a:gd name="T101" fmla="*/ 790 h 374"/>
                  <a:gd name="T102" fmla="*/ 89 w 246"/>
                  <a:gd name="T103" fmla="*/ 790 h 374"/>
                  <a:gd name="T104" fmla="*/ 89 w 246"/>
                  <a:gd name="T105" fmla="*/ 790 h 37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246"/>
                  <a:gd name="T160" fmla="*/ 0 h 374"/>
                  <a:gd name="T161" fmla="*/ 246 w 246"/>
                  <a:gd name="T162" fmla="*/ 374 h 374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246" h="374">
                    <a:moveTo>
                      <a:pt x="44" y="374"/>
                    </a:moveTo>
                    <a:lnTo>
                      <a:pt x="44" y="374"/>
                    </a:lnTo>
                    <a:lnTo>
                      <a:pt x="36" y="374"/>
                    </a:lnTo>
                    <a:lnTo>
                      <a:pt x="30" y="372"/>
                    </a:lnTo>
                    <a:lnTo>
                      <a:pt x="22" y="368"/>
                    </a:lnTo>
                    <a:lnTo>
                      <a:pt x="16" y="362"/>
                    </a:lnTo>
                    <a:lnTo>
                      <a:pt x="10" y="356"/>
                    </a:lnTo>
                    <a:lnTo>
                      <a:pt x="8" y="350"/>
                    </a:lnTo>
                    <a:lnTo>
                      <a:pt x="6" y="342"/>
                    </a:lnTo>
                    <a:lnTo>
                      <a:pt x="4" y="334"/>
                    </a:lnTo>
                    <a:lnTo>
                      <a:pt x="6" y="326"/>
                    </a:lnTo>
                    <a:lnTo>
                      <a:pt x="8" y="318"/>
                    </a:lnTo>
                    <a:lnTo>
                      <a:pt x="12" y="312"/>
                    </a:lnTo>
                    <a:lnTo>
                      <a:pt x="18" y="306"/>
                    </a:lnTo>
                    <a:lnTo>
                      <a:pt x="146" y="184"/>
                    </a:lnTo>
                    <a:lnTo>
                      <a:pt x="14" y="70"/>
                    </a:lnTo>
                    <a:lnTo>
                      <a:pt x="8" y="64"/>
                    </a:lnTo>
                    <a:lnTo>
                      <a:pt x="4" y="56"/>
                    </a:lnTo>
                    <a:lnTo>
                      <a:pt x="0" y="50"/>
                    </a:lnTo>
                    <a:lnTo>
                      <a:pt x="0" y="42"/>
                    </a:lnTo>
                    <a:lnTo>
                      <a:pt x="0" y="34"/>
                    </a:lnTo>
                    <a:lnTo>
                      <a:pt x="2" y="26"/>
                    </a:lnTo>
                    <a:lnTo>
                      <a:pt x="4" y="20"/>
                    </a:lnTo>
                    <a:lnTo>
                      <a:pt x="8" y="12"/>
                    </a:lnTo>
                    <a:lnTo>
                      <a:pt x="14" y="8"/>
                    </a:lnTo>
                    <a:lnTo>
                      <a:pt x="22" y="4"/>
                    </a:lnTo>
                    <a:lnTo>
                      <a:pt x="28" y="0"/>
                    </a:lnTo>
                    <a:lnTo>
                      <a:pt x="36" y="0"/>
                    </a:lnTo>
                    <a:lnTo>
                      <a:pt x="44" y="0"/>
                    </a:lnTo>
                    <a:lnTo>
                      <a:pt x="52" y="0"/>
                    </a:lnTo>
                    <a:lnTo>
                      <a:pt x="58" y="4"/>
                    </a:lnTo>
                    <a:lnTo>
                      <a:pt x="66" y="8"/>
                    </a:lnTo>
                    <a:lnTo>
                      <a:pt x="232" y="152"/>
                    </a:lnTo>
                    <a:lnTo>
                      <a:pt x="238" y="158"/>
                    </a:lnTo>
                    <a:lnTo>
                      <a:pt x="242" y="164"/>
                    </a:lnTo>
                    <a:lnTo>
                      <a:pt x="244" y="172"/>
                    </a:lnTo>
                    <a:lnTo>
                      <a:pt x="246" y="180"/>
                    </a:lnTo>
                    <a:lnTo>
                      <a:pt x="246" y="188"/>
                    </a:lnTo>
                    <a:lnTo>
                      <a:pt x="242" y="196"/>
                    </a:lnTo>
                    <a:lnTo>
                      <a:pt x="240" y="204"/>
                    </a:lnTo>
                    <a:lnTo>
                      <a:pt x="234" y="210"/>
                    </a:lnTo>
                    <a:lnTo>
                      <a:pt x="72" y="364"/>
                    </a:lnTo>
                    <a:lnTo>
                      <a:pt x="66" y="368"/>
                    </a:lnTo>
                    <a:lnTo>
                      <a:pt x="60" y="372"/>
                    </a:lnTo>
                    <a:lnTo>
                      <a:pt x="52" y="374"/>
                    </a:lnTo>
                    <a:lnTo>
                      <a:pt x="44" y="37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43D16A0-D77E-4E46-A406-86AF2B3ED264}"/>
                </a:ext>
              </a:extLst>
            </p:cNvPr>
            <p:cNvGrpSpPr/>
            <p:nvPr userDrawn="1"/>
          </p:nvGrpSpPr>
          <p:grpSpPr bwMode="gray">
            <a:xfrm>
              <a:off x="7624720" y="3906773"/>
              <a:ext cx="222887" cy="225523"/>
              <a:chOff x="1188771" y="3906774"/>
              <a:chExt cx="222887" cy="225523"/>
            </a:xfrm>
          </p:grpSpPr>
          <p:sp>
            <p:nvSpPr>
              <p:cNvPr id="23" name="Oval 274">
                <a:extLst>
                  <a:ext uri="{FF2B5EF4-FFF2-40B4-BE49-F238E27FC236}">
                    <a16:creationId xmlns:a16="http://schemas.microsoft.com/office/drawing/2014/main" id="{473FE1FD-D3A0-40D4-8BF8-BDD0B99C42D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88771" y="3906774"/>
                <a:ext cx="222887" cy="225523"/>
              </a:xfrm>
              <a:prstGeom prst="ellipse">
                <a:avLst/>
              </a:prstGeom>
              <a:solidFill>
                <a:srgbClr val="9B9B9B"/>
              </a:solidFill>
              <a:ln w="19050">
                <a:solidFill>
                  <a:sysClr val="window" lastClr="FFFFFF"/>
                </a:solidFill>
              </a:ln>
            </p:spPr>
            <p:txBody>
              <a:bodyPr lIns="40116" tIns="40116" rIns="40116" bIns="40116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000" b="0" i="0" u="none" strike="noStrike" kern="0" cap="none" spc="0" normalizeH="0" baseline="0" noProof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endParaRPr>
              </a:p>
            </p:txBody>
          </p:sp>
          <p:sp>
            <p:nvSpPr>
              <p:cNvPr id="24" name="Freeform 802">
                <a:extLst>
                  <a:ext uri="{FF2B5EF4-FFF2-40B4-BE49-F238E27FC236}">
                    <a16:creationId xmlns:a16="http://schemas.microsoft.com/office/drawing/2014/main" id="{A955825E-5D3C-4AF9-A096-E72360D57CD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264794" y="3952746"/>
                <a:ext cx="88118" cy="133579"/>
              </a:xfrm>
              <a:custGeom>
                <a:avLst/>
                <a:gdLst>
                  <a:gd name="T0" fmla="*/ 89 w 246"/>
                  <a:gd name="T1" fmla="*/ 790 h 374"/>
                  <a:gd name="T2" fmla="*/ 89 w 246"/>
                  <a:gd name="T3" fmla="*/ 790 h 374"/>
                  <a:gd name="T4" fmla="*/ 73 w 246"/>
                  <a:gd name="T5" fmla="*/ 790 h 374"/>
                  <a:gd name="T6" fmla="*/ 60 w 246"/>
                  <a:gd name="T7" fmla="*/ 786 h 374"/>
                  <a:gd name="T8" fmla="*/ 44 w 246"/>
                  <a:gd name="T9" fmla="*/ 777 h 374"/>
                  <a:gd name="T10" fmla="*/ 32 w 246"/>
                  <a:gd name="T11" fmla="*/ 765 h 374"/>
                  <a:gd name="T12" fmla="*/ 32 w 246"/>
                  <a:gd name="T13" fmla="*/ 765 h 374"/>
                  <a:gd name="T14" fmla="*/ 20 w 246"/>
                  <a:gd name="T15" fmla="*/ 752 h 374"/>
                  <a:gd name="T16" fmla="*/ 16 w 246"/>
                  <a:gd name="T17" fmla="*/ 739 h 374"/>
                  <a:gd name="T18" fmla="*/ 12 w 246"/>
                  <a:gd name="T19" fmla="*/ 722 h 374"/>
                  <a:gd name="T20" fmla="*/ 8 w 246"/>
                  <a:gd name="T21" fmla="*/ 706 h 374"/>
                  <a:gd name="T22" fmla="*/ 12 w 246"/>
                  <a:gd name="T23" fmla="*/ 689 h 374"/>
                  <a:gd name="T24" fmla="*/ 16 w 246"/>
                  <a:gd name="T25" fmla="*/ 672 h 374"/>
                  <a:gd name="T26" fmla="*/ 24 w 246"/>
                  <a:gd name="T27" fmla="*/ 659 h 374"/>
                  <a:gd name="T28" fmla="*/ 36 w 246"/>
                  <a:gd name="T29" fmla="*/ 647 h 374"/>
                  <a:gd name="T30" fmla="*/ 294 w 246"/>
                  <a:gd name="T31" fmla="*/ 389 h 374"/>
                  <a:gd name="T32" fmla="*/ 28 w 246"/>
                  <a:gd name="T33" fmla="*/ 148 h 374"/>
                  <a:gd name="T34" fmla="*/ 28 w 246"/>
                  <a:gd name="T35" fmla="*/ 148 h 374"/>
                  <a:gd name="T36" fmla="*/ 16 w 246"/>
                  <a:gd name="T37" fmla="*/ 135 h 374"/>
                  <a:gd name="T38" fmla="*/ 8 w 246"/>
                  <a:gd name="T39" fmla="*/ 118 h 374"/>
                  <a:gd name="T40" fmla="*/ 0 w 246"/>
                  <a:gd name="T41" fmla="*/ 106 h 374"/>
                  <a:gd name="T42" fmla="*/ 0 w 246"/>
                  <a:gd name="T43" fmla="*/ 89 h 374"/>
                  <a:gd name="T44" fmla="*/ 0 w 246"/>
                  <a:gd name="T45" fmla="*/ 72 h 374"/>
                  <a:gd name="T46" fmla="*/ 4 w 246"/>
                  <a:gd name="T47" fmla="*/ 55 h 374"/>
                  <a:gd name="T48" fmla="*/ 8 w 246"/>
                  <a:gd name="T49" fmla="*/ 42 h 374"/>
                  <a:gd name="T50" fmla="*/ 16 w 246"/>
                  <a:gd name="T51" fmla="*/ 25 h 374"/>
                  <a:gd name="T52" fmla="*/ 16 w 246"/>
                  <a:gd name="T53" fmla="*/ 25 h 374"/>
                  <a:gd name="T54" fmla="*/ 28 w 246"/>
                  <a:gd name="T55" fmla="*/ 17 h 374"/>
                  <a:gd name="T56" fmla="*/ 44 w 246"/>
                  <a:gd name="T57" fmla="*/ 8 h 374"/>
                  <a:gd name="T58" fmla="*/ 56 w 246"/>
                  <a:gd name="T59" fmla="*/ 0 h 374"/>
                  <a:gd name="T60" fmla="*/ 73 w 246"/>
                  <a:gd name="T61" fmla="*/ 0 h 374"/>
                  <a:gd name="T62" fmla="*/ 89 w 246"/>
                  <a:gd name="T63" fmla="*/ 0 h 374"/>
                  <a:gd name="T64" fmla="*/ 105 w 246"/>
                  <a:gd name="T65" fmla="*/ 0 h 374"/>
                  <a:gd name="T66" fmla="*/ 117 w 246"/>
                  <a:gd name="T67" fmla="*/ 8 h 374"/>
                  <a:gd name="T68" fmla="*/ 133 w 246"/>
                  <a:gd name="T69" fmla="*/ 17 h 374"/>
                  <a:gd name="T70" fmla="*/ 467 w 246"/>
                  <a:gd name="T71" fmla="*/ 321 h 374"/>
                  <a:gd name="T72" fmla="*/ 467 w 246"/>
                  <a:gd name="T73" fmla="*/ 321 h 374"/>
                  <a:gd name="T74" fmla="*/ 479 w 246"/>
                  <a:gd name="T75" fmla="*/ 334 h 374"/>
                  <a:gd name="T76" fmla="*/ 487 w 246"/>
                  <a:gd name="T77" fmla="*/ 346 h 374"/>
                  <a:gd name="T78" fmla="*/ 491 w 246"/>
                  <a:gd name="T79" fmla="*/ 363 h 374"/>
                  <a:gd name="T80" fmla="*/ 495 w 246"/>
                  <a:gd name="T81" fmla="*/ 380 h 374"/>
                  <a:gd name="T82" fmla="*/ 495 w 246"/>
                  <a:gd name="T83" fmla="*/ 380 h 374"/>
                  <a:gd name="T84" fmla="*/ 495 w 246"/>
                  <a:gd name="T85" fmla="*/ 397 h 374"/>
                  <a:gd name="T86" fmla="*/ 487 w 246"/>
                  <a:gd name="T87" fmla="*/ 414 h 374"/>
                  <a:gd name="T88" fmla="*/ 483 w 246"/>
                  <a:gd name="T89" fmla="*/ 431 h 374"/>
                  <a:gd name="T90" fmla="*/ 471 w 246"/>
                  <a:gd name="T91" fmla="*/ 444 h 374"/>
                  <a:gd name="T92" fmla="*/ 145 w 246"/>
                  <a:gd name="T93" fmla="*/ 769 h 374"/>
                  <a:gd name="T94" fmla="*/ 145 w 246"/>
                  <a:gd name="T95" fmla="*/ 769 h 374"/>
                  <a:gd name="T96" fmla="*/ 133 w 246"/>
                  <a:gd name="T97" fmla="*/ 777 h 374"/>
                  <a:gd name="T98" fmla="*/ 121 w 246"/>
                  <a:gd name="T99" fmla="*/ 786 h 374"/>
                  <a:gd name="T100" fmla="*/ 105 w 246"/>
                  <a:gd name="T101" fmla="*/ 790 h 374"/>
                  <a:gd name="T102" fmla="*/ 89 w 246"/>
                  <a:gd name="T103" fmla="*/ 790 h 374"/>
                  <a:gd name="T104" fmla="*/ 89 w 246"/>
                  <a:gd name="T105" fmla="*/ 790 h 37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246"/>
                  <a:gd name="T160" fmla="*/ 0 h 374"/>
                  <a:gd name="T161" fmla="*/ 246 w 246"/>
                  <a:gd name="T162" fmla="*/ 374 h 374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246" h="374">
                    <a:moveTo>
                      <a:pt x="44" y="374"/>
                    </a:moveTo>
                    <a:lnTo>
                      <a:pt x="44" y="374"/>
                    </a:lnTo>
                    <a:lnTo>
                      <a:pt x="36" y="374"/>
                    </a:lnTo>
                    <a:lnTo>
                      <a:pt x="30" y="372"/>
                    </a:lnTo>
                    <a:lnTo>
                      <a:pt x="22" y="368"/>
                    </a:lnTo>
                    <a:lnTo>
                      <a:pt x="16" y="362"/>
                    </a:lnTo>
                    <a:lnTo>
                      <a:pt x="10" y="356"/>
                    </a:lnTo>
                    <a:lnTo>
                      <a:pt x="8" y="350"/>
                    </a:lnTo>
                    <a:lnTo>
                      <a:pt x="6" y="342"/>
                    </a:lnTo>
                    <a:lnTo>
                      <a:pt x="4" y="334"/>
                    </a:lnTo>
                    <a:lnTo>
                      <a:pt x="6" y="326"/>
                    </a:lnTo>
                    <a:lnTo>
                      <a:pt x="8" y="318"/>
                    </a:lnTo>
                    <a:lnTo>
                      <a:pt x="12" y="312"/>
                    </a:lnTo>
                    <a:lnTo>
                      <a:pt x="18" y="306"/>
                    </a:lnTo>
                    <a:lnTo>
                      <a:pt x="146" y="184"/>
                    </a:lnTo>
                    <a:lnTo>
                      <a:pt x="14" y="70"/>
                    </a:lnTo>
                    <a:lnTo>
                      <a:pt x="8" y="64"/>
                    </a:lnTo>
                    <a:lnTo>
                      <a:pt x="4" y="56"/>
                    </a:lnTo>
                    <a:lnTo>
                      <a:pt x="0" y="50"/>
                    </a:lnTo>
                    <a:lnTo>
                      <a:pt x="0" y="42"/>
                    </a:lnTo>
                    <a:lnTo>
                      <a:pt x="0" y="34"/>
                    </a:lnTo>
                    <a:lnTo>
                      <a:pt x="2" y="26"/>
                    </a:lnTo>
                    <a:lnTo>
                      <a:pt x="4" y="20"/>
                    </a:lnTo>
                    <a:lnTo>
                      <a:pt x="8" y="12"/>
                    </a:lnTo>
                    <a:lnTo>
                      <a:pt x="14" y="8"/>
                    </a:lnTo>
                    <a:lnTo>
                      <a:pt x="22" y="4"/>
                    </a:lnTo>
                    <a:lnTo>
                      <a:pt x="28" y="0"/>
                    </a:lnTo>
                    <a:lnTo>
                      <a:pt x="36" y="0"/>
                    </a:lnTo>
                    <a:lnTo>
                      <a:pt x="44" y="0"/>
                    </a:lnTo>
                    <a:lnTo>
                      <a:pt x="52" y="0"/>
                    </a:lnTo>
                    <a:lnTo>
                      <a:pt x="58" y="4"/>
                    </a:lnTo>
                    <a:lnTo>
                      <a:pt x="66" y="8"/>
                    </a:lnTo>
                    <a:lnTo>
                      <a:pt x="232" y="152"/>
                    </a:lnTo>
                    <a:lnTo>
                      <a:pt x="238" y="158"/>
                    </a:lnTo>
                    <a:lnTo>
                      <a:pt x="242" y="164"/>
                    </a:lnTo>
                    <a:lnTo>
                      <a:pt x="244" y="172"/>
                    </a:lnTo>
                    <a:lnTo>
                      <a:pt x="246" y="180"/>
                    </a:lnTo>
                    <a:lnTo>
                      <a:pt x="246" y="188"/>
                    </a:lnTo>
                    <a:lnTo>
                      <a:pt x="242" y="196"/>
                    </a:lnTo>
                    <a:lnTo>
                      <a:pt x="240" y="204"/>
                    </a:lnTo>
                    <a:lnTo>
                      <a:pt x="234" y="210"/>
                    </a:lnTo>
                    <a:lnTo>
                      <a:pt x="72" y="364"/>
                    </a:lnTo>
                    <a:lnTo>
                      <a:pt x="66" y="368"/>
                    </a:lnTo>
                    <a:lnTo>
                      <a:pt x="60" y="372"/>
                    </a:lnTo>
                    <a:lnTo>
                      <a:pt x="52" y="374"/>
                    </a:lnTo>
                    <a:lnTo>
                      <a:pt x="44" y="37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F1FA42C-A285-43C6-BD6D-F812A38CF970}"/>
                </a:ext>
              </a:extLst>
            </p:cNvPr>
            <p:cNvGrpSpPr/>
            <p:nvPr userDrawn="1"/>
          </p:nvGrpSpPr>
          <p:grpSpPr bwMode="gray">
            <a:xfrm>
              <a:off x="7901241" y="3906773"/>
              <a:ext cx="222887" cy="225523"/>
              <a:chOff x="1188771" y="3906774"/>
              <a:chExt cx="222887" cy="225523"/>
            </a:xfrm>
          </p:grpSpPr>
          <p:sp>
            <p:nvSpPr>
              <p:cNvPr id="21" name="Oval 274">
                <a:extLst>
                  <a:ext uri="{FF2B5EF4-FFF2-40B4-BE49-F238E27FC236}">
                    <a16:creationId xmlns:a16="http://schemas.microsoft.com/office/drawing/2014/main" id="{9A41B2CE-7114-47F5-A736-3FDC7545B45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88771" y="3906774"/>
                <a:ext cx="222887" cy="225523"/>
              </a:xfrm>
              <a:prstGeom prst="ellipse">
                <a:avLst/>
              </a:prstGeom>
              <a:solidFill>
                <a:srgbClr val="595959"/>
              </a:solidFill>
              <a:ln w="19050">
                <a:solidFill>
                  <a:sysClr val="window" lastClr="FFFFFF"/>
                </a:solidFill>
              </a:ln>
            </p:spPr>
            <p:txBody>
              <a:bodyPr lIns="40116" tIns="40116" rIns="40116" bIns="40116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000" b="0" i="0" u="none" strike="noStrike" kern="0" cap="none" spc="0" normalizeH="0" baseline="0" noProof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endParaRPr>
              </a:p>
            </p:txBody>
          </p:sp>
          <p:sp>
            <p:nvSpPr>
              <p:cNvPr id="22" name="Freeform 802">
                <a:extLst>
                  <a:ext uri="{FF2B5EF4-FFF2-40B4-BE49-F238E27FC236}">
                    <a16:creationId xmlns:a16="http://schemas.microsoft.com/office/drawing/2014/main" id="{86E44CEF-605C-4806-9C25-88DF3B30FD54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264794" y="3952746"/>
                <a:ext cx="88118" cy="133579"/>
              </a:xfrm>
              <a:custGeom>
                <a:avLst/>
                <a:gdLst>
                  <a:gd name="T0" fmla="*/ 89 w 246"/>
                  <a:gd name="T1" fmla="*/ 790 h 374"/>
                  <a:gd name="T2" fmla="*/ 89 w 246"/>
                  <a:gd name="T3" fmla="*/ 790 h 374"/>
                  <a:gd name="T4" fmla="*/ 73 w 246"/>
                  <a:gd name="T5" fmla="*/ 790 h 374"/>
                  <a:gd name="T6" fmla="*/ 60 w 246"/>
                  <a:gd name="T7" fmla="*/ 786 h 374"/>
                  <a:gd name="T8" fmla="*/ 44 w 246"/>
                  <a:gd name="T9" fmla="*/ 777 h 374"/>
                  <a:gd name="T10" fmla="*/ 32 w 246"/>
                  <a:gd name="T11" fmla="*/ 765 h 374"/>
                  <a:gd name="T12" fmla="*/ 32 w 246"/>
                  <a:gd name="T13" fmla="*/ 765 h 374"/>
                  <a:gd name="T14" fmla="*/ 20 w 246"/>
                  <a:gd name="T15" fmla="*/ 752 h 374"/>
                  <a:gd name="T16" fmla="*/ 16 w 246"/>
                  <a:gd name="T17" fmla="*/ 739 h 374"/>
                  <a:gd name="T18" fmla="*/ 12 w 246"/>
                  <a:gd name="T19" fmla="*/ 722 h 374"/>
                  <a:gd name="T20" fmla="*/ 8 w 246"/>
                  <a:gd name="T21" fmla="*/ 706 h 374"/>
                  <a:gd name="T22" fmla="*/ 12 w 246"/>
                  <a:gd name="T23" fmla="*/ 689 h 374"/>
                  <a:gd name="T24" fmla="*/ 16 w 246"/>
                  <a:gd name="T25" fmla="*/ 672 h 374"/>
                  <a:gd name="T26" fmla="*/ 24 w 246"/>
                  <a:gd name="T27" fmla="*/ 659 h 374"/>
                  <a:gd name="T28" fmla="*/ 36 w 246"/>
                  <a:gd name="T29" fmla="*/ 647 h 374"/>
                  <a:gd name="T30" fmla="*/ 294 w 246"/>
                  <a:gd name="T31" fmla="*/ 389 h 374"/>
                  <a:gd name="T32" fmla="*/ 28 w 246"/>
                  <a:gd name="T33" fmla="*/ 148 h 374"/>
                  <a:gd name="T34" fmla="*/ 28 w 246"/>
                  <a:gd name="T35" fmla="*/ 148 h 374"/>
                  <a:gd name="T36" fmla="*/ 16 w 246"/>
                  <a:gd name="T37" fmla="*/ 135 h 374"/>
                  <a:gd name="T38" fmla="*/ 8 w 246"/>
                  <a:gd name="T39" fmla="*/ 118 h 374"/>
                  <a:gd name="T40" fmla="*/ 0 w 246"/>
                  <a:gd name="T41" fmla="*/ 106 h 374"/>
                  <a:gd name="T42" fmla="*/ 0 w 246"/>
                  <a:gd name="T43" fmla="*/ 89 h 374"/>
                  <a:gd name="T44" fmla="*/ 0 w 246"/>
                  <a:gd name="T45" fmla="*/ 72 h 374"/>
                  <a:gd name="T46" fmla="*/ 4 w 246"/>
                  <a:gd name="T47" fmla="*/ 55 h 374"/>
                  <a:gd name="T48" fmla="*/ 8 w 246"/>
                  <a:gd name="T49" fmla="*/ 42 h 374"/>
                  <a:gd name="T50" fmla="*/ 16 w 246"/>
                  <a:gd name="T51" fmla="*/ 25 h 374"/>
                  <a:gd name="T52" fmla="*/ 16 w 246"/>
                  <a:gd name="T53" fmla="*/ 25 h 374"/>
                  <a:gd name="T54" fmla="*/ 28 w 246"/>
                  <a:gd name="T55" fmla="*/ 17 h 374"/>
                  <a:gd name="T56" fmla="*/ 44 w 246"/>
                  <a:gd name="T57" fmla="*/ 8 h 374"/>
                  <a:gd name="T58" fmla="*/ 56 w 246"/>
                  <a:gd name="T59" fmla="*/ 0 h 374"/>
                  <a:gd name="T60" fmla="*/ 73 w 246"/>
                  <a:gd name="T61" fmla="*/ 0 h 374"/>
                  <a:gd name="T62" fmla="*/ 89 w 246"/>
                  <a:gd name="T63" fmla="*/ 0 h 374"/>
                  <a:gd name="T64" fmla="*/ 105 w 246"/>
                  <a:gd name="T65" fmla="*/ 0 h 374"/>
                  <a:gd name="T66" fmla="*/ 117 w 246"/>
                  <a:gd name="T67" fmla="*/ 8 h 374"/>
                  <a:gd name="T68" fmla="*/ 133 w 246"/>
                  <a:gd name="T69" fmla="*/ 17 h 374"/>
                  <a:gd name="T70" fmla="*/ 467 w 246"/>
                  <a:gd name="T71" fmla="*/ 321 h 374"/>
                  <a:gd name="T72" fmla="*/ 467 w 246"/>
                  <a:gd name="T73" fmla="*/ 321 h 374"/>
                  <a:gd name="T74" fmla="*/ 479 w 246"/>
                  <a:gd name="T75" fmla="*/ 334 h 374"/>
                  <a:gd name="T76" fmla="*/ 487 w 246"/>
                  <a:gd name="T77" fmla="*/ 346 h 374"/>
                  <a:gd name="T78" fmla="*/ 491 w 246"/>
                  <a:gd name="T79" fmla="*/ 363 h 374"/>
                  <a:gd name="T80" fmla="*/ 495 w 246"/>
                  <a:gd name="T81" fmla="*/ 380 h 374"/>
                  <a:gd name="T82" fmla="*/ 495 w 246"/>
                  <a:gd name="T83" fmla="*/ 380 h 374"/>
                  <a:gd name="T84" fmla="*/ 495 w 246"/>
                  <a:gd name="T85" fmla="*/ 397 h 374"/>
                  <a:gd name="T86" fmla="*/ 487 w 246"/>
                  <a:gd name="T87" fmla="*/ 414 h 374"/>
                  <a:gd name="T88" fmla="*/ 483 w 246"/>
                  <a:gd name="T89" fmla="*/ 431 h 374"/>
                  <a:gd name="T90" fmla="*/ 471 w 246"/>
                  <a:gd name="T91" fmla="*/ 444 h 374"/>
                  <a:gd name="T92" fmla="*/ 145 w 246"/>
                  <a:gd name="T93" fmla="*/ 769 h 374"/>
                  <a:gd name="T94" fmla="*/ 145 w 246"/>
                  <a:gd name="T95" fmla="*/ 769 h 374"/>
                  <a:gd name="T96" fmla="*/ 133 w 246"/>
                  <a:gd name="T97" fmla="*/ 777 h 374"/>
                  <a:gd name="T98" fmla="*/ 121 w 246"/>
                  <a:gd name="T99" fmla="*/ 786 h 374"/>
                  <a:gd name="T100" fmla="*/ 105 w 246"/>
                  <a:gd name="T101" fmla="*/ 790 h 374"/>
                  <a:gd name="T102" fmla="*/ 89 w 246"/>
                  <a:gd name="T103" fmla="*/ 790 h 374"/>
                  <a:gd name="T104" fmla="*/ 89 w 246"/>
                  <a:gd name="T105" fmla="*/ 790 h 374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246"/>
                  <a:gd name="T160" fmla="*/ 0 h 374"/>
                  <a:gd name="T161" fmla="*/ 246 w 246"/>
                  <a:gd name="T162" fmla="*/ 374 h 374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246" h="374">
                    <a:moveTo>
                      <a:pt x="44" y="374"/>
                    </a:moveTo>
                    <a:lnTo>
                      <a:pt x="44" y="374"/>
                    </a:lnTo>
                    <a:lnTo>
                      <a:pt x="36" y="374"/>
                    </a:lnTo>
                    <a:lnTo>
                      <a:pt x="30" y="372"/>
                    </a:lnTo>
                    <a:lnTo>
                      <a:pt x="22" y="368"/>
                    </a:lnTo>
                    <a:lnTo>
                      <a:pt x="16" y="362"/>
                    </a:lnTo>
                    <a:lnTo>
                      <a:pt x="10" y="356"/>
                    </a:lnTo>
                    <a:lnTo>
                      <a:pt x="8" y="350"/>
                    </a:lnTo>
                    <a:lnTo>
                      <a:pt x="6" y="342"/>
                    </a:lnTo>
                    <a:lnTo>
                      <a:pt x="4" y="334"/>
                    </a:lnTo>
                    <a:lnTo>
                      <a:pt x="6" y="326"/>
                    </a:lnTo>
                    <a:lnTo>
                      <a:pt x="8" y="318"/>
                    </a:lnTo>
                    <a:lnTo>
                      <a:pt x="12" y="312"/>
                    </a:lnTo>
                    <a:lnTo>
                      <a:pt x="18" y="306"/>
                    </a:lnTo>
                    <a:lnTo>
                      <a:pt x="146" y="184"/>
                    </a:lnTo>
                    <a:lnTo>
                      <a:pt x="14" y="70"/>
                    </a:lnTo>
                    <a:lnTo>
                      <a:pt x="8" y="64"/>
                    </a:lnTo>
                    <a:lnTo>
                      <a:pt x="4" y="56"/>
                    </a:lnTo>
                    <a:lnTo>
                      <a:pt x="0" y="50"/>
                    </a:lnTo>
                    <a:lnTo>
                      <a:pt x="0" y="42"/>
                    </a:lnTo>
                    <a:lnTo>
                      <a:pt x="0" y="34"/>
                    </a:lnTo>
                    <a:lnTo>
                      <a:pt x="2" y="26"/>
                    </a:lnTo>
                    <a:lnTo>
                      <a:pt x="4" y="20"/>
                    </a:lnTo>
                    <a:lnTo>
                      <a:pt x="8" y="12"/>
                    </a:lnTo>
                    <a:lnTo>
                      <a:pt x="14" y="8"/>
                    </a:lnTo>
                    <a:lnTo>
                      <a:pt x="22" y="4"/>
                    </a:lnTo>
                    <a:lnTo>
                      <a:pt x="28" y="0"/>
                    </a:lnTo>
                    <a:lnTo>
                      <a:pt x="36" y="0"/>
                    </a:lnTo>
                    <a:lnTo>
                      <a:pt x="44" y="0"/>
                    </a:lnTo>
                    <a:lnTo>
                      <a:pt x="52" y="0"/>
                    </a:lnTo>
                    <a:lnTo>
                      <a:pt x="58" y="4"/>
                    </a:lnTo>
                    <a:lnTo>
                      <a:pt x="66" y="8"/>
                    </a:lnTo>
                    <a:lnTo>
                      <a:pt x="232" y="152"/>
                    </a:lnTo>
                    <a:lnTo>
                      <a:pt x="238" y="158"/>
                    </a:lnTo>
                    <a:lnTo>
                      <a:pt x="242" y="164"/>
                    </a:lnTo>
                    <a:lnTo>
                      <a:pt x="244" y="172"/>
                    </a:lnTo>
                    <a:lnTo>
                      <a:pt x="246" y="180"/>
                    </a:lnTo>
                    <a:lnTo>
                      <a:pt x="246" y="188"/>
                    </a:lnTo>
                    <a:lnTo>
                      <a:pt x="242" y="196"/>
                    </a:lnTo>
                    <a:lnTo>
                      <a:pt x="240" y="204"/>
                    </a:lnTo>
                    <a:lnTo>
                      <a:pt x="234" y="210"/>
                    </a:lnTo>
                    <a:lnTo>
                      <a:pt x="72" y="364"/>
                    </a:lnTo>
                    <a:lnTo>
                      <a:pt x="66" y="368"/>
                    </a:lnTo>
                    <a:lnTo>
                      <a:pt x="60" y="372"/>
                    </a:lnTo>
                    <a:lnTo>
                      <a:pt x="52" y="374"/>
                    </a:lnTo>
                    <a:lnTo>
                      <a:pt x="44" y="37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endParaRPr>
              </a:p>
            </p:txBody>
          </p:sp>
        </p:grpSp>
      </p:grpSp>
      <p:sp>
        <p:nvSpPr>
          <p:cNvPr id="27" name="오른쪽 화살표 50">
            <a:extLst>
              <a:ext uri="{FF2B5EF4-FFF2-40B4-BE49-F238E27FC236}">
                <a16:creationId xmlns:a16="http://schemas.microsoft.com/office/drawing/2014/main" id="{335FB297-0C96-418C-8C1E-CED4CFA09ECF}"/>
              </a:ext>
            </a:extLst>
          </p:cNvPr>
          <p:cNvSpPr/>
          <p:nvPr userDrawn="1"/>
        </p:nvSpPr>
        <p:spPr bwMode="gray">
          <a:xfrm>
            <a:off x="453839" y="2996214"/>
            <a:ext cx="257343" cy="598414"/>
          </a:xfrm>
          <a:prstGeom prst="rightArrow">
            <a:avLst/>
          </a:prstGeom>
          <a:gradFill>
            <a:gsLst>
              <a:gs pos="0">
                <a:srgbClr val="FFFFFF"/>
              </a:gs>
              <a:gs pos="84000">
                <a:srgbClr val="FFFFFF">
                  <a:gamma/>
                  <a:shade val="69804"/>
                  <a:invGamma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0504766-AAC2-446D-AC1C-508AB52AEE73}"/>
              </a:ext>
            </a:extLst>
          </p:cNvPr>
          <p:cNvGrpSpPr/>
          <p:nvPr userDrawn="1"/>
        </p:nvGrpSpPr>
        <p:grpSpPr bwMode="gray">
          <a:xfrm>
            <a:off x="1155910" y="2326331"/>
            <a:ext cx="573720" cy="181204"/>
            <a:chOff x="6214298" y="3276217"/>
            <a:chExt cx="573720" cy="181204"/>
          </a:xfrm>
          <a:solidFill>
            <a:srgbClr val="0070C0"/>
          </a:solidFill>
        </p:grpSpPr>
        <p:sp>
          <p:nvSpPr>
            <p:cNvPr id="29" name="Oval 274">
              <a:extLst>
                <a:ext uri="{FF2B5EF4-FFF2-40B4-BE49-F238E27FC236}">
                  <a16:creationId xmlns:a16="http://schemas.microsoft.com/office/drawing/2014/main" id="{49B36370-7036-4079-8DA5-9E575963731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473790" y="3308955"/>
              <a:ext cx="114376" cy="115729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rgbClr val="0070C0"/>
              </a:solidFill>
            </a:ln>
          </p:spPr>
          <p:txBody>
            <a:bodyPr lIns="40116" tIns="40116" rIns="40116" bIns="40116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0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  <p:sp>
          <p:nvSpPr>
            <p:cNvPr id="30" name="Freeform 802">
              <a:extLst>
                <a:ext uri="{FF2B5EF4-FFF2-40B4-BE49-F238E27FC236}">
                  <a16:creationId xmlns:a16="http://schemas.microsoft.com/office/drawing/2014/main" id="{8BF345D9-1C24-4C75-BF25-C8EC6DDCC276}"/>
                </a:ext>
              </a:extLst>
            </p:cNvPr>
            <p:cNvSpPr>
              <a:spLocks/>
            </p:cNvSpPr>
            <p:nvPr/>
          </p:nvSpPr>
          <p:spPr bwMode="gray">
            <a:xfrm>
              <a:off x="6699900" y="3300030"/>
              <a:ext cx="88118" cy="133579"/>
            </a:xfrm>
            <a:custGeom>
              <a:avLst/>
              <a:gdLst>
                <a:gd name="T0" fmla="*/ 89 w 246"/>
                <a:gd name="T1" fmla="*/ 790 h 374"/>
                <a:gd name="T2" fmla="*/ 89 w 246"/>
                <a:gd name="T3" fmla="*/ 790 h 374"/>
                <a:gd name="T4" fmla="*/ 73 w 246"/>
                <a:gd name="T5" fmla="*/ 790 h 374"/>
                <a:gd name="T6" fmla="*/ 60 w 246"/>
                <a:gd name="T7" fmla="*/ 786 h 374"/>
                <a:gd name="T8" fmla="*/ 44 w 246"/>
                <a:gd name="T9" fmla="*/ 777 h 374"/>
                <a:gd name="T10" fmla="*/ 32 w 246"/>
                <a:gd name="T11" fmla="*/ 765 h 374"/>
                <a:gd name="T12" fmla="*/ 32 w 246"/>
                <a:gd name="T13" fmla="*/ 765 h 374"/>
                <a:gd name="T14" fmla="*/ 20 w 246"/>
                <a:gd name="T15" fmla="*/ 752 h 374"/>
                <a:gd name="T16" fmla="*/ 16 w 246"/>
                <a:gd name="T17" fmla="*/ 739 h 374"/>
                <a:gd name="T18" fmla="*/ 12 w 246"/>
                <a:gd name="T19" fmla="*/ 722 h 374"/>
                <a:gd name="T20" fmla="*/ 8 w 246"/>
                <a:gd name="T21" fmla="*/ 706 h 374"/>
                <a:gd name="T22" fmla="*/ 12 w 246"/>
                <a:gd name="T23" fmla="*/ 689 h 374"/>
                <a:gd name="T24" fmla="*/ 16 w 246"/>
                <a:gd name="T25" fmla="*/ 672 h 374"/>
                <a:gd name="T26" fmla="*/ 24 w 246"/>
                <a:gd name="T27" fmla="*/ 659 h 374"/>
                <a:gd name="T28" fmla="*/ 36 w 246"/>
                <a:gd name="T29" fmla="*/ 647 h 374"/>
                <a:gd name="T30" fmla="*/ 294 w 246"/>
                <a:gd name="T31" fmla="*/ 389 h 374"/>
                <a:gd name="T32" fmla="*/ 28 w 246"/>
                <a:gd name="T33" fmla="*/ 148 h 374"/>
                <a:gd name="T34" fmla="*/ 28 w 246"/>
                <a:gd name="T35" fmla="*/ 148 h 374"/>
                <a:gd name="T36" fmla="*/ 16 w 246"/>
                <a:gd name="T37" fmla="*/ 135 h 374"/>
                <a:gd name="T38" fmla="*/ 8 w 246"/>
                <a:gd name="T39" fmla="*/ 118 h 374"/>
                <a:gd name="T40" fmla="*/ 0 w 246"/>
                <a:gd name="T41" fmla="*/ 106 h 374"/>
                <a:gd name="T42" fmla="*/ 0 w 246"/>
                <a:gd name="T43" fmla="*/ 89 h 374"/>
                <a:gd name="T44" fmla="*/ 0 w 246"/>
                <a:gd name="T45" fmla="*/ 72 h 374"/>
                <a:gd name="T46" fmla="*/ 4 w 246"/>
                <a:gd name="T47" fmla="*/ 55 h 374"/>
                <a:gd name="T48" fmla="*/ 8 w 246"/>
                <a:gd name="T49" fmla="*/ 42 h 374"/>
                <a:gd name="T50" fmla="*/ 16 w 246"/>
                <a:gd name="T51" fmla="*/ 25 h 374"/>
                <a:gd name="T52" fmla="*/ 16 w 246"/>
                <a:gd name="T53" fmla="*/ 25 h 374"/>
                <a:gd name="T54" fmla="*/ 28 w 246"/>
                <a:gd name="T55" fmla="*/ 17 h 374"/>
                <a:gd name="T56" fmla="*/ 44 w 246"/>
                <a:gd name="T57" fmla="*/ 8 h 374"/>
                <a:gd name="T58" fmla="*/ 56 w 246"/>
                <a:gd name="T59" fmla="*/ 0 h 374"/>
                <a:gd name="T60" fmla="*/ 73 w 246"/>
                <a:gd name="T61" fmla="*/ 0 h 374"/>
                <a:gd name="T62" fmla="*/ 89 w 246"/>
                <a:gd name="T63" fmla="*/ 0 h 374"/>
                <a:gd name="T64" fmla="*/ 105 w 246"/>
                <a:gd name="T65" fmla="*/ 0 h 374"/>
                <a:gd name="T66" fmla="*/ 117 w 246"/>
                <a:gd name="T67" fmla="*/ 8 h 374"/>
                <a:gd name="T68" fmla="*/ 133 w 246"/>
                <a:gd name="T69" fmla="*/ 17 h 374"/>
                <a:gd name="T70" fmla="*/ 467 w 246"/>
                <a:gd name="T71" fmla="*/ 321 h 374"/>
                <a:gd name="T72" fmla="*/ 467 w 246"/>
                <a:gd name="T73" fmla="*/ 321 h 374"/>
                <a:gd name="T74" fmla="*/ 479 w 246"/>
                <a:gd name="T75" fmla="*/ 334 h 374"/>
                <a:gd name="T76" fmla="*/ 487 w 246"/>
                <a:gd name="T77" fmla="*/ 346 h 374"/>
                <a:gd name="T78" fmla="*/ 491 w 246"/>
                <a:gd name="T79" fmla="*/ 363 h 374"/>
                <a:gd name="T80" fmla="*/ 495 w 246"/>
                <a:gd name="T81" fmla="*/ 380 h 374"/>
                <a:gd name="T82" fmla="*/ 495 w 246"/>
                <a:gd name="T83" fmla="*/ 380 h 374"/>
                <a:gd name="T84" fmla="*/ 495 w 246"/>
                <a:gd name="T85" fmla="*/ 397 h 374"/>
                <a:gd name="T86" fmla="*/ 487 w 246"/>
                <a:gd name="T87" fmla="*/ 414 h 374"/>
                <a:gd name="T88" fmla="*/ 483 w 246"/>
                <a:gd name="T89" fmla="*/ 431 h 374"/>
                <a:gd name="T90" fmla="*/ 471 w 246"/>
                <a:gd name="T91" fmla="*/ 444 h 374"/>
                <a:gd name="T92" fmla="*/ 145 w 246"/>
                <a:gd name="T93" fmla="*/ 769 h 374"/>
                <a:gd name="T94" fmla="*/ 145 w 246"/>
                <a:gd name="T95" fmla="*/ 769 h 374"/>
                <a:gd name="T96" fmla="*/ 133 w 246"/>
                <a:gd name="T97" fmla="*/ 777 h 374"/>
                <a:gd name="T98" fmla="*/ 121 w 246"/>
                <a:gd name="T99" fmla="*/ 786 h 374"/>
                <a:gd name="T100" fmla="*/ 105 w 246"/>
                <a:gd name="T101" fmla="*/ 790 h 374"/>
                <a:gd name="T102" fmla="*/ 89 w 246"/>
                <a:gd name="T103" fmla="*/ 790 h 374"/>
                <a:gd name="T104" fmla="*/ 89 w 246"/>
                <a:gd name="T105" fmla="*/ 790 h 37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6"/>
                <a:gd name="T160" fmla="*/ 0 h 374"/>
                <a:gd name="T161" fmla="*/ 246 w 246"/>
                <a:gd name="T162" fmla="*/ 374 h 37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6" h="374">
                  <a:moveTo>
                    <a:pt x="44" y="374"/>
                  </a:moveTo>
                  <a:lnTo>
                    <a:pt x="44" y="374"/>
                  </a:lnTo>
                  <a:lnTo>
                    <a:pt x="36" y="374"/>
                  </a:lnTo>
                  <a:lnTo>
                    <a:pt x="30" y="372"/>
                  </a:lnTo>
                  <a:lnTo>
                    <a:pt x="22" y="368"/>
                  </a:lnTo>
                  <a:lnTo>
                    <a:pt x="16" y="362"/>
                  </a:lnTo>
                  <a:lnTo>
                    <a:pt x="10" y="356"/>
                  </a:lnTo>
                  <a:lnTo>
                    <a:pt x="8" y="350"/>
                  </a:lnTo>
                  <a:lnTo>
                    <a:pt x="6" y="342"/>
                  </a:lnTo>
                  <a:lnTo>
                    <a:pt x="4" y="334"/>
                  </a:lnTo>
                  <a:lnTo>
                    <a:pt x="6" y="326"/>
                  </a:lnTo>
                  <a:lnTo>
                    <a:pt x="8" y="318"/>
                  </a:lnTo>
                  <a:lnTo>
                    <a:pt x="12" y="312"/>
                  </a:lnTo>
                  <a:lnTo>
                    <a:pt x="18" y="306"/>
                  </a:lnTo>
                  <a:lnTo>
                    <a:pt x="146" y="184"/>
                  </a:lnTo>
                  <a:lnTo>
                    <a:pt x="14" y="70"/>
                  </a:lnTo>
                  <a:lnTo>
                    <a:pt x="8" y="64"/>
                  </a:lnTo>
                  <a:lnTo>
                    <a:pt x="4" y="56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8" y="12"/>
                  </a:lnTo>
                  <a:lnTo>
                    <a:pt x="14" y="8"/>
                  </a:lnTo>
                  <a:lnTo>
                    <a:pt x="22" y="4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58" y="4"/>
                  </a:lnTo>
                  <a:lnTo>
                    <a:pt x="66" y="8"/>
                  </a:lnTo>
                  <a:lnTo>
                    <a:pt x="232" y="152"/>
                  </a:lnTo>
                  <a:lnTo>
                    <a:pt x="238" y="158"/>
                  </a:lnTo>
                  <a:lnTo>
                    <a:pt x="242" y="164"/>
                  </a:lnTo>
                  <a:lnTo>
                    <a:pt x="244" y="172"/>
                  </a:lnTo>
                  <a:lnTo>
                    <a:pt x="246" y="180"/>
                  </a:lnTo>
                  <a:lnTo>
                    <a:pt x="246" y="188"/>
                  </a:lnTo>
                  <a:lnTo>
                    <a:pt x="242" y="196"/>
                  </a:lnTo>
                  <a:lnTo>
                    <a:pt x="240" y="204"/>
                  </a:lnTo>
                  <a:lnTo>
                    <a:pt x="234" y="210"/>
                  </a:lnTo>
                  <a:lnTo>
                    <a:pt x="72" y="364"/>
                  </a:lnTo>
                  <a:lnTo>
                    <a:pt x="66" y="368"/>
                  </a:lnTo>
                  <a:lnTo>
                    <a:pt x="60" y="372"/>
                  </a:lnTo>
                  <a:lnTo>
                    <a:pt x="52" y="374"/>
                  </a:lnTo>
                  <a:lnTo>
                    <a:pt x="44" y="3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  <p:sp>
          <p:nvSpPr>
            <p:cNvPr id="31" name="더하기 기호 30">
              <a:extLst>
                <a:ext uri="{FF2B5EF4-FFF2-40B4-BE49-F238E27FC236}">
                  <a16:creationId xmlns:a16="http://schemas.microsoft.com/office/drawing/2014/main" id="{268CE551-DD45-4320-B69F-517008A80A75}"/>
                </a:ext>
              </a:extLst>
            </p:cNvPr>
            <p:cNvSpPr/>
            <p:nvPr/>
          </p:nvSpPr>
          <p:spPr bwMode="gray">
            <a:xfrm>
              <a:off x="6214298" y="3276217"/>
              <a:ext cx="181204" cy="181204"/>
            </a:xfrm>
            <a:prstGeom prst="mathPlus">
              <a:avLst>
                <a:gd name="adj1" fmla="val 1700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5DCF29B7-F312-4A83-8A1A-BD140482D8B6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5755690" y="1523029"/>
            <a:ext cx="216000" cy="216000"/>
          </a:xfrm>
          <a:custGeom>
            <a:avLst/>
            <a:gdLst>
              <a:gd name="connsiteX0" fmla="*/ 538358 w 1394416"/>
              <a:gd name="connsiteY0" fmla="*/ 287608 h 1410906"/>
              <a:gd name="connsiteX1" fmla="*/ 524913 w 1394416"/>
              <a:gd name="connsiteY1" fmla="*/ 296546 h 1410906"/>
              <a:gd name="connsiteX2" fmla="*/ 506985 w 1394416"/>
              <a:gd name="connsiteY2" fmla="*/ 305484 h 1410906"/>
              <a:gd name="connsiteX3" fmla="*/ 493539 w 1394416"/>
              <a:gd name="connsiteY3" fmla="*/ 314422 h 1410906"/>
              <a:gd name="connsiteX4" fmla="*/ 484575 w 1394416"/>
              <a:gd name="connsiteY4" fmla="*/ 332297 h 1410906"/>
              <a:gd name="connsiteX5" fmla="*/ 480093 w 1394416"/>
              <a:gd name="connsiteY5" fmla="*/ 345704 h 1410906"/>
              <a:gd name="connsiteX6" fmla="*/ 475611 w 1394416"/>
              <a:gd name="connsiteY6" fmla="*/ 363580 h 1410906"/>
              <a:gd name="connsiteX7" fmla="*/ 475611 w 1394416"/>
              <a:gd name="connsiteY7" fmla="*/ 381456 h 1410906"/>
              <a:gd name="connsiteX8" fmla="*/ 475611 w 1394416"/>
              <a:gd name="connsiteY8" fmla="*/ 399331 h 1410906"/>
              <a:gd name="connsiteX9" fmla="*/ 484575 w 1394416"/>
              <a:gd name="connsiteY9" fmla="*/ 412738 h 1410906"/>
              <a:gd name="connsiteX10" fmla="*/ 493539 w 1394416"/>
              <a:gd name="connsiteY10" fmla="*/ 430614 h 1410906"/>
              <a:gd name="connsiteX11" fmla="*/ 506985 w 1394416"/>
              <a:gd name="connsiteY11" fmla="*/ 444021 h 1410906"/>
              <a:gd name="connsiteX12" fmla="*/ 802794 w 1394416"/>
              <a:gd name="connsiteY12" fmla="*/ 698750 h 1410906"/>
              <a:gd name="connsiteX13" fmla="*/ 515949 w 1394416"/>
              <a:gd name="connsiteY13" fmla="*/ 971355 h 1410906"/>
              <a:gd name="connsiteX14" fmla="*/ 502503 w 1394416"/>
              <a:gd name="connsiteY14" fmla="*/ 984761 h 1410906"/>
              <a:gd name="connsiteX15" fmla="*/ 493539 w 1394416"/>
              <a:gd name="connsiteY15" fmla="*/ 998168 h 1410906"/>
              <a:gd name="connsiteX16" fmla="*/ 489057 w 1394416"/>
              <a:gd name="connsiteY16" fmla="*/ 1016044 h 1410906"/>
              <a:gd name="connsiteX17" fmla="*/ 484575 w 1394416"/>
              <a:gd name="connsiteY17" fmla="*/ 1033920 h 1410906"/>
              <a:gd name="connsiteX18" fmla="*/ 489057 w 1394416"/>
              <a:gd name="connsiteY18" fmla="*/ 1051795 h 1410906"/>
              <a:gd name="connsiteX19" fmla="*/ 493539 w 1394416"/>
              <a:gd name="connsiteY19" fmla="*/ 1069671 h 1410906"/>
              <a:gd name="connsiteX20" fmla="*/ 498021 w 1394416"/>
              <a:gd name="connsiteY20" fmla="*/ 1083078 h 1410906"/>
              <a:gd name="connsiteX21" fmla="*/ 511467 w 1394416"/>
              <a:gd name="connsiteY21" fmla="*/ 1096485 h 1410906"/>
              <a:gd name="connsiteX22" fmla="*/ 524913 w 1394416"/>
              <a:gd name="connsiteY22" fmla="*/ 1109891 h 1410906"/>
              <a:gd name="connsiteX23" fmla="*/ 542840 w 1394416"/>
              <a:gd name="connsiteY23" fmla="*/ 1118829 h 1410906"/>
              <a:gd name="connsiteX24" fmla="*/ 556286 w 1394416"/>
              <a:gd name="connsiteY24" fmla="*/ 1123298 h 1410906"/>
              <a:gd name="connsiteX25" fmla="*/ 574214 w 1394416"/>
              <a:gd name="connsiteY25" fmla="*/ 1123298 h 1410906"/>
              <a:gd name="connsiteX26" fmla="*/ 592142 w 1394416"/>
              <a:gd name="connsiteY26" fmla="*/ 1123298 h 1410906"/>
              <a:gd name="connsiteX27" fmla="*/ 610070 w 1394416"/>
              <a:gd name="connsiteY27" fmla="*/ 1118829 h 1410906"/>
              <a:gd name="connsiteX28" fmla="*/ 623516 w 1394416"/>
              <a:gd name="connsiteY28" fmla="*/ 1109891 h 1410906"/>
              <a:gd name="connsiteX29" fmla="*/ 636961 w 1394416"/>
              <a:gd name="connsiteY29" fmla="*/ 1100954 h 1410906"/>
              <a:gd name="connsiteX30" fmla="*/ 999999 w 1394416"/>
              <a:gd name="connsiteY30" fmla="*/ 756846 h 1410906"/>
              <a:gd name="connsiteX31" fmla="*/ 1013445 w 1394416"/>
              <a:gd name="connsiteY31" fmla="*/ 743439 h 1410906"/>
              <a:gd name="connsiteX32" fmla="*/ 1017927 w 1394416"/>
              <a:gd name="connsiteY32" fmla="*/ 725563 h 1410906"/>
              <a:gd name="connsiteX33" fmla="*/ 1026891 w 1394416"/>
              <a:gd name="connsiteY33" fmla="*/ 707688 h 1410906"/>
              <a:gd name="connsiteX34" fmla="*/ 1026891 w 1394416"/>
              <a:gd name="connsiteY34" fmla="*/ 689812 h 1410906"/>
              <a:gd name="connsiteX35" fmla="*/ 1022409 w 1394416"/>
              <a:gd name="connsiteY35" fmla="*/ 671936 h 1410906"/>
              <a:gd name="connsiteX36" fmla="*/ 1017927 w 1394416"/>
              <a:gd name="connsiteY36" fmla="*/ 654061 h 1410906"/>
              <a:gd name="connsiteX37" fmla="*/ 1008963 w 1394416"/>
              <a:gd name="connsiteY37" fmla="*/ 640654 h 1410906"/>
              <a:gd name="connsiteX38" fmla="*/ 995517 w 1394416"/>
              <a:gd name="connsiteY38" fmla="*/ 627247 h 1410906"/>
              <a:gd name="connsiteX39" fmla="*/ 623516 w 1394416"/>
              <a:gd name="connsiteY39" fmla="*/ 305484 h 1410906"/>
              <a:gd name="connsiteX40" fmla="*/ 605588 w 1394416"/>
              <a:gd name="connsiteY40" fmla="*/ 296546 h 1410906"/>
              <a:gd name="connsiteX41" fmla="*/ 592142 w 1394416"/>
              <a:gd name="connsiteY41" fmla="*/ 287608 h 1410906"/>
              <a:gd name="connsiteX42" fmla="*/ 574214 w 1394416"/>
              <a:gd name="connsiteY42" fmla="*/ 287608 h 1410906"/>
              <a:gd name="connsiteX43" fmla="*/ 556286 w 1394416"/>
              <a:gd name="connsiteY43" fmla="*/ 287608 h 1410906"/>
              <a:gd name="connsiteX44" fmla="*/ 697208 w 1394416"/>
              <a:gd name="connsiteY44" fmla="*/ 0 h 1410906"/>
              <a:gd name="connsiteX45" fmla="*/ 1394416 w 1394416"/>
              <a:gd name="connsiteY45" fmla="*/ 705453 h 1410906"/>
              <a:gd name="connsiteX46" fmla="*/ 697208 w 1394416"/>
              <a:gd name="connsiteY46" fmla="*/ 1410906 h 1410906"/>
              <a:gd name="connsiteX47" fmla="*/ 0 w 1394416"/>
              <a:gd name="connsiteY47" fmla="*/ 705453 h 1410906"/>
              <a:gd name="connsiteX48" fmla="*/ 697208 w 1394416"/>
              <a:gd name="connsiteY48" fmla="*/ 0 h 14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394416" h="1410906">
                <a:moveTo>
                  <a:pt x="538358" y="287608"/>
                </a:moveTo>
                <a:lnTo>
                  <a:pt x="524913" y="296546"/>
                </a:lnTo>
                <a:lnTo>
                  <a:pt x="506985" y="305484"/>
                </a:lnTo>
                <a:lnTo>
                  <a:pt x="493539" y="314422"/>
                </a:lnTo>
                <a:lnTo>
                  <a:pt x="484575" y="332297"/>
                </a:lnTo>
                <a:lnTo>
                  <a:pt x="480093" y="345704"/>
                </a:lnTo>
                <a:lnTo>
                  <a:pt x="475611" y="363580"/>
                </a:lnTo>
                <a:lnTo>
                  <a:pt x="475611" y="381456"/>
                </a:lnTo>
                <a:lnTo>
                  <a:pt x="475611" y="399331"/>
                </a:lnTo>
                <a:lnTo>
                  <a:pt x="484575" y="412738"/>
                </a:lnTo>
                <a:lnTo>
                  <a:pt x="493539" y="430614"/>
                </a:lnTo>
                <a:lnTo>
                  <a:pt x="506985" y="444021"/>
                </a:lnTo>
                <a:lnTo>
                  <a:pt x="802794" y="698750"/>
                </a:lnTo>
                <a:lnTo>
                  <a:pt x="515949" y="971355"/>
                </a:lnTo>
                <a:lnTo>
                  <a:pt x="502503" y="984761"/>
                </a:lnTo>
                <a:lnTo>
                  <a:pt x="493539" y="998168"/>
                </a:lnTo>
                <a:lnTo>
                  <a:pt x="489057" y="1016044"/>
                </a:lnTo>
                <a:lnTo>
                  <a:pt x="484575" y="1033920"/>
                </a:lnTo>
                <a:lnTo>
                  <a:pt x="489057" y="1051795"/>
                </a:lnTo>
                <a:lnTo>
                  <a:pt x="493539" y="1069671"/>
                </a:lnTo>
                <a:lnTo>
                  <a:pt x="498021" y="1083078"/>
                </a:lnTo>
                <a:lnTo>
                  <a:pt x="511467" y="1096485"/>
                </a:lnTo>
                <a:lnTo>
                  <a:pt x="524913" y="1109891"/>
                </a:lnTo>
                <a:lnTo>
                  <a:pt x="542840" y="1118829"/>
                </a:lnTo>
                <a:lnTo>
                  <a:pt x="556286" y="1123298"/>
                </a:lnTo>
                <a:lnTo>
                  <a:pt x="574214" y="1123298"/>
                </a:lnTo>
                <a:lnTo>
                  <a:pt x="592142" y="1123298"/>
                </a:lnTo>
                <a:lnTo>
                  <a:pt x="610070" y="1118829"/>
                </a:lnTo>
                <a:lnTo>
                  <a:pt x="623516" y="1109891"/>
                </a:lnTo>
                <a:lnTo>
                  <a:pt x="636961" y="1100954"/>
                </a:lnTo>
                <a:lnTo>
                  <a:pt x="999999" y="756846"/>
                </a:lnTo>
                <a:lnTo>
                  <a:pt x="1013445" y="743439"/>
                </a:lnTo>
                <a:lnTo>
                  <a:pt x="1017927" y="725563"/>
                </a:lnTo>
                <a:lnTo>
                  <a:pt x="1026891" y="707688"/>
                </a:lnTo>
                <a:lnTo>
                  <a:pt x="1026891" y="689812"/>
                </a:lnTo>
                <a:lnTo>
                  <a:pt x="1022409" y="671936"/>
                </a:lnTo>
                <a:lnTo>
                  <a:pt x="1017927" y="654061"/>
                </a:lnTo>
                <a:lnTo>
                  <a:pt x="1008963" y="640654"/>
                </a:lnTo>
                <a:lnTo>
                  <a:pt x="995517" y="627247"/>
                </a:lnTo>
                <a:lnTo>
                  <a:pt x="623516" y="305484"/>
                </a:lnTo>
                <a:lnTo>
                  <a:pt x="605588" y="296546"/>
                </a:lnTo>
                <a:lnTo>
                  <a:pt x="592142" y="287608"/>
                </a:lnTo>
                <a:lnTo>
                  <a:pt x="574214" y="287608"/>
                </a:lnTo>
                <a:lnTo>
                  <a:pt x="556286" y="287608"/>
                </a:lnTo>
                <a:close/>
                <a:moveTo>
                  <a:pt x="697208" y="0"/>
                </a:moveTo>
                <a:cubicBezTo>
                  <a:pt x="1082265" y="0"/>
                  <a:pt x="1394416" y="315842"/>
                  <a:pt x="1394416" y="705453"/>
                </a:cubicBezTo>
                <a:cubicBezTo>
                  <a:pt x="1394416" y="1095064"/>
                  <a:pt x="1082265" y="1410906"/>
                  <a:pt x="697208" y="1410906"/>
                </a:cubicBezTo>
                <a:cubicBezTo>
                  <a:pt x="312151" y="1410906"/>
                  <a:pt x="0" y="1095064"/>
                  <a:pt x="0" y="705453"/>
                </a:cubicBezTo>
                <a:cubicBezTo>
                  <a:pt x="0" y="315842"/>
                  <a:pt x="312151" y="0"/>
                  <a:pt x="697208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txBody>
          <a:bodyPr wrap="square" lIns="40116" tIns="40116" rIns="40116" bIns="40116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000" b="0" i="0" u="none" strike="noStrike" kern="0" cap="none" spc="0" normalizeH="0" baseline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EEDCE939-3723-4951-97E0-46F617022B73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6114342" y="1523029"/>
            <a:ext cx="216000" cy="216000"/>
          </a:xfrm>
          <a:custGeom>
            <a:avLst/>
            <a:gdLst>
              <a:gd name="connsiteX0" fmla="*/ 538358 w 1394416"/>
              <a:gd name="connsiteY0" fmla="*/ 287608 h 1410906"/>
              <a:gd name="connsiteX1" fmla="*/ 524913 w 1394416"/>
              <a:gd name="connsiteY1" fmla="*/ 296546 h 1410906"/>
              <a:gd name="connsiteX2" fmla="*/ 506985 w 1394416"/>
              <a:gd name="connsiteY2" fmla="*/ 305484 h 1410906"/>
              <a:gd name="connsiteX3" fmla="*/ 493539 w 1394416"/>
              <a:gd name="connsiteY3" fmla="*/ 314422 h 1410906"/>
              <a:gd name="connsiteX4" fmla="*/ 484575 w 1394416"/>
              <a:gd name="connsiteY4" fmla="*/ 332297 h 1410906"/>
              <a:gd name="connsiteX5" fmla="*/ 480093 w 1394416"/>
              <a:gd name="connsiteY5" fmla="*/ 345704 h 1410906"/>
              <a:gd name="connsiteX6" fmla="*/ 475611 w 1394416"/>
              <a:gd name="connsiteY6" fmla="*/ 363580 h 1410906"/>
              <a:gd name="connsiteX7" fmla="*/ 475611 w 1394416"/>
              <a:gd name="connsiteY7" fmla="*/ 381456 h 1410906"/>
              <a:gd name="connsiteX8" fmla="*/ 475611 w 1394416"/>
              <a:gd name="connsiteY8" fmla="*/ 399331 h 1410906"/>
              <a:gd name="connsiteX9" fmla="*/ 484575 w 1394416"/>
              <a:gd name="connsiteY9" fmla="*/ 412738 h 1410906"/>
              <a:gd name="connsiteX10" fmla="*/ 493539 w 1394416"/>
              <a:gd name="connsiteY10" fmla="*/ 430614 h 1410906"/>
              <a:gd name="connsiteX11" fmla="*/ 506985 w 1394416"/>
              <a:gd name="connsiteY11" fmla="*/ 444021 h 1410906"/>
              <a:gd name="connsiteX12" fmla="*/ 802794 w 1394416"/>
              <a:gd name="connsiteY12" fmla="*/ 698750 h 1410906"/>
              <a:gd name="connsiteX13" fmla="*/ 515949 w 1394416"/>
              <a:gd name="connsiteY13" fmla="*/ 971355 h 1410906"/>
              <a:gd name="connsiteX14" fmla="*/ 502503 w 1394416"/>
              <a:gd name="connsiteY14" fmla="*/ 984761 h 1410906"/>
              <a:gd name="connsiteX15" fmla="*/ 493539 w 1394416"/>
              <a:gd name="connsiteY15" fmla="*/ 998168 h 1410906"/>
              <a:gd name="connsiteX16" fmla="*/ 489057 w 1394416"/>
              <a:gd name="connsiteY16" fmla="*/ 1016044 h 1410906"/>
              <a:gd name="connsiteX17" fmla="*/ 484575 w 1394416"/>
              <a:gd name="connsiteY17" fmla="*/ 1033920 h 1410906"/>
              <a:gd name="connsiteX18" fmla="*/ 489057 w 1394416"/>
              <a:gd name="connsiteY18" fmla="*/ 1051795 h 1410906"/>
              <a:gd name="connsiteX19" fmla="*/ 493539 w 1394416"/>
              <a:gd name="connsiteY19" fmla="*/ 1069671 h 1410906"/>
              <a:gd name="connsiteX20" fmla="*/ 498021 w 1394416"/>
              <a:gd name="connsiteY20" fmla="*/ 1083078 h 1410906"/>
              <a:gd name="connsiteX21" fmla="*/ 511467 w 1394416"/>
              <a:gd name="connsiteY21" fmla="*/ 1096485 h 1410906"/>
              <a:gd name="connsiteX22" fmla="*/ 524913 w 1394416"/>
              <a:gd name="connsiteY22" fmla="*/ 1109891 h 1410906"/>
              <a:gd name="connsiteX23" fmla="*/ 542840 w 1394416"/>
              <a:gd name="connsiteY23" fmla="*/ 1118829 h 1410906"/>
              <a:gd name="connsiteX24" fmla="*/ 556286 w 1394416"/>
              <a:gd name="connsiteY24" fmla="*/ 1123298 h 1410906"/>
              <a:gd name="connsiteX25" fmla="*/ 574214 w 1394416"/>
              <a:gd name="connsiteY25" fmla="*/ 1123298 h 1410906"/>
              <a:gd name="connsiteX26" fmla="*/ 592142 w 1394416"/>
              <a:gd name="connsiteY26" fmla="*/ 1123298 h 1410906"/>
              <a:gd name="connsiteX27" fmla="*/ 610070 w 1394416"/>
              <a:gd name="connsiteY27" fmla="*/ 1118829 h 1410906"/>
              <a:gd name="connsiteX28" fmla="*/ 623516 w 1394416"/>
              <a:gd name="connsiteY28" fmla="*/ 1109891 h 1410906"/>
              <a:gd name="connsiteX29" fmla="*/ 636961 w 1394416"/>
              <a:gd name="connsiteY29" fmla="*/ 1100954 h 1410906"/>
              <a:gd name="connsiteX30" fmla="*/ 999999 w 1394416"/>
              <a:gd name="connsiteY30" fmla="*/ 756846 h 1410906"/>
              <a:gd name="connsiteX31" fmla="*/ 1013445 w 1394416"/>
              <a:gd name="connsiteY31" fmla="*/ 743439 h 1410906"/>
              <a:gd name="connsiteX32" fmla="*/ 1017927 w 1394416"/>
              <a:gd name="connsiteY32" fmla="*/ 725563 h 1410906"/>
              <a:gd name="connsiteX33" fmla="*/ 1026891 w 1394416"/>
              <a:gd name="connsiteY33" fmla="*/ 707688 h 1410906"/>
              <a:gd name="connsiteX34" fmla="*/ 1026891 w 1394416"/>
              <a:gd name="connsiteY34" fmla="*/ 689812 h 1410906"/>
              <a:gd name="connsiteX35" fmla="*/ 1022409 w 1394416"/>
              <a:gd name="connsiteY35" fmla="*/ 671936 h 1410906"/>
              <a:gd name="connsiteX36" fmla="*/ 1017927 w 1394416"/>
              <a:gd name="connsiteY36" fmla="*/ 654061 h 1410906"/>
              <a:gd name="connsiteX37" fmla="*/ 1008963 w 1394416"/>
              <a:gd name="connsiteY37" fmla="*/ 640654 h 1410906"/>
              <a:gd name="connsiteX38" fmla="*/ 995517 w 1394416"/>
              <a:gd name="connsiteY38" fmla="*/ 627247 h 1410906"/>
              <a:gd name="connsiteX39" fmla="*/ 623516 w 1394416"/>
              <a:gd name="connsiteY39" fmla="*/ 305484 h 1410906"/>
              <a:gd name="connsiteX40" fmla="*/ 605588 w 1394416"/>
              <a:gd name="connsiteY40" fmla="*/ 296546 h 1410906"/>
              <a:gd name="connsiteX41" fmla="*/ 592142 w 1394416"/>
              <a:gd name="connsiteY41" fmla="*/ 287608 h 1410906"/>
              <a:gd name="connsiteX42" fmla="*/ 574214 w 1394416"/>
              <a:gd name="connsiteY42" fmla="*/ 287608 h 1410906"/>
              <a:gd name="connsiteX43" fmla="*/ 556286 w 1394416"/>
              <a:gd name="connsiteY43" fmla="*/ 287608 h 1410906"/>
              <a:gd name="connsiteX44" fmla="*/ 697208 w 1394416"/>
              <a:gd name="connsiteY44" fmla="*/ 0 h 1410906"/>
              <a:gd name="connsiteX45" fmla="*/ 1394416 w 1394416"/>
              <a:gd name="connsiteY45" fmla="*/ 705453 h 1410906"/>
              <a:gd name="connsiteX46" fmla="*/ 697208 w 1394416"/>
              <a:gd name="connsiteY46" fmla="*/ 1410906 h 1410906"/>
              <a:gd name="connsiteX47" fmla="*/ 0 w 1394416"/>
              <a:gd name="connsiteY47" fmla="*/ 705453 h 1410906"/>
              <a:gd name="connsiteX48" fmla="*/ 697208 w 1394416"/>
              <a:gd name="connsiteY48" fmla="*/ 0 h 14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394416" h="1410906">
                <a:moveTo>
                  <a:pt x="538358" y="287608"/>
                </a:moveTo>
                <a:lnTo>
                  <a:pt x="524913" y="296546"/>
                </a:lnTo>
                <a:lnTo>
                  <a:pt x="506985" y="305484"/>
                </a:lnTo>
                <a:lnTo>
                  <a:pt x="493539" y="314422"/>
                </a:lnTo>
                <a:lnTo>
                  <a:pt x="484575" y="332297"/>
                </a:lnTo>
                <a:lnTo>
                  <a:pt x="480093" y="345704"/>
                </a:lnTo>
                <a:lnTo>
                  <a:pt x="475611" y="363580"/>
                </a:lnTo>
                <a:lnTo>
                  <a:pt x="475611" y="381456"/>
                </a:lnTo>
                <a:lnTo>
                  <a:pt x="475611" y="399331"/>
                </a:lnTo>
                <a:lnTo>
                  <a:pt x="484575" y="412738"/>
                </a:lnTo>
                <a:lnTo>
                  <a:pt x="493539" y="430614"/>
                </a:lnTo>
                <a:lnTo>
                  <a:pt x="506985" y="444021"/>
                </a:lnTo>
                <a:lnTo>
                  <a:pt x="802794" y="698750"/>
                </a:lnTo>
                <a:lnTo>
                  <a:pt x="515949" y="971355"/>
                </a:lnTo>
                <a:lnTo>
                  <a:pt x="502503" y="984761"/>
                </a:lnTo>
                <a:lnTo>
                  <a:pt x="493539" y="998168"/>
                </a:lnTo>
                <a:lnTo>
                  <a:pt x="489057" y="1016044"/>
                </a:lnTo>
                <a:lnTo>
                  <a:pt x="484575" y="1033920"/>
                </a:lnTo>
                <a:lnTo>
                  <a:pt x="489057" y="1051795"/>
                </a:lnTo>
                <a:lnTo>
                  <a:pt x="493539" y="1069671"/>
                </a:lnTo>
                <a:lnTo>
                  <a:pt x="498021" y="1083078"/>
                </a:lnTo>
                <a:lnTo>
                  <a:pt x="511467" y="1096485"/>
                </a:lnTo>
                <a:lnTo>
                  <a:pt x="524913" y="1109891"/>
                </a:lnTo>
                <a:lnTo>
                  <a:pt x="542840" y="1118829"/>
                </a:lnTo>
                <a:lnTo>
                  <a:pt x="556286" y="1123298"/>
                </a:lnTo>
                <a:lnTo>
                  <a:pt x="574214" y="1123298"/>
                </a:lnTo>
                <a:lnTo>
                  <a:pt x="592142" y="1123298"/>
                </a:lnTo>
                <a:lnTo>
                  <a:pt x="610070" y="1118829"/>
                </a:lnTo>
                <a:lnTo>
                  <a:pt x="623516" y="1109891"/>
                </a:lnTo>
                <a:lnTo>
                  <a:pt x="636961" y="1100954"/>
                </a:lnTo>
                <a:lnTo>
                  <a:pt x="999999" y="756846"/>
                </a:lnTo>
                <a:lnTo>
                  <a:pt x="1013445" y="743439"/>
                </a:lnTo>
                <a:lnTo>
                  <a:pt x="1017927" y="725563"/>
                </a:lnTo>
                <a:lnTo>
                  <a:pt x="1026891" y="707688"/>
                </a:lnTo>
                <a:lnTo>
                  <a:pt x="1026891" y="689812"/>
                </a:lnTo>
                <a:lnTo>
                  <a:pt x="1022409" y="671936"/>
                </a:lnTo>
                <a:lnTo>
                  <a:pt x="1017927" y="654061"/>
                </a:lnTo>
                <a:lnTo>
                  <a:pt x="1008963" y="640654"/>
                </a:lnTo>
                <a:lnTo>
                  <a:pt x="995517" y="627247"/>
                </a:lnTo>
                <a:lnTo>
                  <a:pt x="623516" y="305484"/>
                </a:lnTo>
                <a:lnTo>
                  <a:pt x="605588" y="296546"/>
                </a:lnTo>
                <a:lnTo>
                  <a:pt x="592142" y="287608"/>
                </a:lnTo>
                <a:lnTo>
                  <a:pt x="574214" y="287608"/>
                </a:lnTo>
                <a:lnTo>
                  <a:pt x="556286" y="287608"/>
                </a:lnTo>
                <a:close/>
                <a:moveTo>
                  <a:pt x="697208" y="0"/>
                </a:moveTo>
                <a:cubicBezTo>
                  <a:pt x="1082265" y="0"/>
                  <a:pt x="1394416" y="315842"/>
                  <a:pt x="1394416" y="705453"/>
                </a:cubicBezTo>
                <a:cubicBezTo>
                  <a:pt x="1394416" y="1095064"/>
                  <a:pt x="1082265" y="1410906"/>
                  <a:pt x="697208" y="1410906"/>
                </a:cubicBezTo>
                <a:cubicBezTo>
                  <a:pt x="312151" y="1410906"/>
                  <a:pt x="0" y="1095064"/>
                  <a:pt x="0" y="705453"/>
                </a:cubicBezTo>
                <a:cubicBezTo>
                  <a:pt x="0" y="315842"/>
                  <a:pt x="312151" y="0"/>
                  <a:pt x="697208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9050">
            <a:noFill/>
          </a:ln>
        </p:spPr>
        <p:txBody>
          <a:bodyPr wrap="square" lIns="40116" tIns="40116" rIns="40116" bIns="40116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000" b="0" i="0" u="none" strike="noStrike" kern="0" cap="none" spc="0" normalizeH="0" baseline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8BFD7CD8-507F-4437-A786-11FD2E1E3F36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6482910" y="1523029"/>
            <a:ext cx="216000" cy="216000"/>
          </a:xfrm>
          <a:custGeom>
            <a:avLst/>
            <a:gdLst>
              <a:gd name="connsiteX0" fmla="*/ 538358 w 1394416"/>
              <a:gd name="connsiteY0" fmla="*/ 287608 h 1410906"/>
              <a:gd name="connsiteX1" fmla="*/ 524913 w 1394416"/>
              <a:gd name="connsiteY1" fmla="*/ 296546 h 1410906"/>
              <a:gd name="connsiteX2" fmla="*/ 506985 w 1394416"/>
              <a:gd name="connsiteY2" fmla="*/ 305484 h 1410906"/>
              <a:gd name="connsiteX3" fmla="*/ 493539 w 1394416"/>
              <a:gd name="connsiteY3" fmla="*/ 314422 h 1410906"/>
              <a:gd name="connsiteX4" fmla="*/ 484575 w 1394416"/>
              <a:gd name="connsiteY4" fmla="*/ 332297 h 1410906"/>
              <a:gd name="connsiteX5" fmla="*/ 480093 w 1394416"/>
              <a:gd name="connsiteY5" fmla="*/ 345704 h 1410906"/>
              <a:gd name="connsiteX6" fmla="*/ 475611 w 1394416"/>
              <a:gd name="connsiteY6" fmla="*/ 363580 h 1410906"/>
              <a:gd name="connsiteX7" fmla="*/ 475611 w 1394416"/>
              <a:gd name="connsiteY7" fmla="*/ 381456 h 1410906"/>
              <a:gd name="connsiteX8" fmla="*/ 475611 w 1394416"/>
              <a:gd name="connsiteY8" fmla="*/ 399331 h 1410906"/>
              <a:gd name="connsiteX9" fmla="*/ 484575 w 1394416"/>
              <a:gd name="connsiteY9" fmla="*/ 412738 h 1410906"/>
              <a:gd name="connsiteX10" fmla="*/ 493539 w 1394416"/>
              <a:gd name="connsiteY10" fmla="*/ 430614 h 1410906"/>
              <a:gd name="connsiteX11" fmla="*/ 506985 w 1394416"/>
              <a:gd name="connsiteY11" fmla="*/ 444021 h 1410906"/>
              <a:gd name="connsiteX12" fmla="*/ 802794 w 1394416"/>
              <a:gd name="connsiteY12" fmla="*/ 698750 h 1410906"/>
              <a:gd name="connsiteX13" fmla="*/ 515949 w 1394416"/>
              <a:gd name="connsiteY13" fmla="*/ 971355 h 1410906"/>
              <a:gd name="connsiteX14" fmla="*/ 502503 w 1394416"/>
              <a:gd name="connsiteY14" fmla="*/ 984761 h 1410906"/>
              <a:gd name="connsiteX15" fmla="*/ 493539 w 1394416"/>
              <a:gd name="connsiteY15" fmla="*/ 998168 h 1410906"/>
              <a:gd name="connsiteX16" fmla="*/ 489057 w 1394416"/>
              <a:gd name="connsiteY16" fmla="*/ 1016044 h 1410906"/>
              <a:gd name="connsiteX17" fmla="*/ 484575 w 1394416"/>
              <a:gd name="connsiteY17" fmla="*/ 1033920 h 1410906"/>
              <a:gd name="connsiteX18" fmla="*/ 489057 w 1394416"/>
              <a:gd name="connsiteY18" fmla="*/ 1051795 h 1410906"/>
              <a:gd name="connsiteX19" fmla="*/ 493539 w 1394416"/>
              <a:gd name="connsiteY19" fmla="*/ 1069671 h 1410906"/>
              <a:gd name="connsiteX20" fmla="*/ 498021 w 1394416"/>
              <a:gd name="connsiteY20" fmla="*/ 1083078 h 1410906"/>
              <a:gd name="connsiteX21" fmla="*/ 511467 w 1394416"/>
              <a:gd name="connsiteY21" fmla="*/ 1096485 h 1410906"/>
              <a:gd name="connsiteX22" fmla="*/ 524913 w 1394416"/>
              <a:gd name="connsiteY22" fmla="*/ 1109891 h 1410906"/>
              <a:gd name="connsiteX23" fmla="*/ 542840 w 1394416"/>
              <a:gd name="connsiteY23" fmla="*/ 1118829 h 1410906"/>
              <a:gd name="connsiteX24" fmla="*/ 556286 w 1394416"/>
              <a:gd name="connsiteY24" fmla="*/ 1123298 h 1410906"/>
              <a:gd name="connsiteX25" fmla="*/ 574214 w 1394416"/>
              <a:gd name="connsiteY25" fmla="*/ 1123298 h 1410906"/>
              <a:gd name="connsiteX26" fmla="*/ 592142 w 1394416"/>
              <a:gd name="connsiteY26" fmla="*/ 1123298 h 1410906"/>
              <a:gd name="connsiteX27" fmla="*/ 610070 w 1394416"/>
              <a:gd name="connsiteY27" fmla="*/ 1118829 h 1410906"/>
              <a:gd name="connsiteX28" fmla="*/ 623516 w 1394416"/>
              <a:gd name="connsiteY28" fmla="*/ 1109891 h 1410906"/>
              <a:gd name="connsiteX29" fmla="*/ 636961 w 1394416"/>
              <a:gd name="connsiteY29" fmla="*/ 1100954 h 1410906"/>
              <a:gd name="connsiteX30" fmla="*/ 999999 w 1394416"/>
              <a:gd name="connsiteY30" fmla="*/ 756846 h 1410906"/>
              <a:gd name="connsiteX31" fmla="*/ 1013445 w 1394416"/>
              <a:gd name="connsiteY31" fmla="*/ 743439 h 1410906"/>
              <a:gd name="connsiteX32" fmla="*/ 1017927 w 1394416"/>
              <a:gd name="connsiteY32" fmla="*/ 725563 h 1410906"/>
              <a:gd name="connsiteX33" fmla="*/ 1026891 w 1394416"/>
              <a:gd name="connsiteY33" fmla="*/ 707688 h 1410906"/>
              <a:gd name="connsiteX34" fmla="*/ 1026891 w 1394416"/>
              <a:gd name="connsiteY34" fmla="*/ 689812 h 1410906"/>
              <a:gd name="connsiteX35" fmla="*/ 1022409 w 1394416"/>
              <a:gd name="connsiteY35" fmla="*/ 671936 h 1410906"/>
              <a:gd name="connsiteX36" fmla="*/ 1017927 w 1394416"/>
              <a:gd name="connsiteY36" fmla="*/ 654061 h 1410906"/>
              <a:gd name="connsiteX37" fmla="*/ 1008963 w 1394416"/>
              <a:gd name="connsiteY37" fmla="*/ 640654 h 1410906"/>
              <a:gd name="connsiteX38" fmla="*/ 995517 w 1394416"/>
              <a:gd name="connsiteY38" fmla="*/ 627247 h 1410906"/>
              <a:gd name="connsiteX39" fmla="*/ 623516 w 1394416"/>
              <a:gd name="connsiteY39" fmla="*/ 305484 h 1410906"/>
              <a:gd name="connsiteX40" fmla="*/ 605588 w 1394416"/>
              <a:gd name="connsiteY40" fmla="*/ 296546 h 1410906"/>
              <a:gd name="connsiteX41" fmla="*/ 592142 w 1394416"/>
              <a:gd name="connsiteY41" fmla="*/ 287608 h 1410906"/>
              <a:gd name="connsiteX42" fmla="*/ 574214 w 1394416"/>
              <a:gd name="connsiteY42" fmla="*/ 287608 h 1410906"/>
              <a:gd name="connsiteX43" fmla="*/ 556286 w 1394416"/>
              <a:gd name="connsiteY43" fmla="*/ 287608 h 1410906"/>
              <a:gd name="connsiteX44" fmla="*/ 697208 w 1394416"/>
              <a:gd name="connsiteY44" fmla="*/ 0 h 1410906"/>
              <a:gd name="connsiteX45" fmla="*/ 1394416 w 1394416"/>
              <a:gd name="connsiteY45" fmla="*/ 705453 h 1410906"/>
              <a:gd name="connsiteX46" fmla="*/ 697208 w 1394416"/>
              <a:gd name="connsiteY46" fmla="*/ 1410906 h 1410906"/>
              <a:gd name="connsiteX47" fmla="*/ 0 w 1394416"/>
              <a:gd name="connsiteY47" fmla="*/ 705453 h 1410906"/>
              <a:gd name="connsiteX48" fmla="*/ 697208 w 1394416"/>
              <a:gd name="connsiteY48" fmla="*/ 0 h 1410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394416" h="1410906">
                <a:moveTo>
                  <a:pt x="538358" y="287608"/>
                </a:moveTo>
                <a:lnTo>
                  <a:pt x="524913" y="296546"/>
                </a:lnTo>
                <a:lnTo>
                  <a:pt x="506985" y="305484"/>
                </a:lnTo>
                <a:lnTo>
                  <a:pt x="493539" y="314422"/>
                </a:lnTo>
                <a:lnTo>
                  <a:pt x="484575" y="332297"/>
                </a:lnTo>
                <a:lnTo>
                  <a:pt x="480093" y="345704"/>
                </a:lnTo>
                <a:lnTo>
                  <a:pt x="475611" y="363580"/>
                </a:lnTo>
                <a:lnTo>
                  <a:pt x="475611" y="381456"/>
                </a:lnTo>
                <a:lnTo>
                  <a:pt x="475611" y="399331"/>
                </a:lnTo>
                <a:lnTo>
                  <a:pt x="484575" y="412738"/>
                </a:lnTo>
                <a:lnTo>
                  <a:pt x="493539" y="430614"/>
                </a:lnTo>
                <a:lnTo>
                  <a:pt x="506985" y="444021"/>
                </a:lnTo>
                <a:lnTo>
                  <a:pt x="802794" y="698750"/>
                </a:lnTo>
                <a:lnTo>
                  <a:pt x="515949" y="971355"/>
                </a:lnTo>
                <a:lnTo>
                  <a:pt x="502503" y="984761"/>
                </a:lnTo>
                <a:lnTo>
                  <a:pt x="493539" y="998168"/>
                </a:lnTo>
                <a:lnTo>
                  <a:pt x="489057" y="1016044"/>
                </a:lnTo>
                <a:lnTo>
                  <a:pt x="484575" y="1033920"/>
                </a:lnTo>
                <a:lnTo>
                  <a:pt x="489057" y="1051795"/>
                </a:lnTo>
                <a:lnTo>
                  <a:pt x="493539" y="1069671"/>
                </a:lnTo>
                <a:lnTo>
                  <a:pt x="498021" y="1083078"/>
                </a:lnTo>
                <a:lnTo>
                  <a:pt x="511467" y="1096485"/>
                </a:lnTo>
                <a:lnTo>
                  <a:pt x="524913" y="1109891"/>
                </a:lnTo>
                <a:lnTo>
                  <a:pt x="542840" y="1118829"/>
                </a:lnTo>
                <a:lnTo>
                  <a:pt x="556286" y="1123298"/>
                </a:lnTo>
                <a:lnTo>
                  <a:pt x="574214" y="1123298"/>
                </a:lnTo>
                <a:lnTo>
                  <a:pt x="592142" y="1123298"/>
                </a:lnTo>
                <a:lnTo>
                  <a:pt x="610070" y="1118829"/>
                </a:lnTo>
                <a:lnTo>
                  <a:pt x="623516" y="1109891"/>
                </a:lnTo>
                <a:lnTo>
                  <a:pt x="636961" y="1100954"/>
                </a:lnTo>
                <a:lnTo>
                  <a:pt x="999999" y="756846"/>
                </a:lnTo>
                <a:lnTo>
                  <a:pt x="1013445" y="743439"/>
                </a:lnTo>
                <a:lnTo>
                  <a:pt x="1017927" y="725563"/>
                </a:lnTo>
                <a:lnTo>
                  <a:pt x="1026891" y="707688"/>
                </a:lnTo>
                <a:lnTo>
                  <a:pt x="1026891" y="689812"/>
                </a:lnTo>
                <a:lnTo>
                  <a:pt x="1022409" y="671936"/>
                </a:lnTo>
                <a:lnTo>
                  <a:pt x="1017927" y="654061"/>
                </a:lnTo>
                <a:lnTo>
                  <a:pt x="1008963" y="640654"/>
                </a:lnTo>
                <a:lnTo>
                  <a:pt x="995517" y="627247"/>
                </a:lnTo>
                <a:lnTo>
                  <a:pt x="623516" y="305484"/>
                </a:lnTo>
                <a:lnTo>
                  <a:pt x="605588" y="296546"/>
                </a:lnTo>
                <a:lnTo>
                  <a:pt x="592142" y="287608"/>
                </a:lnTo>
                <a:lnTo>
                  <a:pt x="574214" y="287608"/>
                </a:lnTo>
                <a:lnTo>
                  <a:pt x="556286" y="287608"/>
                </a:lnTo>
                <a:close/>
                <a:moveTo>
                  <a:pt x="697208" y="0"/>
                </a:moveTo>
                <a:cubicBezTo>
                  <a:pt x="1082265" y="0"/>
                  <a:pt x="1394416" y="315842"/>
                  <a:pt x="1394416" y="705453"/>
                </a:cubicBezTo>
                <a:cubicBezTo>
                  <a:pt x="1394416" y="1095064"/>
                  <a:pt x="1082265" y="1410906"/>
                  <a:pt x="697208" y="1410906"/>
                </a:cubicBezTo>
                <a:cubicBezTo>
                  <a:pt x="312151" y="1410906"/>
                  <a:pt x="0" y="1095064"/>
                  <a:pt x="0" y="705453"/>
                </a:cubicBezTo>
                <a:cubicBezTo>
                  <a:pt x="0" y="315842"/>
                  <a:pt x="312151" y="0"/>
                  <a:pt x="697208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</p:spPr>
        <p:txBody>
          <a:bodyPr wrap="square" lIns="40116" tIns="40116" rIns="40116" bIns="40116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000" b="0" i="0" u="none" strike="noStrike" kern="0" cap="none" spc="0" normalizeH="0" baseline="0" noProof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EE37A6-3C57-4EE5-8C29-87AC0F8FF4BA}"/>
              </a:ext>
            </a:extLst>
          </p:cNvPr>
          <p:cNvGrpSpPr/>
          <p:nvPr userDrawn="1"/>
        </p:nvGrpSpPr>
        <p:grpSpPr bwMode="gray">
          <a:xfrm>
            <a:off x="446756" y="2340834"/>
            <a:ext cx="238863" cy="204800"/>
            <a:chOff x="2319338" y="4702956"/>
            <a:chExt cx="238863" cy="204800"/>
          </a:xfrm>
        </p:grpSpPr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967C0A6C-3E73-40B2-A288-F437653FE080}"/>
                </a:ext>
              </a:extLst>
            </p:cNvPr>
            <p:cNvSpPr/>
            <p:nvPr/>
          </p:nvSpPr>
          <p:spPr bwMode="gray">
            <a:xfrm>
              <a:off x="2342541" y="4702956"/>
              <a:ext cx="215660" cy="204800"/>
            </a:xfrm>
            <a:prstGeom prst="rightArrow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1F0BD3A-AEC0-4B52-9B98-FFFCFA4835C5}"/>
                </a:ext>
              </a:extLst>
            </p:cNvPr>
            <p:cNvSpPr/>
            <p:nvPr/>
          </p:nvSpPr>
          <p:spPr bwMode="gray">
            <a:xfrm>
              <a:off x="2319338" y="4738580"/>
              <a:ext cx="78677" cy="13107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32500" lnSpcReduction="20000"/>
            </a:bodyPr>
            <a:lstStyle/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1089E491-A56E-43C1-B50A-D3D5D1ADD118}"/>
              </a:ext>
            </a:extLst>
          </p:cNvPr>
          <p:cNvSpPr/>
          <p:nvPr userDrawn="1"/>
        </p:nvSpPr>
        <p:spPr bwMode="gray">
          <a:xfrm>
            <a:off x="3757487" y="3025760"/>
            <a:ext cx="182859" cy="182859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C575FDA-5BAF-47B5-A479-DECF23CBFD73}"/>
              </a:ext>
            </a:extLst>
          </p:cNvPr>
          <p:cNvSpPr/>
          <p:nvPr userDrawn="1"/>
        </p:nvSpPr>
        <p:spPr bwMode="gray">
          <a:xfrm>
            <a:off x="4617772" y="2998757"/>
            <a:ext cx="190800" cy="1908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/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</a:t>
            </a:r>
            <a:endParaRPr lang="ko-KR" altLang="en-US" sz="900" b="1" dirty="0">
              <a:ln w="635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75A0A5BF-ACF9-405D-BB52-C1B31B85F2E7}"/>
              </a:ext>
            </a:extLst>
          </p:cNvPr>
          <p:cNvSpPr/>
          <p:nvPr userDrawn="1"/>
        </p:nvSpPr>
        <p:spPr bwMode="gray">
          <a:xfrm>
            <a:off x="4008428" y="3025760"/>
            <a:ext cx="182859" cy="182859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4FF0076-CED7-4854-9868-A7489D210A91}"/>
              </a:ext>
            </a:extLst>
          </p:cNvPr>
          <p:cNvSpPr/>
          <p:nvPr userDrawn="1"/>
        </p:nvSpPr>
        <p:spPr bwMode="gray">
          <a:xfrm>
            <a:off x="4399472" y="2998757"/>
            <a:ext cx="190800" cy="1908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/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</a:t>
            </a:r>
            <a:endParaRPr lang="ko-KR" altLang="en-US" sz="900" b="1" dirty="0">
              <a:ln w="635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BCE1C02-EBD5-42E4-AD86-FB1C69BD648B}"/>
              </a:ext>
            </a:extLst>
          </p:cNvPr>
          <p:cNvSpPr/>
          <p:nvPr userDrawn="1"/>
        </p:nvSpPr>
        <p:spPr bwMode="gray">
          <a:xfrm>
            <a:off x="4399472" y="3567625"/>
            <a:ext cx="190800" cy="19080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1</a:t>
            </a:r>
            <a:endParaRPr lang="ko-KR" altLang="en-US" sz="900" b="1" dirty="0">
              <a:ln w="6350">
                <a:solidFill>
                  <a:schemeClr val="bg1"/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E3A4A3D4-6759-4BB9-9155-CEDB469D438A}"/>
              </a:ext>
            </a:extLst>
          </p:cNvPr>
          <p:cNvSpPr/>
          <p:nvPr userDrawn="1"/>
        </p:nvSpPr>
        <p:spPr bwMode="gray">
          <a:xfrm>
            <a:off x="3757487" y="3291474"/>
            <a:ext cx="182859" cy="182859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CE6CAD3-480B-4544-AE19-EA1F3D484C76}"/>
              </a:ext>
            </a:extLst>
          </p:cNvPr>
          <p:cNvSpPr/>
          <p:nvPr userDrawn="1"/>
        </p:nvSpPr>
        <p:spPr bwMode="gray">
          <a:xfrm>
            <a:off x="4617772" y="3264471"/>
            <a:ext cx="190800" cy="190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/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1</a:t>
            </a:r>
            <a:endParaRPr lang="ko-KR" altLang="en-US" sz="900" b="1" dirty="0">
              <a:ln w="6350">
                <a:solidFill>
                  <a:schemeClr val="bg1"/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0A7C99C-2A78-4BE5-91D2-0889D874DBEE}"/>
              </a:ext>
            </a:extLst>
          </p:cNvPr>
          <p:cNvSpPr/>
          <p:nvPr userDrawn="1"/>
        </p:nvSpPr>
        <p:spPr bwMode="gray">
          <a:xfrm>
            <a:off x="3749546" y="3555097"/>
            <a:ext cx="182859" cy="18285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36000" anchor="ctr">
            <a:noAutofit/>
          </a:bodyPr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C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6820D33-0FD3-4DDF-BCBD-23B0E8523BFA}"/>
              </a:ext>
            </a:extLst>
          </p:cNvPr>
          <p:cNvSpPr/>
          <p:nvPr userDrawn="1"/>
        </p:nvSpPr>
        <p:spPr bwMode="gray">
          <a:xfrm>
            <a:off x="4650413" y="3567625"/>
            <a:ext cx="190800" cy="19080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1</a:t>
            </a:r>
            <a:endParaRPr lang="ko-KR" altLang="en-US" sz="900" b="1" dirty="0">
              <a:ln w="6350">
                <a:solidFill>
                  <a:schemeClr val="bg1"/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86317F79-0021-4753-9BE8-20329E1A36DA}"/>
              </a:ext>
            </a:extLst>
          </p:cNvPr>
          <p:cNvSpPr/>
          <p:nvPr userDrawn="1"/>
        </p:nvSpPr>
        <p:spPr bwMode="gray">
          <a:xfrm>
            <a:off x="4008428" y="3291474"/>
            <a:ext cx="182859" cy="182859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4218DD9-589A-4043-ACEF-728BBECC75FB}"/>
              </a:ext>
            </a:extLst>
          </p:cNvPr>
          <p:cNvSpPr/>
          <p:nvPr userDrawn="1"/>
        </p:nvSpPr>
        <p:spPr bwMode="gray">
          <a:xfrm>
            <a:off x="4399472" y="3264471"/>
            <a:ext cx="190800" cy="190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/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1</a:t>
            </a:r>
            <a:endParaRPr lang="ko-KR" altLang="en-US" sz="900" b="1" dirty="0">
              <a:ln w="6350">
                <a:solidFill>
                  <a:schemeClr val="bg1"/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5FEB6D7-4CA9-4F71-8707-D69AE811F54C}"/>
              </a:ext>
            </a:extLst>
          </p:cNvPr>
          <p:cNvSpPr/>
          <p:nvPr userDrawn="1"/>
        </p:nvSpPr>
        <p:spPr bwMode="gray">
          <a:xfrm>
            <a:off x="4000487" y="3555097"/>
            <a:ext cx="182859" cy="18285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36000" anchor="ctr">
            <a:noAutofit/>
          </a:bodyPr>
          <a:lstStyle/>
          <a:p>
            <a:pPr algn="ctr"/>
            <a:r>
              <a:rPr lang="en-US" altLang="ko-KR" sz="900" b="1" dirty="0">
                <a:ln w="6350"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rPr>
              <a:t>D</a:t>
            </a:r>
          </a:p>
        </p:txBody>
      </p:sp>
      <p:sp>
        <p:nvSpPr>
          <p:cNvPr id="54" name="오른쪽 화살표 50">
            <a:extLst>
              <a:ext uri="{FF2B5EF4-FFF2-40B4-BE49-F238E27FC236}">
                <a16:creationId xmlns:a16="http://schemas.microsoft.com/office/drawing/2014/main" id="{8A0ACD06-8593-4917-BC62-4A5D5FF48703}"/>
              </a:ext>
            </a:extLst>
          </p:cNvPr>
          <p:cNvSpPr/>
          <p:nvPr userDrawn="1"/>
        </p:nvSpPr>
        <p:spPr bwMode="gray">
          <a:xfrm rot="5400000">
            <a:off x="1217336" y="3822812"/>
            <a:ext cx="181202" cy="597444"/>
          </a:xfrm>
          <a:prstGeom prst="rightArrow">
            <a:avLst>
              <a:gd name="adj1" fmla="val 100000"/>
              <a:gd name="adj2" fmla="val 100000"/>
            </a:avLst>
          </a:prstGeom>
          <a:gradFill>
            <a:gsLst>
              <a:gs pos="0">
                <a:srgbClr val="FFFFFF"/>
              </a:gs>
              <a:gs pos="84000">
                <a:srgbClr val="FFFFFF">
                  <a:gamma/>
                  <a:shade val="69804"/>
                  <a:invGamma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07BA8733-D799-4722-B710-BC33BB56DA83}"/>
              </a:ext>
            </a:extLst>
          </p:cNvPr>
          <p:cNvSpPr/>
          <p:nvPr userDrawn="1"/>
        </p:nvSpPr>
        <p:spPr bwMode="gray">
          <a:xfrm rot="5400000">
            <a:off x="1817912" y="4054745"/>
            <a:ext cx="90000" cy="133578"/>
          </a:xfrm>
          <a:prstGeom prst="rightArrow">
            <a:avLst>
              <a:gd name="adj1" fmla="val 50000"/>
              <a:gd name="adj2" fmla="val 20188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화살표: 오른쪽 55">
            <a:extLst>
              <a:ext uri="{FF2B5EF4-FFF2-40B4-BE49-F238E27FC236}">
                <a16:creationId xmlns:a16="http://schemas.microsoft.com/office/drawing/2014/main" id="{868B172C-C8E5-43F1-B84F-0F4DA372DD77}"/>
              </a:ext>
            </a:extLst>
          </p:cNvPr>
          <p:cNvSpPr/>
          <p:nvPr userDrawn="1"/>
        </p:nvSpPr>
        <p:spPr bwMode="gray">
          <a:xfrm rot="5400000">
            <a:off x="2043659" y="4054745"/>
            <a:ext cx="90000" cy="133578"/>
          </a:xfrm>
          <a:prstGeom prst="rightArrow">
            <a:avLst>
              <a:gd name="adj1" fmla="val 50000"/>
              <a:gd name="adj2" fmla="val 20188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3F69F393-1165-47F7-9328-CADE2AEEB46F}"/>
              </a:ext>
            </a:extLst>
          </p:cNvPr>
          <p:cNvSpPr/>
          <p:nvPr userDrawn="1"/>
        </p:nvSpPr>
        <p:spPr bwMode="gray">
          <a:xfrm rot="5400000">
            <a:off x="1825533" y="3880571"/>
            <a:ext cx="90000" cy="133578"/>
          </a:xfrm>
          <a:prstGeom prst="rightArrow">
            <a:avLst>
              <a:gd name="adj1" fmla="val 50000"/>
              <a:gd name="adj2" fmla="val 201887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24E1DFD-FE88-45F8-BA39-B0DE6CECB176}"/>
              </a:ext>
            </a:extLst>
          </p:cNvPr>
          <p:cNvGrpSpPr/>
          <p:nvPr userDrawn="1"/>
        </p:nvGrpSpPr>
        <p:grpSpPr bwMode="gray">
          <a:xfrm>
            <a:off x="2843826" y="1981592"/>
            <a:ext cx="364349" cy="88118"/>
            <a:chOff x="7564585" y="2569879"/>
            <a:chExt cx="364349" cy="88118"/>
          </a:xfrm>
          <a:solidFill>
            <a:schemeClr val="accent1"/>
          </a:solidFill>
        </p:grpSpPr>
        <p:sp>
          <p:nvSpPr>
            <p:cNvPr id="59" name="Freeform 802">
              <a:extLst>
                <a:ext uri="{FF2B5EF4-FFF2-40B4-BE49-F238E27FC236}">
                  <a16:creationId xmlns:a16="http://schemas.microsoft.com/office/drawing/2014/main" id="{385A9926-D8BA-449E-91DE-326A41B69A35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7587316" y="2547148"/>
              <a:ext cx="88118" cy="133579"/>
            </a:xfrm>
            <a:custGeom>
              <a:avLst/>
              <a:gdLst>
                <a:gd name="T0" fmla="*/ 89 w 246"/>
                <a:gd name="T1" fmla="*/ 790 h 374"/>
                <a:gd name="T2" fmla="*/ 89 w 246"/>
                <a:gd name="T3" fmla="*/ 790 h 374"/>
                <a:gd name="T4" fmla="*/ 73 w 246"/>
                <a:gd name="T5" fmla="*/ 790 h 374"/>
                <a:gd name="T6" fmla="*/ 60 w 246"/>
                <a:gd name="T7" fmla="*/ 786 h 374"/>
                <a:gd name="T8" fmla="*/ 44 w 246"/>
                <a:gd name="T9" fmla="*/ 777 h 374"/>
                <a:gd name="T10" fmla="*/ 32 w 246"/>
                <a:gd name="T11" fmla="*/ 765 h 374"/>
                <a:gd name="T12" fmla="*/ 32 w 246"/>
                <a:gd name="T13" fmla="*/ 765 h 374"/>
                <a:gd name="T14" fmla="*/ 20 w 246"/>
                <a:gd name="T15" fmla="*/ 752 h 374"/>
                <a:gd name="T16" fmla="*/ 16 w 246"/>
                <a:gd name="T17" fmla="*/ 739 h 374"/>
                <a:gd name="T18" fmla="*/ 12 w 246"/>
                <a:gd name="T19" fmla="*/ 722 h 374"/>
                <a:gd name="T20" fmla="*/ 8 w 246"/>
                <a:gd name="T21" fmla="*/ 706 h 374"/>
                <a:gd name="T22" fmla="*/ 12 w 246"/>
                <a:gd name="T23" fmla="*/ 689 h 374"/>
                <a:gd name="T24" fmla="*/ 16 w 246"/>
                <a:gd name="T25" fmla="*/ 672 h 374"/>
                <a:gd name="T26" fmla="*/ 24 w 246"/>
                <a:gd name="T27" fmla="*/ 659 h 374"/>
                <a:gd name="T28" fmla="*/ 36 w 246"/>
                <a:gd name="T29" fmla="*/ 647 h 374"/>
                <a:gd name="T30" fmla="*/ 294 w 246"/>
                <a:gd name="T31" fmla="*/ 389 h 374"/>
                <a:gd name="T32" fmla="*/ 28 w 246"/>
                <a:gd name="T33" fmla="*/ 148 h 374"/>
                <a:gd name="T34" fmla="*/ 28 w 246"/>
                <a:gd name="T35" fmla="*/ 148 h 374"/>
                <a:gd name="T36" fmla="*/ 16 w 246"/>
                <a:gd name="T37" fmla="*/ 135 h 374"/>
                <a:gd name="T38" fmla="*/ 8 w 246"/>
                <a:gd name="T39" fmla="*/ 118 h 374"/>
                <a:gd name="T40" fmla="*/ 0 w 246"/>
                <a:gd name="T41" fmla="*/ 106 h 374"/>
                <a:gd name="T42" fmla="*/ 0 w 246"/>
                <a:gd name="T43" fmla="*/ 89 h 374"/>
                <a:gd name="T44" fmla="*/ 0 w 246"/>
                <a:gd name="T45" fmla="*/ 72 h 374"/>
                <a:gd name="T46" fmla="*/ 4 w 246"/>
                <a:gd name="T47" fmla="*/ 55 h 374"/>
                <a:gd name="T48" fmla="*/ 8 w 246"/>
                <a:gd name="T49" fmla="*/ 42 h 374"/>
                <a:gd name="T50" fmla="*/ 16 w 246"/>
                <a:gd name="T51" fmla="*/ 25 h 374"/>
                <a:gd name="T52" fmla="*/ 16 w 246"/>
                <a:gd name="T53" fmla="*/ 25 h 374"/>
                <a:gd name="T54" fmla="*/ 28 w 246"/>
                <a:gd name="T55" fmla="*/ 17 h 374"/>
                <a:gd name="T56" fmla="*/ 44 w 246"/>
                <a:gd name="T57" fmla="*/ 8 h 374"/>
                <a:gd name="T58" fmla="*/ 56 w 246"/>
                <a:gd name="T59" fmla="*/ 0 h 374"/>
                <a:gd name="T60" fmla="*/ 73 w 246"/>
                <a:gd name="T61" fmla="*/ 0 h 374"/>
                <a:gd name="T62" fmla="*/ 89 w 246"/>
                <a:gd name="T63" fmla="*/ 0 h 374"/>
                <a:gd name="T64" fmla="*/ 105 w 246"/>
                <a:gd name="T65" fmla="*/ 0 h 374"/>
                <a:gd name="T66" fmla="*/ 117 w 246"/>
                <a:gd name="T67" fmla="*/ 8 h 374"/>
                <a:gd name="T68" fmla="*/ 133 w 246"/>
                <a:gd name="T69" fmla="*/ 17 h 374"/>
                <a:gd name="T70" fmla="*/ 467 w 246"/>
                <a:gd name="T71" fmla="*/ 321 h 374"/>
                <a:gd name="T72" fmla="*/ 467 w 246"/>
                <a:gd name="T73" fmla="*/ 321 h 374"/>
                <a:gd name="T74" fmla="*/ 479 w 246"/>
                <a:gd name="T75" fmla="*/ 334 h 374"/>
                <a:gd name="T76" fmla="*/ 487 w 246"/>
                <a:gd name="T77" fmla="*/ 346 h 374"/>
                <a:gd name="T78" fmla="*/ 491 w 246"/>
                <a:gd name="T79" fmla="*/ 363 h 374"/>
                <a:gd name="T80" fmla="*/ 495 w 246"/>
                <a:gd name="T81" fmla="*/ 380 h 374"/>
                <a:gd name="T82" fmla="*/ 495 w 246"/>
                <a:gd name="T83" fmla="*/ 380 h 374"/>
                <a:gd name="T84" fmla="*/ 495 w 246"/>
                <a:gd name="T85" fmla="*/ 397 h 374"/>
                <a:gd name="T86" fmla="*/ 487 w 246"/>
                <a:gd name="T87" fmla="*/ 414 h 374"/>
                <a:gd name="T88" fmla="*/ 483 w 246"/>
                <a:gd name="T89" fmla="*/ 431 h 374"/>
                <a:gd name="T90" fmla="*/ 471 w 246"/>
                <a:gd name="T91" fmla="*/ 444 h 374"/>
                <a:gd name="T92" fmla="*/ 145 w 246"/>
                <a:gd name="T93" fmla="*/ 769 h 374"/>
                <a:gd name="T94" fmla="*/ 145 w 246"/>
                <a:gd name="T95" fmla="*/ 769 h 374"/>
                <a:gd name="T96" fmla="*/ 133 w 246"/>
                <a:gd name="T97" fmla="*/ 777 h 374"/>
                <a:gd name="T98" fmla="*/ 121 w 246"/>
                <a:gd name="T99" fmla="*/ 786 h 374"/>
                <a:gd name="T100" fmla="*/ 105 w 246"/>
                <a:gd name="T101" fmla="*/ 790 h 374"/>
                <a:gd name="T102" fmla="*/ 89 w 246"/>
                <a:gd name="T103" fmla="*/ 790 h 374"/>
                <a:gd name="T104" fmla="*/ 89 w 246"/>
                <a:gd name="T105" fmla="*/ 790 h 37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6"/>
                <a:gd name="T160" fmla="*/ 0 h 374"/>
                <a:gd name="T161" fmla="*/ 246 w 246"/>
                <a:gd name="T162" fmla="*/ 374 h 37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6" h="374">
                  <a:moveTo>
                    <a:pt x="44" y="374"/>
                  </a:moveTo>
                  <a:lnTo>
                    <a:pt x="44" y="374"/>
                  </a:lnTo>
                  <a:lnTo>
                    <a:pt x="36" y="374"/>
                  </a:lnTo>
                  <a:lnTo>
                    <a:pt x="30" y="372"/>
                  </a:lnTo>
                  <a:lnTo>
                    <a:pt x="22" y="368"/>
                  </a:lnTo>
                  <a:lnTo>
                    <a:pt x="16" y="362"/>
                  </a:lnTo>
                  <a:lnTo>
                    <a:pt x="10" y="356"/>
                  </a:lnTo>
                  <a:lnTo>
                    <a:pt x="8" y="350"/>
                  </a:lnTo>
                  <a:lnTo>
                    <a:pt x="6" y="342"/>
                  </a:lnTo>
                  <a:lnTo>
                    <a:pt x="4" y="334"/>
                  </a:lnTo>
                  <a:lnTo>
                    <a:pt x="6" y="326"/>
                  </a:lnTo>
                  <a:lnTo>
                    <a:pt x="8" y="318"/>
                  </a:lnTo>
                  <a:lnTo>
                    <a:pt x="12" y="312"/>
                  </a:lnTo>
                  <a:lnTo>
                    <a:pt x="18" y="306"/>
                  </a:lnTo>
                  <a:lnTo>
                    <a:pt x="146" y="184"/>
                  </a:lnTo>
                  <a:lnTo>
                    <a:pt x="14" y="70"/>
                  </a:lnTo>
                  <a:lnTo>
                    <a:pt x="8" y="64"/>
                  </a:lnTo>
                  <a:lnTo>
                    <a:pt x="4" y="56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8" y="12"/>
                  </a:lnTo>
                  <a:lnTo>
                    <a:pt x="14" y="8"/>
                  </a:lnTo>
                  <a:lnTo>
                    <a:pt x="22" y="4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58" y="4"/>
                  </a:lnTo>
                  <a:lnTo>
                    <a:pt x="66" y="8"/>
                  </a:lnTo>
                  <a:lnTo>
                    <a:pt x="232" y="152"/>
                  </a:lnTo>
                  <a:lnTo>
                    <a:pt x="238" y="158"/>
                  </a:lnTo>
                  <a:lnTo>
                    <a:pt x="242" y="164"/>
                  </a:lnTo>
                  <a:lnTo>
                    <a:pt x="244" y="172"/>
                  </a:lnTo>
                  <a:lnTo>
                    <a:pt x="246" y="180"/>
                  </a:lnTo>
                  <a:lnTo>
                    <a:pt x="246" y="188"/>
                  </a:lnTo>
                  <a:lnTo>
                    <a:pt x="242" y="196"/>
                  </a:lnTo>
                  <a:lnTo>
                    <a:pt x="240" y="204"/>
                  </a:lnTo>
                  <a:lnTo>
                    <a:pt x="234" y="210"/>
                  </a:lnTo>
                  <a:lnTo>
                    <a:pt x="72" y="364"/>
                  </a:lnTo>
                  <a:lnTo>
                    <a:pt x="66" y="368"/>
                  </a:lnTo>
                  <a:lnTo>
                    <a:pt x="60" y="372"/>
                  </a:lnTo>
                  <a:lnTo>
                    <a:pt x="52" y="374"/>
                  </a:lnTo>
                  <a:lnTo>
                    <a:pt x="44" y="3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  <p:sp>
          <p:nvSpPr>
            <p:cNvPr id="60" name="Freeform 802">
              <a:extLst>
                <a:ext uri="{FF2B5EF4-FFF2-40B4-BE49-F238E27FC236}">
                  <a16:creationId xmlns:a16="http://schemas.microsoft.com/office/drawing/2014/main" id="{C6E9492F-72D1-4F5A-B342-EE654E7DF463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7818086" y="2547148"/>
              <a:ext cx="88118" cy="133579"/>
            </a:xfrm>
            <a:custGeom>
              <a:avLst/>
              <a:gdLst>
                <a:gd name="T0" fmla="*/ 89 w 246"/>
                <a:gd name="T1" fmla="*/ 790 h 374"/>
                <a:gd name="T2" fmla="*/ 89 w 246"/>
                <a:gd name="T3" fmla="*/ 790 h 374"/>
                <a:gd name="T4" fmla="*/ 73 w 246"/>
                <a:gd name="T5" fmla="*/ 790 h 374"/>
                <a:gd name="T6" fmla="*/ 60 w 246"/>
                <a:gd name="T7" fmla="*/ 786 h 374"/>
                <a:gd name="T8" fmla="*/ 44 w 246"/>
                <a:gd name="T9" fmla="*/ 777 h 374"/>
                <a:gd name="T10" fmla="*/ 32 w 246"/>
                <a:gd name="T11" fmla="*/ 765 h 374"/>
                <a:gd name="T12" fmla="*/ 32 w 246"/>
                <a:gd name="T13" fmla="*/ 765 h 374"/>
                <a:gd name="T14" fmla="*/ 20 w 246"/>
                <a:gd name="T15" fmla="*/ 752 h 374"/>
                <a:gd name="T16" fmla="*/ 16 w 246"/>
                <a:gd name="T17" fmla="*/ 739 h 374"/>
                <a:gd name="T18" fmla="*/ 12 w 246"/>
                <a:gd name="T19" fmla="*/ 722 h 374"/>
                <a:gd name="T20" fmla="*/ 8 w 246"/>
                <a:gd name="T21" fmla="*/ 706 h 374"/>
                <a:gd name="T22" fmla="*/ 12 w 246"/>
                <a:gd name="T23" fmla="*/ 689 h 374"/>
                <a:gd name="T24" fmla="*/ 16 w 246"/>
                <a:gd name="T25" fmla="*/ 672 h 374"/>
                <a:gd name="T26" fmla="*/ 24 w 246"/>
                <a:gd name="T27" fmla="*/ 659 h 374"/>
                <a:gd name="T28" fmla="*/ 36 w 246"/>
                <a:gd name="T29" fmla="*/ 647 h 374"/>
                <a:gd name="T30" fmla="*/ 294 w 246"/>
                <a:gd name="T31" fmla="*/ 389 h 374"/>
                <a:gd name="T32" fmla="*/ 28 w 246"/>
                <a:gd name="T33" fmla="*/ 148 h 374"/>
                <a:gd name="T34" fmla="*/ 28 w 246"/>
                <a:gd name="T35" fmla="*/ 148 h 374"/>
                <a:gd name="T36" fmla="*/ 16 w 246"/>
                <a:gd name="T37" fmla="*/ 135 h 374"/>
                <a:gd name="T38" fmla="*/ 8 w 246"/>
                <a:gd name="T39" fmla="*/ 118 h 374"/>
                <a:gd name="T40" fmla="*/ 0 w 246"/>
                <a:gd name="T41" fmla="*/ 106 h 374"/>
                <a:gd name="T42" fmla="*/ 0 w 246"/>
                <a:gd name="T43" fmla="*/ 89 h 374"/>
                <a:gd name="T44" fmla="*/ 0 w 246"/>
                <a:gd name="T45" fmla="*/ 72 h 374"/>
                <a:gd name="T46" fmla="*/ 4 w 246"/>
                <a:gd name="T47" fmla="*/ 55 h 374"/>
                <a:gd name="T48" fmla="*/ 8 w 246"/>
                <a:gd name="T49" fmla="*/ 42 h 374"/>
                <a:gd name="T50" fmla="*/ 16 w 246"/>
                <a:gd name="T51" fmla="*/ 25 h 374"/>
                <a:gd name="T52" fmla="*/ 16 w 246"/>
                <a:gd name="T53" fmla="*/ 25 h 374"/>
                <a:gd name="T54" fmla="*/ 28 w 246"/>
                <a:gd name="T55" fmla="*/ 17 h 374"/>
                <a:gd name="T56" fmla="*/ 44 w 246"/>
                <a:gd name="T57" fmla="*/ 8 h 374"/>
                <a:gd name="T58" fmla="*/ 56 w 246"/>
                <a:gd name="T59" fmla="*/ 0 h 374"/>
                <a:gd name="T60" fmla="*/ 73 w 246"/>
                <a:gd name="T61" fmla="*/ 0 h 374"/>
                <a:gd name="T62" fmla="*/ 89 w 246"/>
                <a:gd name="T63" fmla="*/ 0 h 374"/>
                <a:gd name="T64" fmla="*/ 105 w 246"/>
                <a:gd name="T65" fmla="*/ 0 h 374"/>
                <a:gd name="T66" fmla="*/ 117 w 246"/>
                <a:gd name="T67" fmla="*/ 8 h 374"/>
                <a:gd name="T68" fmla="*/ 133 w 246"/>
                <a:gd name="T69" fmla="*/ 17 h 374"/>
                <a:gd name="T70" fmla="*/ 467 w 246"/>
                <a:gd name="T71" fmla="*/ 321 h 374"/>
                <a:gd name="T72" fmla="*/ 467 w 246"/>
                <a:gd name="T73" fmla="*/ 321 h 374"/>
                <a:gd name="T74" fmla="*/ 479 w 246"/>
                <a:gd name="T75" fmla="*/ 334 h 374"/>
                <a:gd name="T76" fmla="*/ 487 w 246"/>
                <a:gd name="T77" fmla="*/ 346 h 374"/>
                <a:gd name="T78" fmla="*/ 491 w 246"/>
                <a:gd name="T79" fmla="*/ 363 h 374"/>
                <a:gd name="T80" fmla="*/ 495 w 246"/>
                <a:gd name="T81" fmla="*/ 380 h 374"/>
                <a:gd name="T82" fmla="*/ 495 w 246"/>
                <a:gd name="T83" fmla="*/ 380 h 374"/>
                <a:gd name="T84" fmla="*/ 495 w 246"/>
                <a:gd name="T85" fmla="*/ 397 h 374"/>
                <a:gd name="T86" fmla="*/ 487 w 246"/>
                <a:gd name="T87" fmla="*/ 414 h 374"/>
                <a:gd name="T88" fmla="*/ 483 w 246"/>
                <a:gd name="T89" fmla="*/ 431 h 374"/>
                <a:gd name="T90" fmla="*/ 471 w 246"/>
                <a:gd name="T91" fmla="*/ 444 h 374"/>
                <a:gd name="T92" fmla="*/ 145 w 246"/>
                <a:gd name="T93" fmla="*/ 769 h 374"/>
                <a:gd name="T94" fmla="*/ 145 w 246"/>
                <a:gd name="T95" fmla="*/ 769 h 374"/>
                <a:gd name="T96" fmla="*/ 133 w 246"/>
                <a:gd name="T97" fmla="*/ 777 h 374"/>
                <a:gd name="T98" fmla="*/ 121 w 246"/>
                <a:gd name="T99" fmla="*/ 786 h 374"/>
                <a:gd name="T100" fmla="*/ 105 w 246"/>
                <a:gd name="T101" fmla="*/ 790 h 374"/>
                <a:gd name="T102" fmla="*/ 89 w 246"/>
                <a:gd name="T103" fmla="*/ 790 h 374"/>
                <a:gd name="T104" fmla="*/ 89 w 246"/>
                <a:gd name="T105" fmla="*/ 790 h 37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6"/>
                <a:gd name="T160" fmla="*/ 0 h 374"/>
                <a:gd name="T161" fmla="*/ 246 w 246"/>
                <a:gd name="T162" fmla="*/ 374 h 37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6" h="374">
                  <a:moveTo>
                    <a:pt x="44" y="374"/>
                  </a:moveTo>
                  <a:lnTo>
                    <a:pt x="44" y="374"/>
                  </a:lnTo>
                  <a:lnTo>
                    <a:pt x="36" y="374"/>
                  </a:lnTo>
                  <a:lnTo>
                    <a:pt x="30" y="372"/>
                  </a:lnTo>
                  <a:lnTo>
                    <a:pt x="22" y="368"/>
                  </a:lnTo>
                  <a:lnTo>
                    <a:pt x="16" y="362"/>
                  </a:lnTo>
                  <a:lnTo>
                    <a:pt x="10" y="356"/>
                  </a:lnTo>
                  <a:lnTo>
                    <a:pt x="8" y="350"/>
                  </a:lnTo>
                  <a:lnTo>
                    <a:pt x="6" y="342"/>
                  </a:lnTo>
                  <a:lnTo>
                    <a:pt x="4" y="334"/>
                  </a:lnTo>
                  <a:lnTo>
                    <a:pt x="6" y="326"/>
                  </a:lnTo>
                  <a:lnTo>
                    <a:pt x="8" y="318"/>
                  </a:lnTo>
                  <a:lnTo>
                    <a:pt x="12" y="312"/>
                  </a:lnTo>
                  <a:lnTo>
                    <a:pt x="18" y="306"/>
                  </a:lnTo>
                  <a:lnTo>
                    <a:pt x="146" y="184"/>
                  </a:lnTo>
                  <a:lnTo>
                    <a:pt x="14" y="70"/>
                  </a:lnTo>
                  <a:lnTo>
                    <a:pt x="8" y="64"/>
                  </a:lnTo>
                  <a:lnTo>
                    <a:pt x="4" y="56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8" y="12"/>
                  </a:lnTo>
                  <a:lnTo>
                    <a:pt x="14" y="8"/>
                  </a:lnTo>
                  <a:lnTo>
                    <a:pt x="22" y="4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58" y="4"/>
                  </a:lnTo>
                  <a:lnTo>
                    <a:pt x="66" y="8"/>
                  </a:lnTo>
                  <a:lnTo>
                    <a:pt x="232" y="152"/>
                  </a:lnTo>
                  <a:lnTo>
                    <a:pt x="238" y="158"/>
                  </a:lnTo>
                  <a:lnTo>
                    <a:pt x="242" y="164"/>
                  </a:lnTo>
                  <a:lnTo>
                    <a:pt x="244" y="172"/>
                  </a:lnTo>
                  <a:lnTo>
                    <a:pt x="246" y="180"/>
                  </a:lnTo>
                  <a:lnTo>
                    <a:pt x="246" y="188"/>
                  </a:lnTo>
                  <a:lnTo>
                    <a:pt x="242" y="196"/>
                  </a:lnTo>
                  <a:lnTo>
                    <a:pt x="240" y="204"/>
                  </a:lnTo>
                  <a:lnTo>
                    <a:pt x="234" y="210"/>
                  </a:lnTo>
                  <a:lnTo>
                    <a:pt x="72" y="364"/>
                  </a:lnTo>
                  <a:lnTo>
                    <a:pt x="66" y="368"/>
                  </a:lnTo>
                  <a:lnTo>
                    <a:pt x="60" y="372"/>
                  </a:lnTo>
                  <a:lnTo>
                    <a:pt x="52" y="374"/>
                  </a:lnTo>
                  <a:lnTo>
                    <a:pt x="44" y="3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</p:grpSp>
      <p:sp>
        <p:nvSpPr>
          <p:cNvPr id="62" name="오각형 61">
            <a:extLst>
              <a:ext uri="{FF2B5EF4-FFF2-40B4-BE49-F238E27FC236}">
                <a16:creationId xmlns:a16="http://schemas.microsoft.com/office/drawing/2014/main" id="{B5929826-0CCB-4809-9DC3-3A1647CC9B9C}"/>
              </a:ext>
            </a:extLst>
          </p:cNvPr>
          <p:cNvSpPr/>
          <p:nvPr userDrawn="1"/>
        </p:nvSpPr>
        <p:spPr bwMode="gray">
          <a:xfrm>
            <a:off x="3161438" y="2316507"/>
            <a:ext cx="296630" cy="282505"/>
          </a:xfrm>
          <a:prstGeom prst="pentagon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ko-KR" sz="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</a:t>
            </a:r>
            <a:endParaRPr lang="ko-KR" altLang="en-US" sz="9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63" name="오각형 62">
            <a:extLst>
              <a:ext uri="{FF2B5EF4-FFF2-40B4-BE49-F238E27FC236}">
                <a16:creationId xmlns:a16="http://schemas.microsoft.com/office/drawing/2014/main" id="{9F91EBD6-EFE1-4FA6-A749-4D335C9C96C9}"/>
              </a:ext>
            </a:extLst>
          </p:cNvPr>
          <p:cNvSpPr/>
          <p:nvPr userDrawn="1"/>
        </p:nvSpPr>
        <p:spPr bwMode="gray">
          <a:xfrm>
            <a:off x="3493821" y="2326331"/>
            <a:ext cx="296630" cy="282505"/>
          </a:xfrm>
          <a:prstGeom prst="pentagon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ko-KR" sz="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</a:t>
            </a:r>
            <a:endParaRPr lang="ko-KR" altLang="en-US" sz="900" b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64" name="오른쪽 화살표 50">
            <a:extLst>
              <a:ext uri="{FF2B5EF4-FFF2-40B4-BE49-F238E27FC236}">
                <a16:creationId xmlns:a16="http://schemas.microsoft.com/office/drawing/2014/main" id="{A91A17E7-0AB5-4437-9D83-19D975071284}"/>
              </a:ext>
            </a:extLst>
          </p:cNvPr>
          <p:cNvSpPr/>
          <p:nvPr userDrawn="1"/>
        </p:nvSpPr>
        <p:spPr bwMode="gray">
          <a:xfrm>
            <a:off x="486094" y="3746486"/>
            <a:ext cx="181202" cy="597444"/>
          </a:xfrm>
          <a:prstGeom prst="rightArrow">
            <a:avLst>
              <a:gd name="adj1" fmla="val 100000"/>
              <a:gd name="adj2" fmla="val 100000"/>
            </a:avLst>
          </a:prstGeom>
          <a:gradFill>
            <a:gsLst>
              <a:gs pos="0">
                <a:srgbClr val="FFFFFF"/>
              </a:gs>
              <a:gs pos="84000">
                <a:srgbClr val="FFFFFF">
                  <a:gamma/>
                  <a:shade val="69804"/>
                  <a:invGamma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5" name="Freeform 58">
            <a:extLst>
              <a:ext uri="{FF2B5EF4-FFF2-40B4-BE49-F238E27FC236}">
                <a16:creationId xmlns:a16="http://schemas.microsoft.com/office/drawing/2014/main" id="{DF006C67-3168-6B2F-DB5A-FAF22AD260C6}"/>
              </a:ext>
            </a:extLst>
          </p:cNvPr>
          <p:cNvSpPr>
            <a:spLocks/>
          </p:cNvSpPr>
          <p:nvPr userDrawn="1"/>
        </p:nvSpPr>
        <p:spPr bwMode="auto">
          <a:xfrm>
            <a:off x="2660010" y="4008528"/>
            <a:ext cx="250225" cy="204464"/>
          </a:xfrm>
          <a:custGeom>
            <a:avLst/>
            <a:gdLst/>
            <a:ahLst/>
            <a:cxnLst>
              <a:cxn ang="0">
                <a:pos x="346" y="542"/>
              </a:cxn>
              <a:cxn ang="0">
                <a:pos x="322" y="554"/>
              </a:cxn>
              <a:cxn ang="0">
                <a:pos x="242" y="574"/>
              </a:cxn>
              <a:cxn ang="0">
                <a:pos x="88" y="600"/>
              </a:cxn>
              <a:cxn ang="0">
                <a:pos x="0" y="612"/>
              </a:cxn>
              <a:cxn ang="0">
                <a:pos x="60" y="706"/>
              </a:cxn>
              <a:cxn ang="0">
                <a:pos x="324" y="1154"/>
              </a:cxn>
              <a:cxn ang="0">
                <a:pos x="580" y="1268"/>
              </a:cxn>
              <a:cxn ang="0">
                <a:pos x="610" y="1180"/>
              </a:cxn>
              <a:cxn ang="0">
                <a:pos x="662" y="1042"/>
              </a:cxn>
              <a:cxn ang="0">
                <a:pos x="740" y="864"/>
              </a:cxn>
              <a:cxn ang="0">
                <a:pos x="818" y="714"/>
              </a:cxn>
              <a:cxn ang="0">
                <a:pos x="878" y="610"/>
              </a:cxn>
              <a:cxn ang="0">
                <a:pos x="946" y="508"/>
              </a:cxn>
              <a:cxn ang="0">
                <a:pos x="1020" y="408"/>
              </a:cxn>
              <a:cxn ang="0">
                <a:pos x="1102" y="314"/>
              </a:cxn>
              <a:cxn ang="0">
                <a:pos x="1190" y="226"/>
              </a:cxn>
              <a:cxn ang="0">
                <a:pos x="1286" y="148"/>
              </a:cxn>
              <a:cxn ang="0">
                <a:pos x="1390" y="82"/>
              </a:cxn>
              <a:cxn ang="0">
                <a:pos x="1446" y="56"/>
              </a:cxn>
              <a:cxn ang="0">
                <a:pos x="1368" y="58"/>
              </a:cxn>
              <a:cxn ang="0">
                <a:pos x="1266" y="52"/>
              </a:cxn>
              <a:cxn ang="0">
                <a:pos x="1214" y="42"/>
              </a:cxn>
              <a:cxn ang="0">
                <a:pos x="1166" y="26"/>
              </a:cxn>
              <a:cxn ang="0">
                <a:pos x="1130" y="0"/>
              </a:cxn>
              <a:cxn ang="0">
                <a:pos x="1088" y="28"/>
              </a:cxn>
              <a:cxn ang="0">
                <a:pos x="1010" y="86"/>
              </a:cxn>
              <a:cxn ang="0">
                <a:pos x="938" y="148"/>
              </a:cxn>
              <a:cxn ang="0">
                <a:pos x="870" y="214"/>
              </a:cxn>
              <a:cxn ang="0">
                <a:pos x="808" y="284"/>
              </a:cxn>
              <a:cxn ang="0">
                <a:pos x="726" y="388"/>
              </a:cxn>
              <a:cxn ang="0">
                <a:pos x="634" y="524"/>
              </a:cxn>
              <a:cxn ang="0">
                <a:pos x="562" y="648"/>
              </a:cxn>
              <a:cxn ang="0">
                <a:pos x="512" y="748"/>
              </a:cxn>
              <a:cxn ang="0">
                <a:pos x="472" y="840"/>
              </a:cxn>
              <a:cxn ang="0">
                <a:pos x="458" y="812"/>
              </a:cxn>
              <a:cxn ang="0">
                <a:pos x="386" y="648"/>
              </a:cxn>
              <a:cxn ang="0">
                <a:pos x="346" y="542"/>
              </a:cxn>
            </a:cxnLst>
            <a:rect l="0" t="0" r="r" b="b"/>
            <a:pathLst>
              <a:path w="1446" h="1268">
                <a:moveTo>
                  <a:pt x="346" y="542"/>
                </a:moveTo>
                <a:lnTo>
                  <a:pt x="346" y="542"/>
                </a:lnTo>
                <a:lnTo>
                  <a:pt x="336" y="548"/>
                </a:lnTo>
                <a:lnTo>
                  <a:pt x="322" y="554"/>
                </a:lnTo>
                <a:lnTo>
                  <a:pt x="286" y="564"/>
                </a:lnTo>
                <a:lnTo>
                  <a:pt x="242" y="574"/>
                </a:lnTo>
                <a:lnTo>
                  <a:pt x="192" y="584"/>
                </a:lnTo>
                <a:lnTo>
                  <a:pt x="88" y="600"/>
                </a:lnTo>
                <a:lnTo>
                  <a:pt x="0" y="612"/>
                </a:lnTo>
                <a:lnTo>
                  <a:pt x="0" y="612"/>
                </a:lnTo>
                <a:lnTo>
                  <a:pt x="20" y="642"/>
                </a:lnTo>
                <a:lnTo>
                  <a:pt x="60" y="706"/>
                </a:lnTo>
                <a:lnTo>
                  <a:pt x="170" y="892"/>
                </a:lnTo>
                <a:lnTo>
                  <a:pt x="324" y="1154"/>
                </a:lnTo>
                <a:lnTo>
                  <a:pt x="580" y="1268"/>
                </a:lnTo>
                <a:lnTo>
                  <a:pt x="580" y="1268"/>
                </a:lnTo>
                <a:lnTo>
                  <a:pt x="592" y="1228"/>
                </a:lnTo>
                <a:lnTo>
                  <a:pt x="610" y="1180"/>
                </a:lnTo>
                <a:lnTo>
                  <a:pt x="632" y="1118"/>
                </a:lnTo>
                <a:lnTo>
                  <a:pt x="662" y="1042"/>
                </a:lnTo>
                <a:lnTo>
                  <a:pt x="698" y="956"/>
                </a:lnTo>
                <a:lnTo>
                  <a:pt x="740" y="864"/>
                </a:lnTo>
                <a:lnTo>
                  <a:pt x="790" y="764"/>
                </a:lnTo>
                <a:lnTo>
                  <a:pt x="818" y="714"/>
                </a:lnTo>
                <a:lnTo>
                  <a:pt x="848" y="662"/>
                </a:lnTo>
                <a:lnTo>
                  <a:pt x="878" y="610"/>
                </a:lnTo>
                <a:lnTo>
                  <a:pt x="910" y="558"/>
                </a:lnTo>
                <a:lnTo>
                  <a:pt x="946" y="508"/>
                </a:lnTo>
                <a:lnTo>
                  <a:pt x="982" y="458"/>
                </a:lnTo>
                <a:lnTo>
                  <a:pt x="1020" y="408"/>
                </a:lnTo>
                <a:lnTo>
                  <a:pt x="1060" y="360"/>
                </a:lnTo>
                <a:lnTo>
                  <a:pt x="1102" y="314"/>
                </a:lnTo>
                <a:lnTo>
                  <a:pt x="1146" y="268"/>
                </a:lnTo>
                <a:lnTo>
                  <a:pt x="1190" y="226"/>
                </a:lnTo>
                <a:lnTo>
                  <a:pt x="1238" y="186"/>
                </a:lnTo>
                <a:lnTo>
                  <a:pt x="1286" y="148"/>
                </a:lnTo>
                <a:lnTo>
                  <a:pt x="1338" y="114"/>
                </a:lnTo>
                <a:lnTo>
                  <a:pt x="1390" y="82"/>
                </a:lnTo>
                <a:lnTo>
                  <a:pt x="1446" y="56"/>
                </a:lnTo>
                <a:lnTo>
                  <a:pt x="1446" y="56"/>
                </a:lnTo>
                <a:lnTo>
                  <a:pt x="1408" y="58"/>
                </a:lnTo>
                <a:lnTo>
                  <a:pt x="1368" y="58"/>
                </a:lnTo>
                <a:lnTo>
                  <a:pt x="1318" y="56"/>
                </a:lnTo>
                <a:lnTo>
                  <a:pt x="1266" y="52"/>
                </a:lnTo>
                <a:lnTo>
                  <a:pt x="1240" y="48"/>
                </a:lnTo>
                <a:lnTo>
                  <a:pt x="1214" y="42"/>
                </a:lnTo>
                <a:lnTo>
                  <a:pt x="1190" y="34"/>
                </a:lnTo>
                <a:lnTo>
                  <a:pt x="1166" y="26"/>
                </a:lnTo>
                <a:lnTo>
                  <a:pt x="1146" y="14"/>
                </a:lnTo>
                <a:lnTo>
                  <a:pt x="1130" y="0"/>
                </a:lnTo>
                <a:lnTo>
                  <a:pt x="1130" y="0"/>
                </a:lnTo>
                <a:lnTo>
                  <a:pt x="1088" y="28"/>
                </a:lnTo>
                <a:lnTo>
                  <a:pt x="1048" y="56"/>
                </a:lnTo>
                <a:lnTo>
                  <a:pt x="1010" y="86"/>
                </a:lnTo>
                <a:lnTo>
                  <a:pt x="974" y="116"/>
                </a:lnTo>
                <a:lnTo>
                  <a:pt x="938" y="148"/>
                </a:lnTo>
                <a:lnTo>
                  <a:pt x="904" y="182"/>
                </a:lnTo>
                <a:lnTo>
                  <a:pt x="870" y="214"/>
                </a:lnTo>
                <a:lnTo>
                  <a:pt x="838" y="250"/>
                </a:lnTo>
                <a:lnTo>
                  <a:pt x="808" y="284"/>
                </a:lnTo>
                <a:lnTo>
                  <a:pt x="780" y="318"/>
                </a:lnTo>
                <a:lnTo>
                  <a:pt x="726" y="388"/>
                </a:lnTo>
                <a:lnTo>
                  <a:pt x="676" y="458"/>
                </a:lnTo>
                <a:lnTo>
                  <a:pt x="634" y="524"/>
                </a:lnTo>
                <a:lnTo>
                  <a:pt x="594" y="588"/>
                </a:lnTo>
                <a:lnTo>
                  <a:pt x="562" y="648"/>
                </a:lnTo>
                <a:lnTo>
                  <a:pt x="534" y="700"/>
                </a:lnTo>
                <a:lnTo>
                  <a:pt x="512" y="748"/>
                </a:lnTo>
                <a:lnTo>
                  <a:pt x="482" y="814"/>
                </a:lnTo>
                <a:lnTo>
                  <a:pt x="472" y="840"/>
                </a:lnTo>
                <a:lnTo>
                  <a:pt x="472" y="840"/>
                </a:lnTo>
                <a:lnTo>
                  <a:pt x="458" y="812"/>
                </a:lnTo>
                <a:lnTo>
                  <a:pt x="426" y="744"/>
                </a:lnTo>
                <a:lnTo>
                  <a:pt x="386" y="648"/>
                </a:lnTo>
                <a:lnTo>
                  <a:pt x="366" y="596"/>
                </a:lnTo>
                <a:lnTo>
                  <a:pt x="346" y="542"/>
                </a:lnTo>
                <a:lnTo>
                  <a:pt x="346" y="542"/>
                </a:lnTo>
                <a:close/>
              </a:path>
            </a:pathLst>
          </a:custGeom>
          <a:solidFill>
            <a:srgbClr val="0070C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defTabSz="913852">
              <a:defRPr/>
            </a:pPr>
            <a:endParaRPr lang="ko-KR" altLang="en-US" sz="16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6" name="Freeform 29">
            <a:extLst>
              <a:ext uri="{FF2B5EF4-FFF2-40B4-BE49-F238E27FC236}">
                <a16:creationId xmlns:a16="http://schemas.microsoft.com/office/drawing/2014/main" id="{C30CE329-295A-F3E5-C6A7-A847511BE3A7}"/>
              </a:ext>
            </a:extLst>
          </p:cNvPr>
          <p:cNvSpPr>
            <a:spLocks/>
          </p:cNvSpPr>
          <p:nvPr userDrawn="1"/>
        </p:nvSpPr>
        <p:spPr bwMode="gray">
          <a:xfrm>
            <a:off x="4415185" y="2322376"/>
            <a:ext cx="483690" cy="259068"/>
          </a:xfrm>
          <a:custGeom>
            <a:avLst/>
            <a:gdLst>
              <a:gd name="T0" fmla="*/ 2147483647 w 3884"/>
              <a:gd name="T1" fmla="*/ 2147483647 h 1600"/>
              <a:gd name="T2" fmla="*/ 2147483647 w 3884"/>
              <a:gd name="T3" fmla="*/ 2147483647 h 1600"/>
              <a:gd name="T4" fmla="*/ 2147483647 w 3884"/>
              <a:gd name="T5" fmla="*/ 2147483647 h 1600"/>
              <a:gd name="T6" fmla="*/ 2147483647 w 3884"/>
              <a:gd name="T7" fmla="*/ 2147483647 h 1600"/>
              <a:gd name="T8" fmla="*/ 2147483647 w 3884"/>
              <a:gd name="T9" fmla="*/ 2147483647 h 1600"/>
              <a:gd name="T10" fmla="*/ 2147483647 w 3884"/>
              <a:gd name="T11" fmla="*/ 2147483647 h 1600"/>
              <a:gd name="T12" fmla="*/ 0 w 3884"/>
              <a:gd name="T13" fmla="*/ 2147483647 h 1600"/>
              <a:gd name="T14" fmla="*/ 2147483647 w 3884"/>
              <a:gd name="T15" fmla="*/ 2147483647 h 1600"/>
              <a:gd name="T16" fmla="*/ 2147483647 w 3884"/>
              <a:gd name="T17" fmla="*/ 2147483647 h 1600"/>
              <a:gd name="T18" fmla="*/ 2147483647 w 3884"/>
              <a:gd name="T19" fmla="*/ 2147483647 h 1600"/>
              <a:gd name="T20" fmla="*/ 2147483647 w 3884"/>
              <a:gd name="T21" fmla="*/ 2147483647 h 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84"/>
              <a:gd name="T34" fmla="*/ 0 h 1600"/>
              <a:gd name="T35" fmla="*/ 3884 w 3884"/>
              <a:gd name="T36" fmla="*/ 1600 h 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84" h="1600">
                <a:moveTo>
                  <a:pt x="297" y="1346"/>
                </a:moveTo>
                <a:cubicBezTo>
                  <a:pt x="918" y="1523"/>
                  <a:pt x="1726" y="1533"/>
                  <a:pt x="2310" y="1448"/>
                </a:cubicBezTo>
                <a:cubicBezTo>
                  <a:pt x="3125" y="1334"/>
                  <a:pt x="3798" y="1192"/>
                  <a:pt x="3810" y="884"/>
                </a:cubicBezTo>
                <a:cubicBezTo>
                  <a:pt x="3822" y="576"/>
                  <a:pt x="3114" y="204"/>
                  <a:pt x="1945" y="137"/>
                </a:cubicBezTo>
                <a:cubicBezTo>
                  <a:pt x="645" y="63"/>
                  <a:pt x="74" y="564"/>
                  <a:pt x="74" y="724"/>
                </a:cubicBezTo>
                <a:cubicBezTo>
                  <a:pt x="74" y="884"/>
                  <a:pt x="394" y="1032"/>
                  <a:pt x="781" y="1072"/>
                </a:cubicBezTo>
                <a:cubicBezTo>
                  <a:pt x="280" y="1135"/>
                  <a:pt x="0" y="912"/>
                  <a:pt x="0" y="724"/>
                </a:cubicBezTo>
                <a:cubicBezTo>
                  <a:pt x="0" y="536"/>
                  <a:pt x="473" y="0"/>
                  <a:pt x="1951" y="68"/>
                </a:cubicBezTo>
                <a:cubicBezTo>
                  <a:pt x="2863" y="110"/>
                  <a:pt x="3884" y="433"/>
                  <a:pt x="3878" y="884"/>
                </a:cubicBezTo>
                <a:cubicBezTo>
                  <a:pt x="3872" y="1335"/>
                  <a:pt x="2873" y="1446"/>
                  <a:pt x="2276" y="1523"/>
                </a:cubicBezTo>
                <a:cubicBezTo>
                  <a:pt x="1679" y="1600"/>
                  <a:pt x="553" y="1580"/>
                  <a:pt x="297" y="1346"/>
                </a:cubicBezTo>
                <a:close/>
              </a:path>
            </a:pathLst>
          </a:custGeom>
          <a:solidFill>
            <a:schemeClr val="bg2"/>
          </a:solidFill>
          <a:ln w="15875">
            <a:noFill/>
            <a:round/>
            <a:headEnd/>
            <a:tailEnd/>
          </a:ln>
        </p:spPr>
        <p:txBody>
          <a:bodyPr tIns="91353" bIns="91353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852" fontAlgn="base" latinLnBrk="0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sz="700" b="1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23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16463" y="1097747"/>
            <a:ext cx="5791577" cy="2636912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4" name="제목 1"/>
          <p:cNvSpPr txBox="1">
            <a:spLocks/>
          </p:cNvSpPr>
          <p:nvPr userDrawn="1"/>
        </p:nvSpPr>
        <p:spPr>
          <a:xfrm>
            <a:off x="703166" y="1574419"/>
            <a:ext cx="6898581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5951943" y="1096170"/>
            <a:ext cx="1101381" cy="2636912"/>
          </a:xfrm>
          <a:prstGeom prst="rect">
            <a:avLst/>
          </a:prstGeom>
          <a:solidFill>
            <a:srgbClr val="C6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49" t="33053" r="19012" b="41508"/>
          <a:stretch/>
        </p:blipFill>
        <p:spPr bwMode="auto">
          <a:xfrm>
            <a:off x="7096760" y="1107721"/>
            <a:ext cx="2740404" cy="262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077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>
            <a:cxnSpLocks noChangeShapeType="1"/>
          </p:cNvCxnSpPr>
          <p:nvPr userDrawn="1"/>
        </p:nvCxnSpPr>
        <p:spPr bwMode="auto">
          <a:xfrm>
            <a:off x="1713000" y="1431421"/>
            <a:ext cx="6480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</p:cxnSp>
      <p:sp>
        <p:nvSpPr>
          <p:cNvPr id="7" name="직사각형 6"/>
          <p:cNvSpPr/>
          <p:nvPr userDrawn="1"/>
        </p:nvSpPr>
        <p:spPr>
          <a:xfrm>
            <a:off x="4136877" y="1264778"/>
            <a:ext cx="1632247" cy="33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0" dirty="0">
                <a:solidFill>
                  <a:schemeClr val="tx1"/>
                </a:solidFill>
                <a:latin typeface="+mn-ea"/>
                <a:ea typeface="+mn-ea"/>
              </a:rPr>
              <a:t>Contents</a:t>
            </a:r>
            <a:endParaRPr lang="ko-KR" altLang="en-US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1712913" y="1820415"/>
            <a:ext cx="6480175" cy="24018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514800" indent="-514800">
              <a:lnSpc>
                <a:spcPct val="120000"/>
              </a:lnSpc>
              <a:spcBef>
                <a:spcPts val="1200"/>
              </a:spcBef>
              <a:buFont typeface="+mj-lt"/>
              <a:buAutoNum type="romanUcPeriod"/>
              <a:defRPr sz="2000" b="0">
                <a:latin typeface="+mn-ea"/>
                <a:ea typeface="+mn-ea"/>
              </a:defRPr>
            </a:lvl1pPr>
            <a:lvl2pPr marL="514800" indent="-514800">
              <a:lnSpc>
                <a:spcPct val="120000"/>
              </a:lnSpc>
              <a:spcBef>
                <a:spcPts val="1200"/>
              </a:spcBef>
              <a:buFont typeface="+mj-lt"/>
              <a:buAutoNum type="romanUcPeriod"/>
              <a:defRPr sz="2000" b="1"/>
            </a:lvl2pPr>
            <a:lvl3pPr marL="514800" indent="-514800">
              <a:lnSpc>
                <a:spcPct val="120000"/>
              </a:lnSpc>
              <a:spcBef>
                <a:spcPts val="1200"/>
              </a:spcBef>
              <a:buFont typeface="+mj-lt"/>
              <a:buAutoNum type="romanUcPeriod"/>
              <a:defRPr sz="2000" b="1"/>
            </a:lvl3pPr>
            <a:lvl4pPr marL="514800" indent="-514800">
              <a:lnSpc>
                <a:spcPct val="120000"/>
              </a:lnSpc>
              <a:spcBef>
                <a:spcPts val="1200"/>
              </a:spcBef>
              <a:buFont typeface="+mj-lt"/>
              <a:buAutoNum type="romanUcPeriod"/>
              <a:defRPr sz="2000" b="1"/>
            </a:lvl4pPr>
            <a:lvl5pPr marL="514800" indent="-514800">
              <a:lnSpc>
                <a:spcPct val="120000"/>
              </a:lnSpc>
              <a:spcBef>
                <a:spcPts val="1200"/>
              </a:spcBef>
              <a:buFont typeface="+mj-lt"/>
              <a:buAutoNum type="romanUcPeriod"/>
              <a:defRPr sz="20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827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61">
          <p15:clr>
            <a:srgbClr val="FBAE40"/>
          </p15:clr>
        </p15:guide>
        <p15:guide id="2" pos="10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>
            <a:cxnSpLocks noChangeShapeType="1"/>
          </p:cNvCxnSpPr>
          <p:nvPr/>
        </p:nvCxnSpPr>
        <p:spPr bwMode="auto">
          <a:xfrm>
            <a:off x="273000" y="6308725"/>
            <a:ext cx="9360000" cy="0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</p:cxnSp>
      <p:cxnSp>
        <p:nvCxnSpPr>
          <p:cNvPr id="10" name="직선 연결선 9"/>
          <p:cNvCxnSpPr>
            <a:cxnSpLocks noChangeShapeType="1"/>
          </p:cNvCxnSpPr>
          <p:nvPr userDrawn="1"/>
        </p:nvCxnSpPr>
        <p:spPr bwMode="auto">
          <a:xfrm>
            <a:off x="273000" y="6308725"/>
            <a:ext cx="9360000" cy="0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</p:cxnSp>
      <p:sp>
        <p:nvSpPr>
          <p:cNvPr id="14" name="텍스트 개체 틀 11">
            <a:extLst>
              <a:ext uri="{FF2B5EF4-FFF2-40B4-BE49-F238E27FC236}">
                <a16:creationId xmlns:a16="http://schemas.microsoft.com/office/drawing/2014/main" id="{A1A4E194-3345-4D24-B9C4-F95072EE7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  <a:prstGeom prst="rect">
            <a:avLst/>
          </a:prstGeom>
        </p:spPr>
        <p:txBody>
          <a:bodyPr anchor="t"/>
          <a:lstStyle>
            <a:lvl1pPr marL="0" indent="0" algn="just" latinLnBrk="0">
              <a:lnSpc>
                <a:spcPct val="120000"/>
              </a:lnSpc>
              <a:spcBef>
                <a:spcPts val="0"/>
              </a:spcBef>
              <a:buNone/>
              <a:defRPr sz="1600" b="0" spc="-100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(한글 글꼴 사용)"/>
                <a:ea typeface="+mj-ea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5" name="텍스트 개체 틀 11">
            <a:extLst>
              <a:ext uri="{FF2B5EF4-FFF2-40B4-BE49-F238E27FC236}">
                <a16:creationId xmlns:a16="http://schemas.microsoft.com/office/drawing/2014/main" id="{319F0E51-A77F-4C27-A281-41664A0A5A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200" b="0" kern="1200" spc="-100" baseline="0" dirty="0" smtClean="0">
                <a:ln>
                  <a:noFill/>
                </a:ln>
                <a:solidFill>
                  <a:schemeClr val="tx1"/>
                </a:solidFill>
                <a:latin typeface="(한글 글꼴 사용)"/>
                <a:ea typeface="+mj-ea"/>
                <a:cs typeface="+mn-cs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16" name="텍스트 개체 틀 11">
            <a:extLst>
              <a:ext uri="{FF2B5EF4-FFF2-40B4-BE49-F238E27FC236}">
                <a16:creationId xmlns:a16="http://schemas.microsoft.com/office/drawing/2014/main" id="{3C6A270D-19E5-4DF9-A099-9F5F1EB81A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spc="-100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(한글 글꼴 사용)"/>
                <a:ea typeface="+mj-ea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66885BA-633E-4836-954A-DFF6AD51552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73000" y="727200"/>
            <a:ext cx="936000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FEB9373-0197-4D19-867F-50A28FB88A8C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73000" y="727200"/>
            <a:ext cx="936000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sp>
        <p:nvSpPr>
          <p:cNvPr id="20" name="Rectangle 13">
            <a:extLst>
              <a:ext uri="{FF2B5EF4-FFF2-40B4-BE49-F238E27FC236}">
                <a16:creationId xmlns:a16="http://schemas.microsoft.com/office/drawing/2014/main" id="{1E45ED70-F69E-461C-8191-127DBAE52B2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654617" y="6444335"/>
            <a:ext cx="59676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9DEF99B5-B94F-45AE-8F80-FB46EC622A21}" type="slidenum">
              <a:rPr lang="en-GB" altLang="ko-KR" sz="900" b="0" i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ko-KR" sz="900" b="0" i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AA88EAE7-D7DF-4C54-A184-7A8B5DE5CA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50" y="6326309"/>
            <a:ext cx="9359900" cy="182342"/>
          </a:xfrm>
          <a:prstGeom prst="rect">
            <a:avLst/>
          </a:prstGeom>
        </p:spPr>
        <p:txBody>
          <a:bodyPr lIns="36000" tIns="36000" rIns="36000" bIns="0" anchor="t" anchorCtr="0"/>
          <a:lstStyle>
            <a:lvl1pPr marL="0" indent="0">
              <a:buNone/>
              <a:defRPr kumimoji="1" lang="ko-KR" altLang="en-US" sz="800" b="0" i="0" kern="0" spc="0" baseline="0" dirty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Calibri" panose="020F0502020204030204" pitchFamily="34" charset="0"/>
              </a:defRPr>
            </a:lvl1pPr>
          </a:lstStyle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28255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61">
          <p15:clr>
            <a:srgbClr val="FBAE40"/>
          </p15:clr>
        </p15:guide>
        <p15:guide id="2" orient="horz" pos="1230">
          <p15:clr>
            <a:srgbClr val="FBAE40"/>
          </p15:clr>
        </p15:guide>
        <p15:guide id="7" orient="horz" pos="1298">
          <p15:clr>
            <a:srgbClr val="FDE53C"/>
          </p15:clr>
        </p15:guide>
        <p15:guide id="8" orient="horz" pos="1026">
          <p15:clr>
            <a:srgbClr val="FBAE40"/>
          </p15:clr>
        </p15:guide>
        <p15:guide id="11" pos="3029">
          <p15:clr>
            <a:srgbClr val="FBAE40"/>
          </p15:clr>
        </p15:guide>
        <p15:guide id="12" pos="321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B37781-215F-42ED-A088-3D3322CFE083}"/>
              </a:ext>
            </a:extLst>
          </p:cNvPr>
          <p:cNvSpPr/>
          <p:nvPr userDrawn="1"/>
        </p:nvSpPr>
        <p:spPr>
          <a:xfrm>
            <a:off x="2" y="319566"/>
            <a:ext cx="9906000" cy="41490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/>
          </a:p>
        </p:txBody>
      </p:sp>
      <p:sp>
        <p:nvSpPr>
          <p:cNvPr id="13" name="텍스트 개체 틀 11">
            <a:extLst>
              <a:ext uri="{FF2B5EF4-FFF2-40B4-BE49-F238E27FC236}">
                <a16:creationId xmlns:a16="http://schemas.microsoft.com/office/drawing/2014/main" id="{DB8773CF-CD2D-4E16-8629-CDCF4931D4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1" y="765393"/>
            <a:ext cx="9359900" cy="323632"/>
          </a:xfrm>
          <a:prstGeom prst="rect">
            <a:avLst/>
          </a:prstGeom>
        </p:spPr>
        <p:txBody>
          <a:bodyPr anchor="t"/>
          <a:lstStyle>
            <a:lvl1pPr marL="0" indent="0" algn="l" latinLnBrk="1">
              <a:lnSpc>
                <a:spcPct val="120000"/>
              </a:lnSpc>
              <a:spcBef>
                <a:spcPts val="0"/>
              </a:spcBef>
              <a:buNone/>
              <a:defRPr sz="1500" b="0" spc="-100" baseline="0">
                <a:latin typeface="나눔바른고딕" panose="020B0600000101010101" pitchFamily="50" charset="-127"/>
                <a:ea typeface="나눔바른고딕" panose="020B0600000101010101" pitchFamily="50" charset="-127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ko-KR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32DD4-F182-4915-8330-C4D9BC078D1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654617" y="6444335"/>
            <a:ext cx="59676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986" tIns="45993" rIns="91986" bIns="45993" anchor="ctr"/>
          <a:lstStyle/>
          <a:p>
            <a:pPr marL="0" marR="0" lvl="0" indent="0" algn="ctr" defTabSz="91357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EF99B5-B94F-45AE-8F80-FB46EC622A21}" type="slidenum">
              <a:rPr kumimoji="0" lang="en-GB" altLang="ko-KR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0000101010101" pitchFamily="50" charset="-127"/>
                <a:ea typeface="나눔바른고딕" panose="020B0600000101010101" pitchFamily="50" charset="-127"/>
                <a:cs typeface="+mn-cs"/>
              </a:rPr>
              <a:pPr marL="0" marR="0" lvl="0" indent="0" algn="ctr" defTabSz="913578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altLang="ko-KR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바른고딕" panose="020B0600000101010101" pitchFamily="50" charset="-127"/>
              <a:ea typeface="나눔바른고딕" panose="020B0600000101010101" pitchFamily="50" charset="-127"/>
              <a:cs typeface="+mn-cs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58D4311E-50CB-428E-A157-163487A52B72}"/>
              </a:ext>
            </a:extLst>
          </p:cNvPr>
          <p:cNvSpPr txBox="1">
            <a:spLocks/>
          </p:cNvSpPr>
          <p:nvPr userDrawn="1"/>
        </p:nvSpPr>
        <p:spPr>
          <a:xfrm>
            <a:off x="5882938" y="40380"/>
            <a:ext cx="3824855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r" defTabSz="914126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+mn-cs"/>
              </a:defRPr>
            </a:lvl1pPr>
            <a:lvl2pPr marL="68559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텍스트 개체 틀 11">
            <a:extLst>
              <a:ext uri="{FF2B5EF4-FFF2-40B4-BE49-F238E27FC236}">
                <a16:creationId xmlns:a16="http://schemas.microsoft.com/office/drawing/2014/main" id="{DB152A0E-31F0-44D7-BE78-99F99B1665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48721" y="52863"/>
            <a:ext cx="1462470" cy="238374"/>
          </a:xfrm>
          <a:prstGeom prst="rect">
            <a:avLst/>
          </a:prstGeom>
        </p:spPr>
        <p:txBody>
          <a:bodyPr anchor="t"/>
          <a:lstStyle>
            <a:lvl1pPr marL="0" indent="0" algn="r" latinLnBrk="1">
              <a:lnSpc>
                <a:spcPct val="120000"/>
              </a:lnSpc>
              <a:spcBef>
                <a:spcPts val="0"/>
              </a:spcBef>
              <a:buNone/>
              <a:defRPr sz="1050" b="1" spc="-100" baseline="0"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ko-KR" altLang="en-US" dirty="0"/>
          </a:p>
        </p:txBody>
      </p:sp>
      <p:sp>
        <p:nvSpPr>
          <p:cNvPr id="17" name="텍스트 개체 틀 11">
            <a:extLst>
              <a:ext uri="{FF2B5EF4-FFF2-40B4-BE49-F238E27FC236}">
                <a16:creationId xmlns:a16="http://schemas.microsoft.com/office/drawing/2014/main" id="{9924A52F-9153-479D-90FE-20E45309D8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125" y="319730"/>
            <a:ext cx="9359900" cy="387771"/>
          </a:xfrm>
          <a:prstGeom prst="rect">
            <a:avLst/>
          </a:prstGeom>
        </p:spPr>
        <p:txBody>
          <a:bodyPr anchor="ctr"/>
          <a:lstStyle>
            <a:lvl1pPr marL="0" indent="0" algn="l" latinLnBrk="1">
              <a:lnSpc>
                <a:spcPct val="120000"/>
              </a:lnSpc>
              <a:spcBef>
                <a:spcPts val="0"/>
              </a:spcBef>
              <a:buNone/>
              <a:defRPr sz="1799" b="1" spc="-50" baseline="0">
                <a:solidFill>
                  <a:schemeClr val="bg1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20" name="Horizontal Line">
            <a:extLst>
              <a:ext uri="{FF2B5EF4-FFF2-40B4-BE49-F238E27FC236}">
                <a16:creationId xmlns:a16="http://schemas.microsoft.com/office/drawing/2014/main" id="{0EAD07EE-C9F9-4E73-9FB9-AEC6D91FCCE2}"/>
              </a:ext>
            </a:extLst>
          </p:cNvPr>
          <p:cNvCxnSpPr>
            <a:cxnSpLocks/>
          </p:cNvCxnSpPr>
          <p:nvPr userDrawn="1"/>
        </p:nvCxnSpPr>
        <p:spPr>
          <a:xfrm>
            <a:off x="273139" y="6301048"/>
            <a:ext cx="9359813" cy="0"/>
          </a:xfrm>
          <a:prstGeom prst="line">
            <a:avLst/>
          </a:prstGeom>
          <a:noFill/>
          <a:ln w="6350" cap="flat" cmpd="sng" algn="ctr">
            <a:solidFill>
              <a:srgbClr val="254061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60405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61">
          <p15:clr>
            <a:srgbClr val="FBAE40"/>
          </p15:clr>
        </p15:guide>
        <p15:guide id="2" orient="horz" pos="1230">
          <p15:clr>
            <a:srgbClr val="FBAE40"/>
          </p15:clr>
        </p15:guide>
        <p15:guide id="3" pos="3119">
          <p15:clr>
            <a:srgbClr val="FBAE40"/>
          </p15:clr>
        </p15:guide>
        <p15:guide id="4" pos="4593">
          <p15:clr>
            <a:srgbClr val="FBAE40"/>
          </p15:clr>
        </p15:guide>
        <p15:guide id="5" pos="1645">
          <p15:clr>
            <a:srgbClr val="FBAE40"/>
          </p15:clr>
        </p15:guide>
        <p15:guide id="6" orient="horz" pos="1298">
          <p15:clr>
            <a:srgbClr val="FBAE40"/>
          </p15:clr>
        </p15:guide>
        <p15:guide id="7" orient="horz" pos="10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73050" y="2953641"/>
            <a:ext cx="9359900" cy="950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b="0" dirty="0">
                <a:solidFill>
                  <a:schemeClr val="tx1"/>
                </a:solidFill>
                <a:latin typeface="+mn-ea"/>
                <a:ea typeface="+mn-ea"/>
              </a:rPr>
              <a:t>End</a:t>
            </a:r>
            <a:r>
              <a:rPr lang="en-US" altLang="ko-KR" sz="4400" b="0" baseline="0" dirty="0">
                <a:solidFill>
                  <a:schemeClr val="tx1"/>
                </a:solidFill>
                <a:latin typeface="+mn-ea"/>
                <a:ea typeface="+mn-ea"/>
              </a:rPr>
              <a:t> Of Document</a:t>
            </a:r>
            <a:endParaRPr lang="ko-KR" altLang="en-US" sz="44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378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bottom_bar"/>
          <p:cNvCxnSpPr>
            <a:cxnSpLocks noChangeShapeType="1"/>
          </p:cNvCxnSpPr>
          <p:nvPr/>
        </p:nvCxnSpPr>
        <p:spPr bwMode="auto">
          <a:xfrm>
            <a:off x="273000" y="6308725"/>
            <a:ext cx="9360000" cy="0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</p:cxnSp>
      <p:cxnSp>
        <p:nvCxnSpPr>
          <p:cNvPr id="5" name="top_bar"/>
          <p:cNvCxnSpPr>
            <a:cxnSpLocks noChangeShapeType="1"/>
          </p:cNvCxnSpPr>
          <p:nvPr/>
        </p:nvCxnSpPr>
        <p:spPr bwMode="auto">
          <a:xfrm>
            <a:off x="273000" y="727200"/>
            <a:ext cx="936000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sp>
        <p:nvSpPr>
          <p:cNvPr id="8" name="foot_note">
            <a:extLst>
              <a:ext uri="{FF2B5EF4-FFF2-40B4-BE49-F238E27FC236}">
                <a16:creationId xmlns:a16="http://schemas.microsoft.com/office/drawing/2014/main" id="{1578AC49-AC1F-5A55-81D2-CAB0080DDAA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50" y="6326308"/>
            <a:ext cx="9359900" cy="360000"/>
          </a:xfrm>
          <a:prstGeom prst="rect">
            <a:avLst/>
          </a:prstGeom>
          <a:solidFill>
            <a:schemeClr val="bg1"/>
          </a:solidFill>
        </p:spPr>
        <p:txBody>
          <a:bodyPr lIns="36000" tIns="36000" rIns="36000" bIns="0" anchor="t" anchorCtr="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lang="ko-KR" altLang="en-US" sz="800" b="0" i="0" kern="0" spc="0" baseline="0" dirty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Calibri" panose="020F0502020204030204" pitchFamily="34" charset="0"/>
              </a:defRPr>
            </a:lvl1pPr>
          </a:lstStyle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page_num"/>
          <p:cNvSpPr>
            <a:spLocks noChangeArrowheads="1"/>
          </p:cNvSpPr>
          <p:nvPr/>
        </p:nvSpPr>
        <p:spPr bwMode="gray">
          <a:xfrm>
            <a:off x="4654617" y="6444335"/>
            <a:ext cx="59676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9DEF99B5-B94F-45AE-8F80-FB46EC622A21}" type="slidenum">
              <a:rPr lang="en-GB" altLang="ko-KR" sz="900" b="0" i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rgbClr val="000000"/>
                </a:solidFill>
                <a:effectLst/>
                <a:latin typeface="+mn-ea"/>
                <a:ea typeface="+mn-ea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ko-KR" sz="900" b="0" i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srgbClr val="000000"/>
              </a:solidFill>
              <a:effectLst/>
              <a:latin typeface="+mn-ea"/>
              <a:ea typeface="+mn-ea"/>
            </a:endParaRPr>
          </a:p>
        </p:txBody>
      </p:sp>
      <p:sp>
        <p:nvSpPr>
          <p:cNvPr id="7" name="head_message"/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612000"/>
          </a:xfrm>
          <a:prstGeom prst="rect">
            <a:avLst/>
          </a:prstGeom>
        </p:spPr>
        <p:txBody>
          <a:bodyPr anchor="t"/>
          <a:lstStyle>
            <a:lvl1pPr marL="0" indent="0" algn="just" latinLnBrk="0">
              <a:lnSpc>
                <a:spcPct val="120000"/>
              </a:lnSpc>
              <a:spcBef>
                <a:spcPts val="0"/>
              </a:spcBef>
              <a:buNone/>
              <a:defRPr sz="1400" b="0" spc="-130" baseline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j-ea"/>
                <a:ea typeface="+mj-ea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D392B98-412A-21FA-27F9-C1196308F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13" y="399493"/>
            <a:ext cx="5490091" cy="324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>
              <a:defRPr lang="ko-KR" altLang="en-US" sz="1800" b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+mj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loc"/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latin typeface="+mj-ea"/>
                <a:ea typeface="+mj-ea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5515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61">
          <p15:clr>
            <a:srgbClr val="C35EA4"/>
          </p15:clr>
        </p15:guide>
        <p15:guide id="2" orient="horz" pos="1230">
          <p15:clr>
            <a:srgbClr val="FBAE40"/>
          </p15:clr>
        </p15:guide>
        <p15:guide id="3" pos="4345">
          <p15:clr>
            <a:srgbClr val="FBAE40"/>
          </p15:clr>
        </p15:guide>
        <p15:guide id="4" pos="4594">
          <p15:clr>
            <a:srgbClr val="FBAE40"/>
          </p15:clr>
        </p15:guide>
        <p15:guide id="7" orient="horz" pos="1298">
          <p15:clr>
            <a:srgbClr val="FDE53C"/>
          </p15:clr>
        </p15:guide>
        <p15:guide id="8" orient="horz" pos="102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>
            <a:cxnSpLocks noChangeShapeType="1"/>
          </p:cNvCxnSpPr>
          <p:nvPr/>
        </p:nvCxnSpPr>
        <p:spPr bwMode="auto">
          <a:xfrm>
            <a:off x="273000" y="6308725"/>
            <a:ext cx="9360000" cy="0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</p:cxnSp>
      <p:cxnSp>
        <p:nvCxnSpPr>
          <p:cNvPr id="10" name="직선 연결선 9"/>
          <p:cNvCxnSpPr>
            <a:cxnSpLocks noChangeShapeType="1"/>
          </p:cNvCxnSpPr>
          <p:nvPr userDrawn="1"/>
        </p:nvCxnSpPr>
        <p:spPr bwMode="auto">
          <a:xfrm>
            <a:off x="273000" y="6308725"/>
            <a:ext cx="9360000" cy="0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</p:cxnSp>
      <p:sp>
        <p:nvSpPr>
          <p:cNvPr id="14" name="텍스트 개체 틀 11">
            <a:extLst>
              <a:ext uri="{FF2B5EF4-FFF2-40B4-BE49-F238E27FC236}">
                <a16:creationId xmlns:a16="http://schemas.microsoft.com/office/drawing/2014/main" id="{A1A4E194-3345-4D24-B9C4-F95072EE7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  <a:prstGeom prst="rect">
            <a:avLst/>
          </a:prstGeom>
        </p:spPr>
        <p:txBody>
          <a:bodyPr anchor="t"/>
          <a:lstStyle>
            <a:lvl1pPr marL="0" indent="0" algn="just" latinLnBrk="0">
              <a:lnSpc>
                <a:spcPct val="120000"/>
              </a:lnSpc>
              <a:spcBef>
                <a:spcPts val="0"/>
              </a:spcBef>
              <a:buNone/>
              <a:defRPr sz="1600" b="0" spc="-100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5" name="텍스트 개체 틀 11">
            <a:extLst>
              <a:ext uri="{FF2B5EF4-FFF2-40B4-BE49-F238E27FC236}">
                <a16:creationId xmlns:a16="http://schemas.microsoft.com/office/drawing/2014/main" id="{319F0E51-A77F-4C27-A281-41664A0A5A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200" b="0" kern="1200" spc="-100" baseline="0" dirty="0" smtClean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16" name="텍스트 개체 틀 11">
            <a:extLst>
              <a:ext uri="{FF2B5EF4-FFF2-40B4-BE49-F238E27FC236}">
                <a16:creationId xmlns:a16="http://schemas.microsoft.com/office/drawing/2014/main" id="{3C6A270D-19E5-4DF9-A099-9F5F1EB81A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spc="-100" baseline="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66885BA-633E-4836-954A-DFF6AD51552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73000" y="727200"/>
            <a:ext cx="936000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FEB9373-0197-4D19-867F-50A28FB88A8C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73000" y="727200"/>
            <a:ext cx="936000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</p:spPr>
      </p:cxnSp>
      <p:sp>
        <p:nvSpPr>
          <p:cNvPr id="20" name="Rectangle 13">
            <a:extLst>
              <a:ext uri="{FF2B5EF4-FFF2-40B4-BE49-F238E27FC236}">
                <a16:creationId xmlns:a16="http://schemas.microsoft.com/office/drawing/2014/main" id="{1E45ED70-F69E-461C-8191-127DBAE52B2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654617" y="6444335"/>
            <a:ext cx="59676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9DEF99B5-B94F-45AE-8F80-FB46EC622A21}" type="slidenum">
              <a:rPr lang="en-GB" altLang="ko-KR" sz="900" b="0" i="0" baseline="0" smtClean="0">
                <a:solidFill>
                  <a:srgbClr val="000000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ko-KR" sz="900" b="0" i="0" baseline="0" dirty="0">
              <a:solidFill>
                <a:srgbClr val="000000"/>
              </a:solidFill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3571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61">
          <p15:clr>
            <a:srgbClr val="FBAE40"/>
          </p15:clr>
        </p15:guide>
        <p15:guide id="2" orient="horz" pos="1230">
          <p15:clr>
            <a:srgbClr val="FBAE40"/>
          </p15:clr>
        </p15:guide>
        <p15:guide id="7" orient="horz" pos="1275">
          <p15:clr>
            <a:srgbClr val="FDE53C"/>
          </p15:clr>
        </p15:guide>
        <p15:guide id="8" orient="horz" pos="1026">
          <p15:clr>
            <a:srgbClr val="FBAE40"/>
          </p15:clr>
        </p15:guide>
        <p15:guide id="11" pos="3029">
          <p15:clr>
            <a:srgbClr val="FBAE40"/>
          </p15:clr>
        </p15:guide>
        <p15:guide id="12" pos="32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01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45" r:id="rId3"/>
    <p:sldLayoutId id="2147483725" r:id="rId4"/>
    <p:sldLayoutId id="2147483748" r:id="rId5"/>
    <p:sldLayoutId id="2147483764" r:id="rId6"/>
    <p:sldLayoutId id="2147483752" r:id="rId7"/>
    <p:sldLayoutId id="2147483766" r:id="rId8"/>
    <p:sldLayoutId id="214748376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72">
          <p15:clr>
            <a:srgbClr val="F26B43"/>
          </p15:clr>
        </p15:guide>
        <p15:guide id="4" pos="60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5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microsoft.com/office/2014/relationships/chartEx" Target="../charts/chartEx1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Relationship Id="rId5" Type="http://schemas.openxmlformats.org/officeDocument/2006/relationships/image" Target="../media/image36.png"/><Relationship Id="rId4" Type="http://schemas.openxmlformats.org/officeDocument/2006/relationships/chart" Target="../charts/chart2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chart" Target="../charts/chart3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8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8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chart" Target="../charts/chart44.xml"/><Relationship Id="rId1" Type="http://schemas.openxmlformats.org/officeDocument/2006/relationships/slideLayout" Target="../slideLayouts/slideLayout8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8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9.xml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8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1.xml"/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8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8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4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5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7.xml"/><Relationship Id="rId2" Type="http://schemas.openxmlformats.org/officeDocument/2006/relationships/chart" Target="../charts/chart56.xml"/><Relationship Id="rId1" Type="http://schemas.openxmlformats.org/officeDocument/2006/relationships/slideLayout" Target="../slideLayouts/slideLayout8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9.xml"/><Relationship Id="rId2" Type="http://schemas.openxmlformats.org/officeDocument/2006/relationships/chart" Target="../charts/chart58.xml"/><Relationship Id="rId1" Type="http://schemas.openxmlformats.org/officeDocument/2006/relationships/slideLayout" Target="../slideLayouts/slideLayout8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1.xml"/><Relationship Id="rId2" Type="http://schemas.openxmlformats.org/officeDocument/2006/relationships/chart" Target="../charts/chart60.xml"/><Relationship Id="rId1" Type="http://schemas.openxmlformats.org/officeDocument/2006/relationships/slideLayout" Target="../slideLayouts/slideLayout8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6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4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65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7.xml"/><Relationship Id="rId2" Type="http://schemas.openxmlformats.org/officeDocument/2006/relationships/chart" Target="../charts/chart66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68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9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70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2.xml"/><Relationship Id="rId2" Type="http://schemas.openxmlformats.org/officeDocument/2006/relationships/chart" Target="../charts/chart71.xml"/><Relationship Id="rId1" Type="http://schemas.openxmlformats.org/officeDocument/2006/relationships/slideLayout" Target="../slideLayouts/slideLayout8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75.xml"/><Relationship Id="rId4" Type="http://schemas.openxmlformats.org/officeDocument/2006/relationships/chart" Target="../charts/chart74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6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7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5441" y="1190455"/>
            <a:ext cx="2926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2025</a:t>
            </a:r>
            <a:r>
              <a:rPr lang="ko-KR" altLang="en-US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년 </a:t>
            </a:r>
            <a:r>
              <a:rPr lang="en-US" altLang="ko-KR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06</a:t>
            </a:r>
            <a:r>
              <a:rPr lang="ko-KR" altLang="en-US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월 </a:t>
            </a:r>
            <a:r>
              <a:rPr lang="en-US" altLang="ko-KR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09</a:t>
            </a:r>
            <a:r>
              <a:rPr lang="ko-KR" altLang="en-US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일 </a:t>
            </a:r>
            <a:r>
              <a:rPr lang="en-US" altLang="ko-KR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~ 09</a:t>
            </a:r>
            <a:r>
              <a:rPr lang="ko-KR" altLang="en-US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월 </a:t>
            </a:r>
            <a:r>
              <a:rPr lang="en-US" altLang="ko-KR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22</a:t>
            </a:r>
            <a:r>
              <a:rPr lang="ko-KR" altLang="en-US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일 </a:t>
            </a:r>
            <a:r>
              <a:rPr lang="en-US" altLang="ko-KR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(15</a:t>
            </a:r>
            <a:r>
              <a:rPr lang="ko-KR" altLang="en-US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주간</a:t>
            </a:r>
            <a:r>
              <a:rPr lang="en-US" altLang="ko-KR" sz="12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234268" y="5464929"/>
            <a:ext cx="32082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㈜</a:t>
            </a:r>
            <a:r>
              <a:rPr lang="ko-KR" altLang="en-US" sz="2000" dirty="0" err="1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베이시스소프트</a:t>
            </a:r>
            <a:endParaRPr lang="en-US" altLang="ko-KR" sz="2000" dirty="0">
              <a:ln>
                <a:solidFill>
                  <a:schemeClr val="tx1">
                    <a:alpha val="5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411627" y="1607716"/>
            <a:ext cx="5872632" cy="11521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white"/>
                </a:solidFill>
                <a:latin typeface="+mj-ea"/>
              </a:rPr>
              <a:t>고용노동부 주관</a:t>
            </a:r>
            <a:endParaRPr lang="en-US" altLang="ko-KR" sz="140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white"/>
              </a:solidFill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white"/>
                </a:solidFill>
                <a:latin typeface="+mj-ea"/>
              </a:rPr>
              <a:t>2025</a:t>
            </a:r>
            <a:r>
              <a:rPr lang="ko-KR" altLang="en-US" sz="20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white"/>
                </a:solidFill>
                <a:latin typeface="+mj-ea"/>
              </a:rPr>
              <a:t>년 일터혁신 상생컨설팅 사업</a:t>
            </a:r>
            <a:br>
              <a:rPr lang="en-US" altLang="ko-KR" sz="28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white"/>
                </a:solidFill>
                <a:latin typeface="+mj-ea"/>
              </a:rPr>
            </a:br>
            <a:r>
              <a:rPr lang="ko-KR" altLang="en-US" sz="28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최종보고서</a:t>
            </a:r>
            <a:br>
              <a:rPr lang="en-US" altLang="ko-KR" sz="28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white"/>
                </a:solidFill>
                <a:latin typeface="+mj-ea"/>
              </a:rPr>
            </a:br>
            <a:r>
              <a:rPr lang="ko-KR" altLang="en-US" sz="18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FFC000"/>
                </a:solidFill>
                <a:latin typeface="+mj-ea"/>
              </a:rPr>
              <a:t>임금체계 재설계</a:t>
            </a:r>
            <a:r>
              <a:rPr lang="en-US" altLang="ko-KR" sz="18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FFC000"/>
                </a:solidFill>
                <a:latin typeface="+mj-ea"/>
              </a:rPr>
              <a:t>, </a:t>
            </a:r>
            <a:r>
              <a:rPr lang="ko-KR" altLang="en-US" sz="18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rgbClr val="FFC000"/>
                </a:solidFill>
                <a:latin typeface="+mj-ea"/>
              </a:rPr>
              <a:t>평가체계 설계</a:t>
            </a:r>
          </a:p>
        </p:txBody>
      </p:sp>
      <p:pic>
        <p:nvPicPr>
          <p:cNvPr id="6" name="그림 5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5E3DF8-422B-3EC9-8228-D77BECB42D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8" y="656678"/>
            <a:ext cx="1397213" cy="36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9500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컨설팅 개요</a:t>
            </a:r>
            <a:endParaRPr lang="en-US" altLang="ko-KR" dirty="0"/>
          </a:p>
          <a:p>
            <a:r>
              <a:rPr lang="ko-KR" altLang="en-US" dirty="0" err="1"/>
              <a:t>현황진단</a:t>
            </a:r>
            <a:endParaRPr lang="en-US" altLang="ko-KR" dirty="0"/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02909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73600" y="1769139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컨설팅 개요</a:t>
            </a:r>
          </a:p>
          <a:p>
            <a:r>
              <a:rPr lang="ko-KR" altLang="en-US" dirty="0" err="1"/>
              <a:t>현황진단</a:t>
            </a:r>
            <a:endParaRPr lang="ko-KR" altLang="en-US" dirty="0"/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242327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273050" y="3052944"/>
            <a:ext cx="1716526" cy="355925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6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컨설팅 범위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42F6172-B866-C49E-9BD7-BA3FE1F0708A}"/>
              </a:ext>
            </a:extLst>
          </p:cNvPr>
          <p:cNvSpPr/>
          <p:nvPr/>
        </p:nvSpPr>
        <p:spPr>
          <a:xfrm>
            <a:off x="2009394" y="3044066"/>
            <a:ext cx="7306043" cy="1180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직급별 책임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기여도를 반영한 임금구간 설계 및 기준 마련</a:t>
            </a:r>
            <a:endParaRPr kumimoji="1" lang="en-US" altLang="ko-KR" sz="1200" kern="0" dirty="0">
              <a:solidFill>
                <a:prstClr val="black"/>
              </a:solidFill>
              <a:latin typeface="+mn-ea"/>
            </a:endParaRPr>
          </a:p>
          <a:p>
            <a:pPr marL="171450" indent="-171450" latinLnBrk="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기존 </a:t>
            </a:r>
            <a:r>
              <a:rPr kumimoji="1" lang="ko-KR" altLang="en-US" sz="1200" kern="0" dirty="0" err="1">
                <a:solidFill>
                  <a:prstClr val="black"/>
                </a:solidFill>
                <a:latin typeface="+mn-ea"/>
              </a:rPr>
              <a:t>호봉제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 기반 인력과 신규 인력의 통합 운영 기준 수립</a:t>
            </a:r>
            <a:endParaRPr kumimoji="1" lang="en-US" altLang="ko-KR" sz="1200" kern="0" dirty="0">
              <a:solidFill>
                <a:prstClr val="black"/>
              </a:solidFill>
              <a:latin typeface="+mn-ea"/>
            </a:endParaRPr>
          </a:p>
          <a:p>
            <a:pPr marL="171450" indent="-171450" latinLnBrk="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직무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성과 기반 정량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정성 평가 항목 및 기준체계 수립</a:t>
            </a:r>
            <a:endParaRPr kumimoji="1" lang="en-US" altLang="ko-KR" sz="1200" kern="0" dirty="0">
              <a:solidFill>
                <a:prstClr val="black"/>
              </a:solidFill>
              <a:latin typeface="+mn-ea"/>
            </a:endParaRPr>
          </a:p>
          <a:p>
            <a:pPr marL="171450" indent="-171450" latinLnBrk="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평가 결과를 보상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승진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배치 등과 연계할 수 있는 운영방안 정비</a:t>
            </a:r>
            <a:endParaRPr kumimoji="1" lang="en-US" altLang="ko-KR" sz="12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본 컨설팅은 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임금체계 재설계 및 평가체계 설계 목적으로 다음과 같이 추진함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컨설팅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컨설팅 추진 개요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03E77B0D-C839-AE96-2D98-E449C5771F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sz="600"/>
          </a:p>
        </p:txBody>
      </p:sp>
      <p:sp>
        <p:nvSpPr>
          <p:cNvPr id="57" name="직사각형 56"/>
          <p:cNvSpPr/>
          <p:nvPr/>
        </p:nvSpPr>
        <p:spPr>
          <a:xfrm>
            <a:off x="275583" y="1631292"/>
            <a:ext cx="1716526" cy="355925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컨설팅</a:t>
            </a:r>
            <a:r>
              <a:rPr lang="en-US" altLang="ko-KR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명칭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04474" y="1655825"/>
            <a:ext cx="7170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2pPr marL="108000" lvl="1" indent="-108000" fontAlgn="base" latinLnBrk="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  <a:defRPr sz="1200" b="1">
                <a:solidFill>
                  <a:prstClr val="black"/>
                </a:solidFill>
                <a:latin typeface="나눔고딕" panose="020B0600000101010101" charset="-127"/>
                <a:ea typeface="나눔고딕" panose="020B0600000101010101" charset="-127"/>
              </a:defRPr>
            </a:lvl2pPr>
          </a:lstStyle>
          <a:p>
            <a:pPr marL="144000" indent="-144000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㈜</a:t>
            </a:r>
            <a:r>
              <a:rPr kumimoji="1" lang="ko-KR" altLang="en-US" sz="1200" kern="0" dirty="0" err="1">
                <a:solidFill>
                  <a:prstClr val="black"/>
                </a:solidFill>
                <a:latin typeface="+mn-ea"/>
              </a:rPr>
              <a:t>베이시스소프트의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 임금체계 재설계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 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및 평가체계 설계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(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보상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배치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성과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)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 컨설팅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273050" y="2250815"/>
            <a:ext cx="1716526" cy="355925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컨설팅 추진 배경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5270" y="4621239"/>
            <a:ext cx="68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lvl="0" indent="-171450" eaLnBrk="0" fontAlgn="base" latinLnBrk="0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144000" indent="-144000">
              <a:lnSpc>
                <a:spcPct val="100000"/>
              </a:lnSpc>
            </a:pPr>
            <a:r>
              <a:rPr kumimoji="1" lang="en-US" altLang="ko-KR" b="0" dirty="0">
                <a:solidFill>
                  <a:prstClr val="black"/>
                </a:solidFill>
                <a:latin typeface="+mn-ea"/>
                <a:ea typeface="+mn-ea"/>
              </a:rPr>
              <a:t>2025</a:t>
            </a:r>
            <a:r>
              <a:rPr kumimoji="1" lang="ko-KR" altLang="en-US" b="0" dirty="0">
                <a:solidFill>
                  <a:prstClr val="black"/>
                </a:solidFill>
                <a:latin typeface="+mn-ea"/>
                <a:ea typeface="+mn-ea"/>
              </a:rPr>
              <a:t>년 </a:t>
            </a:r>
            <a:r>
              <a:rPr kumimoji="1" lang="en-US" altLang="ko-KR" b="0" dirty="0">
                <a:solidFill>
                  <a:prstClr val="black"/>
                </a:solidFill>
                <a:latin typeface="+mn-ea"/>
                <a:ea typeface="+mn-ea"/>
              </a:rPr>
              <a:t>06</a:t>
            </a:r>
            <a:r>
              <a:rPr kumimoji="1" lang="ko-KR" altLang="en-US" b="0" dirty="0">
                <a:solidFill>
                  <a:prstClr val="black"/>
                </a:solidFill>
                <a:latin typeface="+mn-ea"/>
                <a:ea typeface="+mn-ea"/>
              </a:rPr>
              <a:t>월 </a:t>
            </a:r>
            <a:r>
              <a:rPr kumimoji="1" lang="en-US" altLang="ko-KR" b="0" dirty="0">
                <a:solidFill>
                  <a:prstClr val="black"/>
                </a:solidFill>
                <a:latin typeface="+mn-ea"/>
                <a:ea typeface="+mn-ea"/>
              </a:rPr>
              <a:t>09</a:t>
            </a:r>
            <a:r>
              <a:rPr kumimoji="1" lang="ko-KR" altLang="en-US" b="0" dirty="0">
                <a:solidFill>
                  <a:prstClr val="black"/>
                </a:solidFill>
                <a:latin typeface="+mn-ea"/>
                <a:ea typeface="+mn-ea"/>
              </a:rPr>
              <a:t>일 </a:t>
            </a:r>
            <a:r>
              <a:rPr kumimoji="1" lang="en-US" altLang="ko-KR" b="0" dirty="0">
                <a:solidFill>
                  <a:prstClr val="black"/>
                </a:solidFill>
                <a:latin typeface="+mn-ea"/>
                <a:ea typeface="+mn-ea"/>
              </a:rPr>
              <a:t>~ 09</a:t>
            </a:r>
            <a:r>
              <a:rPr kumimoji="1" lang="ko-KR" altLang="en-US" b="0" dirty="0">
                <a:solidFill>
                  <a:prstClr val="black"/>
                </a:solidFill>
                <a:latin typeface="+mn-ea"/>
                <a:ea typeface="+mn-ea"/>
              </a:rPr>
              <a:t>월 </a:t>
            </a:r>
            <a:r>
              <a:rPr kumimoji="1" lang="en-US" altLang="ko-KR" b="0" dirty="0">
                <a:solidFill>
                  <a:prstClr val="black"/>
                </a:solidFill>
                <a:latin typeface="+mn-ea"/>
                <a:ea typeface="+mn-ea"/>
              </a:rPr>
              <a:t>22</a:t>
            </a:r>
            <a:r>
              <a:rPr kumimoji="1" lang="ko-KR" altLang="en-US" b="0" dirty="0">
                <a:solidFill>
                  <a:prstClr val="black"/>
                </a:solidFill>
                <a:latin typeface="+mn-ea"/>
                <a:ea typeface="+mn-ea"/>
              </a:rPr>
              <a:t>일 </a:t>
            </a:r>
            <a:r>
              <a:rPr kumimoji="1" lang="en-US" altLang="ko-KR" b="0" dirty="0">
                <a:solidFill>
                  <a:prstClr val="black"/>
                </a:solidFill>
                <a:latin typeface="+mn-ea"/>
                <a:ea typeface="+mn-ea"/>
              </a:rPr>
              <a:t>(15</a:t>
            </a:r>
            <a:r>
              <a:rPr kumimoji="1" lang="ko-KR" altLang="en-US" b="0" dirty="0">
                <a:solidFill>
                  <a:prstClr val="black"/>
                </a:solidFill>
                <a:latin typeface="+mn-ea"/>
                <a:ea typeface="+mn-ea"/>
              </a:rPr>
              <a:t>주간</a:t>
            </a:r>
            <a:r>
              <a:rPr kumimoji="1" lang="en-US" altLang="ko-KR" b="0" dirty="0">
                <a:solidFill>
                  <a:prstClr val="black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271308" y="4588890"/>
            <a:ext cx="1716526" cy="355925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컨설팅 기간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2D048A8-C3FA-4022-916B-A41BF267D35A}"/>
              </a:ext>
            </a:extLst>
          </p:cNvPr>
          <p:cNvSpPr/>
          <p:nvPr/>
        </p:nvSpPr>
        <p:spPr>
          <a:xfrm>
            <a:off x="2004474" y="2236569"/>
            <a:ext cx="7617680" cy="548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lvl="1" indent="-144000" fontAlgn="base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최근 영업이익 적자가 지속되며</a:t>
            </a:r>
            <a:r>
              <a:rPr kumimoji="1" lang="en-US" altLang="ko-KR" sz="1200" kern="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1200" kern="0" dirty="0">
                <a:solidFill>
                  <a:prstClr val="black"/>
                </a:solidFill>
                <a:latin typeface="+mn-ea"/>
              </a:rPr>
              <a:t>이에 따른 조직 내 핵심 인력의 이탈이 반복되고 있음</a:t>
            </a:r>
            <a:endParaRPr kumimoji="1" lang="en-US" altLang="ko-KR" sz="1200" kern="0" dirty="0">
              <a:solidFill>
                <a:prstClr val="black"/>
              </a:solidFill>
              <a:latin typeface="+mn-ea"/>
            </a:endParaRPr>
          </a:p>
          <a:p>
            <a:pPr marL="144000" lvl="1" indent="-144000" fontAlgn="base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ko-KR" altLang="en-US" sz="1200" kern="0" spc="-40" dirty="0" err="1">
                <a:solidFill>
                  <a:prstClr val="black"/>
                </a:solidFill>
                <a:latin typeface="+mn-ea"/>
              </a:rPr>
              <a:t>호봉제</a:t>
            </a:r>
            <a:r>
              <a:rPr kumimoji="1" lang="ko-KR" altLang="en-US" sz="1200" kern="0" spc="-40" dirty="0">
                <a:solidFill>
                  <a:prstClr val="black"/>
                </a:solidFill>
                <a:latin typeface="+mn-ea"/>
              </a:rPr>
              <a:t> 중심의 임금체계와 공식적인 평가 기준 부재로 인해 내부 구성원의 공정성 체감이 낮고</a:t>
            </a:r>
            <a:r>
              <a:rPr kumimoji="1" lang="en-US" altLang="ko-KR" sz="1200" kern="0" spc="-40" dirty="0"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1200" kern="0" spc="-40" dirty="0">
                <a:solidFill>
                  <a:prstClr val="black"/>
                </a:solidFill>
                <a:latin typeface="+mn-ea"/>
              </a:rPr>
              <a:t>신규 인력의 이탈 위험도 높음</a:t>
            </a:r>
            <a:endParaRPr kumimoji="1" lang="en-US" altLang="ko-KR" sz="1200" kern="0" spc="-4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" name="오른쪽 화살표 85">
            <a:extLst>
              <a:ext uri="{FF2B5EF4-FFF2-40B4-BE49-F238E27FC236}">
                <a16:creationId xmlns:a16="http://schemas.microsoft.com/office/drawing/2014/main" id="{3256276E-FFEB-F3D0-2D6F-E7D236779C01}"/>
              </a:ext>
            </a:extLst>
          </p:cNvPr>
          <p:cNvSpPr/>
          <p:nvPr/>
        </p:nvSpPr>
        <p:spPr>
          <a:xfrm>
            <a:off x="829453" y="5590117"/>
            <a:ext cx="900000" cy="149722"/>
          </a:xfrm>
          <a:prstGeom prst="rightArrow">
            <a:avLst>
              <a:gd name="adj1" fmla="val 50000"/>
              <a:gd name="adj2" fmla="val 9298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i="0" u="none" strike="noStrike" kern="0" cap="none" spc="0" normalizeH="0" baseline="0" noProof="0"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0" name="오른쪽 화살표 53">
            <a:extLst>
              <a:ext uri="{FF2B5EF4-FFF2-40B4-BE49-F238E27FC236}">
                <a16:creationId xmlns:a16="http://schemas.microsoft.com/office/drawing/2014/main" id="{7A996779-5E5E-E9A2-92BA-CDC7857C95A6}"/>
              </a:ext>
            </a:extLst>
          </p:cNvPr>
          <p:cNvSpPr/>
          <p:nvPr/>
        </p:nvSpPr>
        <p:spPr>
          <a:xfrm>
            <a:off x="1992109" y="5594863"/>
            <a:ext cx="6912000" cy="140231"/>
          </a:xfrm>
          <a:prstGeom prst="rightArrow">
            <a:avLst>
              <a:gd name="adj1" fmla="val 50000"/>
              <a:gd name="adj2" fmla="val 92980"/>
            </a:avLst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i="0" u="none" strike="noStrike" kern="0" cap="none" spc="0" normalizeH="0" baseline="0" noProof="0"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8EDC479-2077-CCC5-02E6-D7E705D2072A}"/>
              </a:ext>
            </a:extLst>
          </p:cNvPr>
          <p:cNvGrpSpPr/>
          <p:nvPr/>
        </p:nvGrpSpPr>
        <p:grpSpPr>
          <a:xfrm>
            <a:off x="8613070" y="5232634"/>
            <a:ext cx="838691" cy="839691"/>
            <a:chOff x="8613070" y="5116520"/>
            <a:chExt cx="838691" cy="83969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3AEF15-D707-806E-7484-630DE974D00D}"/>
                </a:ext>
              </a:extLst>
            </p:cNvPr>
            <p:cNvSpPr txBox="1"/>
            <p:nvPr/>
          </p:nvSpPr>
          <p:spPr>
            <a:xfrm>
              <a:off x="8613070" y="5116520"/>
              <a:ext cx="8386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~ 26.1.27</a:t>
              </a:r>
              <a:endParaRPr kumimoji="0" lang="ko-KR" altLang="en-US" sz="1200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AFCDEB-550B-3DEF-5869-EABE61494344}"/>
                </a:ext>
              </a:extLst>
            </p:cNvPr>
            <p:cNvSpPr txBox="1"/>
            <p:nvPr/>
          </p:nvSpPr>
          <p:spPr>
            <a:xfrm>
              <a:off x="8696426" y="5694601"/>
              <a:ext cx="6719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1" u="none" strike="noStrike" kern="0" cap="none" spc="-50" normalizeH="0" baseline="0" noProof="0" dirty="0" err="1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이행관리</a:t>
              </a:r>
              <a:endParaRPr kumimoji="0" lang="ko-KR" altLang="en-US" sz="1100" i="1" u="none" strike="noStrike" kern="0" cap="none" spc="-5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4C5D604-3893-C155-F964-E5DB7A0686E4}"/>
                </a:ext>
              </a:extLst>
            </p:cNvPr>
            <p:cNvGrpSpPr/>
            <p:nvPr/>
          </p:nvGrpSpPr>
          <p:grpSpPr>
            <a:xfrm>
              <a:off x="8897922" y="5417925"/>
              <a:ext cx="268986" cy="259395"/>
              <a:chOff x="4691684" y="5522524"/>
              <a:chExt cx="277529" cy="267633"/>
            </a:xfrm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3B699FB1-150B-DBE1-6097-53B00C6DA8C1}"/>
                  </a:ext>
                </a:extLst>
              </p:cNvPr>
              <p:cNvSpPr/>
              <p:nvPr/>
            </p:nvSpPr>
            <p:spPr>
              <a:xfrm>
                <a:off x="4691684" y="5522524"/>
                <a:ext cx="277529" cy="267633"/>
              </a:xfrm>
              <a:prstGeom prst="ellipse">
                <a:avLst/>
              </a:prstGeom>
              <a:pattFill prst="ltUpDiag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</a:pPr>
                <a:endParaRPr lang="ko-KR" altLang="en-US" sz="1200" kern="0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F331ACF1-AEF4-52EC-2D9A-24D1F4CFCA1A}"/>
                  </a:ext>
                </a:extLst>
              </p:cNvPr>
              <p:cNvSpPr/>
              <p:nvPr/>
            </p:nvSpPr>
            <p:spPr>
              <a:xfrm>
                <a:off x="4748411" y="5576080"/>
                <a:ext cx="164072" cy="159938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  <a:defRPr/>
                </a:pPr>
                <a:endParaRPr kumimoji="0" lang="ko-KR" altLang="en-US" sz="1200" i="0" u="none" strike="noStrike" kern="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6EB3BB9-D313-5118-E0E0-BED1FC6DAB67}"/>
              </a:ext>
            </a:extLst>
          </p:cNvPr>
          <p:cNvGrpSpPr/>
          <p:nvPr/>
        </p:nvGrpSpPr>
        <p:grpSpPr>
          <a:xfrm>
            <a:off x="6017472" y="5232634"/>
            <a:ext cx="1068903" cy="993802"/>
            <a:chOff x="6329177" y="5116520"/>
            <a:chExt cx="1068903" cy="99380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EF6BE9F-8C6C-DA42-8C58-984A3C1D97C3}"/>
                </a:ext>
              </a:extLst>
            </p:cNvPr>
            <p:cNvSpPr txBox="1"/>
            <p:nvPr/>
          </p:nvSpPr>
          <p:spPr>
            <a:xfrm>
              <a:off x="6329177" y="5679435"/>
              <a:ext cx="106890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100" i="1" kern="0" spc="-50" dirty="0">
                  <a:solidFill>
                    <a:prstClr val="black"/>
                  </a:solidFill>
                  <a:latin typeface="+mj-ea"/>
                  <a:ea typeface="+mj-ea"/>
                </a:rPr>
                <a:t>제도설계 및 개선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44F6F9A4-9B5D-7298-C755-15904446FD72}"/>
                </a:ext>
              </a:extLst>
            </p:cNvPr>
            <p:cNvGrpSpPr/>
            <p:nvPr/>
          </p:nvGrpSpPr>
          <p:grpSpPr>
            <a:xfrm>
              <a:off x="6486251" y="5116520"/>
              <a:ext cx="728084" cy="564082"/>
              <a:chOff x="4482869" y="5126641"/>
              <a:chExt cx="728084" cy="564082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A237D05F-E7D1-785A-5ECE-9842BA37C362}"/>
                  </a:ext>
                </a:extLst>
              </p:cNvPr>
              <p:cNvGrpSpPr/>
              <p:nvPr/>
            </p:nvGrpSpPr>
            <p:grpSpPr>
              <a:xfrm>
                <a:off x="4743417" y="5431328"/>
                <a:ext cx="268986" cy="259395"/>
                <a:chOff x="1383107" y="5518812"/>
                <a:chExt cx="277529" cy="267633"/>
              </a:xfrm>
            </p:grpSpPr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9A17CA0D-FED6-9B42-CC63-64942B8634A9}"/>
                    </a:ext>
                  </a:extLst>
                </p:cNvPr>
                <p:cNvSpPr/>
                <p:nvPr/>
              </p:nvSpPr>
              <p:spPr>
                <a:xfrm>
                  <a:off x="1383107" y="5518812"/>
                  <a:ext cx="277529" cy="267633"/>
                </a:xfrm>
                <a:prstGeom prst="ellipse">
                  <a:avLst/>
                </a:prstGeom>
                <a:pattFill prst="ltUpDiag">
                  <a:fgClr>
                    <a:schemeClr val="tx1">
                      <a:lumMod val="50000"/>
                      <a:lumOff val="50000"/>
                    </a:schemeClr>
                  </a:fgClr>
                  <a:bgClr>
                    <a:schemeClr val="bg1"/>
                  </a:bgClr>
                </a:pattFill>
                <a:ln w="25400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Font typeface="Wingdings" pitchFamily="2" charset="2"/>
                    <a:buChar char="§"/>
                  </a:pPr>
                  <a:endParaRPr lang="ko-KR" altLang="en-US" sz="1200" kern="0" dirty="0">
                    <a:solidFill>
                      <a:prstClr val="white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4BBA4634-B32E-50B2-761F-9B304A98A72C}"/>
                    </a:ext>
                  </a:extLst>
                </p:cNvPr>
                <p:cNvSpPr/>
                <p:nvPr/>
              </p:nvSpPr>
              <p:spPr>
                <a:xfrm>
                  <a:off x="1439834" y="5581893"/>
                  <a:ext cx="164072" cy="1599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Wingdings" pitchFamily="2" charset="2"/>
                    <a:buChar char="§"/>
                    <a:tabLst/>
                    <a:defRPr/>
                  </a:pPr>
                  <a:endParaRPr kumimoji="0" lang="ko-KR" altLang="en-US" sz="1200" i="0" u="none" strike="noStrike" kern="0" cap="none" spc="0" normalizeH="0" baseline="0" noProof="0"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2FF3FB-E12D-1251-4C35-F882368CD937}"/>
                  </a:ext>
                </a:extLst>
              </p:cNvPr>
              <p:cNvSpPr txBox="1"/>
              <p:nvPr/>
            </p:nvSpPr>
            <p:spPr>
              <a:xfrm>
                <a:off x="4482869" y="5126641"/>
                <a:ext cx="7280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ko-KR" sz="1200" kern="0" dirty="0">
                    <a:solidFill>
                      <a:prstClr val="black"/>
                    </a:solidFill>
                    <a:latin typeface="+mj-ea"/>
                    <a:ea typeface="+mj-ea"/>
                  </a:rPr>
                  <a:t> ~09.05</a:t>
                </a:r>
                <a:endParaRPr lang="ko-KR" altLang="en-US" sz="1200" kern="0" dirty="0">
                  <a:solidFill>
                    <a:prstClr val="black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39" name="타원 38">
            <a:extLst>
              <a:ext uri="{FF2B5EF4-FFF2-40B4-BE49-F238E27FC236}">
                <a16:creationId xmlns:a16="http://schemas.microsoft.com/office/drawing/2014/main" id="{B62FFCB9-6473-6AB3-DA0F-A233FBFCA957}"/>
              </a:ext>
            </a:extLst>
          </p:cNvPr>
          <p:cNvSpPr/>
          <p:nvPr/>
        </p:nvSpPr>
        <p:spPr>
          <a:xfrm>
            <a:off x="5068704" y="5539240"/>
            <a:ext cx="268986" cy="259395"/>
          </a:xfrm>
          <a:prstGeom prst="ellipse">
            <a:avLst/>
          </a:prstGeom>
          <a:pattFill prst="lt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C74A943-812D-63C1-4A84-66A38D221E0C}"/>
              </a:ext>
            </a:extLst>
          </p:cNvPr>
          <p:cNvSpPr/>
          <p:nvPr/>
        </p:nvSpPr>
        <p:spPr>
          <a:xfrm>
            <a:off x="5123685" y="5600379"/>
            <a:ext cx="159022" cy="155015"/>
          </a:xfrm>
          <a:prstGeom prst="ellipse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i="0" u="none" strike="noStrike" kern="0" cap="none" spc="0" normalizeH="0" baseline="0" noProof="0"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71EDE1-BA54-FEE9-4458-A45417D29972}"/>
              </a:ext>
            </a:extLst>
          </p:cNvPr>
          <p:cNvSpPr txBox="1"/>
          <p:nvPr/>
        </p:nvSpPr>
        <p:spPr>
          <a:xfrm>
            <a:off x="4959422" y="5231955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+mj-ea"/>
                <a:ea typeface="+mj-ea"/>
              </a:rPr>
              <a:t>07.11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6D56F5-5B27-3D41-6CD7-BA7CE6FCC36A}"/>
              </a:ext>
            </a:extLst>
          </p:cNvPr>
          <p:cNvSpPr txBox="1"/>
          <p:nvPr/>
        </p:nvSpPr>
        <p:spPr>
          <a:xfrm>
            <a:off x="4405618" y="5804392"/>
            <a:ext cx="1613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i="1" u="none" strike="noStrike" kern="0" cap="none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rPr>
              <a:t>중간보고</a:t>
            </a:r>
            <a:endParaRPr kumimoji="0" lang="en-US" altLang="ko-KR" sz="1100" i="1" u="none" strike="noStrike" kern="0" cap="none" normalizeH="0" baseline="-25000" noProof="0" dirty="0">
              <a:solidFill>
                <a:prstClr val="black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A3E2364-D67B-5211-1338-1FD2BB98D76E}"/>
              </a:ext>
            </a:extLst>
          </p:cNvPr>
          <p:cNvGrpSpPr/>
          <p:nvPr/>
        </p:nvGrpSpPr>
        <p:grpSpPr>
          <a:xfrm>
            <a:off x="7529763" y="5232634"/>
            <a:ext cx="671979" cy="831002"/>
            <a:chOff x="7719923" y="5116520"/>
            <a:chExt cx="671979" cy="83100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84147E5-B4C1-5CFE-B5E3-AFEE299F293B}"/>
                </a:ext>
              </a:extLst>
            </p:cNvPr>
            <p:cNvSpPr txBox="1"/>
            <p:nvPr/>
          </p:nvSpPr>
          <p:spPr>
            <a:xfrm>
              <a:off x="7760800" y="5116520"/>
              <a:ext cx="590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09.10</a:t>
              </a:r>
              <a:endParaRPr kumimoji="0" lang="ko-KR" altLang="en-US" sz="1200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36BD7700-1C60-5B0B-E564-8A990C854F35}"/>
                </a:ext>
              </a:extLst>
            </p:cNvPr>
            <p:cNvGrpSpPr/>
            <p:nvPr/>
          </p:nvGrpSpPr>
          <p:grpSpPr>
            <a:xfrm>
              <a:off x="7921419" y="5424804"/>
              <a:ext cx="268986" cy="259395"/>
              <a:chOff x="4691684" y="5522524"/>
              <a:chExt cx="277529" cy="267633"/>
            </a:xfrm>
          </p:grpSpPr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305861E-B86B-8DA7-615A-537B0A97775C}"/>
                  </a:ext>
                </a:extLst>
              </p:cNvPr>
              <p:cNvSpPr/>
              <p:nvPr/>
            </p:nvSpPr>
            <p:spPr>
              <a:xfrm>
                <a:off x="4691684" y="5522524"/>
                <a:ext cx="277529" cy="267633"/>
              </a:xfrm>
              <a:prstGeom prst="ellipse">
                <a:avLst/>
              </a:prstGeom>
              <a:pattFill prst="ltUpDiag">
                <a:fgClr>
                  <a:schemeClr val="tx1">
                    <a:lumMod val="50000"/>
                    <a:lumOff val="50000"/>
                  </a:schemeClr>
                </a:fgClr>
                <a:bgClr>
                  <a:schemeClr val="bg1"/>
                </a:bgClr>
              </a:pattFill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Wingdings" pitchFamily="2" charset="2"/>
                  <a:buChar char="§"/>
                </a:pPr>
                <a:endParaRPr lang="ko-KR" altLang="en-US" sz="1200" kern="0" dirty="0"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10378B74-474A-A4DA-3BC9-96C3E55F350C}"/>
                  </a:ext>
                </a:extLst>
              </p:cNvPr>
              <p:cNvSpPr/>
              <p:nvPr/>
            </p:nvSpPr>
            <p:spPr>
              <a:xfrm>
                <a:off x="4748411" y="5585605"/>
                <a:ext cx="164072" cy="159938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Char char="§"/>
                  <a:tabLst/>
                  <a:defRPr/>
                </a:pPr>
                <a:endParaRPr kumimoji="0" lang="ko-KR" altLang="en-US" sz="1200" i="0" u="none" strike="noStrike" kern="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+mj-ea"/>
                  <a:ea typeface="+mj-ea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2371CEE-FFE4-640E-9051-389380074DE6}"/>
                </a:ext>
              </a:extLst>
            </p:cNvPr>
            <p:cNvSpPr txBox="1"/>
            <p:nvPr/>
          </p:nvSpPr>
          <p:spPr>
            <a:xfrm>
              <a:off x="7719923" y="5685912"/>
              <a:ext cx="6719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100" i="1" kern="0" spc="-50" dirty="0">
                  <a:solidFill>
                    <a:prstClr val="black"/>
                  </a:solidFill>
                  <a:latin typeface="+mj-ea"/>
                  <a:ea typeface="+mj-ea"/>
                </a:rPr>
                <a:t>최종보고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78A0EA2-B41F-9A0B-5156-AB6BCB7AF9F7}"/>
              </a:ext>
            </a:extLst>
          </p:cNvPr>
          <p:cNvGrpSpPr/>
          <p:nvPr/>
        </p:nvGrpSpPr>
        <p:grpSpPr>
          <a:xfrm>
            <a:off x="464071" y="5236715"/>
            <a:ext cx="697627" cy="824527"/>
            <a:chOff x="522389" y="5126641"/>
            <a:chExt cx="697627" cy="82452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19F1DC-F3A8-5B0E-DB51-E924EA21F6C5}"/>
                </a:ext>
              </a:extLst>
            </p:cNvPr>
            <p:cNvSpPr txBox="1"/>
            <p:nvPr/>
          </p:nvSpPr>
          <p:spPr>
            <a:xfrm>
              <a:off x="717883" y="5126641"/>
              <a:ext cx="3882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+mj-ea"/>
                  <a:ea typeface="+mj-ea"/>
                </a:rPr>
                <a:t>6.9</a:t>
              </a:r>
              <a:endParaRPr kumimoji="0" lang="ko-KR" altLang="en-US" sz="1200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62B279A-8E04-245F-1B0B-047D120945A4}"/>
                </a:ext>
              </a:extLst>
            </p:cNvPr>
            <p:cNvSpPr/>
            <p:nvPr/>
          </p:nvSpPr>
          <p:spPr>
            <a:xfrm>
              <a:off x="750529" y="5431328"/>
              <a:ext cx="268986" cy="25939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kumimoji="0" lang="ko-KR" altLang="en-US" sz="1200" i="0" u="none" strike="noStrike" kern="0" cap="none" spc="0" normalizeH="0" baseline="0" noProof="0"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CAFD876-215A-C51E-20D6-1A16DE6598D2}"/>
                </a:ext>
              </a:extLst>
            </p:cNvPr>
            <p:cNvSpPr/>
            <p:nvPr/>
          </p:nvSpPr>
          <p:spPr>
            <a:xfrm>
              <a:off x="805510" y="5492467"/>
              <a:ext cx="159022" cy="155015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kumimoji="0" lang="ko-KR" altLang="en-US" sz="1200" i="0" u="none" strike="noStrike" kern="0" cap="none" spc="0" normalizeH="0" baseline="0" noProof="0"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8B1F7A5-FC16-A82F-CEDE-156CB4618427}"/>
                </a:ext>
              </a:extLst>
            </p:cNvPr>
            <p:cNvSpPr txBox="1"/>
            <p:nvPr/>
          </p:nvSpPr>
          <p:spPr>
            <a:xfrm>
              <a:off x="522389" y="5689558"/>
              <a:ext cx="6976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100" i="1" kern="0" dirty="0">
                  <a:solidFill>
                    <a:prstClr val="black"/>
                  </a:solidFill>
                  <a:latin typeface="+mj-ea"/>
                  <a:ea typeface="+mj-ea"/>
                </a:rPr>
                <a:t>선정공고</a:t>
              </a:r>
              <a:endParaRPr lang="en-US" altLang="ko-KR" sz="1100" i="1" kern="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EC14C88-E485-094F-7D5F-EC39F5359068}"/>
              </a:ext>
            </a:extLst>
          </p:cNvPr>
          <p:cNvGrpSpPr/>
          <p:nvPr/>
        </p:nvGrpSpPr>
        <p:grpSpPr>
          <a:xfrm>
            <a:off x="1283500" y="5228824"/>
            <a:ext cx="1003377" cy="953160"/>
            <a:chOff x="1599249" y="5124040"/>
            <a:chExt cx="1003377" cy="953160"/>
          </a:xfrm>
        </p:grpSpPr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31E1510D-BCC2-6667-B824-A0933054A4B4}"/>
                </a:ext>
              </a:extLst>
            </p:cNvPr>
            <p:cNvSpPr/>
            <p:nvPr/>
          </p:nvSpPr>
          <p:spPr>
            <a:xfrm>
              <a:off x="2008914" y="5431325"/>
              <a:ext cx="268986" cy="25939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kumimoji="0" lang="ko-KR" altLang="en-US" sz="1200" i="0" u="none" strike="noStrike" kern="0" cap="none" spc="0" normalizeH="0" baseline="0" noProof="0"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9787FCCE-00A5-6A29-4463-732F0CECF614}"/>
                </a:ext>
              </a:extLst>
            </p:cNvPr>
            <p:cNvSpPr/>
            <p:nvPr/>
          </p:nvSpPr>
          <p:spPr>
            <a:xfrm>
              <a:off x="2063895" y="5492464"/>
              <a:ext cx="159022" cy="155015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kumimoji="0" lang="ko-KR" altLang="en-US" sz="1200" i="0" u="none" strike="noStrike" kern="0" cap="none" spc="0" normalizeH="0" baseline="0" noProof="0"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9D688F3-D00A-A759-F69D-58DEB3A12500}"/>
                </a:ext>
              </a:extLst>
            </p:cNvPr>
            <p:cNvSpPr txBox="1"/>
            <p:nvPr/>
          </p:nvSpPr>
          <p:spPr>
            <a:xfrm>
              <a:off x="1880298" y="5124040"/>
              <a:ext cx="4732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+mj-ea"/>
                  <a:ea typeface="+mj-ea"/>
                </a:rPr>
                <a:t>6.26</a:t>
              </a:r>
              <a:endParaRPr kumimoji="0" lang="ko-KR" altLang="en-US" sz="1200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3B9CEE8-5487-EF2D-9BBC-7EC06BB10974}"/>
                </a:ext>
              </a:extLst>
            </p:cNvPr>
            <p:cNvSpPr txBox="1"/>
            <p:nvPr/>
          </p:nvSpPr>
          <p:spPr>
            <a:xfrm>
              <a:off x="1599249" y="5702739"/>
              <a:ext cx="1003377" cy="374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ko-KR" altLang="en-US" sz="1100" i="1" u="none" strike="noStrike" kern="0" cap="none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컨설팅 착수</a:t>
              </a:r>
              <a:br>
                <a:rPr kumimoji="0" lang="en-US" altLang="ko-KR" sz="1100" i="1" u="none" strike="noStrike" kern="0" cap="none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</a:br>
              <a:r>
                <a:rPr kumimoji="0" lang="en-US" altLang="ko-KR" sz="1100" i="1" u="none" strike="noStrike" kern="0" cap="none" normalizeH="0" baseline="-2500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(MOU </a:t>
              </a:r>
              <a:r>
                <a:rPr kumimoji="0" lang="ko-KR" altLang="en-US" sz="1100" i="1" u="none" strike="noStrike" kern="0" cap="none" normalizeH="0" baseline="-2500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체결</a:t>
              </a:r>
              <a:r>
                <a:rPr kumimoji="0" lang="en-US" altLang="ko-KR" sz="1100" i="1" u="none" strike="noStrike" kern="0" cap="none" normalizeH="0" baseline="-2500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)</a:t>
              </a:r>
            </a:p>
          </p:txBody>
        </p:sp>
      </p:grpSp>
      <p:sp>
        <p:nvSpPr>
          <p:cNvPr id="69" name="Freeform 58">
            <a:extLst>
              <a:ext uri="{FF2B5EF4-FFF2-40B4-BE49-F238E27FC236}">
                <a16:creationId xmlns:a16="http://schemas.microsoft.com/office/drawing/2014/main" id="{B6F6F040-20A1-4B25-D60D-F14ACB293B9F}"/>
              </a:ext>
            </a:extLst>
          </p:cNvPr>
          <p:cNvSpPr>
            <a:spLocks/>
          </p:cNvSpPr>
          <p:nvPr/>
        </p:nvSpPr>
        <p:spPr bwMode="auto">
          <a:xfrm>
            <a:off x="7796025" y="5512768"/>
            <a:ext cx="250225" cy="204464"/>
          </a:xfrm>
          <a:custGeom>
            <a:avLst/>
            <a:gdLst/>
            <a:ahLst/>
            <a:cxnLst>
              <a:cxn ang="0">
                <a:pos x="346" y="542"/>
              </a:cxn>
              <a:cxn ang="0">
                <a:pos x="322" y="554"/>
              </a:cxn>
              <a:cxn ang="0">
                <a:pos x="242" y="574"/>
              </a:cxn>
              <a:cxn ang="0">
                <a:pos x="88" y="600"/>
              </a:cxn>
              <a:cxn ang="0">
                <a:pos x="0" y="612"/>
              </a:cxn>
              <a:cxn ang="0">
                <a:pos x="60" y="706"/>
              </a:cxn>
              <a:cxn ang="0">
                <a:pos x="324" y="1154"/>
              </a:cxn>
              <a:cxn ang="0">
                <a:pos x="580" y="1268"/>
              </a:cxn>
              <a:cxn ang="0">
                <a:pos x="610" y="1180"/>
              </a:cxn>
              <a:cxn ang="0">
                <a:pos x="662" y="1042"/>
              </a:cxn>
              <a:cxn ang="0">
                <a:pos x="740" y="864"/>
              </a:cxn>
              <a:cxn ang="0">
                <a:pos x="818" y="714"/>
              </a:cxn>
              <a:cxn ang="0">
                <a:pos x="878" y="610"/>
              </a:cxn>
              <a:cxn ang="0">
                <a:pos x="946" y="508"/>
              </a:cxn>
              <a:cxn ang="0">
                <a:pos x="1020" y="408"/>
              </a:cxn>
              <a:cxn ang="0">
                <a:pos x="1102" y="314"/>
              </a:cxn>
              <a:cxn ang="0">
                <a:pos x="1190" y="226"/>
              </a:cxn>
              <a:cxn ang="0">
                <a:pos x="1286" y="148"/>
              </a:cxn>
              <a:cxn ang="0">
                <a:pos x="1390" y="82"/>
              </a:cxn>
              <a:cxn ang="0">
                <a:pos x="1446" y="56"/>
              </a:cxn>
              <a:cxn ang="0">
                <a:pos x="1368" y="58"/>
              </a:cxn>
              <a:cxn ang="0">
                <a:pos x="1266" y="52"/>
              </a:cxn>
              <a:cxn ang="0">
                <a:pos x="1214" y="42"/>
              </a:cxn>
              <a:cxn ang="0">
                <a:pos x="1166" y="26"/>
              </a:cxn>
              <a:cxn ang="0">
                <a:pos x="1130" y="0"/>
              </a:cxn>
              <a:cxn ang="0">
                <a:pos x="1088" y="28"/>
              </a:cxn>
              <a:cxn ang="0">
                <a:pos x="1010" y="86"/>
              </a:cxn>
              <a:cxn ang="0">
                <a:pos x="938" y="148"/>
              </a:cxn>
              <a:cxn ang="0">
                <a:pos x="870" y="214"/>
              </a:cxn>
              <a:cxn ang="0">
                <a:pos x="808" y="284"/>
              </a:cxn>
              <a:cxn ang="0">
                <a:pos x="726" y="388"/>
              </a:cxn>
              <a:cxn ang="0">
                <a:pos x="634" y="524"/>
              </a:cxn>
              <a:cxn ang="0">
                <a:pos x="562" y="648"/>
              </a:cxn>
              <a:cxn ang="0">
                <a:pos x="512" y="748"/>
              </a:cxn>
              <a:cxn ang="0">
                <a:pos x="472" y="840"/>
              </a:cxn>
              <a:cxn ang="0">
                <a:pos x="458" y="812"/>
              </a:cxn>
              <a:cxn ang="0">
                <a:pos x="386" y="648"/>
              </a:cxn>
              <a:cxn ang="0">
                <a:pos x="346" y="542"/>
              </a:cxn>
            </a:cxnLst>
            <a:rect l="0" t="0" r="r" b="b"/>
            <a:pathLst>
              <a:path w="1446" h="1268">
                <a:moveTo>
                  <a:pt x="346" y="542"/>
                </a:moveTo>
                <a:lnTo>
                  <a:pt x="346" y="542"/>
                </a:lnTo>
                <a:lnTo>
                  <a:pt x="336" y="548"/>
                </a:lnTo>
                <a:lnTo>
                  <a:pt x="322" y="554"/>
                </a:lnTo>
                <a:lnTo>
                  <a:pt x="286" y="564"/>
                </a:lnTo>
                <a:lnTo>
                  <a:pt x="242" y="574"/>
                </a:lnTo>
                <a:lnTo>
                  <a:pt x="192" y="584"/>
                </a:lnTo>
                <a:lnTo>
                  <a:pt x="88" y="600"/>
                </a:lnTo>
                <a:lnTo>
                  <a:pt x="0" y="612"/>
                </a:lnTo>
                <a:lnTo>
                  <a:pt x="0" y="612"/>
                </a:lnTo>
                <a:lnTo>
                  <a:pt x="20" y="642"/>
                </a:lnTo>
                <a:lnTo>
                  <a:pt x="60" y="706"/>
                </a:lnTo>
                <a:lnTo>
                  <a:pt x="170" y="892"/>
                </a:lnTo>
                <a:lnTo>
                  <a:pt x="324" y="1154"/>
                </a:lnTo>
                <a:lnTo>
                  <a:pt x="580" y="1268"/>
                </a:lnTo>
                <a:lnTo>
                  <a:pt x="580" y="1268"/>
                </a:lnTo>
                <a:lnTo>
                  <a:pt x="592" y="1228"/>
                </a:lnTo>
                <a:lnTo>
                  <a:pt x="610" y="1180"/>
                </a:lnTo>
                <a:lnTo>
                  <a:pt x="632" y="1118"/>
                </a:lnTo>
                <a:lnTo>
                  <a:pt x="662" y="1042"/>
                </a:lnTo>
                <a:lnTo>
                  <a:pt x="698" y="956"/>
                </a:lnTo>
                <a:lnTo>
                  <a:pt x="740" y="864"/>
                </a:lnTo>
                <a:lnTo>
                  <a:pt x="790" y="764"/>
                </a:lnTo>
                <a:lnTo>
                  <a:pt x="818" y="714"/>
                </a:lnTo>
                <a:lnTo>
                  <a:pt x="848" y="662"/>
                </a:lnTo>
                <a:lnTo>
                  <a:pt x="878" y="610"/>
                </a:lnTo>
                <a:lnTo>
                  <a:pt x="910" y="558"/>
                </a:lnTo>
                <a:lnTo>
                  <a:pt x="946" y="508"/>
                </a:lnTo>
                <a:lnTo>
                  <a:pt x="982" y="458"/>
                </a:lnTo>
                <a:lnTo>
                  <a:pt x="1020" y="408"/>
                </a:lnTo>
                <a:lnTo>
                  <a:pt x="1060" y="360"/>
                </a:lnTo>
                <a:lnTo>
                  <a:pt x="1102" y="314"/>
                </a:lnTo>
                <a:lnTo>
                  <a:pt x="1146" y="268"/>
                </a:lnTo>
                <a:lnTo>
                  <a:pt x="1190" y="226"/>
                </a:lnTo>
                <a:lnTo>
                  <a:pt x="1238" y="186"/>
                </a:lnTo>
                <a:lnTo>
                  <a:pt x="1286" y="148"/>
                </a:lnTo>
                <a:lnTo>
                  <a:pt x="1338" y="114"/>
                </a:lnTo>
                <a:lnTo>
                  <a:pt x="1390" y="82"/>
                </a:lnTo>
                <a:lnTo>
                  <a:pt x="1446" y="56"/>
                </a:lnTo>
                <a:lnTo>
                  <a:pt x="1446" y="56"/>
                </a:lnTo>
                <a:lnTo>
                  <a:pt x="1408" y="58"/>
                </a:lnTo>
                <a:lnTo>
                  <a:pt x="1368" y="58"/>
                </a:lnTo>
                <a:lnTo>
                  <a:pt x="1318" y="56"/>
                </a:lnTo>
                <a:lnTo>
                  <a:pt x="1266" y="52"/>
                </a:lnTo>
                <a:lnTo>
                  <a:pt x="1240" y="48"/>
                </a:lnTo>
                <a:lnTo>
                  <a:pt x="1214" y="42"/>
                </a:lnTo>
                <a:lnTo>
                  <a:pt x="1190" y="34"/>
                </a:lnTo>
                <a:lnTo>
                  <a:pt x="1166" y="26"/>
                </a:lnTo>
                <a:lnTo>
                  <a:pt x="1146" y="14"/>
                </a:lnTo>
                <a:lnTo>
                  <a:pt x="1130" y="0"/>
                </a:lnTo>
                <a:lnTo>
                  <a:pt x="1130" y="0"/>
                </a:lnTo>
                <a:lnTo>
                  <a:pt x="1088" y="28"/>
                </a:lnTo>
                <a:lnTo>
                  <a:pt x="1048" y="56"/>
                </a:lnTo>
                <a:lnTo>
                  <a:pt x="1010" y="86"/>
                </a:lnTo>
                <a:lnTo>
                  <a:pt x="974" y="116"/>
                </a:lnTo>
                <a:lnTo>
                  <a:pt x="938" y="148"/>
                </a:lnTo>
                <a:lnTo>
                  <a:pt x="904" y="182"/>
                </a:lnTo>
                <a:lnTo>
                  <a:pt x="870" y="214"/>
                </a:lnTo>
                <a:lnTo>
                  <a:pt x="838" y="250"/>
                </a:lnTo>
                <a:lnTo>
                  <a:pt x="808" y="284"/>
                </a:lnTo>
                <a:lnTo>
                  <a:pt x="780" y="318"/>
                </a:lnTo>
                <a:lnTo>
                  <a:pt x="726" y="388"/>
                </a:lnTo>
                <a:lnTo>
                  <a:pt x="676" y="458"/>
                </a:lnTo>
                <a:lnTo>
                  <a:pt x="634" y="524"/>
                </a:lnTo>
                <a:lnTo>
                  <a:pt x="594" y="588"/>
                </a:lnTo>
                <a:lnTo>
                  <a:pt x="562" y="648"/>
                </a:lnTo>
                <a:lnTo>
                  <a:pt x="534" y="700"/>
                </a:lnTo>
                <a:lnTo>
                  <a:pt x="512" y="748"/>
                </a:lnTo>
                <a:lnTo>
                  <a:pt x="482" y="814"/>
                </a:lnTo>
                <a:lnTo>
                  <a:pt x="472" y="840"/>
                </a:lnTo>
                <a:lnTo>
                  <a:pt x="472" y="840"/>
                </a:lnTo>
                <a:lnTo>
                  <a:pt x="458" y="812"/>
                </a:lnTo>
                <a:lnTo>
                  <a:pt x="426" y="744"/>
                </a:lnTo>
                <a:lnTo>
                  <a:pt x="386" y="648"/>
                </a:lnTo>
                <a:lnTo>
                  <a:pt x="366" y="596"/>
                </a:lnTo>
                <a:lnTo>
                  <a:pt x="346" y="542"/>
                </a:lnTo>
                <a:lnTo>
                  <a:pt x="346" y="542"/>
                </a:lnTo>
                <a:close/>
              </a:path>
            </a:pathLst>
          </a:custGeom>
          <a:solidFill>
            <a:srgbClr val="C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defTabSz="913852"/>
            <a:endParaRPr lang="ko-KR" altLang="en-US" sz="16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E6D518F-E1B7-B015-2721-8761CC14924A}"/>
              </a:ext>
            </a:extLst>
          </p:cNvPr>
          <p:cNvGrpSpPr/>
          <p:nvPr/>
        </p:nvGrpSpPr>
        <p:grpSpPr>
          <a:xfrm>
            <a:off x="2408679" y="5231955"/>
            <a:ext cx="1003378" cy="834047"/>
            <a:chOff x="3770511" y="5232634"/>
            <a:chExt cx="1003378" cy="834047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764243F8-B08F-FCA9-B7B6-2C18812BA9C4}"/>
                </a:ext>
              </a:extLst>
            </p:cNvPr>
            <p:cNvSpPr/>
            <p:nvPr/>
          </p:nvSpPr>
          <p:spPr>
            <a:xfrm>
              <a:off x="4157824" y="5547752"/>
              <a:ext cx="268986" cy="259395"/>
            </a:xfrm>
            <a:prstGeom prst="ellipse">
              <a:avLst/>
            </a:prstGeom>
            <a:pattFill prst="ltUpDiag"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§"/>
              </a:pPr>
              <a:endParaRPr lang="ko-KR" altLang="en-US" sz="1200" kern="0" dirty="0">
                <a:solidFill>
                  <a:prstClr val="white"/>
                </a:solidFill>
                <a:latin typeface="+mj-ea"/>
                <a:ea typeface="+mj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BC56205-58CD-A6FC-B490-F2ACEDE50301}"/>
                </a:ext>
              </a:extLst>
            </p:cNvPr>
            <p:cNvSpPr txBox="1"/>
            <p:nvPr/>
          </p:nvSpPr>
          <p:spPr>
            <a:xfrm>
              <a:off x="3928244" y="5232634"/>
              <a:ext cx="699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+mj-ea"/>
                  <a:ea typeface="+mj-ea"/>
                </a:rPr>
                <a:t>7.4~7.7</a:t>
              </a:r>
              <a:endParaRPr kumimoji="0" lang="ko-KR" altLang="en-US" sz="1200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7C88B41-1F79-F2E4-307C-B4CD5FAA7D64}"/>
                </a:ext>
              </a:extLst>
            </p:cNvPr>
            <p:cNvSpPr txBox="1"/>
            <p:nvPr/>
          </p:nvSpPr>
          <p:spPr>
            <a:xfrm>
              <a:off x="3770511" y="5805071"/>
              <a:ext cx="1003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ko-KR" altLang="en-US" sz="1100" i="1" u="none" strike="noStrike" kern="0" cap="none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인터뷰</a:t>
              </a: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30D6EBAA-FC80-9E67-5C5B-B49C42902DB0}"/>
                </a:ext>
              </a:extLst>
            </p:cNvPr>
            <p:cNvSpPr/>
            <p:nvPr/>
          </p:nvSpPr>
          <p:spPr>
            <a:xfrm>
              <a:off x="4212805" y="5608891"/>
              <a:ext cx="159022" cy="155015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kumimoji="0" lang="ko-KR" altLang="en-US" sz="1200" i="0" u="none" strike="noStrike" kern="0" cap="none" spc="0" normalizeH="0" baseline="0" noProof="0" dirty="0"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14349AB-AAFD-F687-F752-423B8428B26B}"/>
              </a:ext>
            </a:extLst>
          </p:cNvPr>
          <p:cNvGrpSpPr/>
          <p:nvPr/>
        </p:nvGrpSpPr>
        <p:grpSpPr>
          <a:xfrm>
            <a:off x="3533859" y="5231955"/>
            <a:ext cx="1003378" cy="834047"/>
            <a:chOff x="3770511" y="5232634"/>
            <a:chExt cx="1003378" cy="834047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732382-FE08-6FF2-1EEF-AB99D1E67E8A}"/>
                </a:ext>
              </a:extLst>
            </p:cNvPr>
            <p:cNvSpPr/>
            <p:nvPr/>
          </p:nvSpPr>
          <p:spPr>
            <a:xfrm>
              <a:off x="4157824" y="5547752"/>
              <a:ext cx="268986" cy="259395"/>
            </a:xfrm>
            <a:prstGeom prst="ellipse">
              <a:avLst/>
            </a:prstGeom>
            <a:pattFill prst="ltUp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Char char="§"/>
              </a:pPr>
              <a:endParaRPr lang="ko-KR" altLang="en-US" sz="1200" kern="0" dirty="0">
                <a:solidFill>
                  <a:prstClr val="white"/>
                </a:solidFill>
                <a:latin typeface="+mj-ea"/>
                <a:ea typeface="+mj-ea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3F5BB84-0A57-BC62-9E92-B1538E019AA5}"/>
                </a:ext>
              </a:extLst>
            </p:cNvPr>
            <p:cNvSpPr txBox="1"/>
            <p:nvPr/>
          </p:nvSpPr>
          <p:spPr>
            <a:xfrm>
              <a:off x="3928245" y="5232634"/>
              <a:ext cx="699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+mj-ea"/>
                  <a:ea typeface="+mj-ea"/>
                </a:rPr>
                <a:t>7.3~7.7</a:t>
              </a:r>
              <a:endParaRPr kumimoji="0" lang="ko-KR" altLang="en-US" sz="1200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7684C61-1A41-86A8-861A-18F5DB340F17}"/>
                </a:ext>
              </a:extLst>
            </p:cNvPr>
            <p:cNvSpPr txBox="1"/>
            <p:nvPr/>
          </p:nvSpPr>
          <p:spPr>
            <a:xfrm>
              <a:off x="3770511" y="5805071"/>
              <a:ext cx="1003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1" u="none" strike="noStrike" kern="0" cap="none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</a:rPr>
                <a:t>설문조사</a:t>
              </a:r>
              <a:endParaRPr kumimoji="0" lang="en-US" altLang="ko-KR" sz="1100" i="1" u="none" strike="noStrike" kern="0" cap="none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83E64B85-8D26-4899-0363-7ADE28A5ABDB}"/>
                </a:ext>
              </a:extLst>
            </p:cNvPr>
            <p:cNvSpPr/>
            <p:nvPr/>
          </p:nvSpPr>
          <p:spPr>
            <a:xfrm>
              <a:off x="4212805" y="5608891"/>
              <a:ext cx="159022" cy="155015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kumimoji="0" lang="ko-KR" altLang="en-US" sz="1200" i="0" u="none" strike="noStrike" kern="0" cap="none" spc="0" normalizeH="0" baseline="0" noProof="0"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80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1">
            <a:extLst>
              <a:ext uri="{FF2B5EF4-FFF2-40B4-BE49-F238E27FC236}">
                <a16:creationId xmlns:a16="http://schemas.microsoft.com/office/drawing/2014/main" id="{9C1F8BB3-2677-7D17-CD19-50BEAAFED04C}"/>
              </a:ext>
            </a:extLst>
          </p:cNvPr>
          <p:cNvSpPr>
            <a:spLocks/>
          </p:cNvSpPr>
          <p:nvPr/>
        </p:nvSpPr>
        <p:spPr bwMode="auto">
          <a:xfrm>
            <a:off x="4664770" y="2072640"/>
            <a:ext cx="593267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컨설팅 추진 목적은 다음과 같음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컨설팅 개요</a:t>
            </a: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r>
              <a:rPr lang="ko-KR" altLang="en-US" dirty="0"/>
              <a:t>컨설팅 추진 목적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3D9084D0-5F54-8F40-1CEA-8CEC419CF4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Rectangle 308">
            <a:extLst>
              <a:ext uri="{FF2B5EF4-FFF2-40B4-BE49-F238E27FC236}">
                <a16:creationId xmlns:a16="http://schemas.microsoft.com/office/drawing/2014/main" id="{18D8FB4B-50D1-9428-56BD-96052DFD5E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5048" y="1970802"/>
            <a:ext cx="4345637" cy="4246489"/>
          </a:xfrm>
          <a:prstGeom prst="rect">
            <a:avLst/>
          </a:prstGeom>
          <a:noFill/>
          <a:ln w="15875">
            <a:noFill/>
          </a:ln>
          <a:effectLst/>
        </p:spPr>
        <p:txBody>
          <a:bodyPr wrap="square" lIns="72000" rIns="72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endParaRPr kumimoji="1" lang="en-US" altLang="ko-KR" sz="1200" b="1" i="0" u="none" strike="noStrike" kern="0" cap="none" spc="-10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E87A49-6B08-C45F-2022-52D401E2998F}"/>
              </a:ext>
            </a:extLst>
          </p:cNvPr>
          <p:cNvSpPr/>
          <p:nvPr/>
        </p:nvSpPr>
        <p:spPr>
          <a:xfrm>
            <a:off x="5097464" y="1638325"/>
            <a:ext cx="4536162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컨설팅 추진 목적 및 범위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5A8D3A-97F4-E3CC-8CC2-EF9F2C363B56}"/>
              </a:ext>
            </a:extLst>
          </p:cNvPr>
          <p:cNvSpPr/>
          <p:nvPr/>
        </p:nvSpPr>
        <p:spPr>
          <a:xfrm>
            <a:off x="274544" y="1638325"/>
            <a:ext cx="4374000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HR </a:t>
            </a:r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주요 이슈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AFF106-0EC7-60F8-2AD1-A7621FC35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28613"/>
              </p:ext>
            </p:extLst>
          </p:nvPr>
        </p:nvGraphicFramePr>
        <p:xfrm>
          <a:off x="5097463" y="2062348"/>
          <a:ext cx="4549025" cy="611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5712">
                  <a:extLst>
                    <a:ext uri="{9D8B030D-6E8A-4147-A177-3AD203B41FA5}">
                      <a16:colId xmlns:a16="http://schemas.microsoft.com/office/drawing/2014/main" val="2398161033"/>
                    </a:ext>
                  </a:extLst>
                </a:gridCol>
                <a:gridCol w="3293313">
                  <a:extLst>
                    <a:ext uri="{9D8B030D-6E8A-4147-A177-3AD203B41FA5}">
                      <a16:colId xmlns:a16="http://schemas.microsoft.com/office/drawing/2014/main" val="217222399"/>
                    </a:ext>
                  </a:extLst>
                </a:gridCol>
              </a:tblGrid>
              <a:tr h="32407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일터혁신 추진목표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베이시스소프트의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지속가능성장을 위한 변화 기반 확보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726440"/>
                  </a:ext>
                </a:extLst>
              </a:tr>
              <a:tr h="28731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일터혁신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KPI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‘25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년까지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일터혁신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도약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9270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E43316A-6C2E-4784-4FE9-ACD064612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146338"/>
              </p:ext>
            </p:extLst>
          </p:nvPr>
        </p:nvGraphicFramePr>
        <p:xfrm>
          <a:off x="296615" y="2109709"/>
          <a:ext cx="4334070" cy="1857076"/>
        </p:xfrm>
        <a:graphic>
          <a:graphicData uri="http://schemas.openxmlformats.org/drawingml/2006/table">
            <a:tbl>
              <a:tblPr/>
              <a:tblGrid>
                <a:gridCol w="802980">
                  <a:extLst>
                    <a:ext uri="{9D8B030D-6E8A-4147-A177-3AD203B41FA5}">
                      <a16:colId xmlns:a16="http://schemas.microsoft.com/office/drawing/2014/main" val="2945901915"/>
                    </a:ext>
                  </a:extLst>
                </a:gridCol>
                <a:gridCol w="3531090">
                  <a:extLst>
                    <a:ext uri="{9D8B030D-6E8A-4147-A177-3AD203B41FA5}">
                      <a16:colId xmlns:a16="http://schemas.microsoft.com/office/drawing/2014/main" val="3530669897"/>
                    </a:ext>
                  </a:extLst>
                </a:gridCol>
              </a:tblGrid>
              <a:tr h="302405">
                <a:tc>
                  <a:txBody>
                    <a:bodyPr/>
                    <a:lstStyle/>
                    <a:p>
                      <a:pPr marL="0" marR="0" lvl="0" indent="0" algn="ctr" defTabSz="10060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분야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임금체계 재설계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44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64712"/>
                  </a:ext>
                </a:extLst>
              </a:tr>
              <a:tr h="36955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요구사항</a:t>
                      </a:r>
                      <a:endParaRPr lang="en-US" altLang="ko-KR" sz="12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임금체계 재설계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역할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직무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성과 중심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2000" marR="144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866495"/>
                  </a:ext>
                </a:extLst>
              </a:tr>
              <a:tr h="344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이슈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호봉제를 탈피하여 역할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직무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성과 중심의 임금체계 구축</a:t>
                      </a:r>
                    </a:p>
                  </a:txBody>
                  <a:tcPr marL="72000" marR="144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849069"/>
                  </a:ext>
                </a:extLst>
              </a:tr>
              <a:tr h="84105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보상전략 수립</a:t>
                      </a:r>
                      <a:endParaRPr kumimoji="0" lang="en-US" altLang="ko-KR" sz="11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임금체계 설계</a:t>
                      </a:r>
                      <a:endParaRPr kumimoji="0" lang="en-US" altLang="ko-KR" sz="11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임금시뮬레이션</a:t>
                      </a:r>
                      <a:endParaRPr kumimoji="0" lang="ko-KR" altLang="en-US" sz="11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144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65105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F04A606-6488-4C74-74F5-589A09CCC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645344"/>
              </p:ext>
            </p:extLst>
          </p:nvPr>
        </p:nvGraphicFramePr>
        <p:xfrm>
          <a:off x="313657" y="4272261"/>
          <a:ext cx="4334070" cy="1857076"/>
        </p:xfrm>
        <a:graphic>
          <a:graphicData uri="http://schemas.openxmlformats.org/drawingml/2006/table">
            <a:tbl>
              <a:tblPr/>
              <a:tblGrid>
                <a:gridCol w="802980">
                  <a:extLst>
                    <a:ext uri="{9D8B030D-6E8A-4147-A177-3AD203B41FA5}">
                      <a16:colId xmlns:a16="http://schemas.microsoft.com/office/drawing/2014/main" val="2945901915"/>
                    </a:ext>
                  </a:extLst>
                </a:gridCol>
                <a:gridCol w="3531090">
                  <a:extLst>
                    <a:ext uri="{9D8B030D-6E8A-4147-A177-3AD203B41FA5}">
                      <a16:colId xmlns:a16="http://schemas.microsoft.com/office/drawing/2014/main" val="3530669897"/>
                    </a:ext>
                  </a:extLst>
                </a:gridCol>
              </a:tblGrid>
              <a:tr h="302405">
                <a:tc>
                  <a:txBody>
                    <a:bodyPr/>
                    <a:lstStyle/>
                    <a:p>
                      <a:pPr marL="0" marR="0" lvl="0" indent="0" algn="ctr" defTabSz="10060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분야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평가체계 설계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44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64712"/>
                  </a:ext>
                </a:extLst>
              </a:tr>
              <a:tr h="36955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요구사항</a:t>
                      </a:r>
                      <a:endParaRPr lang="en-US" altLang="ko-KR" sz="12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성장 피드백 중심 평가 프로세스 도입</a:t>
                      </a:r>
                      <a:endParaRPr lang="en-US" altLang="ko-KR" sz="11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구성원 수용성 중심 설계</a:t>
                      </a:r>
                    </a:p>
                  </a:txBody>
                  <a:tcPr marL="72000" marR="144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866495"/>
                  </a:ext>
                </a:extLst>
              </a:tr>
              <a:tr h="34406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이슈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성과중심 아닌 재량적 운영 중심 평가체계</a:t>
                      </a:r>
                      <a:endParaRPr kumimoji="0" lang="en-US" altLang="ko-KR" sz="11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피드백 기반 제도 </a:t>
                      </a:r>
                      <a:r>
                        <a:rPr kumimoji="0" lang="ko-KR" altLang="en-US" sz="11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미구축</a:t>
                      </a:r>
                      <a:endParaRPr kumimoji="0" lang="ko-KR" altLang="en-US" sz="11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144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849069"/>
                  </a:ext>
                </a:extLst>
              </a:tr>
              <a:tr h="84105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모형 설계</a:t>
                      </a:r>
                      <a:endParaRPr lang="en-US" altLang="ko-KR" sz="11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요소 설계</a:t>
                      </a:r>
                      <a:endParaRPr lang="en-US" altLang="ko-KR" sz="11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 방안 마련</a:t>
                      </a:r>
                    </a:p>
                  </a:txBody>
                  <a:tcPr marL="72000" marR="144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651056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7EFCF5B-6ACD-3C31-CBC7-DB8BAFA7D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761979"/>
              </p:ext>
            </p:extLst>
          </p:nvPr>
        </p:nvGraphicFramePr>
        <p:xfrm>
          <a:off x="5103764" y="2779119"/>
          <a:ext cx="4542723" cy="33502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333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  <a:gridCol w="1807695">
                  <a:extLst>
                    <a:ext uri="{9D8B030D-6E8A-4147-A177-3AD203B41FA5}">
                      <a16:colId xmlns:a16="http://schemas.microsoft.com/office/drawing/2014/main" val="1817237126"/>
                    </a:ext>
                  </a:extLst>
                </a:gridCol>
                <a:gridCol w="1807695">
                  <a:extLst>
                    <a:ext uri="{9D8B030D-6E8A-4147-A177-3AD203B41FA5}">
                      <a16:colId xmlns:a16="http://schemas.microsoft.com/office/drawing/2014/main" val="3095484276"/>
                    </a:ext>
                  </a:extLst>
                </a:gridCol>
              </a:tblGrid>
              <a:tr h="310586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컨설팅 요구사항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임금체계 재설계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평가체계 설계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  <a:tr h="492848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추진배경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호봉제를 탈피하여 역할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직무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성과 중심의 임금체계 구축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성과중심 아닌 재량적 운영 중심 평가체계</a:t>
                      </a:r>
                      <a:endParaRPr kumimoji="0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피드백 기반 제도 </a:t>
                      </a:r>
                      <a:r>
                        <a:rPr kumimoji="0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미구축</a:t>
                      </a:r>
                      <a:endParaRPr kumimoji="0" lang="ko-KR" altLang="en-US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849871"/>
                  </a:ext>
                </a:extLst>
              </a:tr>
              <a:tr h="547025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제도설계방향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임금체계 재설계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역할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직무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성과 중심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성장 피드백 중심 평가 프로세스 도입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구성원 수용성 중심 설계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431435"/>
                  </a:ext>
                </a:extLst>
              </a:tr>
              <a:tr h="812980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과업 범위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보상전략 수립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임금체계 설계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임금시뮬레이션</a:t>
                      </a:r>
                      <a:endParaRPr kumimoji="0" lang="ko-KR" altLang="en-US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모형 설계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요소 설계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 방안 마련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02061"/>
                  </a:ext>
                </a:extLst>
              </a:tr>
              <a:tr h="388232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KPI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임금체계 도입 여부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900" u="none" strike="noStrike" spc="-50" baseline="0" dirty="0">
                          <a:effectLst/>
                          <a:latin typeface="+mn-ea"/>
                          <a:ea typeface="+mn-ea"/>
                        </a:rPr>
                        <a:t>평가체계 도입 여부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085514"/>
                  </a:ext>
                </a:extLst>
              </a:tr>
              <a:tr h="399273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산출방식</a:t>
                      </a:r>
                      <a:endParaRPr lang="en-US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이행과제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개선과제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)*100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이행과제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개선과제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)*100</a:t>
                      </a:r>
                      <a:endParaRPr lang="ko-KR" altLang="en-US" sz="900" u="none" strike="noStrike" spc="-5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001859"/>
                  </a:ext>
                </a:extLst>
              </a:tr>
              <a:tr h="399273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목표</a:t>
                      </a:r>
                      <a:endParaRPr lang="en-US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100%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900" u="none" strike="noStrike" spc="-50" baseline="0" dirty="0">
                          <a:effectLst/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900" u="none" strike="noStrike" spc="-5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305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76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성공적인 컨설팅 수행을 위하여 운영위원회와 </a:t>
            </a:r>
            <a:r>
              <a:rPr lang="en-US" altLang="ko-KR" dirty="0"/>
              <a:t>TFT</a:t>
            </a:r>
            <a:r>
              <a:rPr lang="ko-KR" altLang="en-US" dirty="0"/>
              <a:t>를 구성하여 컨설팅 전반에 대한 방향성 및 제도설계에 대한 지속적인 커뮤니케이션을 유지할 계획임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컨설팅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컨설팅 추진 체계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DDDFC19-B56E-5A61-39F0-3596946130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19" name="꺾인 연결선 41">
            <a:extLst>
              <a:ext uri="{FF2B5EF4-FFF2-40B4-BE49-F238E27FC236}">
                <a16:creationId xmlns:a16="http://schemas.microsoft.com/office/drawing/2014/main" id="{554E6B30-EEDD-4C04-883A-476A12D91971}"/>
              </a:ext>
            </a:extLst>
          </p:cNvPr>
          <p:cNvCxnSpPr/>
          <p:nvPr/>
        </p:nvCxnSpPr>
        <p:spPr>
          <a:xfrm rot="16200000" flipH="1">
            <a:off x="3094775" y="3350095"/>
            <a:ext cx="12700" cy="2857571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텍스트 개체 틀 10">
            <a:extLst>
              <a:ext uri="{FF2B5EF4-FFF2-40B4-BE49-F238E27FC236}">
                <a16:creationId xmlns:a16="http://schemas.microsoft.com/office/drawing/2014/main" id="{E1068995-ABD2-44E4-9047-0DE96682D994}"/>
              </a:ext>
            </a:extLst>
          </p:cNvPr>
          <p:cNvSpPr txBox="1">
            <a:spLocks/>
          </p:cNvSpPr>
          <p:nvPr/>
        </p:nvSpPr>
        <p:spPr>
          <a:xfrm>
            <a:off x="273051" y="2143125"/>
            <a:ext cx="2785876" cy="275771"/>
          </a:xfrm>
          <a:prstGeom prst="rect">
            <a:avLst/>
          </a:prstGeom>
        </p:spPr>
        <p:txBody>
          <a:bodyPr vert="horz" lIns="72000" tIns="72000" rIns="72000" bIns="72000" anchor="ctr"/>
          <a:lstStyle>
            <a:defPPr>
              <a:defRPr lang="ko-KR"/>
            </a:defPPr>
            <a:lvl1pPr marL="0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011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6023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9034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2046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057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8069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1080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24092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602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spc="-150" dirty="0">
                <a:latin typeface="+mn-ea"/>
                <a:cs typeface="Calibri" panose="020F0502020204030204" pitchFamily="34" charset="0"/>
              </a:rPr>
              <a:t>디자인팀</a:t>
            </a:r>
            <a:r>
              <a:rPr lang="en-US" altLang="ko-KR" sz="1200" kern="0" spc="-150" dirty="0">
                <a:latin typeface="+mn-ea"/>
                <a:cs typeface="Calibri" panose="020F0502020204030204" pitchFamily="34" charset="0"/>
              </a:rPr>
              <a:t>(TFT)</a:t>
            </a:r>
            <a:endParaRPr lang="ko-KR" altLang="en-US" sz="1200" kern="0" spc="-150" dirty="0">
              <a:latin typeface="+mn-ea"/>
              <a:cs typeface="Calibri" panose="020F0502020204030204" pitchFamily="34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D22E637-4F68-4CCA-8DDC-5AFF6A8BEBF9}"/>
              </a:ext>
            </a:extLst>
          </p:cNvPr>
          <p:cNvCxnSpPr/>
          <p:nvPr/>
        </p:nvCxnSpPr>
        <p:spPr>
          <a:xfrm>
            <a:off x="1665990" y="2419283"/>
            <a:ext cx="0" cy="230296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95FAC13-661A-49E5-8C34-4CB08D5FEC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73052" y="3752851"/>
            <a:ext cx="2785876" cy="94297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72000" tIns="72000" rIns="72000" bIns="72000" numCol="2" anchor="ctr"/>
          <a:lstStyle/>
          <a:p>
            <a:pPr marL="92075" marR="0" lvl="1" indent="-92075" algn="l" defTabSz="914400" rtl="0" eaLnBrk="1" fontAlgn="ctr" latinLnBrk="0" hangingPunct="1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ClrTx/>
              <a:buSzPct val="85000"/>
              <a:buFont typeface="Wingdings" pitchFamily="2" charset="2"/>
              <a:buChar char="§"/>
              <a:tabLst>
                <a:tab pos="85725" algn="l"/>
              </a:tabLst>
              <a:defRPr/>
            </a:pPr>
            <a:r>
              <a:rPr kumimoji="0" lang="ko-KR" altLang="en-US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설문지 응답</a:t>
            </a:r>
            <a:r>
              <a:rPr kumimoji="0" lang="en-US" altLang="ko-KR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, </a:t>
            </a:r>
            <a:r>
              <a:rPr kumimoji="0" lang="ko-KR" altLang="en-US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수거</a:t>
            </a:r>
            <a:r>
              <a:rPr kumimoji="0" lang="en-US" altLang="ko-KR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, </a:t>
            </a:r>
            <a:r>
              <a:rPr kumimoji="0" lang="ko-KR" altLang="en-US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제공</a:t>
            </a:r>
            <a:endParaRPr kumimoji="0" lang="en-US" altLang="ko-KR" sz="1100" b="0" i="0" u="none" strike="noStrike" kern="0" cap="none" spc="-150" normalizeH="0" noProof="0" dirty="0">
              <a:solidFill>
                <a:prstClr val="black"/>
              </a:solidFill>
              <a:effectLst/>
              <a:uLnTx/>
              <a:uFillTx/>
              <a:latin typeface="+mn-ea"/>
              <a:cs typeface="Calibri" panose="020F0502020204030204" pitchFamily="34" charset="0"/>
            </a:endParaRPr>
          </a:p>
          <a:p>
            <a:pPr marL="92075" marR="0" lvl="1" indent="-92075" algn="l" defTabSz="914400" rtl="0" eaLnBrk="1" fontAlgn="ctr" latinLnBrk="0" hangingPunct="1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ClrTx/>
              <a:buSzPct val="85000"/>
              <a:buFont typeface="Wingdings" pitchFamily="2" charset="2"/>
              <a:buChar char="§"/>
              <a:tabLst>
                <a:tab pos="85725" algn="l"/>
              </a:tabLst>
              <a:defRPr/>
            </a:pPr>
            <a:r>
              <a:rPr kumimoji="0" lang="ko-KR" altLang="en-US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컨설팅 진행을 위한 자료제공</a:t>
            </a:r>
            <a:endParaRPr kumimoji="0" lang="en-US" altLang="ko-KR" sz="1100" b="0" i="0" u="none" strike="noStrike" kern="0" cap="none" spc="-150" normalizeH="0" noProof="0" dirty="0">
              <a:solidFill>
                <a:prstClr val="black"/>
              </a:solidFill>
              <a:effectLst/>
              <a:uLnTx/>
              <a:uFillTx/>
              <a:latin typeface="+mn-ea"/>
              <a:cs typeface="Calibri" panose="020F0502020204030204" pitchFamily="34" charset="0"/>
            </a:endParaRPr>
          </a:p>
          <a:p>
            <a:pPr marL="92075" marR="0" lvl="1" indent="-92075" algn="l" defTabSz="914400" rtl="0" eaLnBrk="1" fontAlgn="ctr" latinLnBrk="0" hangingPunct="1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ClrTx/>
              <a:buSzPct val="85000"/>
              <a:buFont typeface="Wingdings" pitchFamily="2" charset="2"/>
              <a:buChar char="§"/>
              <a:tabLst>
                <a:tab pos="85725" algn="l"/>
              </a:tabLst>
              <a:defRPr/>
            </a:pPr>
            <a:r>
              <a:rPr kumimoji="0" lang="ko-KR" altLang="en-US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내부 전문지식 제공</a:t>
            </a:r>
            <a:endParaRPr kumimoji="0" lang="en-US" altLang="ko-KR" sz="1100" b="0" i="0" u="none" strike="noStrike" kern="0" cap="none" spc="-150" normalizeH="0" noProof="0" dirty="0">
              <a:solidFill>
                <a:prstClr val="black"/>
              </a:solidFill>
              <a:effectLst/>
              <a:uLnTx/>
              <a:uFillTx/>
              <a:latin typeface="+mn-ea"/>
              <a:cs typeface="Calibri" panose="020F0502020204030204" pitchFamily="34" charset="0"/>
            </a:endParaRPr>
          </a:p>
          <a:p>
            <a:pPr marL="92075" marR="0" lvl="1" indent="-92075" algn="l" defTabSz="914400" rtl="0" eaLnBrk="1" fontAlgn="ctr" latinLnBrk="0" hangingPunct="1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ClrTx/>
              <a:buSzPct val="85000"/>
              <a:buFont typeface="Wingdings" pitchFamily="2" charset="2"/>
              <a:buChar char="§"/>
              <a:tabLst>
                <a:tab pos="85725" algn="l"/>
              </a:tabLst>
              <a:defRPr/>
            </a:pPr>
            <a:r>
              <a:rPr kumimoji="0" lang="ko-KR" altLang="en-US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컨설팅 관련 주요 의사결정</a:t>
            </a:r>
            <a:endParaRPr kumimoji="0" lang="en-US" altLang="ko-KR" sz="1100" b="0" i="0" u="none" strike="noStrike" kern="0" cap="none" spc="-150" normalizeH="0" noProof="0" dirty="0">
              <a:solidFill>
                <a:prstClr val="black"/>
              </a:solidFill>
              <a:effectLst/>
              <a:uLnTx/>
              <a:uFillTx/>
              <a:latin typeface="+mn-ea"/>
              <a:cs typeface="Calibri" panose="020F0502020204030204" pitchFamily="34" charset="0"/>
            </a:endParaRPr>
          </a:p>
          <a:p>
            <a:pPr marL="92075" marR="0" lvl="1" indent="-92075" algn="l" defTabSz="914400" rtl="0" eaLnBrk="1" fontAlgn="ctr" latinLnBrk="0" hangingPunct="1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ClrTx/>
              <a:buSzPct val="85000"/>
              <a:buFont typeface="Wingdings" pitchFamily="2" charset="2"/>
              <a:buChar char="§"/>
              <a:tabLst>
                <a:tab pos="85725" algn="l"/>
              </a:tabLst>
              <a:defRPr/>
            </a:pPr>
            <a:r>
              <a:rPr kumimoji="0" lang="ko-KR" altLang="en-US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사내 </a:t>
            </a:r>
            <a:r>
              <a:rPr kumimoji="0" lang="en-US" altLang="ko-KR" sz="11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communication </a:t>
            </a:r>
            <a:r>
              <a:rPr kumimoji="0" lang="ko-KR" altLang="en-US" sz="1200" b="0" i="0" u="none" strike="noStrike" kern="0" cap="none" spc="-15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Calibri" panose="020F0502020204030204" pitchFamily="34" charset="0"/>
              </a:rPr>
              <a:t>주도</a:t>
            </a:r>
            <a:endParaRPr kumimoji="0" lang="en-US" altLang="ko-KR" sz="1200" b="0" i="0" u="none" strike="noStrike" kern="0" cap="none" spc="-150" normalizeH="0" noProof="0" dirty="0">
              <a:solidFill>
                <a:prstClr val="black"/>
              </a:solidFill>
              <a:effectLst/>
              <a:uLnTx/>
              <a:uFillTx/>
              <a:latin typeface="+mn-ea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1E3902-71F9-47F0-A313-BD400B4C94BD}"/>
              </a:ext>
            </a:extLst>
          </p:cNvPr>
          <p:cNvSpPr txBox="1"/>
          <p:nvPr/>
        </p:nvSpPr>
        <p:spPr>
          <a:xfrm>
            <a:off x="2517226" y="4894761"/>
            <a:ext cx="1173864" cy="229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effectLst/>
                <a:uLnTx/>
                <a:uFillTx/>
                <a:ea typeface="나눔바른고딕" panose="020B0603020101020101" pitchFamily="50" charset="-127"/>
                <a:cs typeface="+mn-cs"/>
              </a:rPr>
              <a:t>Communication</a:t>
            </a:r>
            <a:endParaRPr kumimoji="0" lang="ko-KR" altLang="en-US" sz="1100" b="0" i="0" u="none" strike="noStrike" kern="120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0DC88123-8E3E-44C5-B23E-C5B4A5F07ABB}"/>
              </a:ext>
            </a:extLst>
          </p:cNvPr>
          <p:cNvSpPr txBox="1">
            <a:spLocks/>
          </p:cNvSpPr>
          <p:nvPr/>
        </p:nvSpPr>
        <p:spPr>
          <a:xfrm>
            <a:off x="3130622" y="2060575"/>
            <a:ext cx="2785876" cy="358321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vert="horz" lIns="72000" tIns="72000" rIns="72000" bIns="72000" anchor="ctr"/>
          <a:lstStyle>
            <a:defPPr>
              <a:defRPr lang="ko-KR"/>
            </a:defPPr>
            <a:lvl1pPr marL="0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011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6023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9034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2046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057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8069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1080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24092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200" kern="0" spc="-150" dirty="0" err="1">
                <a:latin typeface="+mn-ea"/>
                <a:cs typeface="Calibri" panose="020F0502020204030204" pitchFamily="34" charset="0"/>
              </a:rPr>
              <a:t>시앤피컨설팅</a:t>
            </a:r>
            <a:endParaRPr lang="ko-KR" altLang="en-US" sz="1200" kern="0" spc="-150" dirty="0">
              <a:latin typeface="+mn-ea"/>
              <a:cs typeface="Calibri" panose="020F0502020204030204" pitchFamily="34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6E9C271-2D93-4076-A865-3B9D38CBB7A4}"/>
              </a:ext>
            </a:extLst>
          </p:cNvPr>
          <p:cNvCxnSpPr/>
          <p:nvPr/>
        </p:nvCxnSpPr>
        <p:spPr>
          <a:xfrm>
            <a:off x="4523561" y="2409758"/>
            <a:ext cx="0" cy="230296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9051B6-3D06-4CE3-B28E-CD27544B00A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130623" y="3752851"/>
            <a:ext cx="2785876" cy="9429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72000" tIns="72000" rIns="72000" bIns="72000" numCol="2" anchor="ctr"/>
          <a:lstStyle/>
          <a:p>
            <a:pPr marL="92075" lvl="1" indent="-92075" fontAlgn="ctr" latinLnBrk="0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SzPct val="85000"/>
              <a:buFont typeface="Wingdings" pitchFamily="2" charset="2"/>
              <a:buChar char="§"/>
              <a:tabLst>
                <a:tab pos="85725" algn="l"/>
              </a:tabLst>
            </a:pPr>
            <a:r>
              <a:rPr lang="ko-KR" altLang="en-US" sz="1100" kern="0" spc="-150" dirty="0">
                <a:solidFill>
                  <a:prstClr val="black"/>
                </a:solidFill>
                <a:latin typeface="+mn-ea"/>
                <a:cs typeface="Calibri" panose="020F0502020204030204" pitchFamily="34" charset="0"/>
              </a:rPr>
              <a:t>설문지 배포 및 분석</a:t>
            </a:r>
          </a:p>
          <a:p>
            <a:pPr marL="92075" lvl="1" indent="-92075" fontAlgn="ctr" latinLnBrk="0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SzPct val="85000"/>
              <a:buFont typeface="Wingdings" pitchFamily="2" charset="2"/>
              <a:buChar char="§"/>
              <a:tabLst>
                <a:tab pos="85725" algn="l"/>
              </a:tabLst>
            </a:pPr>
            <a:r>
              <a:rPr lang="ko-KR" altLang="en-US" sz="1100" kern="0" spc="-150" dirty="0">
                <a:solidFill>
                  <a:prstClr val="black"/>
                </a:solidFill>
                <a:latin typeface="+mn-ea"/>
                <a:cs typeface="Calibri" panose="020F0502020204030204" pitchFamily="34" charset="0"/>
              </a:rPr>
              <a:t>현황 분석 및 컨설팅 과제 도출</a:t>
            </a:r>
          </a:p>
          <a:p>
            <a:pPr marL="92075" lvl="1" indent="-92075" fontAlgn="ctr" latinLnBrk="0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SzPct val="85000"/>
              <a:buFont typeface="Wingdings" pitchFamily="2" charset="2"/>
              <a:buChar char="§"/>
              <a:tabLst>
                <a:tab pos="85725" algn="l"/>
              </a:tabLst>
            </a:pPr>
            <a:r>
              <a:rPr lang="ko-KR" altLang="en-US" sz="1100" kern="0" spc="-150" dirty="0">
                <a:solidFill>
                  <a:prstClr val="black"/>
                </a:solidFill>
                <a:latin typeface="+mn-ea"/>
                <a:cs typeface="Calibri" panose="020F0502020204030204" pitchFamily="34" charset="0"/>
              </a:rPr>
              <a:t>컨설팅 전반 자문 및 지원</a:t>
            </a:r>
          </a:p>
          <a:p>
            <a:pPr marL="92075" lvl="1" indent="-92075" fontAlgn="ctr" latinLnBrk="0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SzPct val="85000"/>
              <a:buFont typeface="Wingdings" pitchFamily="2" charset="2"/>
              <a:buChar char="§"/>
              <a:tabLst>
                <a:tab pos="85725" algn="l"/>
              </a:tabLst>
            </a:pPr>
            <a:r>
              <a:rPr lang="en-US" altLang="ko-KR" sz="1100" kern="0" spc="-150" dirty="0">
                <a:solidFill>
                  <a:prstClr val="black"/>
                </a:solidFill>
                <a:latin typeface="+mn-ea"/>
                <a:cs typeface="Calibri" panose="020F0502020204030204" pitchFamily="34" charset="0"/>
              </a:rPr>
              <a:t>Project </a:t>
            </a:r>
            <a:r>
              <a:rPr lang="ko-KR" altLang="en-US" sz="1100" kern="0" spc="-150" dirty="0">
                <a:solidFill>
                  <a:prstClr val="black"/>
                </a:solidFill>
                <a:latin typeface="+mn-ea"/>
                <a:cs typeface="Calibri" panose="020F0502020204030204" pitchFamily="34" charset="0"/>
              </a:rPr>
              <a:t>일정관리</a:t>
            </a:r>
          </a:p>
          <a:p>
            <a:pPr marL="92075" lvl="1" indent="-92075" fontAlgn="ctr" latinLnBrk="0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  <a:buSzPct val="85000"/>
              <a:buFont typeface="Wingdings" pitchFamily="2" charset="2"/>
              <a:buChar char="§"/>
              <a:tabLst>
                <a:tab pos="85725" algn="l"/>
              </a:tabLst>
            </a:pPr>
            <a:r>
              <a:rPr lang="ko-KR" altLang="en-US" sz="1100" kern="0" spc="-150" dirty="0">
                <a:solidFill>
                  <a:prstClr val="black"/>
                </a:solidFill>
                <a:latin typeface="+mn-ea"/>
                <a:cs typeface="Calibri" panose="020F0502020204030204" pitchFamily="34" charset="0"/>
              </a:rPr>
              <a:t>컨설팅 관련 전문지식 전수</a:t>
            </a:r>
          </a:p>
        </p:txBody>
      </p:sp>
      <p:sp>
        <p:nvSpPr>
          <p:cNvPr id="44" name="텍스트 개체 틀 10">
            <a:extLst>
              <a:ext uri="{FF2B5EF4-FFF2-40B4-BE49-F238E27FC236}">
                <a16:creationId xmlns:a16="http://schemas.microsoft.com/office/drawing/2014/main" id="{E1068995-ABD2-44E4-9047-0DE96682D994}"/>
              </a:ext>
            </a:extLst>
          </p:cNvPr>
          <p:cNvSpPr txBox="1">
            <a:spLocks/>
          </p:cNvSpPr>
          <p:nvPr/>
        </p:nvSpPr>
        <p:spPr>
          <a:xfrm>
            <a:off x="273050" y="5218755"/>
            <a:ext cx="2785876" cy="358321"/>
          </a:xfrm>
          <a:prstGeom prst="rect">
            <a:avLst/>
          </a:prstGeom>
          <a:noFill/>
          <a:ln w="6350">
            <a:noFill/>
          </a:ln>
        </p:spPr>
        <p:txBody>
          <a:bodyPr vert="horz" lIns="72000" tIns="72000" rIns="72000" bIns="72000" anchor="ctr"/>
          <a:lstStyle>
            <a:defPPr>
              <a:defRPr lang="ko-KR"/>
            </a:defPPr>
            <a:lvl1pPr marL="0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011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6023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9034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2046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057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8069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1080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24092" algn="l" defTabSz="1006023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1200" kern="0" spc="-150" dirty="0">
                <a:latin typeface="+mn-ea"/>
                <a:cs typeface="Calibri" panose="020F0502020204030204" pitchFamily="34" charset="0"/>
              </a:rPr>
              <a:t>운영위원회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3154399" y="5451609"/>
            <a:ext cx="2762100" cy="702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i="0" u="none" strike="noStrike" kern="1200" cap="none" spc="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컨설팅 추진 전반에 대한 자문 및 지원</a:t>
            </a:r>
            <a:endParaRPr kumimoji="0" lang="en-US" altLang="ko-KR" sz="1100" i="0" u="none" strike="noStrike" kern="1200" cap="none" spc="0" normalizeH="0" noProof="0" dirty="0"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8000" marR="0" lvl="1" indent="-144000" algn="l" defTabSz="844083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나눔고딕" panose="020B0600000101010101" pitchFamily="50" charset="-127"/>
              <a:buChar char="-"/>
              <a:tabLst/>
              <a:defRPr/>
            </a:pPr>
            <a:r>
              <a:rPr kumimoji="0" lang="ko-KR" altLang="en-US" sz="1100" i="0" u="none" strike="noStrike" kern="1200" cap="none" spc="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현황분석 및 제도설계</a:t>
            </a:r>
            <a:endParaRPr kumimoji="0" lang="en-US" altLang="ko-KR" sz="1100" i="0" u="none" strike="noStrike" kern="1200" cap="none" spc="0" normalizeH="0" noProof="0" dirty="0"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8000" marR="0" lvl="1" indent="-144000" algn="l" defTabSz="844083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나눔고딕" panose="020B0600000101010101" pitchFamily="50" charset="-127"/>
              <a:buChar char="-"/>
              <a:tabLst/>
              <a:defRPr/>
            </a:pPr>
            <a:r>
              <a:rPr kumimoji="0" lang="ko-KR" altLang="en-US" sz="1100" i="0" u="none" strike="noStrike" kern="1200" cap="none" spc="0" normalizeH="0" noProof="0" dirty="0"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일정관리 및 실행 지원</a:t>
            </a:r>
            <a:endParaRPr kumimoji="0" lang="en-US" altLang="ko-KR" sz="1100" i="0" u="none" strike="noStrike" kern="1200" cap="none" spc="0" normalizeH="0" noProof="0" dirty="0"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252045" y="1642657"/>
            <a:ext cx="9390428" cy="310046"/>
            <a:chOff x="252045" y="1613024"/>
            <a:chExt cx="9390428" cy="310046"/>
          </a:xfrm>
        </p:grpSpPr>
        <p:sp>
          <p:nvSpPr>
            <p:cNvPr id="53" name="직사각형 52"/>
            <p:cNvSpPr/>
            <p:nvPr/>
          </p:nvSpPr>
          <p:spPr>
            <a:xfrm>
              <a:off x="252045" y="1613024"/>
              <a:ext cx="9390428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lvl="1" algn="ctr" defTabSz="939800" eaLnBrk="0" fontAlgn="base" latinLnBrk="0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rgbClr val="3F3F3F"/>
                </a:buClr>
                <a:buSzPct val="90000"/>
                <a:defRPr/>
              </a:pP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디자인팀 구성 및 주요활동</a:t>
              </a: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271095" y="1923070"/>
              <a:ext cx="9360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8CBBDD21-2000-0814-41E8-78458F4D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F6EE587-3B28-E8C9-7900-724AC9E68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973966"/>
              </p:ext>
            </p:extLst>
          </p:nvPr>
        </p:nvGraphicFramePr>
        <p:xfrm>
          <a:off x="6209933" y="2060102"/>
          <a:ext cx="3414067" cy="2629373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672149">
                  <a:extLst>
                    <a:ext uri="{9D8B030D-6E8A-4147-A177-3AD203B41FA5}">
                      <a16:colId xmlns:a16="http://schemas.microsoft.com/office/drawing/2014/main" val="1960718997"/>
                    </a:ext>
                  </a:extLst>
                </a:gridCol>
                <a:gridCol w="2741918">
                  <a:extLst>
                    <a:ext uri="{9D8B030D-6E8A-4147-A177-3AD203B41FA5}">
                      <a16:colId xmlns:a16="http://schemas.microsoft.com/office/drawing/2014/main" val="2421697999"/>
                    </a:ext>
                  </a:extLst>
                </a:gridCol>
              </a:tblGrid>
              <a:tr h="35758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0" spc="-15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주요 활동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altLang="ko-KR" sz="1100" b="1" i="0" u="none" strike="noStrike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289417"/>
                  </a:ext>
                </a:extLst>
              </a:tr>
              <a:tr h="102940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0" spc="-15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설문조사</a:t>
                      </a:r>
                      <a:endParaRPr lang="en-US" altLang="ko-KR" sz="1200" b="0" kern="0" spc="-15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fontAlgn="ctr" latinLnBrk="0">
                        <a:spcBef>
                          <a:spcPts val="300"/>
                        </a:spcBef>
                        <a:buFont typeface="Wingdings" pitchFamily="2" charset="2"/>
                        <a:buChar char="§"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기간 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: 07.03~07.08</a:t>
                      </a:r>
                    </a:p>
                    <a:p>
                      <a:pPr marL="92075" indent="-92075" fontAlgn="ctr" latinLnBrk="0">
                        <a:spcBef>
                          <a:spcPts val="300"/>
                        </a:spcBef>
                        <a:buFont typeface="Wingdings" pitchFamily="2" charset="2"/>
                        <a:buChar char="§"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진행방식 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: On-line Survey</a:t>
                      </a:r>
                    </a:p>
                    <a:p>
                      <a:pPr marL="92075" indent="-92075" fontAlgn="ctr" latinLnBrk="0">
                        <a:spcBef>
                          <a:spcPts val="300"/>
                        </a:spcBef>
                        <a:buFont typeface="Wingdings" pitchFamily="2" charset="2"/>
                        <a:buChar char="§"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대상 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전 직원</a:t>
                      </a:r>
                    </a:p>
                    <a:p>
                      <a:pPr marL="92075" indent="-92075" fontAlgn="ctr" latinLnBrk="0">
                        <a:spcBef>
                          <a:spcPts val="300"/>
                        </a:spcBef>
                        <a:buFont typeface="Wingdings" pitchFamily="2" charset="2"/>
                        <a:buChar char="§"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내용 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일터혁신 각 분야별 수준진단 </a:t>
                      </a:r>
                    </a:p>
                  </a:txBody>
                  <a:tcPr marL="108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769607"/>
                  </a:ext>
                </a:extLst>
              </a:tr>
              <a:tr h="12423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0" spc="-15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협약체결 </a:t>
                      </a:r>
                      <a:endParaRPr lang="en-US" altLang="ko-KR" sz="1200" b="0" kern="0" spc="-15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0" spc="-15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및 </a:t>
                      </a:r>
                      <a:endParaRPr lang="en-US" altLang="ko-KR" sz="1200" b="0" kern="0" spc="-15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0" spc="-15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인터뷰</a:t>
                      </a:r>
                      <a:endParaRPr lang="en-US" altLang="ko-KR" sz="1200" b="0" kern="0" spc="-15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fontAlgn="ctr" latinLnBrk="0">
                        <a:spcBef>
                          <a:spcPts val="100"/>
                        </a:spcBef>
                        <a:buFont typeface="Wingdings" pitchFamily="2" charset="2"/>
                        <a:buChar char="§"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기간 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: 07.02, 07.03, 07.08</a:t>
                      </a:r>
                    </a:p>
                    <a:p>
                      <a:pPr marL="92075" marR="0" lvl="0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진행방식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1:1 or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서면 인터뷰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indent="-92075" fontAlgn="ctr" latinLnBrk="0">
                        <a:spcBef>
                          <a:spcPts val="100"/>
                        </a:spcBef>
                        <a:buFont typeface="Wingdings" pitchFamily="2" charset="2"/>
                        <a:buChar char="§"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대상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인원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b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경영진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대표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 2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명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이사 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명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b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근로자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(10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명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b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인사담당자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(1</a:t>
                      </a: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명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108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11306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5EF86F0-5A38-E14F-BF7B-91A9D4B5C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424500"/>
              </p:ext>
            </p:extLst>
          </p:nvPr>
        </p:nvGraphicFramePr>
        <p:xfrm>
          <a:off x="3159874" y="2428240"/>
          <a:ext cx="2785876" cy="64800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780304">
                  <a:extLst>
                    <a:ext uri="{9D8B030D-6E8A-4147-A177-3AD203B41FA5}">
                      <a16:colId xmlns:a16="http://schemas.microsoft.com/office/drawing/2014/main" val="3099849677"/>
                    </a:ext>
                  </a:extLst>
                </a:gridCol>
                <a:gridCol w="1019019">
                  <a:extLst>
                    <a:ext uri="{9D8B030D-6E8A-4147-A177-3AD203B41FA5}">
                      <a16:colId xmlns:a16="http://schemas.microsoft.com/office/drawing/2014/main" val="4099532455"/>
                    </a:ext>
                  </a:extLst>
                </a:gridCol>
                <a:gridCol w="986553">
                  <a:extLst>
                    <a:ext uri="{9D8B030D-6E8A-4147-A177-3AD203B41FA5}">
                      <a16:colId xmlns:a16="http://schemas.microsoft.com/office/drawing/2014/main" val="53518959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부서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디자인팀원</a:t>
                      </a:r>
                      <a:endParaRPr lang="ko-KR" altLang="en-US" sz="1100" b="0" kern="0" spc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비고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20087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OO </a:t>
                      </a: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본부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OO</a:t>
                      </a: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 컨설턴트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컨설팅 수행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732657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BB2793A6-1E4B-01F0-6ED6-4B0943385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8618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9A84B64-EF66-2AD6-80C6-E0A4355DA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730719"/>
              </p:ext>
            </p:extLst>
          </p:nvPr>
        </p:nvGraphicFramePr>
        <p:xfrm>
          <a:off x="273050" y="2429737"/>
          <a:ext cx="2785876" cy="942976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928565">
                  <a:extLst>
                    <a:ext uri="{9D8B030D-6E8A-4147-A177-3AD203B41FA5}">
                      <a16:colId xmlns:a16="http://schemas.microsoft.com/office/drawing/2014/main" val="3099849677"/>
                    </a:ext>
                  </a:extLst>
                </a:gridCol>
                <a:gridCol w="1100263">
                  <a:extLst>
                    <a:ext uri="{9D8B030D-6E8A-4147-A177-3AD203B41FA5}">
                      <a16:colId xmlns:a16="http://schemas.microsoft.com/office/drawing/2014/main" val="4099532455"/>
                    </a:ext>
                  </a:extLst>
                </a:gridCol>
                <a:gridCol w="757048">
                  <a:extLst>
                    <a:ext uri="{9D8B030D-6E8A-4147-A177-3AD203B41FA5}">
                      <a16:colId xmlns:a16="http://schemas.microsoft.com/office/drawing/2014/main" val="535189593"/>
                    </a:ext>
                  </a:extLst>
                </a:gridCol>
              </a:tblGrid>
              <a:tr h="2357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부서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디자인 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비고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200874"/>
                  </a:ext>
                </a:extLst>
              </a:tr>
              <a:tr h="2357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전략기획</a:t>
                      </a:r>
                      <a:endParaRPr lang="en-US" altLang="ko-KR" sz="1100" b="0" kern="0" spc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송헌영</a:t>
                      </a: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 이사</a:t>
                      </a:r>
                      <a:endParaRPr lang="en-US" altLang="ko-KR" sz="1100" b="0" kern="0" spc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경영진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732657"/>
                  </a:ext>
                </a:extLst>
              </a:tr>
              <a:tr h="2357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전략기획</a:t>
                      </a:r>
                      <a:endParaRPr lang="en-US" altLang="ko-KR" sz="1100" b="0" kern="0" spc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하은주 부장</a:t>
                      </a:r>
                      <a:endParaRPr lang="en-US" altLang="ko-KR" sz="1100" b="0" kern="0" spc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인사담당자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14635"/>
                  </a:ext>
                </a:extLst>
              </a:tr>
              <a:tr h="2357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솔루션본부</a:t>
                      </a:r>
                      <a:endParaRPr lang="en-US" altLang="ko-KR" sz="1100" b="0" kern="0" spc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김우람 과장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근로자대표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85782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BDB79A7-A314-12CD-AD2A-D7622A73D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209316"/>
              </p:ext>
            </p:extLst>
          </p:nvPr>
        </p:nvGraphicFramePr>
        <p:xfrm>
          <a:off x="273050" y="5623438"/>
          <a:ext cx="2785876" cy="50590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928565">
                  <a:extLst>
                    <a:ext uri="{9D8B030D-6E8A-4147-A177-3AD203B41FA5}">
                      <a16:colId xmlns:a16="http://schemas.microsoft.com/office/drawing/2014/main" val="1917171964"/>
                    </a:ext>
                  </a:extLst>
                </a:gridCol>
                <a:gridCol w="1100263">
                  <a:extLst>
                    <a:ext uri="{9D8B030D-6E8A-4147-A177-3AD203B41FA5}">
                      <a16:colId xmlns:a16="http://schemas.microsoft.com/office/drawing/2014/main" val="2349290017"/>
                    </a:ext>
                  </a:extLst>
                </a:gridCol>
                <a:gridCol w="757048">
                  <a:extLst>
                    <a:ext uri="{9D8B030D-6E8A-4147-A177-3AD203B41FA5}">
                      <a16:colId xmlns:a16="http://schemas.microsoft.com/office/drawing/2014/main" val="2386642213"/>
                    </a:ext>
                  </a:extLst>
                </a:gridCol>
              </a:tblGrid>
              <a:tr h="1860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성명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역할</a:t>
                      </a: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비고</a:t>
                      </a: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81529"/>
                  </a:ext>
                </a:extLst>
              </a:tr>
              <a:tr h="31988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최재웅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위원장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대표이사</a:t>
                      </a: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70887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DD0AD49-F493-A356-71E2-4CA07C656321}"/>
              </a:ext>
            </a:extLst>
          </p:cNvPr>
          <p:cNvSpPr/>
          <p:nvPr/>
        </p:nvSpPr>
        <p:spPr>
          <a:xfrm>
            <a:off x="979130" y="2145746"/>
            <a:ext cx="18580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06023">
              <a:defRPr/>
            </a:pPr>
            <a:r>
              <a:rPr lang="ko-KR" altLang="en-US" sz="1200" kern="0" spc="-150" dirty="0">
                <a:latin typeface="+mn-ea"/>
                <a:cs typeface="Calibri" panose="020F0502020204030204" pitchFamily="34" charset="0"/>
              </a:rPr>
              <a:t>㈜</a:t>
            </a:r>
            <a:r>
              <a:rPr lang="ko-KR" altLang="en-US" sz="1200" kern="0" spc="-150" dirty="0" err="1">
                <a:latin typeface="+mn-ea"/>
                <a:cs typeface="Calibri" panose="020F0502020204030204" pitchFamily="34" charset="0"/>
              </a:rPr>
              <a:t>베이시스소프트</a:t>
            </a:r>
            <a:endParaRPr lang="en-US" altLang="ko-KR" sz="1200" kern="0" spc="-150" dirty="0">
              <a:latin typeface="+mn-ea"/>
              <a:cs typeface="Calibri" panose="020F0502020204030204" pitchFamily="34" charset="0"/>
            </a:endParaRPr>
          </a:p>
        </p:txBody>
      </p:sp>
      <p:pic>
        <p:nvPicPr>
          <p:cNvPr id="11" name="그림 10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D97EA8-B76B-9DE5-6ADB-752D963F1A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820" y="5277631"/>
            <a:ext cx="978106" cy="256833"/>
          </a:xfrm>
          <a:prstGeom prst="rect">
            <a:avLst/>
          </a:prstGeom>
        </p:spPr>
      </p:pic>
      <p:pic>
        <p:nvPicPr>
          <p:cNvPr id="17" name="그림 16" descr="의류, 사람, 테이블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A7E908-87C1-4BB3-99ED-05D08E7CA7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323" y="4796873"/>
            <a:ext cx="1628772" cy="1456607"/>
          </a:xfrm>
          <a:prstGeom prst="rect">
            <a:avLst/>
          </a:prstGeom>
        </p:spPr>
      </p:pic>
      <p:pic>
        <p:nvPicPr>
          <p:cNvPr id="20" name="그림 19" descr="사람, 의류, 실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2BD3A4-4241-7E32-A973-CE85F20079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933" y="4796873"/>
            <a:ext cx="1628772" cy="145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77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본 컨설팅의 성공적 추진을 위해 「준비 및 현황진단</a:t>
            </a:r>
            <a:r>
              <a:rPr lang="en-US" altLang="ko-KR" dirty="0"/>
              <a:t>-</a:t>
            </a:r>
            <a:r>
              <a:rPr lang="ko-KR" altLang="en-US" dirty="0"/>
              <a:t>제도설계 및 개선</a:t>
            </a:r>
            <a:r>
              <a:rPr lang="en-US" altLang="ko-KR" dirty="0"/>
              <a:t>-</a:t>
            </a:r>
            <a:r>
              <a:rPr lang="ko-KR" altLang="en-US" dirty="0"/>
              <a:t>실행체계 구축」 </a:t>
            </a:r>
            <a:r>
              <a:rPr lang="en-US" altLang="ko-KR" dirty="0"/>
              <a:t>3</a:t>
            </a:r>
            <a:r>
              <a:rPr lang="ko-KR" altLang="en-US" dirty="0"/>
              <a:t>단계 과정을 기반으로 총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Module, 13</a:t>
            </a:r>
            <a:r>
              <a:rPr lang="ko-KR" altLang="en-US" dirty="0"/>
              <a:t>개 </a:t>
            </a:r>
            <a:r>
              <a:rPr lang="en-US" altLang="ko-KR" dirty="0"/>
              <a:t>Step</a:t>
            </a:r>
            <a:r>
              <a:rPr lang="ko-KR" altLang="en-US" dirty="0"/>
              <a:t>을 통해 컨설팅을 추진하고자 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컨설팅 개요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컨설팅 추진 프로세스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E25850D-BFA4-98C9-5535-6EE9EC82CF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af-ZA" altLang="ko-KR" sz="900" dirty="0"/>
              <a:t>* M : Module, S : Step</a:t>
            </a:r>
          </a:p>
          <a:p>
            <a:endParaRPr lang="ko-KR" altLang="en-US" sz="9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A8E561B-006F-A852-24F0-63CB695B1EE0}"/>
              </a:ext>
            </a:extLst>
          </p:cNvPr>
          <p:cNvGrpSpPr/>
          <p:nvPr/>
        </p:nvGrpSpPr>
        <p:grpSpPr>
          <a:xfrm>
            <a:off x="252045" y="1642657"/>
            <a:ext cx="9390428" cy="310046"/>
            <a:chOff x="252045" y="1613024"/>
            <a:chExt cx="9390428" cy="31004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CBD2AD3-B689-1085-C227-A3146029FA81}"/>
                </a:ext>
              </a:extLst>
            </p:cNvPr>
            <p:cNvSpPr/>
            <p:nvPr/>
          </p:nvSpPr>
          <p:spPr>
            <a:xfrm>
              <a:off x="252045" y="1613024"/>
              <a:ext cx="9390428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0" lvl="1" algn="ctr" defTabSz="939800" eaLnBrk="0" fontAlgn="base" latinLnBrk="0" hangingPunct="0">
                <a:lnSpc>
                  <a:spcPct val="110000"/>
                </a:lnSpc>
                <a:spcBef>
                  <a:spcPct val="30000"/>
                </a:spcBef>
                <a:spcAft>
                  <a:spcPct val="0"/>
                </a:spcAft>
                <a:buClr>
                  <a:srgbClr val="3F3F3F"/>
                </a:buClr>
                <a:buSzPct val="90000"/>
                <a:defRPr/>
              </a:pPr>
              <a:r>
                <a:rPr lang="ko-KR" altLang="en-US" sz="140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컨설팅 추진 프로세스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200886D-F60F-AEB7-24D9-1D2E0BDD86DE}"/>
                </a:ext>
              </a:extLst>
            </p:cNvPr>
            <p:cNvCxnSpPr/>
            <p:nvPr/>
          </p:nvCxnSpPr>
          <p:spPr>
            <a:xfrm>
              <a:off x="271095" y="1923070"/>
              <a:ext cx="9360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8A3961-DAD5-8D0F-A94A-7405182AC883}"/>
              </a:ext>
            </a:extLst>
          </p:cNvPr>
          <p:cNvSpPr/>
          <p:nvPr/>
        </p:nvSpPr>
        <p:spPr>
          <a:xfrm>
            <a:off x="3717625" y="2060576"/>
            <a:ext cx="4219875" cy="40687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36000" tIns="0" rIns="0" bIns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100" ker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직사각형 44">
            <a:extLst>
              <a:ext uri="{FF2B5EF4-FFF2-40B4-BE49-F238E27FC236}">
                <a16:creationId xmlns:a16="http://schemas.microsoft.com/office/drawing/2014/main" id="{A9C9CED1-8B89-5715-7C66-70DDC3EFF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2554" y="2480344"/>
            <a:ext cx="1363871" cy="350193"/>
          </a:xfrm>
          <a:prstGeom prst="rect">
            <a:avLst/>
          </a:prstGeom>
          <a:noFill/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anchor="ctr"/>
          <a:lstStyle/>
          <a:p>
            <a:pPr latinLnBrk="0">
              <a:lnSpc>
                <a:spcPct val="110000"/>
              </a:lnSpc>
              <a:spcBef>
                <a:spcPct val="50000"/>
              </a:spcBef>
            </a:pPr>
            <a:r>
              <a:rPr lang="en-US" altLang="ko-KR" sz="1300" spc="-1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+mj-ea"/>
                <a:ea typeface="+mj-ea"/>
              </a:rPr>
              <a:t>M5. </a:t>
            </a:r>
            <a:r>
              <a:rPr lang="ko-KR" altLang="en-US" sz="1300" spc="-1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+mj-ea"/>
                <a:ea typeface="+mj-ea"/>
              </a:rPr>
              <a:t>변화관리</a:t>
            </a:r>
            <a:endParaRPr lang="en-US" altLang="ko-KR" sz="1300" spc="-100" dirty="0">
              <a:ln>
                <a:solidFill>
                  <a:sysClr val="windowText" lastClr="000000">
                    <a:alpha val="0"/>
                  </a:sysClr>
                </a:solidFill>
              </a:ln>
              <a:latin typeface="+mj-ea"/>
              <a:ea typeface="+mj-ea"/>
            </a:endParaRPr>
          </a:p>
        </p:txBody>
      </p:sp>
      <p:sp>
        <p:nvSpPr>
          <p:cNvPr id="12" name="직사각형 178">
            <a:extLst>
              <a:ext uri="{FF2B5EF4-FFF2-40B4-BE49-F238E27FC236}">
                <a16:creationId xmlns:a16="http://schemas.microsoft.com/office/drawing/2014/main" id="{B15EEE36-EF98-D9CC-FE5A-1A9DC00EA82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137580" y="2865291"/>
            <a:ext cx="1368000" cy="512718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90000" tIns="46800" rIns="540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ts val="1300"/>
            </a:pPr>
            <a:r>
              <a:rPr lang="ko-KR" altLang="en-US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제도이행계획수립</a:t>
            </a:r>
          </a:p>
        </p:txBody>
      </p:sp>
      <p:sp>
        <p:nvSpPr>
          <p:cNvPr id="13" name="Rectangle 20">
            <a:extLst>
              <a:ext uri="{FF2B5EF4-FFF2-40B4-BE49-F238E27FC236}">
                <a16:creationId xmlns:a16="http://schemas.microsoft.com/office/drawing/2014/main" id="{1C126D65-886A-E09C-1D57-EAC9B6B2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80" y="2865742"/>
            <a:ext cx="283508" cy="212181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600" tIns="46800" rIns="36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kern="0" dirty="0">
                <a:solidFill>
                  <a:schemeClr val="accent1"/>
                </a:solidFill>
                <a:latin typeface="+mn-ea"/>
              </a:rPr>
              <a:t>S13</a:t>
            </a:r>
          </a:p>
        </p:txBody>
      </p:sp>
      <p:cxnSp>
        <p:nvCxnSpPr>
          <p:cNvPr id="14" name="꺾인 연결선 138">
            <a:extLst>
              <a:ext uri="{FF2B5EF4-FFF2-40B4-BE49-F238E27FC236}">
                <a16:creationId xmlns:a16="http://schemas.microsoft.com/office/drawing/2014/main" id="{8BC36DEF-01B0-01AE-8BC4-140F2521558E}"/>
              </a:ext>
            </a:extLst>
          </p:cNvPr>
          <p:cNvCxnSpPr>
            <a:cxnSpLocks/>
            <a:stCxn id="36" idx="2"/>
            <a:endCxn id="18" idx="1"/>
          </p:cNvCxnSpPr>
          <p:nvPr/>
        </p:nvCxnSpPr>
        <p:spPr>
          <a:xfrm rot="5400000" flipH="1" flipV="1">
            <a:off x="2315146" y="3632843"/>
            <a:ext cx="2005355" cy="985379"/>
          </a:xfrm>
          <a:prstGeom prst="bentConnector4">
            <a:avLst>
              <a:gd name="adj1" fmla="val -11399"/>
              <a:gd name="adj2" fmla="val 84707"/>
            </a:avLst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25" name="왼쪽/오른쪽 화살표 58">
            <a:extLst>
              <a:ext uri="{FF2B5EF4-FFF2-40B4-BE49-F238E27FC236}">
                <a16:creationId xmlns:a16="http://schemas.microsoft.com/office/drawing/2014/main" id="{A2A80C48-433C-B64D-E9FB-5A5258733705}"/>
              </a:ext>
            </a:extLst>
          </p:cNvPr>
          <p:cNvSpPr/>
          <p:nvPr/>
        </p:nvSpPr>
        <p:spPr>
          <a:xfrm>
            <a:off x="273050" y="2137544"/>
            <a:ext cx="3384000" cy="125987"/>
          </a:xfrm>
          <a:prstGeom prst="leftRightArrow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500" b="1" i="0" u="none" strike="noStrike" kern="1200" cap="none" spc="0" normalizeH="0" baseline="0" noProof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왼쪽/오른쪽 화살표 58">
            <a:extLst>
              <a:ext uri="{FF2B5EF4-FFF2-40B4-BE49-F238E27FC236}">
                <a16:creationId xmlns:a16="http://schemas.microsoft.com/office/drawing/2014/main" id="{F2859ACF-D4DE-C852-0A7D-2C8B880BFF6F}"/>
              </a:ext>
            </a:extLst>
          </p:cNvPr>
          <p:cNvSpPr/>
          <p:nvPr/>
        </p:nvSpPr>
        <p:spPr>
          <a:xfrm>
            <a:off x="3705936" y="2136897"/>
            <a:ext cx="4222127" cy="127281"/>
          </a:xfrm>
          <a:prstGeom prst="leftRightArrow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500" b="1" i="0" u="none" strike="noStrike" kern="1200" cap="none" spc="0" normalizeH="0" baseline="0" noProof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왼쪽/오른쪽 화살표 58">
            <a:extLst>
              <a:ext uri="{FF2B5EF4-FFF2-40B4-BE49-F238E27FC236}">
                <a16:creationId xmlns:a16="http://schemas.microsoft.com/office/drawing/2014/main" id="{58092CED-0157-E396-065D-8A2D66B47D43}"/>
              </a:ext>
            </a:extLst>
          </p:cNvPr>
          <p:cNvSpPr/>
          <p:nvPr/>
        </p:nvSpPr>
        <p:spPr>
          <a:xfrm>
            <a:off x="7976950" y="2137544"/>
            <a:ext cx="1656000" cy="125987"/>
          </a:xfrm>
          <a:prstGeom prst="leftRightArrow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500" b="1" i="0" u="none" strike="noStrike" kern="1200" cap="none" spc="0" normalizeH="0" baseline="0" noProof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AutoShape 47">
            <a:extLst>
              <a:ext uri="{FF2B5EF4-FFF2-40B4-BE49-F238E27FC236}">
                <a16:creationId xmlns:a16="http://schemas.microsoft.com/office/drawing/2014/main" id="{9BE48682-D04C-38AE-7722-75E8078BB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0991" y="2069204"/>
            <a:ext cx="914280" cy="272758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1300" spc="-1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ea"/>
                <a:ea typeface="+mj-ea"/>
              </a:rPr>
              <a:t>실행체계 구축</a:t>
            </a:r>
          </a:p>
        </p:txBody>
      </p:sp>
      <p:sp>
        <p:nvSpPr>
          <p:cNvPr id="29" name="AutoShape 47">
            <a:extLst>
              <a:ext uri="{FF2B5EF4-FFF2-40B4-BE49-F238E27FC236}">
                <a16:creationId xmlns:a16="http://schemas.microsoft.com/office/drawing/2014/main" id="{08C930BA-293A-D4DE-9B83-9109297AE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899" y="2069204"/>
            <a:ext cx="1098625" cy="272758"/>
          </a:xfrm>
          <a:prstGeom prst="homePlate">
            <a:avLst>
              <a:gd name="adj" fmla="val 0"/>
            </a:avLst>
          </a:prstGeom>
          <a:solidFill>
            <a:srgbClr val="F2F2F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1300" spc="-1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ea"/>
                <a:ea typeface="+mj-ea"/>
              </a:rPr>
              <a:t>제도 설계 및 개선</a:t>
            </a:r>
            <a:endParaRPr lang="en-US" altLang="ko-KR" sz="1300" spc="-10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0" name="AutoShape 47">
            <a:extLst>
              <a:ext uri="{FF2B5EF4-FFF2-40B4-BE49-F238E27FC236}">
                <a16:creationId xmlns:a16="http://schemas.microsoft.com/office/drawing/2014/main" id="{070DC943-BE3F-C5F2-98B5-DB9C4C295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533" y="2069204"/>
            <a:ext cx="1098625" cy="272758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algn="ctr"/>
            <a:r>
              <a:rPr lang="ko-KR" altLang="en-US" sz="1300" spc="-1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tx1"/>
                </a:solidFill>
                <a:latin typeface="+mj-ea"/>
                <a:ea typeface="+mj-ea"/>
              </a:rPr>
              <a:t>진단 및 방향 설정</a:t>
            </a:r>
            <a:endParaRPr lang="en-US" altLang="ko-KR" sz="1300" spc="-10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2" name="직사각형 44">
            <a:extLst>
              <a:ext uri="{FF2B5EF4-FFF2-40B4-BE49-F238E27FC236}">
                <a16:creationId xmlns:a16="http://schemas.microsoft.com/office/drawing/2014/main" id="{360B442E-20D6-5DA9-0E61-5F51212E0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82" y="2478576"/>
            <a:ext cx="1415643" cy="350193"/>
          </a:xfrm>
          <a:prstGeom prst="rect">
            <a:avLst/>
          </a:prstGeom>
          <a:noFill/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anchor="ctr"/>
          <a:lstStyle/>
          <a:p>
            <a:pPr latinLnBrk="0">
              <a:lnSpc>
                <a:spcPct val="110000"/>
              </a:lnSpc>
              <a:spcBef>
                <a:spcPct val="50000"/>
              </a:spcBef>
            </a:pPr>
            <a:r>
              <a:rPr lang="en-US" altLang="ko-KR" sz="1300" spc="-10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+mj-ea"/>
                <a:ea typeface="+mj-ea"/>
              </a:rPr>
              <a:t>M1. </a:t>
            </a:r>
            <a:r>
              <a:rPr lang="ko-KR" altLang="en-US" sz="1300" spc="-10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+mj-ea"/>
                <a:ea typeface="+mj-ea"/>
              </a:rPr>
              <a:t>컨설팅 착수</a:t>
            </a:r>
            <a:endParaRPr lang="en-US" altLang="ko-KR" sz="1300" spc="-100">
              <a:ln>
                <a:solidFill>
                  <a:sysClr val="windowText" lastClr="000000">
                    <a:alpha val="0"/>
                  </a:sysClr>
                </a:solidFill>
              </a:ln>
              <a:latin typeface="+mj-ea"/>
              <a:ea typeface="+mj-ea"/>
            </a:endParaRPr>
          </a:p>
        </p:txBody>
      </p:sp>
      <p:sp>
        <p:nvSpPr>
          <p:cNvPr id="33" name="직사각형 178">
            <a:extLst>
              <a:ext uri="{FF2B5EF4-FFF2-40B4-BE49-F238E27FC236}">
                <a16:creationId xmlns:a16="http://schemas.microsoft.com/office/drawing/2014/main" id="{1FE6B109-00B6-2745-00BC-EE4835D3204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41135" y="2865811"/>
            <a:ext cx="1368000" cy="468000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90000" tIns="46800" rIns="540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ts val="1300"/>
            </a:pPr>
            <a:r>
              <a:rPr lang="ko-KR" altLang="en-US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조직진단</a:t>
            </a:r>
          </a:p>
        </p:txBody>
      </p:sp>
      <p:sp>
        <p:nvSpPr>
          <p:cNvPr id="34" name="직사각형 178">
            <a:extLst>
              <a:ext uri="{FF2B5EF4-FFF2-40B4-BE49-F238E27FC236}">
                <a16:creationId xmlns:a16="http://schemas.microsoft.com/office/drawing/2014/main" id="{52EC69E9-A373-6436-3D7C-D631EBCDA94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41135" y="3458123"/>
            <a:ext cx="1368000" cy="468000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90000" tIns="46800" rIns="540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ts val="1300"/>
            </a:pPr>
            <a:r>
              <a:rPr lang="ko-KR" altLang="en-US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제도진단</a:t>
            </a:r>
            <a:endParaRPr lang="en-US" altLang="ko-KR" sz="1200" kern="0">
              <a:solidFill>
                <a:srgbClr val="1F1F1F"/>
              </a:solidFill>
              <a:latin typeface="+mn-ea"/>
              <a:cs typeface="Arial" pitchFamily="34" charset="0"/>
            </a:endParaRPr>
          </a:p>
        </p:txBody>
      </p:sp>
      <p:sp>
        <p:nvSpPr>
          <p:cNvPr id="35" name="직사각형 178">
            <a:extLst>
              <a:ext uri="{FF2B5EF4-FFF2-40B4-BE49-F238E27FC236}">
                <a16:creationId xmlns:a16="http://schemas.microsoft.com/office/drawing/2014/main" id="{160E9104-BDA7-CCF9-94A1-72702E0B0B1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41135" y="4067897"/>
            <a:ext cx="1368000" cy="468000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90000" tIns="46800" rIns="540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ts val="1300"/>
            </a:pPr>
            <a:r>
              <a:rPr lang="ko-KR" altLang="en-US" sz="1200" kern="0" err="1">
                <a:solidFill>
                  <a:srgbClr val="1F1F1F"/>
                </a:solidFill>
                <a:latin typeface="+mn-ea"/>
                <a:cs typeface="Arial" pitchFamily="34" charset="0"/>
              </a:rPr>
              <a:t>요구분석</a:t>
            </a:r>
            <a:endParaRPr lang="en-US" altLang="ko-KR" sz="1200" kern="0">
              <a:solidFill>
                <a:srgbClr val="1F1F1F"/>
              </a:solidFill>
              <a:latin typeface="+mn-ea"/>
              <a:cs typeface="Arial" pitchFamily="34" charset="0"/>
            </a:endParaRPr>
          </a:p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ts val="1300"/>
            </a:pPr>
            <a:r>
              <a:rPr lang="en-US" altLang="ko-KR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(EOS</a:t>
            </a:r>
            <a:r>
              <a:rPr lang="ko-KR" altLang="en-US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 및 인터뷰</a:t>
            </a:r>
            <a:r>
              <a:rPr lang="en-US" altLang="ko-KR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)</a:t>
            </a:r>
            <a:endParaRPr lang="ko-KR" altLang="en-US" sz="1200" kern="0">
              <a:solidFill>
                <a:srgbClr val="1F1F1F"/>
              </a:solidFill>
              <a:latin typeface="+mn-ea"/>
              <a:cs typeface="Arial" pitchFamily="34" charset="0"/>
            </a:endParaRPr>
          </a:p>
        </p:txBody>
      </p:sp>
      <p:sp>
        <p:nvSpPr>
          <p:cNvPr id="36" name="직사각형 178">
            <a:extLst>
              <a:ext uri="{FF2B5EF4-FFF2-40B4-BE49-F238E27FC236}">
                <a16:creationId xmlns:a16="http://schemas.microsoft.com/office/drawing/2014/main" id="{D09BE13B-35BA-AAA0-09DD-02D6942BD9D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41135" y="4660210"/>
            <a:ext cx="1368000" cy="468000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90000" tIns="46800" rIns="540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ts val="1300"/>
            </a:pPr>
            <a:r>
              <a:rPr lang="ko-KR" altLang="en-US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제도설계방향 도출</a:t>
            </a:r>
          </a:p>
        </p:txBody>
      </p:sp>
      <p:cxnSp>
        <p:nvCxnSpPr>
          <p:cNvPr id="37" name="직선 연결선 214">
            <a:extLst>
              <a:ext uri="{FF2B5EF4-FFF2-40B4-BE49-F238E27FC236}">
                <a16:creationId xmlns:a16="http://schemas.microsoft.com/office/drawing/2014/main" id="{A271DA61-4AE0-1CE9-7597-79B18F7C35A4}"/>
              </a:ext>
            </a:extLst>
          </p:cNvPr>
          <p:cNvCxnSpPr>
            <a:cxnSpLocks noChangeShapeType="1"/>
            <a:stCxn id="33" idx="2"/>
            <a:endCxn id="34" idx="0"/>
          </p:cNvCxnSpPr>
          <p:nvPr/>
        </p:nvCxnSpPr>
        <p:spPr bwMode="auto">
          <a:xfrm>
            <a:off x="2825135" y="3333811"/>
            <a:ext cx="0" cy="124312"/>
          </a:xfrm>
          <a:prstGeom prst="line">
            <a:avLst/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8" name="직선 연결선 216">
            <a:extLst>
              <a:ext uri="{FF2B5EF4-FFF2-40B4-BE49-F238E27FC236}">
                <a16:creationId xmlns:a16="http://schemas.microsoft.com/office/drawing/2014/main" id="{C7DB7973-0C14-1D6B-21E2-AC40002CE32E}"/>
              </a:ext>
            </a:extLst>
          </p:cNvPr>
          <p:cNvCxnSpPr>
            <a:cxnSpLocks noChangeShapeType="1"/>
            <a:stCxn id="34" idx="2"/>
            <a:endCxn id="35" idx="0"/>
          </p:cNvCxnSpPr>
          <p:nvPr/>
        </p:nvCxnSpPr>
        <p:spPr bwMode="auto">
          <a:xfrm>
            <a:off x="2825135" y="3926123"/>
            <a:ext cx="0" cy="141774"/>
          </a:xfrm>
          <a:prstGeom prst="line">
            <a:avLst/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9" name="직선 연결선 218">
            <a:extLst>
              <a:ext uri="{FF2B5EF4-FFF2-40B4-BE49-F238E27FC236}">
                <a16:creationId xmlns:a16="http://schemas.microsoft.com/office/drawing/2014/main" id="{7634DFC6-75FD-99A9-009A-EF5AB085ED84}"/>
              </a:ext>
            </a:extLst>
          </p:cNvPr>
          <p:cNvCxnSpPr>
            <a:cxnSpLocks noChangeShapeType="1"/>
            <a:stCxn id="35" idx="2"/>
            <a:endCxn id="36" idx="0"/>
          </p:cNvCxnSpPr>
          <p:nvPr/>
        </p:nvCxnSpPr>
        <p:spPr bwMode="auto">
          <a:xfrm>
            <a:off x="2825135" y="4535897"/>
            <a:ext cx="0" cy="124313"/>
          </a:xfrm>
          <a:prstGeom prst="line">
            <a:avLst/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0" name="Rectangle 20">
            <a:extLst>
              <a:ext uri="{FF2B5EF4-FFF2-40B4-BE49-F238E27FC236}">
                <a16:creationId xmlns:a16="http://schemas.microsoft.com/office/drawing/2014/main" id="{B1EB0074-0874-7B24-34B4-499B51560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358" y="2865517"/>
            <a:ext cx="226800" cy="212181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600" tIns="46800" rIns="36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kern="0">
                <a:solidFill>
                  <a:schemeClr val="accent1"/>
                </a:solidFill>
                <a:latin typeface="+mn-ea"/>
              </a:rPr>
              <a:t>S3</a:t>
            </a:r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CE09F937-4A2B-0353-3B2A-C5F39221A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733" y="3477763"/>
            <a:ext cx="226800" cy="212181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600" tIns="46800" rIns="36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kern="0">
                <a:solidFill>
                  <a:schemeClr val="accent1"/>
                </a:solidFill>
                <a:latin typeface="+mn-ea"/>
              </a:rPr>
              <a:t>S4</a:t>
            </a:r>
          </a:p>
        </p:txBody>
      </p:sp>
      <p:sp>
        <p:nvSpPr>
          <p:cNvPr id="42" name="Rectangle 20">
            <a:extLst>
              <a:ext uri="{FF2B5EF4-FFF2-40B4-BE49-F238E27FC236}">
                <a16:creationId xmlns:a16="http://schemas.microsoft.com/office/drawing/2014/main" id="{80D3BAD5-3FC4-BD7B-CC10-05194E9E9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733" y="4644450"/>
            <a:ext cx="226800" cy="212181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600" tIns="46800" rIns="36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kern="0">
                <a:solidFill>
                  <a:schemeClr val="accent1"/>
                </a:solidFill>
                <a:latin typeface="+mn-ea"/>
              </a:rPr>
              <a:t>S6</a:t>
            </a:r>
          </a:p>
        </p:txBody>
      </p:sp>
      <p:sp>
        <p:nvSpPr>
          <p:cNvPr id="43" name="직사각형 178">
            <a:extLst>
              <a:ext uri="{FF2B5EF4-FFF2-40B4-BE49-F238E27FC236}">
                <a16:creationId xmlns:a16="http://schemas.microsoft.com/office/drawing/2014/main" id="{5329CFB9-FFEF-976E-F3ED-17831FE710B3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3756" y="2865811"/>
            <a:ext cx="1368000" cy="468000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90000" tIns="46800" rIns="540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ts val="1300"/>
              <a:buFont typeface="Wingdings" pitchFamily="2" charset="2"/>
              <a:buNone/>
              <a:defRPr/>
            </a:pPr>
            <a:r>
              <a:rPr lang="ko-KR" altLang="en-US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협약체결</a:t>
            </a:r>
          </a:p>
        </p:txBody>
      </p:sp>
      <p:sp>
        <p:nvSpPr>
          <p:cNvPr id="44" name="직사각형 178">
            <a:extLst>
              <a:ext uri="{FF2B5EF4-FFF2-40B4-BE49-F238E27FC236}">
                <a16:creationId xmlns:a16="http://schemas.microsoft.com/office/drawing/2014/main" id="{1868022B-DB3E-FE66-6005-BDE65B91AF51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03756" y="3516057"/>
            <a:ext cx="1368000" cy="468000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</p:spPr>
        <p:txBody>
          <a:bodyPr lIns="90000" tIns="46800" rIns="540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SzPts val="1300"/>
            </a:pPr>
            <a:r>
              <a:rPr lang="ko-KR" altLang="en-US" sz="1200" kern="0" err="1">
                <a:solidFill>
                  <a:srgbClr val="1F1F1F"/>
                </a:solidFill>
                <a:latin typeface="+mn-ea"/>
                <a:cs typeface="Arial" pitchFamily="34" charset="0"/>
              </a:rPr>
              <a:t>디자인팀</a:t>
            </a:r>
            <a:r>
              <a:rPr lang="ko-KR" altLang="en-US" sz="1200" kern="0">
                <a:solidFill>
                  <a:srgbClr val="1F1F1F"/>
                </a:solidFill>
                <a:latin typeface="+mn-ea"/>
                <a:cs typeface="Arial" pitchFamily="34" charset="0"/>
              </a:rPr>
              <a:t> 구성</a:t>
            </a:r>
            <a:endParaRPr lang="en-US" altLang="ko-KR" sz="1200" kern="0">
              <a:solidFill>
                <a:srgbClr val="1F1F1F"/>
              </a:solidFill>
              <a:latin typeface="+mn-ea"/>
              <a:cs typeface="Arial" pitchFamily="34" charset="0"/>
            </a:endParaRPr>
          </a:p>
        </p:txBody>
      </p:sp>
      <p:cxnSp>
        <p:nvCxnSpPr>
          <p:cNvPr id="45" name="직선 연결선 214">
            <a:extLst>
              <a:ext uri="{FF2B5EF4-FFF2-40B4-BE49-F238E27FC236}">
                <a16:creationId xmlns:a16="http://schemas.microsoft.com/office/drawing/2014/main" id="{DED39E7A-715A-176A-E02F-E2183291C7DE}"/>
              </a:ext>
            </a:extLst>
          </p:cNvPr>
          <p:cNvCxnSpPr>
            <a:cxnSpLocks noChangeShapeType="1"/>
            <a:stCxn id="43" idx="2"/>
            <a:endCxn id="44" idx="0"/>
          </p:cNvCxnSpPr>
          <p:nvPr/>
        </p:nvCxnSpPr>
        <p:spPr bwMode="auto">
          <a:xfrm>
            <a:off x="1087756" y="3333811"/>
            <a:ext cx="0" cy="182246"/>
          </a:xfrm>
          <a:prstGeom prst="line">
            <a:avLst/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6" name="Rectangle 20">
            <a:extLst>
              <a:ext uri="{FF2B5EF4-FFF2-40B4-BE49-F238E27FC236}">
                <a16:creationId xmlns:a16="http://schemas.microsoft.com/office/drawing/2014/main" id="{A725713D-F52D-83A4-5658-138C1B236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17" y="2865517"/>
            <a:ext cx="226800" cy="212181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600" tIns="46800" rIns="36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kern="0">
                <a:solidFill>
                  <a:schemeClr val="accent1"/>
                </a:solidFill>
                <a:latin typeface="+mn-ea"/>
              </a:rPr>
              <a:t>S1</a:t>
            </a:r>
          </a:p>
        </p:txBody>
      </p:sp>
      <p:sp>
        <p:nvSpPr>
          <p:cNvPr id="47" name="Rectangle 20">
            <a:extLst>
              <a:ext uri="{FF2B5EF4-FFF2-40B4-BE49-F238E27FC236}">
                <a16:creationId xmlns:a16="http://schemas.microsoft.com/office/drawing/2014/main" id="{1A6A1EC9-3D62-30A3-90E7-B0D18AF78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17" y="3516263"/>
            <a:ext cx="226800" cy="212181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600" tIns="46800" rIns="36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kern="0">
                <a:solidFill>
                  <a:schemeClr val="accent1"/>
                </a:solidFill>
                <a:latin typeface="+mn-ea"/>
              </a:rPr>
              <a:t>S2</a:t>
            </a:r>
          </a:p>
        </p:txBody>
      </p:sp>
      <p:sp>
        <p:nvSpPr>
          <p:cNvPr id="48" name="직사각형 44">
            <a:extLst>
              <a:ext uri="{FF2B5EF4-FFF2-40B4-BE49-F238E27FC236}">
                <a16:creationId xmlns:a16="http://schemas.microsoft.com/office/drawing/2014/main" id="{C3687D56-525E-FB55-A93F-C832E261B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499" y="2478576"/>
            <a:ext cx="1365701" cy="350193"/>
          </a:xfrm>
          <a:prstGeom prst="rect">
            <a:avLst/>
          </a:prstGeom>
          <a:noFill/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anchor="ctr"/>
          <a:lstStyle/>
          <a:p>
            <a:pPr latinLnBrk="0">
              <a:lnSpc>
                <a:spcPct val="110000"/>
              </a:lnSpc>
              <a:spcBef>
                <a:spcPct val="50000"/>
              </a:spcBef>
            </a:pPr>
            <a:r>
              <a:rPr lang="en-US" altLang="ko-KR" sz="1300" spc="-10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+mj-ea"/>
                <a:ea typeface="+mj-ea"/>
              </a:rPr>
              <a:t>M2. </a:t>
            </a:r>
            <a:r>
              <a:rPr lang="ko-KR" altLang="en-US" sz="1300" spc="-100">
                <a:ln>
                  <a:solidFill>
                    <a:sysClr val="windowText" lastClr="000000">
                      <a:alpha val="0"/>
                    </a:sysClr>
                  </a:solidFill>
                </a:ln>
                <a:latin typeface="+mj-ea"/>
                <a:ea typeface="+mj-ea"/>
              </a:rPr>
              <a:t>현황진단</a:t>
            </a:r>
            <a:endParaRPr lang="en-US" altLang="ko-KR" sz="1300" spc="-100">
              <a:ln>
                <a:solidFill>
                  <a:sysClr val="windowText" lastClr="000000">
                    <a:alpha val="0"/>
                  </a:sysClr>
                </a:solidFill>
              </a:ln>
              <a:latin typeface="+mj-ea"/>
              <a:ea typeface="+mj-ea"/>
            </a:endParaRPr>
          </a:p>
        </p:txBody>
      </p:sp>
      <p:cxnSp>
        <p:nvCxnSpPr>
          <p:cNvPr id="49" name="꺾인 연결선 181">
            <a:extLst>
              <a:ext uri="{FF2B5EF4-FFF2-40B4-BE49-F238E27FC236}">
                <a16:creationId xmlns:a16="http://schemas.microsoft.com/office/drawing/2014/main" id="{82388082-3469-9105-75A2-2E6FA6524814}"/>
              </a:ext>
            </a:extLst>
          </p:cNvPr>
          <p:cNvCxnSpPr>
            <a:cxnSpLocks/>
            <a:stCxn id="44" idx="2"/>
            <a:endCxn id="33" idx="1"/>
          </p:cNvCxnSpPr>
          <p:nvPr/>
        </p:nvCxnSpPr>
        <p:spPr>
          <a:xfrm rot="5400000" flipH="1" flipV="1">
            <a:off x="1172322" y="3015244"/>
            <a:ext cx="884246" cy="1053379"/>
          </a:xfrm>
          <a:prstGeom prst="bentConnector4">
            <a:avLst>
              <a:gd name="adj1" fmla="val -25853"/>
              <a:gd name="adj2" fmla="val 82467"/>
            </a:avLst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85" name="직선 연결선 220">
            <a:extLst>
              <a:ext uri="{FF2B5EF4-FFF2-40B4-BE49-F238E27FC236}">
                <a16:creationId xmlns:a16="http://schemas.microsoft.com/office/drawing/2014/main" id="{723F7C84-6DF5-E1BB-4BE7-AF6C5FA1A6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45026" y="5334718"/>
            <a:ext cx="0" cy="182538"/>
          </a:xfrm>
          <a:prstGeom prst="line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EE47154-1A06-E033-C37C-802F6E63DFAB}"/>
              </a:ext>
            </a:extLst>
          </p:cNvPr>
          <p:cNvCxnSpPr/>
          <p:nvPr/>
        </p:nvCxnSpPr>
        <p:spPr>
          <a:xfrm rot="5400000">
            <a:off x="6638486" y="5420447"/>
            <a:ext cx="183600" cy="0"/>
          </a:xfrm>
          <a:prstGeom prst="straightConnector1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</p:cxnSp>
      <p:cxnSp>
        <p:nvCxnSpPr>
          <p:cNvPr id="130" name="꺾인 연결선 138">
            <a:extLst>
              <a:ext uri="{FF2B5EF4-FFF2-40B4-BE49-F238E27FC236}">
                <a16:creationId xmlns:a16="http://schemas.microsoft.com/office/drawing/2014/main" id="{7FD6598A-949B-7A89-273A-F6490A40DFE4}"/>
              </a:ext>
            </a:extLst>
          </p:cNvPr>
          <p:cNvCxnSpPr>
            <a:cxnSpLocks/>
            <a:stCxn id="67" idx="3"/>
            <a:endCxn id="12" idx="1"/>
          </p:cNvCxnSpPr>
          <p:nvPr/>
        </p:nvCxnSpPr>
        <p:spPr>
          <a:xfrm flipV="1">
            <a:off x="7890014" y="3121650"/>
            <a:ext cx="247566" cy="1747089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32" name="Rectangle 20">
            <a:extLst>
              <a:ext uri="{FF2B5EF4-FFF2-40B4-BE49-F238E27FC236}">
                <a16:creationId xmlns:a16="http://schemas.microsoft.com/office/drawing/2014/main" id="{A147FDE2-A2D3-72B1-AC1A-EC45D9856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653" y="4071513"/>
            <a:ext cx="226800" cy="212181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3600" tIns="46800" rIns="3600" bIns="468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kern="0">
                <a:solidFill>
                  <a:schemeClr val="accent1"/>
                </a:solidFill>
                <a:latin typeface="+mn-ea"/>
              </a:rPr>
              <a:t>S5</a:t>
            </a:r>
          </a:p>
        </p:txBody>
      </p:sp>
      <p:sp>
        <p:nvSpPr>
          <p:cNvPr id="133" name="Rectangle 66">
            <a:extLst>
              <a:ext uri="{FF2B5EF4-FFF2-40B4-BE49-F238E27FC236}">
                <a16:creationId xmlns:a16="http://schemas.microsoft.com/office/drawing/2014/main" id="{84FFFE7E-4205-2D9A-8AE3-034A572E9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1" y="5872288"/>
            <a:ext cx="2906254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220663" indent="-127000" latinLnBrk="0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ko-KR" altLang="en-US" sz="1100" kern="0" spc="-50">
                <a:solidFill>
                  <a:prstClr val="black"/>
                </a:solidFill>
                <a:latin typeface="+mn-ea"/>
              </a:rPr>
              <a:t>중간보고서</a:t>
            </a:r>
          </a:p>
        </p:txBody>
      </p:sp>
      <p:sp>
        <p:nvSpPr>
          <p:cNvPr id="134" name="Rectangle 66">
            <a:extLst>
              <a:ext uri="{FF2B5EF4-FFF2-40B4-BE49-F238E27FC236}">
                <a16:creationId xmlns:a16="http://schemas.microsoft.com/office/drawing/2014/main" id="{A1590BA3-DE64-6795-1CD9-AEFC06100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590" y="5871825"/>
            <a:ext cx="3095919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220663" indent="-127000" latinLnBrk="0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ko-KR" altLang="en-US" sz="1100" kern="0" spc="-50">
                <a:solidFill>
                  <a:prstClr val="black"/>
                </a:solidFill>
                <a:latin typeface="+mn-ea"/>
              </a:rPr>
              <a:t>요구사항별 제도 개선안</a:t>
            </a:r>
            <a:endParaRPr lang="en-US" altLang="ko-KR" sz="1050" ker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5" name="Rectangle 66">
            <a:extLst>
              <a:ext uri="{FF2B5EF4-FFF2-40B4-BE49-F238E27FC236}">
                <a16:creationId xmlns:a16="http://schemas.microsoft.com/office/drawing/2014/main" id="{03727D9B-749B-0A01-0EA7-A6980E547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4642" y="5872823"/>
            <a:ext cx="1494792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220663" indent="-127000" latinLnBrk="0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ko-KR" altLang="en-US" sz="1100" kern="0" spc="-50">
                <a:solidFill>
                  <a:prstClr val="black"/>
                </a:solidFill>
                <a:latin typeface="+mn-ea"/>
              </a:rPr>
              <a:t>최종보고서</a:t>
            </a:r>
            <a:endParaRPr lang="en-US" altLang="ko-KR" sz="1100" kern="0" spc="-5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138" name="꺾인 연결선 138">
            <a:extLst>
              <a:ext uri="{FF2B5EF4-FFF2-40B4-BE49-F238E27FC236}">
                <a16:creationId xmlns:a16="http://schemas.microsoft.com/office/drawing/2014/main" id="{BA49D846-D311-FBB5-3127-D109E8A6D526}"/>
              </a:ext>
            </a:extLst>
          </p:cNvPr>
          <p:cNvCxnSpPr>
            <a:cxnSpLocks/>
            <a:stCxn id="36" idx="2"/>
            <a:endCxn id="57" idx="1"/>
          </p:cNvCxnSpPr>
          <p:nvPr/>
        </p:nvCxnSpPr>
        <p:spPr>
          <a:xfrm rot="5400000" flipH="1" flipV="1">
            <a:off x="3188088" y="4505785"/>
            <a:ext cx="259471" cy="985379"/>
          </a:xfrm>
          <a:prstGeom prst="bentConnector4">
            <a:avLst>
              <a:gd name="adj1" fmla="val -88102"/>
              <a:gd name="adj2" fmla="val 84707"/>
            </a:avLst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66" name="꺾인 연결선 138">
            <a:extLst>
              <a:ext uri="{FF2B5EF4-FFF2-40B4-BE49-F238E27FC236}">
                <a16:creationId xmlns:a16="http://schemas.microsoft.com/office/drawing/2014/main" id="{F347FD67-5CDE-22F5-1E19-8452A84A03D6}"/>
              </a:ext>
            </a:extLst>
          </p:cNvPr>
          <p:cNvCxnSpPr>
            <a:cxnSpLocks/>
            <a:stCxn id="52" idx="3"/>
            <a:endCxn id="12" idx="1"/>
          </p:cNvCxnSpPr>
          <p:nvPr/>
        </p:nvCxnSpPr>
        <p:spPr>
          <a:xfrm flipV="1">
            <a:off x="7890014" y="3121650"/>
            <a:ext cx="247566" cy="120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439454-D257-51ED-C12D-E0423B8449EC}"/>
              </a:ext>
            </a:extLst>
          </p:cNvPr>
          <p:cNvGrpSpPr/>
          <p:nvPr/>
        </p:nvGrpSpPr>
        <p:grpSpPr>
          <a:xfrm>
            <a:off x="3810514" y="2514495"/>
            <a:ext cx="4079500" cy="2610603"/>
            <a:chOff x="3810514" y="2514495"/>
            <a:chExt cx="4079500" cy="2610603"/>
          </a:xfrm>
        </p:grpSpPr>
        <p:sp>
          <p:nvSpPr>
            <p:cNvPr id="15" name="직사각형 44">
              <a:extLst>
                <a:ext uri="{FF2B5EF4-FFF2-40B4-BE49-F238E27FC236}">
                  <a16:creationId xmlns:a16="http://schemas.microsoft.com/office/drawing/2014/main" id="{406632D5-D8E8-757A-58AE-A3656D13F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978" y="2514495"/>
              <a:ext cx="1807225" cy="350193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36000" rIns="36000" anchor="ctr"/>
            <a:lstStyle/>
            <a:p>
              <a:pPr latinLnBrk="0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ko-KR" sz="1300" spc="-1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M3. </a:t>
              </a:r>
              <a:r>
                <a:rPr lang="ko-KR" altLang="en-US" sz="1300" spc="-1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임금체계 재설계</a:t>
              </a:r>
              <a:r>
                <a:rPr lang="en-US" altLang="ko-KR" sz="1300" spc="-1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(</a:t>
              </a:r>
              <a:r>
                <a:rPr lang="ko-KR" altLang="en-US" sz="1300" spc="-1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심화</a:t>
              </a:r>
              <a:r>
                <a:rPr lang="en-US" altLang="ko-KR" sz="1300" spc="-1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)</a:t>
              </a:r>
            </a:p>
          </p:txBody>
        </p:sp>
        <p:cxnSp>
          <p:nvCxnSpPr>
            <p:cNvPr id="16" name="직선 연결선 220">
              <a:extLst>
                <a:ext uri="{FF2B5EF4-FFF2-40B4-BE49-F238E27FC236}">
                  <a16:creationId xmlns:a16="http://schemas.microsoft.com/office/drawing/2014/main" id="{B7CEB5C3-4263-CCCF-5863-2B67A1836D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45026" y="3384080"/>
              <a:ext cx="0" cy="182538"/>
            </a:xfrm>
            <a:prstGeom prst="line">
              <a:avLst/>
            </a:prstGeom>
            <a:noFill/>
            <a:ln w="6350" algn="ctr">
              <a:noFill/>
              <a:miter lim="800000"/>
              <a:headEnd/>
              <a:tailEnd/>
            </a:ln>
            <a:effectLst/>
          </p:spPr>
        </p:cxn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00E7F83-F599-4AED-A8E6-C08E35217620}"/>
                </a:ext>
              </a:extLst>
            </p:cNvPr>
            <p:cNvGrpSpPr/>
            <p:nvPr/>
          </p:nvGrpSpPr>
          <p:grpSpPr>
            <a:xfrm>
              <a:off x="3810514" y="2865291"/>
              <a:ext cx="1266872" cy="513923"/>
              <a:chOff x="3961978" y="2990416"/>
              <a:chExt cx="1266872" cy="513923"/>
            </a:xfrm>
          </p:grpSpPr>
          <p:sp>
            <p:nvSpPr>
              <p:cNvPr id="18" name="직사각형 178">
                <a:extLst>
                  <a:ext uri="{FF2B5EF4-FFF2-40B4-BE49-F238E27FC236}">
                    <a16:creationId xmlns:a16="http://schemas.microsoft.com/office/drawing/2014/main" id="{802242DD-82D5-0148-B6CE-32F7C07812B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961978" y="2991621"/>
                <a:ext cx="1266872" cy="512718"/>
              </a:xfrm>
              <a:prstGeom prst="rect">
                <a:avLst/>
              </a:prstGeom>
              <a:solidFill>
                <a:sysClr val="window" lastClr="FFFFF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</p:spPr>
            <p:txBody>
              <a:bodyPr lIns="90000" tIns="46800" rIns="54000" bIns="4680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prstClr val="black"/>
                  </a:buClr>
                  <a:buSzPts val="1300"/>
                </a:pPr>
                <a:r>
                  <a:rPr lang="ko-KR" altLang="en-US" sz="1200" kern="0" dirty="0">
                    <a:solidFill>
                      <a:srgbClr val="1F1F1F"/>
                    </a:solidFill>
                    <a:latin typeface="+mn-ea"/>
                    <a:cs typeface="Arial" pitchFamily="34" charset="0"/>
                  </a:rPr>
                  <a:t>직무체계 설계</a:t>
                </a:r>
                <a:endParaRPr lang="en-US" altLang="ko-KR" sz="1200" kern="0" dirty="0">
                  <a:solidFill>
                    <a:srgbClr val="1F1F1F"/>
                  </a:solidFill>
                  <a:latin typeface="+mn-ea"/>
                  <a:cs typeface="Arial" pitchFamily="34" charset="0"/>
                </a:endParaRPr>
              </a:p>
            </p:txBody>
          </p:sp>
          <p:sp>
            <p:nvSpPr>
              <p:cNvPr id="19" name="Rectangle 20">
                <a:extLst>
                  <a:ext uri="{FF2B5EF4-FFF2-40B4-BE49-F238E27FC236}">
                    <a16:creationId xmlns:a16="http://schemas.microsoft.com/office/drawing/2014/main" id="{8533591B-6944-BD6B-5911-190C392B5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1648" y="2990416"/>
                <a:ext cx="226614" cy="212181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none" lIns="3600" tIns="46800" rIns="3600" bIns="4680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100" kern="0">
                    <a:solidFill>
                      <a:schemeClr val="accent1"/>
                    </a:solidFill>
                    <a:latin typeface="+mn-ea"/>
                  </a:rPr>
                  <a:t>S7</a:t>
                </a: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F667B41-84B9-D3D6-E1A0-86A155F4F15E}"/>
                </a:ext>
              </a:extLst>
            </p:cNvPr>
            <p:cNvGrpSpPr/>
            <p:nvPr/>
          </p:nvGrpSpPr>
          <p:grpSpPr>
            <a:xfrm>
              <a:off x="5224665" y="2865291"/>
              <a:ext cx="1266872" cy="513923"/>
              <a:chOff x="5368772" y="2990416"/>
              <a:chExt cx="1266872" cy="513923"/>
            </a:xfrm>
          </p:grpSpPr>
          <p:sp>
            <p:nvSpPr>
              <p:cNvPr id="22" name="직사각형 178">
                <a:extLst>
                  <a:ext uri="{FF2B5EF4-FFF2-40B4-BE49-F238E27FC236}">
                    <a16:creationId xmlns:a16="http://schemas.microsoft.com/office/drawing/2014/main" id="{D4BBAF3B-0A57-60B5-260A-79F28DBC330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368772" y="2991621"/>
                <a:ext cx="1266872" cy="512718"/>
              </a:xfrm>
              <a:prstGeom prst="rect">
                <a:avLst/>
              </a:prstGeom>
              <a:solidFill>
                <a:sysClr val="window" lastClr="FFFFF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</p:spPr>
            <p:txBody>
              <a:bodyPr lIns="90000" tIns="46800" rIns="54000" bIns="4680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prstClr val="black"/>
                  </a:buClr>
                  <a:buSzPts val="1300"/>
                </a:pPr>
                <a:r>
                  <a:rPr lang="ko-KR" altLang="en-US" sz="1200" kern="0" dirty="0">
                    <a:solidFill>
                      <a:srgbClr val="1F1F1F"/>
                    </a:solidFill>
                    <a:latin typeface="+mn-ea"/>
                    <a:cs typeface="Arial" pitchFamily="34" charset="0"/>
                  </a:rPr>
                  <a:t>임금체계 설계</a:t>
                </a:r>
                <a:endParaRPr lang="en-US" altLang="ko-KR" sz="1200" kern="0" dirty="0">
                  <a:solidFill>
                    <a:srgbClr val="1F1F1F"/>
                  </a:solidFill>
                  <a:latin typeface="+mn-ea"/>
                  <a:cs typeface="Arial" pitchFamily="34" charset="0"/>
                </a:endParaRPr>
              </a:p>
            </p:txBody>
          </p:sp>
          <p:sp>
            <p:nvSpPr>
              <p:cNvPr id="23" name="Rectangle 20">
                <a:extLst>
                  <a:ext uri="{FF2B5EF4-FFF2-40B4-BE49-F238E27FC236}">
                    <a16:creationId xmlns:a16="http://schemas.microsoft.com/office/drawing/2014/main" id="{20BD5EC8-8ACB-5A0E-C97C-BD0782350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0465" y="2990416"/>
                <a:ext cx="226800" cy="212181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none" lIns="3600" tIns="46800" rIns="3600" bIns="46800" anchor="ctr"/>
              <a:lstStyle/>
              <a:p>
                <a:pPr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100" kern="0">
                    <a:solidFill>
                      <a:schemeClr val="accent1"/>
                    </a:solidFill>
                    <a:latin typeface="+mn-ea"/>
                  </a:rPr>
                  <a:t>S8</a:t>
                </a:r>
              </a:p>
            </p:txBody>
          </p:sp>
        </p:grp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2CE85A3B-5D1D-1749-6164-BB20EE9F6D5C}"/>
                </a:ext>
              </a:extLst>
            </p:cNvPr>
            <p:cNvCxnSpPr/>
            <p:nvPr/>
          </p:nvCxnSpPr>
          <p:spPr>
            <a:xfrm rot="5400000">
              <a:off x="6638486" y="3469809"/>
              <a:ext cx="183600" cy="0"/>
            </a:xfrm>
            <a:prstGeom prst="straightConnector1">
              <a:avLst/>
            </a:prstGeom>
            <a:noFill/>
            <a:ln w="6350" algn="ctr">
              <a:noFill/>
              <a:miter lim="800000"/>
              <a:headEnd/>
              <a:tailEnd/>
            </a:ln>
            <a:effectLst/>
          </p:spPr>
        </p:cxnSp>
        <p:cxnSp>
          <p:nvCxnSpPr>
            <p:cNvPr id="31" name="직선 연결선 214">
              <a:extLst>
                <a:ext uri="{FF2B5EF4-FFF2-40B4-BE49-F238E27FC236}">
                  <a16:creationId xmlns:a16="http://schemas.microsoft.com/office/drawing/2014/main" id="{210C7914-9DBC-4E2A-1D91-12777B0AB576}"/>
                </a:ext>
              </a:extLst>
            </p:cNvPr>
            <p:cNvCxnSpPr>
              <a:cxnSpLocks noChangeShapeType="1"/>
              <a:stCxn id="18" idx="3"/>
            </p:cNvCxnSpPr>
            <p:nvPr/>
          </p:nvCxnSpPr>
          <p:spPr bwMode="auto">
            <a:xfrm>
              <a:off x="5077386" y="3122855"/>
              <a:ext cx="131605" cy="0"/>
            </a:xfrm>
            <a:prstGeom prst="line">
              <a:avLst/>
            </a:prstGeom>
            <a:noFill/>
            <a:ln w="6350" algn="ctr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50" name="직선 연결선 214">
              <a:extLst>
                <a:ext uri="{FF2B5EF4-FFF2-40B4-BE49-F238E27FC236}">
                  <a16:creationId xmlns:a16="http://schemas.microsoft.com/office/drawing/2014/main" id="{81827BA8-AAA1-B238-6706-E079D450FD9C}"/>
                </a:ext>
              </a:extLst>
            </p:cNvPr>
            <p:cNvCxnSpPr>
              <a:cxnSpLocks noChangeShapeType="1"/>
              <a:stCxn id="22" idx="3"/>
              <a:endCxn id="52" idx="1"/>
            </p:cNvCxnSpPr>
            <p:nvPr/>
          </p:nvCxnSpPr>
          <p:spPr bwMode="auto">
            <a:xfrm>
              <a:off x="6491537" y="3122855"/>
              <a:ext cx="131605" cy="0"/>
            </a:xfrm>
            <a:prstGeom prst="line">
              <a:avLst/>
            </a:prstGeom>
            <a:noFill/>
            <a:ln w="6350" algn="ctr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5382639C-45A3-A20D-70AF-92DB6AFECB15}"/>
                </a:ext>
              </a:extLst>
            </p:cNvPr>
            <p:cNvGrpSpPr/>
            <p:nvPr/>
          </p:nvGrpSpPr>
          <p:grpSpPr>
            <a:xfrm>
              <a:off x="6623142" y="2865291"/>
              <a:ext cx="1266872" cy="513923"/>
              <a:chOff x="6673944" y="2990416"/>
              <a:chExt cx="1266872" cy="513923"/>
            </a:xfrm>
          </p:grpSpPr>
          <p:sp>
            <p:nvSpPr>
              <p:cNvPr id="52" name="직사각형 178">
                <a:extLst>
                  <a:ext uri="{FF2B5EF4-FFF2-40B4-BE49-F238E27FC236}">
                    <a16:creationId xmlns:a16="http://schemas.microsoft.com/office/drawing/2014/main" id="{8E0809BD-A7BB-E3FE-71F8-06433048D5E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6673944" y="2991621"/>
                <a:ext cx="1266872" cy="512718"/>
              </a:xfrm>
              <a:prstGeom prst="rect">
                <a:avLst/>
              </a:prstGeom>
              <a:solidFill>
                <a:sysClr val="window" lastClr="FFFFF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</p:spPr>
            <p:txBody>
              <a:bodyPr lIns="90000" tIns="46800" rIns="54000" bIns="4680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prstClr val="black"/>
                  </a:buClr>
                  <a:buSzPts val="1300"/>
                </a:pPr>
                <a:r>
                  <a:rPr lang="ko-KR" altLang="en-US" sz="1200" kern="0" dirty="0">
                    <a:solidFill>
                      <a:srgbClr val="1F1F1F"/>
                    </a:solidFill>
                    <a:latin typeface="+mn-ea"/>
                    <a:cs typeface="Arial" pitchFamily="34" charset="0"/>
                  </a:rPr>
                  <a:t>임금 시뮬레이션</a:t>
                </a:r>
              </a:p>
            </p:txBody>
          </p:sp>
          <p:sp>
            <p:nvSpPr>
              <p:cNvPr id="53" name="Rectangle 20">
                <a:extLst>
                  <a:ext uri="{FF2B5EF4-FFF2-40B4-BE49-F238E27FC236}">
                    <a16:creationId xmlns:a16="http://schemas.microsoft.com/office/drawing/2014/main" id="{D56AD5FA-9A58-CCC3-189F-650D387C1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5637" y="2990416"/>
                <a:ext cx="226800" cy="212181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none" lIns="3600" tIns="46800" rIns="3600" bIns="46800" anchor="ctr"/>
              <a:lstStyle/>
              <a:p>
                <a:pPr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100" kern="0">
                    <a:solidFill>
                      <a:schemeClr val="accent1"/>
                    </a:solidFill>
                    <a:latin typeface="+mn-ea"/>
                  </a:rPr>
                  <a:t>S9</a:t>
                </a:r>
              </a:p>
            </p:txBody>
          </p:sp>
        </p:grpSp>
        <p:sp>
          <p:nvSpPr>
            <p:cNvPr id="54" name="직사각형 44">
              <a:extLst>
                <a:ext uri="{FF2B5EF4-FFF2-40B4-BE49-F238E27FC236}">
                  <a16:creationId xmlns:a16="http://schemas.microsoft.com/office/drawing/2014/main" id="{D3676990-1433-9815-134D-B58ED7E8D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978" y="4313783"/>
              <a:ext cx="1807225" cy="350193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36000" rIns="36000" anchor="ctr"/>
            <a:lstStyle/>
            <a:p>
              <a:pPr latinLnBrk="0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ko-KR" sz="1300" spc="-1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M4. </a:t>
              </a:r>
              <a:r>
                <a:rPr lang="ko-KR" altLang="en-US" sz="1300" spc="-1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평가체계 설계</a:t>
              </a:r>
              <a:r>
                <a:rPr lang="en-US" altLang="ko-KR" sz="1300" spc="-1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(</a:t>
              </a:r>
              <a:r>
                <a:rPr lang="ko-KR" altLang="en-US" sz="1300" spc="-1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심화</a:t>
              </a:r>
              <a:r>
                <a:rPr lang="en-US" altLang="ko-KR" sz="1300" spc="-1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latin typeface="+mj-ea"/>
                  <a:ea typeface="+mj-ea"/>
                </a:rPr>
                <a:t>)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8B0FF693-417F-660B-A462-3C8DD4CB48A3}"/>
                </a:ext>
              </a:extLst>
            </p:cNvPr>
            <p:cNvGrpSpPr/>
            <p:nvPr/>
          </p:nvGrpSpPr>
          <p:grpSpPr>
            <a:xfrm>
              <a:off x="3810514" y="4611175"/>
              <a:ext cx="1266872" cy="513923"/>
              <a:chOff x="3961978" y="2990416"/>
              <a:chExt cx="1266872" cy="513923"/>
            </a:xfrm>
          </p:grpSpPr>
          <p:sp>
            <p:nvSpPr>
              <p:cNvPr id="57" name="직사각형 178">
                <a:extLst>
                  <a:ext uri="{FF2B5EF4-FFF2-40B4-BE49-F238E27FC236}">
                    <a16:creationId xmlns:a16="http://schemas.microsoft.com/office/drawing/2014/main" id="{340CF5A8-B569-6DD7-C25B-4EBACF3CCDA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961978" y="2991621"/>
                <a:ext cx="1266872" cy="512718"/>
              </a:xfrm>
              <a:prstGeom prst="rect">
                <a:avLst/>
              </a:prstGeom>
              <a:solidFill>
                <a:sysClr val="window" lastClr="FFFFF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</p:spPr>
            <p:txBody>
              <a:bodyPr lIns="90000" tIns="46800" rIns="54000" bIns="4680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prstClr val="black"/>
                  </a:buClr>
                  <a:buSzPts val="1300"/>
                </a:pPr>
                <a:r>
                  <a:rPr lang="ko-KR" altLang="en-US" sz="1200" kern="0" dirty="0">
                    <a:solidFill>
                      <a:srgbClr val="1F1F1F"/>
                    </a:solidFill>
                    <a:latin typeface="+mn-ea"/>
                    <a:cs typeface="Arial" pitchFamily="34" charset="0"/>
                  </a:rPr>
                  <a:t>평가 모형 설계</a:t>
                </a:r>
                <a:endParaRPr lang="en-US" altLang="ko-KR" sz="1200" kern="0" dirty="0">
                  <a:solidFill>
                    <a:srgbClr val="1F1F1F"/>
                  </a:solidFill>
                  <a:latin typeface="+mn-ea"/>
                  <a:cs typeface="Arial" pitchFamily="34" charset="0"/>
                </a:endParaRPr>
              </a:p>
            </p:txBody>
          </p:sp>
          <p:sp>
            <p:nvSpPr>
              <p:cNvPr id="58" name="Rectangle 20">
                <a:extLst>
                  <a:ext uri="{FF2B5EF4-FFF2-40B4-BE49-F238E27FC236}">
                    <a16:creationId xmlns:a16="http://schemas.microsoft.com/office/drawing/2014/main" id="{5B0EEDC5-FAD0-920D-5174-0A9832695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1648" y="2990416"/>
                <a:ext cx="226614" cy="212181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none" lIns="3600" tIns="46800" rIns="3600" bIns="4680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100" kern="0">
                    <a:solidFill>
                      <a:schemeClr val="accent1"/>
                    </a:solidFill>
                    <a:latin typeface="+mn-ea"/>
                  </a:rPr>
                  <a:t>S10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0D03F66D-8E9D-72BD-2420-79A2B7D4CBF3}"/>
                </a:ext>
              </a:extLst>
            </p:cNvPr>
            <p:cNvGrpSpPr/>
            <p:nvPr/>
          </p:nvGrpSpPr>
          <p:grpSpPr>
            <a:xfrm>
              <a:off x="5224665" y="4611175"/>
              <a:ext cx="1266872" cy="513923"/>
              <a:chOff x="5368772" y="2990416"/>
              <a:chExt cx="1266872" cy="513923"/>
            </a:xfrm>
          </p:grpSpPr>
          <p:sp>
            <p:nvSpPr>
              <p:cNvPr id="60" name="직사각형 178">
                <a:extLst>
                  <a:ext uri="{FF2B5EF4-FFF2-40B4-BE49-F238E27FC236}">
                    <a16:creationId xmlns:a16="http://schemas.microsoft.com/office/drawing/2014/main" id="{3A27D44A-FD41-00E9-305B-B710F980E0A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368772" y="2991621"/>
                <a:ext cx="1266872" cy="512718"/>
              </a:xfrm>
              <a:prstGeom prst="rect">
                <a:avLst/>
              </a:prstGeom>
              <a:solidFill>
                <a:sysClr val="window" lastClr="FFFFF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</p:spPr>
            <p:txBody>
              <a:bodyPr lIns="90000" tIns="46800" rIns="54000" bIns="4680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prstClr val="black"/>
                  </a:buClr>
                  <a:buSzPts val="1300"/>
                </a:pPr>
                <a:r>
                  <a:rPr lang="ko-KR" altLang="en-US" sz="1200" kern="0">
                    <a:solidFill>
                      <a:srgbClr val="1F1F1F"/>
                    </a:solidFill>
                    <a:latin typeface="+mn-ea"/>
                    <a:cs typeface="Arial" pitchFamily="34" charset="0"/>
                  </a:rPr>
                  <a:t>평가 요소 설계</a:t>
                </a:r>
              </a:p>
            </p:txBody>
          </p:sp>
          <p:sp>
            <p:nvSpPr>
              <p:cNvPr id="61" name="Rectangle 20">
                <a:extLst>
                  <a:ext uri="{FF2B5EF4-FFF2-40B4-BE49-F238E27FC236}">
                    <a16:creationId xmlns:a16="http://schemas.microsoft.com/office/drawing/2014/main" id="{76A0F6D2-0A00-959E-6A2C-EC5B21678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0465" y="2990416"/>
                <a:ext cx="226800" cy="212181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none" lIns="3600" tIns="46800" rIns="3600" bIns="46800" anchor="ctr"/>
              <a:lstStyle/>
              <a:p>
                <a:pPr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100" kern="0">
                    <a:solidFill>
                      <a:schemeClr val="accent1"/>
                    </a:solidFill>
                    <a:latin typeface="+mn-ea"/>
                  </a:rPr>
                  <a:t>S11</a:t>
                </a:r>
              </a:p>
            </p:txBody>
          </p:sp>
        </p:grpSp>
        <p:cxnSp>
          <p:nvCxnSpPr>
            <p:cNvPr id="63" name="직선 연결선 214">
              <a:extLst>
                <a:ext uri="{FF2B5EF4-FFF2-40B4-BE49-F238E27FC236}">
                  <a16:creationId xmlns:a16="http://schemas.microsoft.com/office/drawing/2014/main" id="{1EB7F8F2-008D-F977-F6F4-17544DDA9602}"/>
                </a:ext>
              </a:extLst>
            </p:cNvPr>
            <p:cNvCxnSpPr>
              <a:cxnSpLocks noChangeShapeType="1"/>
              <a:stCxn id="57" idx="3"/>
              <a:endCxn id="60" idx="1"/>
            </p:cNvCxnSpPr>
            <p:nvPr/>
          </p:nvCxnSpPr>
          <p:spPr bwMode="auto">
            <a:xfrm>
              <a:off x="5077386" y="4868739"/>
              <a:ext cx="147279" cy="0"/>
            </a:xfrm>
            <a:prstGeom prst="line">
              <a:avLst/>
            </a:prstGeom>
            <a:noFill/>
            <a:ln w="6350" algn="ctr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4" name="직선 연결선 214">
              <a:extLst>
                <a:ext uri="{FF2B5EF4-FFF2-40B4-BE49-F238E27FC236}">
                  <a16:creationId xmlns:a16="http://schemas.microsoft.com/office/drawing/2014/main" id="{E84DD450-B1F4-DF80-6E0F-C86FD19D0541}"/>
                </a:ext>
              </a:extLst>
            </p:cNvPr>
            <p:cNvCxnSpPr>
              <a:cxnSpLocks noChangeShapeType="1"/>
              <a:stCxn id="60" idx="3"/>
              <a:endCxn id="67" idx="1"/>
            </p:cNvCxnSpPr>
            <p:nvPr/>
          </p:nvCxnSpPr>
          <p:spPr bwMode="auto">
            <a:xfrm>
              <a:off x="6491537" y="4868739"/>
              <a:ext cx="131605" cy="0"/>
            </a:xfrm>
            <a:prstGeom prst="line">
              <a:avLst/>
            </a:prstGeom>
            <a:noFill/>
            <a:ln w="6350" algn="ctr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A662D806-A251-B07C-B44C-AFA7FFBE7536}"/>
                </a:ext>
              </a:extLst>
            </p:cNvPr>
            <p:cNvGrpSpPr/>
            <p:nvPr/>
          </p:nvGrpSpPr>
          <p:grpSpPr>
            <a:xfrm>
              <a:off x="6623142" y="4611175"/>
              <a:ext cx="1266872" cy="513923"/>
              <a:chOff x="6673944" y="2990416"/>
              <a:chExt cx="1266872" cy="513923"/>
            </a:xfrm>
          </p:grpSpPr>
          <p:sp>
            <p:nvSpPr>
              <p:cNvPr id="67" name="직사각형 178">
                <a:extLst>
                  <a:ext uri="{FF2B5EF4-FFF2-40B4-BE49-F238E27FC236}">
                    <a16:creationId xmlns:a16="http://schemas.microsoft.com/office/drawing/2014/main" id="{4CFA0688-7EAC-B43E-EF80-5A396201553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673944" y="2991621"/>
                <a:ext cx="1266872" cy="512718"/>
              </a:xfrm>
              <a:prstGeom prst="rect">
                <a:avLst/>
              </a:prstGeom>
              <a:solidFill>
                <a:sysClr val="window" lastClr="FFFFF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/>
                <a:tailEnd/>
              </a:ln>
            </p:spPr>
            <p:txBody>
              <a:bodyPr lIns="90000" tIns="46800" rIns="54000" bIns="46800" anchor="ctr"/>
              <a:lstStyle/>
              <a:p>
                <a:pPr algn="ctr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>
                    <a:prstClr val="black"/>
                  </a:buClr>
                  <a:buSzPts val="1300"/>
                </a:pPr>
                <a:r>
                  <a:rPr lang="ko-KR" altLang="en-US" sz="1200" kern="0" dirty="0">
                    <a:solidFill>
                      <a:srgbClr val="1F1F1F"/>
                    </a:solidFill>
                    <a:latin typeface="+mn-ea"/>
                    <a:cs typeface="Arial" pitchFamily="34" charset="0"/>
                  </a:rPr>
                  <a:t>운영방안 마련</a:t>
                </a:r>
              </a:p>
            </p:txBody>
          </p:sp>
          <p:sp>
            <p:nvSpPr>
              <p:cNvPr id="75" name="Rectangle 20">
                <a:extLst>
                  <a:ext uri="{FF2B5EF4-FFF2-40B4-BE49-F238E27FC236}">
                    <a16:creationId xmlns:a16="http://schemas.microsoft.com/office/drawing/2014/main" id="{8D9C5939-EBAF-0BD8-85E2-3D762B9636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5637" y="2990416"/>
                <a:ext cx="226800" cy="212181"/>
              </a:xfrm>
              <a:prstGeom prst="rect">
                <a:avLst/>
              </a:prstGeom>
              <a:noFill/>
              <a:ln w="6350" algn="ctr">
                <a:noFill/>
                <a:miter lim="800000"/>
                <a:headEnd/>
                <a:tailEnd/>
              </a:ln>
              <a:effectLst/>
            </p:spPr>
            <p:txBody>
              <a:bodyPr wrap="none" lIns="3600" tIns="46800" rIns="3600" bIns="46800" anchor="ctr"/>
              <a:lstStyle/>
              <a:p>
                <a:pPr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1100" kern="0">
                    <a:solidFill>
                      <a:schemeClr val="accent1"/>
                    </a:solidFill>
                    <a:latin typeface="+mn-ea"/>
                  </a:rPr>
                  <a:t>S12</a:t>
                </a:r>
              </a:p>
            </p:txBody>
          </p:sp>
        </p:grpSp>
        <p:cxnSp>
          <p:nvCxnSpPr>
            <p:cNvPr id="87" name="꺾인 연결선 138">
              <a:extLst>
                <a:ext uri="{FF2B5EF4-FFF2-40B4-BE49-F238E27FC236}">
                  <a16:creationId xmlns:a16="http://schemas.microsoft.com/office/drawing/2014/main" id="{9F23979F-726A-F3F4-3BE8-B8B05913BA62}"/>
                </a:ext>
              </a:extLst>
            </p:cNvPr>
            <p:cNvCxnSpPr>
              <a:cxnSpLocks/>
              <a:stCxn id="22" idx="2"/>
              <a:endCxn id="57" idx="0"/>
            </p:cNvCxnSpPr>
            <p:nvPr/>
          </p:nvCxnSpPr>
          <p:spPr>
            <a:xfrm rot="5400000">
              <a:off x="4534443" y="3288722"/>
              <a:ext cx="1233166" cy="1414151"/>
            </a:xfrm>
            <a:prstGeom prst="bentConnector3">
              <a:avLst>
                <a:gd name="adj1" fmla="val 50000"/>
              </a:avLst>
            </a:prstGeom>
            <a:noFill/>
            <a:ln w="6350" algn="ctr">
              <a:solidFill>
                <a:schemeClr val="bg2">
                  <a:lumMod val="60000"/>
                  <a:lumOff val="40000"/>
                </a:schemeClr>
              </a:solidFill>
              <a:round/>
              <a:headEnd type="triangl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81124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73600" y="2308154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현황진단</a:t>
            </a: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/>
              <a:t>제도설계</a:t>
            </a:r>
            <a:endParaRPr lang="en-US" altLang="ko-KR" dirty="0"/>
          </a:p>
          <a:p>
            <a:r>
              <a:rPr lang="ko-KR" altLang="en-US" dirty="0"/>
              <a:t>변화관리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92426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3BFB-D05B-FA80-5805-AA408739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오른쪽 화살표 50">
            <a:extLst>
              <a:ext uri="{FF2B5EF4-FFF2-40B4-BE49-F238E27FC236}">
                <a16:creationId xmlns:a16="http://schemas.microsoft.com/office/drawing/2014/main" id="{368A400E-9DD9-400F-E9B9-17901E62E198}"/>
              </a:ext>
            </a:extLst>
          </p:cNvPr>
          <p:cNvSpPr/>
          <p:nvPr/>
        </p:nvSpPr>
        <p:spPr bwMode="gray">
          <a:xfrm rot="5400000">
            <a:off x="2473544" y="1733029"/>
            <a:ext cx="2238299" cy="5835215"/>
          </a:xfrm>
          <a:prstGeom prst="rightArrow">
            <a:avLst>
              <a:gd name="adj1" fmla="val 100000"/>
              <a:gd name="adj2" fmla="val 23732"/>
            </a:avLst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1200" cap="none" spc="0" normalizeH="0" baseline="0" noProof="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2A79F7-DD18-C67F-CB8B-C0B289450ABF}"/>
              </a:ext>
            </a:extLst>
          </p:cNvPr>
          <p:cNvSpPr/>
          <p:nvPr/>
        </p:nvSpPr>
        <p:spPr bwMode="auto">
          <a:xfrm>
            <a:off x="273049" y="2423100"/>
            <a:ext cx="6624638" cy="3706238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rtlCol="0" anchor="ctr">
            <a:noAutofit/>
          </a:bodyPr>
          <a:lstStyle/>
          <a:p>
            <a:pPr algn="ctr" eaLnBrk="1" latinLnBrk="1" hangingPunct="1">
              <a:spcBef>
                <a:spcPct val="50000"/>
              </a:spcBef>
            </a:pPr>
            <a:endParaRPr kumimoji="0" lang="ko-KR" altLang="en-US" sz="1200" b="1" i="0" kern="0" spc="-100" dirty="0">
              <a:ln>
                <a:solidFill>
                  <a:schemeClr val="tx1">
                    <a:alpha val="500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A03D60B-0D2B-BB76-D8B8-4309636FD8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현황진단을 위하여 외부환경 분석</a:t>
            </a:r>
            <a:r>
              <a:rPr lang="en-US" altLang="ko-KR" dirty="0"/>
              <a:t>, </a:t>
            </a:r>
            <a:r>
              <a:rPr lang="ko-KR" altLang="en-US" dirty="0"/>
              <a:t>내부환경 분석</a:t>
            </a:r>
            <a:r>
              <a:rPr lang="en-US" altLang="ko-KR" dirty="0"/>
              <a:t>, EOS </a:t>
            </a:r>
            <a:r>
              <a:rPr lang="ko-KR" altLang="en-US" dirty="0"/>
              <a:t>및 인터뷰를 실시하였으며</a:t>
            </a:r>
            <a:r>
              <a:rPr lang="en-US" altLang="ko-KR" dirty="0"/>
              <a:t> </a:t>
            </a:r>
            <a:r>
              <a:rPr lang="ko-KR" altLang="en-US" dirty="0"/>
              <a:t>주요 활동 내역은</a:t>
            </a:r>
            <a:r>
              <a:rPr lang="en-US" altLang="ko-KR" dirty="0"/>
              <a:t> </a:t>
            </a:r>
            <a:r>
              <a:rPr lang="ko-KR" altLang="en-US" dirty="0"/>
              <a:t>다음과 같음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CEBB43-18E9-AEBA-78A7-9F9A899C8D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CB6C3F-F745-9F6F-6A25-BCB7EF32E5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현황진단</a:t>
            </a:r>
            <a:r>
              <a:rPr lang="ko-KR" altLang="en-US" dirty="0"/>
              <a:t> 개요 </a:t>
            </a:r>
          </a:p>
        </p:txBody>
      </p:sp>
      <p:sp>
        <p:nvSpPr>
          <p:cNvPr id="61" name="텍스트 개체 틀 60">
            <a:extLst>
              <a:ext uri="{FF2B5EF4-FFF2-40B4-BE49-F238E27FC236}">
                <a16:creationId xmlns:a16="http://schemas.microsoft.com/office/drawing/2014/main" id="{0A0D1F8F-D45C-A574-5BD4-F4144CB45E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24DABC-ACD6-2564-A4B3-1B47D05EA3C4}"/>
              </a:ext>
            </a:extLst>
          </p:cNvPr>
          <p:cNvSpPr/>
          <p:nvPr/>
        </p:nvSpPr>
        <p:spPr>
          <a:xfrm>
            <a:off x="281216" y="1636743"/>
            <a:ext cx="9351734" cy="26794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rPr>
              <a:t>개요 및 주요 활동 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4E06C3F-CCE5-A0EC-42BB-8395E7CA3957}"/>
              </a:ext>
            </a:extLst>
          </p:cNvPr>
          <p:cNvCxnSpPr/>
          <p:nvPr/>
        </p:nvCxnSpPr>
        <p:spPr>
          <a:xfrm>
            <a:off x="281215" y="1952346"/>
            <a:ext cx="9359262" cy="2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9">
            <a:extLst>
              <a:ext uri="{FF2B5EF4-FFF2-40B4-BE49-F238E27FC236}">
                <a16:creationId xmlns:a16="http://schemas.microsoft.com/office/drawing/2014/main" id="{40686BF3-9AAC-CD86-3BFF-517F573D6A7E}"/>
              </a:ext>
            </a:extLst>
          </p:cNvPr>
          <p:cNvSpPr/>
          <p:nvPr/>
        </p:nvSpPr>
        <p:spPr>
          <a:xfrm>
            <a:off x="965595" y="5776097"/>
            <a:ext cx="4924362" cy="384998"/>
          </a:xfrm>
          <a:prstGeom prst="roundRect">
            <a:avLst>
              <a:gd name="adj" fmla="val 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dirty="0">
                <a:solidFill>
                  <a:schemeClr val="tx2"/>
                </a:solidFill>
                <a:latin typeface="+mj-ea"/>
                <a:ea typeface="+mj-ea"/>
              </a:rPr>
              <a:t>“</a:t>
            </a:r>
            <a:r>
              <a:rPr lang="ko-KR" altLang="en-US" sz="1300" b="1" dirty="0">
                <a:solidFill>
                  <a:schemeClr val="tx2"/>
                </a:solidFill>
                <a:latin typeface="+mj-ea"/>
                <a:ea typeface="+mj-ea"/>
              </a:rPr>
              <a:t>㈜</a:t>
            </a:r>
            <a:r>
              <a:rPr lang="ko-KR" altLang="en-US" sz="1300" b="1" dirty="0" err="1">
                <a:solidFill>
                  <a:schemeClr val="tx2"/>
                </a:solidFill>
                <a:latin typeface="+mj-ea"/>
                <a:ea typeface="+mj-ea"/>
              </a:rPr>
              <a:t>베이시스소프트의</a:t>
            </a:r>
            <a:r>
              <a:rPr lang="ko-KR" altLang="en-US" sz="1300" b="1" dirty="0">
                <a:solidFill>
                  <a:schemeClr val="tx2"/>
                </a:solidFill>
                <a:latin typeface="+mj-ea"/>
                <a:ea typeface="+mj-ea"/>
              </a:rPr>
              <a:t> 일터혁신 수준별 제도설계방향 수립</a:t>
            </a:r>
            <a:r>
              <a:rPr lang="en-US" altLang="ko-KR" sz="1300" b="1" dirty="0">
                <a:solidFill>
                  <a:schemeClr val="tx2"/>
                </a:solidFill>
                <a:latin typeface="+mj-ea"/>
                <a:ea typeface="+mj-ea"/>
              </a:rPr>
              <a:t>”</a:t>
            </a:r>
            <a:endParaRPr lang="ko-KR" altLang="en-US" sz="13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24D23F5-A318-4344-110E-B0F11A61FC11}"/>
              </a:ext>
            </a:extLst>
          </p:cNvPr>
          <p:cNvGrpSpPr/>
          <p:nvPr/>
        </p:nvGrpSpPr>
        <p:grpSpPr>
          <a:xfrm>
            <a:off x="409303" y="2165585"/>
            <a:ext cx="1213339" cy="200055"/>
            <a:chOff x="439199" y="2256791"/>
            <a:chExt cx="1213339" cy="20005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9A9009F-BBCA-7205-45A5-8247BC210D4B}"/>
                </a:ext>
              </a:extLst>
            </p:cNvPr>
            <p:cNvSpPr/>
            <p:nvPr/>
          </p:nvSpPr>
          <p:spPr>
            <a:xfrm>
              <a:off x="592508" y="2256791"/>
              <a:ext cx="1060030" cy="200055"/>
            </a:xfrm>
            <a:prstGeom prst="rect">
              <a:avLst/>
            </a:prstGeom>
          </p:spPr>
          <p:txBody>
            <a:bodyPr wrap="non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kumimoji="0" lang="ko-KR" altLang="en-US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현황진단 개요</a:t>
              </a:r>
            </a:p>
          </p:txBody>
        </p:sp>
        <p:sp>
          <p:nvSpPr>
            <p:cNvPr id="31" name="순서도: 연결자 30">
              <a:extLst>
                <a:ext uri="{FF2B5EF4-FFF2-40B4-BE49-F238E27FC236}">
                  <a16:creationId xmlns:a16="http://schemas.microsoft.com/office/drawing/2014/main" id="{26C9CCF1-37DD-48B8-1828-9BA8049B58E0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F38137E-C3B9-316C-5F6B-9CCB69F7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187519"/>
              </p:ext>
            </p:extLst>
          </p:nvPr>
        </p:nvGraphicFramePr>
        <p:xfrm>
          <a:off x="7023790" y="2433638"/>
          <a:ext cx="2616687" cy="3713162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596210">
                  <a:extLst>
                    <a:ext uri="{9D8B030D-6E8A-4147-A177-3AD203B41FA5}">
                      <a16:colId xmlns:a16="http://schemas.microsoft.com/office/drawing/2014/main" val="1960718997"/>
                    </a:ext>
                  </a:extLst>
                </a:gridCol>
                <a:gridCol w="2020477">
                  <a:extLst>
                    <a:ext uri="{9D8B030D-6E8A-4147-A177-3AD203B41FA5}">
                      <a16:colId xmlns:a16="http://schemas.microsoft.com/office/drawing/2014/main" val="2421697999"/>
                    </a:ext>
                  </a:extLst>
                </a:gridCol>
              </a:tblGrid>
              <a:tr h="16814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EOS</a:t>
                      </a:r>
                      <a:endParaRPr lang="ko-KR" altLang="en-US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:7/3~7/8</a:t>
                      </a:r>
                    </a:p>
                    <a:p>
                      <a:pPr marL="7200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진행방식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On-line Survey</a:t>
                      </a:r>
                    </a:p>
                    <a:p>
                      <a:pPr marL="7200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대상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 직원</a:t>
                      </a:r>
                    </a:p>
                    <a:p>
                      <a:pPr marL="7200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내용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일터혁신 각 분야별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4450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수준진단</a:t>
                      </a:r>
                    </a:p>
                  </a:txBody>
                  <a:tcPr marL="72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291696"/>
                  </a:ext>
                </a:extLst>
              </a:tr>
              <a:tr h="203170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7/2, 7/3, 7/8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200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진행방식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1:1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인터뷰</a:t>
                      </a:r>
                    </a:p>
                    <a:p>
                      <a:pPr marL="7200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대상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임직원 및 인사담당자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주요 내용 및 목적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컨설팅 이해관계자 의견 청취 및 심화 검토</a:t>
                      </a:r>
                      <a:b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세부 의견수렴을 통한 개선방향 도출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453278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D3479C7C-973A-2700-3A91-9909D5208D44}"/>
              </a:ext>
            </a:extLst>
          </p:cNvPr>
          <p:cNvGrpSpPr/>
          <p:nvPr/>
        </p:nvGrpSpPr>
        <p:grpSpPr>
          <a:xfrm>
            <a:off x="7089825" y="2165585"/>
            <a:ext cx="1250207" cy="200055"/>
            <a:chOff x="439199" y="2256791"/>
            <a:chExt cx="1250207" cy="200055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0EB5168-F6FA-7C48-C288-DD4076B07D8A}"/>
                </a:ext>
              </a:extLst>
            </p:cNvPr>
            <p:cNvSpPr/>
            <p:nvPr/>
          </p:nvSpPr>
          <p:spPr>
            <a:xfrm>
              <a:off x="592508" y="2256791"/>
              <a:ext cx="1096898" cy="200055"/>
            </a:xfrm>
            <a:prstGeom prst="rect">
              <a:avLst/>
            </a:prstGeom>
          </p:spPr>
          <p:txBody>
            <a:bodyPr wrap="non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kumimoji="0" lang="ko-KR" altLang="en-US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주요 활동 경과</a:t>
              </a:r>
            </a:p>
          </p:txBody>
        </p:sp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63C51F53-00A5-9963-B977-8E0A350C5E30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132176-1A45-5001-CB74-8E90AC3342CC}"/>
              </a:ext>
            </a:extLst>
          </p:cNvPr>
          <p:cNvSpPr/>
          <p:nvPr/>
        </p:nvSpPr>
        <p:spPr>
          <a:xfrm>
            <a:off x="439776" y="2576013"/>
            <a:ext cx="2988000" cy="3240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일터혁신 조직역량 진단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E2B110-9C6E-546E-210B-6C1B8E6179A9}"/>
              </a:ext>
            </a:extLst>
          </p:cNvPr>
          <p:cNvSpPr/>
          <p:nvPr/>
        </p:nvSpPr>
        <p:spPr>
          <a:xfrm>
            <a:off x="3791896" y="2576013"/>
            <a:ext cx="1791482" cy="3240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제도수준 진단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650E69B-1D68-8108-1717-A214A23F9FB0}"/>
              </a:ext>
            </a:extLst>
          </p:cNvPr>
          <p:cNvSpPr/>
          <p:nvPr/>
        </p:nvSpPr>
        <p:spPr>
          <a:xfrm>
            <a:off x="441277" y="3185713"/>
            <a:ext cx="1440000" cy="23270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lIns="36000" tIns="0" rIns="0" bIns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50" b="1" kern="0" dirty="0">
                <a:solidFill>
                  <a:prstClr val="black"/>
                </a:solidFill>
                <a:latin typeface="+mn-ea"/>
              </a:rPr>
              <a:t>환경분석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A1D81C-00CF-8B88-11F1-AB5819916688}"/>
              </a:ext>
            </a:extLst>
          </p:cNvPr>
          <p:cNvSpPr/>
          <p:nvPr/>
        </p:nvSpPr>
        <p:spPr>
          <a:xfrm>
            <a:off x="1975795" y="3185713"/>
            <a:ext cx="1440000" cy="22335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lIns="36000" tIns="0" rIns="0" bIns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50" b="1" kern="0" dirty="0">
                <a:solidFill>
                  <a:prstClr val="black"/>
                </a:solidFill>
                <a:latin typeface="+mn-ea"/>
              </a:rPr>
              <a:t>역량분석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54831D5-1525-C8A7-B246-3B5A35B09F8D}"/>
              </a:ext>
            </a:extLst>
          </p:cNvPr>
          <p:cNvSpPr/>
          <p:nvPr/>
        </p:nvSpPr>
        <p:spPr bwMode="auto">
          <a:xfrm>
            <a:off x="1975795" y="3409066"/>
            <a:ext cx="1440000" cy="1296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72000" indent="-72000" fontAlgn="ctr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dirty="0"/>
              <a:t>인력구조 및 노사관계</a:t>
            </a:r>
            <a:endParaRPr lang="en-US" altLang="ko-KR" sz="1100" dirty="0"/>
          </a:p>
          <a:p>
            <a:pPr marL="72000" indent="-72000" fontAlgn="ctr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dirty="0"/>
              <a:t>참여와 혁신 활동</a:t>
            </a:r>
            <a:endParaRPr lang="en-US" altLang="ko-KR" sz="1100" dirty="0"/>
          </a:p>
          <a:p>
            <a:pPr marL="72000" indent="-72000" fontAlgn="ctr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dirty="0"/>
              <a:t>인적자원관리 역량</a:t>
            </a:r>
            <a:endParaRPr lang="en-US" altLang="ko-KR" sz="11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5F44882-6B65-45F5-2489-03929C8CAAEC}"/>
              </a:ext>
            </a:extLst>
          </p:cNvPr>
          <p:cNvSpPr/>
          <p:nvPr/>
        </p:nvSpPr>
        <p:spPr>
          <a:xfrm>
            <a:off x="3792311" y="2971858"/>
            <a:ext cx="82696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lIns="36000" tIns="0" rIns="0" bIns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50" b="1" kern="0" dirty="0">
                <a:solidFill>
                  <a:prstClr val="black"/>
                </a:solidFill>
                <a:latin typeface="+mn-ea"/>
              </a:rPr>
              <a:t>사전진단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48C0CB-6564-4734-6D45-9F40C3025409}"/>
              </a:ext>
            </a:extLst>
          </p:cNvPr>
          <p:cNvSpPr/>
          <p:nvPr/>
        </p:nvSpPr>
        <p:spPr>
          <a:xfrm>
            <a:off x="5709482" y="2971858"/>
            <a:ext cx="1054759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lIns="36000" tIns="0" rIns="0" bIns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50" b="1" kern="0" dirty="0">
                <a:solidFill>
                  <a:prstClr val="black"/>
                </a:solidFill>
                <a:latin typeface="+mn-ea"/>
              </a:rPr>
              <a:t>요구분석</a:t>
            </a:r>
            <a:endParaRPr kumimoji="1" lang="en-US" altLang="ko-KR" sz="1050" b="1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73F1B8-5890-285D-E574-838F454D154D}"/>
              </a:ext>
            </a:extLst>
          </p:cNvPr>
          <p:cNvSpPr/>
          <p:nvPr/>
        </p:nvSpPr>
        <p:spPr bwMode="auto">
          <a:xfrm>
            <a:off x="3790377" y="3409066"/>
            <a:ext cx="1783728" cy="1296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72000" indent="-72000" fontAlgn="ctr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100" dirty="0"/>
              <a:t>HRM/HRD</a:t>
            </a:r>
          </a:p>
          <a:p>
            <a:pPr marL="72000" indent="-72000" fontAlgn="ctr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dirty="0"/>
              <a:t>작업조직</a:t>
            </a:r>
            <a:r>
              <a:rPr lang="en-US" altLang="ko-KR" sz="1100" dirty="0"/>
              <a:t>/</a:t>
            </a:r>
            <a:r>
              <a:rPr lang="ko-KR" altLang="en-US" sz="1100" dirty="0"/>
              <a:t>근무환경</a:t>
            </a:r>
          </a:p>
          <a:p>
            <a:pPr marL="72000" indent="-72000" fontAlgn="ctr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dirty="0"/>
              <a:t>고용문화</a:t>
            </a:r>
            <a:r>
              <a:rPr lang="en-US" altLang="ko-KR" sz="1100" dirty="0"/>
              <a:t>/</a:t>
            </a:r>
            <a:r>
              <a:rPr lang="ko-KR" altLang="en-US" sz="1100" dirty="0"/>
              <a:t>고용안정</a:t>
            </a:r>
            <a:endParaRPr lang="en-US" altLang="ko-KR" sz="1100" dirty="0"/>
          </a:p>
          <a:p>
            <a:pPr marL="72000" indent="-72000" fontAlgn="ctr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dirty="0"/>
              <a:t>노사관계</a:t>
            </a:r>
            <a:endParaRPr lang="en-US" altLang="ko-KR" sz="11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90B072-F73A-3F31-6AD0-53DB3C223DD0}"/>
              </a:ext>
            </a:extLst>
          </p:cNvPr>
          <p:cNvSpPr/>
          <p:nvPr/>
        </p:nvSpPr>
        <p:spPr bwMode="auto">
          <a:xfrm>
            <a:off x="5709483" y="3409066"/>
            <a:ext cx="1052825" cy="1296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72000" indent="-72000" fontAlgn="ctr" latinLnBrk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dirty="0"/>
              <a:t>설문조사</a:t>
            </a:r>
            <a:endParaRPr lang="en-US" altLang="ko-KR" sz="1100" dirty="0"/>
          </a:p>
          <a:p>
            <a:pPr marL="72000" indent="-72000" fontAlgn="ctr" latinLnBrk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dirty="0"/>
              <a:t>인터뷰</a:t>
            </a: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B8531394-4C87-D765-84E3-24E7C89C6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637086"/>
              </p:ext>
            </p:extLst>
          </p:nvPr>
        </p:nvGraphicFramePr>
        <p:xfrm>
          <a:off x="441277" y="3409066"/>
          <a:ext cx="1440000" cy="9767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3346106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755118218"/>
                    </a:ext>
                  </a:extLst>
                </a:gridCol>
              </a:tblGrid>
              <a:tr h="4883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정치</a:t>
                      </a:r>
                    </a:p>
                  </a:txBody>
                  <a:tcPr marL="91411" marR="91411" marT="45705" marB="4570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경제</a:t>
                      </a:r>
                    </a:p>
                  </a:txBody>
                  <a:tcPr marL="91411" marR="91411" marT="45705" marB="4570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41157"/>
                  </a:ext>
                </a:extLst>
              </a:tr>
              <a:tr h="4883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사회</a:t>
                      </a:r>
                    </a:p>
                  </a:txBody>
                  <a:tcPr marL="91411" marR="91411" marT="45705" marB="4570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</a:t>
                      </a:r>
                    </a:p>
                  </a:txBody>
                  <a:tcPr marL="91411" marR="91411" marT="45705" marB="4570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21765"/>
                  </a:ext>
                </a:extLst>
              </a:tr>
            </a:tbl>
          </a:graphicData>
        </a:graphic>
      </p:graphicFrame>
      <p:sp>
        <p:nvSpPr>
          <p:cNvPr id="21" name="Oval 7">
            <a:extLst>
              <a:ext uri="{FF2B5EF4-FFF2-40B4-BE49-F238E27FC236}">
                <a16:creationId xmlns:a16="http://schemas.microsoft.com/office/drawing/2014/main" id="{348F2274-5D55-CA14-E487-E74D78366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232" y="3612152"/>
            <a:ext cx="457205" cy="466276"/>
          </a:xfrm>
          <a:prstGeom prst="ellipse">
            <a:avLst/>
          </a:prstGeom>
          <a:solidFill>
            <a:schemeClr val="bg1"/>
          </a:solidFill>
          <a:ln w="47625">
            <a:solidFill>
              <a:schemeClr val="accent1">
                <a:alpha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tx1"/>
                </a:solidFill>
              </a:rPr>
              <a:t>PEST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FA9DA62-BB09-3C2B-1817-89D565CFCF0A}"/>
              </a:ext>
            </a:extLst>
          </p:cNvPr>
          <p:cNvSpPr/>
          <p:nvPr/>
        </p:nvSpPr>
        <p:spPr>
          <a:xfrm>
            <a:off x="1342670" y="4798020"/>
            <a:ext cx="4485396" cy="2821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현황진단 시사점을 종합하여 일터혁신 수준 진단 및 우선해결과제 도출</a:t>
            </a:r>
          </a:p>
        </p:txBody>
      </p:sp>
      <p:sp>
        <p:nvSpPr>
          <p:cNvPr id="58" name="더하기 기호 57">
            <a:extLst>
              <a:ext uri="{FF2B5EF4-FFF2-40B4-BE49-F238E27FC236}">
                <a16:creationId xmlns:a16="http://schemas.microsoft.com/office/drawing/2014/main" id="{E03CCC82-DE48-AAA3-7EEE-DEADDAA3C3BF}"/>
              </a:ext>
            </a:extLst>
          </p:cNvPr>
          <p:cNvSpPr/>
          <p:nvPr/>
        </p:nvSpPr>
        <p:spPr bwMode="gray">
          <a:xfrm>
            <a:off x="3493458" y="3945890"/>
            <a:ext cx="219256" cy="219256"/>
          </a:xfrm>
          <a:prstGeom prst="mathPlus">
            <a:avLst>
              <a:gd name="adj1" fmla="val 1700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0424FA2-F67E-4826-E45F-7AEC23F4E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607466"/>
              </p:ext>
            </p:extLst>
          </p:nvPr>
        </p:nvGraphicFramePr>
        <p:xfrm>
          <a:off x="1855283" y="5094799"/>
          <a:ext cx="3474820" cy="31443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868705">
                  <a:extLst>
                    <a:ext uri="{9D8B030D-6E8A-4147-A177-3AD203B41FA5}">
                      <a16:colId xmlns:a16="http://schemas.microsoft.com/office/drawing/2014/main" val="1216591892"/>
                    </a:ext>
                  </a:extLst>
                </a:gridCol>
                <a:gridCol w="868705">
                  <a:extLst>
                    <a:ext uri="{9D8B030D-6E8A-4147-A177-3AD203B41FA5}">
                      <a16:colId xmlns:a16="http://schemas.microsoft.com/office/drawing/2014/main" val="3521835817"/>
                    </a:ext>
                  </a:extLst>
                </a:gridCol>
                <a:gridCol w="868705">
                  <a:extLst>
                    <a:ext uri="{9D8B030D-6E8A-4147-A177-3AD203B41FA5}">
                      <a16:colId xmlns:a16="http://schemas.microsoft.com/office/drawing/2014/main" val="2262147050"/>
                    </a:ext>
                  </a:extLst>
                </a:gridCol>
                <a:gridCol w="868705">
                  <a:extLst>
                    <a:ext uri="{9D8B030D-6E8A-4147-A177-3AD203B41FA5}">
                      <a16:colId xmlns:a16="http://schemas.microsoft.com/office/drawing/2014/main" val="2002281094"/>
                    </a:ext>
                  </a:extLst>
                </a:gridCol>
              </a:tblGrid>
              <a:tr h="1572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Level 1</a:t>
                      </a:r>
                    </a:p>
                  </a:txBody>
                  <a:tcPr marL="9525" marR="9525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Level 2</a:t>
                      </a:r>
                    </a:p>
                  </a:txBody>
                  <a:tcPr marL="9525" marR="9525" marT="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Level 3</a:t>
                      </a:r>
                    </a:p>
                  </a:txBody>
                  <a:tcPr marL="9525" marR="9525" marT="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Level 4</a:t>
                      </a:r>
                    </a:p>
                  </a:txBody>
                  <a:tcPr marL="9525" marR="9525" marT="0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874220"/>
                  </a:ext>
                </a:extLst>
              </a:tr>
              <a:tr h="157219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혁신토대마련</a:t>
                      </a:r>
                    </a:p>
                  </a:txBody>
                  <a:tcPr marL="36000" marR="3600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성장기반확보</a:t>
                      </a:r>
                    </a:p>
                  </a:txBody>
                  <a:tcPr marL="36000" marR="360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9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변화기반확보</a:t>
                      </a:r>
                    </a:p>
                  </a:txBody>
                  <a:tcPr marL="36000" marR="360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9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유연화추구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36000" marR="3600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6116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BA3F80D-DE3A-409E-DDD7-2B7A70BF9D49}"/>
              </a:ext>
            </a:extLst>
          </p:cNvPr>
          <p:cNvSpPr/>
          <p:nvPr/>
        </p:nvSpPr>
        <p:spPr>
          <a:xfrm>
            <a:off x="5709481" y="2576013"/>
            <a:ext cx="1062825" cy="3240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+mj-ea"/>
                <a:ea typeface="+mj-ea"/>
              </a:rPr>
              <a:t>요구분석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AC2E46-2667-D3A0-12FB-AC8861494328}"/>
              </a:ext>
            </a:extLst>
          </p:cNvPr>
          <p:cNvSpPr/>
          <p:nvPr/>
        </p:nvSpPr>
        <p:spPr>
          <a:xfrm>
            <a:off x="4745373" y="2971858"/>
            <a:ext cx="830662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lIns="36000" tIns="0" rIns="0" bIns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50" b="1" kern="0" dirty="0">
                <a:solidFill>
                  <a:prstClr val="black"/>
                </a:solidFill>
                <a:latin typeface="+mn-ea"/>
              </a:rPr>
              <a:t>제도분석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7DC5330-7836-18BF-CA93-2EDC3BF22353}"/>
              </a:ext>
            </a:extLst>
          </p:cNvPr>
          <p:cNvSpPr/>
          <p:nvPr/>
        </p:nvSpPr>
        <p:spPr bwMode="auto">
          <a:xfrm>
            <a:off x="439776" y="4424459"/>
            <a:ext cx="1440000" cy="30244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72000" indent="-72000" fontAlgn="ctr">
              <a:lnSpc>
                <a:spcPts val="8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100" dirty="0"/>
              <a:t>일반현황</a:t>
            </a:r>
            <a:r>
              <a:rPr lang="en-US" altLang="ko-KR" sz="1100" dirty="0"/>
              <a:t>/</a:t>
            </a:r>
            <a:r>
              <a:rPr lang="ko-KR" altLang="en-US" sz="1100" dirty="0"/>
              <a:t>경영성과</a:t>
            </a:r>
            <a:endParaRPr lang="en-US" altLang="ko-KR" sz="11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FD2DC5-DDCA-DDA9-3384-756134A70E72}"/>
              </a:ext>
            </a:extLst>
          </p:cNvPr>
          <p:cNvSpPr/>
          <p:nvPr/>
        </p:nvSpPr>
        <p:spPr>
          <a:xfrm>
            <a:off x="439776" y="2914670"/>
            <a:ext cx="1440000" cy="22853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혁신성과</a:t>
            </a:r>
            <a:endParaRPr lang="ko-KR" altLang="en-US" sz="105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2C2EC8-AEE4-BA56-4C68-C24040770265}"/>
              </a:ext>
            </a:extLst>
          </p:cNvPr>
          <p:cNvSpPr/>
          <p:nvPr/>
        </p:nvSpPr>
        <p:spPr>
          <a:xfrm>
            <a:off x="1972741" y="2914670"/>
            <a:ext cx="1440000" cy="22853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혁신기반</a:t>
            </a:r>
            <a:r>
              <a:rPr lang="en-US" altLang="ko-KR" sz="1050" dirty="0"/>
              <a:t>/</a:t>
            </a:r>
            <a:r>
              <a:rPr lang="ko-KR" altLang="en-US" sz="1050" dirty="0"/>
              <a:t>혁신역량</a:t>
            </a:r>
          </a:p>
        </p:txBody>
      </p:sp>
    </p:spTree>
    <p:extLst>
      <p:ext uri="{BB962C8B-B14F-4D97-AF65-F5344CB8AC3E}">
        <p14:creationId xmlns:p14="http://schemas.microsoft.com/office/powerpoint/2010/main" val="205986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73600" y="2308154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712913" y="1820415"/>
            <a:ext cx="7024687" cy="2401887"/>
          </a:xfrm>
        </p:spPr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현황진단 </a:t>
            </a:r>
            <a:r>
              <a:rPr lang="en-US" altLang="ko-KR" sz="1400" dirty="0">
                <a:solidFill>
                  <a:schemeClr val="bg1"/>
                </a:solidFill>
              </a:rPr>
              <a:t>[</a:t>
            </a:r>
            <a:r>
              <a:rPr lang="ko-KR" altLang="en-US" sz="1400" dirty="0">
                <a:solidFill>
                  <a:schemeClr val="bg1"/>
                </a:solidFill>
              </a:rPr>
              <a:t>조직진단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제도진단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요구분석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(EOS,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인터뷰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altLang="ko-KR" sz="1400" dirty="0">
                <a:solidFill>
                  <a:schemeClr val="bg1"/>
                </a:solidFill>
              </a:rPr>
              <a:t>]</a:t>
            </a:r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/>
              <a:t>제도설계</a:t>
            </a:r>
            <a:endParaRPr lang="en-US" altLang="ko-KR" dirty="0"/>
          </a:p>
          <a:p>
            <a:r>
              <a:rPr lang="ko-KR" altLang="en-US" dirty="0"/>
              <a:t>변화관리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58724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666410"/>
          </a:xfrm>
        </p:spPr>
        <p:txBody>
          <a:bodyPr/>
          <a:lstStyle/>
          <a:p>
            <a:r>
              <a:rPr lang="ko-KR" altLang="en-US" dirty="0"/>
              <a:t>국토교통부는 스마트건설 활성화의 일환으로 건설산업 디지털화를 추진하며</a:t>
            </a:r>
            <a:r>
              <a:rPr lang="en-US" altLang="ko-KR" dirty="0"/>
              <a:t>, </a:t>
            </a:r>
            <a:r>
              <a:rPr lang="ko-KR" altLang="en-US" dirty="0"/>
              <a:t>공공건설에 </a:t>
            </a:r>
            <a:r>
              <a:rPr lang="en-US" altLang="ko-KR" dirty="0"/>
              <a:t>BIM </a:t>
            </a:r>
            <a:r>
              <a:rPr lang="ko-KR" altLang="en-US" dirty="0"/>
              <a:t>기술 의무 도입을 통해 설계 품질</a:t>
            </a:r>
            <a:r>
              <a:rPr lang="en-US" altLang="ko-KR" dirty="0"/>
              <a:t>, </a:t>
            </a:r>
            <a:r>
              <a:rPr lang="ko-KR" altLang="en-US" dirty="0"/>
              <a:t>예산 투명성</a:t>
            </a:r>
            <a:r>
              <a:rPr lang="en-US" altLang="ko-KR" dirty="0"/>
              <a:t>, </a:t>
            </a:r>
            <a:r>
              <a:rPr lang="ko-KR" altLang="en-US" dirty="0"/>
              <a:t>시공 효율성 및 안전성 강화 본격화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외부환경분석 </a:t>
            </a:r>
            <a:r>
              <a:rPr lang="en-US" altLang="ko-KR" dirty="0"/>
              <a:t>&gt; </a:t>
            </a:r>
            <a:r>
              <a:rPr lang="ko-KR" altLang="en-US" dirty="0"/>
              <a:t>정책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2677B8-671F-17A5-32B6-865CD02B8F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50" y="6326309"/>
            <a:ext cx="4535487" cy="142179"/>
          </a:xfrm>
        </p:spPr>
        <p:txBody>
          <a:bodyPr/>
          <a:lstStyle/>
          <a:p>
            <a:r>
              <a:rPr lang="ko-KR" altLang="en-US" dirty="0"/>
              <a:t>* 출처</a:t>
            </a:r>
            <a:r>
              <a:rPr lang="en-US" altLang="ko-KR" dirty="0"/>
              <a:t>: </a:t>
            </a:r>
            <a:r>
              <a:rPr lang="ko-KR" altLang="en-US" dirty="0"/>
              <a:t>스마트건설 활성화 방안</a:t>
            </a:r>
            <a:r>
              <a:rPr lang="en-US" altLang="ko-KR" dirty="0"/>
              <a:t>, </a:t>
            </a:r>
            <a:r>
              <a:rPr lang="ko-KR" altLang="en-US" dirty="0"/>
              <a:t>국토교통부</a:t>
            </a:r>
            <a:r>
              <a:rPr lang="en-US" altLang="ko-KR" dirty="0"/>
              <a:t>(22.07.20)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BC6210-B3AE-2FC8-2DAB-E3DF41C7524C}"/>
              </a:ext>
            </a:extLst>
          </p:cNvPr>
          <p:cNvSpPr/>
          <p:nvPr/>
        </p:nvSpPr>
        <p:spPr>
          <a:xfrm>
            <a:off x="273051" y="1628775"/>
            <a:ext cx="4535487" cy="323849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국토교통부 스마트건설 활성화 방안</a:t>
            </a:r>
            <a:r>
              <a:rPr lang="en-US" altLang="ko-KR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(22. 07. 20)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85E8EA3-EB71-5D59-47D2-BD1BD2282CE9}"/>
              </a:ext>
            </a:extLst>
          </p:cNvPr>
          <p:cNvGrpSpPr/>
          <p:nvPr/>
        </p:nvGrpSpPr>
        <p:grpSpPr>
          <a:xfrm>
            <a:off x="310971" y="2060575"/>
            <a:ext cx="4497568" cy="4068762"/>
            <a:chOff x="324498" y="3265224"/>
            <a:chExt cx="4464053" cy="3218130"/>
          </a:xfrm>
        </p:grpSpPr>
        <p:sp>
          <p:nvSpPr>
            <p:cNvPr id="9" name="모서리가 둥근 직사각형 79">
              <a:extLst>
                <a:ext uri="{FF2B5EF4-FFF2-40B4-BE49-F238E27FC236}">
                  <a16:creationId xmlns:a16="http://schemas.microsoft.com/office/drawing/2014/main" id="{54456569-BF45-BEC7-1EE8-22D531E803F0}"/>
                </a:ext>
              </a:extLst>
            </p:cNvPr>
            <p:cNvSpPr/>
            <p:nvPr/>
          </p:nvSpPr>
          <p:spPr>
            <a:xfrm>
              <a:off x="324498" y="3265224"/>
              <a:ext cx="4464053" cy="3218130"/>
            </a:xfrm>
            <a:prstGeom prst="roundRect">
              <a:avLst>
                <a:gd name="adj" fmla="val 5012"/>
              </a:avLst>
            </a:prstGeom>
            <a:solidFill>
              <a:schemeClr val="bg1">
                <a:lumMod val="95000"/>
              </a:schemeClr>
            </a:solidFill>
            <a:effectLst/>
          </p:spPr>
          <p:txBody>
            <a:bodyPr wrap="none" rtlCol="0" anchor="ctr">
              <a:noAutofit/>
            </a:bodyPr>
            <a:lstStyle/>
            <a:p>
              <a:pPr algn="r">
                <a:lnSpc>
                  <a:spcPct val="120000"/>
                </a:lnSpc>
              </a:pPr>
              <a:endParaRPr lang="ko-KR" altLang="en-US" sz="1000" kern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5C29693-99DC-DF11-6381-8573C15CA98F}"/>
                </a:ext>
              </a:extLst>
            </p:cNvPr>
            <p:cNvSpPr/>
            <p:nvPr/>
          </p:nvSpPr>
          <p:spPr>
            <a:xfrm>
              <a:off x="850907" y="3418750"/>
              <a:ext cx="3891554" cy="370146"/>
            </a:xfrm>
            <a:prstGeom prst="roundRect">
              <a:avLst>
                <a:gd name="adj" fmla="val 19801"/>
              </a:avLst>
            </a:prstGeom>
            <a:solidFill>
              <a:schemeClr val="bg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rtlCol="0" anchor="ctr"/>
            <a:lstStyle/>
            <a:p>
              <a:pPr algn="ctr" fontAlgn="base">
                <a:spcBef>
                  <a:spcPct val="0"/>
                </a:spcBef>
                <a:buSzPct val="80000"/>
              </a:pPr>
              <a:r>
                <a:rPr lang="ko-KR" altLang="en-US" sz="1050" dirty="0"/>
                <a:t>디지털 기반으로 전환하여 글로벌 건설시장 선도</a:t>
              </a:r>
            </a:p>
          </p:txBody>
        </p:sp>
        <p:sp>
          <p:nvSpPr>
            <p:cNvPr id="12" name="모서리가 둥근 직사각형 95">
              <a:extLst>
                <a:ext uri="{FF2B5EF4-FFF2-40B4-BE49-F238E27FC236}">
                  <a16:creationId xmlns:a16="http://schemas.microsoft.com/office/drawing/2014/main" id="{0AD7C088-4CA0-B5B2-2DA6-AE26499DB62C}"/>
                </a:ext>
              </a:extLst>
            </p:cNvPr>
            <p:cNvSpPr>
              <a:spLocks/>
            </p:cNvSpPr>
            <p:nvPr/>
          </p:nvSpPr>
          <p:spPr>
            <a:xfrm>
              <a:off x="368806" y="3404793"/>
              <a:ext cx="440351" cy="370146"/>
            </a:xfrm>
            <a:prstGeom prst="roundRect">
              <a:avLst/>
            </a:prstGeom>
            <a:solidFill>
              <a:srgbClr val="1F3661"/>
            </a:solidFill>
            <a:ln w="6350" cap="flat" cmpd="sng" algn="ctr">
              <a:solidFill>
                <a:srgbClr val="212E55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ko-KR" altLang="en-US" sz="1000" b="1" dirty="0">
                  <a:solidFill>
                    <a:schemeClr val="bg1"/>
                  </a:solidFill>
                </a:rPr>
                <a:t>비전</a:t>
              </a:r>
            </a:p>
          </p:txBody>
        </p:sp>
        <p:sp>
          <p:nvSpPr>
            <p:cNvPr id="15" name="모서리가 둥근 직사각형 95">
              <a:extLst>
                <a:ext uri="{FF2B5EF4-FFF2-40B4-BE49-F238E27FC236}">
                  <a16:creationId xmlns:a16="http://schemas.microsoft.com/office/drawing/2014/main" id="{071487B4-70AD-3A50-0D03-8D52EC3E6A2E}"/>
                </a:ext>
              </a:extLst>
            </p:cNvPr>
            <p:cNvSpPr>
              <a:spLocks/>
            </p:cNvSpPr>
            <p:nvPr/>
          </p:nvSpPr>
          <p:spPr>
            <a:xfrm>
              <a:off x="368806" y="4252543"/>
              <a:ext cx="440351" cy="2164132"/>
            </a:xfrm>
            <a:prstGeom prst="roundRect">
              <a:avLst/>
            </a:prstGeom>
            <a:solidFill>
              <a:srgbClr val="1F3661"/>
            </a:solidFill>
            <a:ln w="6350" cap="flat" cmpd="sng" algn="ctr">
              <a:solidFill>
                <a:srgbClr val="212E55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ko-KR" altLang="en-US" sz="1000" b="1" dirty="0">
                  <a:solidFill>
                    <a:schemeClr val="bg1"/>
                  </a:solidFill>
                </a:rPr>
                <a:t>세부</a:t>
              </a:r>
              <a:endParaRPr lang="en-US" altLang="ko-KR" sz="1000" b="1" dirty="0">
                <a:solidFill>
                  <a:schemeClr val="bg1"/>
                </a:solidFill>
              </a:endParaRPr>
            </a:p>
            <a:p>
              <a:pPr algn="ctr" defTabSz="914400"/>
              <a:r>
                <a:rPr lang="ko-KR" altLang="en-US" sz="1000" b="1" dirty="0">
                  <a:solidFill>
                    <a:schemeClr val="bg1"/>
                  </a:solidFill>
                </a:rPr>
                <a:t>과제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8E86BA6-F41C-9194-0DF0-B59000540525}"/>
                </a:ext>
              </a:extLst>
            </p:cNvPr>
            <p:cNvSpPr/>
            <p:nvPr/>
          </p:nvSpPr>
          <p:spPr>
            <a:xfrm>
              <a:off x="850907" y="3842625"/>
              <a:ext cx="3891554" cy="370146"/>
            </a:xfrm>
            <a:prstGeom prst="roundRect">
              <a:avLst>
                <a:gd name="adj" fmla="val 19801"/>
              </a:avLst>
            </a:prstGeom>
            <a:solidFill>
              <a:schemeClr val="bg1"/>
            </a:solidFill>
            <a:ln w="1905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schemeClr val="tx1">
                  <a:lumMod val="50000"/>
                  <a:lumOff val="50000"/>
                  <a:alpha val="20000"/>
                </a:schemeClr>
              </a:outerShdw>
            </a:effectLst>
          </p:spPr>
          <p:txBody>
            <a:bodyPr tIns="0" rIns="90000" rtlCol="0" anchor="ctr"/>
            <a:lstStyle/>
            <a:p>
              <a:pPr algn="ctr" fontAlgn="base">
                <a:spcBef>
                  <a:spcPct val="0"/>
                </a:spcBef>
                <a:buSzPct val="80000"/>
              </a:pPr>
              <a:r>
                <a:rPr lang="en-US" altLang="ko-KR" sz="1050" dirty="0"/>
                <a:t>2030 </a:t>
              </a:r>
              <a:r>
                <a:rPr lang="ko-KR" altLang="en-US" sz="1050" dirty="0"/>
                <a:t>건설 전 과정 디지털화</a:t>
              </a:r>
              <a:r>
                <a:rPr lang="en-US" altLang="ko-KR" sz="1050" dirty="0"/>
                <a:t>·</a:t>
              </a:r>
              <a:r>
                <a:rPr lang="ko-KR" altLang="en-US" sz="1050" dirty="0"/>
                <a:t>자동화</a:t>
              </a:r>
            </a:p>
          </p:txBody>
        </p:sp>
        <p:sp>
          <p:nvSpPr>
            <p:cNvPr id="17" name="모서리가 둥근 직사각형 95">
              <a:extLst>
                <a:ext uri="{FF2B5EF4-FFF2-40B4-BE49-F238E27FC236}">
                  <a16:creationId xmlns:a16="http://schemas.microsoft.com/office/drawing/2014/main" id="{650E9967-A40C-42B0-4247-019975BD2786}"/>
                </a:ext>
              </a:extLst>
            </p:cNvPr>
            <p:cNvSpPr>
              <a:spLocks/>
            </p:cNvSpPr>
            <p:nvPr/>
          </p:nvSpPr>
          <p:spPr>
            <a:xfrm>
              <a:off x="368806" y="3828668"/>
              <a:ext cx="440351" cy="370146"/>
            </a:xfrm>
            <a:prstGeom prst="roundRect">
              <a:avLst/>
            </a:prstGeom>
            <a:solidFill>
              <a:srgbClr val="1F3661"/>
            </a:solidFill>
            <a:ln w="6350" cap="flat" cmpd="sng" algn="ctr">
              <a:solidFill>
                <a:srgbClr val="212E55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ko-KR" altLang="en-US" sz="1000" b="1" dirty="0">
                  <a:solidFill>
                    <a:schemeClr val="bg1"/>
                  </a:solidFill>
                </a:rPr>
                <a:t>목표</a:t>
              </a:r>
            </a:p>
          </p:txBody>
        </p:sp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43D6635-F6EC-6047-E163-642E39796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626437"/>
              </p:ext>
            </p:extLst>
          </p:nvPr>
        </p:nvGraphicFramePr>
        <p:xfrm>
          <a:off x="850906" y="3298136"/>
          <a:ext cx="3911197" cy="2746897"/>
        </p:xfrm>
        <a:graphic>
          <a:graphicData uri="http://schemas.openxmlformats.org/drawingml/2006/table">
            <a:tbl>
              <a:tblPr/>
              <a:tblGrid>
                <a:gridCol w="1290314">
                  <a:extLst>
                    <a:ext uri="{9D8B030D-6E8A-4147-A177-3AD203B41FA5}">
                      <a16:colId xmlns:a16="http://schemas.microsoft.com/office/drawing/2014/main" val="1938103402"/>
                    </a:ext>
                  </a:extLst>
                </a:gridCol>
                <a:gridCol w="2620883">
                  <a:extLst>
                    <a:ext uri="{9D8B030D-6E8A-4147-A177-3AD203B41FA5}">
                      <a16:colId xmlns:a16="http://schemas.microsoft.com/office/drawing/2014/main" val="1891070903"/>
                    </a:ext>
                  </a:extLst>
                </a:gridCol>
              </a:tblGrid>
              <a:tr h="29789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87879"/>
                  </a:ext>
                </a:extLst>
              </a:tr>
              <a:tr h="90243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05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건설산업 </a:t>
                      </a:r>
                      <a:br>
                        <a:rPr lang="ko-KR" altLang="en-US" sz="105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05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디지털화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전면 도입을 위한 제도 정비</a:t>
                      </a: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공공 중심으로 건설 전 과정 </a:t>
                      </a:r>
                      <a:r>
                        <a:rPr lang="en-US" altLang="ko-KR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도입</a:t>
                      </a: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전문인력 양성</a:t>
                      </a: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민간부문 확산을 위한 지원 강화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190949"/>
                  </a:ext>
                </a:extLst>
              </a:tr>
              <a:tr h="77328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생산시스템 선진화</a:t>
                      </a:r>
                      <a:b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인력</a:t>
                      </a:r>
                      <a:r>
                        <a:rPr lang="en-US" altLang="ko-KR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현장 → 장비</a:t>
                      </a:r>
                      <a:r>
                        <a:rPr lang="en-US" altLang="ko-KR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공장</a:t>
                      </a:r>
                      <a:r>
                        <a:rPr lang="en-US" altLang="ko-KR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건설기계 자동화 및 로봇 도입</a:t>
                      </a:r>
                      <a:r>
                        <a:rPr lang="en-US" altLang="ko-KR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인력→장비</a:t>
                      </a:r>
                      <a:r>
                        <a:rPr lang="en-US" altLang="ko-KR" sz="1000" kern="1200" spc="-1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탈현장</a:t>
                      </a: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건설</a:t>
                      </a:r>
                      <a:r>
                        <a:rPr lang="en-US" altLang="ko-KR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(OSC) </a:t>
                      </a: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활성화</a:t>
                      </a:r>
                      <a:r>
                        <a:rPr lang="en-US" altLang="ko-KR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현장→공장</a:t>
                      </a:r>
                      <a:r>
                        <a:rPr lang="en-US" altLang="ko-KR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스마트 안전장비 확산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661635"/>
                  </a:ext>
                </a:extLst>
              </a:tr>
              <a:tr h="77328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스마트건설 산업 육성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기업성장 지원</a:t>
                      </a: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 중심의 평가 강화</a:t>
                      </a: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민</a:t>
                      </a:r>
                      <a:r>
                        <a:rPr lang="en-US" altLang="ko-KR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 협력 강화 등 거버넌스 구축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659418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5A68CE87-FAC1-B243-3436-B602AC70F6FD}"/>
              </a:ext>
            </a:extLst>
          </p:cNvPr>
          <p:cNvSpPr/>
          <p:nvPr/>
        </p:nvSpPr>
        <p:spPr>
          <a:xfrm>
            <a:off x="5092802" y="1628775"/>
            <a:ext cx="4535487" cy="323849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공공건설에 </a:t>
            </a:r>
            <a:r>
              <a:rPr lang="en-US" altLang="ko-KR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BIM </a:t>
            </a:r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설계 의무화</a:t>
            </a:r>
            <a:endParaRPr lang="en-US" altLang="ko-KR" sz="1400" b="1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A0F399-F691-B56C-34C4-733A42B25F5D}"/>
              </a:ext>
            </a:extLst>
          </p:cNvPr>
          <p:cNvSpPr/>
          <p:nvPr/>
        </p:nvSpPr>
        <p:spPr>
          <a:xfrm>
            <a:off x="5092802" y="4346577"/>
            <a:ext cx="4540148" cy="178276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CECECE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171450" indent="-171450" fontAlgn="ctr" latinLnBrk="0">
              <a:lnSpc>
                <a:spcPts val="18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spc="-20" dirty="0"/>
              <a:t>서울시가 지자체 최초로 </a:t>
            </a:r>
            <a:r>
              <a:rPr lang="en-US" altLang="ko-KR" sz="1000" spc="-20" dirty="0"/>
              <a:t>2025</a:t>
            </a:r>
            <a:r>
              <a:rPr lang="ko-KR" altLang="en-US" sz="1000" spc="-20" dirty="0"/>
              <a:t>년부터 설계단계부터 </a:t>
            </a:r>
            <a:r>
              <a:rPr lang="en-US" altLang="ko-KR" sz="1000" spc="-20" dirty="0"/>
              <a:t>BIM </a:t>
            </a:r>
            <a:r>
              <a:rPr lang="ko-KR" altLang="en-US" sz="1000" spc="-20" dirty="0"/>
              <a:t>적용을 </a:t>
            </a:r>
            <a:r>
              <a:rPr lang="ko-KR" altLang="en-US" sz="1000" spc="-20" dirty="0" err="1"/>
              <a:t>필수화하여</a:t>
            </a:r>
            <a:r>
              <a:rPr lang="en-US" altLang="ko-KR" sz="1000" spc="-20" dirty="0"/>
              <a:t> </a:t>
            </a:r>
            <a:r>
              <a:rPr lang="ko-KR" altLang="en-US" sz="1000" dirty="0"/>
              <a:t>스마트건설 정책을 행정 전반에 도입함</a:t>
            </a:r>
            <a:endParaRPr lang="en-US" altLang="ko-KR" sz="1000" dirty="0"/>
          </a:p>
          <a:p>
            <a:pPr marL="171450" indent="-171450" fontAlgn="ctr" latinLnBrk="0">
              <a:lnSpc>
                <a:spcPts val="18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000" spc="-40" dirty="0"/>
              <a:t>BIM </a:t>
            </a:r>
            <a:r>
              <a:rPr lang="ko-KR" altLang="en-US" sz="1000" spc="-40" dirty="0"/>
              <a:t>의무화 범위는 점차 확대될 예정이며</a:t>
            </a:r>
            <a:r>
              <a:rPr lang="en-US" altLang="ko-KR" sz="1000" spc="-40" dirty="0"/>
              <a:t>, 2030</a:t>
            </a:r>
            <a:r>
              <a:rPr lang="ko-KR" altLang="en-US" sz="1000" spc="-40" dirty="0"/>
              <a:t>년까지 서울시 발주 공공사업 전체에 </a:t>
            </a:r>
            <a:r>
              <a:rPr lang="en-US" altLang="ko-KR" sz="1000" spc="-40" dirty="0"/>
              <a:t>BIM </a:t>
            </a:r>
            <a:r>
              <a:rPr lang="ko-KR" altLang="en-US" sz="1000" spc="-40" dirty="0"/>
              <a:t>도입을 목표로 설정</a:t>
            </a:r>
            <a:endParaRPr lang="en-US" altLang="ko-KR" sz="1000" spc="-40" dirty="0"/>
          </a:p>
          <a:p>
            <a:pPr marL="171450" indent="-171450" fontAlgn="ctr" latinLnBrk="0">
              <a:lnSpc>
                <a:spcPts val="18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spc="-60" dirty="0"/>
              <a:t>기존의 </a:t>
            </a:r>
            <a:r>
              <a:rPr lang="en-US" altLang="ko-KR" sz="1000" spc="-60" dirty="0"/>
              <a:t>2D </a:t>
            </a:r>
            <a:r>
              <a:rPr lang="ko-KR" altLang="en-US" sz="1000" spc="-60" dirty="0"/>
              <a:t>설계 방식은 설계 오류</a:t>
            </a:r>
            <a:r>
              <a:rPr lang="en-US" altLang="ko-KR" sz="1000" spc="-60" dirty="0"/>
              <a:t>, </a:t>
            </a:r>
            <a:r>
              <a:rPr lang="ko-KR" altLang="en-US" sz="1000" spc="-60" dirty="0"/>
              <a:t>공사 변경</a:t>
            </a:r>
            <a:r>
              <a:rPr lang="en-US" altLang="ko-KR" sz="1000" spc="-60" dirty="0"/>
              <a:t>, </a:t>
            </a:r>
            <a:r>
              <a:rPr lang="ko-KR" altLang="en-US" sz="1000" spc="-60" dirty="0"/>
              <a:t>예산 낭비 등 한계를 초래했으나</a:t>
            </a:r>
            <a:r>
              <a:rPr lang="en-US" altLang="ko-KR" sz="1000" spc="-60" dirty="0"/>
              <a:t>, </a:t>
            </a:r>
            <a:r>
              <a:rPr lang="en-US" altLang="ko-KR" sz="1000" dirty="0"/>
              <a:t>BIM</a:t>
            </a:r>
            <a:r>
              <a:rPr lang="ko-KR" altLang="en-US" sz="1000" dirty="0"/>
              <a:t>은 이를 사전 검토하고 시뮬레이션을 통해 최소화 가능하므로 설계 품질 향상</a:t>
            </a:r>
            <a:r>
              <a:rPr lang="en-US" altLang="ko-KR" sz="1000" dirty="0"/>
              <a:t>, </a:t>
            </a:r>
            <a:r>
              <a:rPr lang="ko-KR" altLang="en-US" sz="1000" dirty="0"/>
              <a:t>공정관리 효율화</a:t>
            </a:r>
            <a:r>
              <a:rPr lang="en-US" altLang="ko-KR" sz="1000" dirty="0"/>
              <a:t>, </a:t>
            </a:r>
            <a:r>
              <a:rPr lang="ko-KR" altLang="en-US" sz="1000" dirty="0"/>
              <a:t>예산 집행 투명성 강화 기대</a:t>
            </a:r>
            <a:endParaRPr lang="en-US" altLang="ko-KR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CCFE1B-A472-3A58-0226-C08F477333C7}"/>
              </a:ext>
            </a:extLst>
          </p:cNvPr>
          <p:cNvSpPr txBox="1"/>
          <p:nvPr/>
        </p:nvSpPr>
        <p:spPr>
          <a:xfrm>
            <a:off x="5097463" y="2060575"/>
            <a:ext cx="1803400" cy="204186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none" lIns="36000" rIns="36000" rtlCol="0" anchor="ctr"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ko-KR" sz="1050" dirty="0"/>
              <a:t>&lt;BIM </a:t>
            </a:r>
            <a:r>
              <a:rPr lang="ko-KR" altLang="en-US" sz="1050" dirty="0"/>
              <a:t>설계 적용 예시</a:t>
            </a:r>
            <a:r>
              <a:rPr lang="en-US" altLang="ko-KR" sz="1050" dirty="0"/>
              <a:t>(</a:t>
            </a:r>
            <a:r>
              <a:rPr lang="ko-KR" altLang="en-US" sz="1050" dirty="0"/>
              <a:t>터널</a:t>
            </a:r>
            <a:r>
              <a:rPr lang="en-US" altLang="ko-KR" sz="1050" dirty="0"/>
              <a:t>)&gt;</a:t>
            </a:r>
            <a:endParaRPr lang="ko-KR" altLang="en-US" sz="1050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CFC01B23-52F8-0F20-D5F6-034B9C47B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707350"/>
              </p:ext>
            </p:extLst>
          </p:nvPr>
        </p:nvGraphicFramePr>
        <p:xfrm>
          <a:off x="5092903" y="2274287"/>
          <a:ext cx="4540150" cy="203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075">
                  <a:extLst>
                    <a:ext uri="{9D8B030D-6E8A-4147-A177-3AD203B41FA5}">
                      <a16:colId xmlns:a16="http://schemas.microsoft.com/office/drawing/2014/main" val="4122335533"/>
                    </a:ext>
                  </a:extLst>
                </a:gridCol>
                <a:gridCol w="2270075">
                  <a:extLst>
                    <a:ext uri="{9D8B030D-6E8A-4147-A177-3AD203B41FA5}">
                      <a16:colId xmlns:a16="http://schemas.microsoft.com/office/drawing/2014/main" val="4154252244"/>
                    </a:ext>
                  </a:extLst>
                </a:gridCol>
              </a:tblGrid>
              <a:tr h="2344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 설계</a:t>
                      </a:r>
                    </a:p>
                  </a:txBody>
                  <a:tcPr>
                    <a:lnL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BIM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>
                    <a:lnL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86296"/>
                  </a:ext>
                </a:extLst>
              </a:tr>
              <a:tr h="138340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60231220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50" baseline="0" dirty="0">
                          <a:latin typeface="+mn-ea"/>
                        </a:rPr>
                        <a:t>가상 현장 구축을 통한 시설물 </a:t>
                      </a:r>
                      <a:r>
                        <a:rPr lang="ko-KR" altLang="en-US" sz="900" spc="-50" baseline="0" dirty="0" err="1">
                          <a:latin typeface="+mn-ea"/>
                        </a:rPr>
                        <a:t>접속부</a:t>
                      </a:r>
                      <a:r>
                        <a:rPr lang="en-US" altLang="ko-KR" sz="900" spc="-50" baseline="0" dirty="0">
                          <a:latin typeface="+mn-ea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spc="-50" baseline="0" dirty="0" err="1">
                          <a:latin typeface="+mn-ea"/>
                        </a:rPr>
                        <a:t>이격거리</a:t>
                      </a:r>
                      <a:r>
                        <a:rPr lang="en-US" altLang="ko-KR" sz="900" spc="-50" baseline="0" dirty="0">
                          <a:latin typeface="+mn-ea"/>
                        </a:rPr>
                        <a:t>, </a:t>
                      </a:r>
                      <a:r>
                        <a:rPr lang="ko-KR" altLang="en-US" sz="900" spc="-50" baseline="0" dirty="0">
                          <a:latin typeface="+mn-ea"/>
                        </a:rPr>
                        <a:t>시설물 배치 등 간섭 검토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유지관리 장비 동선 사전검토를 통한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ts val="1300"/>
                        </a:lnSpc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작업안전성 및 유지관리 효율성 확보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701726"/>
                  </a:ext>
                </a:extLst>
              </a:tr>
            </a:tbl>
          </a:graphicData>
        </a:graphic>
      </p:graphicFrame>
      <p:sp>
        <p:nvSpPr>
          <p:cNvPr id="41" name="텍스트 개체 틀 4">
            <a:extLst>
              <a:ext uri="{FF2B5EF4-FFF2-40B4-BE49-F238E27FC236}">
                <a16:creationId xmlns:a16="http://schemas.microsoft.com/office/drawing/2014/main" id="{85D2CDEB-031A-9EB5-B313-E70DB2162530}"/>
              </a:ext>
            </a:extLst>
          </p:cNvPr>
          <p:cNvSpPr txBox="1">
            <a:spLocks/>
          </p:cNvSpPr>
          <p:nvPr/>
        </p:nvSpPr>
        <p:spPr>
          <a:xfrm>
            <a:off x="5097463" y="6326309"/>
            <a:ext cx="4535487" cy="142179"/>
          </a:xfrm>
          <a:prstGeom prst="rect">
            <a:avLst/>
          </a:prstGeom>
        </p:spPr>
        <p:txBody>
          <a:bodyPr lIns="36000" tIns="36000" rIns="36000" bIns="0" anchor="t" anchorCtr="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800" b="0" i="0" kern="0" spc="0" baseline="0" dirty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dirty="0"/>
              <a:t>* </a:t>
            </a:r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en-US" dirty="0"/>
              <a:t>서울특별시 정보소통광장</a:t>
            </a:r>
            <a:r>
              <a:rPr lang="en-US" altLang="ko-KR" dirty="0"/>
              <a:t>, </a:t>
            </a:r>
            <a:r>
              <a:rPr lang="ko-KR" altLang="en-US" dirty="0"/>
              <a:t>「서울시</a:t>
            </a:r>
            <a:r>
              <a:rPr lang="en-US" altLang="ko-KR" dirty="0"/>
              <a:t>, </a:t>
            </a:r>
            <a:r>
              <a:rPr lang="ko-KR" altLang="en-US" dirty="0"/>
              <a:t>공공건설에 </a:t>
            </a:r>
            <a:r>
              <a:rPr lang="en-US" altLang="ko-KR" dirty="0"/>
              <a:t>BIM </a:t>
            </a:r>
            <a:r>
              <a:rPr lang="ko-KR" altLang="en-US" dirty="0"/>
              <a:t>설계 의무화」</a:t>
            </a:r>
            <a:r>
              <a:rPr lang="en-US" altLang="ko-KR" dirty="0"/>
              <a:t>(25.07.03)</a:t>
            </a:r>
          </a:p>
        </p:txBody>
      </p:sp>
    </p:spTree>
    <p:extLst>
      <p:ext uri="{BB962C8B-B14F-4D97-AF65-F5344CB8AC3E}">
        <p14:creationId xmlns:p14="http://schemas.microsoft.com/office/powerpoint/2010/main" val="827155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F1D00-B974-D9F0-FBD3-18AF7CEF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A45B43-1852-0322-8882-066E55141E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2"/>
            <a:ext cx="9359900" cy="661649"/>
          </a:xfrm>
        </p:spPr>
        <p:txBody>
          <a:bodyPr/>
          <a:lstStyle/>
          <a:p>
            <a:r>
              <a:rPr lang="ko-KR" altLang="en-US" dirty="0"/>
              <a:t>건설경기 둔화와 투자 위축으로 </a:t>
            </a:r>
            <a:r>
              <a:rPr lang="en-US" altLang="ko-KR" dirty="0"/>
              <a:t>BIM </a:t>
            </a:r>
            <a:r>
              <a:rPr lang="ko-KR" altLang="en-US" dirty="0"/>
              <a:t>도입 여건은 일시적으로 제약을 받으나</a:t>
            </a:r>
            <a:r>
              <a:rPr lang="en-US" altLang="ko-KR" dirty="0"/>
              <a:t>, </a:t>
            </a:r>
            <a:r>
              <a:rPr lang="ko-KR" altLang="en-US" dirty="0"/>
              <a:t>생산성 하락과 기술투자 부진이 지속되며 중장기적으로는 디지털 전환 수요가 구조적으로 확대되는 추세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5B0A62-4F0A-D8D6-513A-E3CCB7932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C80316-2417-F114-E161-EFD3932205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외부환경분석 </a:t>
            </a:r>
            <a:r>
              <a:rPr lang="en-US" altLang="ko-KR" dirty="0"/>
              <a:t>&gt; </a:t>
            </a:r>
            <a:r>
              <a:rPr lang="ko-KR" altLang="en-US" dirty="0"/>
              <a:t>경제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90C0B3-9822-131D-8EAA-53D1F46A27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50" y="6326309"/>
            <a:ext cx="4535488" cy="142179"/>
          </a:xfrm>
        </p:spPr>
        <p:txBody>
          <a:bodyPr/>
          <a:lstStyle/>
          <a:p>
            <a:r>
              <a:rPr lang="ko-KR" altLang="en-US" dirty="0"/>
              <a:t>* 출처</a:t>
            </a:r>
            <a:r>
              <a:rPr lang="en-US" altLang="ko-KR" dirty="0"/>
              <a:t>: 2025</a:t>
            </a:r>
            <a:r>
              <a:rPr lang="ko-KR" altLang="en-US" dirty="0"/>
              <a:t>년 건설경기전망</a:t>
            </a:r>
            <a:r>
              <a:rPr lang="en-US" altLang="ko-KR" dirty="0"/>
              <a:t>. </a:t>
            </a:r>
            <a:r>
              <a:rPr lang="ko-KR" altLang="en-US" dirty="0"/>
              <a:t>대한건설정책연구원</a:t>
            </a:r>
            <a:r>
              <a:rPr lang="en-US" altLang="ko-KR" dirty="0"/>
              <a:t>(2024)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D1CF6F-8B84-FF6C-998A-2369D2CD482B}"/>
              </a:ext>
            </a:extLst>
          </p:cNvPr>
          <p:cNvSpPr/>
          <p:nvPr/>
        </p:nvSpPr>
        <p:spPr>
          <a:xfrm>
            <a:off x="273051" y="1628775"/>
            <a:ext cx="4536000" cy="323849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연도별 건설투자액 추이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9F3641-3C28-663D-C369-AD617EDDD64C}"/>
              </a:ext>
            </a:extLst>
          </p:cNvPr>
          <p:cNvSpPr/>
          <p:nvPr/>
        </p:nvSpPr>
        <p:spPr>
          <a:xfrm>
            <a:off x="5097463" y="1628775"/>
            <a:ext cx="4536000" cy="323849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건설산업 노동생산성 분석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3F5532-306F-AD9B-6377-FEF789626E94}"/>
              </a:ext>
            </a:extLst>
          </p:cNvPr>
          <p:cNvSpPr/>
          <p:nvPr/>
        </p:nvSpPr>
        <p:spPr>
          <a:xfrm>
            <a:off x="273050" y="4347271"/>
            <a:ext cx="4535488" cy="178206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CECECE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171450" indent="-171450" fontAlgn="ctr" latinLnBrk="0">
              <a:lnSpc>
                <a:spcPts val="18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한국 건설투자 현황은 </a:t>
            </a:r>
            <a:r>
              <a:rPr lang="en-US" altLang="ko-KR" sz="1000" dirty="0"/>
              <a:t>21</a:t>
            </a:r>
            <a:r>
              <a:rPr lang="ko-KR" altLang="en-US" sz="1000" dirty="0"/>
              <a:t>년 건설 착공물량의 시차효과로 상대적으로 안정적인 추이를 보이고 있으나</a:t>
            </a:r>
            <a:r>
              <a:rPr lang="en-US" altLang="ko-KR" sz="1000" dirty="0"/>
              <a:t>, </a:t>
            </a:r>
            <a:r>
              <a:rPr lang="ko-KR" altLang="en-US" sz="1000" dirty="0"/>
              <a:t>공사비 상승 및 금융시장 불안과 국제정세 불안정의 문제가 해결되지 않아 건설경기는 하락세가 전망되고 있는 상황</a:t>
            </a:r>
          </a:p>
          <a:p>
            <a:pPr marL="171450" indent="-171450" fontAlgn="ctr" latinLnBrk="0">
              <a:lnSpc>
                <a:spcPts val="18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건설 투자에 영향을 미치는 선행지표</a:t>
            </a:r>
            <a:r>
              <a:rPr lang="en-US" altLang="ko-KR" sz="1000" dirty="0"/>
              <a:t>(</a:t>
            </a:r>
            <a:r>
              <a:rPr lang="ko-KR" altLang="en-US" sz="1000" dirty="0"/>
              <a:t>착공물량</a:t>
            </a:r>
            <a:r>
              <a:rPr lang="en-US" altLang="ko-KR" sz="1000" dirty="0"/>
              <a:t>, </a:t>
            </a:r>
            <a:r>
              <a:rPr lang="ko-KR" altLang="en-US" sz="1000" dirty="0"/>
              <a:t>신규 건축 허가</a:t>
            </a:r>
            <a:r>
              <a:rPr lang="en-US" altLang="ko-KR" sz="1000" dirty="0"/>
              <a:t>)</a:t>
            </a:r>
            <a:r>
              <a:rPr lang="ko-KR" altLang="en-US" sz="1000" dirty="0"/>
              <a:t>부진과 산업 전반의 경제 지표 둔화는 건설경기의 반등을 단기간 내 기대하기 어려워 건설과 연관 있는 </a:t>
            </a:r>
            <a:r>
              <a:rPr lang="en-US" altLang="ko-KR" sz="1000" dirty="0"/>
              <a:t>BIM</a:t>
            </a:r>
            <a:r>
              <a:rPr lang="ko-KR" altLang="en-US" sz="1000" dirty="0"/>
              <a:t>사업환경에도 부정적인 상황으로 판단 됨</a:t>
            </a:r>
            <a:endParaRPr lang="en-US" altLang="ko-KR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3F60A5-EC20-7471-D902-4EE122C4E4E8}"/>
              </a:ext>
            </a:extLst>
          </p:cNvPr>
          <p:cNvSpPr/>
          <p:nvPr/>
        </p:nvSpPr>
        <p:spPr>
          <a:xfrm>
            <a:off x="5097463" y="4346577"/>
            <a:ext cx="4535486" cy="178276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CECEC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1450" indent="-171450" fontAlgn="ctr" latinLnBrk="0">
              <a:lnSpc>
                <a:spcPts val="14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최근 </a:t>
            </a:r>
            <a:r>
              <a:rPr lang="en-US" altLang="ko-KR" sz="1000" dirty="0"/>
              <a:t>10</a:t>
            </a:r>
            <a:r>
              <a:rPr lang="ko-KR" altLang="en-US" sz="1000" dirty="0"/>
              <a:t>년간 국내 건설산업 노동생산성은 하락추세를 보이고 있는 반면</a:t>
            </a:r>
            <a:r>
              <a:rPr lang="en-US" altLang="ko-KR" sz="1000" dirty="0"/>
              <a:t>, </a:t>
            </a:r>
            <a:r>
              <a:rPr lang="ko-KR" altLang="en-US" sz="1000" spc="-50" dirty="0" err="1"/>
              <a:t>비농전산업</a:t>
            </a:r>
            <a:r>
              <a:rPr lang="en-US" altLang="ko-KR" sz="1000" spc="-50" dirty="0"/>
              <a:t> </a:t>
            </a:r>
            <a:r>
              <a:rPr lang="ko-KR" altLang="en-US" sz="1000" spc="-50" dirty="0"/>
              <a:t>및 광공업</a:t>
            </a:r>
            <a:r>
              <a:rPr lang="en-US" altLang="ko-KR" sz="1000" spc="-50" dirty="0"/>
              <a:t>, </a:t>
            </a:r>
            <a:r>
              <a:rPr lang="ko-KR" altLang="en-US" sz="1000" spc="-50" dirty="0"/>
              <a:t>서비스업의 노동생산성은 대체로 완만한 상승추이를 보이고 있는 상황</a:t>
            </a:r>
          </a:p>
          <a:p>
            <a:pPr marL="171450" indent="-171450" fontAlgn="ctr" latinLnBrk="0">
              <a:lnSpc>
                <a:spcPts val="14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건설경기 하락 전망</a:t>
            </a:r>
            <a:r>
              <a:rPr lang="en-US" altLang="ko-KR" sz="1000" dirty="0"/>
              <a:t>, </a:t>
            </a:r>
            <a:r>
              <a:rPr lang="ko-KR" altLang="en-US" sz="1000" dirty="0"/>
              <a:t>고령화</a:t>
            </a:r>
            <a:r>
              <a:rPr lang="en-US" altLang="ko-KR" sz="1000" dirty="0"/>
              <a:t>, </a:t>
            </a:r>
            <a:r>
              <a:rPr lang="ko-KR" altLang="en-US" sz="1000" dirty="0"/>
              <a:t>민간부문의 저조한 기술투자</a:t>
            </a:r>
            <a:r>
              <a:rPr lang="en-US" altLang="ko-KR" sz="1000" dirty="0"/>
              <a:t>, </a:t>
            </a:r>
            <a:r>
              <a:rPr lang="ko-KR" altLang="en-US" sz="1000" dirty="0"/>
              <a:t>규제중심의 여건 등이 주요 문제로 지적되고 있으며 경기부양을 위한 건설투자 확대에도 한계가 있어 생산성 저하가 예상</a:t>
            </a:r>
            <a:endParaRPr lang="en-US" altLang="ko-KR" sz="1000" dirty="0"/>
          </a:p>
          <a:p>
            <a:pPr marL="171450" indent="-171450" fontAlgn="ctr" latinLnBrk="0">
              <a:lnSpc>
                <a:spcPts val="14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건설업은 </a:t>
            </a:r>
            <a:r>
              <a:rPr lang="en-US" altLang="ko-KR" sz="1000" dirty="0"/>
              <a:t>2020</a:t>
            </a:r>
            <a:r>
              <a:rPr lang="ko-KR" altLang="en-US" sz="1000" dirty="0"/>
              <a:t>년 이후 생산성 지수가 계속 </a:t>
            </a:r>
            <a:r>
              <a:rPr lang="en-US" altLang="ko-KR" sz="1000" dirty="0"/>
              <a:t>100</a:t>
            </a:r>
            <a:r>
              <a:rPr lang="ko-KR" altLang="en-US" sz="1000" dirty="0"/>
              <a:t>을 밑돌며 </a:t>
            </a:r>
            <a:r>
              <a:rPr lang="en-US" altLang="ko-KR" sz="1000" dirty="0"/>
              <a:t>2024</a:t>
            </a:r>
            <a:r>
              <a:rPr lang="ko-KR" altLang="en-US" sz="1000" dirty="0"/>
              <a:t>년에는 </a:t>
            </a:r>
            <a:r>
              <a:rPr lang="en-US" altLang="ko-KR" sz="1000" dirty="0"/>
              <a:t>95.3</a:t>
            </a:r>
            <a:r>
              <a:rPr lang="ko-KR" altLang="en-US" sz="1000" dirty="0"/>
              <a:t>에 그쳤고</a:t>
            </a:r>
            <a:r>
              <a:rPr lang="en-US" altLang="ko-KR" sz="1000" dirty="0"/>
              <a:t>, </a:t>
            </a:r>
            <a:r>
              <a:rPr lang="ko-KR" altLang="en-US" sz="1000" dirty="0"/>
              <a:t>이는 기술투자 부족과 규제 중심 산업 구조 등 구조적 한계에 기인하며</a:t>
            </a:r>
            <a:r>
              <a:rPr lang="en-US" altLang="ko-KR" sz="1000" dirty="0"/>
              <a:t>, </a:t>
            </a:r>
            <a:r>
              <a:rPr lang="ko-KR" altLang="en-US" sz="1000" dirty="0"/>
              <a:t>향후 건설산업의 지속가능성을 제약할 우려 있음</a:t>
            </a:r>
            <a:endParaRPr lang="en-US" altLang="ko-KR" sz="10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F847F2-3A5A-CB43-A566-FF85966145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78"/>
          <a:stretch>
            <a:fillRect/>
          </a:stretch>
        </p:blipFill>
        <p:spPr>
          <a:xfrm>
            <a:off x="273050" y="2071688"/>
            <a:ext cx="4535488" cy="2166938"/>
          </a:xfrm>
          <a:prstGeom prst="rect">
            <a:avLst/>
          </a:prstGeom>
        </p:spPr>
      </p:pic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D0D5699C-B8E9-3BAC-E364-26043D1789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2970192"/>
              </p:ext>
            </p:extLst>
          </p:nvPr>
        </p:nvGraphicFramePr>
        <p:xfrm>
          <a:off x="5097463" y="2060575"/>
          <a:ext cx="4535487" cy="2178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CA183FD8-3426-27A8-EA3D-872392EA21D8}"/>
              </a:ext>
            </a:extLst>
          </p:cNvPr>
          <p:cNvSpPr txBox="1">
            <a:spLocks/>
          </p:cNvSpPr>
          <p:nvPr/>
        </p:nvSpPr>
        <p:spPr>
          <a:xfrm>
            <a:off x="5097461" y="6326309"/>
            <a:ext cx="4535488" cy="142179"/>
          </a:xfrm>
          <a:prstGeom prst="rect">
            <a:avLst/>
          </a:prstGeom>
        </p:spPr>
        <p:txBody>
          <a:bodyPr lIns="36000" tIns="36000" rIns="36000" bIns="0" anchor="t" anchorCtr="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800" b="0" i="0" kern="0" spc="0" baseline="0" dirty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dirty="0"/>
              <a:t>* 출처</a:t>
            </a:r>
            <a:r>
              <a:rPr lang="en-US" altLang="ko-KR" dirty="0"/>
              <a:t>: </a:t>
            </a:r>
            <a:r>
              <a:rPr lang="ko-KR" altLang="en-US" dirty="0"/>
              <a:t>업종별 노동생산성</a:t>
            </a:r>
            <a:r>
              <a:rPr lang="en-US" altLang="ko-KR" dirty="0"/>
              <a:t>, </a:t>
            </a:r>
            <a:r>
              <a:rPr lang="ko-KR" altLang="en-US" dirty="0"/>
              <a:t>통계청</a:t>
            </a:r>
          </a:p>
        </p:txBody>
      </p:sp>
    </p:spTree>
    <p:extLst>
      <p:ext uri="{BB962C8B-B14F-4D97-AF65-F5344CB8AC3E}">
        <p14:creationId xmlns:p14="http://schemas.microsoft.com/office/powerpoint/2010/main" val="185143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AF24C-FCE0-4F0C-9EDA-5BBACB4C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6A9448D-17DC-4339-BBF2-86E7D47A6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2"/>
            <a:ext cx="9359900" cy="661649"/>
          </a:xfrm>
        </p:spPr>
        <p:txBody>
          <a:bodyPr/>
          <a:lstStyle/>
          <a:p>
            <a:r>
              <a:rPr lang="ko-KR" altLang="en-US" dirty="0"/>
              <a:t>한국의 도시화 현상의 지속으로 인한 대규모 건설프로젝트로 스마트시티 프로젝트와 같은 사업과 </a:t>
            </a:r>
            <a:r>
              <a:rPr lang="en-US" altLang="ko-KR" dirty="0"/>
              <a:t>ESG </a:t>
            </a:r>
            <a:r>
              <a:rPr lang="ko-KR" altLang="en-US" dirty="0"/>
              <a:t>중요성의 대두는 </a:t>
            </a:r>
            <a:r>
              <a:rPr lang="en-US" altLang="ko-KR" dirty="0"/>
              <a:t>BIM </a:t>
            </a:r>
            <a:r>
              <a:rPr lang="ko-KR" altLang="en-US" dirty="0"/>
              <a:t>기술의 중요성이 부각되고 있음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E5A117-C3B2-B729-FFD1-E618A191E1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A8F69A-CF42-DAE3-CF72-44D106A8D8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외부환경분석 </a:t>
            </a:r>
            <a:r>
              <a:rPr lang="en-US" altLang="ko-KR" dirty="0"/>
              <a:t>&gt; </a:t>
            </a:r>
            <a:r>
              <a:rPr lang="ko-KR" altLang="en-US" dirty="0"/>
              <a:t>사회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2E7DDA-85B8-93CA-9902-7A5E29A64C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50" y="6326309"/>
            <a:ext cx="4535488" cy="142179"/>
          </a:xfrm>
        </p:spPr>
        <p:txBody>
          <a:bodyPr/>
          <a:lstStyle/>
          <a:p>
            <a:r>
              <a:rPr lang="ko-KR" altLang="en-US" dirty="0"/>
              <a:t>*출처</a:t>
            </a:r>
            <a:r>
              <a:rPr lang="en-US" altLang="ko-KR" dirty="0"/>
              <a:t>: </a:t>
            </a:r>
            <a:r>
              <a:rPr lang="ko-KR" altLang="en-US" dirty="0"/>
              <a:t>통계적 지역분류체계로 본 도시화 현황</a:t>
            </a:r>
            <a:r>
              <a:rPr lang="en-US" altLang="ko-KR" dirty="0"/>
              <a:t>, </a:t>
            </a:r>
            <a:r>
              <a:rPr lang="ko-KR" altLang="en-US" dirty="0"/>
              <a:t>통계청</a:t>
            </a:r>
            <a:r>
              <a:rPr lang="en-US" altLang="ko-KR" dirty="0"/>
              <a:t>, ‘24.2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4FBD46-9513-935D-BBE1-3D86869D6A4E}"/>
              </a:ext>
            </a:extLst>
          </p:cNvPr>
          <p:cNvSpPr/>
          <p:nvPr/>
        </p:nvSpPr>
        <p:spPr>
          <a:xfrm>
            <a:off x="273051" y="1628775"/>
            <a:ext cx="4536000" cy="323849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인구격자로 본 국내 도시화 현상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23FC61-306E-CBB1-B573-E7541E8F1CA3}"/>
              </a:ext>
            </a:extLst>
          </p:cNvPr>
          <p:cNvSpPr/>
          <p:nvPr/>
        </p:nvSpPr>
        <p:spPr>
          <a:xfrm>
            <a:off x="5097463" y="1628775"/>
            <a:ext cx="4536000" cy="323849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사회 인식 변화와 건설 산업 내 </a:t>
            </a:r>
            <a:r>
              <a:rPr lang="en-US" altLang="ko-KR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ESG </a:t>
            </a:r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중요성 대두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A64CAF-AC62-3733-02A2-E6997CD75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2060576"/>
            <a:ext cx="4535488" cy="180169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B7A423B-4F13-2D4A-D77D-D33325C87A07}"/>
              </a:ext>
            </a:extLst>
          </p:cNvPr>
          <p:cNvSpPr/>
          <p:nvPr/>
        </p:nvSpPr>
        <p:spPr>
          <a:xfrm>
            <a:off x="273050" y="3970225"/>
            <a:ext cx="4535488" cy="21591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CECECE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171450" indent="-171450" fontAlgn="ctr" latinLnBrk="0">
              <a:lnSpc>
                <a:spcPts val="16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000" spc="-100" dirty="0"/>
              <a:t>2000</a:t>
            </a:r>
            <a:r>
              <a:rPr lang="ko-KR" altLang="en-US" sz="1000" spc="-100" dirty="0"/>
              <a:t>년 초반 대비 </a:t>
            </a:r>
            <a:r>
              <a:rPr lang="en-US" altLang="ko-KR" sz="1000" spc="-100" dirty="0"/>
              <a:t>21</a:t>
            </a:r>
            <a:r>
              <a:rPr lang="ko-KR" altLang="en-US" sz="1000" spc="-100" dirty="0"/>
              <a:t>년 한국의 도시인구 비중은 증가하고 있으며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노령화 지수 역시 증가하고 있음</a:t>
            </a:r>
          </a:p>
          <a:p>
            <a:pPr marL="171450" indent="-171450" fontAlgn="ctr" latinLnBrk="0">
              <a:lnSpc>
                <a:spcPts val="16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spc="-100" dirty="0"/>
              <a:t>도시화로 인한 인구 밀도의 증가는 주택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상업시설</a:t>
            </a:r>
            <a:r>
              <a:rPr lang="en-US" altLang="ko-KR" sz="1000" spc="-100" dirty="0"/>
              <a:t>, </a:t>
            </a:r>
            <a:r>
              <a:rPr lang="ko-KR" altLang="en-US" sz="1000" spc="-100" dirty="0" err="1"/>
              <a:t>교통인프라</a:t>
            </a:r>
            <a:r>
              <a:rPr lang="ko-KR" altLang="en-US" sz="1000" spc="-100" dirty="0"/>
              <a:t> 등 도시 공간에 대한 수요를 증가시키고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주택단지의 밀집화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고층건축물과 교통체증 심화를 야기할 수 있으며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대규모 건설 프로젝트</a:t>
            </a:r>
            <a:r>
              <a:rPr lang="en-US" altLang="ko-KR" sz="1000" spc="-100" dirty="0"/>
              <a:t>(</a:t>
            </a:r>
            <a:r>
              <a:rPr lang="ko-KR" altLang="en-US" sz="1000" spc="-100" dirty="0"/>
              <a:t>주택단지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상업시설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교통 인프라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공공시설 등</a:t>
            </a:r>
            <a:r>
              <a:rPr lang="en-US" altLang="ko-KR" sz="1000" spc="-100" dirty="0"/>
              <a:t>)</a:t>
            </a:r>
            <a:r>
              <a:rPr lang="ko-KR" altLang="en-US" sz="1000" spc="-100" dirty="0"/>
              <a:t>증가와 이로 인한 도시공간의 제약성에 따른 토지 이용의 효율성이 부각되고 있음</a:t>
            </a:r>
          </a:p>
          <a:p>
            <a:pPr marL="171450" indent="-171450" fontAlgn="ctr" latinLnBrk="0">
              <a:lnSpc>
                <a:spcPts val="16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000" spc="-100" dirty="0"/>
              <a:t>BIM </a:t>
            </a:r>
            <a:r>
              <a:rPr lang="ko-KR" altLang="en-US" sz="1000" spc="-100" dirty="0"/>
              <a:t>기술은 대규모 건설 프로젝트의 효율성 개선을 위한 </a:t>
            </a:r>
            <a:r>
              <a:rPr lang="en-US" altLang="ko-KR" sz="1000" spc="-100" dirty="0"/>
              <a:t>BIM </a:t>
            </a:r>
            <a:r>
              <a:rPr lang="ko-KR" altLang="en-US" sz="1000" spc="-100" dirty="0"/>
              <a:t>기반 시뮬레이션을 통한 설계 변경 비용을 줄이고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시공 과정에서의 문제를 예측하고 해결과 효율적인 건축물 설계</a:t>
            </a:r>
            <a:r>
              <a:rPr lang="en-US" altLang="ko-KR" sz="1000" spc="-100" dirty="0"/>
              <a:t>, </a:t>
            </a:r>
            <a:r>
              <a:rPr lang="ko-KR" altLang="en-US" sz="1000" spc="-100" dirty="0"/>
              <a:t>친환경 자재 사용 등 지속가능한 도시개발을 위한 다양한 솔루션을 제공할 수 있을 것으로 기대 받고 있음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ED524BD-D04F-2CF2-6C04-51CF53A5D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095" y="2060575"/>
            <a:ext cx="3108960" cy="183050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5D163B-D228-07F3-765A-DA176A4382EC}"/>
              </a:ext>
            </a:extLst>
          </p:cNvPr>
          <p:cNvSpPr/>
          <p:nvPr/>
        </p:nvSpPr>
        <p:spPr>
          <a:xfrm>
            <a:off x="5094831" y="3970225"/>
            <a:ext cx="4535488" cy="21591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CECEC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1450" indent="-171450" fontAlgn="ctr" latinLnBrk="0">
              <a:lnSpc>
                <a:spcPts val="15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000" dirty="0"/>
              <a:t>ESG</a:t>
            </a:r>
            <a:r>
              <a:rPr lang="ko-KR" altLang="en-US" sz="1000" dirty="0"/>
              <a:t>의 중요성과 사회적 인식의 변화는 건설산업에서도 밀접한 관계가 </a:t>
            </a:r>
            <a:r>
              <a:rPr lang="ko-KR" altLang="en-US" sz="1000" spc="-60" dirty="0"/>
              <a:t>있으며</a:t>
            </a:r>
            <a:r>
              <a:rPr lang="en-US" altLang="ko-KR" sz="1000" spc="-60" dirty="0"/>
              <a:t>, BIM</a:t>
            </a:r>
            <a:r>
              <a:rPr lang="ko-KR" altLang="en-US" sz="1000" spc="-60" dirty="0"/>
              <a:t>은 건설 산업에서 환경</a:t>
            </a:r>
            <a:r>
              <a:rPr lang="en-US" altLang="ko-KR" sz="1000" spc="-60" dirty="0"/>
              <a:t>, </a:t>
            </a:r>
            <a:r>
              <a:rPr lang="ko-KR" altLang="en-US" sz="1000" spc="-60" dirty="0"/>
              <a:t>사회</a:t>
            </a:r>
            <a:r>
              <a:rPr lang="en-US" altLang="ko-KR" sz="1000" spc="-60" dirty="0"/>
              <a:t>, </a:t>
            </a:r>
            <a:r>
              <a:rPr lang="ko-KR" altLang="en-US" sz="1000" spc="-60" dirty="0"/>
              <a:t>투명성 등에 영향을 미치고 있음</a:t>
            </a:r>
          </a:p>
          <a:p>
            <a:pPr marL="444500" lvl="1" indent="-228600" fontAlgn="ctr" latinLnBrk="0">
              <a:lnSpc>
                <a:spcPts val="1500"/>
              </a:lnSpc>
              <a:spcBef>
                <a:spcPct val="10000"/>
              </a:spcBef>
              <a:buFont typeface="+mj-ea"/>
              <a:buAutoNum type="circleNumDbPlain"/>
              <a:defRPr/>
            </a:pPr>
            <a:r>
              <a:rPr lang="ko-KR" altLang="en-US" sz="1000" dirty="0"/>
              <a:t>환경</a:t>
            </a:r>
            <a:r>
              <a:rPr lang="en-US" altLang="ko-KR" sz="1000" dirty="0"/>
              <a:t> : BIM</a:t>
            </a:r>
            <a:r>
              <a:rPr lang="ko-KR" altLang="en-US" sz="1000" dirty="0"/>
              <a:t>을 통한 에너지 소비를 시뮬레이션 하고 최적화 하는데 활용함으로써 탄소 배출량 감소와 친환경 건설을 실현</a:t>
            </a:r>
            <a:r>
              <a:rPr lang="en-US" altLang="ko-KR" sz="1000" dirty="0"/>
              <a:t>, </a:t>
            </a:r>
            <a:r>
              <a:rPr lang="ko-KR" altLang="en-US" sz="1000" dirty="0"/>
              <a:t>재료 사용 최적화로 인한 재료 관리 및 폐기물 감소</a:t>
            </a:r>
          </a:p>
          <a:p>
            <a:pPr marL="444500" lvl="1" indent="-228600" fontAlgn="ctr" latinLnBrk="0">
              <a:lnSpc>
                <a:spcPts val="1500"/>
              </a:lnSpc>
              <a:spcBef>
                <a:spcPct val="10000"/>
              </a:spcBef>
              <a:buFont typeface="+mj-ea"/>
              <a:buAutoNum type="circleNumDbPlain"/>
              <a:defRPr/>
            </a:pPr>
            <a:r>
              <a:rPr lang="ko-KR" altLang="en-US" sz="1000" dirty="0"/>
              <a:t>사회</a:t>
            </a:r>
            <a:r>
              <a:rPr lang="en-US" altLang="ko-KR" sz="1000" dirty="0"/>
              <a:t> : BIM</a:t>
            </a:r>
            <a:r>
              <a:rPr lang="ko-KR" altLang="en-US" sz="1000" dirty="0"/>
              <a:t>을 통한 시공 전 단계에서 잠재적 위험요소를 사전에 파악하고 해결 가능</a:t>
            </a:r>
          </a:p>
          <a:p>
            <a:pPr marL="444500" lvl="1" indent="-228600" fontAlgn="ctr" latinLnBrk="0">
              <a:lnSpc>
                <a:spcPts val="1500"/>
              </a:lnSpc>
              <a:spcBef>
                <a:spcPct val="10000"/>
              </a:spcBef>
              <a:buFont typeface="+mj-ea"/>
              <a:buAutoNum type="circleNumDbPlain"/>
              <a:defRPr/>
            </a:pPr>
            <a:r>
              <a:rPr lang="ko-KR" altLang="en-US" sz="1000" dirty="0"/>
              <a:t>투명성</a:t>
            </a:r>
            <a:r>
              <a:rPr lang="en-US" altLang="ko-KR" sz="1000" dirty="0"/>
              <a:t> : </a:t>
            </a:r>
            <a:r>
              <a:rPr lang="ko-KR" altLang="en-US" sz="1000" dirty="0"/>
              <a:t>모든 프로젝트의 정보를 투명하게 관리하고 공유함으로써</a:t>
            </a:r>
            <a:r>
              <a:rPr lang="en-US" altLang="ko-KR" sz="1000" dirty="0"/>
              <a:t>, </a:t>
            </a:r>
            <a:r>
              <a:rPr lang="ko-KR" altLang="en-US" sz="1000" dirty="0"/>
              <a:t>프로젝트의 투명성과 책임성 강화</a:t>
            </a:r>
          </a:p>
          <a:p>
            <a:pPr marL="171450" indent="-171450" fontAlgn="ctr" latinLnBrk="0">
              <a:lnSpc>
                <a:spcPts val="15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000" dirty="0"/>
              <a:t>BIM </a:t>
            </a:r>
            <a:r>
              <a:rPr lang="ko-KR" altLang="en-US" sz="1000" dirty="0"/>
              <a:t>기술을 통한 건설산업의 </a:t>
            </a:r>
            <a:r>
              <a:rPr lang="en-US" altLang="ko-KR" sz="1000" dirty="0"/>
              <a:t>ESG </a:t>
            </a:r>
            <a:r>
              <a:rPr lang="ko-KR" altLang="en-US" sz="1000" dirty="0"/>
              <a:t>목표달성에 중요한 역할을 제공 가능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F262D6A7-7AC7-6F41-44A7-FF58EE1FEC6F}"/>
              </a:ext>
            </a:extLst>
          </p:cNvPr>
          <p:cNvSpPr txBox="1">
            <a:spLocks/>
          </p:cNvSpPr>
          <p:nvPr/>
        </p:nvSpPr>
        <p:spPr>
          <a:xfrm>
            <a:off x="5094831" y="6326309"/>
            <a:ext cx="4535488" cy="142179"/>
          </a:xfrm>
          <a:prstGeom prst="rect">
            <a:avLst/>
          </a:prstGeom>
        </p:spPr>
        <p:txBody>
          <a:bodyPr lIns="36000" tIns="36000" rIns="36000" bIns="0" anchor="t" anchorCtr="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800" b="0" i="0" kern="0" spc="0" baseline="0" dirty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dirty="0"/>
              <a:t>*출처</a:t>
            </a:r>
            <a:r>
              <a:rPr lang="en-US" altLang="ko-KR" dirty="0"/>
              <a:t>: ﻿2023</a:t>
            </a:r>
            <a:r>
              <a:rPr lang="ko-KR" altLang="en-US" dirty="0"/>
              <a:t>년 건설산업 </a:t>
            </a:r>
            <a:r>
              <a:rPr lang="en-US" altLang="ko-KR" dirty="0"/>
              <a:t>ESG </a:t>
            </a:r>
            <a:r>
              <a:rPr lang="ko-KR" altLang="en-US" dirty="0"/>
              <a:t>관련 주요 이슈 </a:t>
            </a:r>
            <a:r>
              <a:rPr lang="en-US" altLang="ko-KR" dirty="0"/>
              <a:t>/ </a:t>
            </a:r>
            <a:r>
              <a:rPr lang="ko-KR" altLang="en-US" dirty="0"/>
              <a:t>한국건설산업연구원</a:t>
            </a:r>
            <a:r>
              <a:rPr lang="en-US" altLang="ko-KR" dirty="0"/>
              <a:t>, ‘23</a:t>
            </a:r>
          </a:p>
        </p:txBody>
      </p:sp>
    </p:spTree>
    <p:extLst>
      <p:ext uri="{BB962C8B-B14F-4D97-AF65-F5344CB8AC3E}">
        <p14:creationId xmlns:p14="http://schemas.microsoft.com/office/powerpoint/2010/main" val="213336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38C5-64FF-8563-00CE-6432463D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C2C6C3-9096-B05E-C745-C5AE336081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661648"/>
          </a:xfrm>
        </p:spPr>
        <p:txBody>
          <a:bodyPr/>
          <a:lstStyle/>
          <a:p>
            <a:r>
              <a:rPr lang="en-US" altLang="ko-KR" dirty="0"/>
              <a:t>MZ</a:t>
            </a:r>
            <a:r>
              <a:rPr lang="ko-KR" altLang="en-US" dirty="0"/>
              <a:t>세대는 유연한 문화보다 공정한 보상과 성장을 중시하므로 실행력 있는 임금 체계와 평가 체계가 조직 유지의 핵심 요인으로 부상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0C17E0-207C-D2E8-58FF-AA3E45CE94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3333CD-2A49-5BEA-5F88-95286E574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외부환경분석 </a:t>
            </a:r>
            <a:r>
              <a:rPr lang="en-US" altLang="ko-KR" dirty="0"/>
              <a:t>&gt; </a:t>
            </a:r>
            <a:r>
              <a:rPr lang="ko-KR" altLang="en-US" dirty="0"/>
              <a:t>사회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B1848D-D74F-0EE0-5B14-B25238D17A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* </a:t>
            </a:r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en-US" dirty="0"/>
              <a:t>중앙뉴스</a:t>
            </a:r>
            <a:r>
              <a:rPr lang="en-US" altLang="ko-KR" dirty="0"/>
              <a:t>, </a:t>
            </a:r>
            <a:r>
              <a:rPr lang="ko-KR" altLang="en-US" dirty="0"/>
              <a:t>「직장인 </a:t>
            </a:r>
            <a:r>
              <a:rPr lang="en-US" altLang="ko-KR" dirty="0"/>
              <a:t>10</a:t>
            </a:r>
            <a:r>
              <a:rPr lang="ko-KR" altLang="en-US" dirty="0"/>
              <a:t>명 중 </a:t>
            </a:r>
            <a:r>
              <a:rPr lang="en-US" altLang="ko-KR" dirty="0"/>
              <a:t>6</a:t>
            </a:r>
            <a:r>
              <a:rPr lang="ko-KR" altLang="en-US" dirty="0"/>
              <a:t>명 ‘평가</a:t>
            </a:r>
            <a:r>
              <a:rPr lang="en-US" altLang="ko-KR" dirty="0"/>
              <a:t>·</a:t>
            </a:r>
            <a:r>
              <a:rPr lang="ko-KR" altLang="en-US" dirty="0"/>
              <a:t>보상 부당’ 인식」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6B6C9B-FB1C-8EE0-5489-907C36344D94}"/>
              </a:ext>
            </a:extLst>
          </p:cNvPr>
          <p:cNvSpPr/>
          <p:nvPr/>
        </p:nvSpPr>
        <p:spPr>
          <a:xfrm>
            <a:off x="273051" y="1628775"/>
            <a:ext cx="9357268" cy="323849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성과 기반 보상 신뢰 하락</a:t>
            </a:r>
            <a:r>
              <a:rPr lang="en-US" altLang="ko-KR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실행력 있는 제도 정비 요구</a:t>
            </a:r>
            <a:endParaRPr lang="en-US" altLang="ko-KR" sz="1400" b="1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2052" name="Picture 4" descr="(자료=사람인)">
            <a:extLst>
              <a:ext uri="{FF2B5EF4-FFF2-40B4-BE49-F238E27FC236}">
                <a16:creationId xmlns:a16="http://schemas.microsoft.com/office/drawing/2014/main" id="{67FD260A-0863-1F61-99A1-FDBDB2189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2060575"/>
            <a:ext cx="4535488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31CEA74-9CE3-FCB1-D262-28BB7F1F6961}"/>
              </a:ext>
            </a:extLst>
          </p:cNvPr>
          <p:cNvSpPr/>
          <p:nvPr/>
        </p:nvSpPr>
        <p:spPr>
          <a:xfrm>
            <a:off x="5094831" y="2060575"/>
            <a:ext cx="4535488" cy="406876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CECEC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1450" indent="-171450" fontAlgn="ctr" latinLnBrk="0">
              <a:lnSpc>
                <a:spcPct val="15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직장인 </a:t>
            </a:r>
            <a:r>
              <a:rPr lang="en-US" altLang="ko-KR" sz="1000" dirty="0"/>
              <a:t>10</a:t>
            </a:r>
            <a:r>
              <a:rPr lang="ko-KR" altLang="en-US" sz="1000" dirty="0"/>
              <a:t>명 중 </a:t>
            </a:r>
            <a:r>
              <a:rPr lang="en-US" altLang="ko-KR" sz="1000" dirty="0"/>
              <a:t>6</a:t>
            </a:r>
            <a:r>
              <a:rPr lang="ko-KR" altLang="en-US" sz="1000" dirty="0"/>
              <a:t>명 이상이 현재 직장에서 정당한 평가 및 보상을 받고 있지 않다고 인식함</a:t>
            </a:r>
            <a:endParaRPr lang="en-US" altLang="ko-KR" sz="1000" dirty="0"/>
          </a:p>
          <a:p>
            <a:pPr marL="171450" indent="-171450" fontAlgn="ctr" latinLnBrk="0">
              <a:lnSpc>
                <a:spcPct val="15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특히</a:t>
            </a:r>
            <a:r>
              <a:rPr lang="en-US" altLang="ko-KR" sz="1000" dirty="0"/>
              <a:t>, MZ</a:t>
            </a:r>
            <a:r>
              <a:rPr lang="ko-KR" altLang="en-US" sz="1000" dirty="0"/>
              <a:t>세대인 </a:t>
            </a:r>
            <a:r>
              <a:rPr lang="en-US" altLang="ko-KR" sz="1000" dirty="0"/>
              <a:t>30</a:t>
            </a:r>
            <a:r>
              <a:rPr lang="ko-KR" altLang="en-US" sz="1000" dirty="0"/>
              <a:t>대에서 </a:t>
            </a:r>
            <a:r>
              <a:rPr lang="en-US" altLang="ko-KR" sz="1000" dirty="0"/>
              <a:t>‘</a:t>
            </a:r>
            <a:r>
              <a:rPr lang="ko-KR" altLang="en-US" sz="1000" dirty="0"/>
              <a:t>부당하다</a:t>
            </a:r>
            <a:r>
              <a:rPr lang="en-US" altLang="ko-KR" sz="1000" dirty="0"/>
              <a:t>’</a:t>
            </a:r>
            <a:r>
              <a:rPr lang="ko-KR" altLang="en-US" sz="1000" dirty="0"/>
              <a:t>는 응답 비율이 </a:t>
            </a:r>
            <a:r>
              <a:rPr lang="en-US" altLang="ko-KR" sz="1000" dirty="0"/>
              <a:t>68.8%</a:t>
            </a:r>
            <a:r>
              <a:rPr lang="ko-KR" altLang="en-US" sz="1000" dirty="0"/>
              <a:t>로 가장 높았고</a:t>
            </a:r>
            <a:r>
              <a:rPr lang="en-US" altLang="ko-KR" sz="1000" dirty="0"/>
              <a:t>, </a:t>
            </a:r>
            <a:r>
              <a:rPr lang="ko-KR" altLang="en-US" sz="1000" spc="-20" dirty="0"/>
              <a:t>이후 </a:t>
            </a:r>
            <a:r>
              <a:rPr lang="en-US" altLang="ko-KR" sz="1000" spc="-20" dirty="0"/>
              <a:t>40</a:t>
            </a:r>
            <a:r>
              <a:rPr lang="ko-KR" altLang="en-US" sz="1000" spc="-20" dirty="0"/>
              <a:t>대</a:t>
            </a:r>
            <a:r>
              <a:rPr lang="en-US" altLang="ko-KR" sz="1000" spc="-20" dirty="0"/>
              <a:t>(67%), 50</a:t>
            </a:r>
            <a:r>
              <a:rPr lang="ko-KR" altLang="en-US" sz="1000" spc="-20" dirty="0"/>
              <a:t>대 이상</a:t>
            </a:r>
            <a:r>
              <a:rPr lang="en-US" altLang="ko-KR" sz="1000" spc="-20" dirty="0"/>
              <a:t>(65.1%), 20</a:t>
            </a:r>
            <a:r>
              <a:rPr lang="ko-KR" altLang="en-US" sz="1000" spc="-20" dirty="0"/>
              <a:t>대</a:t>
            </a:r>
            <a:r>
              <a:rPr lang="en-US" altLang="ko-KR" sz="1000" spc="-20" dirty="0"/>
              <a:t>(53.9%) </a:t>
            </a:r>
            <a:r>
              <a:rPr lang="ko-KR" altLang="en-US" sz="1000" spc="-20" dirty="0"/>
              <a:t>순으로 부당하다고 응답함</a:t>
            </a:r>
            <a:endParaRPr lang="en-US" altLang="ko-KR" sz="1000" spc="-20" dirty="0"/>
          </a:p>
          <a:p>
            <a:pPr marL="171450" indent="-171450" fontAlgn="ctr" latinLnBrk="0">
              <a:lnSpc>
                <a:spcPct val="15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부당하다고 느끼는 주요 이유 중 </a:t>
            </a:r>
            <a:r>
              <a:rPr lang="en-US" altLang="ko-KR" sz="1000" dirty="0"/>
              <a:t>‘</a:t>
            </a:r>
            <a:r>
              <a:rPr lang="ko-KR" altLang="en-US" sz="1000" dirty="0"/>
              <a:t>평가 및 보상 기준이 불투명하고 비공개라서</a:t>
            </a:r>
            <a:r>
              <a:rPr lang="en-US" altLang="ko-KR" sz="1000" dirty="0"/>
              <a:t>’</a:t>
            </a:r>
            <a:r>
              <a:rPr lang="ko-KR" altLang="en-US" sz="1000" dirty="0"/>
              <a:t>가 </a:t>
            </a:r>
            <a:r>
              <a:rPr lang="en-US" altLang="ko-KR" sz="1000" dirty="0"/>
              <a:t>40.4%</a:t>
            </a:r>
            <a:r>
              <a:rPr lang="ko-KR" altLang="en-US" sz="1000" dirty="0"/>
              <a:t>의 비율로 두번째로 많음</a:t>
            </a:r>
            <a:endParaRPr lang="en-US" altLang="ko-KR" sz="1000" dirty="0"/>
          </a:p>
          <a:p>
            <a:pPr marL="171450" indent="-171450" fontAlgn="ctr" latinLnBrk="0">
              <a:lnSpc>
                <a:spcPct val="15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endParaRPr lang="en-US" altLang="ko-KR" sz="1000" dirty="0"/>
          </a:p>
          <a:p>
            <a:pPr marL="171450" indent="-171450" fontAlgn="ctr" latinLnBrk="0">
              <a:lnSpc>
                <a:spcPct val="15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이와 같은 결과는 임금 </a:t>
            </a:r>
            <a:r>
              <a:rPr lang="ko-KR" altLang="en-US" sz="1000" dirty="0" err="1"/>
              <a:t>수준뿐</a:t>
            </a:r>
            <a:r>
              <a:rPr lang="ko-KR" altLang="en-US" sz="1000" dirty="0"/>
              <a:t> 아니라 구조적 형평성과 납득 가능한 기준이 조직 운영의 주요 과제로 떠오르고 있으며</a:t>
            </a:r>
            <a:r>
              <a:rPr lang="en-US" altLang="ko-KR" sz="1000" dirty="0"/>
              <a:t>, </a:t>
            </a:r>
            <a:r>
              <a:rPr lang="ko-KR" altLang="en-US" sz="1000" dirty="0"/>
              <a:t>직원들에게 </a:t>
            </a:r>
            <a:r>
              <a:rPr lang="en-US" altLang="ko-KR" sz="1000" dirty="0"/>
              <a:t>‘</a:t>
            </a:r>
            <a:r>
              <a:rPr lang="ko-KR" altLang="en-US" sz="1000" dirty="0"/>
              <a:t>성과가 연봉에 제대로 반영되지 않는다</a:t>
            </a:r>
            <a:r>
              <a:rPr lang="en-US" altLang="ko-KR" sz="1000" dirty="0"/>
              <a:t>’</a:t>
            </a:r>
            <a:r>
              <a:rPr lang="ko-KR" altLang="en-US" sz="1000" dirty="0"/>
              <a:t>는 인식이 강해져 직급 간 명확한 보상 격차</a:t>
            </a:r>
            <a:r>
              <a:rPr lang="en-US" altLang="ko-KR" sz="1000" dirty="0"/>
              <a:t>, </a:t>
            </a:r>
            <a:r>
              <a:rPr lang="ko-KR" altLang="en-US" sz="1000" dirty="0"/>
              <a:t>외부 인재에 대한 경쟁력 있는 처우와 함께 내부 직원의 동기 저하나 형평성 문제가 발생하지 않도록 균형 있는 설계가 필요</a:t>
            </a:r>
            <a:endParaRPr lang="en-US" altLang="ko-KR" sz="1000" dirty="0"/>
          </a:p>
          <a:p>
            <a:pPr marL="171450" indent="-171450" fontAlgn="ctr" latinLnBrk="0">
              <a:lnSpc>
                <a:spcPct val="15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000" dirty="0"/>
              <a:t>보상 수준의 절대적 문제보다 ‘기준의 공정성과 </a:t>
            </a:r>
            <a:r>
              <a:rPr lang="ko-KR" altLang="en-US" sz="1000" dirty="0" err="1"/>
              <a:t>투명성’에</a:t>
            </a:r>
            <a:r>
              <a:rPr lang="ko-KR" altLang="en-US" sz="1000" dirty="0"/>
              <a:t> 대한 불신이 이탈 요인으로 작용하여</a:t>
            </a:r>
            <a:r>
              <a:rPr lang="en-US" altLang="ko-KR" sz="1000" dirty="0"/>
              <a:t>,</a:t>
            </a:r>
            <a:r>
              <a:rPr lang="ko-KR" altLang="en-US" sz="1000" dirty="0"/>
              <a:t> 투명하지 않은 평가</a:t>
            </a:r>
            <a:r>
              <a:rPr lang="en-US" altLang="ko-KR" sz="1000" dirty="0"/>
              <a:t>·</a:t>
            </a:r>
            <a:r>
              <a:rPr lang="ko-KR" altLang="en-US" sz="1000" dirty="0"/>
              <a:t>보상 체계는 </a:t>
            </a:r>
            <a:r>
              <a:rPr lang="en-US" altLang="ko-KR" sz="1000" dirty="0"/>
              <a:t>MZ</a:t>
            </a:r>
            <a:r>
              <a:rPr lang="ko-KR" altLang="en-US" sz="1000" dirty="0"/>
              <a:t>세대 이탈을 가속화 시키므로 기준의 공개와 지속적 피드백이 제도 설계에 필수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4240264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A7439-EBA0-A5DD-51CC-AA9D004A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45C3FB8-211D-4B8C-162E-3324A65008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2"/>
            <a:ext cx="9359900" cy="601325"/>
          </a:xfrm>
        </p:spPr>
        <p:txBody>
          <a:bodyPr/>
          <a:lstStyle/>
          <a:p>
            <a:r>
              <a:rPr lang="ko-KR" altLang="en-US" dirty="0"/>
              <a:t>국토 교통부는 스마트건설 활성화 방안의 일환으로 건설산업의 디지털화 정책을 지원하고 있으며</a:t>
            </a:r>
            <a:r>
              <a:rPr lang="en-US" altLang="ko-KR" dirty="0"/>
              <a:t>, BIM </a:t>
            </a:r>
            <a:r>
              <a:rPr lang="ko-KR" altLang="en-US" dirty="0"/>
              <a:t>기술의 도입을 촉진함으로써 건설산업의 효율설과 안전성을 높이고자 지원과 규제방안을 마련하고 있음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E5A986-F15A-CA1C-BBBA-F16D02116D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BD19B9-AD3D-9ED1-7289-BFDCEE3DAF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외부환경분석 </a:t>
            </a:r>
            <a:r>
              <a:rPr lang="en-US" altLang="ko-KR" dirty="0"/>
              <a:t>&gt; </a:t>
            </a:r>
            <a:r>
              <a:rPr lang="ko-KR" altLang="en-US" dirty="0"/>
              <a:t>산업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4B2347-213B-ED44-4D5F-C4D3E9B2C0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* 출처</a:t>
            </a:r>
            <a:r>
              <a:rPr lang="en-US" altLang="ko-KR" dirty="0"/>
              <a:t>: </a:t>
            </a:r>
            <a:r>
              <a:rPr lang="ko-KR" altLang="en-US" dirty="0"/>
              <a:t>스마트건설기술 로드맵</a:t>
            </a:r>
            <a:r>
              <a:rPr lang="en-US" altLang="ko-KR" dirty="0"/>
              <a:t>. </a:t>
            </a:r>
            <a:r>
              <a:rPr lang="ko-KR" altLang="en-US" dirty="0"/>
              <a:t>국토교통부</a:t>
            </a:r>
            <a:r>
              <a:rPr lang="en-US" altLang="ko-KR" dirty="0"/>
              <a:t>, 2018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BBA4FC-615E-36E0-DC41-4AF5DDBE56A2}"/>
              </a:ext>
            </a:extLst>
          </p:cNvPr>
          <p:cNvSpPr/>
          <p:nvPr/>
        </p:nvSpPr>
        <p:spPr>
          <a:xfrm>
            <a:off x="273051" y="1628775"/>
            <a:ext cx="9357268" cy="323849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기술환경 변화에 따른 건설산업 내 </a:t>
            </a:r>
            <a:r>
              <a:rPr lang="en-US" altLang="ko-KR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BIM </a:t>
            </a:r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파급효과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D41BE9-B709-F0F9-BB7E-F89862FA95F3}"/>
              </a:ext>
            </a:extLst>
          </p:cNvPr>
          <p:cNvSpPr/>
          <p:nvPr/>
        </p:nvSpPr>
        <p:spPr>
          <a:xfrm>
            <a:off x="281061" y="5087524"/>
            <a:ext cx="9357267" cy="103260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CECEC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171450" indent="-171450" fontAlgn="ctr" latinLnBrk="0">
              <a:lnSpc>
                <a:spcPts val="12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000" spc="-60" dirty="0"/>
              <a:t>BIM </a:t>
            </a:r>
            <a:r>
              <a:rPr lang="ko-KR" altLang="en-US" sz="1000" spc="-60" dirty="0"/>
              <a:t>건축정보를 </a:t>
            </a:r>
            <a:r>
              <a:rPr lang="en-US" altLang="ko-KR" sz="1000" spc="-60" dirty="0"/>
              <a:t>3D </a:t>
            </a:r>
            <a:r>
              <a:rPr lang="ko-KR" altLang="en-US" sz="1000" spc="-60" dirty="0"/>
              <a:t>모델로 통합 프로젝트 설계</a:t>
            </a:r>
            <a:r>
              <a:rPr lang="en-US" altLang="ko-KR" sz="1000" spc="-60" dirty="0"/>
              <a:t>, </a:t>
            </a:r>
            <a:r>
              <a:rPr lang="ko-KR" altLang="en-US" sz="1000" spc="-60" dirty="0"/>
              <a:t>시공</a:t>
            </a:r>
            <a:r>
              <a:rPr lang="en-US" altLang="ko-KR" sz="1000" spc="-60" dirty="0"/>
              <a:t>, </a:t>
            </a:r>
            <a:r>
              <a:rPr lang="ko-KR" altLang="en-US" sz="1000" spc="-60" dirty="0"/>
              <a:t>유지 관리에 이르기까지 전 과정에서 정보를 공유하고 접근할 수 있도록 하여 </a:t>
            </a:r>
            <a:r>
              <a:rPr lang="en-US" altLang="ko-KR" sz="1000" spc="-60" dirty="0"/>
              <a:t>4</a:t>
            </a:r>
            <a:r>
              <a:rPr lang="ko-KR" altLang="en-US" sz="1000" spc="-60" dirty="0"/>
              <a:t>차 산업의 주요 기술들과 시너지 기대 </a:t>
            </a:r>
          </a:p>
          <a:p>
            <a:pPr marL="409575" lvl="1" indent="-228600" fontAlgn="ctr" latinLnBrk="0">
              <a:lnSpc>
                <a:spcPts val="1200"/>
              </a:lnSpc>
              <a:spcBef>
                <a:spcPct val="10000"/>
              </a:spcBef>
              <a:buFont typeface="+mj-ea"/>
              <a:buAutoNum type="circleNumDbPlain"/>
              <a:defRPr/>
            </a:pPr>
            <a:r>
              <a:rPr lang="ko-KR" altLang="en-US" sz="1000" dirty="0"/>
              <a:t>클라우드 컴퓨팅 </a:t>
            </a:r>
            <a:r>
              <a:rPr lang="en-US" altLang="ko-KR" sz="1000" dirty="0"/>
              <a:t>: </a:t>
            </a:r>
            <a:r>
              <a:rPr lang="ko-KR" altLang="en-US" sz="1000" dirty="0"/>
              <a:t>프로젝트 정보를 클라우드에 저장하고</a:t>
            </a:r>
            <a:r>
              <a:rPr lang="en-US" altLang="ko-KR" sz="1000" dirty="0"/>
              <a:t>, </a:t>
            </a:r>
            <a:r>
              <a:rPr lang="ko-KR" altLang="en-US" sz="1000" dirty="0"/>
              <a:t>관련 이해당사자들이 언제 어디서나 접근</a:t>
            </a:r>
          </a:p>
          <a:p>
            <a:pPr marL="409575" lvl="1" indent="-228600" fontAlgn="ctr" latinLnBrk="0">
              <a:lnSpc>
                <a:spcPts val="1200"/>
              </a:lnSpc>
              <a:spcBef>
                <a:spcPct val="10000"/>
              </a:spcBef>
              <a:buFont typeface="+mj-ea"/>
              <a:buAutoNum type="circleNumDbPlain"/>
              <a:defRPr/>
            </a:pPr>
            <a:r>
              <a:rPr lang="ko-KR" altLang="en-US" sz="1000" dirty="0"/>
              <a:t>빅 데이터 </a:t>
            </a:r>
            <a:r>
              <a:rPr lang="en-US" altLang="ko-KR" sz="1000" dirty="0"/>
              <a:t>: </a:t>
            </a:r>
            <a:r>
              <a:rPr lang="ko-KR" altLang="en-US" sz="1000" dirty="0"/>
              <a:t>건설 프로젝트에서 발생하는 방대한 양의 데이터를 수집</a:t>
            </a:r>
            <a:r>
              <a:rPr lang="en-US" altLang="ko-KR" sz="1000" dirty="0"/>
              <a:t>, </a:t>
            </a:r>
            <a:r>
              <a:rPr lang="ko-KR" altLang="en-US" sz="1000" dirty="0"/>
              <a:t>분석하여 의사결정 지원</a:t>
            </a:r>
          </a:p>
          <a:p>
            <a:pPr marL="409575" lvl="1" indent="-228600" fontAlgn="ctr" latinLnBrk="0">
              <a:lnSpc>
                <a:spcPts val="1200"/>
              </a:lnSpc>
              <a:spcBef>
                <a:spcPct val="10000"/>
              </a:spcBef>
              <a:buFont typeface="+mj-ea"/>
              <a:buAutoNum type="circleNumDbPlain"/>
              <a:defRPr/>
            </a:pPr>
            <a:r>
              <a:rPr lang="ko-KR" altLang="en-US" sz="1000" dirty="0"/>
              <a:t>사물인터넷</a:t>
            </a:r>
            <a:r>
              <a:rPr lang="en-US" altLang="ko-KR" sz="1000" dirty="0"/>
              <a:t>(IoT) : </a:t>
            </a:r>
            <a:r>
              <a:rPr lang="ko-KR" altLang="en-US" sz="1000" dirty="0"/>
              <a:t>현장의 센서 데이터를 </a:t>
            </a:r>
            <a:r>
              <a:rPr lang="en-US" altLang="ko-KR" sz="1000" dirty="0"/>
              <a:t>BIM </a:t>
            </a:r>
            <a:r>
              <a:rPr lang="ko-KR" altLang="en-US" sz="1000" dirty="0"/>
              <a:t>시스템과 통합하여 실시간으로 건축물의 상태를 모니터링하고</a:t>
            </a:r>
            <a:r>
              <a:rPr lang="en-US" altLang="ko-KR" sz="1000" dirty="0"/>
              <a:t>, </a:t>
            </a:r>
            <a:r>
              <a:rPr lang="ko-KR" altLang="en-US" sz="1000" dirty="0"/>
              <a:t>효율적인 관리 가능</a:t>
            </a:r>
          </a:p>
          <a:p>
            <a:pPr marL="409575" lvl="1" indent="-228600" fontAlgn="ctr" latinLnBrk="0">
              <a:lnSpc>
                <a:spcPts val="1200"/>
              </a:lnSpc>
              <a:spcBef>
                <a:spcPct val="10000"/>
              </a:spcBef>
              <a:buFont typeface="+mj-ea"/>
              <a:buAutoNum type="circleNumDbPlain"/>
              <a:defRPr/>
            </a:pPr>
            <a:r>
              <a:rPr lang="ko-KR" altLang="en-US" sz="1000" dirty="0"/>
              <a:t>인공지능</a:t>
            </a:r>
            <a:r>
              <a:rPr lang="en-US" altLang="ko-KR" sz="1000" dirty="0"/>
              <a:t>(AI) : AI</a:t>
            </a:r>
            <a:r>
              <a:rPr lang="ko-KR" altLang="en-US" sz="1000" dirty="0"/>
              <a:t>를 사용하여 </a:t>
            </a:r>
            <a:r>
              <a:rPr lang="en-US" altLang="ko-KR" sz="1000" dirty="0"/>
              <a:t>BIM </a:t>
            </a:r>
            <a:r>
              <a:rPr lang="ko-KR" altLang="en-US" sz="1000" dirty="0"/>
              <a:t>데이터를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최적의 설계 변경 제안</a:t>
            </a:r>
            <a:r>
              <a:rPr lang="en-US" altLang="ko-KR" sz="1000" dirty="0"/>
              <a:t>, </a:t>
            </a:r>
            <a:r>
              <a:rPr lang="ko-KR" altLang="en-US" sz="1000" dirty="0"/>
              <a:t>예측</a:t>
            </a:r>
            <a:r>
              <a:rPr lang="en-US" altLang="ko-KR" sz="1000" dirty="0"/>
              <a:t>, </a:t>
            </a:r>
            <a:r>
              <a:rPr lang="ko-KR" altLang="en-US" sz="1000" dirty="0"/>
              <a:t>유지보수 수행</a:t>
            </a:r>
            <a:endParaRPr lang="en-US" altLang="ko-KR" sz="1000" dirty="0"/>
          </a:p>
          <a:p>
            <a:pPr marL="409575" lvl="1" indent="-228600" fontAlgn="ctr" latinLnBrk="0">
              <a:lnSpc>
                <a:spcPts val="1200"/>
              </a:lnSpc>
              <a:spcBef>
                <a:spcPct val="10000"/>
              </a:spcBef>
              <a:buFont typeface="+mj-ea"/>
              <a:buAutoNum type="circleNumDbPlain"/>
              <a:defRPr/>
            </a:pPr>
            <a:r>
              <a:rPr lang="ko-KR" altLang="en-US" sz="1000" dirty="0"/>
              <a:t>가상현실</a:t>
            </a:r>
            <a:r>
              <a:rPr lang="en-US" altLang="ko-KR" sz="1000" dirty="0"/>
              <a:t>(VR)/</a:t>
            </a:r>
            <a:r>
              <a:rPr lang="ko-KR" altLang="en-US" sz="1000" dirty="0"/>
              <a:t>증강현실</a:t>
            </a:r>
            <a:r>
              <a:rPr lang="en-US" altLang="ko-KR" sz="1000" dirty="0"/>
              <a:t>(AR) : BIM </a:t>
            </a:r>
            <a:r>
              <a:rPr lang="ko-KR" altLang="en-US" sz="1000" dirty="0"/>
              <a:t>모델을 활용하여 현장 상황 가상 시뮬레이션</a:t>
            </a:r>
            <a:r>
              <a:rPr lang="en-US" altLang="ko-KR" sz="1000" dirty="0"/>
              <a:t>, </a:t>
            </a:r>
            <a:r>
              <a:rPr lang="ko-KR" altLang="en-US" sz="1000" dirty="0"/>
              <a:t>현장 작업 중 </a:t>
            </a:r>
            <a:r>
              <a:rPr lang="en-US" altLang="ko-KR" sz="1000" dirty="0"/>
              <a:t>AR</a:t>
            </a:r>
            <a:r>
              <a:rPr lang="ko-KR" altLang="en-US" sz="1000" dirty="0"/>
              <a:t>을 통해 필요한 정보를 실시간으로 제공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5B543AB-C4BB-3203-DD97-C7A8B07C0B76}"/>
              </a:ext>
            </a:extLst>
          </p:cNvPr>
          <p:cNvGrpSpPr/>
          <p:nvPr/>
        </p:nvGrpSpPr>
        <p:grpSpPr>
          <a:xfrm>
            <a:off x="997630" y="2060575"/>
            <a:ext cx="8632689" cy="323849"/>
            <a:chOff x="997630" y="2060575"/>
            <a:chExt cx="8280361" cy="431799"/>
          </a:xfrm>
        </p:grpSpPr>
        <p:sp>
          <p:nvSpPr>
            <p:cNvPr id="12" name="모서리가 둥근 직사각형 95">
              <a:extLst>
                <a:ext uri="{FF2B5EF4-FFF2-40B4-BE49-F238E27FC236}">
                  <a16:creationId xmlns:a16="http://schemas.microsoft.com/office/drawing/2014/main" id="{1089B735-A799-67F8-5B60-7FDA36DD4AFE}"/>
                </a:ext>
              </a:extLst>
            </p:cNvPr>
            <p:cNvSpPr>
              <a:spLocks/>
            </p:cNvSpPr>
            <p:nvPr/>
          </p:nvSpPr>
          <p:spPr>
            <a:xfrm>
              <a:off x="997630" y="2060575"/>
              <a:ext cx="2758284" cy="431799"/>
            </a:xfrm>
            <a:prstGeom prst="homePlate">
              <a:avLst/>
            </a:prstGeom>
            <a:solidFill>
              <a:srgbClr val="A4B3C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ko-KR" altLang="en-US" sz="1100" b="1" kern="0" spc="-50" dirty="0">
                  <a:solidFill>
                    <a:prstClr val="white"/>
                  </a:solidFill>
                  <a:latin typeface="+mn-ea"/>
                </a:rPr>
                <a:t>설계</a:t>
              </a:r>
            </a:p>
          </p:txBody>
        </p:sp>
        <p:sp>
          <p:nvSpPr>
            <p:cNvPr id="14" name="모서리가 둥근 직사각형 95">
              <a:extLst>
                <a:ext uri="{FF2B5EF4-FFF2-40B4-BE49-F238E27FC236}">
                  <a16:creationId xmlns:a16="http://schemas.microsoft.com/office/drawing/2014/main" id="{B5F2B0BC-4526-21B5-1ACA-257E19161222}"/>
                </a:ext>
              </a:extLst>
            </p:cNvPr>
            <p:cNvSpPr>
              <a:spLocks/>
            </p:cNvSpPr>
            <p:nvPr/>
          </p:nvSpPr>
          <p:spPr>
            <a:xfrm>
              <a:off x="3761423" y="2060575"/>
              <a:ext cx="2758284" cy="431799"/>
            </a:xfrm>
            <a:prstGeom prst="homePlate">
              <a:avLst/>
            </a:prstGeom>
            <a:solidFill>
              <a:srgbClr val="6B808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ko-KR" altLang="en-US" sz="1100" b="1" kern="0" spc="-50" dirty="0">
                  <a:solidFill>
                    <a:prstClr val="white"/>
                  </a:solidFill>
                  <a:latin typeface="+mn-ea"/>
                </a:rPr>
                <a:t>시공</a:t>
              </a:r>
            </a:p>
          </p:txBody>
        </p:sp>
        <p:sp>
          <p:nvSpPr>
            <p:cNvPr id="15" name="모서리가 둥근 직사각형 95">
              <a:extLst>
                <a:ext uri="{FF2B5EF4-FFF2-40B4-BE49-F238E27FC236}">
                  <a16:creationId xmlns:a16="http://schemas.microsoft.com/office/drawing/2014/main" id="{8C56E495-5ECA-7097-5834-EF283E68D0C4}"/>
                </a:ext>
              </a:extLst>
            </p:cNvPr>
            <p:cNvSpPr>
              <a:spLocks/>
            </p:cNvSpPr>
            <p:nvPr/>
          </p:nvSpPr>
          <p:spPr>
            <a:xfrm>
              <a:off x="6519707" y="2060575"/>
              <a:ext cx="2758284" cy="431799"/>
            </a:xfrm>
            <a:prstGeom prst="homePlate">
              <a:avLst/>
            </a:prstGeom>
            <a:solidFill>
              <a:srgbClr val="59626B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algn="ctr" defTabSz="914400"/>
              <a:r>
                <a:rPr lang="ko-KR" altLang="en-US" sz="1100" b="1" kern="0" spc="-50" dirty="0">
                  <a:solidFill>
                    <a:prstClr val="white"/>
                  </a:solidFill>
                  <a:latin typeface="+mn-ea"/>
                </a:rPr>
                <a:t>유지관리</a:t>
              </a:r>
            </a:p>
          </p:txBody>
        </p:sp>
      </p:grpSp>
      <p:sp>
        <p:nvSpPr>
          <p:cNvPr id="27" name="모서리가 둥근 직사각형 95">
            <a:extLst>
              <a:ext uri="{FF2B5EF4-FFF2-40B4-BE49-F238E27FC236}">
                <a16:creationId xmlns:a16="http://schemas.microsoft.com/office/drawing/2014/main" id="{07DC02E4-D8F3-C1A2-006E-B4817BDAE719}"/>
              </a:ext>
            </a:extLst>
          </p:cNvPr>
          <p:cNvSpPr>
            <a:spLocks/>
          </p:cNvSpPr>
          <p:nvPr/>
        </p:nvSpPr>
        <p:spPr>
          <a:xfrm>
            <a:off x="281062" y="2422906"/>
            <a:ext cx="604712" cy="627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/>
            <a:r>
              <a:rPr lang="ko-KR" altLang="en-US" sz="1000" b="1" kern="0" spc="-50" dirty="0">
                <a:solidFill>
                  <a:prstClr val="white"/>
                </a:solidFill>
                <a:latin typeface="+mn-ea"/>
              </a:rPr>
              <a:t>패러다임 변화</a:t>
            </a:r>
            <a:endParaRPr lang="en-US" altLang="ko-KR" sz="700" b="1" kern="0" spc="-5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" name="모서리가 둥근 직사각형 95">
            <a:extLst>
              <a:ext uri="{FF2B5EF4-FFF2-40B4-BE49-F238E27FC236}">
                <a16:creationId xmlns:a16="http://schemas.microsoft.com/office/drawing/2014/main" id="{C587D379-BDD8-FC23-86A0-4F1349154472}"/>
              </a:ext>
            </a:extLst>
          </p:cNvPr>
          <p:cNvSpPr>
            <a:spLocks/>
          </p:cNvSpPr>
          <p:nvPr/>
        </p:nvSpPr>
        <p:spPr>
          <a:xfrm>
            <a:off x="997630" y="2422906"/>
            <a:ext cx="1224000" cy="627000"/>
          </a:xfrm>
          <a:prstGeom prst="roundRect">
            <a:avLst/>
          </a:prstGeom>
          <a:noFill/>
          <a:ln w="12700" cap="flat" cmpd="sng" algn="ctr">
            <a:solidFill>
              <a:srgbClr val="A4B3C0"/>
            </a:solidFill>
            <a:prstDash val="solid"/>
            <a:miter lim="800000"/>
          </a:ln>
          <a:effectLst/>
        </p:spPr>
        <p:txBody>
          <a:bodyPr lIns="72000" rIns="0" numCol="1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b="1" kern="0" spc="-50" dirty="0">
                <a:solidFill>
                  <a:sysClr val="windowText" lastClr="000000"/>
                </a:solidFill>
                <a:latin typeface="+mn-ea"/>
              </a:rPr>
              <a:t>2D</a:t>
            </a: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설계 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단계별 분절 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8" name="모서리가 둥근 직사각형 95">
            <a:extLst>
              <a:ext uri="{FF2B5EF4-FFF2-40B4-BE49-F238E27FC236}">
                <a16:creationId xmlns:a16="http://schemas.microsoft.com/office/drawing/2014/main" id="{8F396826-5962-620D-6C12-EF6DC60AD838}"/>
              </a:ext>
            </a:extLst>
          </p:cNvPr>
          <p:cNvSpPr>
            <a:spLocks/>
          </p:cNvSpPr>
          <p:nvPr/>
        </p:nvSpPr>
        <p:spPr>
          <a:xfrm>
            <a:off x="2537395" y="2422906"/>
            <a:ext cx="1224000" cy="627000"/>
          </a:xfrm>
          <a:prstGeom prst="roundRect">
            <a:avLst/>
          </a:prstGeom>
          <a:noFill/>
          <a:ln w="12700" cap="flat" cmpd="sng" algn="ctr">
            <a:solidFill>
              <a:srgbClr val="A4B3C0"/>
            </a:solidFill>
            <a:prstDash val="solid"/>
            <a:miter lim="800000"/>
          </a:ln>
          <a:effectLst/>
        </p:spPr>
        <p:txBody>
          <a:bodyPr lIns="72000" rIns="0" numCol="1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b="1" kern="0" spc="-50" dirty="0">
                <a:solidFill>
                  <a:sysClr val="windowText" lastClr="000000"/>
                </a:solidFill>
                <a:latin typeface="+mn-ea"/>
              </a:rPr>
              <a:t>3D</a:t>
            </a: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설계 </a:t>
            </a:r>
            <a:r>
              <a:rPr lang="en-US" altLang="ko-KR" sz="1000" b="1" kern="0" spc="-50" dirty="0">
                <a:solidFill>
                  <a:sysClr val="windowText" lastClr="000000"/>
                </a:solidFill>
                <a:latin typeface="+mn-ea"/>
              </a:rPr>
              <a:t> 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b="1" kern="0" spc="-50" dirty="0" err="1">
                <a:solidFill>
                  <a:sysClr val="windowText" lastClr="000000"/>
                </a:solidFill>
                <a:latin typeface="+mn-ea"/>
              </a:rPr>
              <a:t>전단계</a:t>
            </a: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 융합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462019A-44E3-C7D7-213B-1C191D09DA65}"/>
              </a:ext>
            </a:extLst>
          </p:cNvPr>
          <p:cNvGrpSpPr/>
          <p:nvPr/>
        </p:nvGrpSpPr>
        <p:grpSpPr>
          <a:xfrm>
            <a:off x="2283643" y="2629082"/>
            <a:ext cx="211611" cy="214647"/>
            <a:chOff x="2435454" y="182880"/>
            <a:chExt cx="264258" cy="206632"/>
          </a:xfrm>
        </p:grpSpPr>
        <p:sp>
          <p:nvSpPr>
            <p:cNvPr id="41" name="화살표: 갈매기형 수장 40">
              <a:extLst>
                <a:ext uri="{FF2B5EF4-FFF2-40B4-BE49-F238E27FC236}">
                  <a16:creationId xmlns:a16="http://schemas.microsoft.com/office/drawing/2014/main" id="{E47F85A6-B3C6-06E7-3281-57FA544B26A3}"/>
                </a:ext>
              </a:extLst>
            </p:cNvPr>
            <p:cNvSpPr/>
            <p:nvPr/>
          </p:nvSpPr>
          <p:spPr>
            <a:xfrm>
              <a:off x="2435454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42" name="화살표: 갈매기형 수장 41">
              <a:extLst>
                <a:ext uri="{FF2B5EF4-FFF2-40B4-BE49-F238E27FC236}">
                  <a16:creationId xmlns:a16="http://schemas.microsoft.com/office/drawing/2014/main" id="{8DA3945D-E49C-8A31-BBAF-C907E1E81BF3}"/>
                </a:ext>
              </a:extLst>
            </p:cNvPr>
            <p:cNvSpPr/>
            <p:nvPr/>
          </p:nvSpPr>
          <p:spPr>
            <a:xfrm>
              <a:off x="2512770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43" name="화살표: 갈매기형 수장 42">
              <a:extLst>
                <a:ext uri="{FF2B5EF4-FFF2-40B4-BE49-F238E27FC236}">
                  <a16:creationId xmlns:a16="http://schemas.microsoft.com/office/drawing/2014/main" id="{F75F37A0-D86F-70EE-FDEF-07BE29AE7176}"/>
                </a:ext>
              </a:extLst>
            </p:cNvPr>
            <p:cNvSpPr/>
            <p:nvPr/>
          </p:nvSpPr>
          <p:spPr>
            <a:xfrm>
              <a:off x="2590086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모서리가 둥근 직사각형 95">
            <a:extLst>
              <a:ext uri="{FF2B5EF4-FFF2-40B4-BE49-F238E27FC236}">
                <a16:creationId xmlns:a16="http://schemas.microsoft.com/office/drawing/2014/main" id="{C9EF0FF2-50FE-279F-D49B-049F037E9AD9}"/>
              </a:ext>
            </a:extLst>
          </p:cNvPr>
          <p:cNvSpPr>
            <a:spLocks/>
          </p:cNvSpPr>
          <p:nvPr/>
        </p:nvSpPr>
        <p:spPr>
          <a:xfrm>
            <a:off x="3879022" y="2422906"/>
            <a:ext cx="1224000" cy="627000"/>
          </a:xfrm>
          <a:prstGeom prst="roundRect">
            <a:avLst/>
          </a:prstGeom>
          <a:noFill/>
          <a:ln w="12700" cap="flat" cmpd="sng" algn="ctr">
            <a:solidFill>
              <a:srgbClr val="6B808F"/>
            </a:solidFill>
            <a:prstDash val="solid"/>
            <a:miter lim="800000"/>
          </a:ln>
          <a:effectLst/>
        </p:spPr>
        <p:txBody>
          <a:bodyPr lIns="72000" rIns="0" numCol="1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현장생산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인력의존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5" name="모서리가 둥근 직사각형 95">
            <a:extLst>
              <a:ext uri="{FF2B5EF4-FFF2-40B4-BE49-F238E27FC236}">
                <a16:creationId xmlns:a16="http://schemas.microsoft.com/office/drawing/2014/main" id="{6A399808-CCEB-C4E2-3300-9678885575E8}"/>
              </a:ext>
            </a:extLst>
          </p:cNvPr>
          <p:cNvSpPr>
            <a:spLocks/>
          </p:cNvSpPr>
          <p:nvPr/>
        </p:nvSpPr>
        <p:spPr>
          <a:xfrm>
            <a:off x="5418787" y="2422906"/>
            <a:ext cx="1224000" cy="627000"/>
          </a:xfrm>
          <a:prstGeom prst="roundRect">
            <a:avLst/>
          </a:prstGeom>
          <a:noFill/>
          <a:ln w="12700" cap="flat" cmpd="sng" algn="ctr">
            <a:solidFill>
              <a:srgbClr val="6B808F"/>
            </a:solidFill>
            <a:prstDash val="solid"/>
            <a:miter lim="800000"/>
          </a:ln>
          <a:effectLst/>
        </p:spPr>
        <p:txBody>
          <a:bodyPr lIns="72000" rIns="0" numCol="1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모듈화</a:t>
            </a:r>
            <a:r>
              <a:rPr lang="en-US" altLang="ko-KR" sz="1000" b="1" kern="0" spc="-50" dirty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제조업화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자동화 현장관제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5CF7D64-8FAA-AFEA-5400-D67C05BA396F}"/>
              </a:ext>
            </a:extLst>
          </p:cNvPr>
          <p:cNvGrpSpPr/>
          <p:nvPr/>
        </p:nvGrpSpPr>
        <p:grpSpPr>
          <a:xfrm>
            <a:off x="5165035" y="2629082"/>
            <a:ext cx="211611" cy="214647"/>
            <a:chOff x="2435454" y="182880"/>
            <a:chExt cx="264258" cy="206632"/>
          </a:xfrm>
        </p:grpSpPr>
        <p:sp>
          <p:nvSpPr>
            <p:cNvPr id="47" name="화살표: 갈매기형 수장 46">
              <a:extLst>
                <a:ext uri="{FF2B5EF4-FFF2-40B4-BE49-F238E27FC236}">
                  <a16:creationId xmlns:a16="http://schemas.microsoft.com/office/drawing/2014/main" id="{3E481772-2F61-A25E-DE93-5F13BFC5BAFB}"/>
                </a:ext>
              </a:extLst>
            </p:cNvPr>
            <p:cNvSpPr/>
            <p:nvPr/>
          </p:nvSpPr>
          <p:spPr>
            <a:xfrm>
              <a:off x="2435454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48" name="화살표: 갈매기형 수장 47">
              <a:extLst>
                <a:ext uri="{FF2B5EF4-FFF2-40B4-BE49-F238E27FC236}">
                  <a16:creationId xmlns:a16="http://schemas.microsoft.com/office/drawing/2014/main" id="{31129E39-9EF2-5031-A684-A093DB58B07D}"/>
                </a:ext>
              </a:extLst>
            </p:cNvPr>
            <p:cNvSpPr/>
            <p:nvPr/>
          </p:nvSpPr>
          <p:spPr>
            <a:xfrm>
              <a:off x="2512770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49" name="화살표: 갈매기형 수장 48">
              <a:extLst>
                <a:ext uri="{FF2B5EF4-FFF2-40B4-BE49-F238E27FC236}">
                  <a16:creationId xmlns:a16="http://schemas.microsoft.com/office/drawing/2014/main" id="{16B93B21-44F4-FF41-CCCA-24F069E65B12}"/>
                </a:ext>
              </a:extLst>
            </p:cNvPr>
            <p:cNvSpPr/>
            <p:nvPr/>
          </p:nvSpPr>
          <p:spPr>
            <a:xfrm>
              <a:off x="2590086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모서리가 둥근 직사각형 95">
            <a:extLst>
              <a:ext uri="{FF2B5EF4-FFF2-40B4-BE49-F238E27FC236}">
                <a16:creationId xmlns:a16="http://schemas.microsoft.com/office/drawing/2014/main" id="{C51C2D57-8039-0B59-B0A3-5D21F4009B87}"/>
              </a:ext>
            </a:extLst>
          </p:cNvPr>
          <p:cNvSpPr>
            <a:spLocks/>
          </p:cNvSpPr>
          <p:nvPr/>
        </p:nvSpPr>
        <p:spPr>
          <a:xfrm>
            <a:off x="6756605" y="2422906"/>
            <a:ext cx="1224000" cy="627000"/>
          </a:xfrm>
          <a:prstGeom prst="roundRect">
            <a:avLst/>
          </a:prstGeom>
          <a:noFill/>
          <a:ln w="19050" cap="flat" cmpd="sng" algn="ctr">
            <a:solidFill>
              <a:srgbClr val="59626B"/>
            </a:solidFill>
            <a:prstDash val="solid"/>
            <a:miter lim="800000"/>
          </a:ln>
          <a:effectLst/>
        </p:spPr>
        <p:txBody>
          <a:bodyPr lIns="72000" rIns="0" numCol="1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정보단절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현장방문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주관적 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1" name="모서리가 둥근 직사각형 95">
            <a:extLst>
              <a:ext uri="{FF2B5EF4-FFF2-40B4-BE49-F238E27FC236}">
                <a16:creationId xmlns:a16="http://schemas.microsoft.com/office/drawing/2014/main" id="{DB631868-8ADF-4D53-CA6B-BAF8969AF47C}"/>
              </a:ext>
            </a:extLst>
          </p:cNvPr>
          <p:cNvSpPr>
            <a:spLocks/>
          </p:cNvSpPr>
          <p:nvPr/>
        </p:nvSpPr>
        <p:spPr>
          <a:xfrm>
            <a:off x="8296370" y="2422906"/>
            <a:ext cx="1224000" cy="627000"/>
          </a:xfrm>
          <a:prstGeom prst="roundRect">
            <a:avLst/>
          </a:prstGeom>
          <a:noFill/>
          <a:ln w="19050" cap="flat" cmpd="sng" algn="ctr">
            <a:solidFill>
              <a:srgbClr val="59626B"/>
            </a:solidFill>
            <a:prstDash val="solid"/>
            <a:miter lim="800000"/>
          </a:ln>
          <a:effectLst/>
        </p:spPr>
        <p:txBody>
          <a:bodyPr lIns="72000" rIns="0" numCol="1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 err="1">
                <a:solidFill>
                  <a:sysClr val="windowText" lastClr="000000"/>
                </a:solidFill>
                <a:latin typeface="+mn-ea"/>
              </a:rPr>
              <a:t>정보피드백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원격제어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kern="0" spc="-50" dirty="0">
                <a:solidFill>
                  <a:sysClr val="windowText" lastClr="000000"/>
                </a:solidFill>
                <a:latin typeface="+mn-ea"/>
              </a:rPr>
              <a:t>과학적</a:t>
            </a:r>
            <a:endParaRPr lang="en-US" altLang="ko-KR" sz="1000" b="1" kern="0" spc="-50" dirty="0">
              <a:solidFill>
                <a:sysClr val="windowText" lastClr="000000"/>
              </a:solidFill>
              <a:latin typeface="+mn-ea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0D15AA3-EF7F-8964-A8B5-EA8385576972}"/>
              </a:ext>
            </a:extLst>
          </p:cNvPr>
          <p:cNvGrpSpPr/>
          <p:nvPr/>
        </p:nvGrpSpPr>
        <p:grpSpPr>
          <a:xfrm>
            <a:off x="8042618" y="2629082"/>
            <a:ext cx="211611" cy="214647"/>
            <a:chOff x="2435454" y="182880"/>
            <a:chExt cx="264258" cy="206632"/>
          </a:xfrm>
        </p:grpSpPr>
        <p:sp>
          <p:nvSpPr>
            <p:cNvPr id="53" name="화살표: 갈매기형 수장 52">
              <a:extLst>
                <a:ext uri="{FF2B5EF4-FFF2-40B4-BE49-F238E27FC236}">
                  <a16:creationId xmlns:a16="http://schemas.microsoft.com/office/drawing/2014/main" id="{E55182FC-672F-08FE-A1DB-9FB613AF4D70}"/>
                </a:ext>
              </a:extLst>
            </p:cNvPr>
            <p:cNvSpPr/>
            <p:nvPr/>
          </p:nvSpPr>
          <p:spPr>
            <a:xfrm>
              <a:off x="2435454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54" name="화살표: 갈매기형 수장 53">
              <a:extLst>
                <a:ext uri="{FF2B5EF4-FFF2-40B4-BE49-F238E27FC236}">
                  <a16:creationId xmlns:a16="http://schemas.microsoft.com/office/drawing/2014/main" id="{D3F516A6-A6F1-D838-1371-C780329FBC80}"/>
                </a:ext>
              </a:extLst>
            </p:cNvPr>
            <p:cNvSpPr/>
            <p:nvPr/>
          </p:nvSpPr>
          <p:spPr>
            <a:xfrm>
              <a:off x="2512770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55" name="화살표: 갈매기형 수장 54">
              <a:extLst>
                <a:ext uri="{FF2B5EF4-FFF2-40B4-BE49-F238E27FC236}">
                  <a16:creationId xmlns:a16="http://schemas.microsoft.com/office/drawing/2014/main" id="{9FF58EF6-ECE0-0FC9-FBB0-901A01D390E4}"/>
                </a:ext>
              </a:extLst>
            </p:cNvPr>
            <p:cNvSpPr/>
            <p:nvPr/>
          </p:nvSpPr>
          <p:spPr>
            <a:xfrm>
              <a:off x="2590086" y="182880"/>
              <a:ext cx="109626" cy="206632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모서리가 둥근 직사각형 95">
            <a:extLst>
              <a:ext uri="{FF2B5EF4-FFF2-40B4-BE49-F238E27FC236}">
                <a16:creationId xmlns:a16="http://schemas.microsoft.com/office/drawing/2014/main" id="{8F9274DE-9B87-4342-6792-8F3A63EB2018}"/>
              </a:ext>
            </a:extLst>
          </p:cNvPr>
          <p:cNvSpPr>
            <a:spLocks/>
          </p:cNvSpPr>
          <p:nvPr/>
        </p:nvSpPr>
        <p:spPr>
          <a:xfrm>
            <a:off x="281062" y="3105786"/>
            <a:ext cx="604712" cy="191369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/>
            <a:r>
              <a:rPr lang="ko-KR" altLang="en-US" sz="1000" b="1" kern="0" spc="-50" dirty="0">
                <a:solidFill>
                  <a:prstClr val="white"/>
                </a:solidFill>
                <a:latin typeface="+mn-ea"/>
              </a:rPr>
              <a:t>적용</a:t>
            </a:r>
            <a:endParaRPr lang="en-US" altLang="ko-KR" sz="1000" b="1" kern="0" spc="-50" dirty="0">
              <a:solidFill>
                <a:prstClr val="white"/>
              </a:solidFill>
              <a:latin typeface="+mn-ea"/>
            </a:endParaRPr>
          </a:p>
          <a:p>
            <a:pPr algn="ctr" defTabSz="914400"/>
            <a:r>
              <a:rPr lang="ko-KR" altLang="en-US" sz="1000" b="1" kern="0" spc="-50" dirty="0">
                <a:solidFill>
                  <a:prstClr val="white"/>
                </a:solidFill>
                <a:latin typeface="+mn-ea"/>
              </a:rPr>
              <a:t>기술</a:t>
            </a:r>
            <a:endParaRPr lang="en-US" altLang="ko-KR" sz="700" b="1" kern="0" spc="-5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C3C549E-D7C7-0F0C-E208-4F4445293B3E}"/>
              </a:ext>
            </a:extLst>
          </p:cNvPr>
          <p:cNvSpPr/>
          <p:nvPr/>
        </p:nvSpPr>
        <p:spPr>
          <a:xfrm>
            <a:off x="997630" y="3105786"/>
            <a:ext cx="8522740" cy="1913691"/>
          </a:xfrm>
          <a:prstGeom prst="rect">
            <a:avLst/>
          </a:prstGeom>
          <a:solidFill>
            <a:srgbClr val="F5F5F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3E187F34-F8CB-1B0B-EB1E-4C074B4D1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1"/>
          <a:stretch>
            <a:fillRect/>
          </a:stretch>
        </p:blipFill>
        <p:spPr>
          <a:xfrm>
            <a:off x="1017308" y="3137377"/>
            <a:ext cx="2744087" cy="184537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32FB3E9B-6024-E4DA-24C9-1437FCEB8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111" y="3139918"/>
            <a:ext cx="2824729" cy="1842831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33A1160-9883-4620-5656-C59E80B39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2717" y="3128648"/>
            <a:ext cx="2653703" cy="1854101"/>
          </a:xfrm>
          <a:prstGeom prst="rect">
            <a:avLst/>
          </a:prstGeom>
        </p:spPr>
      </p:pic>
      <p:cxnSp>
        <p:nvCxnSpPr>
          <p:cNvPr id="2049" name="직선 연결선 2048">
            <a:extLst>
              <a:ext uri="{FF2B5EF4-FFF2-40B4-BE49-F238E27FC236}">
                <a16:creationId xmlns:a16="http://schemas.microsoft.com/office/drawing/2014/main" id="{0B8991BC-E14C-5BC0-6265-9A74D77D3984}"/>
              </a:ext>
            </a:extLst>
          </p:cNvPr>
          <p:cNvCxnSpPr/>
          <p:nvPr/>
        </p:nvCxnSpPr>
        <p:spPr>
          <a:xfrm>
            <a:off x="3804257" y="3137377"/>
            <a:ext cx="0" cy="1845372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1" name="직선 연결선 2050">
            <a:extLst>
              <a:ext uri="{FF2B5EF4-FFF2-40B4-BE49-F238E27FC236}">
                <a16:creationId xmlns:a16="http://schemas.microsoft.com/office/drawing/2014/main" id="{3E19DF07-2344-1704-0447-036384A53673}"/>
              </a:ext>
            </a:extLst>
          </p:cNvPr>
          <p:cNvCxnSpPr/>
          <p:nvPr/>
        </p:nvCxnSpPr>
        <p:spPr>
          <a:xfrm>
            <a:off x="6706551" y="3137377"/>
            <a:ext cx="0" cy="1845372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692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베이시스소프트는</a:t>
            </a:r>
            <a:r>
              <a:rPr lang="ko-KR" altLang="en-US" dirty="0"/>
              <a:t> </a:t>
            </a:r>
            <a:r>
              <a:rPr lang="en-US" altLang="ko-KR" dirty="0"/>
              <a:t>1994</a:t>
            </a:r>
            <a:r>
              <a:rPr lang="ko-KR" altLang="en-US" dirty="0"/>
              <a:t>년 설립되어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BIM </a:t>
            </a:r>
            <a:r>
              <a:rPr lang="ko-KR" altLang="en-US" dirty="0"/>
              <a:t>컨설팅</a:t>
            </a:r>
            <a:r>
              <a:rPr lang="en-US" altLang="ko-KR" dirty="0"/>
              <a:t>(</a:t>
            </a:r>
            <a:r>
              <a:rPr lang="ko-KR" altLang="en-US" dirty="0"/>
              <a:t>설계</a:t>
            </a:r>
            <a:r>
              <a:rPr lang="en-US" altLang="ko-KR" dirty="0"/>
              <a:t>, </a:t>
            </a:r>
            <a:r>
              <a:rPr lang="ko-KR" altLang="en-US" dirty="0"/>
              <a:t>시공</a:t>
            </a:r>
            <a:r>
              <a:rPr lang="en-US" altLang="ko-KR" dirty="0"/>
              <a:t>, </a:t>
            </a:r>
            <a:r>
              <a:rPr lang="ko-KR" altLang="en-US" dirty="0"/>
              <a:t>턴키</a:t>
            </a:r>
            <a:r>
              <a:rPr lang="en-US" altLang="ko-KR" dirty="0"/>
              <a:t>)/</a:t>
            </a:r>
            <a:r>
              <a:rPr lang="ko-KR" altLang="en-US" dirty="0"/>
              <a:t> 소프트웨어 판매</a:t>
            </a:r>
            <a:r>
              <a:rPr lang="en-US" altLang="ko-KR" dirty="0"/>
              <a:t>·</a:t>
            </a:r>
            <a:r>
              <a:rPr lang="ko-KR" altLang="en-US" dirty="0"/>
              <a:t>개발</a:t>
            </a:r>
            <a:r>
              <a:rPr lang="en-US" altLang="ko-KR" dirty="0"/>
              <a:t> / BIM </a:t>
            </a:r>
            <a:r>
              <a:rPr lang="ko-KR" altLang="en-US" dirty="0"/>
              <a:t>교육 등의 서비스를 제공하며</a:t>
            </a:r>
            <a:r>
              <a:rPr lang="en-US" altLang="ko-KR" dirty="0"/>
              <a:t> </a:t>
            </a:r>
            <a:r>
              <a:rPr lang="ko-KR" altLang="en-US" dirty="0"/>
              <a:t>지속적으로 성장해오고 있음</a:t>
            </a:r>
            <a:r>
              <a:rPr lang="en-US" altLang="ko-KR" dirty="0"/>
              <a:t>.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기업 일반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4B6E6CF-BB88-8DA8-1FCD-E4797C017F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097463" y="2055813"/>
            <a:ext cx="4535487" cy="4073525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69357" y="1638325"/>
            <a:ext cx="4539179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기업개요</a:t>
            </a:r>
            <a:endParaRPr lang="ko-KR" altLang="en-US" sz="1400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107019" y="1638325"/>
            <a:ext cx="4525467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주요제품 및 사업분야</a:t>
            </a: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88400"/>
              </p:ext>
            </p:extLst>
          </p:nvPr>
        </p:nvGraphicFramePr>
        <p:xfrm>
          <a:off x="277243" y="2058741"/>
          <a:ext cx="4531294" cy="4074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999">
                  <a:extLst>
                    <a:ext uri="{9D8B030D-6E8A-4147-A177-3AD203B41FA5}">
                      <a16:colId xmlns:a16="http://schemas.microsoft.com/office/drawing/2014/main" val="421765244"/>
                    </a:ext>
                  </a:extLst>
                </a:gridCol>
                <a:gridCol w="882999">
                  <a:extLst>
                    <a:ext uri="{9D8B030D-6E8A-4147-A177-3AD203B41FA5}">
                      <a16:colId xmlns:a16="http://schemas.microsoft.com/office/drawing/2014/main" val="1275836157"/>
                    </a:ext>
                  </a:extLst>
                </a:gridCol>
              </a:tblGrid>
              <a:tr h="264338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일반</a:t>
                      </a:r>
                      <a:endParaRPr lang="en-US" altLang="ko-K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현황</a:t>
                      </a:r>
                      <a:endParaRPr lang="en-US" altLang="ko-K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기업명 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05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베이시스소프트</a:t>
                      </a:r>
                      <a:endParaRPr lang="ko-KR" altLang="en-US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8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주요제품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정보통신업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소프트웨어자문개발공급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엔지니어링용역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,S/W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도소매업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설립일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1994.03</a:t>
                      </a:r>
                      <a:endParaRPr lang="ko-KR" altLang="en-US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소재지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 서초구 </a:t>
                      </a:r>
                      <a:r>
                        <a:rPr lang="ko-KR" altLang="en-US" sz="105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양재천로</a:t>
                      </a:r>
                      <a:endParaRPr lang="ko-KR" altLang="en-US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사업장 수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503020000020004" pitchFamily="50" charset="-127"/>
                          <a:ea typeface="나눔바른고딕" panose="020B0503020000020004" pitchFamily="50" charset="-127"/>
                        </a:rPr>
                        <a:t>1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503020000020004" pitchFamily="50" charset="-127"/>
                          <a:ea typeface="나눔바른고딕" panose="020B0503020000020004" pitchFamily="50" charset="-127"/>
                        </a:rPr>
                        <a:t>개 법인체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5885"/>
                  </a:ext>
                </a:extLst>
              </a:tr>
              <a:tr h="26433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기업유형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중소기업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소유권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국내기업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989178"/>
                  </a:ext>
                </a:extLst>
              </a:tr>
              <a:tr h="23129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재무</a:t>
                      </a:r>
                      <a:endParaRPr lang="en-US" altLang="ko-K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최근 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년간 매출액</a:t>
                      </a:r>
                      <a:endParaRPr lang="en-US" altLang="ko-K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단위 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억원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2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8262853"/>
                  </a:ext>
                </a:extLst>
              </a:tr>
              <a:tr h="231295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최근 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년간 영업이익</a:t>
                      </a:r>
                      <a:endParaRPr lang="en-US" altLang="ko-K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단위 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억원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29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A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spc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667059"/>
                  </a:ext>
                </a:extLst>
              </a:tr>
              <a:tr h="23129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고용</a:t>
                      </a:r>
                      <a:endParaRPr lang="en-US" altLang="ko-K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고용규모</a:t>
                      </a:r>
                      <a:endParaRPr lang="en-US" altLang="ko-K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단위 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163378"/>
                  </a:ext>
                </a:extLst>
              </a:tr>
              <a:tr h="23129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A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spc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907470"/>
                  </a:ext>
                </a:extLst>
              </a:tr>
              <a:tr h="274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 근로자수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27.6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772686"/>
                  </a:ext>
                </a:extLst>
              </a:tr>
              <a:tr h="23129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노사</a:t>
                      </a:r>
                      <a:endParaRPr lang="en-US" altLang="ko-K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노동조합유무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61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년간 노사갈등</a:t>
                      </a: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7E84C20F-2263-A893-0EE7-6AE8C66D3BCB}"/>
              </a:ext>
            </a:extLst>
          </p:cNvPr>
          <p:cNvGrpSpPr/>
          <p:nvPr/>
        </p:nvGrpSpPr>
        <p:grpSpPr>
          <a:xfrm>
            <a:off x="5221632" y="2165585"/>
            <a:ext cx="4338003" cy="200055"/>
            <a:chOff x="5221632" y="2165585"/>
            <a:chExt cx="4338003" cy="20005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AA7655D-8131-B911-A4B1-67714A5AC204}"/>
                </a:ext>
              </a:extLst>
            </p:cNvPr>
            <p:cNvSpPr/>
            <p:nvPr/>
          </p:nvSpPr>
          <p:spPr>
            <a:xfrm>
              <a:off x="5374940" y="2165585"/>
              <a:ext cx="4184695" cy="200055"/>
            </a:xfrm>
            <a:prstGeom prst="rect">
              <a:avLst/>
            </a:prstGeom>
          </p:spPr>
          <p:txBody>
            <a:bodyPr wrap="squar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lang="ko-KR" altLang="en-US" sz="1300" dirty="0">
                  <a:solidFill>
                    <a:prstClr val="black"/>
                  </a:solidFill>
                  <a:latin typeface="+mj-ea"/>
                  <a:ea typeface="+mj-ea"/>
                </a:rPr>
                <a:t>주요 제품 </a:t>
              </a:r>
              <a:r>
                <a:rPr lang="en-US" altLang="ko-KR" sz="1300" dirty="0">
                  <a:solidFill>
                    <a:prstClr val="black"/>
                  </a:solidFill>
                  <a:latin typeface="+mj-ea"/>
                  <a:ea typeface="+mj-ea"/>
                </a:rPr>
                <a:t>/ </a:t>
              </a:r>
              <a:r>
                <a:rPr lang="ko-KR" altLang="en-US" sz="1300" dirty="0">
                  <a:solidFill>
                    <a:prstClr val="black"/>
                  </a:solidFill>
                  <a:latin typeface="+mj-ea"/>
                  <a:ea typeface="+mj-ea"/>
                </a:rPr>
                <a:t>서비스 </a:t>
              </a:r>
              <a:endParaRPr kumimoji="0" lang="ko-KR" altLang="en-US" sz="130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20" name="순서도: 연결자 19">
              <a:extLst>
                <a:ext uri="{FF2B5EF4-FFF2-40B4-BE49-F238E27FC236}">
                  <a16:creationId xmlns:a16="http://schemas.microsoft.com/office/drawing/2014/main" id="{3B095DA1-237B-F9F5-AD52-20A8A93F201E}"/>
                </a:ext>
              </a:extLst>
            </p:cNvPr>
            <p:cNvSpPr/>
            <p:nvPr/>
          </p:nvSpPr>
          <p:spPr>
            <a:xfrm>
              <a:off x="5221632" y="2192376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C264CA5C-1A74-E82E-C3A4-4A82BA989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735" b="28965"/>
          <a:stretch>
            <a:fillRect/>
          </a:stretch>
        </p:blipFill>
        <p:spPr>
          <a:xfrm>
            <a:off x="5275632" y="2423648"/>
            <a:ext cx="688119" cy="92374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02A7DD4-BB3F-9BC8-6458-0AD6B9E5DD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0" r="51745" b="28965"/>
          <a:stretch>
            <a:fillRect/>
          </a:stretch>
        </p:blipFill>
        <p:spPr>
          <a:xfrm>
            <a:off x="5275632" y="3365868"/>
            <a:ext cx="719647" cy="92374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B7FB166-FD00-4281-134A-6E97918A90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07" r="25699" b="31434"/>
          <a:stretch>
            <a:fillRect/>
          </a:stretch>
        </p:blipFill>
        <p:spPr>
          <a:xfrm>
            <a:off x="5275632" y="4308088"/>
            <a:ext cx="732320" cy="89164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DFADD87-9C56-4D71-F9FE-82843DD2D5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18" b="31166"/>
          <a:stretch>
            <a:fillRect/>
          </a:stretch>
        </p:blipFill>
        <p:spPr>
          <a:xfrm>
            <a:off x="5275632" y="5218210"/>
            <a:ext cx="756655" cy="895117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6D80C2-7C46-61AA-0B63-4A2924157503}"/>
              </a:ext>
            </a:extLst>
          </p:cNvPr>
          <p:cNvSpPr/>
          <p:nvPr/>
        </p:nvSpPr>
        <p:spPr>
          <a:xfrm>
            <a:off x="6111240" y="2426410"/>
            <a:ext cx="3398520" cy="92098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92075" indent="-92075" latinLnBrk="0">
              <a:buFont typeface="Arial" panose="020B0604020202020204" pitchFamily="34" charset="0"/>
              <a:buChar char="•"/>
            </a:pP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고객 니즈와 변화하는 산업 생태계를 분석하여</a:t>
            </a:r>
            <a:r>
              <a:rPr lang="en-US" altLang="ko-KR" sz="1100" spc="-6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고객의 </a:t>
            </a:r>
            <a:r>
              <a:rPr lang="en-US" altLang="ko-KR" sz="1100" spc="-60" dirty="0">
                <a:solidFill>
                  <a:schemeClr val="tx1"/>
                </a:solidFill>
                <a:latin typeface="+mn-ea"/>
              </a:rPr>
              <a:t>BIM </a:t>
            </a: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잠재력을 평가하고</a:t>
            </a:r>
            <a:r>
              <a:rPr lang="en-US" altLang="ko-KR" sz="1100" spc="-6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맞춤형 디지털화 전략 제공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7840733-83F0-441F-3F0C-D4BE2CA6F3D1}"/>
              </a:ext>
            </a:extLst>
          </p:cNvPr>
          <p:cNvSpPr/>
          <p:nvPr/>
        </p:nvSpPr>
        <p:spPr>
          <a:xfrm>
            <a:off x="6111240" y="3362345"/>
            <a:ext cx="3398520" cy="92098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92075" indent="-92075" latinLnBrk="0">
              <a:buFont typeface="Arial" panose="020B0604020202020204" pitchFamily="34" charset="0"/>
              <a:buChar char="•"/>
            </a:pP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건설 프로세스의 효율성과 생산성 향상 및 안전하고 지속가능한 건설환경을 위한 솔루션 제공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005DE92-66D5-9DC1-A7A9-37E99C846B4C}"/>
              </a:ext>
            </a:extLst>
          </p:cNvPr>
          <p:cNvSpPr/>
          <p:nvPr/>
        </p:nvSpPr>
        <p:spPr>
          <a:xfrm>
            <a:off x="6111240" y="4287374"/>
            <a:ext cx="3398520" cy="92098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92075" indent="-92075" latinLnBrk="0">
              <a:buFont typeface="Arial" panose="020B0604020202020204" pitchFamily="34" charset="0"/>
              <a:buChar char="•"/>
            </a:pP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프로젝트 수행</a:t>
            </a:r>
            <a:r>
              <a:rPr lang="en-US" altLang="ko-KR" sz="1100" spc="-6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지원</a:t>
            </a:r>
            <a:r>
              <a:rPr lang="en-US" altLang="ko-KR" sz="1100" spc="-6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지식 교류와 협업을 통해 실제 업무 수행이 가능한 </a:t>
            </a:r>
            <a:r>
              <a:rPr lang="en-US" altLang="ko-KR" sz="1100" spc="-60" dirty="0">
                <a:solidFill>
                  <a:schemeClr val="tx1"/>
                </a:solidFill>
                <a:latin typeface="+mn-ea"/>
              </a:rPr>
              <a:t>BIM </a:t>
            </a: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교육 서비스 제공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C10B7A-4AF4-7C95-013E-9267B1104EDE}"/>
              </a:ext>
            </a:extLst>
          </p:cNvPr>
          <p:cNvSpPr/>
          <p:nvPr/>
        </p:nvSpPr>
        <p:spPr>
          <a:xfrm>
            <a:off x="6111240" y="5223309"/>
            <a:ext cx="3398520" cy="92098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92075" indent="-92075" latinLnBrk="0">
              <a:buFont typeface="Arial" panose="020B0604020202020204" pitchFamily="34" charset="0"/>
              <a:buChar char="•"/>
            </a:pPr>
            <a:r>
              <a:rPr lang="en-US" altLang="ko-KR" sz="1100" spc="-60" dirty="0">
                <a:solidFill>
                  <a:schemeClr val="tx1"/>
                </a:solidFill>
                <a:latin typeface="+mn-ea"/>
              </a:rPr>
              <a:t>R&amp;D </a:t>
            </a:r>
            <a:r>
              <a:rPr lang="ko-KR" altLang="en-US" sz="1100" spc="-60" dirty="0">
                <a:solidFill>
                  <a:schemeClr val="tx1"/>
                </a:solidFill>
                <a:latin typeface="+mn-ea"/>
              </a:rPr>
              <a:t>연구를 통해 건설산업의 효율성과 품질을 향상시키며 지속가능한 건설 실현</a:t>
            </a:r>
          </a:p>
        </p:txBody>
      </p:sp>
    </p:spTree>
    <p:extLst>
      <p:ext uri="{BB962C8B-B14F-4D97-AF65-F5344CB8AC3E}">
        <p14:creationId xmlns:p14="http://schemas.microsoft.com/office/powerpoint/2010/main" val="1636507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652BD-9F9E-007E-A299-D258CC80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A3CDA56-5706-200D-CB9C-96345F139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베이시스소프트는</a:t>
            </a:r>
            <a:r>
              <a:rPr lang="ko-KR" altLang="en-US" dirty="0"/>
              <a:t> 국내외 공항</a:t>
            </a:r>
            <a:r>
              <a:rPr lang="en-US" altLang="ko-KR" dirty="0"/>
              <a:t>, </a:t>
            </a:r>
            <a:r>
              <a:rPr lang="ko-KR" altLang="en-US" dirty="0"/>
              <a:t>도로</a:t>
            </a:r>
            <a:r>
              <a:rPr lang="en-US" altLang="ko-KR" dirty="0"/>
              <a:t>·</a:t>
            </a:r>
            <a:r>
              <a:rPr lang="ko-KR" altLang="en-US" dirty="0"/>
              <a:t>구조</a:t>
            </a:r>
            <a:r>
              <a:rPr lang="en-US" altLang="ko-KR" dirty="0"/>
              <a:t>, </a:t>
            </a:r>
            <a:r>
              <a:rPr lang="ko-KR" altLang="en-US" dirty="0"/>
              <a:t>철도 및 도시철도</a:t>
            </a:r>
            <a:r>
              <a:rPr lang="en-US" altLang="ko-KR" dirty="0"/>
              <a:t>, </a:t>
            </a:r>
            <a:r>
              <a:rPr lang="ko-KR" altLang="en-US" dirty="0"/>
              <a:t>수자원</a:t>
            </a:r>
            <a:r>
              <a:rPr lang="en-US" altLang="ko-KR" dirty="0"/>
              <a:t>(</a:t>
            </a:r>
            <a:r>
              <a:rPr lang="ko-KR" altLang="en-US" dirty="0"/>
              <a:t>댐</a:t>
            </a:r>
            <a:r>
              <a:rPr lang="en-US" altLang="ko-KR" dirty="0"/>
              <a:t>), </a:t>
            </a:r>
            <a:r>
              <a:rPr lang="ko-KR" altLang="en-US" dirty="0"/>
              <a:t>도시계획</a:t>
            </a:r>
            <a:r>
              <a:rPr lang="en-US" altLang="ko-KR" dirty="0"/>
              <a:t>, </a:t>
            </a:r>
            <a:r>
              <a:rPr lang="ko-KR" altLang="en-US" dirty="0"/>
              <a:t>항만 및 해양 구조물 등 다양한 건설 분야에 </a:t>
            </a:r>
            <a:r>
              <a:rPr lang="en-US" altLang="ko-KR" dirty="0"/>
              <a:t>BIM(Building Information Modeling)</a:t>
            </a:r>
            <a:r>
              <a:rPr lang="ko-KR" altLang="en-US" dirty="0"/>
              <a:t>적용 환경 및 요구사항을 분석하여</a:t>
            </a:r>
            <a:r>
              <a:rPr lang="en-US" altLang="ko-KR" dirty="0"/>
              <a:t>, </a:t>
            </a:r>
            <a:r>
              <a:rPr lang="ko-KR" altLang="en-US" dirty="0"/>
              <a:t>체계적인 계획 및 전략 컨설팅을 제공함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4D2B2F-713D-C01C-9449-1DDE953334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417169-5582-D66A-6751-85923E6B78B6}"/>
              </a:ext>
            </a:extLst>
          </p:cNvPr>
          <p:cNvSpPr/>
          <p:nvPr/>
        </p:nvSpPr>
        <p:spPr>
          <a:xfrm>
            <a:off x="269357" y="1638325"/>
            <a:ext cx="9363593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주요 프로젝트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F097B4A-2A34-7705-D161-1712A33FE6AF}"/>
              </a:ext>
            </a:extLst>
          </p:cNvPr>
          <p:cNvSpPr/>
          <p:nvPr/>
        </p:nvSpPr>
        <p:spPr>
          <a:xfrm>
            <a:off x="273051" y="2055813"/>
            <a:ext cx="9359899" cy="4073525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25C80F44-B848-3E3C-6E77-81E309D4D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BBC74609-9AD7-E1E0-4897-C3C4159890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기업 일반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1C6E23-89EE-3A2C-DF2C-529C80805A4A}"/>
              </a:ext>
            </a:extLst>
          </p:cNvPr>
          <p:cNvGrpSpPr/>
          <p:nvPr/>
        </p:nvGrpSpPr>
        <p:grpSpPr>
          <a:xfrm>
            <a:off x="334441" y="2149595"/>
            <a:ext cx="4474097" cy="3861738"/>
            <a:chOff x="334441" y="2149595"/>
            <a:chExt cx="4474097" cy="386173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2E506BD-D1A4-5A74-2275-2A7525CD4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4441" y="2149595"/>
              <a:ext cx="4474097" cy="3861738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AE669A6-ADF3-FD3C-F76C-9B956293FD56}"/>
                </a:ext>
              </a:extLst>
            </p:cNvPr>
            <p:cNvSpPr/>
            <p:nvPr/>
          </p:nvSpPr>
          <p:spPr>
            <a:xfrm>
              <a:off x="4195233" y="5659967"/>
              <a:ext cx="486834" cy="3048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562F60D-7505-004B-874C-258E35360843}"/>
              </a:ext>
            </a:extLst>
          </p:cNvPr>
          <p:cNvGrpSpPr/>
          <p:nvPr/>
        </p:nvGrpSpPr>
        <p:grpSpPr>
          <a:xfrm>
            <a:off x="5097463" y="2149595"/>
            <a:ext cx="4474096" cy="3861738"/>
            <a:chOff x="5097463" y="2149595"/>
            <a:chExt cx="4474096" cy="386173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351846E-4FCE-CC42-30C1-CAE6573A2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97463" y="2149595"/>
              <a:ext cx="4474096" cy="386173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6E2D137-42D4-CDD2-0317-D9469F5FF49E}"/>
                </a:ext>
              </a:extLst>
            </p:cNvPr>
            <p:cNvSpPr/>
            <p:nvPr/>
          </p:nvSpPr>
          <p:spPr>
            <a:xfrm>
              <a:off x="9008533" y="5698067"/>
              <a:ext cx="486834" cy="22860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92500" lnSpcReduction="20000"/>
            </a:bodyPr>
            <a:lstStyle/>
            <a:p>
              <a:pPr algn="ctr"/>
              <a:endParaRPr lang="ko-KR" altLang="en-US" sz="10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2494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연혁은 다음과 같음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기업 일반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CE69F6-A706-6CE2-1FDD-FF257C834A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76940" y="1638325"/>
            <a:ext cx="9352120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연혁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B55486B-8351-BAE7-F284-BA5B2DAB5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036346"/>
              </p:ext>
            </p:extLst>
          </p:nvPr>
        </p:nvGraphicFramePr>
        <p:xfrm>
          <a:off x="273050" y="2060576"/>
          <a:ext cx="4535488" cy="40687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5650">
                  <a:extLst>
                    <a:ext uri="{9D8B030D-6E8A-4147-A177-3AD203B41FA5}">
                      <a16:colId xmlns:a16="http://schemas.microsoft.com/office/drawing/2014/main" val="847514106"/>
                    </a:ext>
                  </a:extLst>
                </a:gridCol>
                <a:gridCol w="3779838">
                  <a:extLst>
                    <a:ext uri="{9D8B030D-6E8A-4147-A177-3AD203B41FA5}">
                      <a16:colId xmlns:a16="http://schemas.microsoft.com/office/drawing/2014/main" val="2347951409"/>
                    </a:ext>
                  </a:extLst>
                </a:gridCol>
              </a:tblGrid>
              <a:tr h="4542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싱가포르 현지 종합건설사 </a:t>
                      </a:r>
                      <a:r>
                        <a:rPr lang="en-US" altLang="ko-KR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SWEE HONG</a:t>
                      </a: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</a:t>
                      </a:r>
                      <a:r>
                        <a:rPr lang="en-US" altLang="ko-KR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MOU </a:t>
                      </a: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체결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973872"/>
                  </a:ext>
                </a:extLst>
              </a:tr>
              <a:tr h="7243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토목 건설 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도입 및 활성화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Thunderhead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사의 화재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피난 소프트웨어 판매계약 체결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 </a:t>
                      </a:r>
                      <a:r>
                        <a:rPr lang="ko-KR" altLang="en-US" sz="1100" u="none" strike="noStrike" kern="1200" spc="-11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오대개발</a:t>
                      </a:r>
                      <a:r>
                        <a:rPr lang="en-US" altLang="ko-KR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(Godai Kaihatsu)</a:t>
                      </a: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사와 지반해석 및 </a:t>
                      </a:r>
                      <a:endParaRPr lang="en-US" altLang="ko-KR" sz="1100" u="none" strike="noStrike" kern="1200" spc="-11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가시화 소프트웨어 판매계약 체결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717489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 </a:t>
                      </a:r>
                      <a:r>
                        <a:rPr lang="en-US" altLang="ko-KR" sz="1100" u="none" strike="noStrike" kern="1200" spc="-7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Nemetsch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사의 </a:t>
                      </a:r>
                      <a:r>
                        <a:rPr lang="en-US" altLang="ko-KR" sz="1100" u="none" strike="noStrike" kern="1200" spc="-7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Allplan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판매계약 체결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193809"/>
                  </a:ext>
                </a:extLst>
              </a:tr>
              <a:tr h="6189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기업부설연구소 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건설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연구소 설립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(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20052038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GS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건설과 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AFES (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플랜트 및 건축기초 자동설계프로그램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endParaRPr lang="en-US" altLang="ko-KR" sz="1100" u="none" strike="noStrike" kern="1200" spc="-7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61950" indent="-180975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해외공급 계약 체결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723497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 </a:t>
                      </a:r>
                      <a:r>
                        <a:rPr lang="en-US" altLang="ko-KR" sz="1100" u="none" strike="noStrike" kern="1200" spc="-11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Geoslope</a:t>
                      </a:r>
                      <a:r>
                        <a:rPr lang="en-US" altLang="ko-KR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사와 지반해석 소프트웨어 </a:t>
                      </a:r>
                      <a:r>
                        <a:rPr lang="en-US" altLang="ko-KR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(Slope/W, Seep/W) </a:t>
                      </a:r>
                      <a:r>
                        <a:rPr lang="ko-KR" altLang="en-US" sz="1100" u="none" strike="noStrike" kern="1200" spc="-11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독점 판매계약 체결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207439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싱가포르 현지법인 </a:t>
                      </a:r>
                      <a:r>
                        <a:rPr lang="en-US" altLang="ko-KR" sz="1100" u="none" strike="noStrike" kern="1200" spc="-7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BasisSoft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LLP 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설립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1454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100" u="none" strike="noStrike" kern="1200" spc="-7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베이시스소프트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사명 변경 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대표이사 이수헌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687146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100" u="none" strike="noStrike" kern="1200" spc="-7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베이시스컨설트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설립 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대표이사 이수헌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274840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EA749601-B72F-8823-A836-8AD6EAC67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647557"/>
              </p:ext>
            </p:extLst>
          </p:nvPr>
        </p:nvGraphicFramePr>
        <p:xfrm>
          <a:off x="5093572" y="2060574"/>
          <a:ext cx="4535488" cy="40687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1928">
                  <a:extLst>
                    <a:ext uri="{9D8B030D-6E8A-4147-A177-3AD203B41FA5}">
                      <a16:colId xmlns:a16="http://schemas.microsoft.com/office/drawing/2014/main" val="847514106"/>
                    </a:ext>
                  </a:extLst>
                </a:gridCol>
                <a:gridCol w="3723560">
                  <a:extLst>
                    <a:ext uri="{9D8B030D-6E8A-4147-A177-3AD203B41FA5}">
                      <a16:colId xmlns:a16="http://schemas.microsoft.com/office/drawing/2014/main" val="2347951409"/>
                    </a:ext>
                  </a:extLst>
                </a:gridCol>
              </a:tblGrid>
              <a:tr h="72447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창립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싱가포르에 자회사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NEXBIM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설립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988765"/>
                  </a:ext>
                </a:extLst>
              </a:tr>
              <a:tr h="4179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기반의 상하수도 설계회사 </a:t>
                      </a:r>
                      <a:r>
                        <a:rPr lang="en-US" altLang="ko-KR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WaterOne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설립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612003"/>
                  </a:ext>
                </a:extLst>
              </a:tr>
              <a:tr h="72447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캄보디아 합작회사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XBIM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설립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최재웅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안준상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공동대표 취임</a:t>
                      </a: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513248"/>
                  </a:ext>
                </a:extLst>
              </a:tr>
              <a:tr h="14774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Bentley Systems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사와 토목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건축 분야 소프트웨어 판매계약 체결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한국광물자원공사와 광산개발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모델링 소프트웨어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Kmodstudio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해외판매계약 체결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Ex-BIM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시공단계 표준모델 구축 연구 용역 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시범지구 설계 및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LH-Civil BIM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구축 용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274840"/>
                  </a:ext>
                </a:extLst>
              </a:tr>
              <a:tr h="72447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싱가포르 합작회사 </a:t>
                      </a:r>
                      <a:r>
                        <a:rPr lang="en-US" altLang="ko-KR" sz="1100" u="none" strike="noStrike" kern="1200" spc="-7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BasisSoft,Inc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- BIM Doctor Pte. Ltd. 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설립</a:t>
                      </a:r>
                      <a:endParaRPr lang="en-US" altLang="ko-KR" sz="1100" u="none" strike="noStrike" kern="1200" spc="-7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서울도시과학기술고등학교와 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MOU 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체결 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산학협력협약</a:t>
                      </a:r>
                      <a:r>
                        <a:rPr lang="en-US" altLang="ko-KR" sz="1100" u="none" strike="noStrike" kern="1200" spc="-7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u="none" strike="noStrike" kern="1200" spc="-7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136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943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42ACEB-FB5B-9A93-3751-4D5E49CDC8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베이시스소프트는</a:t>
            </a:r>
            <a:r>
              <a:rPr lang="ko-KR" altLang="en-US" dirty="0"/>
              <a:t> </a:t>
            </a:r>
            <a:r>
              <a:rPr lang="en-US" altLang="ko-KR" dirty="0"/>
              <a:t>‘2025 </a:t>
            </a:r>
            <a:r>
              <a:rPr lang="ko-KR" altLang="en-US" dirty="0"/>
              <a:t>비전 </a:t>
            </a:r>
            <a:r>
              <a:rPr lang="ko-KR" altLang="en-US" dirty="0" err="1"/>
              <a:t>선포식</a:t>
            </a:r>
            <a:r>
              <a:rPr lang="en-US" altLang="ko-KR" dirty="0"/>
              <a:t>’</a:t>
            </a:r>
            <a:r>
              <a:rPr lang="ko-KR" altLang="en-US" dirty="0"/>
              <a:t>을 통해 기업의 존재 목적</a:t>
            </a:r>
            <a:r>
              <a:rPr lang="en-US" altLang="ko-KR" dirty="0"/>
              <a:t>, </a:t>
            </a:r>
            <a:r>
              <a:rPr lang="ko-KR" altLang="en-US" dirty="0"/>
              <a:t>미션</a:t>
            </a:r>
            <a:r>
              <a:rPr lang="en-US" altLang="ko-KR" dirty="0"/>
              <a:t>, </a:t>
            </a:r>
            <a:r>
              <a:rPr lang="ko-KR" altLang="en-US" dirty="0"/>
              <a:t>비전을 다음과 같이 제시하였으며</a:t>
            </a:r>
            <a:r>
              <a:rPr lang="en-US" altLang="ko-KR" dirty="0"/>
              <a:t>, </a:t>
            </a:r>
            <a:r>
              <a:rPr lang="ko-KR" altLang="en-US" dirty="0"/>
              <a:t>이를 위한 전략방향 및 전략과제</a:t>
            </a:r>
            <a:r>
              <a:rPr lang="en-US" altLang="ko-KR" dirty="0"/>
              <a:t>, </a:t>
            </a:r>
            <a:r>
              <a:rPr lang="ko-KR" altLang="en-US" dirty="0"/>
              <a:t>혁신과제를 도출하여 시행 중에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35D017-7970-EC35-303B-18F72C7525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30722E-549D-B0D1-BCF1-8502F013D565}"/>
              </a:ext>
            </a:extLst>
          </p:cNvPr>
          <p:cNvSpPr/>
          <p:nvPr/>
        </p:nvSpPr>
        <p:spPr>
          <a:xfrm>
            <a:off x="269357" y="1638325"/>
            <a:ext cx="9363593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비전체계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51B83E-2AD1-B234-E384-1B189CA8B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20" y="2170862"/>
            <a:ext cx="4451118" cy="384342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B4DE90A-C0B9-704E-78B8-6706BF881B21}"/>
              </a:ext>
            </a:extLst>
          </p:cNvPr>
          <p:cNvSpPr/>
          <p:nvPr/>
        </p:nvSpPr>
        <p:spPr>
          <a:xfrm>
            <a:off x="273051" y="2055813"/>
            <a:ext cx="9359899" cy="4073525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C4ECC28-0AFD-57CD-27AF-32122F949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464" y="2170862"/>
            <a:ext cx="4451116" cy="3958476"/>
          </a:xfrm>
          <a:prstGeom prst="rect">
            <a:avLst/>
          </a:prstGeom>
        </p:spPr>
      </p:pic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ACDA7878-46BC-D063-1568-111B95779E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360CC575-5B43-4326-267D-AE2A6F071F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기업 일반</a:t>
            </a:r>
          </a:p>
        </p:txBody>
      </p:sp>
    </p:spTree>
    <p:extLst>
      <p:ext uri="{BB962C8B-B14F-4D97-AF65-F5344CB8AC3E}">
        <p14:creationId xmlns:p14="http://schemas.microsoft.com/office/powerpoint/2010/main" val="2702048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A5564-5F5E-3D95-0FFE-CB3DA33A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텍스트 개체 틀 1">
            <a:extLst>
              <a:ext uri="{FF2B5EF4-FFF2-40B4-BE49-F238E27FC236}">
                <a16:creationId xmlns:a16="http://schemas.microsoft.com/office/drawing/2014/main" id="{CE7E2BFB-5420-8E68-C417-B342215CB8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베이이스소프트는</a:t>
            </a:r>
            <a:r>
              <a:rPr lang="ko-KR" altLang="en-US" dirty="0"/>
              <a:t> </a:t>
            </a:r>
            <a:r>
              <a:rPr lang="en-US" altLang="ko-KR" dirty="0"/>
              <a:t>2001</a:t>
            </a:r>
            <a:r>
              <a:rPr lang="ko-KR" altLang="en-US" dirty="0"/>
              <a:t>년 설립 후 </a:t>
            </a:r>
            <a:r>
              <a:rPr lang="en-US" altLang="ko-KR" dirty="0"/>
              <a:t>1</a:t>
            </a:r>
            <a:r>
              <a:rPr lang="ko-KR" altLang="en-US" dirty="0"/>
              <a:t>개 실</a:t>
            </a:r>
            <a:r>
              <a:rPr lang="en-US" altLang="ko-KR" dirty="0"/>
              <a:t>, 1</a:t>
            </a:r>
            <a:r>
              <a:rPr lang="ko-KR" altLang="en-US" dirty="0"/>
              <a:t>개 연구소</a:t>
            </a:r>
            <a:r>
              <a:rPr lang="en-US" altLang="ko-KR" dirty="0"/>
              <a:t>, 2</a:t>
            </a:r>
            <a:r>
              <a:rPr lang="ko-KR" altLang="en-US" dirty="0"/>
              <a:t>개 사업부</a:t>
            </a:r>
            <a:r>
              <a:rPr lang="en-US" altLang="ko-KR" dirty="0"/>
              <a:t>, 1</a:t>
            </a:r>
            <a:r>
              <a:rPr lang="ko-KR" altLang="en-US" dirty="0"/>
              <a:t>개  지원부</a:t>
            </a:r>
            <a:r>
              <a:rPr lang="en-US" altLang="ko-KR" dirty="0"/>
              <a:t>, 5</a:t>
            </a:r>
            <a:r>
              <a:rPr lang="ko-KR" altLang="en-US" dirty="0"/>
              <a:t>개 팀으로 구성되어 있음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30DBE9-3644-AACA-3B15-EA0BE04105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D2256B-2918-6590-F837-5DE81EFE2C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기업 일반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6671DE-0BED-A40A-9C16-BEE4F7A727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AA6075-5821-33E5-9D1A-0F5E244A482B}"/>
              </a:ext>
            </a:extLst>
          </p:cNvPr>
          <p:cNvSpPr/>
          <p:nvPr/>
        </p:nvSpPr>
        <p:spPr>
          <a:xfrm>
            <a:off x="273050" y="1638325"/>
            <a:ext cx="9360539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조직도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F48FE9-93D7-4E10-F0C2-9198EFB0F4DF}"/>
              </a:ext>
            </a:extLst>
          </p:cNvPr>
          <p:cNvSpPr/>
          <p:nvPr/>
        </p:nvSpPr>
        <p:spPr>
          <a:xfrm>
            <a:off x="7089776" y="1763326"/>
            <a:ext cx="3164160" cy="138499"/>
          </a:xfrm>
          <a:prstGeom prst="rect">
            <a:avLst/>
          </a:prstGeom>
        </p:spPr>
        <p:txBody>
          <a:bodyPr wrap="square" lIns="36000" tIns="0" bIns="0">
            <a:spAutoFit/>
          </a:bodyPr>
          <a:lstStyle/>
          <a:p>
            <a:pPr marR="0" lvl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tabLst/>
              <a:defRPr/>
            </a:pP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</a:rPr>
              <a:t>(1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</a:rPr>
              <a:t>개 실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</a:rPr>
              <a:t>, 1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</a:rPr>
              <a:t>개 연구소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</a:rPr>
              <a:t>, 2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</a:rPr>
              <a:t>개 사업부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</a:rPr>
              <a:t>, 1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</a:rPr>
              <a:t>개 지원부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</a:rPr>
              <a:t>, 5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</a:rPr>
              <a:t>개 팀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kumimoji="0" lang="ko-KR" altLang="en-US" sz="1100" i="0" u="none" strike="noStrike" kern="1200" cap="none" spc="0" normalizeH="0" baseline="0" noProof="0" dirty="0"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A44C61-3BAA-3473-9BDB-A92A3A9507A5}"/>
              </a:ext>
            </a:extLst>
          </p:cNvPr>
          <p:cNvSpPr/>
          <p:nvPr/>
        </p:nvSpPr>
        <p:spPr>
          <a:xfrm>
            <a:off x="273051" y="2055813"/>
            <a:ext cx="9359900" cy="4073525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AE4FC9-1D76-272F-1014-FA0D406480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678" y="2129949"/>
            <a:ext cx="6170644" cy="392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00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EC85-62C3-4959-F13E-CCB8A23F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7FA77348-4EF7-5042-75BC-74EFE8B00A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매출액 및 영업이익이 </a:t>
            </a:r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ko-KR" altLang="en-US" dirty="0" err="1"/>
              <a:t>큰폭으로</a:t>
            </a:r>
            <a:r>
              <a:rPr lang="ko-KR" altLang="en-US" dirty="0"/>
              <a:t> 하락한 이후</a:t>
            </a:r>
            <a:r>
              <a:rPr lang="en-US" altLang="ko-KR" dirty="0"/>
              <a:t> 2024</a:t>
            </a:r>
            <a:r>
              <a:rPr lang="ko-KR" altLang="en-US" dirty="0"/>
              <a:t>년 일부 회복하였으나</a:t>
            </a:r>
            <a:r>
              <a:rPr lang="en-US" altLang="ko-KR" dirty="0"/>
              <a:t>, </a:t>
            </a:r>
            <a:r>
              <a:rPr lang="ko-KR" altLang="en-US" dirty="0"/>
              <a:t>영업이익 회복률이 상대적으로 저조한 상황임</a:t>
            </a:r>
            <a:r>
              <a:rPr lang="en-US" altLang="ko-KR" dirty="0"/>
              <a:t>. </a:t>
            </a:r>
            <a:r>
              <a:rPr lang="ko-KR" altLang="en-US" dirty="0"/>
              <a:t>경영 전반의 효율성 및 생산성 강화</a:t>
            </a:r>
            <a:r>
              <a:rPr lang="en-US" altLang="ko-KR" dirty="0"/>
              <a:t>, </a:t>
            </a:r>
            <a:r>
              <a:rPr lang="ko-KR" altLang="en-US" dirty="0"/>
              <a:t>인건비 등 고정비 부담 완화 필요</a:t>
            </a:r>
            <a:r>
              <a:rPr lang="en-US" altLang="ko-KR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8D38A9-C66B-81A6-0F52-B4582832FC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atinLnBrk="0"/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97F38D-FB30-CAB3-219C-FF1C9354FA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경영성과</a:t>
            </a:r>
          </a:p>
        </p:txBody>
      </p:sp>
      <p:grpSp>
        <p:nvGrpSpPr>
          <p:cNvPr id="11" name="art">
            <a:extLst>
              <a:ext uri="{FF2B5EF4-FFF2-40B4-BE49-F238E27FC236}">
                <a16:creationId xmlns:a16="http://schemas.microsoft.com/office/drawing/2014/main" id="{1CA1A564-F2B7-E766-CE94-04CE09059CBF}"/>
              </a:ext>
            </a:extLst>
          </p:cNvPr>
          <p:cNvGrpSpPr/>
          <p:nvPr/>
        </p:nvGrpSpPr>
        <p:grpSpPr>
          <a:xfrm>
            <a:off x="1408045" y="4048255"/>
            <a:ext cx="7096055" cy="165100"/>
            <a:chOff x="1408045" y="4048255"/>
            <a:chExt cx="7096055" cy="165100"/>
          </a:xfrm>
        </p:grpSpPr>
        <p:sp>
          <p:nvSpPr>
            <p:cNvPr id="12" name="화살표: 아래쪽">
              <a:extLst>
                <a:ext uri="{FF2B5EF4-FFF2-40B4-BE49-F238E27FC236}">
                  <a16:creationId xmlns:a16="http://schemas.microsoft.com/office/drawing/2014/main" id="{D6E169BB-9147-52F7-4DDC-FB56AD6DCF02}"/>
                </a:ext>
              </a:extLst>
            </p:cNvPr>
            <p:cNvSpPr/>
            <p:nvPr/>
          </p:nvSpPr>
          <p:spPr>
            <a:xfrm>
              <a:off x="1408045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3" name="화살표: 아래쪽">
              <a:extLst>
                <a:ext uri="{FF2B5EF4-FFF2-40B4-BE49-F238E27FC236}">
                  <a16:creationId xmlns:a16="http://schemas.microsoft.com/office/drawing/2014/main" id="{27F4A9BE-7DDE-87E3-5F99-CDD14F7B295B}"/>
                </a:ext>
              </a:extLst>
            </p:cNvPr>
            <p:cNvSpPr/>
            <p:nvPr/>
          </p:nvSpPr>
          <p:spPr>
            <a:xfrm>
              <a:off x="4641850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5" name="화살표: 아래쪽">
              <a:extLst>
                <a:ext uri="{FF2B5EF4-FFF2-40B4-BE49-F238E27FC236}">
                  <a16:creationId xmlns:a16="http://schemas.microsoft.com/office/drawing/2014/main" id="{4DFCA729-F627-E1CC-4D05-8A9C5BBD0841}"/>
                </a:ext>
              </a:extLst>
            </p:cNvPr>
            <p:cNvSpPr/>
            <p:nvPr/>
          </p:nvSpPr>
          <p:spPr>
            <a:xfrm>
              <a:off x="7881800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29" name="topic">
            <a:extLst>
              <a:ext uri="{FF2B5EF4-FFF2-40B4-BE49-F238E27FC236}">
                <a16:creationId xmlns:a16="http://schemas.microsoft.com/office/drawing/2014/main" id="{56A17990-FAEF-66FD-AEF6-57431FA04B59}"/>
              </a:ext>
            </a:extLst>
          </p:cNvPr>
          <p:cNvSpPr txBox="1">
            <a:spLocks/>
          </p:cNvSpPr>
          <p:nvPr/>
        </p:nvSpPr>
        <p:spPr>
          <a:xfrm>
            <a:off x="279136" y="1638929"/>
            <a:ext cx="9353813" cy="288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재무 및 고용 현황 </a:t>
            </a:r>
            <a:r>
              <a:rPr lang="en-US" altLang="ko-KR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: </a:t>
            </a:r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매출 및 영업이익 지표</a:t>
            </a: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67CD2E44-48F9-4D95-B718-D6F8860AF2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0475987"/>
              </p:ext>
            </p:extLst>
          </p:nvPr>
        </p:nvGraphicFramePr>
        <p:xfrm>
          <a:off x="273050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8E7E4029-91F3-45EF-AA8E-E18DB7E1AB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3771737"/>
              </p:ext>
            </p:extLst>
          </p:nvPr>
        </p:nvGraphicFramePr>
        <p:xfrm>
          <a:off x="3513000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757B9212-8D00-43EB-8961-5FBAE89071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1283465"/>
              </p:ext>
            </p:extLst>
          </p:nvPr>
        </p:nvGraphicFramePr>
        <p:xfrm>
          <a:off x="6752950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opic">
            <a:extLst>
              <a:ext uri="{FF2B5EF4-FFF2-40B4-BE49-F238E27FC236}">
                <a16:creationId xmlns:a16="http://schemas.microsoft.com/office/drawing/2014/main" id="{B84E2373-FDAD-5F14-A549-E3E0936560A1}"/>
              </a:ext>
            </a:extLst>
          </p:cNvPr>
          <p:cNvSpPr txBox="1">
            <a:spLocks/>
          </p:cNvSpPr>
          <p:nvPr/>
        </p:nvSpPr>
        <p:spPr>
          <a:xfrm>
            <a:off x="543846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매출액</a:t>
            </a:r>
          </a:p>
        </p:txBody>
      </p:sp>
      <p:sp>
        <p:nvSpPr>
          <p:cNvPr id="17" name="topic">
            <a:extLst>
              <a:ext uri="{FF2B5EF4-FFF2-40B4-BE49-F238E27FC236}">
                <a16:creationId xmlns:a16="http://schemas.microsoft.com/office/drawing/2014/main" id="{4725D039-2A2F-C9C3-A027-E4E243160172}"/>
              </a:ext>
            </a:extLst>
          </p:cNvPr>
          <p:cNvSpPr txBox="1">
            <a:spLocks/>
          </p:cNvSpPr>
          <p:nvPr/>
        </p:nvSpPr>
        <p:spPr>
          <a:xfrm>
            <a:off x="3715887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영업이익</a:t>
            </a:r>
          </a:p>
        </p:txBody>
      </p:sp>
      <p:sp>
        <p:nvSpPr>
          <p:cNvPr id="18" name="topic">
            <a:extLst>
              <a:ext uri="{FF2B5EF4-FFF2-40B4-BE49-F238E27FC236}">
                <a16:creationId xmlns:a16="http://schemas.microsoft.com/office/drawing/2014/main" id="{74A372EA-B402-AC0A-B803-9B738AEE68E0}"/>
              </a:ext>
            </a:extLst>
          </p:cNvPr>
          <p:cNvSpPr txBox="1">
            <a:spLocks/>
          </p:cNvSpPr>
          <p:nvPr/>
        </p:nvSpPr>
        <p:spPr>
          <a:xfrm>
            <a:off x="6887930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매출액 대비 영업이익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03948D-05D2-BB52-D9C8-4C0F872D6113}"/>
              </a:ext>
            </a:extLst>
          </p:cNvPr>
          <p:cNvSpPr/>
          <p:nvPr/>
        </p:nvSpPr>
        <p:spPr>
          <a:xfrm>
            <a:off x="273050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2023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년 침체된 매출을 반등하였으나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회복 폭이 과거 수준에 미치지 못함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프로젝트 기반 사업구조에 따라 매출 변동성 존재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지속성장이 가능한 사업 </a:t>
            </a: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</a:rPr>
              <a:t>포트플리오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 구축 및 확장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C4339F-BFE3-ECA2-D5B1-BF324E01A2D9}"/>
              </a:ext>
            </a:extLst>
          </p:cNvPr>
          <p:cNvSpPr/>
          <p:nvPr/>
        </p:nvSpPr>
        <p:spPr>
          <a:xfrm>
            <a:off x="3513000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매출액 회복세 대비 영업이익 성장률 낮음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수익률 중심의 경영체질 개선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프로젝트 원가 관리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생산성 향상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고정비 부담 완화 방안 검토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인력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고정비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 효율성 제고 방안 마련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010B3B-E004-7FDF-7D87-8EB43FC900FF}"/>
              </a:ext>
            </a:extLst>
          </p:cNvPr>
          <p:cNvSpPr/>
          <p:nvPr/>
        </p:nvSpPr>
        <p:spPr>
          <a:xfrm>
            <a:off x="6752949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경영 전반의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효율성 및 생산성 강화를 위한 보상체계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임금</a:t>
            </a:r>
            <a:r>
              <a:rPr lang="en-US" altLang="ko-KR" sz="1200" dirty="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복리후생 등</a:t>
            </a:r>
            <a:r>
              <a:rPr lang="en-US" altLang="ko-KR" sz="1200" dirty="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 개선 필요</a:t>
            </a:r>
            <a:endParaRPr lang="en-US" altLang="ko-KR" sz="1200" dirty="0">
              <a:solidFill>
                <a:schemeClr val="tx1"/>
              </a:solidFill>
              <a:latin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역할 및 책임과 성과가 연동된 성과관리체계 구축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2C373E68-BD72-8C8F-8B4C-20414BEDD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522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F19FB3F1-EEBA-CD96-E179-244E49BE0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052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B6CC91F6-9DEE-A893-C293-1A4A2A599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5003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77178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9B5C-2B9F-6448-9E24-2F8AE1A4F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CC267E1B-969F-35B7-E18D-47146AFE22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자기자본과 유동자산이 점진적으로 증가하고 있으나</a:t>
            </a:r>
            <a:r>
              <a:rPr lang="en-US" altLang="ko-KR" dirty="0"/>
              <a:t>, </a:t>
            </a:r>
            <a:r>
              <a:rPr lang="ko-KR" altLang="en-US" dirty="0"/>
              <a:t>유동부채의 급격한 확대가 재무건전성의 주요 리스크로 작용될 수 있음</a:t>
            </a:r>
            <a:r>
              <a:rPr lang="en-US" altLang="ko-KR" dirty="0"/>
              <a:t>. </a:t>
            </a:r>
            <a:r>
              <a:rPr lang="ko-KR" altLang="en-US" dirty="0"/>
              <a:t>재무 건전성 강화를 위한 대응 방안 모색이 필요함</a:t>
            </a:r>
            <a:r>
              <a:rPr lang="en-US" altLang="ko-KR" dirty="0"/>
              <a:t>.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E08DE-BD66-EE63-1ACC-4C0C5C5976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atinLnBrk="0"/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C6B14A-1E60-E53C-D1B4-EBF7000F55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경영성과</a:t>
            </a:r>
          </a:p>
        </p:txBody>
      </p:sp>
      <p:grpSp>
        <p:nvGrpSpPr>
          <p:cNvPr id="11" name="art">
            <a:extLst>
              <a:ext uri="{FF2B5EF4-FFF2-40B4-BE49-F238E27FC236}">
                <a16:creationId xmlns:a16="http://schemas.microsoft.com/office/drawing/2014/main" id="{E8C10429-57EE-F68E-9304-9882019B0959}"/>
              </a:ext>
            </a:extLst>
          </p:cNvPr>
          <p:cNvGrpSpPr/>
          <p:nvPr/>
        </p:nvGrpSpPr>
        <p:grpSpPr>
          <a:xfrm>
            <a:off x="1408045" y="4048255"/>
            <a:ext cx="7096055" cy="165100"/>
            <a:chOff x="1408045" y="4048255"/>
            <a:chExt cx="7096055" cy="165100"/>
          </a:xfrm>
        </p:grpSpPr>
        <p:sp>
          <p:nvSpPr>
            <p:cNvPr id="12" name="화살표: 아래쪽">
              <a:extLst>
                <a:ext uri="{FF2B5EF4-FFF2-40B4-BE49-F238E27FC236}">
                  <a16:creationId xmlns:a16="http://schemas.microsoft.com/office/drawing/2014/main" id="{D1F7D3C7-5C60-2EDE-647F-768A9F98F10C}"/>
                </a:ext>
              </a:extLst>
            </p:cNvPr>
            <p:cNvSpPr/>
            <p:nvPr/>
          </p:nvSpPr>
          <p:spPr>
            <a:xfrm>
              <a:off x="1408045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3" name="화살표: 아래쪽">
              <a:extLst>
                <a:ext uri="{FF2B5EF4-FFF2-40B4-BE49-F238E27FC236}">
                  <a16:creationId xmlns:a16="http://schemas.microsoft.com/office/drawing/2014/main" id="{949FB0F3-5270-E494-A183-21CEDDE4F596}"/>
                </a:ext>
              </a:extLst>
            </p:cNvPr>
            <p:cNvSpPr/>
            <p:nvPr/>
          </p:nvSpPr>
          <p:spPr>
            <a:xfrm>
              <a:off x="4641850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5" name="화살표: 아래쪽">
              <a:extLst>
                <a:ext uri="{FF2B5EF4-FFF2-40B4-BE49-F238E27FC236}">
                  <a16:creationId xmlns:a16="http://schemas.microsoft.com/office/drawing/2014/main" id="{63FD33D4-D30F-3300-4831-22210C22FB15}"/>
                </a:ext>
              </a:extLst>
            </p:cNvPr>
            <p:cNvSpPr/>
            <p:nvPr/>
          </p:nvSpPr>
          <p:spPr>
            <a:xfrm>
              <a:off x="7881800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29" name="topic">
            <a:extLst>
              <a:ext uri="{FF2B5EF4-FFF2-40B4-BE49-F238E27FC236}">
                <a16:creationId xmlns:a16="http://schemas.microsoft.com/office/drawing/2014/main" id="{8B71F129-8124-A41C-BFA0-39F77B46D619}"/>
              </a:ext>
            </a:extLst>
          </p:cNvPr>
          <p:cNvSpPr txBox="1">
            <a:spLocks/>
          </p:cNvSpPr>
          <p:nvPr/>
        </p:nvSpPr>
        <p:spPr>
          <a:xfrm>
            <a:off x="279136" y="1638929"/>
            <a:ext cx="9353813" cy="288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재무 및 고용 현황 </a:t>
            </a:r>
            <a:r>
              <a:rPr lang="en-US" altLang="ko-KR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: </a:t>
            </a:r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자산</a:t>
            </a:r>
            <a:r>
              <a:rPr lang="en-US" altLang="ko-KR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/</a:t>
            </a:r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자본 지표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593BA077-480D-B8F0-1CFE-1658776235FB}"/>
              </a:ext>
            </a:extLst>
          </p:cNvPr>
          <p:cNvSpPr txBox="1">
            <a:spLocks/>
          </p:cNvSpPr>
          <p:nvPr/>
        </p:nvSpPr>
        <p:spPr>
          <a:xfrm>
            <a:off x="543846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자기자본</a:t>
            </a:r>
          </a:p>
        </p:txBody>
      </p:sp>
      <p:sp>
        <p:nvSpPr>
          <p:cNvPr id="8" name="topic">
            <a:extLst>
              <a:ext uri="{FF2B5EF4-FFF2-40B4-BE49-F238E27FC236}">
                <a16:creationId xmlns:a16="http://schemas.microsoft.com/office/drawing/2014/main" id="{8B173E77-9E74-D2EF-B3C5-4657518B61E0}"/>
              </a:ext>
            </a:extLst>
          </p:cNvPr>
          <p:cNvSpPr txBox="1">
            <a:spLocks/>
          </p:cNvSpPr>
          <p:nvPr/>
        </p:nvSpPr>
        <p:spPr>
          <a:xfrm>
            <a:off x="3715887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유동자산</a:t>
            </a:r>
          </a:p>
        </p:txBody>
      </p:sp>
      <p:sp>
        <p:nvSpPr>
          <p:cNvPr id="9" name="topic">
            <a:extLst>
              <a:ext uri="{FF2B5EF4-FFF2-40B4-BE49-F238E27FC236}">
                <a16:creationId xmlns:a16="http://schemas.microsoft.com/office/drawing/2014/main" id="{EA7E24DD-AEDB-E14E-F9F5-C4CA706D8CD2}"/>
              </a:ext>
            </a:extLst>
          </p:cNvPr>
          <p:cNvSpPr txBox="1">
            <a:spLocks/>
          </p:cNvSpPr>
          <p:nvPr/>
        </p:nvSpPr>
        <p:spPr>
          <a:xfrm>
            <a:off x="6887930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유동부채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65F83942-6060-4B9C-9F40-FD34C4D72B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0606664"/>
              </p:ext>
            </p:extLst>
          </p:nvPr>
        </p:nvGraphicFramePr>
        <p:xfrm>
          <a:off x="273050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423C9F56-D05E-4F65-84BA-5295B64600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549393"/>
              </p:ext>
            </p:extLst>
          </p:nvPr>
        </p:nvGraphicFramePr>
        <p:xfrm>
          <a:off x="3513000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7B6AA9B3-A04A-449B-BCE8-C381E5E213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008990"/>
              </p:ext>
            </p:extLst>
          </p:nvPr>
        </p:nvGraphicFramePr>
        <p:xfrm>
          <a:off x="6752950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700BD31E-F6DE-5333-3966-B28E9A921511}"/>
              </a:ext>
            </a:extLst>
          </p:cNvPr>
          <p:cNvSpPr/>
          <p:nvPr/>
        </p:nvSpPr>
        <p:spPr>
          <a:xfrm>
            <a:off x="273050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재무적 안정성은 </a:t>
            </a: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</a:rPr>
              <a:t>유지중이나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성장성이 제한적임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영업이익 개선을 통해 자기자본 확충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이익률과 생산성 제고를 통한 자본 성장 전략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8775EA-3EBE-64BD-63F1-64C9BDFD2D7B}"/>
              </a:ext>
            </a:extLst>
          </p:cNvPr>
          <p:cNvSpPr/>
          <p:nvPr/>
        </p:nvSpPr>
        <p:spPr>
          <a:xfrm>
            <a:off x="3513000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유동자산은 점진적으로 증가 중이나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매출 성장 대비 유동자산 증가폭은 제한적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자금 유동성 확보 방안 마련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9ACCEB-D1FF-FFB6-C078-5209A2001E52}"/>
              </a:ext>
            </a:extLst>
          </p:cNvPr>
          <p:cNvSpPr/>
          <p:nvPr/>
        </p:nvSpPr>
        <p:spPr>
          <a:xfrm>
            <a:off x="6752949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자기자본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유동자산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성장에 비해 유동 부채 증가 폭이 매우 커 향후 현금흐름 약화 및 재무적 압박 우려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인건비 등 고정비 부담 완화를 위한 임금체계 개편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13829C57-5BB2-3B38-0EDD-73EF7A364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522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86405CDD-E3B6-E245-29B3-6EF9CEAF7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052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80721C9-F15F-2C20-FC25-ED76E53D8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5003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567756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848B6-2DEA-839D-EB4A-9CF20E44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53A08B4A-C5B3-80C7-8049-46F6C9431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인건비 총액과 매출액 대비 인건비 비율은 지속적으로 상승하는 추세이나</a:t>
            </a:r>
            <a:r>
              <a:rPr lang="en-US" altLang="ko-KR" dirty="0"/>
              <a:t>, </a:t>
            </a:r>
            <a:r>
              <a:rPr lang="ko-KR" altLang="en-US" dirty="0"/>
              <a:t>평균 인건비는 하락하며</a:t>
            </a:r>
            <a:r>
              <a:rPr lang="en-US" altLang="ko-KR" dirty="0"/>
              <a:t> </a:t>
            </a:r>
            <a:r>
              <a:rPr lang="ko-KR" altLang="en-US" dirty="0"/>
              <a:t>전반적인 인건비 구조 개선이 필요함</a:t>
            </a:r>
            <a:r>
              <a:rPr lang="en-US" altLang="ko-KR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AF7D75-F977-11AF-E3CC-36C941443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atinLnBrk="0"/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2DE156-8940-4CC7-C349-2733C62291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경영성과</a:t>
            </a:r>
          </a:p>
        </p:txBody>
      </p:sp>
      <p:grpSp>
        <p:nvGrpSpPr>
          <p:cNvPr id="11" name="art">
            <a:extLst>
              <a:ext uri="{FF2B5EF4-FFF2-40B4-BE49-F238E27FC236}">
                <a16:creationId xmlns:a16="http://schemas.microsoft.com/office/drawing/2014/main" id="{C234793A-351A-D6E0-DA5C-3B446EFFCA1E}"/>
              </a:ext>
            </a:extLst>
          </p:cNvPr>
          <p:cNvGrpSpPr/>
          <p:nvPr/>
        </p:nvGrpSpPr>
        <p:grpSpPr>
          <a:xfrm>
            <a:off x="1408045" y="4048255"/>
            <a:ext cx="7096055" cy="165100"/>
            <a:chOff x="1408045" y="4048255"/>
            <a:chExt cx="7096055" cy="165100"/>
          </a:xfrm>
        </p:grpSpPr>
        <p:sp>
          <p:nvSpPr>
            <p:cNvPr id="12" name="화살표: 아래쪽">
              <a:extLst>
                <a:ext uri="{FF2B5EF4-FFF2-40B4-BE49-F238E27FC236}">
                  <a16:creationId xmlns:a16="http://schemas.microsoft.com/office/drawing/2014/main" id="{CE437767-1F83-AF82-E8F3-37D88A06C104}"/>
                </a:ext>
              </a:extLst>
            </p:cNvPr>
            <p:cNvSpPr/>
            <p:nvPr/>
          </p:nvSpPr>
          <p:spPr>
            <a:xfrm>
              <a:off x="1408045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3" name="화살표: 아래쪽">
              <a:extLst>
                <a:ext uri="{FF2B5EF4-FFF2-40B4-BE49-F238E27FC236}">
                  <a16:creationId xmlns:a16="http://schemas.microsoft.com/office/drawing/2014/main" id="{6E27E2B2-86DC-B2D1-5AFE-0C4D6C3B264C}"/>
                </a:ext>
              </a:extLst>
            </p:cNvPr>
            <p:cNvSpPr/>
            <p:nvPr/>
          </p:nvSpPr>
          <p:spPr>
            <a:xfrm>
              <a:off x="4641850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5" name="화살표: 아래쪽">
              <a:extLst>
                <a:ext uri="{FF2B5EF4-FFF2-40B4-BE49-F238E27FC236}">
                  <a16:creationId xmlns:a16="http://schemas.microsoft.com/office/drawing/2014/main" id="{8F2605ED-CCC9-90E1-9BFF-C3211F16C859}"/>
                </a:ext>
              </a:extLst>
            </p:cNvPr>
            <p:cNvSpPr/>
            <p:nvPr/>
          </p:nvSpPr>
          <p:spPr>
            <a:xfrm>
              <a:off x="7881800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29" name="topic">
            <a:extLst>
              <a:ext uri="{FF2B5EF4-FFF2-40B4-BE49-F238E27FC236}">
                <a16:creationId xmlns:a16="http://schemas.microsoft.com/office/drawing/2014/main" id="{A06722F8-EE43-C617-9E40-A250EF5BA5FC}"/>
              </a:ext>
            </a:extLst>
          </p:cNvPr>
          <p:cNvSpPr txBox="1">
            <a:spLocks/>
          </p:cNvSpPr>
          <p:nvPr/>
        </p:nvSpPr>
        <p:spPr>
          <a:xfrm>
            <a:off x="279136" y="1638929"/>
            <a:ext cx="9353813" cy="288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재무 및 고용 현황 </a:t>
            </a:r>
            <a:r>
              <a:rPr lang="en-US" altLang="ko-KR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: </a:t>
            </a:r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인건비 지표</a:t>
            </a:r>
          </a:p>
        </p:txBody>
      </p:sp>
      <p:sp>
        <p:nvSpPr>
          <p:cNvPr id="2" name="topic">
            <a:extLst>
              <a:ext uri="{FF2B5EF4-FFF2-40B4-BE49-F238E27FC236}">
                <a16:creationId xmlns:a16="http://schemas.microsoft.com/office/drawing/2014/main" id="{A6FDFB14-F6E0-F324-8191-0837C551F3E7}"/>
              </a:ext>
            </a:extLst>
          </p:cNvPr>
          <p:cNvSpPr txBox="1">
            <a:spLocks/>
          </p:cNvSpPr>
          <p:nvPr/>
        </p:nvSpPr>
        <p:spPr>
          <a:xfrm>
            <a:off x="543846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인건비 총액</a:t>
            </a:r>
          </a:p>
        </p:txBody>
      </p:sp>
      <p:sp>
        <p:nvSpPr>
          <p:cNvPr id="8" name="topic">
            <a:extLst>
              <a:ext uri="{FF2B5EF4-FFF2-40B4-BE49-F238E27FC236}">
                <a16:creationId xmlns:a16="http://schemas.microsoft.com/office/drawing/2014/main" id="{A9A6BE02-56D1-1599-D7F8-8C1DBD051FCE}"/>
              </a:ext>
            </a:extLst>
          </p:cNvPr>
          <p:cNvSpPr txBox="1">
            <a:spLocks/>
          </p:cNvSpPr>
          <p:nvPr/>
        </p:nvSpPr>
        <p:spPr>
          <a:xfrm>
            <a:off x="3715887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매출액 대비 인건비</a:t>
            </a:r>
          </a:p>
        </p:txBody>
      </p:sp>
      <p:sp>
        <p:nvSpPr>
          <p:cNvPr id="9" name="topic">
            <a:extLst>
              <a:ext uri="{FF2B5EF4-FFF2-40B4-BE49-F238E27FC236}">
                <a16:creationId xmlns:a16="http://schemas.microsoft.com/office/drawing/2014/main" id="{78E67451-1316-A689-E4B4-1F19094270F1}"/>
              </a:ext>
            </a:extLst>
          </p:cNvPr>
          <p:cNvSpPr txBox="1">
            <a:spLocks/>
          </p:cNvSpPr>
          <p:nvPr/>
        </p:nvSpPr>
        <p:spPr>
          <a:xfrm>
            <a:off x="6887930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en-US" altLang="ko-KR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1</a:t>
            </a: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인당 평균 인건비</a:t>
            </a: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68841F00-72FC-47EB-9072-0ACCA17935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7043027"/>
              </p:ext>
            </p:extLst>
          </p:nvPr>
        </p:nvGraphicFramePr>
        <p:xfrm>
          <a:off x="273050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94A49A17-9244-492A-814D-071F7E8D99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9309026"/>
              </p:ext>
            </p:extLst>
          </p:nvPr>
        </p:nvGraphicFramePr>
        <p:xfrm>
          <a:off x="3512999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D287F1FC-0C20-4C70-BEBC-0ABE1125A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2492949"/>
              </p:ext>
            </p:extLst>
          </p:nvPr>
        </p:nvGraphicFramePr>
        <p:xfrm>
          <a:off x="6752949" y="2186408"/>
          <a:ext cx="288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81607E-5A9F-F09F-362B-4795E67B24F9}"/>
              </a:ext>
            </a:extLst>
          </p:cNvPr>
          <p:cNvSpPr/>
          <p:nvPr/>
        </p:nvSpPr>
        <p:spPr>
          <a:xfrm>
            <a:off x="273050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고용 증가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(’24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년 기준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22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명 →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32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명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에 따른 인건비 상승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영업이익 성장률보다 인건비 증가율이 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비용 효율성 악화 우려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인건비 총액 상한 관리 및 성과 연계 보상구조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20F1277-8948-F510-141D-31303084C852}"/>
              </a:ext>
            </a:extLst>
          </p:cNvPr>
          <p:cNvSpPr/>
          <p:nvPr/>
        </p:nvSpPr>
        <p:spPr>
          <a:xfrm>
            <a:off x="3513000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매출 및 영업이익 변동성에 비해 인건비는 경직적임</a:t>
            </a:r>
            <a:endParaRPr lang="en-US" altLang="ko-KR" sz="1200" dirty="0">
              <a:solidFill>
                <a:schemeClr val="tx1"/>
              </a:solidFill>
              <a:latin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solidFill>
                  <a:schemeClr val="tx1"/>
                </a:solidFill>
                <a:latin typeface="+mj-ea"/>
              </a:rPr>
              <a:t>호봉제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 형태의 임금구조로 인해 성과</a:t>
            </a:r>
            <a:r>
              <a:rPr lang="en-US" altLang="ko-KR" sz="1200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매출 및 영업이익</a:t>
            </a:r>
            <a:r>
              <a:rPr lang="en-US" altLang="ko-KR" sz="1200" dirty="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과 무관하게 인건비가 누적되어 고정비 지출 부담 증가</a:t>
            </a:r>
            <a:endParaRPr lang="en-US" altLang="ko-KR" sz="1200" dirty="0">
              <a:solidFill>
                <a:schemeClr val="tx1"/>
              </a:solidFill>
              <a:latin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가변적 인건비</a:t>
            </a:r>
            <a:r>
              <a:rPr lang="en-US" altLang="ko-KR" sz="1200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성과급</a:t>
            </a:r>
            <a:r>
              <a:rPr lang="en-US" altLang="ko-KR" sz="1200" dirty="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프로젝트 인센티브 등</a:t>
            </a:r>
            <a:r>
              <a:rPr lang="en-US" altLang="ko-KR" sz="1200" dirty="0">
                <a:solidFill>
                  <a:schemeClr val="tx1"/>
                </a:solidFill>
                <a:latin typeface="+mj-ea"/>
              </a:rPr>
              <a:t>) </a:t>
            </a:r>
            <a:r>
              <a:rPr lang="ko-KR" altLang="en-US" sz="1200" dirty="0">
                <a:solidFill>
                  <a:schemeClr val="tx1"/>
                </a:solidFill>
                <a:latin typeface="+mj-ea"/>
              </a:rPr>
              <a:t>확대 검토 필요</a:t>
            </a:r>
            <a:endParaRPr lang="en-US" altLang="ko-KR" sz="12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30D51F-5AAC-C65D-5355-0BDF29A11D1A}"/>
              </a:ext>
            </a:extLst>
          </p:cNvPr>
          <p:cNvSpPr/>
          <p:nvPr/>
        </p:nvSpPr>
        <p:spPr>
          <a:xfrm>
            <a:off x="6752949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신규 </a:t>
            </a: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</a:rPr>
              <a:t>저연차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 인력 채용에 따른 평균 임금 하락 예상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평균치 하락에도 총액 증가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역량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성과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보상의 선순환 구조를 통해 신규 인력의 및 기존 </a:t>
            </a: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</a:rPr>
              <a:t>고숙련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 인력의 동기부여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47D59965-FB6C-4920-BFD8-5A798F4B5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522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3419324B-F172-CF62-842C-6C630E1A2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052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43099746-30D9-9737-A17C-2E060C3B0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5003" y="2067071"/>
            <a:ext cx="597946" cy="1378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단위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: </a:t>
            </a:r>
            <a:r>
              <a: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억</a:t>
            </a:r>
            <a:r>
              <a:rPr kumimoji="1" lang="ko-KR" altLang="en-US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원</a:t>
            </a:r>
            <a:r>
              <a:rPr kumimoji="1" lang="en-US" altLang="ko-KR" sz="900" i="0" u="none" strike="noStrike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811174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베이시스소프트는</a:t>
            </a:r>
            <a:r>
              <a:rPr lang="ko-KR" altLang="en-US" dirty="0"/>
              <a:t> 시장 변화에 빠르게 대응하고자 신제품</a:t>
            </a:r>
            <a:r>
              <a:rPr lang="en-US" altLang="ko-KR" dirty="0"/>
              <a:t>·</a:t>
            </a:r>
            <a:r>
              <a:rPr lang="ko-KR" altLang="en-US" dirty="0"/>
              <a:t>서비스를 선제적으로 제공하려는 전략적 시도는 있으나</a:t>
            </a:r>
            <a:r>
              <a:rPr lang="en-US" altLang="ko-KR" dirty="0"/>
              <a:t>, </a:t>
            </a:r>
            <a:r>
              <a:rPr lang="ko-KR" altLang="en-US" dirty="0"/>
              <a:t>경쟁 환경에 대한 체계적 인식과 정보 활용 수준은 낮아 전략 실행 기반은 미흡함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CCBF05-85F7-69E2-8AAB-2C42E5DF24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혁신성과 </a:t>
            </a:r>
            <a:r>
              <a:rPr lang="en-US" altLang="ko-KR" dirty="0"/>
              <a:t>&gt; </a:t>
            </a:r>
            <a:r>
              <a:rPr lang="ko-KR" altLang="en-US" dirty="0"/>
              <a:t>경영성과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B61E2F3-30B9-9CAA-AC23-5CC70A2C79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3" name="텍스트 개체 틀 3">
            <a:extLst>
              <a:ext uri="{FF2B5EF4-FFF2-40B4-BE49-F238E27FC236}">
                <a16:creationId xmlns:a16="http://schemas.microsoft.com/office/drawing/2014/main" id="{195868C2-6780-4527-8C3E-8064106F818E}"/>
              </a:ext>
            </a:extLst>
          </p:cNvPr>
          <p:cNvSpPr txBox="1">
            <a:spLocks/>
          </p:cNvSpPr>
          <p:nvPr/>
        </p:nvSpPr>
        <p:spPr>
          <a:xfrm>
            <a:off x="273050" y="389512"/>
            <a:ext cx="5490040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n>
                <a:solidFill>
                  <a:srgbClr val="C00000">
                    <a:alpha val="5000"/>
                  </a:srgb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Rectangle 55">
            <a:extLst>
              <a:ext uri="{FF2B5EF4-FFF2-40B4-BE49-F238E27FC236}">
                <a16:creationId xmlns:a16="http://schemas.microsoft.com/office/drawing/2014/main" id="{38ECDA43-28C2-DADF-F54F-6FCF98720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2054919"/>
            <a:ext cx="4536000" cy="2718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Rectangle 55">
            <a:extLst>
              <a:ext uri="{FF2B5EF4-FFF2-40B4-BE49-F238E27FC236}">
                <a16:creationId xmlns:a16="http://schemas.microsoft.com/office/drawing/2014/main" id="{241F1B1D-4754-8AAB-737F-7F5C7C1DD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97" y="4841978"/>
            <a:ext cx="4536000" cy="128440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31" name="차트 30">
            <a:extLst>
              <a:ext uri="{FF2B5EF4-FFF2-40B4-BE49-F238E27FC236}">
                <a16:creationId xmlns:a16="http://schemas.microsoft.com/office/drawing/2014/main" id="{9EBFC710-4DA8-70DC-9D62-4BCD31DF27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7546637"/>
              </p:ext>
            </p:extLst>
          </p:nvPr>
        </p:nvGraphicFramePr>
        <p:xfrm>
          <a:off x="533399" y="3494109"/>
          <a:ext cx="4187545" cy="1244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DD051C7B-CA70-CE6A-CC92-7F74A33CBC0D}"/>
              </a:ext>
            </a:extLst>
          </p:cNvPr>
          <p:cNvSpPr/>
          <p:nvPr/>
        </p:nvSpPr>
        <p:spPr>
          <a:xfrm>
            <a:off x="393860" y="3195423"/>
            <a:ext cx="42630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+mj-ea"/>
                <a:ea typeface="+mj-ea"/>
              </a:rPr>
              <a:t>“</a:t>
            </a:r>
            <a:r>
              <a:rPr lang="ko-KR" altLang="en-US" sz="1200" dirty="0">
                <a:solidFill>
                  <a:prstClr val="black"/>
                </a:solidFill>
                <a:latin typeface="+mj-ea"/>
                <a:ea typeface="+mj-ea"/>
              </a:rPr>
              <a:t>우리 회사의 주요 제품</a:t>
            </a:r>
            <a:r>
              <a:rPr lang="en-US" altLang="ko-KR" sz="1200" dirty="0">
                <a:solidFill>
                  <a:prstClr val="black"/>
                </a:solidFill>
                <a:latin typeface="+mj-ea"/>
                <a:ea typeface="+mj-ea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+mj-ea"/>
                <a:ea typeface="+mj-ea"/>
              </a:rPr>
              <a:t>서비스가 시장에서 성공하기 위해서는</a:t>
            </a:r>
            <a:r>
              <a:rPr lang="en-US" altLang="ko-KR" sz="1200" dirty="0">
                <a:solidFill>
                  <a:prstClr val="black"/>
                </a:solidFill>
                <a:latin typeface="+mj-ea"/>
                <a:ea typeface="+mj-ea"/>
              </a:rPr>
              <a:t>…”</a:t>
            </a:r>
            <a:endParaRPr lang="ko-KR" altLang="en-US" sz="12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1602DCC4-AD84-0C30-C05E-EFD32C8A66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0273909"/>
              </p:ext>
            </p:extLst>
          </p:nvPr>
        </p:nvGraphicFramePr>
        <p:xfrm>
          <a:off x="902851" y="5086351"/>
          <a:ext cx="3816148" cy="989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7" name="차트 36">
            <a:extLst>
              <a:ext uri="{FF2B5EF4-FFF2-40B4-BE49-F238E27FC236}">
                <a16:creationId xmlns:a16="http://schemas.microsoft.com/office/drawing/2014/main" id="{0EA6C838-1C69-0A08-D369-7C8CDD203A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8467396"/>
              </p:ext>
            </p:extLst>
          </p:nvPr>
        </p:nvGraphicFramePr>
        <p:xfrm>
          <a:off x="5548735" y="2147840"/>
          <a:ext cx="3621429" cy="256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C0B3BA32-64EB-DC43-A6A8-DF975F970513}"/>
              </a:ext>
            </a:extLst>
          </p:cNvPr>
          <p:cNvSpPr/>
          <p:nvPr/>
        </p:nvSpPr>
        <p:spPr>
          <a:xfrm>
            <a:off x="5122082" y="4805730"/>
            <a:ext cx="8194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-10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pitchFamily="34" charset="0"/>
              </a:rPr>
              <a:t>경쟁전략 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FEEA69C7-8F5A-05F3-6B61-76557ECA2F7F}"/>
              </a:ext>
            </a:extLst>
          </p:cNvPr>
          <p:cNvGraphicFramePr>
            <a:graphicFrameLocks noGrp="1"/>
          </p:cNvGraphicFramePr>
          <p:nvPr/>
        </p:nvGraphicFramePr>
        <p:xfrm>
          <a:off x="5095360" y="4843872"/>
          <a:ext cx="4537589" cy="1285466"/>
        </p:xfrm>
        <a:graphic>
          <a:graphicData uri="http://schemas.openxmlformats.org/drawingml/2006/table">
            <a:tbl>
              <a:tblPr/>
              <a:tblGrid>
                <a:gridCol w="38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074">
                  <a:extLst>
                    <a:ext uri="{9D8B030D-6E8A-4147-A177-3AD203B41FA5}">
                      <a16:colId xmlns:a16="http://schemas.microsoft.com/office/drawing/2014/main" val="3924106241"/>
                    </a:ext>
                  </a:extLst>
                </a:gridCol>
              </a:tblGrid>
              <a:tr h="23696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kumimoji="0" lang="ko-KR" altLang="en-US" sz="11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경쟁 전략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502"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①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고객의 욕구와 시장의 초기 신호에 신속히 대응하여 가장 먼저 신제품</a:t>
                      </a:r>
                      <a:r>
                        <a:rPr kumimoji="0" lang="en-US" altLang="ko-KR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서비스</a:t>
                      </a:r>
                      <a:r>
                        <a:rPr kumimoji="0" lang="en-US" altLang="ko-KR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을 제공하려고 시도</a:t>
                      </a:r>
                    </a:p>
                  </a:txBody>
                  <a:tcPr marL="72000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781296"/>
                  </a:ext>
                </a:extLst>
              </a:tr>
              <a:tr h="349502"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②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신시장 진입이나 신제품</a:t>
                      </a:r>
                      <a:r>
                        <a:rPr kumimoji="0" lang="en-US" altLang="ko-KR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서비스</a:t>
                      </a:r>
                      <a:r>
                        <a:rPr kumimoji="0" lang="en-US" altLang="ko-KR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개발을 가장 먼저 주도하지는 않지만</a:t>
                      </a:r>
                      <a:r>
                        <a:rPr kumimoji="0" lang="en-US" altLang="ko-KR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시장의 동향과 신제품을 주의 깊게 관찰한 후 보다 효율적이고 계획적으로 따라잡기 위해 노력</a:t>
                      </a:r>
                    </a:p>
                  </a:txBody>
                  <a:tcPr marL="72000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371531"/>
                  </a:ext>
                </a:extLst>
              </a:tr>
              <a:tr h="349502"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③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기존의 제품으로 안정적인 시장을 차지하고 있고</a:t>
                      </a:r>
                      <a:r>
                        <a:rPr kumimoji="0" lang="en-US" altLang="ko-KR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kumimoji="0" lang="ko-KR" altLang="en-US" sz="90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신제품 개발이나 신시장 진입을 먼저 시도하지 않음</a:t>
                      </a:r>
                    </a:p>
                  </a:txBody>
                  <a:tcPr marL="7200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521106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39F0D2E7-685F-858A-2FD7-809E86087D43}"/>
              </a:ext>
            </a:extLst>
          </p:cNvPr>
          <p:cNvGrpSpPr/>
          <p:nvPr/>
        </p:nvGrpSpPr>
        <p:grpSpPr>
          <a:xfrm>
            <a:off x="281215" y="1665619"/>
            <a:ext cx="9343567" cy="286727"/>
            <a:chOff x="7335596" y="1767285"/>
            <a:chExt cx="2217262" cy="286727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B5C6E41-9935-19EA-E19F-C824B006D648}"/>
                </a:ext>
              </a:extLst>
            </p:cNvPr>
            <p:cNvSpPr/>
            <p:nvPr userDrawn="1"/>
          </p:nvSpPr>
          <p:spPr>
            <a:xfrm>
              <a:off x="7394589" y="1767285"/>
              <a:ext cx="2099276" cy="2295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1" indent="0" algn="ctr" fontAlgn="auto">
                <a:lnSpc>
                  <a:spcPct val="110000"/>
                </a:lnSpc>
                <a:spcBef>
                  <a:spcPts val="3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인사담당자</a:t>
              </a: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/</a:t>
              </a: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근로자대표 </a:t>
              </a: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EOS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00B76DE-6C2C-C511-A202-AE83E5182607}"/>
                </a:ext>
              </a:extLst>
            </p:cNvPr>
            <p:cNvCxnSpPr/>
            <p:nvPr userDrawn="1"/>
          </p:nvCxnSpPr>
          <p:spPr>
            <a:xfrm>
              <a:off x="7335596" y="2054012"/>
              <a:ext cx="2217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F2E1AB8-06E4-AE9A-A663-C2E2F70AED04}"/>
              </a:ext>
            </a:extLst>
          </p:cNvPr>
          <p:cNvGrpSpPr/>
          <p:nvPr/>
        </p:nvGrpSpPr>
        <p:grpSpPr>
          <a:xfrm>
            <a:off x="409303" y="2188734"/>
            <a:ext cx="1740704" cy="200055"/>
            <a:chOff x="439199" y="2256791"/>
            <a:chExt cx="1740704" cy="200055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DF174E8-2B10-70D9-89E0-1E2DFEAE8270}"/>
                </a:ext>
              </a:extLst>
            </p:cNvPr>
            <p:cNvSpPr/>
            <p:nvPr/>
          </p:nvSpPr>
          <p:spPr>
            <a:xfrm>
              <a:off x="562028" y="2256791"/>
              <a:ext cx="1617875" cy="200055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algn="ctr" defTabSz="914126">
                <a:buSzPct val="120000"/>
              </a:pPr>
              <a:r>
                <a:rPr lang="ko-KR" altLang="en-US" sz="1300" dirty="0">
                  <a:solidFill>
                    <a:prstClr val="black"/>
                  </a:solidFill>
                  <a:latin typeface="+mj-ea"/>
                  <a:ea typeface="+mj-ea"/>
                </a:rPr>
                <a:t>제품</a:t>
              </a:r>
              <a:r>
                <a:rPr lang="en-US" altLang="ko-KR" sz="1300" dirty="0">
                  <a:solidFill>
                    <a:prstClr val="black"/>
                  </a:solidFill>
                  <a:latin typeface="+mj-ea"/>
                  <a:ea typeface="+mj-ea"/>
                </a:rPr>
                <a:t>/</a:t>
              </a:r>
              <a:r>
                <a:rPr lang="ko-KR" altLang="en-US" sz="1300" dirty="0">
                  <a:solidFill>
                    <a:prstClr val="black"/>
                  </a:solidFill>
                  <a:latin typeface="+mj-ea"/>
                  <a:ea typeface="+mj-ea"/>
                </a:rPr>
                <a:t>서비스 시장환경 </a:t>
              </a:r>
            </a:p>
          </p:txBody>
        </p:sp>
        <p:sp>
          <p:nvSpPr>
            <p:cNvPr id="54" name="순서도: 연결자 53">
              <a:extLst>
                <a:ext uri="{FF2B5EF4-FFF2-40B4-BE49-F238E27FC236}">
                  <a16:creationId xmlns:a16="http://schemas.microsoft.com/office/drawing/2014/main" id="{8D7F5101-18CC-5C17-1154-81EC9A863A0A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atinLnBrk="0"/>
              <a:endParaRPr lang="ko-KR" altLang="en-US" sz="1300" b="1" kern="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FB32044-DF6C-FA9E-522D-93C90976C63F}"/>
              </a:ext>
            </a:extLst>
          </p:cNvPr>
          <p:cNvGrpSpPr/>
          <p:nvPr/>
        </p:nvGrpSpPr>
        <p:grpSpPr>
          <a:xfrm>
            <a:off x="5260322" y="2188734"/>
            <a:ext cx="660600" cy="200055"/>
            <a:chOff x="439199" y="2256791"/>
            <a:chExt cx="660600" cy="20005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28B24841-E123-88BD-4B38-F260553A9A71}"/>
                </a:ext>
              </a:extLst>
            </p:cNvPr>
            <p:cNvSpPr/>
            <p:nvPr/>
          </p:nvSpPr>
          <p:spPr>
            <a:xfrm>
              <a:off x="579859" y="2256791"/>
              <a:ext cx="519940" cy="200055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algn="ctr" defTabSz="914126">
                <a:buSzPct val="120000"/>
              </a:pPr>
              <a:r>
                <a:rPr lang="ko-KR" altLang="en-US" sz="1300" dirty="0">
                  <a:solidFill>
                    <a:prstClr val="black"/>
                  </a:solidFill>
                  <a:latin typeface="+mj-ea"/>
                  <a:ea typeface="+mj-ea"/>
                </a:rPr>
                <a:t>경쟁력</a:t>
              </a:r>
            </a:p>
          </p:txBody>
        </p:sp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5956C536-A6A4-B181-EED0-0444765ED641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atinLnBrk="0"/>
              <a:endParaRPr lang="ko-KR" altLang="en-US" sz="1300" b="1" kern="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68B5521-8788-5C6F-54EB-8B6EF088B2D0}"/>
              </a:ext>
            </a:extLst>
          </p:cNvPr>
          <p:cNvGrpSpPr/>
          <p:nvPr/>
        </p:nvGrpSpPr>
        <p:grpSpPr>
          <a:xfrm>
            <a:off x="409303" y="4992474"/>
            <a:ext cx="1117998" cy="200055"/>
            <a:chOff x="439199" y="2256791"/>
            <a:chExt cx="1117998" cy="200055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7ADAF2F-3F07-98A8-4780-868CA876DF0B}"/>
                </a:ext>
              </a:extLst>
            </p:cNvPr>
            <p:cNvSpPr/>
            <p:nvPr/>
          </p:nvSpPr>
          <p:spPr>
            <a:xfrm>
              <a:off x="590018" y="2256791"/>
              <a:ext cx="967179" cy="200055"/>
            </a:xfrm>
            <a:prstGeom prst="rect">
              <a:avLst/>
            </a:prstGeom>
          </p:spPr>
          <p:txBody>
            <a:bodyPr wrap="none" lIns="36000" tIns="0" rIns="36000" bIns="0">
              <a:spAutoFit/>
            </a:bodyPr>
            <a:lstStyle/>
            <a:p>
              <a:pPr algn="ctr" defTabSz="914126">
                <a:buSzPct val="120000"/>
              </a:pPr>
              <a:r>
                <a:rPr lang="ko-KR" altLang="en-US" sz="1300" dirty="0">
                  <a:solidFill>
                    <a:prstClr val="black"/>
                  </a:solidFill>
                  <a:latin typeface="+mj-ea"/>
                  <a:ea typeface="+mj-ea"/>
                </a:rPr>
                <a:t>노동시장환경</a:t>
              </a:r>
            </a:p>
          </p:txBody>
        </p:sp>
        <p:sp>
          <p:nvSpPr>
            <p:cNvPr id="60" name="순서도: 연결자 59">
              <a:extLst>
                <a:ext uri="{FF2B5EF4-FFF2-40B4-BE49-F238E27FC236}">
                  <a16:creationId xmlns:a16="http://schemas.microsoft.com/office/drawing/2014/main" id="{48ED4B92-0FA7-79EA-00C8-4927BDFD6E6E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atinLnBrk="0"/>
              <a:endParaRPr lang="ko-KR" altLang="en-US" sz="1300" b="1" kern="0" dirty="0">
                <a:solidFill>
                  <a:prstClr val="black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1" name="Freeform 58">
            <a:extLst>
              <a:ext uri="{FF2B5EF4-FFF2-40B4-BE49-F238E27FC236}">
                <a16:creationId xmlns:a16="http://schemas.microsoft.com/office/drawing/2014/main" id="{CB404533-F448-C6B8-F832-E322B2EFD335}"/>
              </a:ext>
            </a:extLst>
          </p:cNvPr>
          <p:cNvSpPr>
            <a:spLocks/>
          </p:cNvSpPr>
          <p:nvPr/>
        </p:nvSpPr>
        <p:spPr bwMode="auto">
          <a:xfrm>
            <a:off x="5224140" y="5420983"/>
            <a:ext cx="250225" cy="204464"/>
          </a:xfrm>
          <a:custGeom>
            <a:avLst/>
            <a:gdLst/>
            <a:ahLst/>
            <a:cxnLst>
              <a:cxn ang="0">
                <a:pos x="346" y="542"/>
              </a:cxn>
              <a:cxn ang="0">
                <a:pos x="322" y="554"/>
              </a:cxn>
              <a:cxn ang="0">
                <a:pos x="242" y="574"/>
              </a:cxn>
              <a:cxn ang="0">
                <a:pos x="88" y="600"/>
              </a:cxn>
              <a:cxn ang="0">
                <a:pos x="0" y="612"/>
              </a:cxn>
              <a:cxn ang="0">
                <a:pos x="60" y="706"/>
              </a:cxn>
              <a:cxn ang="0">
                <a:pos x="324" y="1154"/>
              </a:cxn>
              <a:cxn ang="0">
                <a:pos x="580" y="1268"/>
              </a:cxn>
              <a:cxn ang="0">
                <a:pos x="610" y="1180"/>
              </a:cxn>
              <a:cxn ang="0">
                <a:pos x="662" y="1042"/>
              </a:cxn>
              <a:cxn ang="0">
                <a:pos x="740" y="864"/>
              </a:cxn>
              <a:cxn ang="0">
                <a:pos x="818" y="714"/>
              </a:cxn>
              <a:cxn ang="0">
                <a:pos x="878" y="610"/>
              </a:cxn>
              <a:cxn ang="0">
                <a:pos x="946" y="508"/>
              </a:cxn>
              <a:cxn ang="0">
                <a:pos x="1020" y="408"/>
              </a:cxn>
              <a:cxn ang="0">
                <a:pos x="1102" y="314"/>
              </a:cxn>
              <a:cxn ang="0">
                <a:pos x="1190" y="226"/>
              </a:cxn>
              <a:cxn ang="0">
                <a:pos x="1286" y="148"/>
              </a:cxn>
              <a:cxn ang="0">
                <a:pos x="1390" y="82"/>
              </a:cxn>
              <a:cxn ang="0">
                <a:pos x="1446" y="56"/>
              </a:cxn>
              <a:cxn ang="0">
                <a:pos x="1368" y="58"/>
              </a:cxn>
              <a:cxn ang="0">
                <a:pos x="1266" y="52"/>
              </a:cxn>
              <a:cxn ang="0">
                <a:pos x="1214" y="42"/>
              </a:cxn>
              <a:cxn ang="0">
                <a:pos x="1166" y="26"/>
              </a:cxn>
              <a:cxn ang="0">
                <a:pos x="1130" y="0"/>
              </a:cxn>
              <a:cxn ang="0">
                <a:pos x="1088" y="28"/>
              </a:cxn>
              <a:cxn ang="0">
                <a:pos x="1010" y="86"/>
              </a:cxn>
              <a:cxn ang="0">
                <a:pos x="938" y="148"/>
              </a:cxn>
              <a:cxn ang="0">
                <a:pos x="870" y="214"/>
              </a:cxn>
              <a:cxn ang="0">
                <a:pos x="808" y="284"/>
              </a:cxn>
              <a:cxn ang="0">
                <a:pos x="726" y="388"/>
              </a:cxn>
              <a:cxn ang="0">
                <a:pos x="634" y="524"/>
              </a:cxn>
              <a:cxn ang="0">
                <a:pos x="562" y="648"/>
              </a:cxn>
              <a:cxn ang="0">
                <a:pos x="512" y="748"/>
              </a:cxn>
              <a:cxn ang="0">
                <a:pos x="472" y="840"/>
              </a:cxn>
              <a:cxn ang="0">
                <a:pos x="458" y="812"/>
              </a:cxn>
              <a:cxn ang="0">
                <a:pos x="386" y="648"/>
              </a:cxn>
              <a:cxn ang="0">
                <a:pos x="346" y="542"/>
              </a:cxn>
            </a:cxnLst>
            <a:rect l="0" t="0" r="r" b="b"/>
            <a:pathLst>
              <a:path w="1446" h="1268">
                <a:moveTo>
                  <a:pt x="346" y="542"/>
                </a:moveTo>
                <a:lnTo>
                  <a:pt x="346" y="542"/>
                </a:lnTo>
                <a:lnTo>
                  <a:pt x="336" y="548"/>
                </a:lnTo>
                <a:lnTo>
                  <a:pt x="322" y="554"/>
                </a:lnTo>
                <a:lnTo>
                  <a:pt x="286" y="564"/>
                </a:lnTo>
                <a:lnTo>
                  <a:pt x="242" y="574"/>
                </a:lnTo>
                <a:lnTo>
                  <a:pt x="192" y="584"/>
                </a:lnTo>
                <a:lnTo>
                  <a:pt x="88" y="600"/>
                </a:lnTo>
                <a:lnTo>
                  <a:pt x="0" y="612"/>
                </a:lnTo>
                <a:lnTo>
                  <a:pt x="0" y="612"/>
                </a:lnTo>
                <a:lnTo>
                  <a:pt x="20" y="642"/>
                </a:lnTo>
                <a:lnTo>
                  <a:pt x="60" y="706"/>
                </a:lnTo>
                <a:lnTo>
                  <a:pt x="170" y="892"/>
                </a:lnTo>
                <a:lnTo>
                  <a:pt x="324" y="1154"/>
                </a:lnTo>
                <a:lnTo>
                  <a:pt x="580" y="1268"/>
                </a:lnTo>
                <a:lnTo>
                  <a:pt x="580" y="1268"/>
                </a:lnTo>
                <a:lnTo>
                  <a:pt x="592" y="1228"/>
                </a:lnTo>
                <a:lnTo>
                  <a:pt x="610" y="1180"/>
                </a:lnTo>
                <a:lnTo>
                  <a:pt x="632" y="1118"/>
                </a:lnTo>
                <a:lnTo>
                  <a:pt x="662" y="1042"/>
                </a:lnTo>
                <a:lnTo>
                  <a:pt x="698" y="956"/>
                </a:lnTo>
                <a:lnTo>
                  <a:pt x="740" y="864"/>
                </a:lnTo>
                <a:lnTo>
                  <a:pt x="790" y="764"/>
                </a:lnTo>
                <a:lnTo>
                  <a:pt x="818" y="714"/>
                </a:lnTo>
                <a:lnTo>
                  <a:pt x="848" y="662"/>
                </a:lnTo>
                <a:lnTo>
                  <a:pt x="878" y="610"/>
                </a:lnTo>
                <a:lnTo>
                  <a:pt x="910" y="558"/>
                </a:lnTo>
                <a:lnTo>
                  <a:pt x="946" y="508"/>
                </a:lnTo>
                <a:lnTo>
                  <a:pt x="982" y="458"/>
                </a:lnTo>
                <a:lnTo>
                  <a:pt x="1020" y="408"/>
                </a:lnTo>
                <a:lnTo>
                  <a:pt x="1060" y="360"/>
                </a:lnTo>
                <a:lnTo>
                  <a:pt x="1102" y="314"/>
                </a:lnTo>
                <a:lnTo>
                  <a:pt x="1146" y="268"/>
                </a:lnTo>
                <a:lnTo>
                  <a:pt x="1190" y="226"/>
                </a:lnTo>
                <a:lnTo>
                  <a:pt x="1238" y="186"/>
                </a:lnTo>
                <a:lnTo>
                  <a:pt x="1286" y="148"/>
                </a:lnTo>
                <a:lnTo>
                  <a:pt x="1338" y="114"/>
                </a:lnTo>
                <a:lnTo>
                  <a:pt x="1390" y="82"/>
                </a:lnTo>
                <a:lnTo>
                  <a:pt x="1446" y="56"/>
                </a:lnTo>
                <a:lnTo>
                  <a:pt x="1446" y="56"/>
                </a:lnTo>
                <a:lnTo>
                  <a:pt x="1408" y="58"/>
                </a:lnTo>
                <a:lnTo>
                  <a:pt x="1368" y="58"/>
                </a:lnTo>
                <a:lnTo>
                  <a:pt x="1318" y="56"/>
                </a:lnTo>
                <a:lnTo>
                  <a:pt x="1266" y="52"/>
                </a:lnTo>
                <a:lnTo>
                  <a:pt x="1240" y="48"/>
                </a:lnTo>
                <a:lnTo>
                  <a:pt x="1214" y="42"/>
                </a:lnTo>
                <a:lnTo>
                  <a:pt x="1190" y="34"/>
                </a:lnTo>
                <a:lnTo>
                  <a:pt x="1166" y="26"/>
                </a:lnTo>
                <a:lnTo>
                  <a:pt x="1146" y="14"/>
                </a:lnTo>
                <a:lnTo>
                  <a:pt x="1130" y="0"/>
                </a:lnTo>
                <a:lnTo>
                  <a:pt x="1130" y="0"/>
                </a:lnTo>
                <a:lnTo>
                  <a:pt x="1088" y="28"/>
                </a:lnTo>
                <a:lnTo>
                  <a:pt x="1048" y="56"/>
                </a:lnTo>
                <a:lnTo>
                  <a:pt x="1010" y="86"/>
                </a:lnTo>
                <a:lnTo>
                  <a:pt x="974" y="116"/>
                </a:lnTo>
                <a:lnTo>
                  <a:pt x="938" y="148"/>
                </a:lnTo>
                <a:lnTo>
                  <a:pt x="904" y="182"/>
                </a:lnTo>
                <a:lnTo>
                  <a:pt x="870" y="214"/>
                </a:lnTo>
                <a:lnTo>
                  <a:pt x="838" y="250"/>
                </a:lnTo>
                <a:lnTo>
                  <a:pt x="808" y="284"/>
                </a:lnTo>
                <a:lnTo>
                  <a:pt x="780" y="318"/>
                </a:lnTo>
                <a:lnTo>
                  <a:pt x="726" y="388"/>
                </a:lnTo>
                <a:lnTo>
                  <a:pt x="676" y="458"/>
                </a:lnTo>
                <a:lnTo>
                  <a:pt x="634" y="524"/>
                </a:lnTo>
                <a:lnTo>
                  <a:pt x="594" y="588"/>
                </a:lnTo>
                <a:lnTo>
                  <a:pt x="562" y="648"/>
                </a:lnTo>
                <a:lnTo>
                  <a:pt x="534" y="700"/>
                </a:lnTo>
                <a:lnTo>
                  <a:pt x="512" y="748"/>
                </a:lnTo>
                <a:lnTo>
                  <a:pt x="482" y="814"/>
                </a:lnTo>
                <a:lnTo>
                  <a:pt x="472" y="840"/>
                </a:lnTo>
                <a:lnTo>
                  <a:pt x="472" y="840"/>
                </a:lnTo>
                <a:lnTo>
                  <a:pt x="458" y="812"/>
                </a:lnTo>
                <a:lnTo>
                  <a:pt x="426" y="744"/>
                </a:lnTo>
                <a:lnTo>
                  <a:pt x="386" y="648"/>
                </a:lnTo>
                <a:lnTo>
                  <a:pt x="366" y="596"/>
                </a:lnTo>
                <a:lnTo>
                  <a:pt x="346" y="542"/>
                </a:lnTo>
                <a:lnTo>
                  <a:pt x="346" y="542"/>
                </a:lnTo>
                <a:close/>
              </a:path>
            </a:pathLst>
          </a:custGeom>
          <a:solidFill>
            <a:srgbClr val="C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defTabSz="913852"/>
            <a:endParaRPr lang="ko-KR" altLang="en-US" sz="1600" dirty="0">
              <a:solidFill>
                <a:srgbClr val="0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42" name="차트 41">
            <a:extLst>
              <a:ext uri="{FF2B5EF4-FFF2-40B4-BE49-F238E27FC236}">
                <a16:creationId xmlns:a16="http://schemas.microsoft.com/office/drawing/2014/main" id="{0D5EFD64-0DFC-446C-82DD-C46890A516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6526360"/>
              </p:ext>
            </p:extLst>
          </p:nvPr>
        </p:nvGraphicFramePr>
        <p:xfrm>
          <a:off x="1318260" y="2352674"/>
          <a:ext cx="3442648" cy="622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86C1281D-E21B-1DBA-CFEE-65C4ED6CA686}"/>
              </a:ext>
            </a:extLst>
          </p:cNvPr>
          <p:cNvSpPr/>
          <p:nvPr/>
        </p:nvSpPr>
        <p:spPr>
          <a:xfrm>
            <a:off x="393860" y="2469235"/>
            <a:ext cx="1983580" cy="461665"/>
          </a:xfrm>
          <a:prstGeom prst="rect">
            <a:avLst/>
          </a:prstGeom>
        </p:spPr>
        <p:txBody>
          <a:bodyPr wrap="square" lIns="72000" rIns="7200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+mj-ea"/>
                <a:ea typeface="+mj-ea"/>
              </a:rPr>
              <a:t>우리 회사 주요 제품</a:t>
            </a:r>
            <a:r>
              <a:rPr lang="en-US" altLang="ko-KR" sz="1200" dirty="0">
                <a:solidFill>
                  <a:prstClr val="black"/>
                </a:solidFill>
                <a:latin typeface="+mj-ea"/>
                <a:ea typeface="+mj-ea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+mj-ea"/>
                <a:ea typeface="+mj-ea"/>
              </a:rPr>
              <a:t>서비스는 경쟁이 심한 편인가</a:t>
            </a:r>
            <a:r>
              <a:rPr lang="en-US" altLang="ko-KR" sz="1200" dirty="0">
                <a:solidFill>
                  <a:prstClr val="black"/>
                </a:solidFill>
                <a:latin typeface="+mj-ea"/>
                <a:ea typeface="+mj-ea"/>
              </a:rPr>
              <a:t>?</a:t>
            </a:r>
            <a:endParaRPr lang="ko-KR" altLang="en-US" sz="12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graphicFrame>
        <p:nvGraphicFramePr>
          <p:cNvPr id="36" name="표 4">
            <a:extLst>
              <a:ext uri="{FF2B5EF4-FFF2-40B4-BE49-F238E27FC236}">
                <a16:creationId xmlns:a16="http://schemas.microsoft.com/office/drawing/2014/main" id="{2839331F-8D44-3A34-4A7C-F1A4FCBC7DA5}"/>
              </a:ext>
            </a:extLst>
          </p:cNvPr>
          <p:cNvGraphicFramePr>
            <a:graphicFrameLocks noGrp="1"/>
          </p:cNvGraphicFramePr>
          <p:nvPr/>
        </p:nvGraphicFramePr>
        <p:xfrm>
          <a:off x="2181505" y="2787015"/>
          <a:ext cx="271815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631">
                  <a:extLst>
                    <a:ext uri="{9D8B030D-6E8A-4147-A177-3AD203B41FA5}">
                      <a16:colId xmlns:a16="http://schemas.microsoft.com/office/drawing/2014/main" val="3882964581"/>
                    </a:ext>
                  </a:extLst>
                </a:gridCol>
                <a:gridCol w="543631">
                  <a:extLst>
                    <a:ext uri="{9D8B030D-6E8A-4147-A177-3AD203B41FA5}">
                      <a16:colId xmlns:a16="http://schemas.microsoft.com/office/drawing/2014/main" val="3976209901"/>
                    </a:ext>
                  </a:extLst>
                </a:gridCol>
                <a:gridCol w="543631">
                  <a:extLst>
                    <a:ext uri="{9D8B030D-6E8A-4147-A177-3AD203B41FA5}">
                      <a16:colId xmlns:a16="http://schemas.microsoft.com/office/drawing/2014/main" val="1456742280"/>
                    </a:ext>
                  </a:extLst>
                </a:gridCol>
                <a:gridCol w="543631">
                  <a:extLst>
                    <a:ext uri="{9D8B030D-6E8A-4147-A177-3AD203B41FA5}">
                      <a16:colId xmlns:a16="http://schemas.microsoft.com/office/drawing/2014/main" val="3823488014"/>
                    </a:ext>
                  </a:extLst>
                </a:gridCol>
                <a:gridCol w="543631">
                  <a:extLst>
                    <a:ext uri="{9D8B030D-6E8A-4147-A177-3AD203B41FA5}">
                      <a16:colId xmlns:a16="http://schemas.microsoft.com/office/drawing/2014/main" val="64850429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전혀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그렇지 않다</a:t>
                      </a:r>
                    </a:p>
                  </a:txBody>
                  <a:tcPr marL="0" marR="0" marT="41564" marB="4156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그렇지 않다</a:t>
                      </a:r>
                    </a:p>
                  </a:txBody>
                  <a:tcPr marL="0" marR="0" marT="41564" marB="4156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보통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이다</a:t>
                      </a:r>
                    </a:p>
                  </a:txBody>
                  <a:tcPr marL="0" marR="0" marT="41564" marB="4156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그렇다</a:t>
                      </a:r>
                    </a:p>
                  </a:txBody>
                  <a:tcPr marL="0" marR="0" marT="41564" marB="4156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매우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그렇다</a:t>
                      </a:r>
                    </a:p>
                  </a:txBody>
                  <a:tcPr marL="0" marR="0" marT="41564" marB="4156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31765"/>
                  </a:ext>
                </a:extLst>
              </a:tr>
            </a:tbl>
          </a:graphicData>
        </a:graphic>
      </p:graphicFrame>
      <p:sp>
        <p:nvSpPr>
          <p:cNvPr id="30" name="Rectangle 55">
            <a:extLst>
              <a:ext uri="{FF2B5EF4-FFF2-40B4-BE49-F238E27FC236}">
                <a16:creationId xmlns:a16="http://schemas.microsoft.com/office/drawing/2014/main" id="{B061AA6B-AF16-9EC9-C8DC-FB71EC69E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54919"/>
            <a:ext cx="4536000" cy="27180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0012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신규 인력 확충으로 젊고 역동적인 연령층을 보유하고 있으나</a:t>
            </a:r>
            <a:r>
              <a:rPr lang="en-US" altLang="ko-KR" dirty="0"/>
              <a:t>, </a:t>
            </a:r>
            <a:r>
              <a:rPr lang="ko-KR" altLang="en-US" dirty="0"/>
              <a:t>중간관리층과 중간 경력 인력의 공백으로 인해 허리가 취약한 조직 구조를 가지고 있어</a:t>
            </a:r>
            <a:r>
              <a:rPr lang="en-US" altLang="ko-KR" dirty="0"/>
              <a:t>, </a:t>
            </a:r>
            <a:r>
              <a:rPr lang="ko-KR" altLang="en-US" dirty="0"/>
              <a:t>중간관리 및 경력자 확보를 위한 </a:t>
            </a:r>
            <a:r>
              <a:rPr lang="en-US" altLang="ko-KR" dirty="0"/>
              <a:t>HR </a:t>
            </a:r>
            <a:r>
              <a:rPr lang="ko-KR" altLang="en-US" dirty="0"/>
              <a:t>제도 개선이 필요함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atinLnBrk="0"/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ko-KR" altLang="en-US" dirty="0"/>
              <a:t>혁신기반 </a:t>
            </a:r>
            <a:r>
              <a:rPr lang="en-US" altLang="ko-KR" dirty="0"/>
              <a:t>&gt; </a:t>
            </a:r>
            <a:r>
              <a:rPr lang="ko-KR" altLang="en-US" dirty="0"/>
              <a:t>인력구조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54DA206-722A-C7E2-51C3-053C34F912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atinLnBrk="0"/>
            <a:endParaRPr lang="ko-KR" altLang="en-US"/>
          </a:p>
        </p:txBody>
      </p:sp>
      <p:graphicFrame>
        <p:nvGraphicFramePr>
          <p:cNvPr id="41" name="chart 1">
            <a:extLst>
              <a:ext uri="{FF2B5EF4-FFF2-40B4-BE49-F238E27FC236}">
                <a16:creationId xmlns:a16="http://schemas.microsoft.com/office/drawing/2014/main" id="{A7EDEB2D-8B59-BBF9-3D7C-F9B1BC936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6519299"/>
              </p:ext>
            </p:extLst>
          </p:nvPr>
        </p:nvGraphicFramePr>
        <p:xfrm>
          <a:off x="280800" y="2060575"/>
          <a:ext cx="288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" name="chart 2">
            <a:extLst>
              <a:ext uri="{FF2B5EF4-FFF2-40B4-BE49-F238E27FC236}">
                <a16:creationId xmlns:a16="http://schemas.microsoft.com/office/drawing/2014/main" id="{18D2EEC9-2F69-686A-C335-C99FAFC504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0034539"/>
              </p:ext>
            </p:extLst>
          </p:nvPr>
        </p:nvGraphicFramePr>
        <p:xfrm>
          <a:off x="3513000" y="2060575"/>
          <a:ext cx="288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99C4447E-9116-6CE1-DB78-9B4314959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379145"/>
              </p:ext>
            </p:extLst>
          </p:nvPr>
        </p:nvGraphicFramePr>
        <p:xfrm>
          <a:off x="6752950" y="2060575"/>
          <a:ext cx="288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topic">
            <a:extLst>
              <a:ext uri="{FF2B5EF4-FFF2-40B4-BE49-F238E27FC236}">
                <a16:creationId xmlns:a16="http://schemas.microsoft.com/office/drawing/2014/main" id="{22273786-F379-A5C3-166B-F6A372ABF5DF}"/>
              </a:ext>
            </a:extLst>
          </p:cNvPr>
          <p:cNvSpPr txBox="1">
            <a:spLocks/>
          </p:cNvSpPr>
          <p:nvPr/>
        </p:nvSpPr>
        <p:spPr>
          <a:xfrm>
            <a:off x="279136" y="1638929"/>
            <a:ext cx="9353813" cy="288000"/>
          </a:xfrm>
          <a:prstGeom prst="rect">
            <a:avLst/>
          </a:prstGeom>
        </p:spPr>
        <p:txBody>
          <a:bodyPr wrap="square" anchor="ctr" anchorCtr="0"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>
                <a:ln>
                  <a:solidFill>
                    <a:sysClr val="windowText" lastClr="000000">
                      <a:alpha val="5000"/>
                    </a:sys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rPr>
              <a:t>인력 운영 현황</a:t>
            </a:r>
            <a:endParaRPr kumimoji="0" lang="ko-KR" altLang="en-US" sz="1400" b="0" i="0" u="none" strike="noStrike" kern="0" cap="none" spc="0" normalizeH="0" baseline="0" noProof="0" dirty="0">
              <a:ln>
                <a:solidFill>
                  <a:sysClr val="windowText" lastClr="000000">
                    <a:alpha val="5000"/>
                  </a:sys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나눔바른고딕"/>
              <a:ea typeface="나눔바른고딕"/>
              <a:cs typeface="+mn-cs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7BDB9E8E-94DF-8C43-5584-5B604C7061F8}"/>
              </a:ext>
            </a:extLst>
          </p:cNvPr>
          <p:cNvCxnSpPr/>
          <p:nvPr/>
        </p:nvCxnSpPr>
        <p:spPr>
          <a:xfrm>
            <a:off x="281215" y="1952346"/>
            <a:ext cx="9351735" cy="2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art">
            <a:extLst>
              <a:ext uri="{FF2B5EF4-FFF2-40B4-BE49-F238E27FC236}">
                <a16:creationId xmlns:a16="http://schemas.microsoft.com/office/drawing/2014/main" id="{9B4C3938-D6BB-C829-373D-AD24BD273B2F}"/>
              </a:ext>
            </a:extLst>
          </p:cNvPr>
          <p:cNvGrpSpPr/>
          <p:nvPr/>
        </p:nvGrpSpPr>
        <p:grpSpPr>
          <a:xfrm>
            <a:off x="1408045" y="4048255"/>
            <a:ext cx="7096055" cy="165100"/>
            <a:chOff x="1408045" y="4048255"/>
            <a:chExt cx="7096055" cy="165100"/>
          </a:xfrm>
        </p:grpSpPr>
        <p:sp>
          <p:nvSpPr>
            <p:cNvPr id="17" name="화살표: 아래쪽">
              <a:extLst>
                <a:ext uri="{FF2B5EF4-FFF2-40B4-BE49-F238E27FC236}">
                  <a16:creationId xmlns:a16="http://schemas.microsoft.com/office/drawing/2014/main" id="{14D98649-CFB0-978B-8F9D-65C2B13A86C9}"/>
                </a:ext>
              </a:extLst>
            </p:cNvPr>
            <p:cNvSpPr/>
            <p:nvPr/>
          </p:nvSpPr>
          <p:spPr>
            <a:xfrm>
              <a:off x="1408045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8" name="화살표: 아래쪽">
              <a:extLst>
                <a:ext uri="{FF2B5EF4-FFF2-40B4-BE49-F238E27FC236}">
                  <a16:creationId xmlns:a16="http://schemas.microsoft.com/office/drawing/2014/main" id="{E2745C15-F8F4-BA9E-16F7-63837DCD2849}"/>
                </a:ext>
              </a:extLst>
            </p:cNvPr>
            <p:cNvSpPr/>
            <p:nvPr/>
          </p:nvSpPr>
          <p:spPr>
            <a:xfrm>
              <a:off x="4641850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  <p:sp>
          <p:nvSpPr>
            <p:cNvPr id="19" name="화살표: 아래쪽">
              <a:extLst>
                <a:ext uri="{FF2B5EF4-FFF2-40B4-BE49-F238E27FC236}">
                  <a16:creationId xmlns:a16="http://schemas.microsoft.com/office/drawing/2014/main" id="{97FD344D-542E-3939-5BAD-C5E6828BFC0F}"/>
                </a:ext>
              </a:extLst>
            </p:cNvPr>
            <p:cNvSpPr/>
            <p:nvPr/>
          </p:nvSpPr>
          <p:spPr>
            <a:xfrm>
              <a:off x="7881800" y="4048255"/>
              <a:ext cx="622300" cy="165100"/>
            </a:xfrm>
            <a:prstGeom prst="downArrow">
              <a:avLst>
                <a:gd name="adj1" fmla="val 100000"/>
                <a:gd name="adj2" fmla="val 100000"/>
              </a:avLst>
            </a:prstGeom>
            <a:gradFill flip="none" rotWithShape="1">
              <a:gsLst>
                <a:gs pos="0">
                  <a:srgbClr val="FFFFFF"/>
                </a:gs>
                <a:gs pos="84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b="0" i="0" u="none" strike="noStrike" cap="none" spc="0" normalizeH="0" baseline="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2E68CE-079F-E6B9-393F-99D1856DC109}"/>
              </a:ext>
            </a:extLst>
          </p:cNvPr>
          <p:cNvSpPr/>
          <p:nvPr/>
        </p:nvSpPr>
        <p:spPr>
          <a:xfrm>
            <a:off x="273050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20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대 젊은 신규 인력이 다수 확충되었으나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30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대 실무 핵심 인력 연령층이 매우 낮음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40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대 이상이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46%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로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</a:rPr>
              <a:t>고숙련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인력 비중이 높아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20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대 신규 직원과의 세대 갈등 우려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중간관리자 역할 및 책임 강화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체계적 육성이 필요함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D2683D-F0B1-0981-330D-DFD453D459DA}"/>
              </a:ext>
            </a:extLst>
          </p:cNvPr>
          <p:cNvSpPr/>
          <p:nvPr/>
        </p:nvSpPr>
        <p:spPr>
          <a:xfrm>
            <a:off x="3513000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1~3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년 </a:t>
            </a: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</a:rPr>
              <a:t>저연차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 인력 대비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3~5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년 인력이 극소수로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중간 경력 공백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경력단절층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이 뚜렷함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5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년 이상 장기근속자는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32%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로 유지되고 있으나 중간층이 없는 양극화 구조임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장기근속 유도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이직률 관리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중간 경력인력 보강 방안을 위한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HR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전략 수립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AC65B1-443C-7F0C-FCF3-CE4F287D0234}"/>
              </a:ext>
            </a:extLst>
          </p:cNvPr>
          <p:cNvSpPr/>
          <p:nvPr/>
        </p:nvSpPr>
        <p:spPr>
          <a:xfrm>
            <a:off x="6752949" y="4337050"/>
            <a:ext cx="2880000" cy="180016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부장급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인력 비중이 가장 높아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상위 직급 중심의 조직 구조를 가지고 있음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차장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과장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역할의 중간관리직 부족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직급별 역할과 기대성과 기준을 정립하고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임금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평가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승진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제도와 연계하여 중간관리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역할 확대 필요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topic">
            <a:extLst>
              <a:ext uri="{FF2B5EF4-FFF2-40B4-BE49-F238E27FC236}">
                <a16:creationId xmlns:a16="http://schemas.microsoft.com/office/drawing/2014/main" id="{2D1A7937-BB87-5114-6CFF-0CB77CBBB5D2}"/>
              </a:ext>
            </a:extLst>
          </p:cNvPr>
          <p:cNvSpPr txBox="1">
            <a:spLocks/>
          </p:cNvSpPr>
          <p:nvPr/>
        </p:nvSpPr>
        <p:spPr>
          <a:xfrm>
            <a:off x="543846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연령</a:t>
            </a:r>
          </a:p>
        </p:txBody>
      </p:sp>
      <p:sp>
        <p:nvSpPr>
          <p:cNvPr id="11" name="topic">
            <a:extLst>
              <a:ext uri="{FF2B5EF4-FFF2-40B4-BE49-F238E27FC236}">
                <a16:creationId xmlns:a16="http://schemas.microsoft.com/office/drawing/2014/main" id="{5B4223CD-122F-56CD-6DAF-F671E5AB1F67}"/>
              </a:ext>
            </a:extLst>
          </p:cNvPr>
          <p:cNvSpPr txBox="1">
            <a:spLocks/>
          </p:cNvSpPr>
          <p:nvPr/>
        </p:nvSpPr>
        <p:spPr>
          <a:xfrm>
            <a:off x="3715887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근속기간</a:t>
            </a:r>
          </a:p>
        </p:txBody>
      </p:sp>
      <p:sp>
        <p:nvSpPr>
          <p:cNvPr id="12" name="topic">
            <a:extLst>
              <a:ext uri="{FF2B5EF4-FFF2-40B4-BE49-F238E27FC236}">
                <a16:creationId xmlns:a16="http://schemas.microsoft.com/office/drawing/2014/main" id="{F151DDE1-64AD-8A15-8E70-84B994BDF9F1}"/>
              </a:ext>
            </a:extLst>
          </p:cNvPr>
          <p:cNvSpPr txBox="1">
            <a:spLocks/>
          </p:cNvSpPr>
          <p:nvPr/>
        </p:nvSpPr>
        <p:spPr>
          <a:xfrm>
            <a:off x="6887930" y="1977342"/>
            <a:ext cx="2474224" cy="287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</a:pPr>
            <a:r>
              <a:rPr lang="ko-KR" altLang="en-US" sz="1200" dirty="0">
                <a:ln>
                  <a:solidFill>
                    <a:schemeClr val="tx1">
                      <a:alpha val="5000"/>
                    </a:schemeClr>
                  </a:solidFill>
                </a:ln>
                <a:latin typeface="+mj-ea"/>
                <a:ea typeface="+mj-ea"/>
              </a:rPr>
              <a:t>직급</a:t>
            </a:r>
          </a:p>
        </p:txBody>
      </p:sp>
    </p:spTree>
    <p:extLst>
      <p:ext uri="{BB962C8B-B14F-4D97-AF65-F5344CB8AC3E}">
        <p14:creationId xmlns:p14="http://schemas.microsoft.com/office/powerpoint/2010/main" val="1175856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현재 </a:t>
            </a:r>
            <a:r>
              <a:rPr lang="en-US" altLang="ko-KR" dirty="0"/>
              <a:t>20</a:t>
            </a:r>
            <a:r>
              <a:rPr lang="ko-KR" altLang="en-US" dirty="0"/>
              <a:t>대와 </a:t>
            </a:r>
            <a:r>
              <a:rPr lang="en-US" altLang="ko-KR" dirty="0"/>
              <a:t>50</a:t>
            </a:r>
            <a:r>
              <a:rPr lang="ko-KR" altLang="en-US" dirty="0"/>
              <a:t>대 이상에 집중되어 있는 </a:t>
            </a:r>
            <a:r>
              <a:rPr lang="ko-KR" altLang="en-US" dirty="0" err="1"/>
              <a:t>포주박형</a:t>
            </a:r>
            <a:r>
              <a:rPr lang="ko-KR" altLang="en-US" dirty="0"/>
              <a:t> 인력구조를 가지고 있어</a:t>
            </a:r>
            <a:r>
              <a:rPr lang="en-US" altLang="ko-KR" dirty="0"/>
              <a:t>, </a:t>
            </a:r>
            <a:r>
              <a:rPr lang="ko-KR" altLang="en-US" dirty="0"/>
              <a:t>중간관리자 및 핵심 실무 경력층이 부족한 실정이며</a:t>
            </a:r>
            <a:r>
              <a:rPr lang="en-US" altLang="ko-KR" dirty="0"/>
              <a:t>, 5</a:t>
            </a:r>
            <a:r>
              <a:rPr lang="ko-KR" altLang="en-US" dirty="0"/>
              <a:t>년 </a:t>
            </a:r>
            <a:r>
              <a:rPr lang="en-US" altLang="ko-KR" dirty="0"/>
              <a:t>~ 10</a:t>
            </a:r>
            <a:r>
              <a:rPr lang="ko-KR" altLang="en-US" dirty="0"/>
              <a:t>년 후에 기존 </a:t>
            </a:r>
            <a:r>
              <a:rPr lang="en-US" altLang="ko-KR" dirty="0"/>
              <a:t>20</a:t>
            </a:r>
            <a:r>
              <a:rPr lang="ko-KR" altLang="en-US" dirty="0"/>
              <a:t>대 인력이 중간관리자 및 핵심 실무 경력 역할을 수행할 수 있도록 체계적인 관리가 필요함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혁신기반 </a:t>
            </a:r>
            <a:r>
              <a:rPr lang="en-US" altLang="ko-KR" dirty="0"/>
              <a:t>&gt; </a:t>
            </a:r>
            <a:r>
              <a:rPr lang="ko-KR" altLang="en-US" dirty="0"/>
              <a:t>인력구조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64E644A-B5DD-F19F-E81C-7819469302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오른쪽 화살표">
            <a:extLst>
              <a:ext uri="{FF2B5EF4-FFF2-40B4-BE49-F238E27FC236}">
                <a16:creationId xmlns:a16="http://schemas.microsoft.com/office/drawing/2014/main" id="{26F77747-F4B7-C1DB-CB05-9AE8C00B4DAF}"/>
              </a:ext>
            </a:extLst>
          </p:cNvPr>
          <p:cNvSpPr/>
          <p:nvPr/>
        </p:nvSpPr>
        <p:spPr bwMode="gray">
          <a:xfrm>
            <a:off x="3184586" y="2076652"/>
            <a:ext cx="1018560" cy="2340000"/>
          </a:xfrm>
          <a:prstGeom prst="rightArrow">
            <a:avLst>
              <a:gd name="adj1" fmla="val 100000"/>
              <a:gd name="adj2" fmla="val 29714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44000" rIns="0" rtlCol="0" anchor="ctr"/>
          <a:lstStyle/>
          <a:p>
            <a:pPr algn="r">
              <a:defRPr/>
            </a:pPr>
            <a:r>
              <a:rPr lang="en-US" altLang="ko-KR" sz="1200" dirty="0">
                <a:solidFill>
                  <a:schemeClr val="bg2"/>
                </a:solidFill>
                <a:latin typeface="+mj-ea"/>
              </a:rPr>
              <a:t>+ 5</a:t>
            </a:r>
            <a:r>
              <a:rPr lang="ko-KR" altLang="en-US" sz="1200" dirty="0">
                <a:solidFill>
                  <a:schemeClr val="bg2"/>
                </a:solidFill>
                <a:latin typeface="+mj-ea"/>
              </a:rPr>
              <a:t>년</a:t>
            </a:r>
          </a:p>
        </p:txBody>
      </p:sp>
      <p:sp>
        <p:nvSpPr>
          <p:cNvPr id="11" name="오른쪽 화살표">
            <a:extLst>
              <a:ext uri="{FF2B5EF4-FFF2-40B4-BE49-F238E27FC236}">
                <a16:creationId xmlns:a16="http://schemas.microsoft.com/office/drawing/2014/main" id="{B96BC2D1-E2E3-6708-C5FD-30E8D166D072}"/>
              </a:ext>
            </a:extLst>
          </p:cNvPr>
          <p:cNvSpPr/>
          <p:nvPr/>
        </p:nvSpPr>
        <p:spPr bwMode="gray">
          <a:xfrm>
            <a:off x="6137994" y="2076652"/>
            <a:ext cx="1018560" cy="2340000"/>
          </a:xfrm>
          <a:prstGeom prst="rightArrow">
            <a:avLst>
              <a:gd name="adj1" fmla="val 100000"/>
              <a:gd name="adj2" fmla="val 29714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44000" rIns="0" rtlCol="0" anchor="ctr"/>
          <a:lstStyle/>
          <a:p>
            <a:pPr algn="r">
              <a:defRPr/>
            </a:pPr>
            <a:r>
              <a:rPr lang="en-US" altLang="ko-KR" sz="1200" dirty="0">
                <a:solidFill>
                  <a:schemeClr val="bg2"/>
                </a:solidFill>
                <a:latin typeface="+mj-ea"/>
              </a:rPr>
              <a:t>+ 10</a:t>
            </a:r>
            <a:r>
              <a:rPr lang="ko-KR" altLang="en-US" sz="1200" dirty="0">
                <a:solidFill>
                  <a:schemeClr val="bg2"/>
                </a:solidFill>
                <a:latin typeface="+mj-ea"/>
              </a:rPr>
              <a:t>년</a:t>
            </a:r>
          </a:p>
        </p:txBody>
      </p:sp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6A2220D5-1700-7FAD-C73D-902FEB0ADC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5031804"/>
              </p:ext>
            </p:extLst>
          </p:nvPr>
        </p:nvGraphicFramePr>
        <p:xfrm>
          <a:off x="779262" y="2059857"/>
          <a:ext cx="2952000" cy="2483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2">
            <a:extLst>
              <a:ext uri="{FF2B5EF4-FFF2-40B4-BE49-F238E27FC236}">
                <a16:creationId xmlns:a16="http://schemas.microsoft.com/office/drawing/2014/main" id="{61E33129-FD7D-A09F-4E17-B6D47184BD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8856494"/>
              </p:ext>
            </p:extLst>
          </p:nvPr>
        </p:nvGraphicFramePr>
        <p:xfrm>
          <a:off x="3732670" y="2059857"/>
          <a:ext cx="2952000" cy="2483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3">
            <a:extLst>
              <a:ext uri="{FF2B5EF4-FFF2-40B4-BE49-F238E27FC236}">
                <a16:creationId xmlns:a16="http://schemas.microsoft.com/office/drawing/2014/main" id="{7090DC6B-DAAD-152C-D504-B22BFDEF2A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031377"/>
              </p:ext>
            </p:extLst>
          </p:nvPr>
        </p:nvGraphicFramePr>
        <p:xfrm>
          <a:off x="6686079" y="2059857"/>
          <a:ext cx="2952000" cy="2483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8" name="table">
            <a:extLst>
              <a:ext uri="{FF2B5EF4-FFF2-40B4-BE49-F238E27FC236}">
                <a16:creationId xmlns:a16="http://schemas.microsoft.com/office/drawing/2014/main" id="{895D2703-3BE1-512B-4B72-100A8EB73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753409"/>
              </p:ext>
            </p:extLst>
          </p:nvPr>
        </p:nvGraphicFramePr>
        <p:xfrm>
          <a:off x="287340" y="4762500"/>
          <a:ext cx="9348372" cy="1366836"/>
        </p:xfrm>
        <a:graphic>
          <a:graphicData uri="http://schemas.openxmlformats.org/drawingml/2006/table">
            <a:tbl>
              <a:tblPr/>
              <a:tblGrid>
                <a:gridCol w="936000">
                  <a:extLst>
                    <a:ext uri="{9D8B030D-6E8A-4147-A177-3AD203B41FA5}">
                      <a16:colId xmlns:a16="http://schemas.microsoft.com/office/drawing/2014/main" val="1044303278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3142828755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898044031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1926542574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2711001351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1696575087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3039974533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2471899817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232925188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1336739460"/>
                    </a:ext>
                  </a:extLst>
                </a:gridCol>
                <a:gridCol w="926708">
                  <a:extLst>
                    <a:ext uri="{9D8B030D-6E8A-4147-A177-3AD203B41FA5}">
                      <a16:colId xmlns:a16="http://schemas.microsoft.com/office/drawing/2014/main" val="1504443544"/>
                    </a:ext>
                  </a:extLst>
                </a:gridCol>
              </a:tblGrid>
              <a:tr h="2278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20~24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25~29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30~34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35~39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40~44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45~49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50~54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55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이상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cf.50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세 이상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477687"/>
                  </a:ext>
                </a:extLst>
              </a:tr>
              <a:tr h="2278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현재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27.0%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5.4%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18.9%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13.5%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16.2%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78080"/>
                  </a:ext>
                </a:extLst>
              </a:tr>
              <a:tr h="227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26.3%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25.4%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19.5%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26.3%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94080"/>
                  </a:ext>
                </a:extLst>
              </a:tr>
              <a:tr h="227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000" b="0" i="0" u="none" strike="noStrike" kern="1200" baseline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(0.0%)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26.3%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25.4%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26.3%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33.9%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768206"/>
                  </a:ext>
                </a:extLst>
              </a:tr>
              <a:tr h="227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후 증감률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14.6%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2.2%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11.3%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6.7%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▲ 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16.8%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▲ 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10.1%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982200"/>
                  </a:ext>
                </a:extLst>
              </a:tr>
              <a:tr h="227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년 후 증감률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10.8%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27.0%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15.5%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3.2%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12.1%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▽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5.9%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▲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23.6%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kern="1200" baseline="0" dirty="0"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▲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17.7%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92939"/>
                  </a:ext>
                </a:extLst>
              </a:tr>
            </a:tbl>
          </a:graphicData>
        </a:graphic>
      </p:graphicFrame>
      <p:sp>
        <p:nvSpPr>
          <p:cNvPr id="30" name="점선 박스">
            <a:extLst>
              <a:ext uri="{FF2B5EF4-FFF2-40B4-BE49-F238E27FC236}">
                <a16:creationId xmlns:a16="http://schemas.microsoft.com/office/drawing/2014/main" id="{FA42E986-D8A7-86F1-FC8A-E4EC4B016EA3}"/>
              </a:ext>
            </a:extLst>
          </p:cNvPr>
          <p:cNvSpPr/>
          <p:nvPr/>
        </p:nvSpPr>
        <p:spPr>
          <a:xfrm>
            <a:off x="8705850" y="4758523"/>
            <a:ext cx="927100" cy="1370815"/>
          </a:xfrm>
          <a:prstGeom prst="rect">
            <a:avLst/>
          </a:prstGeom>
          <a:noFill/>
          <a:ln w="22225">
            <a:solidFill>
              <a:schemeClr val="bg2"/>
            </a:solidFill>
            <a:prstDash val="sysDash"/>
          </a:ln>
        </p:spPr>
        <p:txBody>
          <a:bodyPr wrap="none" lIns="36000" tIns="36000" rtlCol="0" anchor="ctr">
            <a:noAutofit/>
          </a:bodyPr>
          <a:lstStyle/>
          <a:p>
            <a:pPr marL="174625" indent="-174625" algn="l" defTabSz="939800" eaLnBrk="1" latinLnBrk="0" hangingPunct="1">
              <a:lnSpc>
                <a:spcPct val="100000"/>
              </a:lnSpc>
              <a:spcBef>
                <a:spcPts val="300"/>
              </a:spcBef>
              <a:buClrTx/>
              <a:buSzTx/>
              <a:buFont typeface="Wingdings" pitchFamily="2" charset="2"/>
              <a:buChar char="§"/>
            </a:pPr>
            <a:endParaRPr lang="ko-KR" altLang="en-US" sz="1100" dirty="0"/>
          </a:p>
        </p:txBody>
      </p:sp>
      <p:grpSp>
        <p:nvGrpSpPr>
          <p:cNvPr id="31" name="scale">
            <a:extLst>
              <a:ext uri="{FF2B5EF4-FFF2-40B4-BE49-F238E27FC236}">
                <a16:creationId xmlns:a16="http://schemas.microsoft.com/office/drawing/2014/main" id="{B6E20EC7-75C0-EF35-4FF4-79F30CFBB863}"/>
              </a:ext>
            </a:extLst>
          </p:cNvPr>
          <p:cNvGrpSpPr/>
          <p:nvPr/>
        </p:nvGrpSpPr>
        <p:grpSpPr>
          <a:xfrm>
            <a:off x="273050" y="2170769"/>
            <a:ext cx="1692000" cy="2422737"/>
            <a:chOff x="273050" y="2170769"/>
            <a:chExt cx="1692000" cy="2422737"/>
          </a:xfrm>
        </p:grpSpPr>
        <mc:AlternateContent xmlns:mc="http://schemas.openxmlformats.org/markup-compatibility/2006" xmlns:cx2="http://schemas.microsoft.com/office/drawing/2015/10/21/chartex">
          <mc:Choice Requires="cx2">
            <p:graphicFrame>
              <p:nvGraphicFramePr>
                <p:cNvPr id="32" name="scale 차트">
                  <a:extLst>
                    <a:ext uri="{FF2B5EF4-FFF2-40B4-BE49-F238E27FC236}">
                      <a16:creationId xmlns:a16="http://schemas.microsoft.com/office/drawing/2014/main" id="{CAEA13F6-F6D6-A520-9F8E-547E8D58EFF8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4188637659"/>
                    </p:ext>
                  </p:extLst>
                </p:nvPr>
              </p:nvGraphicFramePr>
              <p:xfrm>
                <a:off x="273050" y="2335718"/>
                <a:ext cx="1692000" cy="2257788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6"/>
                </a:graphicData>
              </a:graphic>
            </p:graphicFrame>
          </mc:Choice>
          <mc:Fallback xmlns="">
            <p:pic>
              <p:nvPicPr>
                <p:cNvPr id="18" name="scale 차트">
                  <a:extLst>
                    <a:ext uri="{FF2B5EF4-FFF2-40B4-BE49-F238E27FC236}">
                      <a16:creationId xmlns:cx2="http://schemas.microsoft.com/office/drawing/2015/10/21/chartex" xmlns="" xmlns:a16="http://schemas.microsoft.com/office/drawing/2014/main" id="{03356C6F-4810-48E8-F716-8907F6E0DD9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3050" y="2335718"/>
                  <a:ext cx="1692000" cy="2257788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3" name="y축 제목">
              <a:extLst>
                <a:ext uri="{FF2B5EF4-FFF2-40B4-BE49-F238E27FC236}">
                  <a16:creationId xmlns:a16="http://schemas.microsoft.com/office/drawing/2014/main" id="{90A1EA13-5EC6-5D72-056D-09FC0A4474E8}"/>
                </a:ext>
              </a:extLst>
            </p:cNvPr>
            <p:cNvSpPr/>
            <p:nvPr/>
          </p:nvSpPr>
          <p:spPr>
            <a:xfrm>
              <a:off x="350601" y="2170769"/>
              <a:ext cx="612791" cy="184666"/>
            </a:xfrm>
            <a:prstGeom prst="rect">
              <a:avLst/>
            </a:prstGeom>
          </p:spPr>
          <p:txBody>
            <a:bodyPr wrap="none" lIns="36000" tIns="0" bIns="0">
              <a:spAutoFit/>
            </a:bodyPr>
            <a:lstStyle/>
            <a:p>
              <a:pPr defTabSz="914126">
                <a:buSzPct val="120000"/>
                <a:defRPr/>
              </a:pPr>
              <a:r>
                <a:rPr lang="en-US" altLang="ko-KR" sz="1200" dirty="0">
                  <a:solidFill>
                    <a:schemeClr val="bg2"/>
                  </a:solidFill>
                  <a:latin typeface="+mj-ea"/>
                  <a:ea typeface="+mj-ea"/>
                </a:rPr>
                <a:t>[ </a:t>
              </a:r>
              <a:r>
                <a:rPr lang="ko-KR" altLang="en-US" sz="1200" dirty="0">
                  <a:solidFill>
                    <a:schemeClr val="bg2"/>
                  </a:solidFill>
                  <a:latin typeface="+mj-ea"/>
                  <a:ea typeface="+mj-ea"/>
                </a:rPr>
                <a:t>연령 </a:t>
              </a:r>
              <a:r>
                <a:rPr lang="en-US" altLang="ko-KR" sz="1200" dirty="0">
                  <a:solidFill>
                    <a:schemeClr val="bg2"/>
                  </a:solidFill>
                  <a:latin typeface="+mj-ea"/>
                  <a:ea typeface="+mj-ea"/>
                </a:rPr>
                <a:t>]</a:t>
              </a:r>
              <a:endParaRPr lang="ko-KR" altLang="en-US" sz="1200" dirty="0">
                <a:solidFill>
                  <a:schemeClr val="bg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4" name="topic">
            <a:extLst>
              <a:ext uri="{FF2B5EF4-FFF2-40B4-BE49-F238E27FC236}">
                <a16:creationId xmlns:a16="http://schemas.microsoft.com/office/drawing/2014/main" id="{D07CACCD-8230-08A5-EE10-CA9A6F8EC259}"/>
              </a:ext>
            </a:extLst>
          </p:cNvPr>
          <p:cNvSpPr txBox="1">
            <a:spLocks/>
          </p:cNvSpPr>
          <p:nvPr/>
        </p:nvSpPr>
        <p:spPr>
          <a:xfrm>
            <a:off x="279136" y="1638929"/>
            <a:ext cx="9353813" cy="288000"/>
          </a:xfrm>
          <a:prstGeom prst="rect">
            <a:avLst/>
          </a:prstGeom>
        </p:spPr>
        <p:txBody>
          <a:bodyPr wrap="square" anchor="ctr" anchorCtr="0"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kern="0" dirty="0" smtClean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>
                <a:ln>
                  <a:solidFill>
                    <a:sysClr val="windowText" lastClr="000000">
                      <a:alpha val="5000"/>
                    </a:sysClr>
                  </a:solidFill>
                </a:ln>
                <a:solidFill>
                  <a:sysClr val="windowText" lastClr="000000"/>
                </a:solidFill>
                <a:latin typeface="나눔바른고딕"/>
                <a:ea typeface="나눔바른고딕"/>
              </a:rPr>
              <a:t>중장기 인력변화 시뮬레이션</a:t>
            </a:r>
            <a:endParaRPr kumimoji="0" lang="ko-KR" altLang="en-US" sz="1400" b="0" i="0" u="none" strike="noStrike" kern="0" cap="none" spc="0" normalizeH="0" baseline="0" noProof="0" dirty="0">
              <a:ln>
                <a:solidFill>
                  <a:sysClr val="windowText" lastClr="000000">
                    <a:alpha val="5000"/>
                  </a:sys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나눔바른고딕"/>
              <a:ea typeface="나눔바른고딕"/>
              <a:cs typeface="+mn-cs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E51C136-C4E6-745E-855A-5FBA27950A2C}"/>
              </a:ext>
            </a:extLst>
          </p:cNvPr>
          <p:cNvCxnSpPr/>
          <p:nvPr/>
        </p:nvCxnSpPr>
        <p:spPr>
          <a:xfrm>
            <a:off x="281215" y="1952346"/>
            <a:ext cx="9351735" cy="2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470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90C4690-7DCD-47DB-8258-DA6AAC6491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현재 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주</a:t>
            </a:r>
            <a:r>
              <a:rPr lang="en-US" altLang="ko-KR" dirty="0">
                <a:latin typeface="+mn-ea"/>
                <a:ea typeface="+mn-ea"/>
              </a:rPr>
              <a:t>)</a:t>
            </a:r>
            <a:r>
              <a:rPr lang="ko-KR" altLang="en-US" dirty="0" err="1">
                <a:latin typeface="+mn-ea"/>
                <a:ea typeface="+mn-ea"/>
              </a:rPr>
              <a:t>베이시스소프트의</a:t>
            </a:r>
            <a:r>
              <a:rPr lang="ko-KR" altLang="en-US" dirty="0">
                <a:latin typeface="+mn-ea"/>
                <a:ea typeface="+mn-ea"/>
              </a:rPr>
              <a:t> 노동조합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노사협의회 등의 근로자대표기구는 존재하지 않으나</a:t>
            </a:r>
            <a:r>
              <a:rPr lang="en-US" altLang="ko-KR" dirty="0">
                <a:latin typeface="+mn-ea"/>
                <a:ea typeface="+mn-ea"/>
              </a:rPr>
              <a:t> 2025</a:t>
            </a:r>
            <a:r>
              <a:rPr lang="ko-KR" altLang="en-US" dirty="0">
                <a:latin typeface="+mn-ea"/>
                <a:ea typeface="+mn-ea"/>
              </a:rPr>
              <a:t>년 노사협의회를 설치하여 협력적 노사관계를 구축할 예정임</a:t>
            </a:r>
            <a:r>
              <a:rPr lang="en-US" altLang="ko-KR" dirty="0">
                <a:latin typeface="+mn-ea"/>
                <a:ea typeface="+mn-ea"/>
              </a:rPr>
              <a:t>.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63B1452-11E2-4E30-BE79-CE3D91AAA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BD1273F-492A-4F9C-BD66-982778CE2B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혁신기반 </a:t>
            </a:r>
            <a:r>
              <a:rPr lang="en-US" altLang="ko-KR" dirty="0"/>
              <a:t>&gt; </a:t>
            </a:r>
            <a:r>
              <a:rPr lang="ko-KR" altLang="en-US" dirty="0"/>
              <a:t>노사관계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090663-22F3-4ABA-E830-97390E7198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6D616E-93C5-4AFD-8BAC-4BEDF83A733C}"/>
              </a:ext>
            </a:extLst>
          </p:cNvPr>
          <p:cNvSpPr/>
          <p:nvPr/>
        </p:nvSpPr>
        <p:spPr>
          <a:xfrm>
            <a:off x="273050" y="1638325"/>
            <a:ext cx="4536000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근로자 대표기구</a:t>
            </a:r>
            <a:r>
              <a:rPr kumimoji="0" lang="en-US" altLang="ko-KR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kumimoji="0" lang="ko-KR" altLang="en-US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노사협의회</a:t>
            </a:r>
            <a:r>
              <a:rPr kumimoji="0" lang="en-US" altLang="ko-KR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</a:t>
            </a:r>
            <a:r>
              <a:rPr kumimoji="0" lang="ko-KR" altLang="en-US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현황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BCF9CB-220C-43C5-B124-98FFC9623532}"/>
              </a:ext>
            </a:extLst>
          </p:cNvPr>
          <p:cNvSpPr/>
          <p:nvPr/>
        </p:nvSpPr>
        <p:spPr>
          <a:xfrm>
            <a:off x="5099092" y="1638325"/>
            <a:ext cx="4536000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협력적 노사관계 활동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355431A-D838-8F91-BDAD-1F81AA8FC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047345"/>
              </p:ext>
            </p:extLst>
          </p:nvPr>
        </p:nvGraphicFramePr>
        <p:xfrm>
          <a:off x="5097022" y="2055817"/>
          <a:ext cx="4535928" cy="40735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4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 참여 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45086"/>
                  </a:ext>
                </a:extLst>
              </a:tr>
              <a:tr h="490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참여 수준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26125"/>
                  </a:ext>
                </a:extLst>
              </a:tr>
              <a:tr h="490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전년도 활동 횟수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전년도 참여 이슈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34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의사소통채널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최근 노사 쟁점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100" b="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B94E58E-31E3-1BE1-EF32-3C6AAC190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8123"/>
              </p:ext>
            </p:extLst>
          </p:nvPr>
        </p:nvGraphicFramePr>
        <p:xfrm>
          <a:off x="273050" y="2055814"/>
          <a:ext cx="4534836" cy="4073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5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9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20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ko-KR" altLang="en-US" sz="11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endParaRPr lang="ko-KR" altLang="en-US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636221"/>
                  </a:ext>
                </a:extLst>
              </a:tr>
              <a:tr h="454208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노사협의회 구성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4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노사위원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근로조건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altLang="ko-KR" sz="11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4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노사협의회 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11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103023"/>
                  </a:ext>
                </a:extLst>
              </a:tr>
              <a:tr h="3910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노사관계 분위기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endParaRPr lang="ko-KR" altLang="en-US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270666"/>
                  </a:ext>
                </a:extLst>
              </a:tr>
              <a:tr h="3910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최근 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년간 파업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노사갈등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19533"/>
                  </a:ext>
                </a:extLst>
              </a:tr>
              <a:tr h="3910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최근 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년간 징계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047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근로자위원 주요 요구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969718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E74C8F24-6D2F-BFED-464E-E4C1D30383C3}"/>
              </a:ext>
            </a:extLst>
          </p:cNvPr>
          <p:cNvGrpSpPr/>
          <p:nvPr/>
        </p:nvGrpSpPr>
        <p:grpSpPr>
          <a:xfrm>
            <a:off x="273559" y="2042894"/>
            <a:ext cx="4562902" cy="4068763"/>
            <a:chOff x="273559" y="2042894"/>
            <a:chExt cx="4562902" cy="406876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61AEB5A-FC7F-FE5F-D6AD-BBADD0ECC900}"/>
                </a:ext>
              </a:extLst>
            </p:cNvPr>
            <p:cNvSpPr/>
            <p:nvPr/>
          </p:nvSpPr>
          <p:spPr>
            <a:xfrm>
              <a:off x="273559" y="2042894"/>
              <a:ext cx="4562902" cy="4068763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i="1" dirty="0">
                <a:solidFill>
                  <a:srgbClr val="C00000"/>
                </a:solidFill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B48C1ED-B9EB-AB65-FE70-15194BB5A21A}"/>
                </a:ext>
              </a:extLst>
            </p:cNvPr>
            <p:cNvGrpSpPr/>
            <p:nvPr/>
          </p:nvGrpSpPr>
          <p:grpSpPr>
            <a:xfrm rot="20700000">
              <a:off x="1783639" y="3647874"/>
              <a:ext cx="1976078" cy="995474"/>
              <a:chOff x="7785189" y="1026328"/>
              <a:chExt cx="1033247" cy="647900"/>
            </a:xfrm>
          </p:grpSpPr>
          <p:sp>
            <p:nvSpPr>
              <p:cNvPr id="14" name="AutoShape 375">
                <a:extLst>
                  <a:ext uri="{FF2B5EF4-FFF2-40B4-BE49-F238E27FC236}">
                    <a16:creationId xmlns:a16="http://schemas.microsoft.com/office/drawing/2014/main" id="{0E05D973-D4F8-07EE-B23D-6EF34056F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1282" y="1258052"/>
                <a:ext cx="1021064" cy="184457"/>
              </a:xfrm>
              <a:prstGeom prst="leftRightArrow">
                <a:avLst>
                  <a:gd name="adj1" fmla="val 100000"/>
                  <a:gd name="adj2" fmla="val 0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2540" tIns="6350" rIns="2540" bIns="0">
                <a:spAutoFit/>
              </a:bodyPr>
              <a:lstStyle>
                <a:lvl1pPr defTabSz="895350">
                  <a:buSzPct val="120000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1pPr>
                <a:lvl2pPr marL="144463" indent="-142875" defTabSz="895350">
                  <a:buSzPct val="120000"/>
                  <a:buChar char="•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2pPr>
                <a:lvl3pPr marL="295275" indent="-149225" defTabSz="895350"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3pPr>
                <a:lvl4pPr marL="431800" indent="-134938" defTabSz="895350">
                  <a:buSzPct val="89000"/>
                  <a:buChar char="•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4pPr>
                <a:lvl5pPr marL="582613" indent="-149225" defTabSz="895350"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5pPr>
                <a:lvl6pPr marL="1039813" indent="-149225" defTabSz="89535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6pPr>
                <a:lvl7pPr marL="1497013" indent="-149225" defTabSz="89535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7pPr>
                <a:lvl8pPr marL="1954213" indent="-149225" defTabSz="89535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8pPr>
                <a:lvl9pPr marL="2411413" indent="-149225" defTabSz="89535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9pPr>
              </a:lstStyle>
              <a:p>
                <a:pPr algn="ctr">
                  <a:defRPr/>
                </a:pPr>
                <a:r>
                  <a:rPr lang="ko-KR" altLang="en-US" sz="1800" b="1" i="1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근로자대표기구</a:t>
                </a:r>
                <a:r>
                  <a:rPr lang="de-DE" altLang="ko-KR" sz="1800" b="1" i="1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 sz="1800" b="1" i="1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부재</a:t>
                </a:r>
                <a:endParaRPr lang="en-US" altLang="ko-KR" sz="1800" b="1" i="1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cxnSp>
            <p:nvCxnSpPr>
              <p:cNvPr id="15" name="AutoShape 376">
                <a:extLst>
                  <a:ext uri="{FF2B5EF4-FFF2-40B4-BE49-F238E27FC236}">
                    <a16:creationId xmlns:a16="http://schemas.microsoft.com/office/drawing/2014/main" id="{95D56963-A7A9-E603-8B13-8012511BD6D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900000" flipV="1">
                <a:off x="7804632" y="1026328"/>
                <a:ext cx="1013804" cy="351178"/>
              </a:xfrm>
              <a:prstGeom prst="straightConnector1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377">
                <a:extLst>
                  <a:ext uri="{FF2B5EF4-FFF2-40B4-BE49-F238E27FC236}">
                    <a16:creationId xmlns:a16="http://schemas.microsoft.com/office/drawing/2014/main" id="{AF144C79-DF36-BF87-ADE8-DA7A760586F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900000" flipV="1">
                <a:off x="7785189" y="1323050"/>
                <a:ext cx="1013804" cy="351178"/>
              </a:xfrm>
              <a:prstGeom prst="straightConnector1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0503B99-A844-815A-0902-5CC4B190A290}"/>
              </a:ext>
            </a:extLst>
          </p:cNvPr>
          <p:cNvGrpSpPr/>
          <p:nvPr/>
        </p:nvGrpSpPr>
        <p:grpSpPr>
          <a:xfrm>
            <a:off x="5097463" y="2042894"/>
            <a:ext cx="4562902" cy="4068763"/>
            <a:chOff x="273559" y="2042894"/>
            <a:chExt cx="4562902" cy="4068763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1EF5368-C891-CF8C-5C3B-B671EB06AA44}"/>
                </a:ext>
              </a:extLst>
            </p:cNvPr>
            <p:cNvSpPr/>
            <p:nvPr/>
          </p:nvSpPr>
          <p:spPr>
            <a:xfrm>
              <a:off x="273559" y="2042894"/>
              <a:ext cx="4562902" cy="4068763"/>
            </a:xfrm>
            <a:prstGeom prst="rect">
              <a:avLst/>
            </a:prstGeom>
            <a:solidFill>
              <a:schemeClr val="bg1">
                <a:alpha val="68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i="1" dirty="0">
                <a:solidFill>
                  <a:srgbClr val="C00000"/>
                </a:solidFill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354F5B1-B57D-9D5D-7931-AB12E7116B21}"/>
                </a:ext>
              </a:extLst>
            </p:cNvPr>
            <p:cNvGrpSpPr/>
            <p:nvPr/>
          </p:nvGrpSpPr>
          <p:grpSpPr>
            <a:xfrm rot="20700000">
              <a:off x="1783639" y="3647874"/>
              <a:ext cx="1976078" cy="995474"/>
              <a:chOff x="7785189" y="1026328"/>
              <a:chExt cx="1033247" cy="647900"/>
            </a:xfrm>
          </p:grpSpPr>
          <p:sp>
            <p:nvSpPr>
              <p:cNvPr id="23" name="AutoShape 375">
                <a:extLst>
                  <a:ext uri="{FF2B5EF4-FFF2-40B4-BE49-F238E27FC236}">
                    <a16:creationId xmlns:a16="http://schemas.microsoft.com/office/drawing/2014/main" id="{4336D46C-C737-1183-FBAC-45F144753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1282" y="1258052"/>
                <a:ext cx="1021064" cy="184457"/>
              </a:xfrm>
              <a:prstGeom prst="leftRightArrow">
                <a:avLst>
                  <a:gd name="adj1" fmla="val 100000"/>
                  <a:gd name="adj2" fmla="val 0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2540" tIns="6350" rIns="2540" bIns="0">
                <a:spAutoFit/>
              </a:bodyPr>
              <a:lstStyle>
                <a:lvl1pPr defTabSz="895350">
                  <a:buSzPct val="120000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1pPr>
                <a:lvl2pPr marL="144463" indent="-142875" defTabSz="895350">
                  <a:buSzPct val="120000"/>
                  <a:buChar char="•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2pPr>
                <a:lvl3pPr marL="295275" indent="-149225" defTabSz="895350"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3pPr>
                <a:lvl4pPr marL="431800" indent="-134938" defTabSz="895350">
                  <a:buSzPct val="89000"/>
                  <a:buChar char="•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4pPr>
                <a:lvl5pPr marL="582613" indent="-149225" defTabSz="895350"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5pPr>
                <a:lvl6pPr marL="1039813" indent="-149225" defTabSz="89535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6pPr>
                <a:lvl7pPr marL="1497013" indent="-149225" defTabSz="89535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7pPr>
                <a:lvl8pPr marL="1954213" indent="-149225" defTabSz="89535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8pPr>
                <a:lvl9pPr marL="2411413" indent="-149225" defTabSz="895350" fontAlgn="base">
                  <a:spcBef>
                    <a:spcPct val="0"/>
                  </a:spcBef>
                  <a:spcAft>
                    <a:spcPct val="0"/>
                  </a:spcAft>
                  <a:buSzPct val="75000"/>
                  <a:buChar char="–"/>
                  <a:defRPr sz="1600">
                    <a:solidFill>
                      <a:schemeClr val="tx1"/>
                    </a:solidFill>
                    <a:latin typeface="Arial" pitchFamily="34" charset="0"/>
                    <a:ea typeface="-윤고딕130" pitchFamily="18" charset="-127"/>
                  </a:defRPr>
                </a:lvl9pPr>
              </a:lstStyle>
              <a:p>
                <a:pPr algn="ctr">
                  <a:defRPr/>
                </a:pPr>
                <a:r>
                  <a:rPr lang="ko-KR" altLang="en-US" sz="1800" b="1" i="1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근로자대표기구</a:t>
                </a:r>
                <a:r>
                  <a:rPr lang="de-DE" altLang="ko-KR" sz="1800" b="1" i="1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 sz="1800" b="1" i="1" dirty="0">
                    <a:solidFill>
                      <a:srgbClr val="C0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부재</a:t>
                </a:r>
                <a:endParaRPr lang="en-US" altLang="ko-KR" sz="1800" b="1" i="1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cxnSp>
            <p:nvCxnSpPr>
              <p:cNvPr id="24" name="AutoShape 376">
                <a:extLst>
                  <a:ext uri="{FF2B5EF4-FFF2-40B4-BE49-F238E27FC236}">
                    <a16:creationId xmlns:a16="http://schemas.microsoft.com/office/drawing/2014/main" id="{5D2814FF-EB88-2645-5C8D-ADD0898FE1C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900000" flipV="1">
                <a:off x="7804632" y="1026328"/>
                <a:ext cx="1013804" cy="351178"/>
              </a:xfrm>
              <a:prstGeom prst="straightConnector1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377">
                <a:extLst>
                  <a:ext uri="{FF2B5EF4-FFF2-40B4-BE49-F238E27FC236}">
                    <a16:creationId xmlns:a16="http://schemas.microsoft.com/office/drawing/2014/main" id="{051B8100-3E08-F49C-0153-1E23CD1F729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900000" flipV="1">
                <a:off x="7785189" y="1323050"/>
                <a:ext cx="1013804" cy="351178"/>
              </a:xfrm>
              <a:prstGeom prst="straightConnector1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60528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차트 39">
            <a:extLst>
              <a:ext uri="{FF2B5EF4-FFF2-40B4-BE49-F238E27FC236}">
                <a16:creationId xmlns:a16="http://schemas.microsoft.com/office/drawing/2014/main" id="{BD4C7269-48A7-0CEF-EC53-B652047AE3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7688492"/>
              </p:ext>
            </p:extLst>
          </p:nvPr>
        </p:nvGraphicFramePr>
        <p:xfrm>
          <a:off x="5224933" y="2665484"/>
          <a:ext cx="4290060" cy="2597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노사 모두 협력의 필요성은 공감하나</a:t>
            </a:r>
            <a:r>
              <a:rPr lang="en-US" altLang="ko-KR" dirty="0"/>
              <a:t>, </a:t>
            </a:r>
            <a:r>
              <a:rPr lang="ko-KR" altLang="en-US" dirty="0"/>
              <a:t>실질적 제도화와 상호 신뢰 수준은 상대적으로 낮아 노사관계의 제도적 기반과 소통을 강화할 필요가 있음</a:t>
            </a:r>
            <a:r>
              <a:rPr lang="en-US" altLang="ko-KR" dirty="0"/>
              <a:t>. 2025</a:t>
            </a:r>
            <a:r>
              <a:rPr lang="ko-KR" altLang="en-US" dirty="0"/>
              <a:t>년 노사협의회를 구축하여 협력적 노사관계를 추구할 예정임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E064E-97F3-D178-0DD1-6D611B2E2F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혁신기반 </a:t>
            </a:r>
            <a:r>
              <a:rPr lang="en-US" altLang="ko-KR" dirty="0"/>
              <a:t>&gt; </a:t>
            </a:r>
            <a:r>
              <a:rPr lang="ko-KR" altLang="en-US" dirty="0"/>
              <a:t>노사관계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97B3288-120C-E956-D7F3-E9777D2337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70B50F7-1229-47BC-ACE0-4CF047017BB7}"/>
              </a:ext>
            </a:extLst>
          </p:cNvPr>
          <p:cNvGrpSpPr/>
          <p:nvPr/>
        </p:nvGrpSpPr>
        <p:grpSpPr>
          <a:xfrm>
            <a:off x="273928" y="1626519"/>
            <a:ext cx="9359021" cy="325827"/>
            <a:chOff x="273929" y="1626519"/>
            <a:chExt cx="6429396" cy="325827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F7EFCEB-C9C2-475E-BE09-ECA11AD592BF}"/>
                </a:ext>
              </a:extLst>
            </p:cNvPr>
            <p:cNvSpPr/>
            <p:nvPr userDrawn="1"/>
          </p:nvSpPr>
          <p:spPr>
            <a:xfrm>
              <a:off x="2694552" y="1626519"/>
              <a:ext cx="1588180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 defTabSz="914400" latinLnBrk="1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인사담당자</a:t>
              </a: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/</a:t>
              </a: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근로자대표 </a:t>
              </a: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EOS</a:t>
              </a: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D4FE8A0B-E8E5-499B-B80D-6594060A49B5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차트 39">
            <a:extLst>
              <a:ext uri="{FF2B5EF4-FFF2-40B4-BE49-F238E27FC236}">
                <a16:creationId xmlns:a16="http://schemas.microsoft.com/office/drawing/2014/main" id="{BBBBC11A-6244-405A-BFE5-FA03A4894B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9059370"/>
              </p:ext>
            </p:extLst>
          </p:nvPr>
        </p:nvGraphicFramePr>
        <p:xfrm>
          <a:off x="1315874" y="2552858"/>
          <a:ext cx="3466252" cy="1338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차트 39">
            <a:extLst>
              <a:ext uri="{FF2B5EF4-FFF2-40B4-BE49-F238E27FC236}">
                <a16:creationId xmlns:a16="http://schemas.microsoft.com/office/drawing/2014/main" id="{66DF5A64-82CA-48A7-89E1-7A5B0E8333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2908511"/>
              </p:ext>
            </p:extLst>
          </p:nvPr>
        </p:nvGraphicFramePr>
        <p:xfrm>
          <a:off x="1315874" y="4021249"/>
          <a:ext cx="3466252" cy="142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70C2AE-7148-4455-90F0-41049CF08057}"/>
              </a:ext>
            </a:extLst>
          </p:cNvPr>
          <p:cNvSpPr/>
          <p:nvPr/>
        </p:nvSpPr>
        <p:spPr>
          <a:xfrm>
            <a:off x="5152731" y="5524540"/>
            <a:ext cx="4434475" cy="480507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algn="ctr" latinLnBrk="0">
              <a:spcBef>
                <a:spcPts val="300"/>
              </a:spcBef>
            </a:pPr>
            <a:r>
              <a:rPr lang="ko-KR" altLang="en-US" sz="1200" dirty="0"/>
              <a:t>근로자 대표기구의 영향력이나 경영 참여 수준은 낮은 수준이나</a:t>
            </a:r>
            <a:r>
              <a:rPr lang="en-US" altLang="ko-KR" sz="1200" dirty="0"/>
              <a:t>, </a:t>
            </a:r>
          </a:p>
          <a:p>
            <a:pPr algn="ctr" latinLnBrk="0">
              <a:spcBef>
                <a:spcPts val="300"/>
              </a:spcBef>
            </a:pPr>
            <a:r>
              <a:rPr lang="ko-KR" altLang="en-US" sz="1200" dirty="0"/>
              <a:t>협력적 노사관계 구축을 위한 제도적 기반을 마련할 계획을 가지고 있음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6C43F966-96DB-4EBE-9AD5-641B27B36C67}"/>
              </a:ext>
            </a:extLst>
          </p:cNvPr>
          <p:cNvSpPr txBox="1">
            <a:spLocks/>
          </p:cNvSpPr>
          <p:nvPr/>
        </p:nvSpPr>
        <p:spPr>
          <a:xfrm>
            <a:off x="273050" y="389512"/>
            <a:ext cx="5490040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n>
                <a:solidFill>
                  <a:srgbClr val="C00000">
                    <a:alpha val="5000"/>
                  </a:srgb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Rectangle 55">
            <a:extLst>
              <a:ext uri="{FF2B5EF4-FFF2-40B4-BE49-F238E27FC236}">
                <a16:creationId xmlns:a16="http://schemas.microsoft.com/office/drawing/2014/main" id="{AFD2DE24-CA77-FD3E-A9C9-B81C9ECCF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550" y="2064443"/>
            <a:ext cx="4536000" cy="4074419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1200" b="1" kern="0" spc="-100" dirty="0">
              <a:ln>
                <a:solidFill>
                  <a:schemeClr val="tx1">
                    <a:alpha val="500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Rectangle 55">
            <a:extLst>
              <a:ext uri="{FF2B5EF4-FFF2-40B4-BE49-F238E27FC236}">
                <a16:creationId xmlns:a16="http://schemas.microsoft.com/office/drawing/2014/main" id="{DA4A32F6-93F8-D0F7-6D4A-C74243760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963" y="2064443"/>
            <a:ext cx="4536000" cy="4074419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1200" b="1" kern="0" spc="-100" dirty="0">
              <a:ln>
                <a:solidFill>
                  <a:schemeClr val="tx1">
                    <a:alpha val="500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1334F9B-7031-1824-70F3-DFB35DA1F503}"/>
              </a:ext>
            </a:extLst>
          </p:cNvPr>
          <p:cNvSpPr/>
          <p:nvPr/>
        </p:nvSpPr>
        <p:spPr>
          <a:xfrm>
            <a:off x="449561" y="2797429"/>
            <a:ext cx="850393" cy="849075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>
                <a:lumMod val="75000"/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400" dirty="0">
                <a:solidFill>
                  <a:schemeClr val="tx1"/>
                </a:solidFill>
              </a:rPr>
              <a:t>경영진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968E5D4-3176-AA9F-B942-5BE384DDB31D}"/>
              </a:ext>
            </a:extLst>
          </p:cNvPr>
          <p:cNvSpPr/>
          <p:nvPr/>
        </p:nvSpPr>
        <p:spPr>
          <a:xfrm>
            <a:off x="449561" y="4311330"/>
            <a:ext cx="850393" cy="849075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>
                <a:lumMod val="75000"/>
                <a:alpha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400" dirty="0">
                <a:solidFill>
                  <a:schemeClr val="tx1"/>
                </a:solidFill>
              </a:rPr>
              <a:t>근로자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 latinLnBrk="0"/>
            <a:r>
              <a:rPr lang="ko-KR" altLang="en-US" sz="1400" dirty="0">
                <a:solidFill>
                  <a:schemeClr val="tx1"/>
                </a:solidFill>
              </a:rPr>
              <a:t>대표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2C88C42-E221-1340-AC10-77CF55D198CD}"/>
              </a:ext>
            </a:extLst>
          </p:cNvPr>
          <p:cNvSpPr/>
          <p:nvPr/>
        </p:nvSpPr>
        <p:spPr>
          <a:xfrm>
            <a:off x="1363854" y="5524540"/>
            <a:ext cx="2363395" cy="442035"/>
          </a:xfrm>
          <a:prstGeom prst="rect">
            <a:avLst/>
          </a:prstGeom>
          <a:noFill/>
        </p:spPr>
        <p:txBody>
          <a:bodyPr wrap="none" lIns="36000" tIns="36000" rIns="36000" bIns="36000">
            <a:spAutoFit/>
          </a:bodyPr>
          <a:lstStyle/>
          <a:p>
            <a:pPr algn="ctr" latinLnBrk="0">
              <a:spcBef>
                <a:spcPts val="300"/>
              </a:spcBef>
            </a:pPr>
            <a:r>
              <a:rPr lang="ko-KR" altLang="en-US" sz="1200" dirty="0"/>
              <a:t>노사 모두 기업경쟁력 강화를 위한</a:t>
            </a:r>
            <a:br>
              <a:rPr lang="en-US" altLang="ko-KR" sz="1200" dirty="0"/>
            </a:br>
            <a:r>
              <a:rPr lang="ko-KR" altLang="en-US" sz="1200" dirty="0"/>
              <a:t>노사 협력의 중요성을 인식하고 있음</a:t>
            </a:r>
            <a:r>
              <a:rPr lang="en-US" altLang="ko-KR" sz="1200" dirty="0"/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D26ED2-AA92-4211-1B16-C467C3395332}"/>
              </a:ext>
            </a:extLst>
          </p:cNvPr>
          <p:cNvGrpSpPr/>
          <p:nvPr/>
        </p:nvGrpSpPr>
        <p:grpSpPr>
          <a:xfrm>
            <a:off x="6270540" y="2673877"/>
            <a:ext cx="2521975" cy="246221"/>
            <a:chOff x="6270540" y="2617315"/>
            <a:chExt cx="2521975" cy="246221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CB0D4DE-2DB6-A314-CA19-53F3DB4BCC5D}"/>
                </a:ext>
              </a:extLst>
            </p:cNvPr>
            <p:cNvSpPr/>
            <p:nvPr/>
          </p:nvSpPr>
          <p:spPr>
            <a:xfrm>
              <a:off x="6270540" y="2670774"/>
              <a:ext cx="425455" cy="13090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BEAF0F1-5448-8348-D5C6-0F3179964B82}"/>
                </a:ext>
              </a:extLst>
            </p:cNvPr>
            <p:cNvSpPr/>
            <p:nvPr/>
          </p:nvSpPr>
          <p:spPr>
            <a:xfrm>
              <a:off x="7613399" y="2670774"/>
              <a:ext cx="425455" cy="1309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7BB12CB-4072-ABAD-FA91-397904551613}"/>
                </a:ext>
              </a:extLst>
            </p:cNvPr>
            <p:cNvSpPr txBox="1"/>
            <p:nvPr/>
          </p:nvSpPr>
          <p:spPr>
            <a:xfrm>
              <a:off x="6597250" y="2617315"/>
              <a:ext cx="86778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398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/>
                <a:t>인사담당자 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F90CEEF-4848-8172-56B0-1FA6EA9B2FEA}"/>
                </a:ext>
              </a:extLst>
            </p:cNvPr>
            <p:cNvSpPr txBox="1"/>
            <p:nvPr/>
          </p:nvSpPr>
          <p:spPr>
            <a:xfrm>
              <a:off x="7943697" y="2617315"/>
              <a:ext cx="84881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398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/>
                <a:t>근로자대표 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A7C0D2F-0FCC-2481-62A7-4D4924BC179B}"/>
              </a:ext>
            </a:extLst>
          </p:cNvPr>
          <p:cNvGrpSpPr/>
          <p:nvPr/>
        </p:nvGrpSpPr>
        <p:grpSpPr>
          <a:xfrm>
            <a:off x="5250181" y="2199344"/>
            <a:ext cx="878311" cy="200055"/>
            <a:chOff x="439199" y="2256791"/>
            <a:chExt cx="878311" cy="200055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11CCA6B-48D4-18BC-3C3A-CF17153496F5}"/>
                </a:ext>
              </a:extLst>
            </p:cNvPr>
            <p:cNvSpPr/>
            <p:nvPr/>
          </p:nvSpPr>
          <p:spPr>
            <a:xfrm>
              <a:off x="592508" y="2256791"/>
              <a:ext cx="725002" cy="200055"/>
            </a:xfrm>
            <a:prstGeom prst="rect">
              <a:avLst/>
            </a:prstGeom>
          </p:spPr>
          <p:txBody>
            <a:bodyPr wrap="non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kumimoji="0" lang="ko-KR" altLang="en-US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노사관계</a:t>
              </a: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89F76A60-0FEF-FF27-AE31-CFA2B34452AA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0AE5C3F-35F6-05A1-A6D7-90F25AD5B125}"/>
              </a:ext>
            </a:extLst>
          </p:cNvPr>
          <p:cNvGrpSpPr/>
          <p:nvPr/>
        </p:nvGrpSpPr>
        <p:grpSpPr>
          <a:xfrm>
            <a:off x="409303" y="2199344"/>
            <a:ext cx="1027390" cy="200055"/>
            <a:chOff x="439199" y="2256791"/>
            <a:chExt cx="1027390" cy="200055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138525F-8DDB-6953-BCDE-EB4CC4288DDB}"/>
                </a:ext>
              </a:extLst>
            </p:cNvPr>
            <p:cNvSpPr/>
            <p:nvPr/>
          </p:nvSpPr>
          <p:spPr>
            <a:xfrm>
              <a:off x="592508" y="2256791"/>
              <a:ext cx="874081" cy="200055"/>
            </a:xfrm>
            <a:prstGeom prst="rect">
              <a:avLst/>
            </a:prstGeom>
          </p:spPr>
          <p:txBody>
            <a:bodyPr wrap="non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kumimoji="0" lang="ko-KR" altLang="en-US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노사가치관</a:t>
              </a:r>
            </a:p>
          </p:txBody>
        </p:sp>
        <p:sp>
          <p:nvSpPr>
            <p:cNvPr id="51" name="순서도: 연결자 50">
              <a:extLst>
                <a:ext uri="{FF2B5EF4-FFF2-40B4-BE49-F238E27FC236}">
                  <a16:creationId xmlns:a16="http://schemas.microsoft.com/office/drawing/2014/main" id="{2AC5056C-0965-0E74-D6BE-3230B9DF78DB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8499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차트 39">
            <a:extLst>
              <a:ext uri="{FF2B5EF4-FFF2-40B4-BE49-F238E27FC236}">
                <a16:creationId xmlns:a16="http://schemas.microsoft.com/office/drawing/2014/main" id="{9DE37043-D8FB-F584-1EF9-CCDCD70FDD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2490325"/>
              </p:ext>
            </p:extLst>
          </p:nvPr>
        </p:nvGraphicFramePr>
        <p:xfrm>
          <a:off x="5612237" y="4993533"/>
          <a:ext cx="3944513" cy="1106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차트 39">
            <a:extLst>
              <a:ext uri="{FF2B5EF4-FFF2-40B4-BE49-F238E27FC236}">
                <a16:creationId xmlns:a16="http://schemas.microsoft.com/office/drawing/2014/main" id="{C6AABB44-526F-0068-F4A3-FFFE7C268E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789712"/>
              </p:ext>
            </p:extLst>
          </p:nvPr>
        </p:nvGraphicFramePr>
        <p:xfrm>
          <a:off x="5612237" y="2356834"/>
          <a:ext cx="3944513" cy="2069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베이시스소프트는</a:t>
            </a:r>
            <a:r>
              <a:rPr lang="ko-KR" altLang="en-US" dirty="0"/>
              <a:t> 팀단위로 업무를 수행하고 있으며</a:t>
            </a:r>
            <a:r>
              <a:rPr lang="en-US" altLang="ko-KR" dirty="0"/>
              <a:t>, </a:t>
            </a:r>
            <a:r>
              <a:rPr lang="ko-KR" altLang="en-US" dirty="0"/>
              <a:t>최하위 조직단위에서 혁신활동 및 업무프로세스</a:t>
            </a:r>
            <a:r>
              <a:rPr lang="en-US" altLang="ko-KR" dirty="0"/>
              <a:t>·</a:t>
            </a:r>
            <a:r>
              <a:rPr lang="ko-KR" altLang="en-US" dirty="0"/>
              <a:t>품질개선을</a:t>
            </a:r>
            <a:r>
              <a:rPr lang="en-US" altLang="ko-KR" dirty="0"/>
              <a:t> </a:t>
            </a:r>
            <a:r>
              <a:rPr lang="ko-KR" altLang="en-US" dirty="0"/>
              <a:t>위해 노력하고 있음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E064E-97F3-D178-0DD1-6D611B2E2F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혁신역량 </a:t>
            </a:r>
            <a:r>
              <a:rPr lang="en-US" altLang="ko-KR" dirty="0"/>
              <a:t>&gt; </a:t>
            </a:r>
            <a:r>
              <a:rPr lang="ko-KR" altLang="en-US" dirty="0"/>
              <a:t>참여적 작업조직 및 혁신활동</a:t>
            </a:r>
          </a:p>
        </p:txBody>
      </p:sp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566E57FD-C612-E555-7059-CD46E49404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6C43F966-96DB-4EBE-9AD5-641B27B36C67}"/>
              </a:ext>
            </a:extLst>
          </p:cNvPr>
          <p:cNvSpPr txBox="1">
            <a:spLocks/>
          </p:cNvSpPr>
          <p:nvPr/>
        </p:nvSpPr>
        <p:spPr>
          <a:xfrm>
            <a:off x="273050" y="389512"/>
            <a:ext cx="5490040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n>
                <a:solidFill>
                  <a:srgbClr val="C00000">
                    <a:alpha val="5000"/>
                  </a:srgb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5712FFA-F62F-C4C8-8A40-8039528FFE23}"/>
              </a:ext>
            </a:extLst>
          </p:cNvPr>
          <p:cNvGrpSpPr/>
          <p:nvPr/>
        </p:nvGrpSpPr>
        <p:grpSpPr>
          <a:xfrm>
            <a:off x="5203867" y="4775788"/>
            <a:ext cx="3112897" cy="200055"/>
            <a:chOff x="439199" y="2256791"/>
            <a:chExt cx="3112897" cy="20005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AA1B827-86CE-353C-8B20-599784FFA928}"/>
                </a:ext>
              </a:extLst>
            </p:cNvPr>
            <p:cNvSpPr/>
            <p:nvPr/>
          </p:nvSpPr>
          <p:spPr>
            <a:xfrm>
              <a:off x="592508" y="2256791"/>
              <a:ext cx="2959588" cy="200055"/>
            </a:xfrm>
            <a:prstGeom prst="rect">
              <a:avLst/>
            </a:prstGeom>
          </p:spPr>
          <p:txBody>
            <a:bodyPr wrap="non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kumimoji="0" lang="ko-KR" altLang="en-US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혁신활동을 위한 </a:t>
              </a:r>
              <a:r>
                <a:rPr kumimoji="0" lang="ko-KR" altLang="en-US" sz="1300" i="0" u="none" strike="noStrike" kern="1200" cap="none" spc="0" normalizeH="0" baseline="0" noProof="0" dirty="0" err="1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정보원천으로서의</a:t>
              </a:r>
              <a:r>
                <a:rPr kumimoji="0" lang="ko-KR" altLang="en-US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 중요도</a:t>
              </a:r>
            </a:p>
          </p:txBody>
        </p:sp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AB0E36DF-7DE5-E1F0-3281-F416B6DDF8D6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31CCC65-9AB2-2B46-8717-C63EB8E2B379}"/>
              </a:ext>
            </a:extLst>
          </p:cNvPr>
          <p:cNvSpPr/>
          <p:nvPr/>
        </p:nvSpPr>
        <p:spPr>
          <a:xfrm>
            <a:off x="273050" y="1638325"/>
            <a:ext cx="4536000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체계적 작업환경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50A6E7F-21EA-77C1-28BB-4A33542C8018}"/>
              </a:ext>
            </a:extLst>
          </p:cNvPr>
          <p:cNvSpPr/>
          <p:nvPr/>
        </p:nvSpPr>
        <p:spPr>
          <a:xfrm>
            <a:off x="5099092" y="1638325"/>
            <a:ext cx="4536000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1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혁신활동 주체</a:t>
            </a:r>
            <a:r>
              <a:rPr lang="en-US" altLang="ko-KR" sz="1400" spc="-1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spc="-10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수준</a:t>
            </a:r>
            <a:endParaRPr kumimoji="0" lang="ko-KR" altLang="en-US" sz="1400" i="0" u="none" strike="noStrike" kern="1200" cap="none" spc="-100" normalizeH="0" baseline="0" noProof="0" dirty="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2B2CE47-F542-125F-DD97-14FB273D4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947228"/>
              </p:ext>
            </p:extLst>
          </p:nvPr>
        </p:nvGraphicFramePr>
        <p:xfrm>
          <a:off x="273632" y="2065408"/>
          <a:ext cx="4534836" cy="4063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4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6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최하위 조직단위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팀</a:t>
                      </a:r>
                      <a:endParaRPr lang="en-US" altLang="ko-KR" sz="11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1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공식적인 작업절차</a:t>
                      </a:r>
                      <a:b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관리체계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</a:rPr>
                        <a:t>□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없음 </a:t>
                      </a:r>
                      <a:r>
                        <a:rPr lang="ko-KR" altLang="en-US" sz="1100" u="none" strike="noStrike" dirty="0">
                          <a:effectLst/>
                        </a:rPr>
                        <a:t>□ </a:t>
                      </a:r>
                      <a:r>
                        <a:rPr lang="ko-KR" altLang="en-US" sz="1100" u="none" strike="noStrike" dirty="0" err="1">
                          <a:effectLst/>
                        </a:rPr>
                        <a:t>업무분장표</a:t>
                      </a:r>
                      <a:r>
                        <a:rPr lang="ko-KR" altLang="en-US" sz="1100" u="none" strike="noStrike" dirty="0">
                          <a:effectLst/>
                        </a:rPr>
                        <a:t>  □ 작업표준절차서</a:t>
                      </a:r>
                      <a:endParaRPr lang="en-US" altLang="ko-KR" sz="1100" u="none" strike="noStrike" dirty="0">
                        <a:effectLst/>
                      </a:endParaRPr>
                    </a:p>
                    <a:p>
                      <a:pPr marL="0" marR="0" lvl="0" indent="0" algn="ju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</a:rPr>
                        <a:t> 직무기술서</a:t>
                      </a:r>
                      <a:r>
                        <a:rPr lang="en-US" altLang="ko-KR" sz="1100" u="none" strike="noStrike" dirty="0">
                          <a:effectLst/>
                        </a:rPr>
                        <a:t>/</a:t>
                      </a:r>
                      <a:r>
                        <a:rPr lang="ko-KR" altLang="en-US" sz="1100" u="none" strike="noStrike" dirty="0">
                          <a:effectLst/>
                        </a:rPr>
                        <a:t>명세서  □ 기타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</a:rPr>
                        <a:t>)</a:t>
                      </a:r>
                      <a:endParaRPr lang="ko-KR" altLang="en-US" sz="1100" u="none" strike="noStrike" dirty="0">
                        <a:effectLst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1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직무기술서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명세서</a:t>
                      </a:r>
                      <a:b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활용 분야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□ 없음 </a:t>
                      </a:r>
                      <a:r>
                        <a:rPr lang="ko-KR" altLang="en-US" sz="1100" u="none" strike="noStrike" dirty="0">
                          <a:effectLst/>
                        </a:rPr>
                        <a:t>□ 인력산정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</a:rPr>
                        <a:t> 채용 □ 업무효율화</a:t>
                      </a:r>
                      <a:endParaRPr lang="en-US" altLang="ko-KR" sz="1100" u="none" strike="noStrike" dirty="0">
                        <a:effectLst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</a:rPr>
                        <a:t>□ 이동배치 □ 인사고과 □ 승진 □ 교육훈련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944189"/>
                  </a:ext>
                </a:extLst>
              </a:tr>
              <a:tr h="1143914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혁신활동 프로그램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</a:rPr>
                        <a:t>□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전사단위 품질관리 또는 혁신프로그램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근로자의 아이디어를 모집할 수 있는 제도</a:t>
                      </a:r>
                      <a:endParaRPr lang="ko-KR" altLang="en-US" sz="1100" u="none" strike="noStrike" dirty="0">
                        <a:effectLst/>
                      </a:endParaRPr>
                    </a:p>
                    <a:p>
                      <a:pPr algn="l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</a:rPr>
                        <a:t>□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조직의 문제를 해결하기 위한 소집단 활동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/TFT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 운영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692551"/>
                  </a:ext>
                </a:extLst>
              </a:tr>
              <a:tr h="12680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소집단 활동</a:t>
                      </a:r>
                      <a:b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활용 분야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</a:rPr>
                        <a:t>□ 비용절감</a:t>
                      </a:r>
                    </a:p>
                    <a:p>
                      <a:pPr algn="l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</a:rPr>
                        <a:t> 품질개선</a:t>
                      </a:r>
                    </a:p>
                    <a:p>
                      <a:pPr algn="l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</a:rPr>
                        <a:t>□ 산업안전</a:t>
                      </a:r>
                    </a:p>
                    <a:p>
                      <a:pPr algn="l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</a:rPr>
                        <a:t> 업무프로세스 개선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공정</a:t>
                      </a:r>
                      <a:r>
                        <a:rPr lang="en-US" altLang="ko-KR" sz="1100" u="none" strike="noStrike" dirty="0">
                          <a:effectLst/>
                        </a:rPr>
                        <a:t>/</a:t>
                      </a:r>
                      <a:r>
                        <a:rPr lang="ko-KR" altLang="en-US" sz="1100" u="none" strike="noStrike" dirty="0">
                          <a:effectLst/>
                        </a:rPr>
                        <a:t>설비</a:t>
                      </a:r>
                      <a:r>
                        <a:rPr lang="en-US" altLang="ko-KR" sz="1100" u="none" strike="noStrike" dirty="0">
                          <a:effectLst/>
                        </a:rPr>
                        <a:t>/</a:t>
                      </a:r>
                      <a:r>
                        <a:rPr lang="ko-KR" altLang="en-US" sz="1100" u="none" strike="noStrike" dirty="0">
                          <a:effectLst/>
                        </a:rPr>
                        <a:t>장비</a:t>
                      </a:r>
                      <a:r>
                        <a:rPr lang="en-US" altLang="ko-KR" sz="1100" u="none" strike="noStrike" dirty="0">
                          <a:effectLst/>
                        </a:rPr>
                        <a:t>)</a:t>
                      </a:r>
                    </a:p>
                    <a:p>
                      <a:pPr algn="l" fontAlgn="ctr">
                        <a:spcBef>
                          <a:spcPts val="600"/>
                        </a:spcBef>
                      </a:pPr>
                      <a:r>
                        <a:rPr lang="ko-KR" altLang="en-US" sz="1100" u="none" strike="noStrike" dirty="0">
                          <a:effectLst/>
                        </a:rPr>
                        <a:t>□ 제품</a:t>
                      </a:r>
                      <a:r>
                        <a:rPr lang="en-US" altLang="ko-KR" sz="1100" u="none" strike="noStrike" dirty="0">
                          <a:effectLst/>
                        </a:rPr>
                        <a:t>/</a:t>
                      </a:r>
                      <a:r>
                        <a:rPr lang="ko-KR" altLang="en-US" sz="1100" u="none" strike="noStrike" dirty="0">
                          <a:effectLst/>
                        </a:rPr>
                        <a:t>서비스 개선이나 혁신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762389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04CD91BF-2189-C29C-F11B-1ADDFAFB822A}"/>
              </a:ext>
            </a:extLst>
          </p:cNvPr>
          <p:cNvGrpSpPr/>
          <p:nvPr/>
        </p:nvGrpSpPr>
        <p:grpSpPr>
          <a:xfrm>
            <a:off x="5203867" y="2156779"/>
            <a:ext cx="3035953" cy="200055"/>
            <a:chOff x="439199" y="2256791"/>
            <a:chExt cx="3035953" cy="20005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DB8332C-9F3F-3EFD-98EE-AC39B98068C2}"/>
                </a:ext>
              </a:extLst>
            </p:cNvPr>
            <p:cNvSpPr/>
            <p:nvPr/>
          </p:nvSpPr>
          <p:spPr>
            <a:xfrm>
              <a:off x="592508" y="2256791"/>
              <a:ext cx="2882644" cy="200055"/>
            </a:xfrm>
            <a:prstGeom prst="rect">
              <a:avLst/>
            </a:prstGeom>
          </p:spPr>
          <p:txBody>
            <a:bodyPr wrap="non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lang="ko-KR" altLang="en-US" sz="1300" dirty="0">
                  <a:solidFill>
                    <a:prstClr val="black"/>
                  </a:solidFill>
                  <a:latin typeface="+mj-ea"/>
                  <a:ea typeface="+mj-ea"/>
                </a:rPr>
                <a:t>최하위 조직의 작업권한</a:t>
              </a:r>
              <a:r>
                <a:rPr kumimoji="0" lang="en-US" altLang="ko-KR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(</a:t>
              </a:r>
              <a:r>
                <a:rPr kumimoji="0" lang="ko-KR" altLang="en-US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발언권</a:t>
              </a:r>
              <a:r>
                <a:rPr kumimoji="0" lang="en-US" altLang="ko-KR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/</a:t>
              </a:r>
              <a:r>
                <a:rPr kumimoji="0" lang="ko-KR" altLang="en-US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영향력</a:t>
              </a:r>
              <a:r>
                <a:rPr kumimoji="0" lang="en-US" altLang="ko-KR" sz="1300" i="0" u="none" strike="noStrike" kern="1200" cap="none" spc="0" normalizeH="0" baseline="0" noProof="0" dirty="0"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)</a:t>
              </a:r>
              <a:endParaRPr kumimoji="0" lang="ko-KR" altLang="en-US" sz="1300" i="0" u="none" strike="noStrike" kern="120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3" name="순서도: 연결자 12">
              <a:extLst>
                <a:ext uri="{FF2B5EF4-FFF2-40B4-BE49-F238E27FC236}">
                  <a16:creationId xmlns:a16="http://schemas.microsoft.com/office/drawing/2014/main" id="{8718D820-2C81-B62E-41C1-A0A6BCC208B5}"/>
                </a:ext>
              </a:extLst>
            </p:cNvPr>
            <p:cNvSpPr/>
            <p:nvPr/>
          </p:nvSpPr>
          <p:spPr>
            <a:xfrm>
              <a:off x="439199" y="2295124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33" name="Rectangle 55">
            <a:extLst>
              <a:ext uri="{FF2B5EF4-FFF2-40B4-BE49-F238E27FC236}">
                <a16:creationId xmlns:a16="http://schemas.microsoft.com/office/drawing/2014/main" id="{DDBA4C90-09E9-82ED-3A4B-BDC02982B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915" y="4657724"/>
            <a:ext cx="4536000" cy="146865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Rectangle 55">
            <a:extLst>
              <a:ext uri="{FF2B5EF4-FFF2-40B4-BE49-F238E27FC236}">
                <a16:creationId xmlns:a16="http://schemas.microsoft.com/office/drawing/2014/main" id="{0CFC1499-4A44-DC78-F888-43D399234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6368" y="2054919"/>
            <a:ext cx="4536000" cy="2397462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C5F4F518-164C-53DC-1E72-57F55070A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2308"/>
              </p:ext>
            </p:extLst>
          </p:nvPr>
        </p:nvGraphicFramePr>
        <p:xfrm>
          <a:off x="5157906" y="5129145"/>
          <a:ext cx="2417825" cy="8355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7825">
                  <a:extLst>
                    <a:ext uri="{9D8B030D-6E8A-4147-A177-3AD203B41FA5}">
                      <a16:colId xmlns:a16="http://schemas.microsoft.com/office/drawing/2014/main" val="1124374783"/>
                    </a:ext>
                  </a:extLst>
                </a:gridCol>
              </a:tblGrid>
              <a:tr h="278501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연구개발 인력 외 일반사원들의 혁신활동 참여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743667"/>
                  </a:ext>
                </a:extLst>
              </a:tr>
              <a:tr h="278501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직원들의 비공식적 지식활용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381744"/>
                  </a:ext>
                </a:extLst>
              </a:tr>
              <a:tr h="278501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직원들의 제안이나 아이디어 수집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779864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26D16768-FC68-F631-3E52-56C31BBA9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026261"/>
              </p:ext>
            </p:extLst>
          </p:nvPr>
        </p:nvGraphicFramePr>
        <p:xfrm>
          <a:off x="5121369" y="2481864"/>
          <a:ext cx="2437461" cy="18234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7461">
                  <a:extLst>
                    <a:ext uri="{9D8B030D-6E8A-4147-A177-3AD203B41FA5}">
                      <a16:colId xmlns:a16="http://schemas.microsoft.com/office/drawing/2014/main" val="1124374783"/>
                    </a:ext>
                  </a:extLst>
                </a:gridCol>
              </a:tblGrid>
              <a:tr h="303906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 배분이나 업무수행방법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743667"/>
                  </a:ext>
                </a:extLst>
              </a:tr>
              <a:tr h="303906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새로운 아이디어 적용을 통한 업무 개선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381744"/>
                  </a:ext>
                </a:extLst>
              </a:tr>
              <a:tr h="303906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교육훈련 대상자 선정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779864"/>
                  </a:ext>
                </a:extLst>
              </a:tr>
              <a:tr h="303906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팀원의 채용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931701"/>
                  </a:ext>
                </a:extLst>
              </a:tr>
              <a:tr h="303906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팀원의 평가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77303"/>
                  </a:ext>
                </a:extLst>
              </a:tr>
              <a:tr h="303906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다른 팀과의 소통</a:t>
                      </a:r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업무 조정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258" marR="8258" marT="8258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519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910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인사전담 인원으로는 인사 </a:t>
            </a:r>
            <a:r>
              <a:rPr lang="en-US" altLang="ko-KR" dirty="0"/>
              <a:t>1</a:t>
            </a:r>
            <a:r>
              <a:rPr lang="ko-KR" altLang="en-US" dirty="0"/>
              <a:t>명과 노무 </a:t>
            </a:r>
            <a:r>
              <a:rPr lang="en-US" altLang="ko-KR" dirty="0"/>
              <a:t>1</a:t>
            </a:r>
            <a:r>
              <a:rPr lang="ko-KR" altLang="en-US" dirty="0"/>
              <a:t>명으로 구성되어 있고</a:t>
            </a:r>
            <a:r>
              <a:rPr lang="en-US" altLang="ko-KR" dirty="0"/>
              <a:t>, </a:t>
            </a:r>
            <a:r>
              <a:rPr lang="ko-KR" altLang="en-US" dirty="0"/>
              <a:t>회사의 중장기 전략을 반영한 인력운영계획을 수립하고 있으며</a:t>
            </a:r>
            <a:r>
              <a:rPr lang="en-US" altLang="ko-KR" dirty="0"/>
              <a:t>, </a:t>
            </a:r>
            <a:r>
              <a:rPr lang="ko-KR" altLang="en-US" dirty="0"/>
              <a:t>일터혁신을 위한 </a:t>
            </a:r>
            <a:r>
              <a:rPr lang="en-US" altLang="ko-KR" dirty="0"/>
              <a:t>HR </a:t>
            </a:r>
            <a:r>
              <a:rPr lang="ko-KR" altLang="en-US" dirty="0"/>
              <a:t>체계 구축 필요성을 인식하여</a:t>
            </a:r>
            <a:r>
              <a:rPr lang="en-US" altLang="ko-KR" dirty="0"/>
              <a:t> </a:t>
            </a:r>
            <a:r>
              <a:rPr lang="ko-KR" altLang="en-US" dirty="0"/>
              <a:t>제도 개선을 위해 노력하고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조직진단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BE064E-97F3-D178-0DD1-6D611B2E2F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혁신역량 </a:t>
            </a:r>
            <a:r>
              <a:rPr lang="en-US" altLang="ko-KR" dirty="0"/>
              <a:t>&gt; </a:t>
            </a:r>
            <a:r>
              <a:rPr lang="ko-KR" altLang="en-US" dirty="0"/>
              <a:t>인적자원관리 역량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AFF42C12-0E49-87A5-3672-EE416B4689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6C43F966-96DB-4EBE-9AD5-641B27B36C67}"/>
              </a:ext>
            </a:extLst>
          </p:cNvPr>
          <p:cNvSpPr txBox="1">
            <a:spLocks/>
          </p:cNvSpPr>
          <p:nvPr/>
        </p:nvSpPr>
        <p:spPr>
          <a:xfrm>
            <a:off x="273050" y="389512"/>
            <a:ext cx="5490040" cy="3243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>
              <a:ln>
                <a:solidFill>
                  <a:srgbClr val="C00000">
                    <a:alpha val="500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ACDAF6-0D5C-8E88-B533-B9E40B89AB12}"/>
              </a:ext>
            </a:extLst>
          </p:cNvPr>
          <p:cNvSpPr/>
          <p:nvPr/>
        </p:nvSpPr>
        <p:spPr>
          <a:xfrm>
            <a:off x="273050" y="1638325"/>
            <a:ext cx="4536000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인적자원관리 체계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44232C-BB1F-A417-0242-C3A7886AEF04}"/>
              </a:ext>
            </a:extLst>
          </p:cNvPr>
          <p:cNvSpPr/>
          <p:nvPr/>
        </p:nvSpPr>
        <p:spPr>
          <a:xfrm>
            <a:off x="5099092" y="1638325"/>
            <a:ext cx="4536000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-100" normalizeH="0" baseline="0" noProof="0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정부지원사업 연계 현황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7489DE6-639D-8264-9859-D73AE541D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76000"/>
              </p:ext>
            </p:extLst>
          </p:nvPr>
        </p:nvGraphicFramePr>
        <p:xfrm>
          <a:off x="273632" y="2056836"/>
          <a:ext cx="4534837" cy="40717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058">
                  <a:extLst>
                    <a:ext uri="{9D8B030D-6E8A-4147-A177-3AD203B41FA5}">
                      <a16:colId xmlns:a16="http://schemas.microsoft.com/office/drawing/2014/main" val="1394221729"/>
                    </a:ext>
                  </a:extLst>
                </a:gridCol>
                <a:gridCol w="1234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469">
                  <a:extLst>
                    <a:ext uri="{9D8B030D-6E8A-4147-A177-3AD203B41FA5}">
                      <a16:colId xmlns:a16="http://schemas.microsoft.com/office/drawing/2014/main" val="59460471"/>
                    </a:ext>
                  </a:extLst>
                </a:gridCol>
              </a:tblGrid>
              <a:tr h="684000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인사전담부서의 구성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 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노무</a:t>
                      </a:r>
                      <a:r>
                        <a:rPr lang="en-US" altLang="ko-KR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전략적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인적자원관리 수준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■ 회사의 경영전략 수립과정에 적극 참여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□ 회사의 중장기 전략을 인사노무관리에 적극 반영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□ 회사의 중장기 인력계획을 적극 수립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00"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인력수급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중장기</a:t>
                      </a:r>
                      <a:endParaRPr lang="en-US" altLang="ko-KR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인력운영계획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□ 현재 인원유지 </a:t>
                      </a:r>
                      <a:endParaRPr lang="en-US" altLang="ko-KR" sz="11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□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인원감축</a:t>
                      </a:r>
                      <a:endParaRPr lang="en-US" altLang="ko-KR" sz="11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□ 모르겠음 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인원증가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(30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인 이상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□ 인원증가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(30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인 이상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□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인원증가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(50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인 이상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 </a:t>
                      </a:r>
                    </a:p>
                  </a:txBody>
                  <a:tcPr marL="90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103023"/>
                  </a:ext>
                </a:extLst>
              </a:tr>
              <a:tr h="64800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endParaRPr lang="ko-KR" altLang="en-US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인력수급 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■ 상시모집  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□ 정기모집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상반기 공채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하반기 공채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70666"/>
                  </a:ext>
                </a:extLst>
              </a:tr>
              <a:tr h="64800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endParaRPr lang="ko-KR" altLang="en-US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채용 절차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□ 없음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서류전형  □ 적성검사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(NCS)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□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실기시험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면접 □ 기타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0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endParaRPr lang="ko-KR" altLang="en-US" sz="1100" b="0" spc="-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ko-KR" altLang="en-US" sz="1100" b="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채용 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□ 학력전공 무관   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■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경력중심    □전공자격증</a:t>
                      </a:r>
                      <a:endParaRPr lang="en-US" altLang="ko-KR" sz="11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□ 기타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           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96971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47717CA-3B48-3686-FCB8-D729A0F05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342495"/>
              </p:ext>
            </p:extLst>
          </p:nvPr>
        </p:nvGraphicFramePr>
        <p:xfrm>
          <a:off x="5104934" y="2056386"/>
          <a:ext cx="4527433" cy="24775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0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479">
                  <a:extLst>
                    <a:ext uri="{9D8B030D-6E8A-4147-A177-3AD203B41FA5}">
                      <a16:colId xmlns:a16="http://schemas.microsoft.com/office/drawing/2014/main" val="4221234305"/>
                    </a:ext>
                  </a:extLst>
                </a:gridCol>
              </a:tblGrid>
              <a:tr h="6342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전문인력</a:t>
                      </a:r>
                      <a:b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지원분야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■</a:t>
                      </a: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대한민국 산업현장 교수단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스마트공장 구축 및 고도화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1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일학습병행제</a:t>
                      </a:r>
                      <a:endParaRPr lang="ko-KR" altLang="en-US" sz="11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1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현장맞춤형체계적훈련</a:t>
                      </a:r>
                      <a:r>
                        <a:rPr lang="en-US" altLang="ko-KR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(S-OJT)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8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조직문화</a:t>
                      </a:r>
                      <a:b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개선분야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중소기업 학습조직화 지원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사업주 직업능력개발훈련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38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재정지원</a:t>
                      </a:r>
                      <a:b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고용유지지원금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정규직 전환 지원 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고령자 계속 고용장려금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유연근무제 간접노무비 지원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재택</a:t>
                      </a:r>
                      <a:r>
                        <a:rPr lang="en-US" altLang="ko-KR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원격 인프라구축비 지원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일자리 함께하기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산업재해예방시설 융자지원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1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워라밸</a:t>
                      </a: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일자리 장려금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1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신중년적합직무</a:t>
                      </a: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고용지원금</a:t>
                      </a:r>
                    </a:p>
                    <a:p>
                      <a:pPr algn="l" rtl="0" font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1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청년내일채움공제</a:t>
                      </a:r>
                      <a:endParaRPr lang="ko-KR" altLang="en-US" sz="11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01155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5CFB13A-2863-6301-0E7E-8DC44C41B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289444"/>
              </p:ext>
            </p:extLst>
          </p:nvPr>
        </p:nvGraphicFramePr>
        <p:xfrm>
          <a:off x="5104933" y="4682393"/>
          <a:ext cx="4527433" cy="14443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677">
                  <a:extLst>
                    <a:ext uri="{9D8B030D-6E8A-4147-A177-3AD203B41FA5}">
                      <a16:colId xmlns:a16="http://schemas.microsoft.com/office/drawing/2014/main" val="1830561234"/>
                    </a:ext>
                  </a:extLst>
                </a:gridCol>
                <a:gridCol w="1694878">
                  <a:extLst>
                    <a:ext uri="{9D8B030D-6E8A-4147-A177-3AD203B41FA5}">
                      <a16:colId xmlns:a16="http://schemas.microsoft.com/office/drawing/2014/main" val="1685529618"/>
                    </a:ext>
                  </a:extLst>
                </a:gridCol>
                <a:gridCol w="1694878">
                  <a:extLst>
                    <a:ext uri="{9D8B030D-6E8A-4147-A177-3AD203B41FA5}">
                      <a16:colId xmlns:a16="http://schemas.microsoft.com/office/drawing/2014/main" val="1640844691"/>
                    </a:ext>
                  </a:extLst>
                </a:gridCol>
              </a:tblGrid>
              <a:tr h="292302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[ 2025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일터혁신 컨설팅 지원사업 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ko-KR" alt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9062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참여 이슈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임금체계 재설계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평가체계 설계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49224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기대산출물</a:t>
                      </a:r>
                      <a:r>
                        <a:rPr lang="en-US" altLang="ko-KR" sz="1100" b="0" kern="12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br>
                        <a:rPr lang="en-US" altLang="ko-KR" sz="1100" b="0" kern="12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100" b="0" kern="1200" spc="-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기대효과</a:t>
                      </a:r>
                      <a:endParaRPr lang="en-US" altLang="ko-KR" sz="1100" b="0" kern="1200" spc="-1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보상체계 수립 결과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u="none" strike="noStrike" spc="-100" baseline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Payband</a:t>
                      </a:r>
                      <a:endParaRPr lang="en-US" altLang="ko-KR" sz="11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임금제도 개선</a:t>
                      </a:r>
                      <a:r>
                        <a:rPr lang="en-US" altLang="ko-KR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</a:t>
                      </a:r>
                      <a:r>
                        <a:rPr lang="en-US" altLang="ko-KR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시뮬레이션 결과</a:t>
                      </a:r>
                      <a:endParaRPr lang="en-US" altLang="ko-KR" sz="11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평가체계 수립 결과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평가요소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평가운영프로세스</a:t>
                      </a:r>
                      <a:endParaRPr lang="en-US" altLang="ko-KR" sz="11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644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552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73600" y="2308154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712913" y="1820415"/>
            <a:ext cx="7024687" cy="2401887"/>
          </a:xfrm>
        </p:spPr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현황진단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[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조직진단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400" dirty="0">
                <a:solidFill>
                  <a:schemeClr val="bg1"/>
                </a:solidFill>
              </a:rPr>
              <a:t>제도분석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요구분석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(EOS,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인터뷰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altLang="ko-KR" sz="1400" dirty="0">
                <a:solidFill>
                  <a:schemeClr val="bg1"/>
                </a:solidFill>
              </a:rPr>
              <a:t>]</a:t>
            </a:r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/>
              <a:t>제도설계</a:t>
            </a:r>
            <a:endParaRPr lang="en-US" altLang="ko-KR" dirty="0"/>
          </a:p>
          <a:p>
            <a:r>
              <a:rPr lang="ko-KR" altLang="en-US" dirty="0"/>
              <a:t>변화관리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489533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0592-59E4-4FDD-2B64-5DBB59A6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텍스트 개체 틀 85">
            <a:extLst>
              <a:ext uri="{FF2B5EF4-FFF2-40B4-BE49-F238E27FC236}">
                <a16:creationId xmlns:a16="http://schemas.microsoft.com/office/drawing/2014/main" id="{3F8C3CE5-6098-B1AF-A68D-D5E83BF14D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㈜</a:t>
            </a:r>
            <a:r>
              <a:rPr lang="ko-KR" altLang="en-US" dirty="0" err="1">
                <a:latin typeface="+mn-ea"/>
                <a:ea typeface="+mn-ea"/>
              </a:rPr>
              <a:t>베이시스소프트</a:t>
            </a:r>
            <a:r>
              <a:rPr lang="ko-KR" altLang="en-US" dirty="0">
                <a:latin typeface="+mn-ea"/>
                <a:ea typeface="+mn-ea"/>
              </a:rPr>
              <a:t> 일터혁신 사전진단 결과는 다음과 같으며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중요도와 시급성을 종합적으로 고려하여 판단한 결과 임금체계 재설계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평가체계 설계를 통해 일터혁신을 위한 </a:t>
            </a:r>
            <a:r>
              <a:rPr lang="en-US" altLang="ko-KR" dirty="0">
                <a:latin typeface="+mn-ea"/>
                <a:ea typeface="+mn-ea"/>
              </a:rPr>
              <a:t>HR </a:t>
            </a:r>
            <a:r>
              <a:rPr lang="ko-KR" altLang="en-US" dirty="0">
                <a:latin typeface="+mn-ea"/>
                <a:ea typeface="+mn-ea"/>
              </a:rPr>
              <a:t>기본 체계를 우선적으로 구축 하는 것이 적절하다고 판단됨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079FB9F-9C35-37FE-529A-1B722289F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01FFAB-1101-9F91-2158-8BB11885CE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사전진단 결과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497F973-1810-44A1-9DB1-5D17261C7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514616"/>
              </p:ext>
            </p:extLst>
          </p:nvPr>
        </p:nvGraphicFramePr>
        <p:xfrm>
          <a:off x="273050" y="2056935"/>
          <a:ext cx="4991056" cy="3015996"/>
        </p:xfrm>
        <a:graphic>
          <a:graphicData uri="http://schemas.openxmlformats.org/drawingml/2006/table">
            <a:tbl>
              <a:tblPr/>
              <a:tblGrid>
                <a:gridCol w="650875">
                  <a:extLst>
                    <a:ext uri="{9D8B030D-6E8A-4147-A177-3AD203B41FA5}">
                      <a16:colId xmlns:a16="http://schemas.microsoft.com/office/drawing/2014/main" val="49155050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3762635077"/>
                    </a:ext>
                  </a:extLst>
                </a:gridCol>
                <a:gridCol w="587248">
                  <a:extLst>
                    <a:ext uri="{9D8B030D-6E8A-4147-A177-3AD203B41FA5}">
                      <a16:colId xmlns:a16="http://schemas.microsoft.com/office/drawing/2014/main" val="2692921381"/>
                    </a:ext>
                  </a:extLst>
                </a:gridCol>
                <a:gridCol w="538804">
                  <a:extLst>
                    <a:ext uri="{9D8B030D-6E8A-4147-A177-3AD203B41FA5}">
                      <a16:colId xmlns:a16="http://schemas.microsoft.com/office/drawing/2014/main" val="1308655990"/>
                    </a:ext>
                  </a:extLst>
                </a:gridCol>
                <a:gridCol w="494468">
                  <a:extLst>
                    <a:ext uri="{9D8B030D-6E8A-4147-A177-3AD203B41FA5}">
                      <a16:colId xmlns:a16="http://schemas.microsoft.com/office/drawing/2014/main" val="3951363934"/>
                    </a:ext>
                  </a:extLst>
                </a:gridCol>
                <a:gridCol w="631584">
                  <a:extLst>
                    <a:ext uri="{9D8B030D-6E8A-4147-A177-3AD203B41FA5}">
                      <a16:colId xmlns:a16="http://schemas.microsoft.com/office/drawing/2014/main" val="665658293"/>
                    </a:ext>
                  </a:extLst>
                </a:gridCol>
                <a:gridCol w="700602">
                  <a:extLst>
                    <a:ext uri="{9D8B030D-6E8A-4147-A177-3AD203B41FA5}">
                      <a16:colId xmlns:a16="http://schemas.microsoft.com/office/drawing/2014/main" val="3004321564"/>
                    </a:ext>
                  </a:extLst>
                </a:gridCol>
              </a:tblGrid>
              <a:tr h="2065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분야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요구사항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수준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중요도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시급성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이행용이성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364215"/>
                  </a:ext>
                </a:extLst>
              </a:tr>
              <a:tr h="1652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근로시간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근로시간 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심화검토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283798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근무체계 개편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421285"/>
                  </a:ext>
                </a:extLst>
              </a:tr>
              <a:tr h="1652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임금체계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임금관리체계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심화검토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505926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임금체계 재설계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022558"/>
                  </a:ext>
                </a:extLst>
              </a:tr>
              <a:tr h="16526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근로자 </a:t>
                      </a:r>
                      <a:b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참여및 협력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노사협의회활성화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176935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노사파트너십 증진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133219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참여적 혁신활동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494384"/>
                  </a:ext>
                </a:extLst>
              </a:tr>
              <a:tr h="1652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직장문화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일가정양립 프로그램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959116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직장내 괴롭힘</a:t>
                      </a:r>
                      <a:r>
                        <a:rPr lang="en-US" altLang="ko-KR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성희롱예방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078749"/>
                  </a:ext>
                </a:extLst>
              </a:tr>
              <a:tr h="1652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직무역량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학습체계 기준 수립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877816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학습체계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22470"/>
                  </a:ext>
                </a:extLst>
              </a:tr>
              <a:tr h="16526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조직관리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직무분석 및 업무 정의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669298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업무기능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093370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평가체계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심화검토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429590"/>
                  </a:ext>
                </a:extLst>
              </a:tr>
              <a:tr h="1652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공정채용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채용제도 진단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심화검토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628275"/>
                  </a:ext>
                </a:extLst>
              </a:tr>
              <a:tr h="1652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채용제도 마련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381990"/>
                  </a:ext>
                </a:extLst>
              </a:tr>
              <a:tr h="1652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장년친화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장년친화 인사제도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940449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77DF61FF-790F-937E-AF32-93739BECBD0D}"/>
              </a:ext>
            </a:extLst>
          </p:cNvPr>
          <p:cNvGrpSpPr/>
          <p:nvPr/>
        </p:nvGrpSpPr>
        <p:grpSpPr>
          <a:xfrm>
            <a:off x="273929" y="1627389"/>
            <a:ext cx="4990177" cy="325827"/>
            <a:chOff x="273929" y="1626519"/>
            <a:chExt cx="6429396" cy="3258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FE9B3F5-00CA-D795-9BBC-E55A8EFB424B}"/>
                </a:ext>
              </a:extLst>
            </p:cNvPr>
            <p:cNvSpPr/>
            <p:nvPr userDrawn="1"/>
          </p:nvSpPr>
          <p:spPr>
            <a:xfrm>
              <a:off x="2698438" y="1626519"/>
              <a:ext cx="1580389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기업 검토 결과</a:t>
              </a:r>
            </a:p>
          </p:txBody>
        </p:sp>
        <p:cxnSp>
          <p:nvCxnSpPr>
            <p:cNvPr id="10" name="직선 연결선 41">
              <a:extLst>
                <a:ext uri="{FF2B5EF4-FFF2-40B4-BE49-F238E27FC236}">
                  <a16:creationId xmlns:a16="http://schemas.microsoft.com/office/drawing/2014/main" id="{8D00471B-1D8C-C2E7-0C3E-94229C664254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A64D276-1C72-6AA1-9B35-DB2654DA8D0A}"/>
              </a:ext>
            </a:extLst>
          </p:cNvPr>
          <p:cNvGrpSpPr/>
          <p:nvPr/>
        </p:nvGrpSpPr>
        <p:grpSpPr>
          <a:xfrm>
            <a:off x="5593470" y="1627389"/>
            <a:ext cx="4038600" cy="325827"/>
            <a:chOff x="273929" y="1626519"/>
            <a:chExt cx="6429396" cy="325827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6F521FA-49DA-F033-9E4E-8D2E0084E7FB}"/>
                </a:ext>
              </a:extLst>
            </p:cNvPr>
            <p:cNvSpPr/>
            <p:nvPr userDrawn="1"/>
          </p:nvSpPr>
          <p:spPr>
            <a:xfrm>
              <a:off x="2097565" y="1626519"/>
              <a:ext cx="2782146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기업 요구사항 별 수준</a:t>
              </a:r>
            </a:p>
          </p:txBody>
        </p:sp>
        <p:cxnSp>
          <p:nvCxnSpPr>
            <p:cNvPr id="14" name="직선 연결선 44">
              <a:extLst>
                <a:ext uri="{FF2B5EF4-FFF2-40B4-BE49-F238E27FC236}">
                  <a16:creationId xmlns:a16="http://schemas.microsoft.com/office/drawing/2014/main" id="{063A99B3-6211-297F-D011-B3E01D1A1BF9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6A7B245-81E6-C53D-FBB9-EE01D0771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985836"/>
              </p:ext>
            </p:extLst>
          </p:nvPr>
        </p:nvGraphicFramePr>
        <p:xfrm>
          <a:off x="272170" y="5135292"/>
          <a:ext cx="9359900" cy="1137492"/>
        </p:xfrm>
        <a:graphic>
          <a:graphicData uri="http://schemas.openxmlformats.org/drawingml/2006/table">
            <a:tbl>
              <a:tblPr/>
              <a:tblGrid>
                <a:gridCol w="9359900">
                  <a:extLst>
                    <a:ext uri="{9D8B030D-6E8A-4147-A177-3AD203B41FA5}">
                      <a16:colId xmlns:a16="http://schemas.microsoft.com/office/drawing/2014/main" val="2186569173"/>
                    </a:ext>
                  </a:extLst>
                </a:gridCol>
              </a:tblGrid>
              <a:tr h="21193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종합의견</a:t>
                      </a:r>
                      <a:endParaRPr lang="en-US" alt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996580"/>
                  </a:ext>
                </a:extLst>
              </a:tr>
              <a:tr h="925556">
                <a:tc>
                  <a:txBody>
                    <a:bodyPr/>
                    <a:lstStyle/>
                    <a:p>
                      <a:pPr marL="171450" indent="-171450" algn="l" fontAlgn="t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베이시스소프트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일터혁신 사전진단 결과 임금체계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조직관리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평가체계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직무역량 및 학습체계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공정채용 등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HR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전반의 영역에서 제도적 미비에 대한 부분과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HR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체계 구축의 필요성이 확인되었음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임금체계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평가체계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학습체계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채용제도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노사협의회 활성화 부분의 요구사항 및 시급도가 높게 도출되었음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71450" indent="-171450" algn="l" fontAlgn="t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임금체계 재설계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평가체계 설계 영역이 시급하여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기업의 전략방향을 기반으로 노사협의 과정을 통해 ㈜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베이시스소프트에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적합한 임금 제도 및 평가 제도를 설계하고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기업에 잘 정착될 수 있도록 지원할 필요가 있음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향후 중간관리자 육성을 위한 학습체계 및 공정 채용제도 설계 및 구축에 대한 필요가 있음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750856"/>
                  </a:ext>
                </a:extLst>
              </a:tr>
            </a:tbl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220FF98A-D785-4A2C-93A0-36088CEC78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088581"/>
              </p:ext>
            </p:extLst>
          </p:nvPr>
        </p:nvGraphicFramePr>
        <p:xfrm>
          <a:off x="5593470" y="2054331"/>
          <a:ext cx="4038600" cy="3015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15437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885F-332B-0EA5-053E-7D82EBCB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텍스트 개체 틀 85">
            <a:extLst>
              <a:ext uri="{FF2B5EF4-FFF2-40B4-BE49-F238E27FC236}">
                <a16:creationId xmlns:a16="http://schemas.microsoft.com/office/drawing/2014/main" id="{92E19D12-048A-D884-AA68-4F09193463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직무분류체계는 관리</a:t>
            </a:r>
            <a:r>
              <a:rPr lang="en-US" altLang="ko-KR" dirty="0"/>
              <a:t>, </a:t>
            </a:r>
            <a:r>
              <a:rPr lang="ko-KR" altLang="en-US" dirty="0"/>
              <a:t>건설 설계</a:t>
            </a:r>
            <a:r>
              <a:rPr lang="en-US" altLang="ko-KR" dirty="0"/>
              <a:t>, </a:t>
            </a:r>
            <a:r>
              <a:rPr lang="ko-KR" altLang="en-US" dirty="0"/>
              <a:t>영업 </a:t>
            </a:r>
            <a:r>
              <a:rPr lang="en-US" altLang="ko-KR" dirty="0"/>
              <a:t>3</a:t>
            </a:r>
            <a:r>
              <a:rPr lang="ko-KR" altLang="en-US" dirty="0"/>
              <a:t>개 직군으로 구분되어 있으며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개 직무로 구성되어 운영되고 있음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임금</a:t>
            </a:r>
            <a:r>
              <a:rPr lang="en-US" altLang="ko-KR" dirty="0"/>
              <a:t>, </a:t>
            </a:r>
            <a:r>
              <a:rPr lang="ko-KR" altLang="en-US" dirty="0"/>
              <a:t>평가</a:t>
            </a:r>
            <a:r>
              <a:rPr lang="en-US" altLang="ko-KR" dirty="0"/>
              <a:t>, </a:t>
            </a:r>
            <a:r>
              <a:rPr lang="ko-KR" altLang="en-US" dirty="0"/>
              <a:t>보상 등 </a:t>
            </a:r>
            <a:r>
              <a:rPr lang="en-US" altLang="ko-KR" dirty="0"/>
              <a:t>HR </a:t>
            </a:r>
            <a:r>
              <a:rPr lang="ko-KR" altLang="en-US" dirty="0"/>
              <a:t>전반의 제도는 직군</a:t>
            </a:r>
            <a:r>
              <a:rPr lang="en-US" altLang="ko-KR" dirty="0"/>
              <a:t>, </a:t>
            </a:r>
            <a:r>
              <a:rPr lang="ko-KR" altLang="en-US" dirty="0"/>
              <a:t>직무가 구분되어 운영되고 있지 않음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BC930BE-61B3-43D2-28E5-0901EAF00A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A3659F-EAB3-2153-9E2D-E1A3EBEED1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조직관리 </a:t>
            </a:r>
            <a:r>
              <a:rPr lang="en-US" altLang="ko-KR" dirty="0"/>
              <a:t>&gt; </a:t>
            </a:r>
            <a:r>
              <a:rPr lang="ko-KR" altLang="en-US" dirty="0"/>
              <a:t>직무분석 및 업무 정의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285D9-9E4E-B531-7824-8A8E4AEAD1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DC74F5-486B-3A92-8200-DDCA5DD46177}"/>
              </a:ext>
            </a:extLst>
          </p:cNvPr>
          <p:cNvGrpSpPr/>
          <p:nvPr/>
        </p:nvGrpSpPr>
        <p:grpSpPr>
          <a:xfrm>
            <a:off x="281215" y="1665619"/>
            <a:ext cx="9343567" cy="286727"/>
            <a:chOff x="7335596" y="1767285"/>
            <a:chExt cx="2217262" cy="2867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12D2C98-86B9-A53B-8EF8-BC576905F515}"/>
                </a:ext>
              </a:extLst>
            </p:cNvPr>
            <p:cNvSpPr/>
            <p:nvPr userDrawn="1"/>
          </p:nvSpPr>
          <p:spPr>
            <a:xfrm>
              <a:off x="7394589" y="1767285"/>
              <a:ext cx="2099276" cy="2295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직무분류체계</a:t>
              </a:r>
            </a:p>
          </p:txBody>
        </p:sp>
        <p:cxnSp>
          <p:nvCxnSpPr>
            <p:cNvPr id="12" name="직선 연결선 13">
              <a:extLst>
                <a:ext uri="{FF2B5EF4-FFF2-40B4-BE49-F238E27FC236}">
                  <a16:creationId xmlns:a16="http://schemas.microsoft.com/office/drawing/2014/main" id="{65727109-23AA-2135-4E8D-F9FFAC9B9581}"/>
                </a:ext>
              </a:extLst>
            </p:cNvPr>
            <p:cNvCxnSpPr/>
            <p:nvPr userDrawn="1"/>
          </p:nvCxnSpPr>
          <p:spPr>
            <a:xfrm>
              <a:off x="7335596" y="2054012"/>
              <a:ext cx="2217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reeform 61">
            <a:extLst>
              <a:ext uri="{FF2B5EF4-FFF2-40B4-BE49-F238E27FC236}">
                <a16:creationId xmlns:a16="http://schemas.microsoft.com/office/drawing/2014/main" id="{CF357BB5-112D-97FE-2FCE-6D23B0DA05FF}"/>
              </a:ext>
            </a:extLst>
          </p:cNvPr>
          <p:cNvSpPr>
            <a:spLocks/>
          </p:cNvSpPr>
          <p:nvPr/>
        </p:nvSpPr>
        <p:spPr bwMode="auto">
          <a:xfrm>
            <a:off x="7181725" y="2053338"/>
            <a:ext cx="593267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F00EC7-A65A-097F-4D4F-B0390C8A3E7E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시사점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A6C3070-55BA-7357-215C-096C3F91B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300595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직군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직렬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 체계가 구분되어 있으나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직무의 역할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전문성에 따른 세분화 미흡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직무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 지원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기능적 정의와 역할 범위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불문명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건설설계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직군의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핵심직무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(BIM,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건설설계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사업기획 등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세분화 검토 필요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직군의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핵심직무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영업전략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기술영업 등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세분화 검토 필요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6AD8106-D294-33AF-471A-27CBF7258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38296"/>
              </p:ext>
            </p:extLst>
          </p:nvPr>
        </p:nvGraphicFramePr>
        <p:xfrm>
          <a:off x="281215" y="2053332"/>
          <a:ext cx="6900510" cy="40566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170">
                  <a:extLst>
                    <a:ext uri="{9D8B030D-6E8A-4147-A177-3AD203B41FA5}">
                      <a16:colId xmlns:a16="http://schemas.microsoft.com/office/drawing/2014/main" val="264154233"/>
                    </a:ext>
                  </a:extLst>
                </a:gridCol>
                <a:gridCol w="2300170">
                  <a:extLst>
                    <a:ext uri="{9D8B030D-6E8A-4147-A177-3AD203B41FA5}">
                      <a16:colId xmlns:a16="http://schemas.microsoft.com/office/drawing/2014/main" val="3151126187"/>
                    </a:ext>
                  </a:extLst>
                </a:gridCol>
                <a:gridCol w="2300170">
                  <a:extLst>
                    <a:ext uri="{9D8B030D-6E8A-4147-A177-3AD203B41FA5}">
                      <a16:colId xmlns:a16="http://schemas.microsoft.com/office/drawing/2014/main" val="2001452335"/>
                    </a:ext>
                  </a:extLst>
                </a:gridCol>
              </a:tblGrid>
              <a:tr h="35067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32880"/>
                  </a:ext>
                </a:extLst>
              </a:tr>
              <a:tr h="370602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경영기획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794786"/>
                  </a:ext>
                </a:extLst>
              </a:tr>
              <a:tr h="370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BDC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504369"/>
                  </a:ext>
                </a:extLst>
              </a:tr>
              <a:tr h="370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BDC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426768"/>
                  </a:ext>
                </a:extLst>
              </a:tr>
              <a:tr h="370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BDC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마케팅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524029"/>
                  </a:ext>
                </a:extLst>
              </a:tr>
              <a:tr h="370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BDC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07447"/>
                  </a:ext>
                </a:extLst>
              </a:tr>
              <a:tr h="370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BDC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474123"/>
                  </a:ext>
                </a:extLst>
              </a:tr>
              <a:tr h="37060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건설 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건설 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사업기획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314326"/>
                  </a:ext>
                </a:extLst>
              </a:tr>
              <a:tr h="3706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BDC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977514"/>
                  </a:ext>
                </a:extLst>
              </a:tr>
              <a:tr h="37060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1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BD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 지원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563013"/>
                  </a:ext>
                </a:extLst>
              </a:tr>
              <a:tr h="3706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939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681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004FE-88DC-0367-6AED-76417895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텍스트 개체 틀 85">
            <a:extLst>
              <a:ext uri="{FF2B5EF4-FFF2-40B4-BE49-F238E27FC236}">
                <a16:creationId xmlns:a16="http://schemas.microsoft.com/office/drawing/2014/main" id="{DDCA30C4-402E-5042-AEAE-EE513C422D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직무별 직무기술서가 구축되어 있으며</a:t>
            </a:r>
            <a:r>
              <a:rPr lang="en-US" altLang="ko-KR" dirty="0"/>
              <a:t>, </a:t>
            </a:r>
            <a:r>
              <a:rPr lang="ko-KR" altLang="en-US" dirty="0"/>
              <a:t>직무기술서는 </a:t>
            </a:r>
            <a:r>
              <a:rPr lang="en-US" altLang="ko-KR" dirty="0"/>
              <a:t>NCS</a:t>
            </a:r>
            <a:r>
              <a:rPr lang="ko-KR" altLang="en-US" dirty="0"/>
              <a:t> 능력단위 및 세부 내용을 기반으로 직무별 책무</a:t>
            </a:r>
            <a:r>
              <a:rPr lang="en-US" altLang="ko-KR" dirty="0"/>
              <a:t>(Duty), </a:t>
            </a:r>
            <a:r>
              <a:rPr lang="ko-KR" altLang="en-US" dirty="0"/>
              <a:t>과업</a:t>
            </a:r>
            <a:r>
              <a:rPr lang="en-US" altLang="ko-KR" dirty="0"/>
              <a:t>(Task), </a:t>
            </a:r>
            <a:r>
              <a:rPr lang="ko-KR" altLang="en-US" dirty="0"/>
              <a:t>세부 활동</a:t>
            </a:r>
            <a:r>
              <a:rPr lang="en-US" altLang="ko-KR" dirty="0"/>
              <a:t>(Activity)</a:t>
            </a:r>
            <a:r>
              <a:rPr lang="ko-KR" altLang="en-US" dirty="0"/>
              <a:t>과</a:t>
            </a:r>
            <a:r>
              <a:rPr lang="en-US" altLang="ko-KR" dirty="0"/>
              <a:t>, </a:t>
            </a:r>
            <a:r>
              <a:rPr lang="ko-KR" altLang="en-US" dirty="0"/>
              <a:t>지식</a:t>
            </a:r>
            <a:r>
              <a:rPr lang="en-US" altLang="ko-KR" dirty="0"/>
              <a:t>/</a:t>
            </a:r>
            <a:r>
              <a:rPr lang="ko-KR" altLang="en-US" dirty="0"/>
              <a:t>기술</a:t>
            </a:r>
            <a:r>
              <a:rPr lang="en-US" altLang="ko-KR" dirty="0"/>
              <a:t>/</a:t>
            </a:r>
            <a:r>
              <a:rPr lang="ko-KR" altLang="en-US" dirty="0"/>
              <a:t>태도가 도출되어 있으며</a:t>
            </a:r>
            <a:r>
              <a:rPr lang="en-US" altLang="ko-KR" dirty="0"/>
              <a:t>, </a:t>
            </a:r>
            <a:r>
              <a:rPr lang="ko-KR" altLang="en-US" dirty="0"/>
              <a:t>분석 결과는 다음과 같음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DF91E93-67E5-0076-A628-AC864D1248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84914-252D-2C56-2A4B-C3C2493276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조직관리 </a:t>
            </a:r>
            <a:r>
              <a:rPr lang="en-US" altLang="ko-KR" dirty="0"/>
              <a:t>&gt; </a:t>
            </a:r>
            <a:r>
              <a:rPr lang="ko-KR" altLang="en-US" dirty="0"/>
              <a:t>직무분석 및 업무 정의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6B9954-9A17-9DDB-EB66-101842817C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9143148-17AE-2A7B-5F1F-3E8934DE8A72}"/>
              </a:ext>
            </a:extLst>
          </p:cNvPr>
          <p:cNvGrpSpPr/>
          <p:nvPr/>
        </p:nvGrpSpPr>
        <p:grpSpPr>
          <a:xfrm>
            <a:off x="281215" y="1665619"/>
            <a:ext cx="9343567" cy="286727"/>
            <a:chOff x="7335596" y="1767285"/>
            <a:chExt cx="2217262" cy="2867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3288BBB-B56C-946C-23FA-A9FFD24C6C8F}"/>
                </a:ext>
              </a:extLst>
            </p:cNvPr>
            <p:cNvSpPr/>
            <p:nvPr userDrawn="1"/>
          </p:nvSpPr>
          <p:spPr>
            <a:xfrm>
              <a:off x="7394589" y="1767285"/>
              <a:ext cx="2099276" cy="2295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직무기술서</a:t>
              </a:r>
            </a:p>
          </p:txBody>
        </p:sp>
        <p:cxnSp>
          <p:nvCxnSpPr>
            <p:cNvPr id="12" name="직선 연결선 13">
              <a:extLst>
                <a:ext uri="{FF2B5EF4-FFF2-40B4-BE49-F238E27FC236}">
                  <a16:creationId xmlns:a16="http://schemas.microsoft.com/office/drawing/2014/main" id="{3DC7387D-C23A-92D7-A885-5B09522564CF}"/>
                </a:ext>
              </a:extLst>
            </p:cNvPr>
            <p:cNvCxnSpPr/>
            <p:nvPr userDrawn="1"/>
          </p:nvCxnSpPr>
          <p:spPr>
            <a:xfrm>
              <a:off x="7335596" y="2054012"/>
              <a:ext cx="2217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reeform 61">
            <a:extLst>
              <a:ext uri="{FF2B5EF4-FFF2-40B4-BE49-F238E27FC236}">
                <a16:creationId xmlns:a16="http://schemas.microsoft.com/office/drawing/2014/main" id="{D0ADD7B2-7B3D-E68E-3412-1C474E294E04}"/>
              </a:ext>
            </a:extLst>
          </p:cNvPr>
          <p:cNvSpPr>
            <a:spLocks/>
          </p:cNvSpPr>
          <p:nvPr/>
        </p:nvSpPr>
        <p:spPr bwMode="auto">
          <a:xfrm>
            <a:off x="7181725" y="2053338"/>
            <a:ext cx="593267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1C58F4-4F3F-5BA1-1558-89C1B17D449F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시사점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936B66A-7344-EC0A-573C-797DD577E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785575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직무기술서가 구축되어 있으나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현재 채용 영역에서만 활용되고 있으며 다른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HR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영역에서는 활용되지 못하고 있음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신기술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신사업 직무에 대한 직무기술서 및 업데이트가 필요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BIM,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스마트건설 등 핵심 사업분야의 기술변화 및 트렌드가 빠르게 변화하고 있어 기술 변화에 따른 직무관리 방안 모색 필요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D9F6AE5F-149B-FA00-2909-84001BA23C67}"/>
              </a:ext>
            </a:extLst>
          </p:cNvPr>
          <p:cNvGrpSpPr/>
          <p:nvPr/>
        </p:nvGrpSpPr>
        <p:grpSpPr>
          <a:xfrm>
            <a:off x="281215" y="2053337"/>
            <a:ext cx="6900509" cy="4075999"/>
            <a:chOff x="215900" y="2208167"/>
            <a:chExt cx="8928101" cy="3960000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346A6D4-030D-9BD0-FD40-2657DE6688C7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b="77116"/>
            <a:stretch/>
          </p:blipFill>
          <p:spPr>
            <a:xfrm>
              <a:off x="215900" y="2208167"/>
              <a:ext cx="2228400" cy="39600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88C8F86-C5F4-B0FF-1658-5B18E730E4CE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b="66212"/>
            <a:stretch/>
          </p:blipFill>
          <p:spPr>
            <a:xfrm>
              <a:off x="2449134" y="2208167"/>
              <a:ext cx="2228400" cy="39600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342BF99-9B2B-59D2-7558-04CF79ED411E}"/>
                </a:ext>
              </a:extLst>
            </p:cNvPr>
            <p:cNvPicPr>
              <a:picLocks/>
            </p:cNvPicPr>
            <p:nvPr/>
          </p:nvPicPr>
          <p:blipFill rotWithShape="1">
            <a:blip r:embed="rId5"/>
            <a:srcRect b="55282"/>
            <a:stretch/>
          </p:blipFill>
          <p:spPr>
            <a:xfrm>
              <a:off x="4682368" y="2208167"/>
              <a:ext cx="2228400" cy="3960000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D2D8FD49-8A81-82CB-4F95-EBCB40F1863F}"/>
                </a:ext>
              </a:extLst>
            </p:cNvPr>
            <p:cNvPicPr>
              <a:picLocks/>
            </p:cNvPicPr>
            <p:nvPr/>
          </p:nvPicPr>
          <p:blipFill rotWithShape="1">
            <a:blip r:embed="rId6"/>
            <a:srcRect b="70311"/>
            <a:stretch/>
          </p:blipFill>
          <p:spPr>
            <a:xfrm>
              <a:off x="6915601" y="2208167"/>
              <a:ext cx="2228400" cy="39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9496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04B7-73AF-A579-B1F9-7D2DD8F5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텍스트 개체 틀 85">
            <a:extLst>
              <a:ext uri="{FF2B5EF4-FFF2-40B4-BE49-F238E27FC236}">
                <a16:creationId xmlns:a16="http://schemas.microsoft.com/office/drawing/2014/main" id="{6E328BCC-B65F-4462-7ABB-96041953F0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직무분석 결과</a:t>
            </a:r>
            <a:r>
              <a:rPr lang="en-US" altLang="ko-KR" dirty="0"/>
              <a:t>(</a:t>
            </a:r>
            <a:r>
              <a:rPr lang="ko-KR" altLang="en-US" dirty="0"/>
              <a:t>직무기술서</a:t>
            </a:r>
            <a:r>
              <a:rPr lang="en-US" altLang="ko-KR" dirty="0"/>
              <a:t>)</a:t>
            </a:r>
            <a:r>
              <a:rPr lang="ko-KR" altLang="en-US" dirty="0"/>
              <a:t>를 기반으로 직군</a:t>
            </a:r>
            <a:r>
              <a:rPr lang="en-US" altLang="ko-KR" dirty="0"/>
              <a:t>-</a:t>
            </a:r>
            <a:r>
              <a:rPr lang="ko-KR" altLang="en-US" dirty="0"/>
              <a:t>직렬</a:t>
            </a:r>
            <a:r>
              <a:rPr lang="en-US" altLang="ko-KR" dirty="0"/>
              <a:t>-</a:t>
            </a:r>
            <a:r>
              <a:rPr lang="ko-KR" altLang="en-US" dirty="0"/>
              <a:t>직무별 </a:t>
            </a:r>
            <a:r>
              <a:rPr lang="en-US" altLang="ko-KR" dirty="0"/>
              <a:t>NCS </a:t>
            </a:r>
            <a:r>
              <a:rPr lang="ko-KR" altLang="en-US" dirty="0"/>
              <a:t>수준체계에 따른 직무역량체계가 다음과 같이 구축되어 있으며</a:t>
            </a:r>
            <a:r>
              <a:rPr lang="en-US" altLang="ko-KR" dirty="0"/>
              <a:t>, </a:t>
            </a:r>
            <a:r>
              <a:rPr lang="ko-KR" altLang="en-US" dirty="0"/>
              <a:t>분석 결과는 다음과 같음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EF2860E-0065-40AB-920C-3DEE5C5CAD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D50BAE-C495-1580-97CF-E36B9639FE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조직관리 </a:t>
            </a:r>
            <a:r>
              <a:rPr lang="en-US" altLang="ko-KR" dirty="0"/>
              <a:t>&gt; </a:t>
            </a:r>
            <a:r>
              <a:rPr lang="ko-KR" altLang="en-US" dirty="0"/>
              <a:t>직무분석 및 업무 정의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319DA5-AC1C-9BC4-A6ED-CFD5BEE3B6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7EC3F7F-58F1-4B60-D286-3071B10542B7}"/>
              </a:ext>
            </a:extLst>
          </p:cNvPr>
          <p:cNvGrpSpPr/>
          <p:nvPr/>
        </p:nvGrpSpPr>
        <p:grpSpPr>
          <a:xfrm>
            <a:off x="281215" y="1665619"/>
            <a:ext cx="9343567" cy="286727"/>
            <a:chOff x="7335596" y="1767285"/>
            <a:chExt cx="2217262" cy="2867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E37761C-11AA-B1E2-1B4C-F7F538804271}"/>
                </a:ext>
              </a:extLst>
            </p:cNvPr>
            <p:cNvSpPr/>
            <p:nvPr userDrawn="1"/>
          </p:nvSpPr>
          <p:spPr>
            <a:xfrm>
              <a:off x="7394589" y="1767285"/>
              <a:ext cx="2099276" cy="2295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직무역량 체계</a:t>
              </a:r>
            </a:p>
          </p:txBody>
        </p:sp>
        <p:cxnSp>
          <p:nvCxnSpPr>
            <p:cNvPr id="12" name="직선 연결선 13">
              <a:extLst>
                <a:ext uri="{FF2B5EF4-FFF2-40B4-BE49-F238E27FC236}">
                  <a16:creationId xmlns:a16="http://schemas.microsoft.com/office/drawing/2014/main" id="{FD0CA63D-A53F-B4EF-8E3B-ACB9C0AE75EF}"/>
                </a:ext>
              </a:extLst>
            </p:cNvPr>
            <p:cNvCxnSpPr/>
            <p:nvPr userDrawn="1"/>
          </p:nvCxnSpPr>
          <p:spPr>
            <a:xfrm>
              <a:off x="7335596" y="2054012"/>
              <a:ext cx="2217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reeform 61">
            <a:extLst>
              <a:ext uri="{FF2B5EF4-FFF2-40B4-BE49-F238E27FC236}">
                <a16:creationId xmlns:a16="http://schemas.microsoft.com/office/drawing/2014/main" id="{E3A3CF2B-72C8-4696-69C5-8A62C0A32694}"/>
              </a:ext>
            </a:extLst>
          </p:cNvPr>
          <p:cNvSpPr>
            <a:spLocks/>
          </p:cNvSpPr>
          <p:nvPr/>
        </p:nvSpPr>
        <p:spPr bwMode="auto">
          <a:xfrm>
            <a:off x="7181725" y="2053338"/>
            <a:ext cx="593267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F76BD9-C41B-7579-E8B4-E354D6147C6A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시사점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3B1040-1E83-544D-4CF2-223D3A15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15" y="2053338"/>
            <a:ext cx="6900509" cy="4075997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47D0C88-166C-15D8-B1B3-42FC6E794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295040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역량체계와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HR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채용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보상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 등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간의 연계성 부족</a:t>
                      </a: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기업의 핵심 가치를 기반으로 한 공통역량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계층에 따른 계층역량 미비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 트렌드 변화에 대응하기 위한 업데이트 방안 마련 필요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9007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BE962-7B65-35BD-2832-9BBAEB12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텍스트 개체 틀 85">
            <a:extLst>
              <a:ext uri="{FF2B5EF4-FFF2-40B4-BE49-F238E27FC236}">
                <a16:creationId xmlns:a16="http://schemas.microsoft.com/office/drawing/2014/main" id="{625D84BB-164E-4C0C-B71B-F40B72B471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직급체계는 </a:t>
            </a:r>
            <a:r>
              <a:rPr lang="en-US" altLang="ko-KR" dirty="0"/>
              <a:t>[</a:t>
            </a:r>
            <a:r>
              <a:rPr lang="ko-KR" altLang="en-US" dirty="0"/>
              <a:t>사원</a:t>
            </a:r>
            <a:r>
              <a:rPr lang="en-US" altLang="ko-KR" dirty="0"/>
              <a:t>-</a:t>
            </a:r>
            <a:r>
              <a:rPr lang="ko-KR" altLang="en-US" dirty="0"/>
              <a:t>주임</a:t>
            </a:r>
            <a:r>
              <a:rPr lang="en-US" altLang="ko-KR" dirty="0"/>
              <a:t>-</a:t>
            </a:r>
            <a:r>
              <a:rPr lang="ko-KR" altLang="en-US" dirty="0"/>
              <a:t>대리</a:t>
            </a:r>
            <a:r>
              <a:rPr lang="en-US" altLang="ko-KR" dirty="0"/>
              <a:t>-</a:t>
            </a:r>
            <a:r>
              <a:rPr lang="ko-KR" altLang="en-US" dirty="0"/>
              <a:t>과장</a:t>
            </a:r>
            <a:r>
              <a:rPr lang="en-US" altLang="ko-KR" dirty="0"/>
              <a:t>-</a:t>
            </a:r>
            <a:r>
              <a:rPr lang="ko-KR" altLang="en-US" dirty="0"/>
              <a:t>차장</a:t>
            </a:r>
            <a:r>
              <a:rPr lang="en-US" altLang="ko-KR" dirty="0"/>
              <a:t>-</a:t>
            </a:r>
            <a:r>
              <a:rPr lang="ko-KR" altLang="en-US" dirty="0"/>
              <a:t>부장</a:t>
            </a:r>
            <a:r>
              <a:rPr lang="en-US" altLang="ko-KR" dirty="0"/>
              <a:t>] </a:t>
            </a:r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단계 체계로 구축되어 있으며</a:t>
            </a:r>
            <a:r>
              <a:rPr lang="en-US" altLang="ko-KR" dirty="0"/>
              <a:t>, </a:t>
            </a:r>
            <a:r>
              <a:rPr lang="ko-KR" altLang="en-US" dirty="0"/>
              <a:t>승진체계는 근속연수 및 경력 중심의 </a:t>
            </a:r>
            <a:r>
              <a:rPr lang="ko-KR" altLang="en-US" dirty="0" err="1"/>
              <a:t>호봉적</a:t>
            </a:r>
            <a:r>
              <a:rPr lang="ko-KR" altLang="en-US" dirty="0"/>
              <a:t> 성향이 강하게 운영되고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891C1B4-E084-9A6D-69A3-57F662B30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BC7FFA-94BF-98D7-05DC-4C53D7C316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임금체계 </a:t>
            </a:r>
            <a:r>
              <a:rPr lang="en-US" altLang="ko-KR" dirty="0"/>
              <a:t>&gt; </a:t>
            </a:r>
            <a:r>
              <a:rPr lang="ko-KR" altLang="en-US" dirty="0"/>
              <a:t>직급 체계 및 승진 체계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67841C-5ABB-EDAF-77A3-E2D0C00ED4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9E9BA82-336A-E68E-3EE1-5D35204ABE5A}"/>
              </a:ext>
            </a:extLst>
          </p:cNvPr>
          <p:cNvGrpSpPr/>
          <p:nvPr/>
        </p:nvGrpSpPr>
        <p:grpSpPr>
          <a:xfrm>
            <a:off x="281215" y="1665619"/>
            <a:ext cx="9343567" cy="286727"/>
            <a:chOff x="7335596" y="1767285"/>
            <a:chExt cx="2217262" cy="2867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277CE4-0161-0D92-B976-A4C95655AC6A}"/>
                </a:ext>
              </a:extLst>
            </p:cNvPr>
            <p:cNvSpPr/>
            <p:nvPr userDrawn="1"/>
          </p:nvSpPr>
          <p:spPr>
            <a:xfrm>
              <a:off x="7394589" y="1767285"/>
              <a:ext cx="2099276" cy="2295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직급 체계 및 승진 체계 분석</a:t>
              </a:r>
            </a:p>
          </p:txBody>
        </p:sp>
        <p:cxnSp>
          <p:nvCxnSpPr>
            <p:cNvPr id="12" name="직선 연결선 13">
              <a:extLst>
                <a:ext uri="{FF2B5EF4-FFF2-40B4-BE49-F238E27FC236}">
                  <a16:creationId xmlns:a16="http://schemas.microsoft.com/office/drawing/2014/main" id="{CA721F40-95CD-A7C9-A675-FFE73908E733}"/>
                </a:ext>
              </a:extLst>
            </p:cNvPr>
            <p:cNvCxnSpPr/>
            <p:nvPr userDrawn="1"/>
          </p:nvCxnSpPr>
          <p:spPr>
            <a:xfrm>
              <a:off x="7335596" y="2054012"/>
              <a:ext cx="2217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reeform 61">
            <a:extLst>
              <a:ext uri="{FF2B5EF4-FFF2-40B4-BE49-F238E27FC236}">
                <a16:creationId xmlns:a16="http://schemas.microsoft.com/office/drawing/2014/main" id="{15587688-A111-8D77-29B3-BE955A4C9261}"/>
              </a:ext>
            </a:extLst>
          </p:cNvPr>
          <p:cNvSpPr>
            <a:spLocks/>
          </p:cNvSpPr>
          <p:nvPr/>
        </p:nvSpPr>
        <p:spPr bwMode="auto">
          <a:xfrm>
            <a:off x="7181725" y="2053338"/>
            <a:ext cx="593267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B59349-50A8-9A9D-2B22-9D2C3C5B3E43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시사점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FD9EDAF-C055-05EB-0C9B-FD6331DCD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10517"/>
              </p:ext>
            </p:extLst>
          </p:nvPr>
        </p:nvGraphicFramePr>
        <p:xfrm>
          <a:off x="281214" y="2091173"/>
          <a:ext cx="6900514" cy="404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186">
                  <a:extLst>
                    <a:ext uri="{9D8B030D-6E8A-4147-A177-3AD203B41FA5}">
                      <a16:colId xmlns:a16="http://schemas.microsoft.com/office/drawing/2014/main" val="429003975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1232985313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10517567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510682631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1426573718"/>
                    </a:ext>
                  </a:extLst>
                </a:gridCol>
                <a:gridCol w="1140801">
                  <a:extLst>
                    <a:ext uri="{9D8B030D-6E8A-4147-A177-3AD203B41FA5}">
                      <a16:colId xmlns:a16="http://schemas.microsoft.com/office/drawing/2014/main" val="1067190221"/>
                    </a:ext>
                  </a:extLst>
                </a:gridCol>
                <a:gridCol w="1919775">
                  <a:extLst>
                    <a:ext uri="{9D8B030D-6E8A-4147-A177-3AD203B41FA5}">
                      <a16:colId xmlns:a16="http://schemas.microsoft.com/office/drawing/2014/main" val="763497498"/>
                    </a:ext>
                  </a:extLst>
                </a:gridCol>
              </a:tblGrid>
              <a:tr h="18531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직급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근무 기간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만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승진 기준 </a:t>
                      </a:r>
                      <a:r>
                        <a:rPr lang="ko-KR" altLang="en-US" sz="1200" b="0" u="none" strike="noStrike" kern="1200" dirty="0" err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년차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학사 기준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533033"/>
                  </a:ext>
                </a:extLst>
              </a:tr>
              <a:tr h="1853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학사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전문학사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특성화고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일반고졸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496477"/>
                  </a:ext>
                </a:extLst>
              </a:tr>
              <a:tr h="523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-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-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-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대표이사 재량으로 상무 승진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544027"/>
                  </a:ext>
                </a:extLst>
              </a:tr>
              <a:tr h="523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년차에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이사 승진 자격 부여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직원 최고 직급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indent="-8890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대표이사 재량으로 이사 승진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814068"/>
                  </a:ext>
                </a:extLst>
              </a:tr>
              <a:tr h="523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4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4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4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4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년차에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부장 승진 자격 부여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910"/>
                  </a:ext>
                </a:extLst>
              </a:tr>
              <a:tr h="523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4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4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4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4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년차에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차장 승진 자격 부여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033744"/>
                  </a:ext>
                </a:extLst>
              </a:tr>
              <a:tr h="523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3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3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년차에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과장 승진 자격 부여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108520"/>
                  </a:ext>
                </a:extLst>
              </a:tr>
              <a:tr h="523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2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년차에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대리 승진 자격 부여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15499"/>
                  </a:ext>
                </a:extLst>
              </a:tr>
              <a:tr h="523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년차에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주임 자동 승진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07726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CB0A036-D10D-66F3-F18D-AE64C0100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144248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직책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체계가 혼재되어 운영되고 있음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직급체계는 구축되어 있으나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실질적 역할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책임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기대성과 등 기준이 구체적으로 정의되어 있지 않아 유의미한 체계로 작동하는데 어려움이 있음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승진체계 또한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호봉적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운영 성향이 강하여 직급 정체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 동기 저하 등의 문제가 우려됨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 자격 부여 후 어떠한 기준으로 승진이 되는지에 대한 기준이 불명확하여 경력개발에 대한 성장경로가 불투명함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1809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8CC2-F12F-21BC-65CE-0D6241D0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텍스트 개체 틀 85">
            <a:extLst>
              <a:ext uri="{FF2B5EF4-FFF2-40B4-BE49-F238E27FC236}">
                <a16:creationId xmlns:a16="http://schemas.microsoft.com/office/drawing/2014/main" id="{15AA9E31-4D46-FEB8-D501-D555266D50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임금제도는 직급별 </a:t>
            </a:r>
            <a:r>
              <a:rPr lang="ko-KR" altLang="en-US" dirty="0" err="1"/>
              <a:t>호봉제</a:t>
            </a:r>
            <a:r>
              <a:rPr lang="ko-KR" altLang="en-US" dirty="0"/>
              <a:t> 성격으로 운영되고 있으나</a:t>
            </a:r>
            <a:r>
              <a:rPr lang="en-US" altLang="ko-KR" dirty="0"/>
              <a:t>, </a:t>
            </a:r>
            <a:r>
              <a:rPr lang="ko-KR" altLang="en-US" dirty="0"/>
              <a:t>직급 및 호봉에 따른 명확한 임금체계가 미비한 상황이며</a:t>
            </a:r>
            <a:r>
              <a:rPr lang="en-US" altLang="ko-KR" dirty="0"/>
              <a:t>, </a:t>
            </a:r>
            <a:r>
              <a:rPr lang="ko-KR" altLang="en-US" dirty="0"/>
              <a:t>직급 간 연봉구간의 차이가 낮아 직무역량 향상 및 성과창출에 대한 동기부여 유인에 어려울 것으로 판단됨</a:t>
            </a:r>
            <a:r>
              <a:rPr lang="en-US" altLang="ko-KR" dirty="0"/>
              <a:t>.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2409E16-69DB-4E49-76D2-5CA393C92D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107878-00FD-D494-0AB5-25B0DB59CD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임금체계 </a:t>
            </a:r>
            <a:r>
              <a:rPr lang="en-US" altLang="ko-KR" dirty="0"/>
              <a:t>&gt; </a:t>
            </a:r>
            <a:r>
              <a:rPr lang="ko-KR" altLang="en-US" dirty="0"/>
              <a:t>임금체계 분석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4C79CE-894C-AB16-5C90-948888569F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7ACBEDD-F409-B47C-7532-91C6598F39DB}"/>
              </a:ext>
            </a:extLst>
          </p:cNvPr>
          <p:cNvGrpSpPr/>
          <p:nvPr/>
        </p:nvGrpSpPr>
        <p:grpSpPr>
          <a:xfrm>
            <a:off x="281215" y="1665619"/>
            <a:ext cx="9343567" cy="286727"/>
            <a:chOff x="7335596" y="1767285"/>
            <a:chExt cx="2217262" cy="2867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8961A20-2C7E-BF9E-ACA3-FFADEBFAD9C3}"/>
                </a:ext>
              </a:extLst>
            </p:cNvPr>
            <p:cNvSpPr/>
            <p:nvPr userDrawn="1"/>
          </p:nvSpPr>
          <p:spPr>
            <a:xfrm>
              <a:off x="7394589" y="1767285"/>
              <a:ext cx="2099276" cy="2295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임금체계</a:t>
              </a:r>
            </a:p>
          </p:txBody>
        </p:sp>
        <p:cxnSp>
          <p:nvCxnSpPr>
            <p:cNvPr id="12" name="직선 연결선 13">
              <a:extLst>
                <a:ext uri="{FF2B5EF4-FFF2-40B4-BE49-F238E27FC236}">
                  <a16:creationId xmlns:a16="http://schemas.microsoft.com/office/drawing/2014/main" id="{24958C34-4742-FFC5-7AE7-94F0AE12E24B}"/>
                </a:ext>
              </a:extLst>
            </p:cNvPr>
            <p:cNvCxnSpPr/>
            <p:nvPr userDrawn="1"/>
          </p:nvCxnSpPr>
          <p:spPr>
            <a:xfrm>
              <a:off x="7335596" y="2054012"/>
              <a:ext cx="2217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reeform 61">
            <a:extLst>
              <a:ext uri="{FF2B5EF4-FFF2-40B4-BE49-F238E27FC236}">
                <a16:creationId xmlns:a16="http://schemas.microsoft.com/office/drawing/2014/main" id="{EFA629EC-8275-3AA6-D263-B4E02A72C8F3}"/>
              </a:ext>
            </a:extLst>
          </p:cNvPr>
          <p:cNvSpPr>
            <a:spLocks/>
          </p:cNvSpPr>
          <p:nvPr/>
        </p:nvSpPr>
        <p:spPr bwMode="auto">
          <a:xfrm>
            <a:off x="7181725" y="2053338"/>
            <a:ext cx="593267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B6B0D5-11E1-D466-9BCF-0FDFB9B6F15A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시사점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0453DA5-B735-A015-8E7D-0AEE8E9E3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63450"/>
              </p:ext>
            </p:extLst>
          </p:nvPr>
        </p:nvGraphicFramePr>
        <p:xfrm>
          <a:off x="281214" y="2091173"/>
          <a:ext cx="6900510" cy="40014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0255">
                  <a:extLst>
                    <a:ext uri="{9D8B030D-6E8A-4147-A177-3AD203B41FA5}">
                      <a16:colId xmlns:a16="http://schemas.microsoft.com/office/drawing/2014/main" val="4290039752"/>
                    </a:ext>
                  </a:extLst>
                </a:gridCol>
                <a:gridCol w="3450255">
                  <a:extLst>
                    <a:ext uri="{9D8B030D-6E8A-4147-A177-3AD203B41FA5}">
                      <a16:colId xmlns:a16="http://schemas.microsoft.com/office/drawing/2014/main" val="1232985313"/>
                    </a:ext>
                  </a:extLst>
                </a:gridCol>
              </a:tblGrid>
              <a:tr h="2891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직급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기준 연봉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533033"/>
                  </a:ext>
                </a:extLst>
              </a:tr>
              <a:tr h="742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56,500,000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544027"/>
                  </a:ext>
                </a:extLst>
              </a:tr>
              <a:tr h="742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52,000,000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910"/>
                  </a:ext>
                </a:extLst>
              </a:tr>
              <a:tr h="742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47,500,000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033744"/>
                  </a:ext>
                </a:extLst>
              </a:tr>
              <a:tr h="742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42,500,000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108520"/>
                  </a:ext>
                </a:extLst>
              </a:tr>
              <a:tr h="742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사원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36,000,000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1549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4C88435-6803-3234-AF30-44189A82A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763775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연차가 높아져도 급여 상승 폭이 크지 않아 승진 유인 및 동기부여가 어려울 것으로 판단됨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성과 기반 차등 요소가 부재하여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우수 인재의 유지 및 핵심인력 확보에 어려움이 있을 것으로 판단됨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연봉이 직급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직책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에만 연동되어 있어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역할과 책임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직무가치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직무역량 등 기업의 성과와 관련된 차등 보상이 어려움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or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or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 기반의 복합적인 보상체계로 임금체계 재설계 및 </a:t>
                      </a:r>
                      <a:r>
                        <a:rPr lang="en-US" altLang="ko-KR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Payband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 필요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1589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7F9B-3872-AEE7-DDB8-E7459234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텍스트 개체 틀 85">
            <a:extLst>
              <a:ext uri="{FF2B5EF4-FFF2-40B4-BE49-F238E27FC236}">
                <a16:creationId xmlns:a16="http://schemas.microsoft.com/office/drawing/2014/main" id="{FD21206B-4F6A-E256-6B57-C1EDAAD5B4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임금제도는 직급별 </a:t>
            </a:r>
            <a:r>
              <a:rPr lang="ko-KR" altLang="en-US" dirty="0" err="1"/>
              <a:t>호봉제</a:t>
            </a:r>
            <a:r>
              <a:rPr lang="ko-KR" altLang="en-US" dirty="0"/>
              <a:t> 성격으로 운영되고 있으나</a:t>
            </a:r>
            <a:r>
              <a:rPr lang="en-US" altLang="ko-KR" dirty="0"/>
              <a:t>, </a:t>
            </a:r>
            <a:r>
              <a:rPr lang="ko-KR" altLang="en-US" dirty="0"/>
              <a:t>직급 및 호봉에 따른 명확한 임금체계가 미비한 상황이며</a:t>
            </a:r>
            <a:r>
              <a:rPr lang="en-US" altLang="ko-KR" dirty="0"/>
              <a:t>, </a:t>
            </a:r>
            <a:r>
              <a:rPr lang="ko-KR" altLang="en-US" dirty="0"/>
              <a:t>직급 간 연봉구간의 차이가 낮아 직무역량 향상 및 성과창출에 대한 동기부여 유인에 어려울 것으로 판단됨</a:t>
            </a:r>
            <a:r>
              <a:rPr lang="en-US" altLang="ko-KR" dirty="0"/>
              <a:t>.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9B09882-8CF6-10AA-B743-653BB70F02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2457C0-34FE-964D-AD29-AEF227CAC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임금체계 </a:t>
            </a:r>
            <a:r>
              <a:rPr lang="en-US" altLang="ko-KR" dirty="0"/>
              <a:t>&gt; </a:t>
            </a:r>
            <a:r>
              <a:rPr lang="ko-KR" altLang="en-US" dirty="0"/>
              <a:t>페이밴드 분석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4BAD9C-AFF3-9085-74A6-DA089694F7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29D7E7-1CD0-3D67-C4D6-09FD803E0893}"/>
              </a:ext>
            </a:extLst>
          </p:cNvPr>
          <p:cNvGrpSpPr/>
          <p:nvPr/>
        </p:nvGrpSpPr>
        <p:grpSpPr>
          <a:xfrm>
            <a:off x="281215" y="1665619"/>
            <a:ext cx="9343567" cy="286727"/>
            <a:chOff x="7335596" y="1767285"/>
            <a:chExt cx="2217262" cy="28672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5D69040-3C7C-8976-C65C-CE440D9F5E56}"/>
                </a:ext>
              </a:extLst>
            </p:cNvPr>
            <p:cNvSpPr/>
            <p:nvPr userDrawn="1"/>
          </p:nvSpPr>
          <p:spPr>
            <a:xfrm>
              <a:off x="7394589" y="1767285"/>
              <a:ext cx="2099276" cy="2295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페이밴드 분석</a:t>
              </a:r>
            </a:p>
          </p:txBody>
        </p:sp>
        <p:cxnSp>
          <p:nvCxnSpPr>
            <p:cNvPr id="12" name="직선 연결선 13">
              <a:extLst>
                <a:ext uri="{FF2B5EF4-FFF2-40B4-BE49-F238E27FC236}">
                  <a16:creationId xmlns:a16="http://schemas.microsoft.com/office/drawing/2014/main" id="{84A491CD-4D00-11BC-C703-2582BAFB07C2}"/>
                </a:ext>
              </a:extLst>
            </p:cNvPr>
            <p:cNvCxnSpPr/>
            <p:nvPr userDrawn="1"/>
          </p:nvCxnSpPr>
          <p:spPr>
            <a:xfrm>
              <a:off x="7335596" y="2054012"/>
              <a:ext cx="2217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reeform 61">
            <a:extLst>
              <a:ext uri="{FF2B5EF4-FFF2-40B4-BE49-F238E27FC236}">
                <a16:creationId xmlns:a16="http://schemas.microsoft.com/office/drawing/2014/main" id="{7A706008-9CE4-DEBD-9DE8-1EEB42167A90}"/>
              </a:ext>
            </a:extLst>
          </p:cNvPr>
          <p:cNvSpPr>
            <a:spLocks/>
          </p:cNvSpPr>
          <p:nvPr/>
        </p:nvSpPr>
        <p:spPr bwMode="auto">
          <a:xfrm>
            <a:off x="7181725" y="2053338"/>
            <a:ext cx="593267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1A699C-EEEC-EAA5-A6D5-7754CB858208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시사점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3E7A707-902E-661A-DCFA-4C4D7EE13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390759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연차가 높아져도 급여 상승 폭이 크지 않아 승진 유인 및 동기부여가 어려울 것으로 판단됨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성과 기반 차등 요소가 부재하여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우수 인재의 유지 및 핵심인력 확보에 어려움이 있을 것으로 판단됨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연봉이 직급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직책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에만 연동되어 있어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역할과 책임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직무가치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직무역량 등 기업의 성과와 관련된 차등 보상이 어려움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or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or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 기반의 복합적인 보상체계로 임금체계 재설계 및 </a:t>
                      </a:r>
                      <a:r>
                        <a:rPr lang="en-US" altLang="ko-KR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Payband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 필요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27BC58EB-EC72-4D3F-9FB2-8D554B14F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7529371"/>
              </p:ext>
            </p:extLst>
          </p:nvPr>
        </p:nvGraphicFramePr>
        <p:xfrm>
          <a:off x="281214" y="2053338"/>
          <a:ext cx="6900510" cy="2617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1C0A835-3937-57A8-A7AC-DDDB2FDE4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155072"/>
              </p:ext>
            </p:extLst>
          </p:nvPr>
        </p:nvGraphicFramePr>
        <p:xfrm>
          <a:off x="273050" y="4565654"/>
          <a:ext cx="6900512" cy="1702028"/>
        </p:xfrm>
        <a:graphic>
          <a:graphicData uri="http://schemas.openxmlformats.org/drawingml/2006/table">
            <a:tbl>
              <a:tblPr/>
              <a:tblGrid>
                <a:gridCol w="722630">
                  <a:extLst>
                    <a:ext uri="{9D8B030D-6E8A-4147-A177-3AD203B41FA5}">
                      <a16:colId xmlns:a16="http://schemas.microsoft.com/office/drawing/2014/main" val="218052405"/>
                    </a:ext>
                  </a:extLst>
                </a:gridCol>
                <a:gridCol w="1029647">
                  <a:extLst>
                    <a:ext uri="{9D8B030D-6E8A-4147-A177-3AD203B41FA5}">
                      <a16:colId xmlns:a16="http://schemas.microsoft.com/office/drawing/2014/main" val="325431372"/>
                    </a:ext>
                  </a:extLst>
                </a:gridCol>
                <a:gridCol w="1029647">
                  <a:extLst>
                    <a:ext uri="{9D8B030D-6E8A-4147-A177-3AD203B41FA5}">
                      <a16:colId xmlns:a16="http://schemas.microsoft.com/office/drawing/2014/main" val="990282510"/>
                    </a:ext>
                  </a:extLst>
                </a:gridCol>
                <a:gridCol w="1029647">
                  <a:extLst>
                    <a:ext uri="{9D8B030D-6E8A-4147-A177-3AD203B41FA5}">
                      <a16:colId xmlns:a16="http://schemas.microsoft.com/office/drawing/2014/main" val="3130864628"/>
                    </a:ext>
                  </a:extLst>
                </a:gridCol>
                <a:gridCol w="1029647">
                  <a:extLst>
                    <a:ext uri="{9D8B030D-6E8A-4147-A177-3AD203B41FA5}">
                      <a16:colId xmlns:a16="http://schemas.microsoft.com/office/drawing/2014/main" val="3124553372"/>
                    </a:ext>
                  </a:extLst>
                </a:gridCol>
                <a:gridCol w="1029647">
                  <a:extLst>
                    <a:ext uri="{9D8B030D-6E8A-4147-A177-3AD203B41FA5}">
                      <a16:colId xmlns:a16="http://schemas.microsoft.com/office/drawing/2014/main" val="1087833794"/>
                    </a:ext>
                  </a:extLst>
                </a:gridCol>
                <a:gridCol w="1029647">
                  <a:extLst>
                    <a:ext uri="{9D8B030D-6E8A-4147-A177-3AD203B41FA5}">
                      <a16:colId xmlns:a16="http://schemas.microsoft.com/office/drawing/2014/main" val="512619196"/>
                    </a:ext>
                  </a:extLst>
                </a:gridCol>
              </a:tblGrid>
              <a:tr h="2042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인턴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사원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주임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과장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차장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182733"/>
                  </a:ext>
                </a:extLst>
              </a:tr>
              <a:tr h="18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해당 인원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838286"/>
                  </a:ext>
                </a:extLst>
              </a:tr>
              <a:tr h="18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최대값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32,000,000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42,500,000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47,500,000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52,000,000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56,500,000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65,000,000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543579"/>
                  </a:ext>
                </a:extLst>
              </a:tr>
              <a:tr h="18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최소값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32,000,000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36,000,000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42,500,000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47,500,000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52,000,000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56,500,000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71508"/>
                  </a:ext>
                </a:extLst>
              </a:tr>
              <a:tr h="18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평균값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32,000,000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39,250,000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45,000,000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49,750,000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54,250,000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   </a:t>
                      </a:r>
                      <a:r>
                        <a:rPr lang="en-US" altLang="ko-KR" sz="1100" u="none" strike="noStrike">
                          <a:effectLst/>
                        </a:rPr>
                        <a:t>60,750,000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483688"/>
                  </a:ext>
                </a:extLst>
              </a:tr>
              <a:tr h="18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 err="1">
                          <a:effectLst/>
                        </a:rPr>
                        <a:t>중위값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32,000,000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39,250,000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45,000,000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49,750,000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54,250,000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60,750,000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059286"/>
                  </a:ext>
                </a:extLst>
              </a:tr>
              <a:tr h="18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 err="1">
                          <a:effectLst/>
                        </a:rPr>
                        <a:t>임금폭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18%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15%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644663"/>
                  </a:ext>
                </a:extLst>
              </a:tr>
              <a:tr h="18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상승폭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23%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15%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11%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9%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12%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152428"/>
                  </a:ext>
                </a:extLst>
              </a:tr>
              <a:tr h="187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 err="1">
                          <a:effectLst/>
                        </a:rPr>
                        <a:t>중복률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818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799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BCA4-323A-EC98-589F-72C5F9F5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텍스트 개체 틀 85">
            <a:extLst>
              <a:ext uri="{FF2B5EF4-FFF2-40B4-BE49-F238E27FC236}">
                <a16:creationId xmlns:a16="http://schemas.microsoft.com/office/drawing/2014/main" id="{3FA15513-008D-3BA2-296F-697FFD24AE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평가제도는 현재 운영되지 않고 있으나</a:t>
            </a:r>
            <a:r>
              <a:rPr lang="en-US" altLang="ko-KR" dirty="0"/>
              <a:t>, </a:t>
            </a:r>
            <a:r>
              <a:rPr lang="ko-KR" altLang="en-US" dirty="0"/>
              <a:t>임금</a:t>
            </a:r>
            <a:r>
              <a:rPr lang="en-US" altLang="ko-KR" dirty="0"/>
              <a:t>·</a:t>
            </a:r>
            <a:r>
              <a:rPr lang="ko-KR" altLang="en-US" dirty="0"/>
              <a:t>평가</a:t>
            </a:r>
            <a:r>
              <a:rPr lang="en-US" altLang="ko-KR" dirty="0"/>
              <a:t>·</a:t>
            </a:r>
            <a:r>
              <a:rPr lang="ko-KR" altLang="en-US" dirty="0"/>
              <a:t>승진</a:t>
            </a:r>
            <a:r>
              <a:rPr lang="en-US" altLang="ko-KR" dirty="0"/>
              <a:t> </a:t>
            </a:r>
            <a:r>
              <a:rPr lang="ko-KR" altLang="en-US" dirty="0"/>
              <a:t>등 </a:t>
            </a:r>
            <a:r>
              <a:rPr lang="en-US" altLang="ko-KR" dirty="0"/>
              <a:t>HR </a:t>
            </a:r>
            <a:r>
              <a:rPr lang="ko-KR" altLang="en-US" dirty="0"/>
              <a:t>영역에 있어 공정성에 대한 이슈가 발생하고 있어</a:t>
            </a:r>
            <a:r>
              <a:rPr lang="en-US" altLang="ko-KR" dirty="0"/>
              <a:t>, HR </a:t>
            </a:r>
            <a:r>
              <a:rPr lang="ko-KR" altLang="en-US" dirty="0"/>
              <a:t>부서에서 평가제도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r>
              <a:rPr lang="ko-KR" altLang="en-US" dirty="0"/>
              <a:t>을 수립하여 도입을 준비중에 있음</a:t>
            </a:r>
            <a:r>
              <a:rPr lang="en-US" altLang="ko-KR" dirty="0"/>
              <a:t>.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5DDF3FB-00D5-8795-880C-774E94C9B8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C179DB-DE91-3677-2BC8-F9681FDA69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조직관리 및 평가 </a:t>
            </a:r>
            <a:r>
              <a:rPr lang="en-US" altLang="ko-KR" dirty="0"/>
              <a:t>&gt;</a:t>
            </a:r>
            <a:r>
              <a:rPr lang="ko-KR" altLang="en-US" dirty="0"/>
              <a:t> 평가제도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870C63-E4E5-63C6-4277-DBA1B307EF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C3AB789-5898-9202-90A2-CB6EC560BEA1}"/>
              </a:ext>
            </a:extLst>
          </p:cNvPr>
          <p:cNvGrpSpPr/>
          <p:nvPr/>
        </p:nvGrpSpPr>
        <p:grpSpPr>
          <a:xfrm>
            <a:off x="174988" y="1665619"/>
            <a:ext cx="3310277" cy="286727"/>
            <a:chOff x="7289625" y="1767285"/>
            <a:chExt cx="2309204" cy="286727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B86C2F5-08BD-3D0A-658E-3F451E1954D8}"/>
                </a:ext>
              </a:extLst>
            </p:cNvPr>
            <p:cNvSpPr/>
            <p:nvPr userDrawn="1"/>
          </p:nvSpPr>
          <p:spPr>
            <a:xfrm>
              <a:off x="7289625" y="1767285"/>
              <a:ext cx="2309204" cy="229577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현행 평가제도</a:t>
              </a:r>
            </a:p>
          </p:txBody>
        </p:sp>
        <p:cxnSp>
          <p:nvCxnSpPr>
            <p:cNvPr id="39" name="직선 연결선 69">
              <a:extLst>
                <a:ext uri="{FF2B5EF4-FFF2-40B4-BE49-F238E27FC236}">
                  <a16:creationId xmlns:a16="http://schemas.microsoft.com/office/drawing/2014/main" id="{18F76D09-03C0-49A7-5BB2-E070331D85A2}"/>
                </a:ext>
              </a:extLst>
            </p:cNvPr>
            <p:cNvCxnSpPr/>
            <p:nvPr userDrawn="1"/>
          </p:nvCxnSpPr>
          <p:spPr>
            <a:xfrm>
              <a:off x="7323746" y="2054012"/>
              <a:ext cx="2217262" cy="0"/>
            </a:xfrm>
            <a:prstGeom prst="line">
              <a:avLst/>
            </a:prstGeom>
            <a:noFill/>
            <a:ln w="6350" cap="flat" cmpd="sng" algn="ctr">
              <a:solidFill>
                <a:srgbClr val="4F81BD"/>
              </a:solidFill>
              <a:prstDash val="solid"/>
              <a:miter lim="800000"/>
            </a:ln>
            <a:effectLst/>
          </p:spPr>
        </p:cxn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5CE3BB8-0773-25B8-9195-E0E0A4AADE1D}"/>
              </a:ext>
            </a:extLst>
          </p:cNvPr>
          <p:cNvGrpSpPr/>
          <p:nvPr/>
        </p:nvGrpSpPr>
        <p:grpSpPr>
          <a:xfrm>
            <a:off x="3632497" y="1665619"/>
            <a:ext cx="3547885" cy="286727"/>
            <a:chOff x="7323746" y="1767285"/>
            <a:chExt cx="2474956" cy="286727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E7B74E2-28D4-1992-9C19-459F1CA630A8}"/>
                </a:ext>
              </a:extLst>
            </p:cNvPr>
            <p:cNvSpPr/>
            <p:nvPr userDrawn="1"/>
          </p:nvSpPr>
          <p:spPr>
            <a:xfrm>
              <a:off x="7406621" y="1767285"/>
              <a:ext cx="2309204" cy="229577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kern="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평가 기준</a:t>
              </a:r>
              <a:r>
                <a:rPr lang="en-US" altLang="ko-KR" sz="1400" b="1" kern="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ko-KR" altLang="en-US" sz="1400" b="1" kern="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안</a:t>
              </a:r>
              <a:r>
                <a:rPr lang="en-US" altLang="ko-KR" sz="1400" b="1" kern="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endParaRPr>
            </a:p>
          </p:txBody>
        </p:sp>
        <p:cxnSp>
          <p:nvCxnSpPr>
            <p:cNvPr id="48" name="직선 연결선 27">
              <a:extLst>
                <a:ext uri="{FF2B5EF4-FFF2-40B4-BE49-F238E27FC236}">
                  <a16:creationId xmlns:a16="http://schemas.microsoft.com/office/drawing/2014/main" id="{9E706A3E-C198-F054-0693-946EFC75E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323746" y="2054012"/>
              <a:ext cx="2474956" cy="0"/>
            </a:xfrm>
            <a:prstGeom prst="line">
              <a:avLst/>
            </a:prstGeom>
            <a:noFill/>
            <a:ln w="6350" cap="flat" cmpd="sng" algn="ctr">
              <a:solidFill>
                <a:srgbClr val="4F81BD"/>
              </a:solidFill>
              <a:prstDash val="solid"/>
              <a:miter lim="800000"/>
            </a:ln>
            <a:effectLst/>
          </p:spPr>
        </p:cxnSp>
      </p:grpSp>
      <p:sp>
        <p:nvSpPr>
          <p:cNvPr id="55" name="직사각형 44">
            <a:extLst>
              <a:ext uri="{FF2B5EF4-FFF2-40B4-BE49-F238E27FC236}">
                <a16:creationId xmlns:a16="http://schemas.microsoft.com/office/drawing/2014/main" id="{297A4912-B4C1-F304-F918-B4C0AF8AD40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7975" y="2113017"/>
            <a:ext cx="3094403" cy="4097491"/>
          </a:xfrm>
          <a:prstGeom prst="rect">
            <a:avLst/>
          </a:prstGeom>
          <a:solidFill>
            <a:schemeClr val="bg1"/>
          </a:solidFill>
          <a:ln w="6350" algn="ctr">
            <a:noFill/>
            <a:round/>
            <a:headEnd/>
            <a:tailEnd/>
          </a:ln>
        </p:spPr>
        <p:txBody>
          <a:bodyPr lIns="0" tIns="0" rIns="0" bIns="0" anchor="t"/>
          <a:lstStyle/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기업 내부적으로 운영하고 있는 공식적인 평가제도는 미비한 상황임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평가에 대한 부정적 인식이 존재하나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임금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평가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승진에 대한 기준이 부재하여 공정성 문제가 야기되고 있음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HR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부서에서 최근 평가제도 도입을 위해 근무 평정 계획을 수립하였음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 latinLnBrk="0">
              <a:defRPr/>
            </a:pP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평가제도 계획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)]</a:t>
            </a:r>
          </a:p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목적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9250" lvl="1" indent="-171450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객관적이고 공정한 평가를 통해 구성원의 역량과 성과를 체계적으로 파악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9250" lvl="1" indent="-171450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성과 중심의 인사관리 기반 마련 및 승진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보상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인재 육성의 기준 제공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9250" lvl="1" indent="-171450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조직의 지속가능한 성장과 구성원의 발전을 동시에 도모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평정 주기 및 운영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9250" lvl="1" indent="-171450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2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회 실시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(6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초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12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초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349250" lvl="1" indent="-171450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평정 결과는 익월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(7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1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승진 심사에 반영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평가 방식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9250" lvl="1" indent="-171450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상사평가 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동료간 평가 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자기평가 병행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9250" lvl="1" indent="-171450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각 평가 항목은 가중치가 적용된 정량적 기준에 따라 점수화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9250" lvl="1" indent="-171450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평가결과는 연봉 조정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승진 심사</a:t>
            </a:r>
            <a:r>
              <a:rPr lang="en-US" altLang="ko-KR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50" kern="0" spc="-50" dirty="0">
                <a:ln w="0"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교육훈련 등에 반영</a:t>
            </a:r>
            <a:endParaRPr lang="en-US" altLang="ko-KR" sz="1050" kern="0" spc="-50" dirty="0">
              <a:ln w="0">
                <a:solidFill>
                  <a:prstClr val="black">
                    <a:alpha val="5000"/>
                  </a:prstClr>
                </a:solidFill>
              </a:ln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Freeform 61">
            <a:extLst>
              <a:ext uri="{FF2B5EF4-FFF2-40B4-BE49-F238E27FC236}">
                <a16:creationId xmlns:a16="http://schemas.microsoft.com/office/drawing/2014/main" id="{631A7A52-99D5-2F6B-07B3-4B8C9ED52F0C}"/>
              </a:ext>
            </a:extLst>
          </p:cNvPr>
          <p:cNvSpPr>
            <a:spLocks/>
          </p:cNvSpPr>
          <p:nvPr/>
        </p:nvSpPr>
        <p:spPr bwMode="auto">
          <a:xfrm>
            <a:off x="7181725" y="2053338"/>
            <a:ext cx="593267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84A5F7-141C-24BB-3E93-4BD6F50E3313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시사점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52783F2-E6FB-BBC7-16D0-DC56388C6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452923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현재 평가제도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구성되어 있으나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공식적인 운영과 평가 문화 정착에 대한 우려 존재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평가제도의 신뢰성과 수용성 확보가 필요함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결과가 보상제도와 직접적으로 연계될 경우 평가제도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역량 평가 중심의 평가 지표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결과에 대한 심리적 저항과 부작용 가능성 존재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평가제도를 처음 도입하는 시기를 고려하여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구성원들의 심리적 저항과 부작용을 최소화 하며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역량개발과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성고관리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도구로 인식할 수 있는 접근 방법 고려 필요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0554FAE8-75E2-71A6-4036-53FE7A023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496" y="2031986"/>
            <a:ext cx="3549228" cy="21073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7B46BD-08A1-A00A-A302-44CCE671F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363" y="4139328"/>
            <a:ext cx="3496018" cy="197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177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1DB53-691F-768C-8519-34617EBF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8D1545B-F209-BF71-27AB-B7958DB3B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09250"/>
              </p:ext>
            </p:extLst>
          </p:nvPr>
        </p:nvGraphicFramePr>
        <p:xfrm>
          <a:off x="273056" y="1680370"/>
          <a:ext cx="9359890" cy="36004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7064">
                  <a:extLst>
                    <a:ext uri="{9D8B030D-6E8A-4147-A177-3AD203B41FA5}">
                      <a16:colId xmlns:a16="http://schemas.microsoft.com/office/drawing/2014/main" val="4211589562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3551560933"/>
                    </a:ext>
                  </a:extLst>
                </a:gridCol>
                <a:gridCol w="835152">
                  <a:extLst>
                    <a:ext uri="{9D8B030D-6E8A-4147-A177-3AD203B41FA5}">
                      <a16:colId xmlns:a16="http://schemas.microsoft.com/office/drawing/2014/main" val="127414305"/>
                    </a:ext>
                  </a:extLst>
                </a:gridCol>
                <a:gridCol w="835152">
                  <a:extLst>
                    <a:ext uri="{9D8B030D-6E8A-4147-A177-3AD203B41FA5}">
                      <a16:colId xmlns:a16="http://schemas.microsoft.com/office/drawing/2014/main" val="3538298451"/>
                    </a:ext>
                  </a:extLst>
                </a:gridCol>
                <a:gridCol w="835152">
                  <a:extLst>
                    <a:ext uri="{9D8B030D-6E8A-4147-A177-3AD203B41FA5}">
                      <a16:colId xmlns:a16="http://schemas.microsoft.com/office/drawing/2014/main" val="3816109508"/>
                    </a:ext>
                  </a:extLst>
                </a:gridCol>
                <a:gridCol w="1723644">
                  <a:extLst>
                    <a:ext uri="{9D8B030D-6E8A-4147-A177-3AD203B41FA5}">
                      <a16:colId xmlns:a16="http://schemas.microsoft.com/office/drawing/2014/main" val="2700592127"/>
                    </a:ext>
                  </a:extLst>
                </a:gridCol>
                <a:gridCol w="699516">
                  <a:extLst>
                    <a:ext uri="{9D8B030D-6E8A-4147-A177-3AD203B41FA5}">
                      <a16:colId xmlns:a16="http://schemas.microsoft.com/office/drawing/2014/main" val="1009179564"/>
                    </a:ext>
                  </a:extLst>
                </a:gridCol>
                <a:gridCol w="2262882">
                  <a:extLst>
                    <a:ext uri="{9D8B030D-6E8A-4147-A177-3AD203B41FA5}">
                      <a16:colId xmlns:a16="http://schemas.microsoft.com/office/drawing/2014/main" val="4051793886"/>
                    </a:ext>
                  </a:extLst>
                </a:gridCol>
              </a:tblGrid>
              <a:tr h="27376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분야</a:t>
                      </a: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요구사항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사전진단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제도운영현황분석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884276"/>
                  </a:ext>
                </a:extLst>
              </a:tr>
              <a:tr h="273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수혜기관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수행기관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진단결과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제도운영 현황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성숙도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주요 개선 이슈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41" marR="9341" marT="934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885953"/>
                  </a:ext>
                </a:extLst>
              </a:tr>
              <a:tr h="17363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근로시간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근로시간 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심화검토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유연근무제 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유연근무제 개선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560002"/>
                  </a:ext>
                </a:extLst>
              </a:tr>
              <a:tr h="1736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근무체계 개편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759406"/>
                  </a:ext>
                </a:extLst>
              </a:tr>
              <a:tr h="17363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임금체계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임금관리체계 개선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심화검토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임금체계 미흡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호봉제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성격의 직급별 임금기준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임금체계 재설계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224678"/>
                  </a:ext>
                </a:extLst>
              </a:tr>
              <a:tr h="17363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임금체계 재설계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914644"/>
                  </a:ext>
                </a:extLst>
              </a:tr>
              <a:tr h="17363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근로자 </a:t>
                      </a:r>
                      <a:b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참여및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협력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노사협의회활성화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노사협의회 부재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(2025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 노사협의회 구축 예정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노사협의회 구축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958958"/>
                  </a:ext>
                </a:extLst>
              </a:tr>
              <a:tr h="17363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노사파트너십 증진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전문검토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35424"/>
                  </a:ext>
                </a:extLst>
              </a:tr>
              <a:tr h="17363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참여적 혁신활동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679043"/>
                  </a:ext>
                </a:extLst>
              </a:tr>
              <a:tr h="17363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직장문화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일가정양립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프로그램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정기적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주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간담회 운영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개선사항 없음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218127"/>
                  </a:ext>
                </a:extLst>
              </a:tr>
              <a:tr h="1736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직장내 괴롭힘</a:t>
                      </a:r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성희롱예방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878112"/>
                  </a:ext>
                </a:extLst>
              </a:tr>
              <a:tr h="17363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직무역량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학습체계 기준 수립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학습체계 및 기준 부재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학습체계 구축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748381"/>
                  </a:ext>
                </a:extLst>
              </a:tr>
              <a:tr h="1736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학습체계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전문검토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740850"/>
                  </a:ext>
                </a:extLst>
              </a:tr>
              <a:tr h="17363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조직관리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직무분석 및 업무 정의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직무기술서 활용 미비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평가체계 도입 준비 중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기존 직무기술서 고도화 필요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평가체계 구축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593263"/>
                  </a:ext>
                </a:extLst>
              </a:tr>
              <a:tr h="164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업무기능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872511"/>
                  </a:ext>
                </a:extLst>
              </a:tr>
              <a:tr h="20927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평가체계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수준검토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94021"/>
                  </a:ext>
                </a:extLst>
              </a:tr>
              <a:tr h="210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공정채용</a:t>
                      </a:r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채용제도 진단</a:t>
                      </a:r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4.00 </a:t>
                      </a:r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3.67 </a:t>
                      </a:r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심화검토</a:t>
                      </a:r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실무 인력 확보에 어려움을 겪고 있음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채용제도 구축 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311242"/>
                  </a:ext>
                </a:extLst>
              </a:tr>
              <a:tr h="21096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채용제도 마련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06177"/>
                  </a:ext>
                </a:extLst>
              </a:tr>
              <a:tr h="173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장년친화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장년친화 인사제도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임금피크제 운영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개선사항 없음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2135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4A23EC0-CCF0-D0DF-0AAA-1F83A08F48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2"/>
            <a:ext cx="9359900" cy="557271"/>
          </a:xfrm>
        </p:spPr>
        <p:txBody>
          <a:bodyPr/>
          <a:lstStyle/>
          <a:p>
            <a:r>
              <a:rPr lang="ko-KR" altLang="en-US" dirty="0"/>
              <a:t>사전진단 결과 및 제도운영 현황에 따른 주요 개선 이슈를 종합적으로 진단하여 일터혁신 제도 성숙도를 진단한 결과는 다음과 같으며</a:t>
            </a:r>
            <a:r>
              <a:rPr lang="en-US" altLang="ko-KR" dirty="0"/>
              <a:t>, </a:t>
            </a:r>
            <a:r>
              <a:rPr lang="ko-KR" altLang="en-US" dirty="0"/>
              <a:t>현재 일터혁신 </a:t>
            </a:r>
            <a:r>
              <a:rPr lang="ko-KR" altLang="en-US" dirty="0" err="1"/>
              <a:t>제도성숙도는</a:t>
            </a:r>
            <a:r>
              <a:rPr lang="ko-KR" altLang="en-US" dirty="0"/>
              <a:t> </a:t>
            </a:r>
            <a:r>
              <a:rPr lang="en-US" altLang="ko-KR" dirty="0"/>
              <a:t>Level2. </a:t>
            </a:r>
            <a:r>
              <a:rPr lang="ko-KR" altLang="en-US" dirty="0"/>
              <a:t>필요인식 수준으로 판단됨</a:t>
            </a:r>
            <a:r>
              <a:rPr lang="en-US" altLang="ko-KR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B618E6-67F1-9DAF-3049-8C402B8DC3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제도분석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02D290-C0C2-383E-DB6E-238DB068DF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제도분석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요약 및 시사점</a:t>
            </a:r>
          </a:p>
        </p:txBody>
      </p:sp>
      <p:sp>
        <p:nvSpPr>
          <p:cNvPr id="57" name="텍스트 개체 틀 56">
            <a:extLst>
              <a:ext uri="{FF2B5EF4-FFF2-40B4-BE49-F238E27FC236}">
                <a16:creationId xmlns:a16="http://schemas.microsoft.com/office/drawing/2014/main" id="{7C0DBDD3-9C0C-5230-4164-CD0C8FAE3A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D42368B-4E56-686A-FF79-413DD2A53806}"/>
              </a:ext>
            </a:extLst>
          </p:cNvPr>
          <p:cNvGrpSpPr/>
          <p:nvPr/>
        </p:nvGrpSpPr>
        <p:grpSpPr>
          <a:xfrm>
            <a:off x="8764055" y="1128933"/>
            <a:ext cx="868892" cy="449120"/>
            <a:chOff x="10173842" y="3755393"/>
            <a:chExt cx="868892" cy="449120"/>
          </a:xfrm>
        </p:grpSpPr>
        <p:sp>
          <p:nvSpPr>
            <p:cNvPr id="11" name="Rectangle 38">
              <a:extLst>
                <a:ext uri="{FF2B5EF4-FFF2-40B4-BE49-F238E27FC236}">
                  <a16:creationId xmlns:a16="http://schemas.microsoft.com/office/drawing/2014/main" id="{4A57206E-0DC8-5BE0-0E23-A073AE44C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4807" y="4079020"/>
              <a:ext cx="387927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fontAlgn="t" latinLnBrk="0">
                <a:spcAft>
                  <a:spcPct val="5000"/>
                </a:spcAft>
              </a:pPr>
              <a:r>
                <a:rPr kumimoji="0" lang="ko-KR" altLang="en-US" sz="800" b="0" dirty="0">
                  <a:solidFill>
                    <a:prstClr val="black"/>
                  </a:solidFill>
                  <a:latin typeface="+mn-ea"/>
                  <a:ea typeface="+mn-ea"/>
                </a:rPr>
                <a:t>매우 높음</a:t>
              </a:r>
              <a:endParaRPr kumimoji="0" lang="en-US" altLang="ko-KR" sz="800" b="0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2" name="Rectangle 38">
              <a:extLst>
                <a:ext uri="{FF2B5EF4-FFF2-40B4-BE49-F238E27FC236}">
                  <a16:creationId xmlns:a16="http://schemas.microsoft.com/office/drawing/2014/main" id="{8544E7F3-2DDA-DBDA-CFCA-A78DF87F7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3842" y="4081402"/>
              <a:ext cx="387927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fontAlgn="t" latinLnBrk="0">
                <a:spcAft>
                  <a:spcPct val="5000"/>
                </a:spcAft>
              </a:pPr>
              <a:r>
                <a:rPr kumimoji="0" lang="ko-KR" altLang="en-US" sz="800" b="0" dirty="0">
                  <a:solidFill>
                    <a:prstClr val="black"/>
                  </a:solidFill>
                  <a:latin typeface="+mn-ea"/>
                  <a:ea typeface="+mn-ea"/>
                </a:rPr>
                <a:t>매우 낮음</a:t>
              </a:r>
              <a:endParaRPr kumimoji="0" lang="en-US" altLang="ko-KR" sz="800" b="0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5952338-342A-45B0-C3F3-E6C7F6ED46D5}"/>
                </a:ext>
              </a:extLst>
            </p:cNvPr>
            <p:cNvSpPr/>
            <p:nvPr/>
          </p:nvSpPr>
          <p:spPr bwMode="auto">
            <a:xfrm>
              <a:off x="10763847" y="3858235"/>
              <a:ext cx="144000" cy="144000"/>
            </a:xfrm>
            <a:prstGeom prst="ellipse">
              <a:avLst/>
            </a:prstGeom>
            <a:solidFill>
              <a:schemeClr val="tx1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1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9D4921B-9019-CE26-2D78-E3CDD4E6BB58}"/>
                </a:ext>
              </a:extLst>
            </p:cNvPr>
            <p:cNvSpPr/>
            <p:nvPr/>
          </p:nvSpPr>
          <p:spPr bwMode="auto">
            <a:xfrm>
              <a:off x="10279753" y="3858235"/>
              <a:ext cx="144000" cy="144000"/>
            </a:xfrm>
            <a:prstGeom prst="ellipse">
              <a:avLst/>
            </a:prstGeom>
            <a:solidFill>
              <a:schemeClr val="bg1"/>
            </a:solidFill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10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72FCBD2-E040-EDAA-A204-A45D794B49E9}"/>
                </a:ext>
              </a:extLst>
            </p:cNvPr>
            <p:cNvSpPr txBox="1"/>
            <p:nvPr/>
          </p:nvSpPr>
          <p:spPr>
            <a:xfrm>
              <a:off x="10318803" y="3755393"/>
              <a:ext cx="500217" cy="349684"/>
            </a:xfrm>
            <a:prstGeom prst="rect">
              <a:avLst/>
            </a:prstGeom>
            <a:noFill/>
            <a:ln w="3175">
              <a:noFill/>
              <a:prstDash val="sysDash"/>
            </a:ln>
          </p:spPr>
          <p:txBody>
            <a:bodyPr wrap="none" lIns="36000" rIns="36000" rtlCol="0" anchor="ctr">
              <a:noAutofit/>
            </a:bodyPr>
            <a:lstStyle/>
            <a:p>
              <a:pPr marL="92075" indent="-92075" algn="ctr">
                <a:spcBef>
                  <a:spcPts val="0"/>
                </a:spcBef>
                <a:buNone/>
              </a:pPr>
              <a:r>
                <a:rPr lang="ko-KR" altLang="en-US" sz="900" dirty="0">
                  <a:latin typeface="+mn-ea"/>
                </a:rPr>
                <a:t>↔</a:t>
              </a: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07528C9-13C6-83D3-5BA4-2E77F0442611}"/>
              </a:ext>
            </a:extLst>
          </p:cNvPr>
          <p:cNvGraphicFramePr>
            <a:graphicFrameLocks noGrp="1"/>
          </p:cNvGraphicFramePr>
          <p:nvPr/>
        </p:nvGraphicFramePr>
        <p:xfrm>
          <a:off x="273053" y="5485167"/>
          <a:ext cx="9359892" cy="7971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1940">
                  <a:extLst>
                    <a:ext uri="{9D8B030D-6E8A-4147-A177-3AD203B41FA5}">
                      <a16:colId xmlns:a16="http://schemas.microsoft.com/office/drawing/2014/main" val="2555173832"/>
                    </a:ext>
                  </a:extLst>
                </a:gridCol>
                <a:gridCol w="1971988">
                  <a:extLst>
                    <a:ext uri="{9D8B030D-6E8A-4147-A177-3AD203B41FA5}">
                      <a16:colId xmlns:a16="http://schemas.microsoft.com/office/drawing/2014/main" val="1443954011"/>
                    </a:ext>
                  </a:extLst>
                </a:gridCol>
                <a:gridCol w="1971988">
                  <a:extLst>
                    <a:ext uri="{9D8B030D-6E8A-4147-A177-3AD203B41FA5}">
                      <a16:colId xmlns:a16="http://schemas.microsoft.com/office/drawing/2014/main" val="2545860294"/>
                    </a:ext>
                  </a:extLst>
                </a:gridCol>
                <a:gridCol w="1971988">
                  <a:extLst>
                    <a:ext uri="{9D8B030D-6E8A-4147-A177-3AD203B41FA5}">
                      <a16:colId xmlns:a16="http://schemas.microsoft.com/office/drawing/2014/main" val="148010419"/>
                    </a:ext>
                  </a:extLst>
                </a:gridCol>
                <a:gridCol w="1971988">
                  <a:extLst>
                    <a:ext uri="{9D8B030D-6E8A-4147-A177-3AD203B41FA5}">
                      <a16:colId xmlns:a16="http://schemas.microsoft.com/office/drawing/2014/main" val="3841016016"/>
                    </a:ext>
                  </a:extLst>
                </a:gridCol>
              </a:tblGrid>
              <a:tr h="1974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일터혁신 제도성숙도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 1 : </a:t>
                      </a: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무관심</a:t>
                      </a:r>
                      <a:endParaRPr 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 2 : </a:t>
                      </a: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필요인식</a:t>
                      </a:r>
                      <a:endParaRPr 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 3 : </a:t>
                      </a: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제도운영</a:t>
                      </a:r>
                      <a:endParaRPr 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 4 : </a:t>
                      </a: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내재화</a:t>
                      </a:r>
                      <a:endParaRPr 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633262"/>
                  </a:ext>
                </a:extLst>
              </a:tr>
              <a:tr h="2153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등급기준</a:t>
                      </a:r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</a:t>
                      </a:r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1.0~1.9</a:t>
                      </a:r>
                      <a:endParaRPr lang="ko-KR" alt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2.0~2.9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3.0~3.9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4.0~4.9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177983"/>
                  </a:ext>
                </a:extLst>
              </a:tr>
              <a:tr h="3843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등급설명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관련제도가 전혀 없는 상태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최근 새로운 제도를 도입하거나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도입을 시도한 상태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상당기간 제도를 운영하며</a:t>
                      </a:r>
                      <a:b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 개선을 시도한 상태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제도가 최적화되어 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문화적으로 내재화된 상태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497438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442AF24A-F866-BDEF-6336-487E316BCF96}"/>
              </a:ext>
            </a:extLst>
          </p:cNvPr>
          <p:cNvGrpSpPr/>
          <p:nvPr/>
        </p:nvGrpSpPr>
        <p:grpSpPr>
          <a:xfrm>
            <a:off x="10211220" y="800152"/>
            <a:ext cx="1222408" cy="652408"/>
            <a:chOff x="10193153" y="1828800"/>
            <a:chExt cx="1222408" cy="65240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80EE36-128E-487E-CF41-078E62034D3C}"/>
                </a:ext>
              </a:extLst>
            </p:cNvPr>
            <p:cNvSpPr txBox="1"/>
            <p:nvPr/>
          </p:nvSpPr>
          <p:spPr>
            <a:xfrm>
              <a:off x="10193153" y="1828800"/>
              <a:ext cx="1222408" cy="6524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  <a:prstDash val="sysDash"/>
            </a:ln>
          </p:spPr>
          <p:txBody>
            <a:bodyPr wrap="square" lIns="36000" rIns="36000" rtlCol="0" anchor="ctr">
              <a:noAutofit/>
            </a:bodyPr>
            <a:lstStyle/>
            <a:p>
              <a:pPr marL="92075" indent="-92075" algn="ctr">
                <a:spcBef>
                  <a:spcPts val="0"/>
                </a:spcBef>
                <a:buNone/>
              </a:pPr>
              <a:r>
                <a:rPr lang="en-US" altLang="ko-KR" sz="1050" dirty="0"/>
                <a:t>5</a:t>
              </a:r>
              <a:r>
                <a:rPr lang="ko-KR" altLang="en-US" sz="1050" dirty="0"/>
                <a:t>점 척도로 진단</a:t>
              </a:r>
              <a:endParaRPr lang="en-US" altLang="ko-KR" sz="1050" dirty="0"/>
            </a:p>
            <a:p>
              <a:pPr marL="92075" indent="-92075" algn="ctr">
                <a:spcBef>
                  <a:spcPts val="0"/>
                </a:spcBef>
                <a:buNone/>
              </a:pPr>
              <a:endParaRPr lang="en-US" altLang="ko-KR" sz="1050" dirty="0"/>
            </a:p>
            <a:p>
              <a:pPr marL="92075" indent="-92075" algn="ctr">
                <a:spcBef>
                  <a:spcPts val="0"/>
                </a:spcBef>
                <a:buNone/>
              </a:pPr>
              <a:endParaRPr lang="ko-KR" altLang="en-US" sz="1050" dirty="0"/>
            </a:p>
          </p:txBody>
        </p:sp>
        <p:pic>
          <p:nvPicPr>
            <p:cNvPr id="9" name="그림 8" descr="원이(가) 표시된 사진&#10;&#10;자동 생성된 설명">
              <a:extLst>
                <a:ext uri="{FF2B5EF4-FFF2-40B4-BE49-F238E27FC236}">
                  <a16:creationId xmlns:a16="http://schemas.microsoft.com/office/drawing/2014/main" id="{04DCF6C9-6B66-7DB6-8C01-C830D9429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8952" y="2124237"/>
              <a:ext cx="171798" cy="171798"/>
            </a:xfrm>
            <a:prstGeom prst="rect">
              <a:avLst/>
            </a:prstGeom>
          </p:spPr>
        </p:pic>
        <p:pic>
          <p:nvPicPr>
            <p:cNvPr id="25" name="그림 24" descr="로고, 상징, 화이트이(가) 표시된 사진&#10;&#10;자동 생성된 설명">
              <a:extLst>
                <a:ext uri="{FF2B5EF4-FFF2-40B4-BE49-F238E27FC236}">
                  <a16:creationId xmlns:a16="http://schemas.microsoft.com/office/drawing/2014/main" id="{E45DB0A4-8737-B82B-92F0-CC51E50B4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1284" y="2124237"/>
              <a:ext cx="171798" cy="171798"/>
            </a:xfrm>
            <a:prstGeom prst="rect">
              <a:avLst/>
            </a:prstGeom>
          </p:spPr>
        </p:pic>
        <p:pic>
          <p:nvPicPr>
            <p:cNvPr id="27" name="그림 26" descr="로고, 블랙이(가) 표시된 사진&#10;&#10;자동 생성된 설명">
              <a:extLst>
                <a:ext uri="{FF2B5EF4-FFF2-40B4-BE49-F238E27FC236}">
                  <a16:creationId xmlns:a16="http://schemas.microsoft.com/office/drawing/2014/main" id="{4F5B1E0D-60B6-BBE7-93EC-8E0A30AC1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13616" y="2122852"/>
              <a:ext cx="171798" cy="174569"/>
            </a:xfrm>
            <a:prstGeom prst="rect">
              <a:avLst/>
            </a:prstGeom>
          </p:spPr>
        </p:pic>
        <p:pic>
          <p:nvPicPr>
            <p:cNvPr id="28" name="그림 27" descr="로고, 블랙, 화이트, 실루엣이(가) 표시된 사진&#10;&#10;자동 생성된 설명">
              <a:extLst>
                <a:ext uri="{FF2B5EF4-FFF2-40B4-BE49-F238E27FC236}">
                  <a16:creationId xmlns:a16="http://schemas.microsoft.com/office/drawing/2014/main" id="{E8FD5015-C4D0-C77D-D50A-EE8E6F421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5948" y="2124237"/>
              <a:ext cx="171798" cy="171798"/>
            </a:xfrm>
            <a:prstGeom prst="rect">
              <a:avLst/>
            </a:prstGeom>
          </p:spPr>
        </p:pic>
        <p:pic>
          <p:nvPicPr>
            <p:cNvPr id="29" name="그림 28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76DE3E25-A71C-0073-D1E0-327DC8DFA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38278" y="2124237"/>
              <a:ext cx="171798" cy="171798"/>
            </a:xfrm>
            <a:prstGeom prst="rect">
              <a:avLst/>
            </a:prstGeom>
          </p:spPr>
        </p:pic>
      </p:grpSp>
      <p:pic>
        <p:nvPicPr>
          <p:cNvPr id="32" name="그림 31" descr="로고, 블랙, 화이트, 실루엣이(가) 표시된 사진&#10;&#10;자동 생성된 설명">
            <a:extLst>
              <a:ext uri="{FF2B5EF4-FFF2-40B4-BE49-F238E27FC236}">
                <a16:creationId xmlns:a16="http://schemas.microsoft.com/office/drawing/2014/main" id="{63C8D47D-5549-E8BD-462B-0C0357F2D4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603" y="1929239"/>
            <a:ext cx="171798" cy="171798"/>
          </a:xfrm>
          <a:prstGeom prst="rect">
            <a:avLst/>
          </a:prstGeom>
        </p:spPr>
      </p:pic>
      <p:pic>
        <p:nvPicPr>
          <p:cNvPr id="33" name="그림 32" descr="로고, 블랙이(가) 표시된 사진&#10;&#10;자동 생성된 설명">
            <a:extLst>
              <a:ext uri="{FF2B5EF4-FFF2-40B4-BE49-F238E27FC236}">
                <a16:creationId xmlns:a16="http://schemas.microsoft.com/office/drawing/2014/main" id="{84A6EC60-A91E-7CD0-C435-35A06367D8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87" y="3100833"/>
            <a:ext cx="137324" cy="139539"/>
          </a:xfrm>
          <a:prstGeom prst="rect">
            <a:avLst/>
          </a:prstGeom>
        </p:spPr>
      </p:pic>
      <p:pic>
        <p:nvPicPr>
          <p:cNvPr id="34" name="그림 33" descr="블랙, 어둠이(가) 표시된 사진&#10;&#10;자동 생성된 설명">
            <a:extLst>
              <a:ext uri="{FF2B5EF4-FFF2-40B4-BE49-F238E27FC236}">
                <a16:creationId xmlns:a16="http://schemas.microsoft.com/office/drawing/2014/main" id="{C8DB0554-D295-B313-A8C8-1AE7B2F0C7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87" y="3550818"/>
            <a:ext cx="137324" cy="137324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07FAE10A-4B3F-78FC-9775-59C3A8055469}"/>
              </a:ext>
            </a:extLst>
          </p:cNvPr>
          <p:cNvSpPr/>
          <p:nvPr/>
        </p:nvSpPr>
        <p:spPr>
          <a:xfrm>
            <a:off x="3697324" y="5470518"/>
            <a:ext cx="1977105" cy="803228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/>
            <a:endParaRPr lang="ko-KR" altLang="en-US" sz="1400" kern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2941EBE-CB70-28C5-A141-5892053D7119}"/>
              </a:ext>
            </a:extLst>
          </p:cNvPr>
          <p:cNvSpPr/>
          <p:nvPr/>
        </p:nvSpPr>
        <p:spPr>
          <a:xfrm>
            <a:off x="6687671" y="1963989"/>
            <a:ext cx="672353" cy="3316174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나눔바른고딕"/>
              <a:ea typeface="나눔바른고딕"/>
              <a:cs typeface="+mn-cs"/>
            </a:endParaRPr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A57B6104-63E7-D3FD-11C3-E03CE895B536}"/>
              </a:ext>
            </a:extLst>
          </p:cNvPr>
          <p:cNvCxnSpPr>
            <a:cxnSpLocks/>
            <a:stCxn id="36" idx="2"/>
            <a:endCxn id="35" idx="0"/>
          </p:cNvCxnSpPr>
          <p:nvPr/>
        </p:nvCxnSpPr>
        <p:spPr>
          <a:xfrm rot="5400000">
            <a:off x="5759686" y="4206355"/>
            <a:ext cx="190355" cy="2337971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accent1"/>
            </a:solidFill>
            <a:prstDash val="solid"/>
            <a:miter lim="800000"/>
            <a:tailEnd type="stealth"/>
          </a:ln>
          <a:effectLst/>
        </p:spPr>
      </p:cxnSp>
      <p:pic>
        <p:nvPicPr>
          <p:cNvPr id="17" name="그림 16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B6D2992C-4191-C6F2-001E-710DAFC5F0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87" y="2358505"/>
            <a:ext cx="137324" cy="137324"/>
          </a:xfrm>
          <a:prstGeom prst="rect">
            <a:avLst/>
          </a:prstGeom>
        </p:spPr>
      </p:pic>
      <p:pic>
        <p:nvPicPr>
          <p:cNvPr id="18" name="그림 17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2E907863-EFB0-F172-401C-BFA6F316F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87" y="2707603"/>
            <a:ext cx="137324" cy="137324"/>
          </a:xfrm>
          <a:prstGeom prst="rect">
            <a:avLst/>
          </a:prstGeom>
        </p:spPr>
      </p:pic>
      <p:pic>
        <p:nvPicPr>
          <p:cNvPr id="19" name="그림 18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7CE262B5-2ABE-E0D3-3731-C899A426A4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85" y="3891449"/>
            <a:ext cx="137324" cy="137324"/>
          </a:xfrm>
          <a:prstGeom prst="rect">
            <a:avLst/>
          </a:prstGeom>
        </p:spPr>
      </p:pic>
      <p:pic>
        <p:nvPicPr>
          <p:cNvPr id="20" name="그림 19" descr="로고, 블랙이(가) 표시된 사진&#10;&#10;자동 생성된 설명">
            <a:extLst>
              <a:ext uri="{FF2B5EF4-FFF2-40B4-BE49-F238E27FC236}">
                <a16:creationId xmlns:a16="http://schemas.microsoft.com/office/drawing/2014/main" id="{08777418-F607-98A3-9ACF-A8A1E75FBA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87" y="4396081"/>
            <a:ext cx="137324" cy="139539"/>
          </a:xfrm>
          <a:prstGeom prst="rect">
            <a:avLst/>
          </a:prstGeom>
        </p:spPr>
      </p:pic>
      <p:pic>
        <p:nvPicPr>
          <p:cNvPr id="21" name="그림 20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5FB8CC23-E61C-CD6D-C091-A326F652DB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87" y="4853794"/>
            <a:ext cx="137324" cy="137324"/>
          </a:xfrm>
          <a:prstGeom prst="rect">
            <a:avLst/>
          </a:prstGeom>
        </p:spPr>
      </p:pic>
      <p:pic>
        <p:nvPicPr>
          <p:cNvPr id="23" name="그림 22" descr="블랙, 어둠이(가) 표시된 사진&#10;&#10;자동 생성된 설명">
            <a:extLst>
              <a:ext uri="{FF2B5EF4-FFF2-40B4-BE49-F238E27FC236}">
                <a16:creationId xmlns:a16="http://schemas.microsoft.com/office/drawing/2014/main" id="{05820496-3575-7D41-832D-3770D55C2E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187" y="5116069"/>
            <a:ext cx="137324" cy="13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00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73600" y="2308154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1712913" y="1820415"/>
            <a:ext cx="7024687" cy="2401887"/>
          </a:xfrm>
        </p:spPr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현황진단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[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조직진단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제도분석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1400" dirty="0">
                <a:solidFill>
                  <a:schemeClr val="bg1"/>
                </a:solidFill>
              </a:rPr>
              <a:t>요구분석</a:t>
            </a:r>
            <a:r>
              <a:rPr lang="en-US" altLang="ko-KR" sz="1400" dirty="0">
                <a:solidFill>
                  <a:schemeClr val="bg1"/>
                </a:solidFill>
              </a:rPr>
              <a:t>(EOS, </a:t>
            </a:r>
            <a:r>
              <a:rPr lang="ko-KR" altLang="en-US" sz="1400" dirty="0">
                <a:solidFill>
                  <a:schemeClr val="bg1"/>
                </a:solidFill>
              </a:rPr>
              <a:t>인터뷰</a:t>
            </a:r>
            <a:r>
              <a:rPr lang="en-US" altLang="ko-KR" sz="1400" dirty="0">
                <a:solidFill>
                  <a:schemeClr val="bg1"/>
                </a:solidFill>
              </a:rPr>
              <a:t>)]</a:t>
            </a:r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/>
              <a:t>제도설계</a:t>
            </a:r>
            <a:endParaRPr lang="en-US" altLang="ko-KR" dirty="0"/>
          </a:p>
          <a:p>
            <a:r>
              <a:rPr lang="ko-KR" altLang="en-US" dirty="0"/>
              <a:t>변화관리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845010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280050" y="2075541"/>
            <a:ext cx="2880000" cy="288000"/>
          </a:xfrm>
          <a:prstGeom prst="rect">
            <a:avLst/>
          </a:prstGeom>
          <a:solidFill>
            <a:srgbClr val="595959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F3F3F"/>
              </a:buClr>
              <a:buSzPct val="90000"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/>
                <a:ea typeface="나눔바른고딕"/>
                <a:cs typeface="+mn-cs"/>
              </a:rPr>
              <a:t>개 요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512527" y="2075541"/>
            <a:ext cx="2880000" cy="288000"/>
          </a:xfrm>
          <a:prstGeom prst="rect">
            <a:avLst/>
          </a:prstGeom>
          <a:solidFill>
            <a:srgbClr val="8B4989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F3F3F"/>
              </a:buClr>
              <a:buSzPct val="90000"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/>
                <a:ea typeface="나눔바른고딕"/>
                <a:cs typeface="+mn-cs"/>
              </a:rPr>
              <a:t>조사방식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758857" y="2075541"/>
            <a:ext cx="2874094" cy="288000"/>
          </a:xfrm>
          <a:prstGeom prst="rect">
            <a:avLst/>
          </a:prstGeom>
          <a:solidFill>
            <a:srgbClr val="595959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3F3F3F"/>
              </a:buClr>
              <a:buSzPct val="90000"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/>
                <a:ea typeface="나눔바른고딕"/>
                <a:cs typeface="+mn-cs"/>
              </a:rPr>
              <a:t>조사내용 및 문항 수</a:t>
            </a: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96841"/>
              </p:ext>
            </p:extLst>
          </p:nvPr>
        </p:nvGraphicFramePr>
        <p:xfrm>
          <a:off x="271887" y="2496586"/>
          <a:ext cx="2879528" cy="36327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62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목적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일터혁신 각 분야별 수준진단 및                              제도개선에 대한 직원 의견 조사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7200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6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조사시기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2025.07.03 ~ 2025.07.08</a:t>
                      </a:r>
                    </a:p>
                  </a:txBody>
                  <a:tcPr marL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6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조사대상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㈜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베이시스소프트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 직원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6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응답률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73%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(37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 중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 응답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6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준거집단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미만 정보통신업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991199"/>
                  </a:ext>
                </a:extLst>
              </a:tr>
              <a:tr h="84179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연속지원</a:t>
                      </a:r>
                      <a:endParaRPr lang="en-US" altLang="ko-KR" sz="100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+mn-ea"/>
                          <a:ea typeface="+mn-ea"/>
                        </a:rPr>
                        <a:t>사업장 여부 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해당없음</a:t>
                      </a:r>
                      <a:endParaRPr lang="en-US" altLang="ko-KR" sz="9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153722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3512526" y="2439761"/>
            <a:ext cx="2582510" cy="246221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17145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rPr>
              <a:t>5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rPr>
              <a:t>점 척도 설문지 배포방식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/>
              <a:ea typeface="나눔바른고딕"/>
              <a:cs typeface="+mn-cs"/>
            </a:endParaRPr>
          </a:p>
        </p:txBody>
      </p:sp>
      <p:sp>
        <p:nvSpPr>
          <p:cNvPr id="41" name="직사각형 40"/>
          <p:cNvSpPr/>
          <p:nvPr/>
        </p:nvSpPr>
        <p:spPr bwMode="auto">
          <a:xfrm>
            <a:off x="3521179" y="2643276"/>
            <a:ext cx="2868332" cy="75509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base" latinLnBrk="1">
              <a:spcBef>
                <a:spcPct val="50000"/>
              </a:spcBef>
              <a:spcAft>
                <a:spcPct val="0"/>
              </a:spcAft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1pPr>
            <a:lvl2pPr marL="457200" algn="ctr" rtl="0" fontAlgn="base" latinLnBrk="1">
              <a:spcBef>
                <a:spcPct val="50000"/>
              </a:spcBef>
              <a:spcAft>
                <a:spcPct val="0"/>
              </a:spcAft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2pPr>
            <a:lvl3pPr marL="914400" algn="ctr" rtl="0" fontAlgn="base" latinLnBrk="1">
              <a:spcBef>
                <a:spcPct val="50000"/>
              </a:spcBef>
              <a:spcAft>
                <a:spcPct val="0"/>
              </a:spcAft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3pPr>
            <a:lvl4pPr marL="1371600" algn="ctr" rtl="0" fontAlgn="base" latinLnBrk="1">
              <a:spcBef>
                <a:spcPct val="50000"/>
              </a:spcBef>
              <a:spcAft>
                <a:spcPct val="0"/>
              </a:spcAft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4pPr>
            <a:lvl5pPr marL="1828800" algn="ctr" rtl="0" fontAlgn="base" latinLnBrk="1">
              <a:spcBef>
                <a:spcPct val="50000"/>
              </a:spcBef>
              <a:spcAft>
                <a:spcPct val="0"/>
              </a:spcAft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200" b="1" kern="1200">
                <a:solidFill>
                  <a:schemeClr val="tx1"/>
                </a:solidFill>
                <a:latin typeface="Arial" pitchFamily="34" charset="0"/>
                <a:ea typeface="돋움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돋움" pitchFamily="50" charset="-127"/>
              <a:cs typeface="+mn-cs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3615781" y="3171055"/>
          <a:ext cx="2700000" cy="142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3" name="그룹 42"/>
          <p:cNvGrpSpPr/>
          <p:nvPr/>
        </p:nvGrpSpPr>
        <p:grpSpPr>
          <a:xfrm>
            <a:off x="3615780" y="2811606"/>
            <a:ext cx="2642697" cy="246221"/>
            <a:chOff x="3661986" y="2844645"/>
            <a:chExt cx="2872390" cy="246221"/>
          </a:xfrm>
        </p:grpSpPr>
        <p:sp>
          <p:nvSpPr>
            <p:cNvPr id="44" name="TextBox 29"/>
            <p:cNvSpPr txBox="1"/>
            <p:nvPr/>
          </p:nvSpPr>
          <p:spPr>
            <a:xfrm>
              <a:off x="3661986" y="2844645"/>
              <a:ext cx="58616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>
              <a:defPPr>
                <a:defRPr lang="ko-KR"/>
              </a:defPPr>
              <a:lvl1pPr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전혀 </a:t>
              </a:r>
              <a:endPara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그렇지 않다</a:t>
              </a:r>
            </a:p>
          </p:txBody>
        </p:sp>
        <p:sp>
          <p:nvSpPr>
            <p:cNvPr id="45" name="TextBox 30"/>
            <p:cNvSpPr txBox="1"/>
            <p:nvPr/>
          </p:nvSpPr>
          <p:spPr>
            <a:xfrm>
              <a:off x="6052970" y="2844645"/>
              <a:ext cx="481406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>
              <a:defPPr>
                <a:defRPr lang="ko-KR"/>
              </a:defPPr>
              <a:lvl1pPr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b="1" kern="1200">
                  <a:solidFill>
                    <a:schemeClr val="tx1"/>
                  </a:solidFill>
                  <a:latin typeface="Arial" pitchFamily="34" charset="0"/>
                  <a:ea typeface="돋움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매우</a:t>
              </a:r>
              <a:endPara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그렇다</a:t>
              </a:r>
            </a:p>
          </p:txBody>
        </p:sp>
        <p:cxnSp>
          <p:nvCxnSpPr>
            <p:cNvPr id="46" name="직선 화살표 연결선 45"/>
            <p:cNvCxnSpPr/>
            <p:nvPr/>
          </p:nvCxnSpPr>
          <p:spPr>
            <a:xfrm>
              <a:off x="4268856" y="2967756"/>
              <a:ext cx="1804820" cy="0"/>
            </a:xfrm>
            <a:prstGeom prst="straightConnector1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4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615" y="3683299"/>
            <a:ext cx="1565088" cy="1671813"/>
          </a:xfrm>
          <a:prstGeom prst="rect">
            <a:avLst/>
          </a:prstGeom>
          <a:noFill/>
          <a:ln w="19050">
            <a:solidFill>
              <a:srgbClr val="9EAAB8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7" name="Picture 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115" y="3906417"/>
            <a:ext cx="1565088" cy="1671813"/>
          </a:xfrm>
          <a:prstGeom prst="rect">
            <a:avLst/>
          </a:prstGeom>
          <a:noFill/>
          <a:ln w="19050">
            <a:solidFill>
              <a:srgbClr val="9EAAB8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4" t="21032" r="50840" b="14305"/>
          <a:stretch/>
        </p:blipFill>
        <p:spPr bwMode="auto">
          <a:xfrm>
            <a:off x="3521179" y="4079028"/>
            <a:ext cx="1540344" cy="1839087"/>
          </a:xfrm>
          <a:prstGeom prst="rect">
            <a:avLst/>
          </a:prstGeom>
          <a:noFill/>
          <a:ln w="19050">
            <a:solidFill>
              <a:srgbClr val="9EAAB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spc="0" dirty="0"/>
              <a:t>일터혁신 각 분야별 수준 진단</a:t>
            </a:r>
            <a:r>
              <a:rPr lang="en-US" altLang="ko-KR" spc="0" dirty="0"/>
              <a:t>, </a:t>
            </a:r>
            <a:r>
              <a:rPr lang="ko-KR" altLang="en-US" spc="0" dirty="0"/>
              <a:t>근로자 인식 파악</a:t>
            </a:r>
            <a:r>
              <a:rPr lang="en-US" altLang="ko-KR" spc="0" dirty="0"/>
              <a:t>, </a:t>
            </a:r>
            <a:r>
              <a:rPr lang="ko-KR" altLang="en-US" spc="0" dirty="0"/>
              <a:t>컨설팅 기초자료 수집을 위하여 ㈜</a:t>
            </a:r>
            <a:r>
              <a:rPr lang="ko-KR" altLang="en-US" spc="0" dirty="0" err="1"/>
              <a:t>베이시스소프트</a:t>
            </a:r>
            <a:r>
              <a:rPr lang="ko-KR" altLang="en-US" spc="0" dirty="0"/>
              <a:t> 전 직원을 대상으로 설문을 시행하였으며</a:t>
            </a:r>
            <a:r>
              <a:rPr lang="en-US" altLang="ko-KR" spc="0" dirty="0"/>
              <a:t> 73%</a:t>
            </a:r>
            <a:r>
              <a:rPr lang="ko-KR" altLang="en-US" spc="0" dirty="0"/>
              <a:t>가 설문에 응답함</a:t>
            </a:r>
            <a:endParaRPr lang="en-US" altLang="ko-KR" spc="0" dirty="0"/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8BACF4FF-4F35-4E8B-9FDB-200DAF18FA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29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r>
              <a:rPr lang="en-US" altLang="ko-KR" dirty="0"/>
              <a:t>EOS </a:t>
            </a:r>
            <a:r>
              <a:rPr lang="ko-KR" altLang="en-US" dirty="0"/>
              <a:t>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7AD636-5EE3-4109-91A2-FDB0D3177D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50" y="6326309"/>
            <a:ext cx="9359900" cy="182342"/>
          </a:xfrm>
        </p:spPr>
        <p:txBody>
          <a:bodyPr/>
          <a:lstStyle/>
          <a:p>
            <a:r>
              <a:rPr lang="en-US" altLang="ko-KR" dirty="0"/>
              <a:t>* EOS : Employee Opinion Survey, </a:t>
            </a:r>
            <a:r>
              <a:rPr lang="ko-KR" altLang="en-US" dirty="0"/>
              <a:t>직원의견조사</a:t>
            </a:r>
            <a:endParaRPr lang="en-US" altLang="ko-KR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3B75278-4381-4115-8101-EB9638E209AC}"/>
              </a:ext>
            </a:extLst>
          </p:cNvPr>
          <p:cNvGrpSpPr/>
          <p:nvPr/>
        </p:nvGrpSpPr>
        <p:grpSpPr>
          <a:xfrm>
            <a:off x="281215" y="1665619"/>
            <a:ext cx="9343567" cy="286727"/>
            <a:chOff x="7335596" y="1767285"/>
            <a:chExt cx="2217262" cy="28672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6379360-2296-4724-9FF4-A8855F5AA933}"/>
                </a:ext>
              </a:extLst>
            </p:cNvPr>
            <p:cNvSpPr/>
            <p:nvPr userDrawn="1"/>
          </p:nvSpPr>
          <p:spPr>
            <a:xfrm>
              <a:off x="7394589" y="1767285"/>
              <a:ext cx="2099276" cy="2295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1" indent="0" algn="ctr" defTabSz="914400" rtl="0" eaLnBrk="1" fontAlgn="auto" latinLnBrk="1" hangingPunct="1">
                <a:lnSpc>
                  <a:spcPct val="110000"/>
                </a:lnSpc>
                <a:spcBef>
                  <a:spcPts val="3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EOS</a:t>
              </a:r>
              <a:r>
                <a:rPr kumimoji="0" lang="en-US" altLang="ko-KR" sz="1400" b="0" i="0" u="none" strike="noStrike" kern="1200" cap="none" spc="0" normalizeH="0" baseline="3000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*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개요</a:t>
              </a: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25382D2D-86AA-4C98-A0A4-516ABD925D36}"/>
                </a:ext>
              </a:extLst>
            </p:cNvPr>
            <p:cNvCxnSpPr/>
            <p:nvPr userDrawn="1"/>
          </p:nvCxnSpPr>
          <p:spPr>
            <a:xfrm>
              <a:off x="7335596" y="2054012"/>
              <a:ext cx="22172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DA269998-AB71-4B3D-A52E-FD2E47F12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21699"/>
              </p:ext>
            </p:extLst>
          </p:nvPr>
        </p:nvGraphicFramePr>
        <p:xfrm>
          <a:off x="6754586" y="2505683"/>
          <a:ext cx="2878362" cy="3633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0210">
                  <a:extLst>
                    <a:ext uri="{9D8B030D-6E8A-4147-A177-3AD203B41FA5}">
                      <a16:colId xmlns:a16="http://schemas.microsoft.com/office/drawing/2014/main" val="1015209708"/>
                    </a:ext>
                  </a:extLst>
                </a:gridCol>
                <a:gridCol w="1390049">
                  <a:extLst>
                    <a:ext uri="{9D8B030D-6E8A-4147-A177-3AD203B41FA5}">
                      <a16:colId xmlns:a16="http://schemas.microsoft.com/office/drawing/2014/main" val="4017232603"/>
                    </a:ext>
                  </a:extLst>
                </a:gridCol>
                <a:gridCol w="608103">
                  <a:extLst>
                    <a:ext uri="{9D8B030D-6E8A-4147-A177-3AD203B41FA5}">
                      <a16:colId xmlns:a16="http://schemas.microsoft.com/office/drawing/2014/main" val="1005863034"/>
                    </a:ext>
                  </a:extLst>
                </a:gridCol>
              </a:tblGrid>
              <a:tr h="15036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대분류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중분류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문항 수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95141"/>
                  </a:ext>
                </a:extLst>
              </a:tr>
              <a:tr h="15258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인적자원관리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채용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827047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직무 및 배치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818718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035849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보상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254500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승진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511657"/>
                  </a:ext>
                </a:extLst>
              </a:tr>
              <a:tr h="15258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인적자원개발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교육훈련회사인식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568999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교육훈련지원여건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351627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교육훈련효과및활용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6174"/>
                  </a:ext>
                </a:extLst>
              </a:tr>
              <a:tr h="15258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작업조직</a:t>
                      </a:r>
                      <a:endParaRPr lang="en-US" altLang="ko-KR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근로환경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작업조직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295694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근무제도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053154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교대제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604168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모성보호 및 </a:t>
                      </a:r>
                      <a:r>
                        <a:rPr lang="ko-KR" altLang="en-US" sz="9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일가정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양립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143180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장년근로자 고용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590374"/>
                  </a:ext>
                </a:extLst>
              </a:tr>
              <a:tr h="15258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노사관계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노사가치관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578073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노사관계수준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949778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고충처리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190900"/>
                  </a:ext>
                </a:extLst>
              </a:tr>
              <a:tr h="15258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조직성과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직무몰입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841956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조직몰입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601268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이직의도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385863"/>
                  </a:ext>
                </a:extLst>
              </a:tr>
              <a:tr h="152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직장만족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19130"/>
                  </a:ext>
                </a:extLst>
              </a:tr>
              <a:tr h="2712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인적사항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연령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근속기간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학력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부서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직군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직급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고용유형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바른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39249"/>
                  </a:ext>
                </a:extLst>
              </a:tr>
              <a:tr h="15036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marL="6820" marR="6820" marT="68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47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221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DBCCF7BB-91A2-463D-9D6A-A9D6963D44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1691270"/>
              </p:ext>
            </p:extLst>
          </p:nvPr>
        </p:nvGraphicFramePr>
        <p:xfrm>
          <a:off x="165472" y="2041247"/>
          <a:ext cx="4529959" cy="3498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FB755E-96A2-4AC7-BE85-231F432413F2}"/>
              </a:ext>
            </a:extLst>
          </p:cNvPr>
          <p:cNvSpPr/>
          <p:nvPr/>
        </p:nvSpPr>
        <p:spPr>
          <a:xfrm>
            <a:off x="273050" y="5275263"/>
            <a:ext cx="9359900" cy="861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144000" indent="-1440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㈜</a:t>
            </a:r>
            <a:r>
              <a:rPr lang="ko-KR" altLang="en-US" sz="1200" dirty="0" err="1">
                <a:solidFill>
                  <a:schemeClr val="tx1"/>
                </a:solidFill>
                <a:latin typeface="+mj-ea"/>
                <a:ea typeface="+mj-ea"/>
              </a:rPr>
              <a:t>베이시스소프트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 구성원들의 만족도는 조직성과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노사관계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작업조직 및 근로환경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인적자원관리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인적자원개발 순으로 나타남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44000" indent="-1440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50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 미만 정보통신업 평균 대비 전반적으로 평점이 높게 나타났으나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인적자원관리와 작업조직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및 근로환경은 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50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인 미만 정보통신업 평균 대비 다소 낮게 나타남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설문 종합 결과 구성원들이 인식하는 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일터혁신 수준은 전반적으로 </a:t>
            </a:r>
            <a:r>
              <a:rPr lang="en-US" altLang="ko-KR" dirty="0"/>
              <a:t>50</a:t>
            </a:r>
            <a:r>
              <a:rPr lang="ko-KR" altLang="en-US" dirty="0"/>
              <a:t>인 미만 정보통신업  평균 대비 다소 높게 나타났으나</a:t>
            </a:r>
            <a:r>
              <a:rPr lang="en-US" altLang="ko-KR" dirty="0"/>
              <a:t>, </a:t>
            </a:r>
            <a:r>
              <a:rPr lang="ko-KR" altLang="en-US" dirty="0"/>
              <a:t>인적자원관리</a:t>
            </a:r>
            <a:r>
              <a:rPr lang="en-US" altLang="ko-KR" dirty="0"/>
              <a:t>, </a:t>
            </a:r>
            <a:r>
              <a:rPr lang="ko-KR" altLang="en-US" dirty="0"/>
              <a:t>작업조직 및 근로환경에 대한 만족도가 상대적으로 낮게 나타남</a:t>
            </a:r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1B35D97F-18FE-4420-8A44-7BEEE8F01A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vl="0"/>
            <a:r>
              <a:rPr lang="en-US" altLang="ko-KR" dirty="0"/>
              <a:t>EOS </a:t>
            </a:r>
            <a:r>
              <a:rPr lang="ko-KR" altLang="en-US" dirty="0"/>
              <a:t>결과 요약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2B8B6D-BD30-4F45-80B1-3D5B489539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50" y="6326309"/>
            <a:ext cx="9359900" cy="182342"/>
          </a:xfrm>
        </p:spPr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구분항목에서 준거집단 값 없는 항목 제외 </a:t>
            </a:r>
            <a:r>
              <a:rPr lang="en-US" altLang="ko-KR"/>
              <a:t>(</a:t>
            </a:r>
            <a:r>
              <a:rPr lang="ko-KR" altLang="en-US"/>
              <a:t>전체 평균은 추가된 근로환경</a:t>
            </a:r>
            <a:r>
              <a:rPr lang="en-US" altLang="ko-KR"/>
              <a:t>, </a:t>
            </a:r>
            <a:r>
              <a:rPr lang="ko-KR" altLang="en-US"/>
              <a:t>상사에 대한 인식 문항 반영된 평균값임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31" name="텍스트 개체 틀 2"/>
          <p:cNvSpPr txBox="1">
            <a:spLocks/>
          </p:cNvSpPr>
          <p:nvPr/>
        </p:nvSpPr>
        <p:spPr>
          <a:xfrm>
            <a:off x="273050" y="765393"/>
            <a:ext cx="9359900" cy="323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ko-KR" altLang="en-US" sz="1600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273928" y="1626519"/>
            <a:ext cx="9359022" cy="325827"/>
            <a:chOff x="273929" y="1626519"/>
            <a:chExt cx="6429396" cy="325827"/>
          </a:xfrm>
        </p:grpSpPr>
        <p:sp>
          <p:nvSpPr>
            <p:cNvPr id="63" name="직사각형 62"/>
            <p:cNvSpPr/>
            <p:nvPr userDrawn="1"/>
          </p:nvSpPr>
          <p:spPr>
            <a:xfrm>
              <a:off x="3052989" y="1626519"/>
              <a:ext cx="871285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EOS </a:t>
              </a: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결과 종합</a:t>
              </a:r>
            </a:p>
          </p:txBody>
        </p:sp>
        <p:cxnSp>
          <p:nvCxnSpPr>
            <p:cNvPr id="68" name="직선 연결선 67"/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52EDBB9-AF8B-450A-A38F-C7EEB6DA0BE2}"/>
              </a:ext>
            </a:extLst>
          </p:cNvPr>
          <p:cNvGrpSpPr/>
          <p:nvPr/>
        </p:nvGrpSpPr>
        <p:grpSpPr>
          <a:xfrm>
            <a:off x="278578" y="2053090"/>
            <a:ext cx="9350377" cy="3027135"/>
            <a:chOff x="278578" y="2053090"/>
            <a:chExt cx="9350377" cy="3027135"/>
          </a:xfrm>
        </p:grpSpPr>
        <p:sp>
          <p:nvSpPr>
            <p:cNvPr id="56" name="Rectangle 48"/>
            <p:cNvSpPr>
              <a:spLocks noChangeArrowheads="1"/>
            </p:cNvSpPr>
            <p:nvPr/>
          </p:nvSpPr>
          <p:spPr bwMode="gray">
            <a:xfrm>
              <a:off x="278578" y="2053090"/>
              <a:ext cx="4529960" cy="3027135"/>
            </a:xfrm>
            <a:prstGeom prst="rect">
              <a:avLst/>
            </a:prstGeom>
            <a:noFill/>
            <a:ln w="3175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 type="none" w="med" len="sm"/>
            </a:ln>
            <a:effectLst/>
          </p:spPr>
          <p:txBody>
            <a:bodyPr lIns="90000" tIns="180000" rIns="90000" bIns="90000" anchor="t"/>
            <a:lstStyle/>
            <a:p>
              <a:pPr marL="171450" indent="-171450" algn="just" latinLnBrk="0">
                <a:lnSpc>
                  <a:spcPts val="1400"/>
                </a:lnSpc>
                <a:spcBef>
                  <a:spcPts val="600"/>
                </a:spcBef>
                <a:buFont typeface="Arial" pitchFamily="34" charset="0"/>
                <a:buChar char="•"/>
              </a:pPr>
              <a:endParaRPr lang="en-US" altLang="ko-KR" sz="12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endParaRPr>
            </a:p>
          </p:txBody>
        </p:sp>
        <p:sp>
          <p:nvSpPr>
            <p:cNvPr id="26" name="Rectangle 48">
              <a:extLst>
                <a:ext uri="{FF2B5EF4-FFF2-40B4-BE49-F238E27FC236}">
                  <a16:creationId xmlns:a16="http://schemas.microsoft.com/office/drawing/2014/main" id="{7AFDD267-F645-4EEE-BB74-6E36DC84C6C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98995" y="2053090"/>
              <a:ext cx="4529960" cy="3027135"/>
            </a:xfrm>
            <a:prstGeom prst="rect">
              <a:avLst/>
            </a:prstGeom>
            <a:noFill/>
            <a:ln w="3175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 type="none" w="med" len="sm"/>
            </a:ln>
            <a:effectLst/>
          </p:spPr>
          <p:txBody>
            <a:bodyPr lIns="90000" tIns="180000" rIns="90000" bIns="90000" anchor="t"/>
            <a:lstStyle/>
            <a:p>
              <a:pPr marL="171450" indent="-171450" algn="just" latinLnBrk="0">
                <a:lnSpc>
                  <a:spcPts val="1400"/>
                </a:lnSpc>
                <a:spcBef>
                  <a:spcPts val="600"/>
                </a:spcBef>
                <a:buFont typeface="Arial" pitchFamily="34" charset="0"/>
                <a:buChar char="•"/>
              </a:pPr>
              <a:endParaRPr lang="en-US" altLang="ko-KR" sz="1200" kern="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endParaRPr>
            </a:p>
          </p:txBody>
        </p:sp>
      </p:grp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8E508C3-D8A9-4492-A2BD-19CCA54A3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243058"/>
              </p:ext>
            </p:extLst>
          </p:nvPr>
        </p:nvGraphicFramePr>
        <p:xfrm>
          <a:off x="5097464" y="2060737"/>
          <a:ext cx="4529957" cy="3026931"/>
        </p:xfrm>
        <a:graphic>
          <a:graphicData uri="http://schemas.openxmlformats.org/drawingml/2006/table">
            <a:tbl>
              <a:tblPr firstCol="1"/>
              <a:tblGrid>
                <a:gridCol w="1217153">
                  <a:extLst>
                    <a:ext uri="{9D8B030D-6E8A-4147-A177-3AD203B41FA5}">
                      <a16:colId xmlns:a16="http://schemas.microsoft.com/office/drawing/2014/main" val="591822072"/>
                    </a:ext>
                  </a:extLst>
                </a:gridCol>
                <a:gridCol w="828201">
                  <a:extLst>
                    <a:ext uri="{9D8B030D-6E8A-4147-A177-3AD203B41FA5}">
                      <a16:colId xmlns:a16="http://schemas.microsoft.com/office/drawing/2014/main" val="48136365"/>
                    </a:ext>
                  </a:extLst>
                </a:gridCol>
                <a:gridCol w="828201">
                  <a:extLst>
                    <a:ext uri="{9D8B030D-6E8A-4147-A177-3AD203B41FA5}">
                      <a16:colId xmlns:a16="http://schemas.microsoft.com/office/drawing/2014/main" val="741182108"/>
                    </a:ext>
                  </a:extLst>
                </a:gridCol>
                <a:gridCol w="828201">
                  <a:extLst>
                    <a:ext uri="{9D8B030D-6E8A-4147-A177-3AD203B41FA5}">
                      <a16:colId xmlns:a16="http://schemas.microsoft.com/office/drawing/2014/main" val="3406858243"/>
                    </a:ext>
                  </a:extLst>
                </a:gridCol>
                <a:gridCol w="828201">
                  <a:extLst>
                    <a:ext uri="{9D8B030D-6E8A-4147-A177-3AD203B41FA5}">
                      <a16:colId xmlns:a16="http://schemas.microsoft.com/office/drawing/2014/main" val="906009771"/>
                    </a:ext>
                  </a:extLst>
                </a:gridCol>
              </a:tblGrid>
              <a:tr h="297357">
                <a:tc rowSpan="2"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㈜</a:t>
                      </a:r>
                      <a:r>
                        <a:rPr kumimoji="0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베이시스소프트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50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인 미만 정보통신업</a:t>
                      </a:r>
                      <a:endParaRPr kumimoji="0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920898"/>
                  </a:ext>
                </a:extLst>
              </a:tr>
              <a:tr h="2973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만족평점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전체평균대비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Gap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만족평점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준거집단 대비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Gap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15914"/>
                  </a:ext>
                </a:extLst>
              </a:tr>
              <a:tr h="404129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인적자원관리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8B4989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3.34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-0.23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B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3.40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-0.06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153898"/>
                  </a:ext>
                </a:extLst>
              </a:tr>
              <a:tr h="404129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인적자원개발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8B4989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3.24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-0.33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B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3.25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-0.01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207126"/>
                  </a:ext>
                </a:extLst>
              </a:tr>
              <a:tr h="404129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작업조직</a:t>
                      </a:r>
                      <a:r>
                        <a:rPr kumimoji="0" lang="en-US" altLang="ko-KR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근로환경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8B4989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3.65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+0.07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3.72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-0.07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869"/>
                  </a:ext>
                </a:extLst>
              </a:tr>
              <a:tr h="404129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노사관계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8B4989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3.81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+0.23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3.49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+0.32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584144"/>
                  </a:ext>
                </a:extLst>
              </a:tr>
              <a:tr h="404129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조직성과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8B4989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3.93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+0.36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3.75 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+0.18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46405"/>
                  </a:ext>
                </a:extLst>
              </a:tr>
              <a:tr h="404129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5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전체</a:t>
                      </a:r>
                      <a:r>
                        <a:rPr kumimoji="0" lang="en-US" altLang="ko-KR" sz="1050" b="0" i="0" u="none" strike="noStrike" kern="1200" cap="none" spc="0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1)</a:t>
                      </a:r>
                      <a:endParaRPr kumimoji="0" lang="ko-KR" altLang="en-US" sz="1050" b="0" i="0" u="none" strike="noStrike" kern="1200" cap="none" spc="0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8B4989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3.57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3.53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+0.04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838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1237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차트 33">
            <a:extLst>
              <a:ext uri="{FF2B5EF4-FFF2-40B4-BE49-F238E27FC236}">
                <a16:creationId xmlns:a16="http://schemas.microsoft.com/office/drawing/2014/main" id="{449229F3-FA0A-47FE-AC57-0F46A8022F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6051035"/>
              </p:ext>
            </p:extLst>
          </p:nvPr>
        </p:nvGraphicFramePr>
        <p:xfrm>
          <a:off x="200025" y="2026015"/>
          <a:ext cx="9462609" cy="2514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5" name="오른쪽 화살표 50">
            <a:extLst>
              <a:ext uri="{FF2B5EF4-FFF2-40B4-BE49-F238E27FC236}">
                <a16:creationId xmlns:a16="http://schemas.microsoft.com/office/drawing/2014/main" id="{84AA57E3-B5E6-40FF-A174-ED400BBBDDF9}"/>
              </a:ext>
            </a:extLst>
          </p:cNvPr>
          <p:cNvSpPr/>
          <p:nvPr/>
        </p:nvSpPr>
        <p:spPr bwMode="gray">
          <a:xfrm>
            <a:off x="6264940" y="5435984"/>
            <a:ext cx="398132" cy="494557"/>
          </a:xfrm>
          <a:prstGeom prst="rightArrow">
            <a:avLst/>
          </a:prstGeom>
          <a:gradFill>
            <a:gsLst>
              <a:gs pos="0">
                <a:srgbClr val="FFFFFF"/>
              </a:gs>
              <a:gs pos="84000">
                <a:srgbClr val="FFFFFF">
                  <a:gamma/>
                  <a:shade val="69804"/>
                  <a:invGamma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833EFDCD-260E-443B-9394-2F8574859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246750"/>
              </p:ext>
            </p:extLst>
          </p:nvPr>
        </p:nvGraphicFramePr>
        <p:xfrm>
          <a:off x="576831" y="5104152"/>
          <a:ext cx="5621606" cy="10299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1385">
                  <a:extLst>
                    <a:ext uri="{9D8B030D-6E8A-4147-A177-3AD203B41FA5}">
                      <a16:colId xmlns:a16="http://schemas.microsoft.com/office/drawing/2014/main" val="1361921346"/>
                    </a:ext>
                  </a:extLst>
                </a:gridCol>
                <a:gridCol w="1513407">
                  <a:extLst>
                    <a:ext uri="{9D8B030D-6E8A-4147-A177-3AD203B41FA5}">
                      <a16:colId xmlns:a16="http://schemas.microsoft.com/office/drawing/2014/main" val="3034849531"/>
                    </a:ext>
                  </a:extLst>
                </a:gridCol>
                <a:gridCol w="1513407">
                  <a:extLst>
                    <a:ext uri="{9D8B030D-6E8A-4147-A177-3AD203B41FA5}">
                      <a16:colId xmlns:a16="http://schemas.microsoft.com/office/drawing/2014/main" val="665021398"/>
                    </a:ext>
                  </a:extLst>
                </a:gridCol>
                <a:gridCol w="1513407">
                  <a:extLst>
                    <a:ext uri="{9D8B030D-6E8A-4147-A177-3AD203B41FA5}">
                      <a16:colId xmlns:a16="http://schemas.microsoft.com/office/drawing/2014/main" val="2019865193"/>
                    </a:ext>
                  </a:extLst>
                </a:gridCol>
              </a:tblGrid>
              <a:tr h="13490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내부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외부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공통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014115"/>
                  </a:ext>
                </a:extLst>
              </a:tr>
              <a:tr h="43400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상대적 강점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직무몰입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일가정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양립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장년근로자 고용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장년근로자 고용</a:t>
                      </a:r>
                      <a:r>
                        <a:rPr lang="en-US" altLang="ko-KR" sz="10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교육인식</a:t>
                      </a:r>
                      <a:r>
                        <a:rPr lang="en-US" altLang="ko-KR" sz="10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고충처리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장년근로자 고용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07789"/>
                  </a:ext>
                </a:extLst>
              </a:tr>
              <a:tr h="43400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상대적 약점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교육여건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교대제 근무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</a:t>
                      </a:r>
                    </a:p>
                    <a:p>
                      <a:pPr algn="ctr" rtl="0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평가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교대제 근무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교육여건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</a:t>
                      </a:r>
                    </a:p>
                    <a:p>
                      <a:pPr algn="ctr" rtl="0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평가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교대제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근무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교육여건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, </a:t>
                      </a:r>
                    </a:p>
                    <a:p>
                      <a:pPr algn="ctr" rtl="0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평가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166380"/>
                  </a:ext>
                </a:extLst>
              </a:tr>
            </a:tbl>
          </a:graphicData>
        </a:graphic>
      </p:graphicFrame>
      <p:sp>
        <p:nvSpPr>
          <p:cNvPr id="80" name="직사각형 79">
            <a:extLst>
              <a:ext uri="{FF2B5EF4-FFF2-40B4-BE49-F238E27FC236}">
                <a16:creationId xmlns:a16="http://schemas.microsoft.com/office/drawing/2014/main" id="{DDD0B092-7432-4E45-8310-315DD23E223F}"/>
              </a:ext>
            </a:extLst>
          </p:cNvPr>
          <p:cNvSpPr/>
          <p:nvPr/>
        </p:nvSpPr>
        <p:spPr>
          <a:xfrm>
            <a:off x="6618589" y="5364802"/>
            <a:ext cx="3004835" cy="75021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228600" indent="-228600">
              <a:spcBef>
                <a:spcPts val="200"/>
              </a:spcBef>
              <a:spcAft>
                <a:spcPts val="200"/>
              </a:spcAft>
              <a:buSzPct val="120000"/>
              <a:buBlip>
                <a:blip r:embed="rId5"/>
              </a:buBlip>
            </a:pP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(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중점 개선 사항</a:t>
            </a: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) 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평가</a:t>
            </a: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, 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교육지원</a:t>
            </a: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, 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교대제</a:t>
            </a:r>
            <a:endParaRPr lang="en-US" altLang="ko-KR" sz="1000" spc="-100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28600" indent="-228600">
              <a:spcBef>
                <a:spcPts val="200"/>
              </a:spcBef>
              <a:spcAft>
                <a:spcPts val="200"/>
              </a:spcAft>
              <a:buSzPct val="120000"/>
              <a:buBlip>
                <a:blip r:embed="rId5"/>
              </a:buBlip>
            </a:pP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(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내부 개선 요구</a:t>
            </a: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) 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평가</a:t>
            </a: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, 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보상 기준 확립</a:t>
            </a:r>
            <a:endParaRPr lang="en-US" altLang="ko-KR" sz="1000" spc="-100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28600" indent="-228600">
              <a:spcBef>
                <a:spcPts val="200"/>
              </a:spcBef>
              <a:spcAft>
                <a:spcPts val="200"/>
              </a:spcAft>
              <a:buSzPct val="120000"/>
              <a:buBlip>
                <a:blip r:embed="rId5"/>
              </a:buBlip>
            </a:pP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(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외부경쟁력 확보</a:t>
            </a: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) 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교육지원</a:t>
            </a:r>
            <a:r>
              <a:rPr lang="en-US" altLang="ko-KR" sz="1000" spc="-100" dirty="0">
                <a:solidFill>
                  <a:prstClr val="black"/>
                </a:solidFill>
                <a:latin typeface="+mj-ea"/>
                <a:ea typeface="+mj-ea"/>
              </a:rPr>
              <a:t>, </a:t>
            </a:r>
            <a:r>
              <a:rPr lang="ko-KR" altLang="en-US" sz="1000" spc="-100" dirty="0">
                <a:solidFill>
                  <a:prstClr val="black"/>
                </a:solidFill>
                <a:latin typeface="+mj-ea"/>
                <a:ea typeface="+mj-ea"/>
              </a:rPr>
              <a:t>교대제 </a:t>
            </a:r>
            <a:endParaRPr lang="en-US" altLang="ko-KR" sz="1000" spc="-1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5D0BE71C-E828-47B9-AF15-916C818E7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1" y="1800946"/>
            <a:ext cx="9350374" cy="3168088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L="171450" indent="-171450" algn="just" latinLnBrk="0">
              <a:lnSpc>
                <a:spcPts val="14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ko-KR" altLang="en-US" sz="1200" kern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 lvl="0"/>
            <a:r>
              <a:rPr lang="ko-KR" altLang="en-US" dirty="0"/>
              <a:t>항목별로는 채용</a:t>
            </a:r>
            <a:r>
              <a:rPr lang="en-US" altLang="ko-KR" dirty="0"/>
              <a:t>, </a:t>
            </a:r>
            <a:r>
              <a:rPr lang="ko-KR" altLang="en-US" dirty="0"/>
              <a:t>직무 및 배치</a:t>
            </a:r>
            <a:r>
              <a:rPr lang="en-US" altLang="ko-KR" dirty="0"/>
              <a:t>, </a:t>
            </a:r>
            <a:r>
              <a:rPr lang="ko-KR" altLang="en-US" dirty="0"/>
              <a:t>노사가치관 인식이 가장 긍정적으로</a:t>
            </a:r>
            <a:r>
              <a:rPr lang="en-US" altLang="ko-KR" dirty="0"/>
              <a:t>, </a:t>
            </a:r>
            <a:r>
              <a:rPr lang="ko-KR" altLang="en-US" dirty="0"/>
              <a:t>교육훈련 지원 여건</a:t>
            </a:r>
            <a:r>
              <a:rPr lang="en-US" altLang="ko-KR" dirty="0"/>
              <a:t>, </a:t>
            </a:r>
            <a:r>
              <a:rPr lang="ko-KR" altLang="en-US" dirty="0"/>
              <a:t>교육훈련 효과 및 활용</a:t>
            </a:r>
            <a:r>
              <a:rPr lang="en-US" altLang="ko-KR" dirty="0"/>
              <a:t>, </a:t>
            </a:r>
            <a:r>
              <a:rPr lang="ko-KR" altLang="en-US" dirty="0"/>
              <a:t>보상에 대한 인식이 가장 부정적이었으며</a:t>
            </a:r>
            <a:r>
              <a:rPr lang="en-US" altLang="ko-KR" dirty="0"/>
              <a:t>, </a:t>
            </a:r>
            <a:r>
              <a:rPr lang="ko-KR" altLang="en-US" dirty="0"/>
              <a:t>준거집단 대비 교육훈련 회사 인식에 대한 만족도도 낮게 나타남</a:t>
            </a:r>
            <a:endParaRPr lang="en-US" altLang="ko-KR" dirty="0"/>
          </a:p>
        </p:txBody>
      </p:sp>
      <p:sp>
        <p:nvSpPr>
          <p:cNvPr id="43" name="텍스트 개체 틀 42"/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vl="0"/>
            <a:r>
              <a:rPr lang="en-US" altLang="ko-KR" dirty="0"/>
              <a:t>EOS </a:t>
            </a:r>
            <a:r>
              <a:rPr lang="ko-KR" altLang="en-US" dirty="0"/>
              <a:t>결과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ADA1F6-4384-4BCF-A06C-9494FF3995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50" y="6326309"/>
            <a:ext cx="9359900" cy="182342"/>
          </a:xfrm>
        </p:spPr>
        <p:txBody>
          <a:bodyPr/>
          <a:lstStyle/>
          <a:p>
            <a:r>
              <a:rPr lang="en-US" altLang="ko-KR" dirty="0"/>
              <a:t>1)</a:t>
            </a:r>
            <a:r>
              <a:rPr lang="ko-KR" altLang="en-US" dirty="0"/>
              <a:t> 내부 순위</a:t>
            </a:r>
            <a:r>
              <a:rPr lang="en-US" altLang="ko-KR" dirty="0"/>
              <a:t>: </a:t>
            </a:r>
            <a:r>
              <a:rPr lang="ko-KR" altLang="en-US" dirty="0"/>
              <a:t>㈜</a:t>
            </a:r>
            <a:r>
              <a:rPr lang="ko-KR" altLang="en-US" dirty="0" err="1"/>
              <a:t>베이시스소프트</a:t>
            </a:r>
            <a:r>
              <a:rPr lang="ko-KR" altLang="en-US" dirty="0"/>
              <a:t> 요구사항 별 평균 순위 </a:t>
            </a:r>
          </a:p>
        </p:txBody>
      </p:sp>
      <p:sp>
        <p:nvSpPr>
          <p:cNvPr id="131" name="텍스트 개체 틀 2"/>
          <p:cNvSpPr txBox="1">
            <a:spLocks/>
          </p:cNvSpPr>
          <p:nvPr/>
        </p:nvSpPr>
        <p:spPr>
          <a:xfrm>
            <a:off x="273050" y="765393"/>
            <a:ext cx="9359900" cy="323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ko-KR" altLang="en-US" sz="1600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2024FB0-88C9-4AEA-866A-58F175EBC0D0}"/>
              </a:ext>
            </a:extLst>
          </p:cNvPr>
          <p:cNvSpPr/>
          <p:nvPr/>
        </p:nvSpPr>
        <p:spPr>
          <a:xfrm>
            <a:off x="4348153" y="1647057"/>
            <a:ext cx="1210588" cy="30777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rPr>
              <a:t>설문항목 전반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7BDEFBF-3365-411E-9411-8E1B8FDC0207}"/>
              </a:ext>
            </a:extLst>
          </p:cNvPr>
          <p:cNvSpPr/>
          <p:nvPr/>
        </p:nvSpPr>
        <p:spPr>
          <a:xfrm>
            <a:off x="7851746" y="1837122"/>
            <a:ext cx="1883914" cy="442035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준거집단 </a:t>
            </a:r>
            <a:r>
              <a:rPr lang="en-US" altLang="ko-KR" sz="800" dirty="0">
                <a:solidFill>
                  <a:prstClr val="black"/>
                </a:solidFill>
                <a:latin typeface="+mj-ea"/>
                <a:ea typeface="+mj-ea"/>
              </a:rPr>
              <a:t>: 50</a:t>
            </a: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인 미만 정보통신업</a:t>
            </a:r>
            <a:endParaRPr lang="en-US" altLang="ko-KR" sz="800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▽ </a:t>
            </a:r>
            <a:r>
              <a:rPr lang="en-US" altLang="ko-KR" sz="800" dirty="0">
                <a:solidFill>
                  <a:prstClr val="black"/>
                </a:solidFill>
                <a:latin typeface="+mj-ea"/>
                <a:ea typeface="+mj-ea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㈜</a:t>
            </a:r>
            <a:r>
              <a:rPr lang="ko-KR" altLang="en-US" sz="800" dirty="0" err="1">
                <a:solidFill>
                  <a:prstClr val="black"/>
                </a:solidFill>
                <a:latin typeface="+mj-ea"/>
                <a:ea typeface="+mj-ea"/>
              </a:rPr>
              <a:t>베이시스소프트</a:t>
            </a: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 내부 하위 </a:t>
            </a:r>
            <a:r>
              <a:rPr lang="en-US" altLang="ko-KR" sz="800" dirty="0">
                <a:solidFill>
                  <a:prstClr val="black"/>
                </a:solidFill>
                <a:latin typeface="+mj-ea"/>
                <a:ea typeface="+mj-ea"/>
              </a:rPr>
              <a:t>3</a:t>
            </a: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개 </a:t>
            </a:r>
            <a:endParaRPr lang="en-US" altLang="ko-KR" sz="800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▲ </a:t>
            </a:r>
            <a:r>
              <a:rPr lang="en-US" altLang="ko-KR" sz="800" dirty="0">
                <a:solidFill>
                  <a:prstClr val="black"/>
                </a:solidFill>
                <a:latin typeface="+mj-ea"/>
                <a:ea typeface="+mj-ea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+mj-ea"/>
              </a:rPr>
              <a:t>㈜</a:t>
            </a:r>
            <a:r>
              <a:rPr lang="ko-KR" altLang="en-US" sz="800" dirty="0" err="1">
                <a:solidFill>
                  <a:prstClr val="black"/>
                </a:solidFill>
                <a:latin typeface="+mj-ea"/>
              </a:rPr>
              <a:t>베이시스소프트</a:t>
            </a: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 내부 상위 </a:t>
            </a:r>
            <a:r>
              <a:rPr lang="en-US" altLang="ko-KR" sz="800" dirty="0">
                <a:solidFill>
                  <a:prstClr val="black"/>
                </a:solidFill>
                <a:latin typeface="+mj-ea"/>
                <a:ea typeface="+mj-ea"/>
              </a:rPr>
              <a:t>3</a:t>
            </a:r>
            <a:r>
              <a:rPr lang="ko-KR" altLang="en-US" sz="800" dirty="0">
                <a:solidFill>
                  <a:prstClr val="black"/>
                </a:solidFill>
                <a:latin typeface="+mj-ea"/>
                <a:ea typeface="+mj-ea"/>
              </a:rPr>
              <a:t>개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5EDB9392-FB34-4CEB-BEA2-F57766F8A876}"/>
              </a:ext>
            </a:extLst>
          </p:cNvPr>
          <p:cNvSpPr/>
          <p:nvPr/>
        </p:nvSpPr>
        <p:spPr bwMode="gray">
          <a:xfrm rot="5400000">
            <a:off x="6003092" y="3377413"/>
            <a:ext cx="90000" cy="121435"/>
          </a:xfrm>
          <a:prstGeom prst="rightArrow">
            <a:avLst>
              <a:gd name="adj1" fmla="val 50000"/>
              <a:gd name="adj2" fmla="val 201887"/>
            </a:avLst>
          </a:prstGeom>
          <a:solidFill>
            <a:schemeClr val="bg1"/>
          </a:solidFill>
          <a:ln w="22225">
            <a:solidFill>
              <a:schemeClr val="bg2"/>
            </a:solidFill>
            <a:round/>
            <a:headEnd/>
            <a:tailEnd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/>
          <a:lstStyle/>
          <a:p>
            <a:pPr lvl="0" defTabSz="913852"/>
            <a:endParaRPr lang="ko-KR" altLang="en-US" sz="1600">
              <a:solidFill>
                <a:srgbClr val="000000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9BA6280-B46D-4F30-B52A-6AFBD52CE136}"/>
              </a:ext>
            </a:extLst>
          </p:cNvPr>
          <p:cNvSpPr/>
          <p:nvPr/>
        </p:nvSpPr>
        <p:spPr>
          <a:xfrm>
            <a:off x="7598560" y="5142747"/>
            <a:ext cx="1310999" cy="2468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noFill/>
          </a:ln>
        </p:spPr>
        <p:txBody>
          <a:bodyPr wrap="square" anchor="ctr">
            <a:noAutofit/>
          </a:bodyPr>
          <a:lstStyle/>
          <a:p>
            <a:pPr algn="ctr" defTabSz="914126"/>
            <a:r>
              <a:rPr lang="ko-KR" altLang="en-US" sz="1100" b="1" dirty="0">
                <a:solidFill>
                  <a:srgbClr val="F4A01D"/>
                </a:solidFill>
                <a:latin typeface="+mj-ea"/>
                <a:ea typeface="+mj-ea"/>
              </a:rPr>
              <a:t>상대적 약점 中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46D41DA-7BE6-493D-B89E-EB40C03F7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37686"/>
              </p:ext>
            </p:extLst>
          </p:nvPr>
        </p:nvGraphicFramePr>
        <p:xfrm>
          <a:off x="388306" y="4545876"/>
          <a:ext cx="9235113" cy="374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7366">
                  <a:extLst>
                    <a:ext uri="{9D8B030D-6E8A-4147-A177-3AD203B41FA5}">
                      <a16:colId xmlns:a16="http://schemas.microsoft.com/office/drawing/2014/main" val="2628662126"/>
                    </a:ext>
                  </a:extLst>
                </a:gridCol>
                <a:gridCol w="416132">
                  <a:extLst>
                    <a:ext uri="{9D8B030D-6E8A-4147-A177-3AD203B41FA5}">
                      <a16:colId xmlns:a16="http://schemas.microsoft.com/office/drawing/2014/main" val="1699230166"/>
                    </a:ext>
                  </a:extLst>
                </a:gridCol>
                <a:gridCol w="428533">
                  <a:extLst>
                    <a:ext uri="{9D8B030D-6E8A-4147-A177-3AD203B41FA5}">
                      <a16:colId xmlns:a16="http://schemas.microsoft.com/office/drawing/2014/main" val="4116610952"/>
                    </a:ext>
                  </a:extLst>
                </a:gridCol>
                <a:gridCol w="418903">
                  <a:extLst>
                    <a:ext uri="{9D8B030D-6E8A-4147-A177-3AD203B41FA5}">
                      <a16:colId xmlns:a16="http://schemas.microsoft.com/office/drawing/2014/main" val="2337204222"/>
                    </a:ext>
                  </a:extLst>
                </a:gridCol>
                <a:gridCol w="428533">
                  <a:extLst>
                    <a:ext uri="{9D8B030D-6E8A-4147-A177-3AD203B41FA5}">
                      <a16:colId xmlns:a16="http://schemas.microsoft.com/office/drawing/2014/main" val="1268358110"/>
                    </a:ext>
                  </a:extLst>
                </a:gridCol>
                <a:gridCol w="414088">
                  <a:extLst>
                    <a:ext uri="{9D8B030D-6E8A-4147-A177-3AD203B41FA5}">
                      <a16:colId xmlns:a16="http://schemas.microsoft.com/office/drawing/2014/main" val="1481735517"/>
                    </a:ext>
                  </a:extLst>
                </a:gridCol>
                <a:gridCol w="423718">
                  <a:extLst>
                    <a:ext uri="{9D8B030D-6E8A-4147-A177-3AD203B41FA5}">
                      <a16:colId xmlns:a16="http://schemas.microsoft.com/office/drawing/2014/main" val="2031706517"/>
                    </a:ext>
                  </a:extLst>
                </a:gridCol>
                <a:gridCol w="423718">
                  <a:extLst>
                    <a:ext uri="{9D8B030D-6E8A-4147-A177-3AD203B41FA5}">
                      <a16:colId xmlns:a16="http://schemas.microsoft.com/office/drawing/2014/main" val="857799515"/>
                    </a:ext>
                  </a:extLst>
                </a:gridCol>
                <a:gridCol w="418903">
                  <a:extLst>
                    <a:ext uri="{9D8B030D-6E8A-4147-A177-3AD203B41FA5}">
                      <a16:colId xmlns:a16="http://schemas.microsoft.com/office/drawing/2014/main" val="2951122655"/>
                    </a:ext>
                  </a:extLst>
                </a:gridCol>
                <a:gridCol w="425322">
                  <a:extLst>
                    <a:ext uri="{9D8B030D-6E8A-4147-A177-3AD203B41FA5}">
                      <a16:colId xmlns:a16="http://schemas.microsoft.com/office/drawing/2014/main" val="3445637262"/>
                    </a:ext>
                  </a:extLst>
                </a:gridCol>
                <a:gridCol w="420508">
                  <a:extLst>
                    <a:ext uri="{9D8B030D-6E8A-4147-A177-3AD203B41FA5}">
                      <a16:colId xmlns:a16="http://schemas.microsoft.com/office/drawing/2014/main" val="2425563983"/>
                    </a:ext>
                  </a:extLst>
                </a:gridCol>
                <a:gridCol w="420508">
                  <a:extLst>
                    <a:ext uri="{9D8B030D-6E8A-4147-A177-3AD203B41FA5}">
                      <a16:colId xmlns:a16="http://schemas.microsoft.com/office/drawing/2014/main" val="619182037"/>
                    </a:ext>
                  </a:extLst>
                </a:gridCol>
                <a:gridCol w="414088">
                  <a:extLst>
                    <a:ext uri="{9D8B030D-6E8A-4147-A177-3AD203B41FA5}">
                      <a16:colId xmlns:a16="http://schemas.microsoft.com/office/drawing/2014/main" val="3680171675"/>
                    </a:ext>
                  </a:extLst>
                </a:gridCol>
                <a:gridCol w="428534">
                  <a:extLst>
                    <a:ext uri="{9D8B030D-6E8A-4147-A177-3AD203B41FA5}">
                      <a16:colId xmlns:a16="http://schemas.microsoft.com/office/drawing/2014/main" val="1227328638"/>
                    </a:ext>
                  </a:extLst>
                </a:gridCol>
                <a:gridCol w="418902">
                  <a:extLst>
                    <a:ext uri="{9D8B030D-6E8A-4147-A177-3AD203B41FA5}">
                      <a16:colId xmlns:a16="http://schemas.microsoft.com/office/drawing/2014/main" val="1376900056"/>
                    </a:ext>
                  </a:extLst>
                </a:gridCol>
                <a:gridCol w="423718">
                  <a:extLst>
                    <a:ext uri="{9D8B030D-6E8A-4147-A177-3AD203B41FA5}">
                      <a16:colId xmlns:a16="http://schemas.microsoft.com/office/drawing/2014/main" val="1605193688"/>
                    </a:ext>
                  </a:extLst>
                </a:gridCol>
                <a:gridCol w="418903">
                  <a:extLst>
                    <a:ext uri="{9D8B030D-6E8A-4147-A177-3AD203B41FA5}">
                      <a16:colId xmlns:a16="http://schemas.microsoft.com/office/drawing/2014/main" val="428215265"/>
                    </a:ext>
                  </a:extLst>
                </a:gridCol>
                <a:gridCol w="418902">
                  <a:extLst>
                    <a:ext uri="{9D8B030D-6E8A-4147-A177-3AD203B41FA5}">
                      <a16:colId xmlns:a16="http://schemas.microsoft.com/office/drawing/2014/main" val="1347485072"/>
                    </a:ext>
                  </a:extLst>
                </a:gridCol>
                <a:gridCol w="428534">
                  <a:extLst>
                    <a:ext uri="{9D8B030D-6E8A-4147-A177-3AD203B41FA5}">
                      <a16:colId xmlns:a16="http://schemas.microsoft.com/office/drawing/2014/main" val="154049621"/>
                    </a:ext>
                  </a:extLst>
                </a:gridCol>
                <a:gridCol w="422754">
                  <a:extLst>
                    <a:ext uri="{9D8B030D-6E8A-4147-A177-3AD203B41FA5}">
                      <a16:colId xmlns:a16="http://schemas.microsoft.com/office/drawing/2014/main" val="4244795378"/>
                    </a:ext>
                  </a:extLst>
                </a:gridCol>
                <a:gridCol w="384546">
                  <a:extLst>
                    <a:ext uri="{9D8B030D-6E8A-4147-A177-3AD203B41FA5}">
                      <a16:colId xmlns:a16="http://schemas.microsoft.com/office/drawing/2014/main" val="332259268"/>
                    </a:ext>
                  </a:extLst>
                </a:gridCol>
              </a:tblGrid>
              <a:tr h="18718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준거집단 대비</a:t>
                      </a:r>
                    </a:p>
                    <a:p>
                      <a:pPr algn="ctr" fontAlgn="ctr"/>
                      <a:r>
                        <a:rPr lang="af-ZA" sz="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r>
                        <a:rPr lang="ko-KR" altLang="en-US" sz="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* </a:t>
                      </a:r>
                      <a:endParaRPr lang="af-ZA" sz="800" b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542" marR="3542" marT="3542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+0.13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-0.14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-0.26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B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+0.02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+0.23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+0.55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B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+0.11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+0.07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+0.13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-0.59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+0.40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+0.30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+0.32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+0.41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+0.37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+0.46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+0.24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+0.39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683473"/>
                  </a:ext>
                </a:extLst>
              </a:tr>
              <a:tr h="187186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af-ZA" sz="1050" b="0" u="none" strike="noStrike" kern="120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Gap</a:t>
                      </a:r>
                      <a:r>
                        <a:rPr lang="ko-KR" altLang="en-US" sz="1050" b="0" u="none" strike="noStrike" kern="120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* </a:t>
                      </a:r>
                      <a:endParaRPr lang="af-ZA" sz="1050" b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3542" marR="3542" marT="3542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순위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B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B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150217"/>
                  </a:ext>
                </a:extLst>
              </a:tr>
            </a:tbl>
          </a:graphicData>
        </a:graphic>
      </p:graphicFrame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6DAF3EFC-D1E5-4AD3-8B8E-2B09BEDE260C}"/>
              </a:ext>
            </a:extLst>
          </p:cNvPr>
          <p:cNvSpPr/>
          <p:nvPr/>
        </p:nvSpPr>
        <p:spPr bwMode="gray">
          <a:xfrm rot="5400000">
            <a:off x="2653691" y="3386937"/>
            <a:ext cx="90000" cy="121435"/>
          </a:xfrm>
          <a:prstGeom prst="rightArrow">
            <a:avLst>
              <a:gd name="adj1" fmla="val 50000"/>
              <a:gd name="adj2" fmla="val 201887"/>
            </a:avLst>
          </a:prstGeom>
          <a:solidFill>
            <a:schemeClr val="bg1"/>
          </a:solidFill>
          <a:ln w="22225">
            <a:solidFill>
              <a:schemeClr val="bg2"/>
            </a:solidFill>
            <a:round/>
            <a:headEnd/>
            <a:tailEnd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/>
          <a:lstStyle/>
          <a:p>
            <a:pPr lvl="0" defTabSz="913852"/>
            <a:endParaRPr lang="ko-KR" altLang="en-US" sz="1600">
              <a:solidFill>
                <a:srgbClr val="000000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A5BB979C-3D9F-4AFD-8523-901A90851CCC}"/>
              </a:ext>
            </a:extLst>
          </p:cNvPr>
          <p:cNvSpPr/>
          <p:nvPr/>
        </p:nvSpPr>
        <p:spPr bwMode="gray">
          <a:xfrm rot="5400000">
            <a:off x="4339340" y="3377413"/>
            <a:ext cx="90000" cy="121435"/>
          </a:xfrm>
          <a:prstGeom prst="rightArrow">
            <a:avLst>
              <a:gd name="adj1" fmla="val 50000"/>
              <a:gd name="adj2" fmla="val 201887"/>
            </a:avLst>
          </a:prstGeom>
          <a:solidFill>
            <a:schemeClr val="bg1"/>
          </a:solidFill>
          <a:ln w="22225">
            <a:solidFill>
              <a:schemeClr val="bg2"/>
            </a:solidFill>
            <a:round/>
            <a:headEnd/>
            <a:tailEnd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/>
          <a:lstStyle/>
          <a:p>
            <a:pPr lvl="0" defTabSz="913852"/>
            <a:endParaRPr lang="ko-KR" altLang="en-US" sz="1600">
              <a:solidFill>
                <a:srgbClr val="000000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39F5A2F4-2E05-4564-9B59-7BF0E21D0298}"/>
              </a:ext>
            </a:extLst>
          </p:cNvPr>
          <p:cNvSpPr/>
          <p:nvPr/>
        </p:nvSpPr>
        <p:spPr bwMode="gray">
          <a:xfrm rot="16200000">
            <a:off x="1506162" y="5293848"/>
            <a:ext cx="90000" cy="121435"/>
          </a:xfrm>
          <a:prstGeom prst="rightArrow">
            <a:avLst>
              <a:gd name="adj1" fmla="val 50000"/>
              <a:gd name="adj2" fmla="val 201887"/>
            </a:avLst>
          </a:prstGeom>
          <a:solidFill>
            <a:srgbClr val="F4A01D"/>
          </a:solidFill>
          <a:ln w="22225">
            <a:solidFill>
              <a:schemeClr val="bg2"/>
            </a:solidFill>
            <a:round/>
            <a:headEnd/>
            <a:tailEnd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/>
          <a:lstStyle/>
          <a:p>
            <a:pPr lvl="0" defTabSz="913852"/>
            <a:endParaRPr lang="ko-KR" altLang="en-US" sz="1600">
              <a:solidFill>
                <a:srgbClr val="000000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34C64719-5036-4A73-9A6C-BF7267A89D1E}"/>
              </a:ext>
            </a:extLst>
          </p:cNvPr>
          <p:cNvSpPr/>
          <p:nvPr/>
        </p:nvSpPr>
        <p:spPr bwMode="gray">
          <a:xfrm rot="5400000">
            <a:off x="1500691" y="5735856"/>
            <a:ext cx="90000" cy="121435"/>
          </a:xfrm>
          <a:prstGeom prst="rightArrow">
            <a:avLst>
              <a:gd name="adj1" fmla="val 50000"/>
              <a:gd name="adj2" fmla="val 201887"/>
            </a:avLst>
          </a:prstGeom>
          <a:solidFill>
            <a:schemeClr val="bg1"/>
          </a:solidFill>
          <a:ln w="22225">
            <a:solidFill>
              <a:schemeClr val="bg2"/>
            </a:solidFill>
            <a:round/>
            <a:headEnd/>
            <a:tailEnd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/>
          <a:lstStyle/>
          <a:p>
            <a:pPr lvl="0" defTabSz="913852"/>
            <a:endParaRPr lang="ko-KR" altLang="en-US" sz="1600">
              <a:solidFill>
                <a:srgbClr val="000000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30" name="텍스트 개체 틀 3">
            <a:extLst>
              <a:ext uri="{FF2B5EF4-FFF2-40B4-BE49-F238E27FC236}">
                <a16:creationId xmlns:a16="http://schemas.microsoft.com/office/drawing/2014/main" id="{842C625F-A4C4-E4B2-7B5E-F477AFAFA78E}"/>
              </a:ext>
            </a:extLst>
          </p:cNvPr>
          <p:cNvSpPr txBox="1">
            <a:spLocks/>
          </p:cNvSpPr>
          <p:nvPr/>
        </p:nvSpPr>
        <p:spPr>
          <a:xfrm>
            <a:off x="273050" y="6494476"/>
            <a:ext cx="9359900" cy="182342"/>
          </a:xfrm>
          <a:prstGeom prst="rect">
            <a:avLst/>
          </a:prstGeom>
        </p:spPr>
        <p:txBody>
          <a:bodyPr lIns="36000" tIns="36000" rIns="36000" bIns="0" anchor="t" anchorCtr="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800" b="0" i="0" kern="0" spc="0" baseline="0" dirty="0">
                <a:ln>
                  <a:noFill/>
                </a:ln>
                <a:solidFill>
                  <a:schemeClr val="tx2"/>
                </a:solidFill>
                <a:latin typeface="+mn-ea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2)</a:t>
            </a:r>
            <a:r>
              <a:rPr lang="ko-KR" altLang="en-US"/>
              <a:t> 준거집단 대비 </a:t>
            </a:r>
            <a:r>
              <a:rPr lang="en-US" altLang="ko-KR"/>
              <a:t>Gap </a:t>
            </a:r>
            <a:r>
              <a:rPr lang="ko-KR" altLang="en-US"/>
              <a:t>순위</a:t>
            </a:r>
            <a:r>
              <a:rPr lang="en-US" altLang="ko-KR"/>
              <a:t>: </a:t>
            </a:r>
            <a:r>
              <a:rPr lang="ko-KR" altLang="en-US"/>
              <a:t>준거집단 대비 높은</a:t>
            </a:r>
            <a:r>
              <a:rPr lang="en-US" altLang="ko-KR"/>
              <a:t>(+)</a:t>
            </a:r>
            <a:r>
              <a:rPr lang="ko-KR" altLang="en-US"/>
              <a:t> 값 순으로 나열  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07BD3A9-7ED0-4EE7-96E5-3A3442F0BFDC}"/>
              </a:ext>
            </a:extLst>
          </p:cNvPr>
          <p:cNvSpPr/>
          <p:nvPr/>
        </p:nvSpPr>
        <p:spPr>
          <a:xfrm>
            <a:off x="987717" y="2330884"/>
            <a:ext cx="8421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ct val="0"/>
              </a:spcAft>
              <a:defRPr/>
            </a:pPr>
            <a:r>
              <a:rPr kumimoji="1"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내부 순위</a:t>
            </a:r>
            <a:r>
              <a:rPr kumimoji="1" lang="en-US" altLang="ko-KR" sz="900" dirty="0">
                <a:solidFill>
                  <a:schemeClr val="tx1"/>
                </a:solidFill>
                <a:latin typeface="+mj-ea"/>
                <a:ea typeface="+mj-ea"/>
              </a:rPr>
              <a:t>*</a:t>
            </a:r>
          </a:p>
        </p:txBody>
      </p:sp>
      <p:sp>
        <p:nvSpPr>
          <p:cNvPr id="40" name="직사각형 44">
            <a:extLst>
              <a:ext uri="{FF2B5EF4-FFF2-40B4-BE49-F238E27FC236}">
                <a16:creationId xmlns:a16="http://schemas.microsoft.com/office/drawing/2014/main" id="{7F8F9D2F-EC8C-510E-5837-5E45103C01E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3050" y="4989849"/>
            <a:ext cx="860425" cy="239376"/>
          </a:xfrm>
          <a:prstGeom prst="flowChartOffpageConnector">
            <a:avLst/>
          </a:prstGeom>
          <a:solidFill>
            <a:srgbClr val="8B4989"/>
          </a:solidFill>
          <a:ln w="6350" algn="ctr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defTabSz="914126"/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Key findings</a:t>
            </a:r>
            <a:endParaRPr lang="ko-KR" altLang="en-US" sz="1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36044471-A519-DA7E-AA3E-8C205857A33B}"/>
              </a:ext>
            </a:extLst>
          </p:cNvPr>
          <p:cNvSpPr/>
          <p:nvPr/>
        </p:nvSpPr>
        <p:spPr bwMode="gray">
          <a:xfrm rot="16200000">
            <a:off x="6834267" y="3383978"/>
            <a:ext cx="90000" cy="121435"/>
          </a:xfrm>
          <a:prstGeom prst="rightArrow">
            <a:avLst>
              <a:gd name="adj1" fmla="val 50000"/>
              <a:gd name="adj2" fmla="val 201887"/>
            </a:avLst>
          </a:prstGeom>
          <a:solidFill>
            <a:srgbClr val="F4A01D"/>
          </a:solidFill>
          <a:ln w="22225">
            <a:solidFill>
              <a:schemeClr val="bg2"/>
            </a:solidFill>
            <a:round/>
            <a:headEnd/>
            <a:tailEnd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/>
          <a:lstStyle/>
          <a:p>
            <a:pPr lvl="0" defTabSz="913852"/>
            <a:endParaRPr lang="ko-KR" altLang="en-US" sz="1600">
              <a:solidFill>
                <a:srgbClr val="000000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61012C5F-53A5-9D57-389D-6D5F212B4B53}"/>
              </a:ext>
            </a:extLst>
          </p:cNvPr>
          <p:cNvSpPr/>
          <p:nvPr/>
        </p:nvSpPr>
        <p:spPr bwMode="gray">
          <a:xfrm rot="16200000">
            <a:off x="6417094" y="3383978"/>
            <a:ext cx="90000" cy="121435"/>
          </a:xfrm>
          <a:prstGeom prst="rightArrow">
            <a:avLst>
              <a:gd name="adj1" fmla="val 50000"/>
              <a:gd name="adj2" fmla="val 201887"/>
            </a:avLst>
          </a:prstGeom>
          <a:solidFill>
            <a:srgbClr val="F4A01D"/>
          </a:solidFill>
          <a:ln w="22225">
            <a:solidFill>
              <a:schemeClr val="bg2"/>
            </a:solidFill>
            <a:round/>
            <a:headEnd/>
            <a:tailEnd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/>
          <a:lstStyle/>
          <a:p>
            <a:pPr lvl="0" defTabSz="913852"/>
            <a:endParaRPr lang="ko-KR" altLang="en-US" sz="1600">
              <a:solidFill>
                <a:srgbClr val="000000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68F8469-5992-4073-C12F-75F19A64A74D}"/>
              </a:ext>
            </a:extLst>
          </p:cNvPr>
          <p:cNvSpPr/>
          <p:nvPr/>
        </p:nvSpPr>
        <p:spPr bwMode="gray">
          <a:xfrm rot="16200000">
            <a:off x="8518165" y="3377411"/>
            <a:ext cx="90000" cy="121435"/>
          </a:xfrm>
          <a:prstGeom prst="rightArrow">
            <a:avLst>
              <a:gd name="adj1" fmla="val 50000"/>
              <a:gd name="adj2" fmla="val 201887"/>
            </a:avLst>
          </a:prstGeom>
          <a:solidFill>
            <a:srgbClr val="F4A01D"/>
          </a:solidFill>
          <a:ln w="22225">
            <a:solidFill>
              <a:schemeClr val="bg2"/>
            </a:solidFill>
            <a:round/>
            <a:headEnd/>
            <a:tailEnd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/>
          <a:lstStyle/>
          <a:p>
            <a:pPr lvl="0" defTabSz="913852"/>
            <a:endParaRPr lang="ko-KR" altLang="en-US" sz="1600">
              <a:solidFill>
                <a:srgbClr val="000000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45" name="텍스트 개체 틀 3">
            <a:extLst>
              <a:ext uri="{FF2B5EF4-FFF2-40B4-BE49-F238E27FC236}">
                <a16:creationId xmlns:a16="http://schemas.microsoft.com/office/drawing/2014/main" id="{E0660DBC-7F68-94EC-02F8-89A0FFF6CAF0}"/>
              </a:ext>
            </a:extLst>
          </p:cNvPr>
          <p:cNvSpPr txBox="1">
            <a:spLocks/>
          </p:cNvSpPr>
          <p:nvPr/>
        </p:nvSpPr>
        <p:spPr>
          <a:xfrm>
            <a:off x="6801470" y="6143966"/>
            <a:ext cx="2771980" cy="193105"/>
          </a:xfrm>
          <a:prstGeom prst="rect">
            <a:avLst/>
          </a:prstGeom>
        </p:spPr>
        <p:txBody>
          <a:bodyPr lIns="36000" tIns="36000" rIns="36000" bIns="0" anchor="t" anchorCtr="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800" b="0" i="0" kern="0" spc="0" baseline="0" dirty="0">
                <a:ln>
                  <a:noFill/>
                </a:ln>
                <a:solidFill>
                  <a:schemeClr val="tx2"/>
                </a:solidFill>
                <a:latin typeface="+mn-ea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dirty="0"/>
              <a:t>*</a:t>
            </a:r>
            <a:r>
              <a:rPr lang="ko-KR" altLang="en-US" dirty="0"/>
              <a:t>㈜</a:t>
            </a:r>
            <a:r>
              <a:rPr lang="ko-KR" altLang="en-US" dirty="0" err="1"/>
              <a:t>베이시스소프트</a:t>
            </a:r>
            <a:r>
              <a:rPr lang="ko-KR" altLang="en-US" dirty="0"/>
              <a:t> 값 없는 항목 제외</a:t>
            </a:r>
          </a:p>
        </p:txBody>
      </p:sp>
    </p:spTree>
    <p:extLst>
      <p:ext uri="{BB962C8B-B14F-4D97-AF65-F5344CB8AC3E}">
        <p14:creationId xmlns:p14="http://schemas.microsoft.com/office/powerpoint/2010/main" val="3301322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32C4E-E8AC-97F8-3D41-11CDE19A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983B2-0B79-F1F7-3260-E12DC53BB1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>
              <a:defRPr/>
            </a:pP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전체평점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(3.57)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대비 직무몰입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, </a:t>
            </a:r>
            <a:r>
              <a:rPr lang="ko-KR" altLang="en-US" spc="-190" dirty="0" err="1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일가정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 양립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, 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장년 근로자 고용 항목이 높은 점수를 나타내고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,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 준거집단 평점 대비 장년근로자 고용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, 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교육인식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, 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고충처리 항목의 점수가 높게 나타남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. 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반면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 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교육훈련 지원여건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, 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교대제 근무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, </a:t>
            </a:r>
            <a:r>
              <a:rPr lang="ko-KR" altLang="en-US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평가 제도는 두 분야에서 모두 낮은 점수를 나타냄</a:t>
            </a:r>
            <a:r>
              <a:rPr lang="en-US" altLang="ko-KR" spc="-190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.</a:t>
            </a:r>
            <a:endParaRPr lang="ko-KR" altLang="en-US" spc="-190" dirty="0">
              <a:ln>
                <a:solidFill>
                  <a:schemeClr val="tx1">
                    <a:alpha val="5000"/>
                  </a:schemeClr>
                </a:solidFill>
              </a:ln>
            </a:endParaRPr>
          </a:p>
        </p:txBody>
      </p:sp>
      <p:sp>
        <p:nvSpPr>
          <p:cNvPr id="43" name="텍스트 개체 틀 42">
            <a:extLst>
              <a:ext uri="{FF2B5EF4-FFF2-40B4-BE49-F238E27FC236}">
                <a16:creationId xmlns:a16="http://schemas.microsoft.com/office/drawing/2014/main" id="{1A9F0A70-655F-453C-DF20-75D016FD1D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BCA2B6F-9DD0-1E2C-E902-12D5096FB2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vl="0"/>
            <a:r>
              <a:rPr lang="en-US" altLang="ko-KR" dirty="0"/>
              <a:t>EOS &gt;</a:t>
            </a:r>
            <a:r>
              <a:rPr lang="ko-KR" altLang="en-US" dirty="0"/>
              <a:t> </a:t>
            </a:r>
            <a:r>
              <a:rPr lang="en-US" altLang="ko-KR" dirty="0"/>
              <a:t>Gap</a:t>
            </a:r>
            <a:r>
              <a:rPr lang="ko-KR" altLang="en-US" dirty="0"/>
              <a:t> 분석</a:t>
            </a:r>
          </a:p>
        </p:txBody>
      </p:sp>
      <p:sp>
        <p:nvSpPr>
          <p:cNvPr id="131" name="텍스트 개체 틀 2">
            <a:extLst>
              <a:ext uri="{FF2B5EF4-FFF2-40B4-BE49-F238E27FC236}">
                <a16:creationId xmlns:a16="http://schemas.microsoft.com/office/drawing/2014/main" id="{8C7B6DA1-2EF8-8260-FB89-56991C325114}"/>
              </a:ext>
            </a:extLst>
          </p:cNvPr>
          <p:cNvSpPr txBox="1">
            <a:spLocks/>
          </p:cNvSpPr>
          <p:nvPr/>
        </p:nvSpPr>
        <p:spPr>
          <a:xfrm>
            <a:off x="273050" y="765393"/>
            <a:ext cx="9359900" cy="323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ko-KR" altLang="en-US" sz="1600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E79ADE-3F05-2CD8-1DAE-0D1619D00F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36307A2-D4C7-2E88-F905-6DE1D3A0E169}"/>
              </a:ext>
            </a:extLst>
          </p:cNvPr>
          <p:cNvGrpSpPr/>
          <p:nvPr/>
        </p:nvGrpSpPr>
        <p:grpSpPr>
          <a:xfrm>
            <a:off x="274767" y="1708295"/>
            <a:ext cx="9358183" cy="271988"/>
            <a:chOff x="274768" y="1708295"/>
            <a:chExt cx="7016620" cy="271988"/>
          </a:xfrm>
        </p:grpSpPr>
        <p:sp>
          <p:nvSpPr>
            <p:cNvPr id="9" name="ListLeanHorizontalTextTopic0">
              <a:extLst>
                <a:ext uri="{FF2B5EF4-FFF2-40B4-BE49-F238E27FC236}">
                  <a16:creationId xmlns:a16="http://schemas.microsoft.com/office/drawing/2014/main" id="{C27B6D13-32B1-1634-4978-07FA6B65CDCF}"/>
                </a:ext>
              </a:extLst>
            </p:cNvPr>
            <p:cNvSpPr txBox="1"/>
            <p:nvPr/>
          </p:nvSpPr>
          <p:spPr>
            <a:xfrm>
              <a:off x="312001" y="1708295"/>
              <a:ext cx="6979387" cy="27198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72000" rtlCol="0" anchor="b"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90000"/>
                </a:lnSpc>
                <a:spcBef>
                  <a:spcPts val="400"/>
                </a:spcBef>
                <a:buSzPct val="100000"/>
                <a:defRPr sz="14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pPr>
                <a:defRPr/>
              </a:pPr>
              <a:r>
                <a:rPr lang="ko-KR" altLang="en-US" kern="12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평균 대비 각 항목별 </a:t>
              </a:r>
              <a:r>
                <a:rPr lang="ko-KR" altLang="en-US" kern="120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수준 비교</a:t>
              </a:r>
              <a:endParaRPr lang="en-US" altLang="ko-KR" kern="12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10" name="직선 연결선 7">
              <a:extLst>
                <a:ext uri="{FF2B5EF4-FFF2-40B4-BE49-F238E27FC236}">
                  <a16:creationId xmlns:a16="http://schemas.microsoft.com/office/drawing/2014/main" id="{C75CA758-9D00-35F5-FC3D-5BF715D62ABF}"/>
                </a:ext>
              </a:extLst>
            </p:cNvPr>
            <p:cNvCxnSpPr>
              <a:cxnSpLocks/>
            </p:cNvCxnSpPr>
            <p:nvPr/>
          </p:nvCxnSpPr>
          <p:spPr>
            <a:xfrm>
              <a:off x="274768" y="1952820"/>
              <a:ext cx="7016620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표 5">
            <a:extLst>
              <a:ext uri="{FF2B5EF4-FFF2-40B4-BE49-F238E27FC236}">
                <a16:creationId xmlns:a16="http://schemas.microsoft.com/office/drawing/2014/main" id="{A4D84A55-7197-1C79-7E5A-30884E5221AE}"/>
              </a:ext>
            </a:extLst>
          </p:cNvPr>
          <p:cNvGraphicFramePr>
            <a:graphicFrameLocks noGrp="1"/>
          </p:cNvGraphicFramePr>
          <p:nvPr/>
        </p:nvGraphicFramePr>
        <p:xfrm>
          <a:off x="307975" y="2073885"/>
          <a:ext cx="4412458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2458">
                  <a:extLst>
                    <a:ext uri="{9D8B030D-6E8A-4147-A177-3AD203B41FA5}">
                      <a16:colId xmlns:a16="http://schemas.microsoft.com/office/drawing/2014/main" val="1633802307"/>
                    </a:ext>
                  </a:extLst>
                </a:gridCol>
              </a:tblGrid>
              <a:tr h="2202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n>
                            <a:solidFill>
                              <a:schemeClr val="accent1">
                                <a:alpha val="5000"/>
                              </a:schemeClr>
                            </a:solidFill>
                          </a:ln>
                          <a:latin typeface="+mn-ea"/>
                          <a:ea typeface="+mn-ea"/>
                          <a:cs typeface="Vrinda" panose="020B0502040204020203" pitchFamily="34" charset="0"/>
                        </a:rPr>
                        <a:t>전체평균 점수</a:t>
                      </a:r>
                      <a:r>
                        <a:rPr lang="ko-KR" altLang="en-US" sz="1200" b="0" baseline="0" dirty="0">
                          <a:ln>
                            <a:solidFill>
                              <a:schemeClr val="accent1">
                                <a:alpha val="5000"/>
                              </a:schemeClr>
                            </a:solidFill>
                          </a:ln>
                          <a:latin typeface="+mn-ea"/>
                          <a:ea typeface="+mn-ea"/>
                          <a:cs typeface="Vrinda" panose="020B0502040204020203" pitchFamily="34" charset="0"/>
                        </a:rPr>
                        <a:t> 대비 </a:t>
                      </a:r>
                      <a:r>
                        <a:rPr lang="en-US" altLang="ko-KR" sz="1200" b="0" baseline="0" dirty="0">
                          <a:ln>
                            <a:solidFill>
                              <a:schemeClr val="accent1">
                                <a:alpha val="5000"/>
                              </a:schemeClr>
                            </a:solidFill>
                          </a:ln>
                          <a:latin typeface="+mn-ea"/>
                          <a:ea typeface="+mn-ea"/>
                          <a:cs typeface="Vrinda" panose="020B0502040204020203" pitchFamily="34" charset="0"/>
                        </a:rPr>
                        <a:t>Gap </a:t>
                      </a:r>
                      <a:r>
                        <a:rPr lang="ko-KR" altLang="en-US" sz="1200" b="0" baseline="0" dirty="0">
                          <a:ln>
                            <a:solidFill>
                              <a:schemeClr val="accent1">
                                <a:alpha val="5000"/>
                              </a:schemeClr>
                            </a:solidFill>
                          </a:ln>
                          <a:latin typeface="+mn-ea"/>
                          <a:ea typeface="+mn-ea"/>
                          <a:cs typeface="Vrinda" panose="020B0502040204020203" pitchFamily="34" charset="0"/>
                        </a:rPr>
                        <a:t>점수 비교</a:t>
                      </a:r>
                      <a:endParaRPr lang="ko-KR" altLang="en-US" sz="1200" b="0" dirty="0">
                        <a:ln>
                          <a:solidFill>
                            <a:schemeClr val="accent1">
                              <a:alpha val="5000"/>
                            </a:schemeClr>
                          </a:solidFill>
                        </a:ln>
                        <a:latin typeface="+mn-ea"/>
                        <a:ea typeface="+mn-ea"/>
                        <a:cs typeface="Vrinda" panose="020B0502040204020203" pitchFamily="34" charset="0"/>
                      </a:endParaRP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884807"/>
                  </a:ext>
                </a:extLst>
              </a:tr>
            </a:tbl>
          </a:graphicData>
        </a:graphic>
      </p:graphicFrame>
      <p:graphicFrame>
        <p:nvGraphicFramePr>
          <p:cNvPr id="13" name="표 5">
            <a:extLst>
              <a:ext uri="{FF2B5EF4-FFF2-40B4-BE49-F238E27FC236}">
                <a16:creationId xmlns:a16="http://schemas.microsoft.com/office/drawing/2014/main" id="{04AF03F7-9249-FA0C-F6FF-9DC9EE359394}"/>
              </a:ext>
            </a:extLst>
          </p:cNvPr>
          <p:cNvGraphicFramePr>
            <a:graphicFrameLocks noGrp="1"/>
          </p:cNvGraphicFramePr>
          <p:nvPr/>
        </p:nvGraphicFramePr>
        <p:xfrm>
          <a:off x="5214762" y="2073885"/>
          <a:ext cx="4412458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2458">
                  <a:extLst>
                    <a:ext uri="{9D8B030D-6E8A-4147-A177-3AD203B41FA5}">
                      <a16:colId xmlns:a16="http://schemas.microsoft.com/office/drawing/2014/main" val="1633802307"/>
                    </a:ext>
                  </a:extLst>
                </a:gridCol>
              </a:tblGrid>
              <a:tr h="220239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0" kern="1200" dirty="0">
                          <a:ln>
                            <a:solidFill>
                              <a:schemeClr val="accent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rinda" panose="020B0502040204020203" pitchFamily="34" charset="0"/>
                        </a:rPr>
                        <a:t>준거집단 평균 점수 대비 </a:t>
                      </a:r>
                      <a:r>
                        <a:rPr lang="en-US" altLang="ko-KR" sz="1200" b="0" kern="1200" dirty="0">
                          <a:ln>
                            <a:solidFill>
                              <a:schemeClr val="accent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rinda" panose="020B0502040204020203" pitchFamily="34" charset="0"/>
                        </a:rPr>
                        <a:t>Gap </a:t>
                      </a:r>
                      <a:r>
                        <a:rPr lang="ko-KR" altLang="en-US" sz="1200" b="0" kern="1200" dirty="0">
                          <a:ln>
                            <a:solidFill>
                              <a:schemeClr val="accent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Vrinda" panose="020B0502040204020203" pitchFamily="34" charset="0"/>
                        </a:rPr>
                        <a:t>점수 비교</a:t>
                      </a:r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884807"/>
                  </a:ext>
                </a:extLst>
              </a:tr>
            </a:tbl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0B7E2028-45A8-6430-5C2C-9301D106F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3063454"/>
              </p:ext>
            </p:extLst>
          </p:nvPr>
        </p:nvGraphicFramePr>
        <p:xfrm>
          <a:off x="5179837" y="2406537"/>
          <a:ext cx="4672417" cy="27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8E13F50A-4AB2-4521-B917-588ABC632265}"/>
              </a:ext>
            </a:extLst>
          </p:cNvPr>
          <p:cNvGrpSpPr/>
          <p:nvPr/>
        </p:nvGrpSpPr>
        <p:grpSpPr>
          <a:xfrm>
            <a:off x="3518856" y="5091358"/>
            <a:ext cx="3087592" cy="230832"/>
            <a:chOff x="3515284" y="5693329"/>
            <a:chExt cx="2778298" cy="230832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A119CB5-9A33-50A3-7369-CBF1FA6E46DB}"/>
                </a:ext>
              </a:extLst>
            </p:cNvPr>
            <p:cNvGrpSpPr/>
            <p:nvPr/>
          </p:nvGrpSpPr>
          <p:grpSpPr>
            <a:xfrm>
              <a:off x="3515284" y="5693329"/>
              <a:ext cx="1406440" cy="230832"/>
              <a:chOff x="5011769" y="5192714"/>
              <a:chExt cx="1406440" cy="230832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C6C8D1E-C44A-3BD8-D80C-F7FF297DAE0F}"/>
                  </a:ext>
                </a:extLst>
              </p:cNvPr>
              <p:cNvSpPr/>
              <p:nvPr/>
            </p:nvSpPr>
            <p:spPr>
              <a:xfrm>
                <a:off x="5011769" y="5247970"/>
                <a:ext cx="130245" cy="135709"/>
              </a:xfrm>
              <a:prstGeom prst="rect">
                <a:avLst/>
              </a:prstGeom>
              <a:solidFill>
                <a:srgbClr val="C0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>
                  <a:latin typeface="+mj-ea"/>
                  <a:ea typeface="+mj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BA3CAD-18A0-EC1B-6D75-28D1630039C1}"/>
                  </a:ext>
                </a:extLst>
              </p:cNvPr>
              <p:cNvSpPr txBox="1"/>
              <p:nvPr/>
            </p:nvSpPr>
            <p:spPr>
              <a:xfrm>
                <a:off x="5115762" y="5192714"/>
                <a:ext cx="130244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73150" fontAlgn="b"/>
                <a:r>
                  <a:rPr lang="en-US" altLang="ko-KR" sz="900" dirty="0">
                    <a:latin typeface="+mj-ea"/>
                    <a:ea typeface="+mj-ea"/>
                  </a:rPr>
                  <a:t> </a:t>
                </a:r>
                <a:r>
                  <a:rPr kumimoji="1" lang="ko-KR" altLang="en-US" sz="90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j-ea"/>
                    <a:ea typeface="+mj-ea"/>
                  </a:rPr>
                  <a:t>최하위 비교열위 항목</a:t>
                </a: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CAD0A62-63EF-7EFD-926C-43354C6ABF1D}"/>
                </a:ext>
              </a:extLst>
            </p:cNvPr>
            <p:cNvGrpSpPr/>
            <p:nvPr/>
          </p:nvGrpSpPr>
          <p:grpSpPr>
            <a:xfrm>
              <a:off x="4887142" y="5693329"/>
              <a:ext cx="1406440" cy="230832"/>
              <a:chOff x="5011769" y="5192714"/>
              <a:chExt cx="1406440" cy="230832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6DC63D5E-1574-9EF6-6E96-A23D8BCB325F}"/>
                  </a:ext>
                </a:extLst>
              </p:cNvPr>
              <p:cNvSpPr/>
              <p:nvPr/>
            </p:nvSpPr>
            <p:spPr>
              <a:xfrm>
                <a:off x="5011769" y="5247970"/>
                <a:ext cx="130245" cy="135709"/>
              </a:xfrm>
              <a:prstGeom prst="rect">
                <a:avLst/>
              </a:prstGeom>
              <a:solidFill>
                <a:srgbClr val="17375E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>
                  <a:latin typeface="+mj-ea"/>
                  <a:ea typeface="+mj-ea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A282A4-3652-DBBC-F7D2-E8FFBCD9C59B}"/>
                  </a:ext>
                </a:extLst>
              </p:cNvPr>
              <p:cNvSpPr txBox="1"/>
              <p:nvPr/>
            </p:nvSpPr>
            <p:spPr>
              <a:xfrm>
                <a:off x="5115762" y="5192714"/>
                <a:ext cx="130244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73150" fontAlgn="b"/>
                <a:r>
                  <a:rPr lang="en-US" altLang="ko-KR" sz="900" dirty="0">
                    <a:latin typeface="+mj-ea"/>
                    <a:ea typeface="+mj-ea"/>
                  </a:rPr>
                  <a:t> </a:t>
                </a:r>
                <a:r>
                  <a:rPr kumimoji="1" lang="ko-KR" altLang="en-US" sz="900" dirty="0">
                    <a:ln>
                      <a:solidFill>
                        <a:schemeClr val="tx1">
                          <a:alpha val="5000"/>
                        </a:schemeClr>
                      </a:solidFill>
                    </a:ln>
                    <a:latin typeface="+mj-ea"/>
                    <a:ea typeface="+mj-ea"/>
                  </a:rPr>
                  <a:t>최상위 비교열위 항목</a:t>
                </a:r>
              </a:p>
            </p:txBody>
          </p:sp>
        </p:grp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B180F38D-4088-00A5-E56E-3ADBF3CC4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857417"/>
              </p:ext>
            </p:extLst>
          </p:nvPr>
        </p:nvGraphicFramePr>
        <p:xfrm>
          <a:off x="5179836" y="5358766"/>
          <a:ext cx="4447384" cy="770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3692">
                  <a:extLst>
                    <a:ext uri="{9D8B030D-6E8A-4147-A177-3AD203B41FA5}">
                      <a16:colId xmlns:a16="http://schemas.microsoft.com/office/drawing/2014/main" val="3554667412"/>
                    </a:ext>
                  </a:extLst>
                </a:gridCol>
                <a:gridCol w="2223692">
                  <a:extLst>
                    <a:ext uri="{9D8B030D-6E8A-4147-A177-3AD203B41FA5}">
                      <a16:colId xmlns:a16="http://schemas.microsoft.com/office/drawing/2014/main" val="3602896574"/>
                    </a:ext>
                  </a:extLst>
                </a:gridCol>
              </a:tblGrid>
              <a:tr h="209896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상대적 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강점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항목</a:t>
                      </a:r>
                    </a:p>
                  </a:txBody>
                  <a:tcPr marL="8623" marR="8623" marT="862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상대적 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약점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항목</a:t>
                      </a:r>
                    </a:p>
                  </a:txBody>
                  <a:tcPr marL="8623" marR="8623" marT="862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453798"/>
                  </a:ext>
                </a:extLst>
              </a:tr>
              <a:tr h="560676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장년근로자 고용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교육인식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고충처리</a:t>
                      </a:r>
                    </a:p>
                  </a:txBody>
                  <a:tcPr marL="8623" marR="8623" marT="862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교대제 근무</a:t>
                      </a:r>
                      <a:endParaRPr lang="en-US" altLang="ko-KR" sz="105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교육여건</a:t>
                      </a:r>
                      <a:endParaRPr lang="en-US" altLang="ko-KR" sz="105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평가</a:t>
                      </a:r>
                      <a:endParaRPr lang="en-US" altLang="ko-KR" sz="105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543873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031D91DD-2892-3950-7C45-C8810569B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806816"/>
              </p:ext>
            </p:extLst>
          </p:nvPr>
        </p:nvGraphicFramePr>
        <p:xfrm>
          <a:off x="273050" y="2406537"/>
          <a:ext cx="4672417" cy="27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D27B437-11C8-7F38-264E-0B7705BC1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040881"/>
              </p:ext>
            </p:extLst>
          </p:nvPr>
        </p:nvGraphicFramePr>
        <p:xfrm>
          <a:off x="273050" y="5358766"/>
          <a:ext cx="4447384" cy="770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3692">
                  <a:extLst>
                    <a:ext uri="{9D8B030D-6E8A-4147-A177-3AD203B41FA5}">
                      <a16:colId xmlns:a16="http://schemas.microsoft.com/office/drawing/2014/main" val="3554667412"/>
                    </a:ext>
                  </a:extLst>
                </a:gridCol>
                <a:gridCol w="2223692">
                  <a:extLst>
                    <a:ext uri="{9D8B030D-6E8A-4147-A177-3AD203B41FA5}">
                      <a16:colId xmlns:a16="http://schemas.microsoft.com/office/drawing/2014/main" val="3602896574"/>
                    </a:ext>
                  </a:extLst>
                </a:gridCol>
              </a:tblGrid>
              <a:tr h="209896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상대적 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0070C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강점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항목</a:t>
                      </a:r>
                    </a:p>
                  </a:txBody>
                  <a:tcPr marL="8623" marR="8623" marT="862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상대적 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rgbClr val="C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약점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항목</a:t>
                      </a:r>
                    </a:p>
                  </a:txBody>
                  <a:tcPr marL="8623" marR="8623" marT="8623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453798"/>
                  </a:ext>
                </a:extLst>
              </a:tr>
              <a:tr h="560676">
                <a:tc>
                  <a:txBody>
                    <a:bodyPr/>
                    <a:lstStyle/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직무몰입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일가정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양립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107315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장년근로자 고용</a:t>
                      </a:r>
                    </a:p>
                  </a:txBody>
                  <a:tcPr marL="8623" marR="8623" marT="862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교육여건</a:t>
                      </a:r>
                      <a:endParaRPr lang="en-US" altLang="ko-KR" sz="105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교대제 근무</a:t>
                      </a:r>
                      <a:endParaRPr lang="en-US" altLang="ko-KR" sz="105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평가</a:t>
                      </a:r>
                      <a:endParaRPr lang="en-US" altLang="ko-KR" sz="105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543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4063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E323-885C-11EF-238F-693B89F8A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E6CC29C-DEC6-B530-A83F-475345B21A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 algn="just">
              <a:defRPr/>
            </a:pPr>
            <a:r>
              <a:rPr lang="ko-KR" altLang="en-US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총 </a:t>
            </a:r>
            <a:r>
              <a:rPr lang="en-US" altLang="ko-KR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19</a:t>
            </a:r>
            <a:r>
              <a:rPr lang="ko-KR" altLang="en-US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개 요인 점수의 전체평균과 준거집단 대비 </a:t>
            </a:r>
            <a:r>
              <a:rPr lang="en-US" altLang="ko-KR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Gap</a:t>
            </a:r>
            <a:r>
              <a:rPr lang="ko-KR" altLang="en-US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을 기준으로 </a:t>
            </a:r>
            <a:r>
              <a:rPr lang="en-US" altLang="ko-KR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2</a:t>
            </a:r>
            <a:r>
              <a:rPr lang="ko-KR" altLang="en-US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요인 역량 매트릭스 진단을 실시한 결과를 활용하여 다음과 같이 중점 개선 항목 및 개선 전략 유형을 도출함</a:t>
            </a:r>
          </a:p>
        </p:txBody>
      </p:sp>
      <p:sp>
        <p:nvSpPr>
          <p:cNvPr id="43" name="텍스트 개체 틀 42">
            <a:extLst>
              <a:ext uri="{FF2B5EF4-FFF2-40B4-BE49-F238E27FC236}">
                <a16:creationId xmlns:a16="http://schemas.microsoft.com/office/drawing/2014/main" id="{2A9E66CD-1CAF-DCCF-997E-7ACEEE524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AB79413-41C9-0CBE-4AE3-58D27CB749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vl="0"/>
            <a:r>
              <a:rPr lang="en-US" altLang="ko-KR" dirty="0"/>
              <a:t>EOS &gt;</a:t>
            </a:r>
            <a:r>
              <a:rPr lang="ko-KR" altLang="en-US" dirty="0"/>
              <a:t> 중점 개선 항목 도출</a:t>
            </a:r>
          </a:p>
        </p:txBody>
      </p:sp>
      <p:sp>
        <p:nvSpPr>
          <p:cNvPr id="131" name="텍스트 개체 틀 2">
            <a:extLst>
              <a:ext uri="{FF2B5EF4-FFF2-40B4-BE49-F238E27FC236}">
                <a16:creationId xmlns:a16="http://schemas.microsoft.com/office/drawing/2014/main" id="{20AA7878-405E-34AF-F5B2-4291977B1D96}"/>
              </a:ext>
            </a:extLst>
          </p:cNvPr>
          <p:cNvSpPr txBox="1">
            <a:spLocks/>
          </p:cNvSpPr>
          <p:nvPr/>
        </p:nvSpPr>
        <p:spPr>
          <a:xfrm>
            <a:off x="273050" y="765393"/>
            <a:ext cx="9359900" cy="323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ko-KR" altLang="en-US" sz="1600" b="1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E76305-E847-6BCD-E768-0CFB4007EA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E783193-74B7-8DC9-B56D-32CDF250BFB8}"/>
              </a:ext>
            </a:extLst>
          </p:cNvPr>
          <p:cNvGrpSpPr/>
          <p:nvPr/>
        </p:nvGrpSpPr>
        <p:grpSpPr>
          <a:xfrm>
            <a:off x="274768" y="1534116"/>
            <a:ext cx="4282946" cy="271988"/>
            <a:chOff x="274768" y="1708295"/>
            <a:chExt cx="7016620" cy="271988"/>
          </a:xfrm>
        </p:grpSpPr>
        <p:sp>
          <p:nvSpPr>
            <p:cNvPr id="4" name="ListLeanHorizontalTextTopic0">
              <a:extLst>
                <a:ext uri="{FF2B5EF4-FFF2-40B4-BE49-F238E27FC236}">
                  <a16:creationId xmlns:a16="http://schemas.microsoft.com/office/drawing/2014/main" id="{9C3AF6CB-7199-40D0-4570-C163D2C48842}"/>
                </a:ext>
              </a:extLst>
            </p:cNvPr>
            <p:cNvSpPr txBox="1"/>
            <p:nvPr/>
          </p:nvSpPr>
          <p:spPr>
            <a:xfrm>
              <a:off x="312001" y="1708295"/>
              <a:ext cx="6979387" cy="27198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72000" rtlCol="0" anchor="b"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90000"/>
                </a:lnSpc>
                <a:spcBef>
                  <a:spcPts val="400"/>
                </a:spcBef>
                <a:buSzPct val="100000"/>
                <a:defRPr sz="14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pPr>
                <a:defRPr/>
              </a:pPr>
              <a:r>
                <a:rPr lang="en-US" altLang="ko-KR" kern="12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Gap </a:t>
              </a:r>
              <a:r>
                <a:rPr lang="ko-KR" altLang="en-US" kern="12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분석을 통한 </a:t>
              </a:r>
              <a:r>
                <a:rPr lang="ko-KR" altLang="en-US" kern="1200" dirty="0" err="1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요인별</a:t>
              </a:r>
              <a:r>
                <a:rPr lang="ko-KR" altLang="en-US" kern="12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 역량 진단</a:t>
              </a:r>
              <a:endParaRPr lang="en-US" altLang="ko-KR" kern="12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9" name="직선 연결선 7">
              <a:extLst>
                <a:ext uri="{FF2B5EF4-FFF2-40B4-BE49-F238E27FC236}">
                  <a16:creationId xmlns:a16="http://schemas.microsoft.com/office/drawing/2014/main" id="{62C1335E-4A92-EC8B-F324-3A949C748BC5}"/>
                </a:ext>
              </a:extLst>
            </p:cNvPr>
            <p:cNvCxnSpPr>
              <a:cxnSpLocks/>
            </p:cNvCxnSpPr>
            <p:nvPr/>
          </p:nvCxnSpPr>
          <p:spPr>
            <a:xfrm>
              <a:off x="274768" y="1952820"/>
              <a:ext cx="7016620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67B646E-FAB2-2CCC-4214-3BA2B4B8E692}"/>
              </a:ext>
            </a:extLst>
          </p:cNvPr>
          <p:cNvSpPr/>
          <p:nvPr/>
        </p:nvSpPr>
        <p:spPr>
          <a:xfrm>
            <a:off x="278076" y="1886396"/>
            <a:ext cx="4279638" cy="3852863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4F85EF-FADB-5DD8-0D0E-E1055A9309E1}"/>
              </a:ext>
            </a:extLst>
          </p:cNvPr>
          <p:cNvSpPr txBox="1"/>
          <p:nvPr/>
        </p:nvSpPr>
        <p:spPr>
          <a:xfrm>
            <a:off x="262332" y="5790901"/>
            <a:ext cx="42496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자체 점수의 요인별 상대적 비교와 타기관 점수와의 비교우위를 동시에 진단</a:t>
            </a:r>
          </a:p>
        </p:txBody>
      </p:sp>
      <p:sp>
        <p:nvSpPr>
          <p:cNvPr id="26" name="오른쪽 화살표 51">
            <a:extLst>
              <a:ext uri="{FF2B5EF4-FFF2-40B4-BE49-F238E27FC236}">
                <a16:creationId xmlns:a16="http://schemas.microsoft.com/office/drawing/2014/main" id="{423B887A-5A7C-2056-22E6-EF8910045A39}"/>
              </a:ext>
            </a:extLst>
          </p:cNvPr>
          <p:cNvSpPr/>
          <p:nvPr/>
        </p:nvSpPr>
        <p:spPr>
          <a:xfrm>
            <a:off x="4765278" y="3522116"/>
            <a:ext cx="401637" cy="496354"/>
          </a:xfrm>
          <a:prstGeom prst="rightArrow">
            <a:avLst/>
          </a:prstGeom>
          <a:gradFill>
            <a:gsLst>
              <a:gs pos="0">
                <a:srgbClr val="FFFFFF"/>
              </a:gs>
              <a:gs pos="84000">
                <a:srgbClr val="FFFFFF">
                  <a:gamma/>
                  <a:shade val="69804"/>
                  <a:invGamma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852">
              <a:defRPr/>
            </a:pPr>
            <a:endParaRPr lang="ko-KR" altLang="en-US" sz="1798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84EDC95-5824-5793-A2DE-A845BFABD468}"/>
              </a:ext>
            </a:extLst>
          </p:cNvPr>
          <p:cNvCxnSpPr/>
          <p:nvPr/>
        </p:nvCxnSpPr>
        <p:spPr bwMode="auto">
          <a:xfrm flipV="1">
            <a:off x="492401" y="2258581"/>
            <a:ext cx="0" cy="2906853"/>
          </a:xfrm>
          <a:prstGeom prst="straightConnector1">
            <a:avLst/>
          </a:prstGeom>
          <a:noFill/>
          <a:ln w="3175" algn="ctr">
            <a:solidFill>
              <a:schemeClr val="bg1">
                <a:lumMod val="75000"/>
              </a:schemeClr>
            </a:solidFill>
            <a:round/>
            <a:headEnd type="triangle"/>
            <a:tailEnd type="triangle"/>
          </a:ln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2BA4122-D220-8920-3166-CA681C2C0C04}"/>
              </a:ext>
            </a:extLst>
          </p:cNvPr>
          <p:cNvSpPr txBox="1"/>
          <p:nvPr/>
        </p:nvSpPr>
        <p:spPr>
          <a:xfrm>
            <a:off x="299341" y="1945757"/>
            <a:ext cx="386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+1</a:t>
            </a:r>
            <a:endParaRPr lang="ko-KR" altLang="en-US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BA9D5F-4F7A-C9FC-7051-59DDD4E509C8}"/>
              </a:ext>
            </a:extLst>
          </p:cNvPr>
          <p:cNvSpPr txBox="1"/>
          <p:nvPr/>
        </p:nvSpPr>
        <p:spPr>
          <a:xfrm>
            <a:off x="299341" y="5201377"/>
            <a:ext cx="386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-1</a:t>
            </a:r>
            <a:endParaRPr lang="ko-KR" altLang="en-US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137718-CD1B-31B9-119A-9D341973D97F}"/>
              </a:ext>
            </a:extLst>
          </p:cNvPr>
          <p:cNvSpPr txBox="1"/>
          <p:nvPr/>
        </p:nvSpPr>
        <p:spPr>
          <a:xfrm>
            <a:off x="536563" y="5422375"/>
            <a:ext cx="386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-1</a:t>
            </a:r>
            <a:endParaRPr lang="ko-KR" altLang="en-US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9E434C-2299-F74E-B6C2-8F05EB096DC4}"/>
              </a:ext>
            </a:extLst>
          </p:cNvPr>
          <p:cNvSpPr txBox="1"/>
          <p:nvPr/>
        </p:nvSpPr>
        <p:spPr>
          <a:xfrm>
            <a:off x="4081043" y="5422378"/>
            <a:ext cx="386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+1</a:t>
            </a:r>
            <a:endParaRPr lang="ko-KR" altLang="en-US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77AA9F-C24B-3350-CC1D-5C47FEB1250B}"/>
              </a:ext>
            </a:extLst>
          </p:cNvPr>
          <p:cNvSpPr txBox="1"/>
          <p:nvPr/>
        </p:nvSpPr>
        <p:spPr>
          <a:xfrm rot="16200000">
            <a:off x="-230712" y="3613175"/>
            <a:ext cx="1446230" cy="24622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>
              <a:defRPr lang="ko-KR" altLang="en-US"/>
            </a:pPr>
            <a:r>
              <a:rPr lang="ko-KR" altLang="en-US" sz="10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rPr>
              <a:t>준거집단 대비 </a:t>
            </a:r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rPr>
              <a:t>Gap </a:t>
            </a:r>
            <a:r>
              <a:rPr lang="ko-KR" altLang="en-US" sz="10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rPr>
              <a:t>수준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FC3CE5-88DE-8C46-3DCC-9C095026903F}"/>
              </a:ext>
            </a:extLst>
          </p:cNvPr>
          <p:cNvSpPr txBox="1"/>
          <p:nvPr/>
        </p:nvSpPr>
        <p:spPr>
          <a:xfrm>
            <a:off x="1876508" y="5430959"/>
            <a:ext cx="1446230" cy="24622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>
              <a:defRPr lang="ko-KR" altLang="en-US"/>
            </a:pPr>
            <a:r>
              <a:rPr lang="ko-KR" altLang="en-US" sz="10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rPr>
              <a:t>전체평균 대비 </a:t>
            </a:r>
            <a:r>
              <a:rPr lang="en-US" altLang="ko-KR" sz="10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rPr>
              <a:t>Gap </a:t>
            </a:r>
            <a:r>
              <a:rPr lang="ko-KR" altLang="en-US" sz="10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rPr>
              <a:t>수준</a:t>
            </a:r>
          </a:p>
        </p:txBody>
      </p:sp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6646DDD1-D914-4603-4497-6EE99A9404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2707276"/>
              </p:ext>
            </p:extLst>
          </p:nvPr>
        </p:nvGraphicFramePr>
        <p:xfrm>
          <a:off x="699966" y="1995298"/>
          <a:ext cx="3645560" cy="337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직사각형 5">
            <a:extLst>
              <a:ext uri="{FF2B5EF4-FFF2-40B4-BE49-F238E27FC236}">
                <a16:creationId xmlns:a16="http://schemas.microsoft.com/office/drawing/2014/main" id="{4FDCF040-C113-C1E8-D37B-09CE99988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6" y="1845415"/>
            <a:ext cx="4284664" cy="233857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  <a:miter lim="800000"/>
            <a:headEnd/>
            <a:tailEnd type="none" w="lg" len="med"/>
          </a:ln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charset="0"/>
            </a:endParaRPr>
          </a:p>
        </p:txBody>
      </p:sp>
      <p:sp>
        <p:nvSpPr>
          <p:cNvPr id="37" name="Text Box 9">
            <a:extLst>
              <a:ext uri="{FF2B5EF4-FFF2-40B4-BE49-F238E27FC236}">
                <a16:creationId xmlns:a16="http://schemas.microsoft.com/office/drawing/2014/main" id="{D58B779C-C789-C15F-FC37-0DD17ABDB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778" y="2041903"/>
            <a:ext cx="4185354" cy="45520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36000" tIns="36000" rIns="36000" bIns="36000" anchor="t"/>
          <a:lstStyle/>
          <a:p>
            <a:pPr marL="171450" indent="-171450">
              <a:spcBef>
                <a:spcPts val="5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전체평균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준거집단 대비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Gap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수준 분석을 통한 중점 개선 항목 및 개선 전략 유형을 다음과 같이 도출함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모서리가 둥근 직사각형 51">
            <a:extLst>
              <a:ext uri="{FF2B5EF4-FFF2-40B4-BE49-F238E27FC236}">
                <a16:creationId xmlns:a16="http://schemas.microsoft.com/office/drawing/2014/main" id="{CD7C84C6-DB57-B710-23FB-084E20D6FBF9}"/>
              </a:ext>
            </a:extLst>
          </p:cNvPr>
          <p:cNvSpPr/>
          <p:nvPr/>
        </p:nvSpPr>
        <p:spPr>
          <a:xfrm>
            <a:off x="5354637" y="1865005"/>
            <a:ext cx="4276148" cy="20202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중점 개선 항목 도출 및 개선 전략 유형 분류</a:t>
            </a:r>
          </a:p>
        </p:txBody>
      </p:sp>
      <p:sp>
        <p:nvSpPr>
          <p:cNvPr id="39" name="Text Box 9">
            <a:extLst>
              <a:ext uri="{FF2B5EF4-FFF2-40B4-BE49-F238E27FC236}">
                <a16:creationId xmlns:a16="http://schemas.microsoft.com/office/drawing/2014/main" id="{58E5056C-EDF9-33A1-BE12-76791C018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781" y="3511255"/>
            <a:ext cx="3992443" cy="672732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>
              <a:spcBef>
                <a:spcPts val="300"/>
              </a:spcBef>
              <a:buClr>
                <a:schemeClr val="tx1"/>
              </a:buClr>
            </a:pP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※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중점개선과제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전체평균 및 준거집단 대비 모두 최우선 열위 항목 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spcBef>
                <a:spcPts val="300"/>
              </a:spcBef>
              <a:buClr>
                <a:schemeClr val="tx1"/>
              </a:buClr>
            </a:pPr>
            <a:r>
              <a:rPr lang="ko-KR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※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내부개선요구과제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전체평균 점수 대비 최우선 열위 항목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spcBef>
                <a:spcPts val="300"/>
              </a:spcBef>
              <a:buClr>
                <a:schemeClr val="tx1"/>
              </a:buClr>
            </a:pPr>
            <a:r>
              <a:rPr lang="ko-KR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※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외부경재력확보과제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타기관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준거집단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대비 최우선 열위 항목</a:t>
            </a:r>
            <a:endParaRPr lang="en-US" altLang="ko-KR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7C2ACA0D-E780-9EE6-5477-A1C66226A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499125"/>
              </p:ext>
            </p:extLst>
          </p:nvPr>
        </p:nvGraphicFramePr>
        <p:xfrm>
          <a:off x="5489781" y="2472022"/>
          <a:ext cx="3997347" cy="1050091"/>
        </p:xfrm>
        <a:graphic>
          <a:graphicData uri="http://schemas.openxmlformats.org/drawingml/2006/table">
            <a:tbl>
              <a:tblPr/>
              <a:tblGrid>
                <a:gridCol w="1137999">
                  <a:extLst>
                    <a:ext uri="{9D8B030D-6E8A-4147-A177-3AD203B41FA5}">
                      <a16:colId xmlns:a16="http://schemas.microsoft.com/office/drawing/2014/main" val="2123859066"/>
                    </a:ext>
                  </a:extLst>
                </a:gridCol>
                <a:gridCol w="1181465">
                  <a:extLst>
                    <a:ext uri="{9D8B030D-6E8A-4147-A177-3AD203B41FA5}">
                      <a16:colId xmlns:a16="http://schemas.microsoft.com/office/drawing/2014/main" val="75718886"/>
                    </a:ext>
                  </a:extLst>
                </a:gridCol>
                <a:gridCol w="1677883">
                  <a:extLst>
                    <a:ext uri="{9D8B030D-6E8A-4147-A177-3AD203B41FA5}">
                      <a16:colId xmlns:a16="http://schemas.microsoft.com/office/drawing/2014/main" val="3445603864"/>
                    </a:ext>
                  </a:extLst>
                </a:gridCol>
              </a:tblGrid>
              <a:tr h="150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진단 요구사항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중점 개선 항목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개선 전략 유형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01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전체평균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최하위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열위 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교육여건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■ 내부 개선 요구 과제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139462"/>
                  </a:ext>
                </a:extLst>
              </a:tr>
              <a:tr h="150013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S12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교대제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■ 중점 개선 과제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439878"/>
                  </a:ext>
                </a:extLst>
              </a:tr>
              <a:tr h="1500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평가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57BB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■ 중점 개선 과제 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57BB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854457"/>
                  </a:ext>
                </a:extLst>
              </a:tr>
              <a:tr h="15001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준거집단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최하위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열위 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교대제</a:t>
                      </a:r>
                      <a:endParaRPr lang="en-US" altLang="ko-KR" sz="8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■ 외부 경쟁력 확보 과제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93837"/>
                  </a:ext>
                </a:extLst>
              </a:tr>
              <a:tr h="1500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교육여건</a:t>
                      </a:r>
                      <a:endParaRPr lang="en-US" altLang="ko-KR" sz="8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■ 외부 경쟁력 확보 과제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424658"/>
                  </a:ext>
                </a:extLst>
              </a:tr>
              <a:tr h="150013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S31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126" rtl="0" eaLnBrk="1" fontAlgn="ctr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평가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■ 중점 개선 과제 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169633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B19E4D5F-DD31-5F8F-4135-6F38BB0C7727}"/>
              </a:ext>
            </a:extLst>
          </p:cNvPr>
          <p:cNvSpPr txBox="1"/>
          <p:nvPr/>
        </p:nvSpPr>
        <p:spPr>
          <a:xfrm>
            <a:off x="5354637" y="4178801"/>
            <a:ext cx="4140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* </a:t>
            </a:r>
            <a:r>
              <a:rPr lang="ko-KR" altLang="en-US" sz="1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중점 개선 과제 </a:t>
            </a:r>
            <a:r>
              <a:rPr lang="en-US" altLang="ko-KR" sz="1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</a:t>
            </a:r>
            <a:r>
              <a:rPr lang="ko-KR" altLang="en-US" sz="1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내부 평가 미흡 항목 </a:t>
            </a:r>
            <a:r>
              <a:rPr lang="en-US" altLang="ko-KR" sz="1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and </a:t>
            </a:r>
            <a:r>
              <a:rPr lang="ko-KR" altLang="en-US" sz="1000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타기관 대비 경쟁력 열위 항목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C28293A-4B73-12B0-CCC0-760FC85C01DC}"/>
              </a:ext>
            </a:extLst>
          </p:cNvPr>
          <p:cNvGrpSpPr/>
          <p:nvPr/>
        </p:nvGrpSpPr>
        <p:grpSpPr>
          <a:xfrm>
            <a:off x="5325559" y="1534116"/>
            <a:ext cx="4282946" cy="271988"/>
            <a:chOff x="274768" y="1708295"/>
            <a:chExt cx="7016620" cy="271988"/>
          </a:xfrm>
        </p:grpSpPr>
        <p:sp>
          <p:nvSpPr>
            <p:cNvPr id="44" name="ListLeanHorizontalTextTopic0">
              <a:extLst>
                <a:ext uri="{FF2B5EF4-FFF2-40B4-BE49-F238E27FC236}">
                  <a16:creationId xmlns:a16="http://schemas.microsoft.com/office/drawing/2014/main" id="{E29F8AAD-3145-B53B-D687-7725369791D8}"/>
                </a:ext>
              </a:extLst>
            </p:cNvPr>
            <p:cNvSpPr txBox="1"/>
            <p:nvPr/>
          </p:nvSpPr>
          <p:spPr>
            <a:xfrm>
              <a:off x="312001" y="1708295"/>
              <a:ext cx="6979387" cy="27198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72000" rtlCol="0" anchor="b">
              <a:spAutoFit/>
            </a:bodyPr>
            <a:lstStyle>
              <a:defPPr>
                <a:defRPr lang="en-US"/>
              </a:defPPr>
              <a:lvl1pPr algn="ctr" defTabSz="914400">
                <a:lnSpc>
                  <a:spcPct val="90000"/>
                </a:lnSpc>
                <a:spcBef>
                  <a:spcPts val="400"/>
                </a:spcBef>
                <a:buSzPct val="100000"/>
                <a:defRPr sz="1400" ker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pPr>
                <a:defRPr/>
              </a:pPr>
              <a:r>
                <a:rPr lang="en-US" altLang="ko-KR" kern="12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Gap </a:t>
              </a:r>
              <a:r>
                <a:rPr lang="ko-KR" altLang="en-US" kern="12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분석을 통한 중점 항목 도출</a:t>
              </a:r>
              <a:endParaRPr lang="en-US" altLang="ko-KR" kern="1200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45" name="직선 연결선 54">
              <a:extLst>
                <a:ext uri="{FF2B5EF4-FFF2-40B4-BE49-F238E27FC236}">
                  <a16:creationId xmlns:a16="http://schemas.microsoft.com/office/drawing/2014/main" id="{4657E598-6FE8-151B-4AE4-E09D347799BA}"/>
                </a:ext>
              </a:extLst>
            </p:cNvPr>
            <p:cNvCxnSpPr>
              <a:cxnSpLocks/>
            </p:cNvCxnSpPr>
            <p:nvPr/>
          </p:nvCxnSpPr>
          <p:spPr>
            <a:xfrm>
              <a:off x="274768" y="1952820"/>
              <a:ext cx="7016620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31C1036-DF23-7DFA-D64D-49555F6F9B1D}"/>
              </a:ext>
            </a:extLst>
          </p:cNvPr>
          <p:cNvSpPr txBox="1"/>
          <p:nvPr/>
        </p:nvSpPr>
        <p:spPr>
          <a:xfrm>
            <a:off x="971670" y="3939796"/>
            <a:ext cx="6226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2E5C9C-906C-E2A6-5D89-172264C3E8E8}"/>
              </a:ext>
            </a:extLst>
          </p:cNvPr>
          <p:cNvSpPr txBox="1"/>
          <p:nvPr/>
        </p:nvSpPr>
        <p:spPr>
          <a:xfrm>
            <a:off x="1483739" y="5155583"/>
            <a:ext cx="6226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교대제</a:t>
            </a:r>
          </a:p>
        </p:txBody>
      </p:sp>
      <p:sp>
        <p:nvSpPr>
          <p:cNvPr id="51" name="직사각형 5">
            <a:extLst>
              <a:ext uri="{FF2B5EF4-FFF2-40B4-BE49-F238E27FC236}">
                <a16:creationId xmlns:a16="http://schemas.microsoft.com/office/drawing/2014/main" id="{F2CCA697-EBC5-5F5B-F94F-5C5E2A97B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6" y="4466622"/>
            <a:ext cx="4284664" cy="150731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  <a:miter lim="800000"/>
            <a:headEnd/>
            <a:tailEnd type="none" w="lg" len="med"/>
          </a:ln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charset="0"/>
            </a:endParaRPr>
          </a:p>
        </p:txBody>
      </p:sp>
      <p:sp>
        <p:nvSpPr>
          <p:cNvPr id="52" name="모서리가 둥근 직사각형 51">
            <a:extLst>
              <a:ext uri="{FF2B5EF4-FFF2-40B4-BE49-F238E27FC236}">
                <a16:creationId xmlns:a16="http://schemas.microsoft.com/office/drawing/2014/main" id="{5FEFA391-0627-70FC-A8BF-457F01DEE05D}"/>
              </a:ext>
            </a:extLst>
          </p:cNvPr>
          <p:cNvSpPr/>
          <p:nvPr/>
        </p:nvSpPr>
        <p:spPr>
          <a:xfrm>
            <a:off x="5354637" y="4486212"/>
            <a:ext cx="4276148" cy="20202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기업 자체진단을 통한 조직의 선제적 과제 </a:t>
            </a:r>
          </a:p>
        </p:txBody>
      </p:sp>
      <p:sp>
        <p:nvSpPr>
          <p:cNvPr id="53" name="Text Box 9">
            <a:extLst>
              <a:ext uri="{FF2B5EF4-FFF2-40B4-BE49-F238E27FC236}">
                <a16:creationId xmlns:a16="http://schemas.microsoft.com/office/drawing/2014/main" id="{9C0EABF5-DCEF-A925-23F2-8B47D414F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810" y="4880673"/>
            <a:ext cx="3992443" cy="910228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171450" indent="-171450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100" spc="-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성과 중심의 평가제도 정비 및 임금체계 연동을 통한 신뢰 기반 구축</a:t>
            </a:r>
            <a:endParaRPr lang="en-US" altLang="ko-KR" sz="1100" spc="-5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교대제 직무 특성을 반영한 임금체계 개편 및 근무환경 개선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직무역량 기반 교육훈련 강화 및 성과 연계형 보상체계 구축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4325E-30A0-14AF-74C4-F8FDA08A78FB}"/>
              </a:ext>
            </a:extLst>
          </p:cNvPr>
          <p:cNvSpPr txBox="1"/>
          <p:nvPr/>
        </p:nvSpPr>
        <p:spPr>
          <a:xfrm>
            <a:off x="862986" y="4903268"/>
            <a:ext cx="6226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교육여건</a:t>
            </a:r>
          </a:p>
        </p:txBody>
      </p:sp>
    </p:spTree>
    <p:extLst>
      <p:ext uri="{BB962C8B-B14F-4D97-AF65-F5344CB8AC3E}">
        <p14:creationId xmlns:p14="http://schemas.microsoft.com/office/powerpoint/2010/main" val="25523748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158F3A-AE79-4991-A6DB-19960E16A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/>
              <a:t>현 제도에 대한 문제의식</a:t>
            </a:r>
            <a:r>
              <a:rPr lang="en-US" altLang="ko-KR"/>
              <a:t>, </a:t>
            </a:r>
            <a:r>
              <a:rPr lang="ko-KR" altLang="en-US"/>
              <a:t>향후 제도를 통해 실현하고 싶은 것 등에 대해 의견을 교환하고자 현장을 대표하는 직원들을 대상으로 인터뷰를 시행함</a:t>
            </a:r>
          </a:p>
        </p:txBody>
      </p:sp>
      <p:sp>
        <p:nvSpPr>
          <p:cNvPr id="57" name="텍스트 개체 틀 56">
            <a:extLst>
              <a:ext uri="{FF2B5EF4-FFF2-40B4-BE49-F238E27FC236}">
                <a16:creationId xmlns:a16="http://schemas.microsoft.com/office/drawing/2014/main" id="{6C91FDB3-50C7-2B0B-81EF-B25754384C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26F897D9-2394-DDAD-5283-D4C347C0E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>
            <a:noAutofit/>
          </a:bodyPr>
          <a:lstStyle/>
          <a:p>
            <a:r>
              <a:rPr lang="ko-KR" altLang="en-US" dirty="0"/>
              <a:t>인터뷰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</a:p>
        </p:txBody>
      </p:sp>
      <p:sp>
        <p:nvSpPr>
          <p:cNvPr id="58" name="텍스트 개체 틀 57">
            <a:extLst>
              <a:ext uri="{FF2B5EF4-FFF2-40B4-BE49-F238E27FC236}">
                <a16:creationId xmlns:a16="http://schemas.microsoft.com/office/drawing/2014/main" id="{4FF9252B-C6B5-4A32-09C6-D3835B52C5E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16FE9C9-C311-4B0B-835A-DFA762403CE6}"/>
              </a:ext>
            </a:extLst>
          </p:cNvPr>
          <p:cNvGrpSpPr/>
          <p:nvPr/>
        </p:nvGrpSpPr>
        <p:grpSpPr>
          <a:xfrm>
            <a:off x="276268" y="1713014"/>
            <a:ext cx="9355183" cy="267735"/>
            <a:chOff x="274768" y="1712462"/>
            <a:chExt cx="9358182" cy="267821"/>
          </a:xfrm>
        </p:grpSpPr>
        <p:sp>
          <p:nvSpPr>
            <p:cNvPr id="17" name="ListLeanHorizontalTextTopic0">
              <a:extLst>
                <a:ext uri="{FF2B5EF4-FFF2-40B4-BE49-F238E27FC236}">
                  <a16:creationId xmlns:a16="http://schemas.microsoft.com/office/drawing/2014/main" id="{643BA29D-F77D-41FE-BD1B-6AAA4240F6EF}"/>
                </a:ext>
              </a:extLst>
            </p:cNvPr>
            <p:cNvSpPr txBox="1"/>
            <p:nvPr/>
          </p:nvSpPr>
          <p:spPr>
            <a:xfrm>
              <a:off x="312001" y="1712462"/>
              <a:ext cx="9316056" cy="267821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71977" rtlCol="0" anchor="b">
              <a:spAutoFit/>
            </a:bodyPr>
            <a:lstStyle/>
            <a:p>
              <a:pPr algn="ctr" defTabSz="914126" latinLnBrk="0">
                <a:lnSpc>
                  <a:spcPct val="90000"/>
                </a:lnSpc>
                <a:spcBef>
                  <a:spcPts val="400"/>
                </a:spcBef>
                <a:buSzPct val="100000"/>
                <a:defRPr/>
              </a:pPr>
              <a:r>
                <a:rPr lang="ko-KR" altLang="en-US" sz="1400" kern="0">
                  <a:solidFill>
                    <a:prstClr val="black"/>
                  </a:solidFill>
                  <a:latin typeface="나눔바른고딕" panose="020B0600000101010101" pitchFamily="50" charset="-127"/>
                  <a:ea typeface="나눔바른고딕" panose="020B0600000101010101" pitchFamily="50" charset="-127"/>
                  <a:cs typeface="Arial Narrow" pitchFamily="34" charset="0"/>
                </a:rPr>
                <a:t>인터뷰 세부 추진 사항</a:t>
              </a:r>
              <a:endParaRPr lang="en-US" altLang="ko-KR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E3F69A0-78F8-4C5F-A6F2-FCFF6C563376}"/>
                </a:ext>
              </a:extLst>
            </p:cNvPr>
            <p:cNvCxnSpPr/>
            <p:nvPr/>
          </p:nvCxnSpPr>
          <p:spPr>
            <a:xfrm>
              <a:off x="274768" y="1952820"/>
              <a:ext cx="935818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6" name="표 23">
            <a:extLst>
              <a:ext uri="{FF2B5EF4-FFF2-40B4-BE49-F238E27FC236}">
                <a16:creationId xmlns:a16="http://schemas.microsoft.com/office/drawing/2014/main" id="{61E61C18-A9E2-4883-989C-0F1E00300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782485"/>
              </p:ext>
            </p:extLst>
          </p:nvPr>
        </p:nvGraphicFramePr>
        <p:xfrm>
          <a:off x="271464" y="2311858"/>
          <a:ext cx="4079817" cy="387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0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6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목적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latinLnBrk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itchFamily="2" charset="2"/>
                        <a:buChar char="§"/>
                      </a:pPr>
                      <a:r>
                        <a:rPr lang="ko-KR" altLang="en-US" sz="1100" b="0" spc="0" baseline="0" dirty="0">
                          <a:solidFill>
                            <a:schemeClr val="tx1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현행 근무제도 및 업무환경에 대한</a:t>
                      </a:r>
                      <a:r>
                        <a:rPr lang="en-US" altLang="ko-KR" sz="1100" b="0" spc="0" baseline="0" dirty="0">
                          <a:solidFill>
                            <a:schemeClr val="tx1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 </a:t>
                      </a:r>
                      <a:r>
                        <a:rPr lang="ko-KR" altLang="en-US" sz="1100" b="0" spc="0" baseline="0" dirty="0">
                          <a:solidFill>
                            <a:schemeClr val="tx1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이해관계자 의견수렴을 통해 개선사항 도출</a:t>
                      </a:r>
                    </a:p>
                  </a:txBody>
                  <a:tcPr marL="91382" marR="91382" marT="45690" marB="456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인터뷰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 일자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latinLnBrk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1</a:t>
                      </a:r>
                      <a:r>
                        <a:rPr lang="ko-KR" altLang="en-US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차 </a:t>
                      </a: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2025.07.02(</a:t>
                      </a:r>
                      <a:r>
                        <a:rPr lang="ko-KR" altLang="en-US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수</a:t>
                      </a: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) 09:00 ~ 12:00</a:t>
                      </a:r>
                    </a:p>
                    <a:p>
                      <a:pPr marL="108000" indent="-108000" latinLnBrk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2</a:t>
                      </a:r>
                      <a:r>
                        <a:rPr lang="ko-KR" altLang="en-US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차 </a:t>
                      </a: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2025.07.03(</a:t>
                      </a:r>
                      <a:r>
                        <a:rPr lang="ko-KR" altLang="en-US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금</a:t>
                      </a: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) 09:00 ~ 12:00</a:t>
                      </a:r>
                    </a:p>
                    <a:p>
                      <a:pPr marL="108000" indent="-108000" latinLnBrk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3</a:t>
                      </a:r>
                      <a:r>
                        <a:rPr lang="ko-KR" altLang="en-US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차 </a:t>
                      </a: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2025.07.08(</a:t>
                      </a:r>
                      <a:r>
                        <a:rPr lang="ko-KR" altLang="en-US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화</a:t>
                      </a:r>
                      <a:r>
                        <a:rPr lang="en-US" altLang="ko-KR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) 09:00 ~ 12:00</a:t>
                      </a:r>
                    </a:p>
                  </a:txBody>
                  <a:tcPr marL="91382" marR="91382" marT="45690" marB="456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인터뷰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장소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-108000" latinLnBrk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itchFamily="2" charset="2"/>
                        <a:buChar char="§"/>
                      </a:pPr>
                      <a:r>
                        <a:rPr lang="ko-KR" altLang="en-US" sz="1100" b="0" i="0" spc="0" baseline="0" dirty="0"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회의실</a:t>
                      </a:r>
                      <a:endParaRPr lang="en-US" altLang="ko-KR" sz="1100" b="0" i="0" spc="0" baseline="0" dirty="0"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인터뷰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대상자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경영진</a:t>
                      </a:r>
                      <a:r>
                        <a:rPr lang="en-US" altLang="ko-KR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, </a:t>
                      </a: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근로자대표</a:t>
                      </a:r>
                      <a:r>
                        <a:rPr lang="en-US" altLang="ko-KR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, </a:t>
                      </a: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근로자 등 </a:t>
                      </a:r>
                      <a:r>
                        <a:rPr lang="en-US" altLang="ko-KR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12</a:t>
                      </a: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명</a:t>
                      </a:r>
                    </a:p>
                  </a:txBody>
                  <a:tcPr marL="91382" marR="91382" marT="45690" marB="456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인터뷰 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진행자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spc="0" baseline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수행기관 컨설턴트</a:t>
                      </a:r>
                      <a:endParaRPr lang="en-US" altLang="ko-KR" sz="1100" spc="0" baseline="0" dirty="0">
                        <a:solidFill>
                          <a:prstClr val="black"/>
                        </a:solidFill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2274"/>
                  </a:ext>
                </a:extLst>
              </a:tr>
              <a:tr h="636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Arial" panose="020B0604020202020204" pitchFamily="34" charset="0"/>
                        </a:rPr>
                        <a:t>주요내용</a:t>
                      </a:r>
                      <a:endParaRPr kumimoji="0" lang="en-US" altLang="ko-KR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경영철학</a:t>
                      </a:r>
                      <a:r>
                        <a:rPr lang="en-US" altLang="ko-KR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, </a:t>
                      </a: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노사관계</a:t>
                      </a:r>
                      <a:r>
                        <a:rPr lang="en-US" altLang="ko-KR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, </a:t>
                      </a: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근무제도</a:t>
                      </a:r>
                      <a:r>
                        <a:rPr lang="en-US" altLang="ko-KR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, </a:t>
                      </a: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일하는 방식 등</a:t>
                      </a:r>
                      <a:br>
                        <a:rPr lang="en-US" altLang="ko-KR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</a:br>
                      <a:r>
                        <a:rPr lang="ko-KR" altLang="en-US" sz="1100" spc="0" baseline="0" dirty="0">
                          <a:solidFill>
                            <a:prstClr val="black"/>
                          </a:solidFill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인사제도 전반에 관한 의견청취</a:t>
                      </a:r>
                      <a:endParaRPr lang="en-US" altLang="ko-KR" sz="1100" spc="0" baseline="0" dirty="0">
                        <a:solidFill>
                          <a:prstClr val="black"/>
                        </a:solidFill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805533"/>
                  </a:ext>
                </a:extLst>
              </a:tr>
            </a:tbl>
          </a:graphicData>
        </a:graphic>
      </p:graphicFrame>
      <p:grpSp>
        <p:nvGrpSpPr>
          <p:cNvPr id="37" name="그룹 36">
            <a:extLst>
              <a:ext uri="{FF2B5EF4-FFF2-40B4-BE49-F238E27FC236}">
                <a16:creationId xmlns:a16="http://schemas.microsoft.com/office/drawing/2014/main" id="{8F017420-0757-4D1E-8AF5-226A30DAE880}"/>
              </a:ext>
            </a:extLst>
          </p:cNvPr>
          <p:cNvGrpSpPr/>
          <p:nvPr/>
        </p:nvGrpSpPr>
        <p:grpSpPr>
          <a:xfrm>
            <a:off x="313590" y="2008625"/>
            <a:ext cx="4208759" cy="276999"/>
            <a:chOff x="314324" y="1992771"/>
            <a:chExt cx="4208759" cy="27699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90DB999-36B4-4961-A629-72BC12A4522C}"/>
                </a:ext>
              </a:extLst>
            </p:cNvPr>
            <p:cNvSpPr txBox="1"/>
            <p:nvPr/>
          </p:nvSpPr>
          <p:spPr>
            <a:xfrm>
              <a:off x="422323" y="1992771"/>
              <a:ext cx="41007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ko-KR" altLang="en-US" sz="1200" kern="0">
                  <a:solidFill>
                    <a:prstClr val="black"/>
                  </a:solidFill>
                  <a:latin typeface="나눔바른고딕" panose="020B0600000101010101" pitchFamily="50" charset="-127"/>
                  <a:ea typeface="나눔바른고딕" panose="020B0600000101010101" pitchFamily="50" charset="-127"/>
                </a:rPr>
                <a:t>인터뷰 추진개요</a:t>
              </a:r>
              <a:endParaRPr lang="en-US" altLang="ko-KR" sz="1200" kern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endParaRPr>
            </a:p>
          </p:txBody>
        </p:sp>
        <p:sp>
          <p:nvSpPr>
            <p:cNvPr id="40" name="순서도: 연결자 39">
              <a:extLst>
                <a:ext uri="{FF2B5EF4-FFF2-40B4-BE49-F238E27FC236}">
                  <a16:creationId xmlns:a16="http://schemas.microsoft.com/office/drawing/2014/main" id="{812B9A99-D142-4CAF-AEF2-83D99C7B5D8E}"/>
                </a:ext>
              </a:extLst>
            </p:cNvPr>
            <p:cNvSpPr/>
            <p:nvPr/>
          </p:nvSpPr>
          <p:spPr>
            <a:xfrm>
              <a:off x="314324" y="2076450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rgbClr val="FFC000">
                  <a:alpha val="6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atinLnBrk="0">
                <a:defRPr/>
              </a:pPr>
              <a:endParaRPr lang="ko-KR" altLang="en-US" sz="500" b="1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CD9286C-5689-4F8F-9179-9F9DA61DD287}"/>
              </a:ext>
            </a:extLst>
          </p:cNvPr>
          <p:cNvGrpSpPr/>
          <p:nvPr/>
        </p:nvGrpSpPr>
        <p:grpSpPr>
          <a:xfrm>
            <a:off x="4740044" y="2008625"/>
            <a:ext cx="4208759" cy="276999"/>
            <a:chOff x="4919521" y="2008624"/>
            <a:chExt cx="4208759" cy="276999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2CF6A6E-8608-453E-ABE4-BF1D90237DFC}"/>
                </a:ext>
              </a:extLst>
            </p:cNvPr>
            <p:cNvSpPr txBox="1"/>
            <p:nvPr/>
          </p:nvSpPr>
          <p:spPr>
            <a:xfrm>
              <a:off x="5027520" y="2008624"/>
              <a:ext cx="41007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ko-KR" altLang="en-US" sz="1200" kern="0">
                  <a:solidFill>
                    <a:prstClr val="black"/>
                  </a:solidFill>
                  <a:latin typeface="나눔바른고딕" panose="020B0600000101010101" pitchFamily="50" charset="-127"/>
                  <a:ea typeface="나눔바른고딕" panose="020B0600000101010101" pitchFamily="50" charset="-127"/>
                </a:rPr>
                <a:t>인터뷰 대상자</a:t>
              </a:r>
              <a:endParaRPr lang="en-US" altLang="ko-KR" sz="1200" kern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endParaRPr>
            </a:p>
          </p:txBody>
        </p:sp>
        <p:sp>
          <p:nvSpPr>
            <p:cNvPr id="47" name="순서도: 연결자 46">
              <a:extLst>
                <a:ext uri="{FF2B5EF4-FFF2-40B4-BE49-F238E27FC236}">
                  <a16:creationId xmlns:a16="http://schemas.microsoft.com/office/drawing/2014/main" id="{436A620C-84CC-4E9B-A97F-6A1D324D140D}"/>
                </a:ext>
              </a:extLst>
            </p:cNvPr>
            <p:cNvSpPr/>
            <p:nvPr/>
          </p:nvSpPr>
          <p:spPr>
            <a:xfrm>
              <a:off x="4919521" y="2092303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rgbClr val="FFC000">
                  <a:alpha val="6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atinLnBrk="0">
                <a:defRPr/>
              </a:pPr>
              <a:endParaRPr lang="ko-KR" altLang="en-US" sz="500" b="1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E3F5A17-E5FD-43C3-8FCC-5F418203DB5D}"/>
              </a:ext>
            </a:extLst>
          </p:cNvPr>
          <p:cNvSpPr txBox="1"/>
          <p:nvPr/>
        </p:nvSpPr>
        <p:spPr>
          <a:xfrm>
            <a:off x="4766877" y="2190459"/>
            <a:ext cx="4100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&lt;1</a:t>
            </a:r>
            <a:r>
              <a:rPr lang="ko-KR" altLang="en-US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차 인터뷰</a:t>
            </a:r>
            <a:r>
              <a:rPr lang="en-US" altLang="ko-KR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&gt;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E379D530-7B0C-4D26-A2F7-F93C62987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142597"/>
              </p:ext>
            </p:extLst>
          </p:nvPr>
        </p:nvGraphicFramePr>
        <p:xfrm>
          <a:off x="4887097" y="2444652"/>
          <a:ext cx="4692794" cy="80137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2445">
                  <a:extLst>
                    <a:ext uri="{9D8B030D-6E8A-4147-A177-3AD203B41FA5}">
                      <a16:colId xmlns:a16="http://schemas.microsoft.com/office/drawing/2014/main" val="2877828739"/>
                    </a:ext>
                  </a:extLst>
                </a:gridCol>
                <a:gridCol w="967303">
                  <a:extLst>
                    <a:ext uri="{9D8B030D-6E8A-4147-A177-3AD203B41FA5}">
                      <a16:colId xmlns:a16="http://schemas.microsoft.com/office/drawing/2014/main" val="1765691947"/>
                    </a:ext>
                  </a:extLst>
                </a:gridCol>
                <a:gridCol w="863000">
                  <a:extLst>
                    <a:ext uri="{9D8B030D-6E8A-4147-A177-3AD203B41FA5}">
                      <a16:colId xmlns:a16="http://schemas.microsoft.com/office/drawing/2014/main" val="900080189"/>
                    </a:ext>
                  </a:extLst>
                </a:gridCol>
                <a:gridCol w="650511">
                  <a:extLst>
                    <a:ext uri="{9D8B030D-6E8A-4147-A177-3AD203B41FA5}">
                      <a16:colId xmlns:a16="http://schemas.microsoft.com/office/drawing/2014/main" val="3012357852"/>
                    </a:ext>
                  </a:extLst>
                </a:gridCol>
                <a:gridCol w="1019908">
                  <a:extLst>
                    <a:ext uri="{9D8B030D-6E8A-4147-A177-3AD203B41FA5}">
                      <a16:colId xmlns:a16="http://schemas.microsoft.com/office/drawing/2014/main" val="3573252034"/>
                    </a:ext>
                  </a:extLst>
                </a:gridCol>
                <a:gridCol w="939627">
                  <a:extLst>
                    <a:ext uri="{9D8B030D-6E8A-4147-A177-3AD203B41FA5}">
                      <a16:colId xmlns:a16="http://schemas.microsoft.com/office/drawing/2014/main" val="542313148"/>
                    </a:ext>
                  </a:extLst>
                </a:gridCol>
              </a:tblGrid>
              <a:tr h="48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NO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성 명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부서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직위</a:t>
                      </a:r>
                      <a:r>
                        <a:rPr lang="en-US" altLang="ko-KR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직급</a:t>
                      </a:r>
                      <a:r>
                        <a:rPr lang="en-US" altLang="ko-KR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50" u="none" strike="noStrike" kern="1200" spc="0" baseline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인터뷰 시간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10528"/>
                  </a:ext>
                </a:extLst>
              </a:tr>
              <a:tr h="465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유태식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컨설팅사업부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사원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09:00~12:00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567133"/>
                  </a:ext>
                </a:extLst>
              </a:tr>
              <a:tr h="465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장은한</a:t>
                      </a:r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솔루션사업부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주임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884123"/>
                  </a:ext>
                </a:extLst>
              </a:tr>
              <a:tr h="465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조성준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컨설팅사업부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과장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205427"/>
                  </a:ext>
                </a:extLst>
              </a:tr>
              <a:tr h="465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김성민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컨설팅사업부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대리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468982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6C43A05A-E89D-450A-9F1F-EDBC6BA435AF}"/>
              </a:ext>
            </a:extLst>
          </p:cNvPr>
          <p:cNvSpPr txBox="1"/>
          <p:nvPr/>
        </p:nvSpPr>
        <p:spPr>
          <a:xfrm>
            <a:off x="4748771" y="5292432"/>
            <a:ext cx="4100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&lt;</a:t>
            </a:r>
            <a:r>
              <a:rPr lang="ko-KR" altLang="en-US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인터뷰 이미지</a:t>
            </a:r>
            <a:r>
              <a:rPr lang="en-US" altLang="ko-KR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9FC3E2-6859-ED5B-074A-2B94042535A0}"/>
              </a:ext>
            </a:extLst>
          </p:cNvPr>
          <p:cNvSpPr txBox="1"/>
          <p:nvPr/>
        </p:nvSpPr>
        <p:spPr>
          <a:xfrm>
            <a:off x="4766877" y="3251673"/>
            <a:ext cx="4100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&lt;2</a:t>
            </a:r>
            <a:r>
              <a:rPr lang="ko-KR" altLang="en-US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차 인터뷰</a:t>
            </a:r>
            <a:r>
              <a:rPr lang="en-US" altLang="ko-KR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&gt;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D38530F-456D-0710-6E8B-17F7C9928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566048"/>
              </p:ext>
            </p:extLst>
          </p:nvPr>
        </p:nvGraphicFramePr>
        <p:xfrm>
          <a:off x="4887097" y="3505866"/>
          <a:ext cx="4692794" cy="6426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2445">
                  <a:extLst>
                    <a:ext uri="{9D8B030D-6E8A-4147-A177-3AD203B41FA5}">
                      <a16:colId xmlns:a16="http://schemas.microsoft.com/office/drawing/2014/main" val="2877828739"/>
                    </a:ext>
                  </a:extLst>
                </a:gridCol>
                <a:gridCol w="967303">
                  <a:extLst>
                    <a:ext uri="{9D8B030D-6E8A-4147-A177-3AD203B41FA5}">
                      <a16:colId xmlns:a16="http://schemas.microsoft.com/office/drawing/2014/main" val="1765691947"/>
                    </a:ext>
                  </a:extLst>
                </a:gridCol>
                <a:gridCol w="863000">
                  <a:extLst>
                    <a:ext uri="{9D8B030D-6E8A-4147-A177-3AD203B41FA5}">
                      <a16:colId xmlns:a16="http://schemas.microsoft.com/office/drawing/2014/main" val="900080189"/>
                    </a:ext>
                  </a:extLst>
                </a:gridCol>
                <a:gridCol w="650511">
                  <a:extLst>
                    <a:ext uri="{9D8B030D-6E8A-4147-A177-3AD203B41FA5}">
                      <a16:colId xmlns:a16="http://schemas.microsoft.com/office/drawing/2014/main" val="3012357852"/>
                    </a:ext>
                  </a:extLst>
                </a:gridCol>
                <a:gridCol w="1019908">
                  <a:extLst>
                    <a:ext uri="{9D8B030D-6E8A-4147-A177-3AD203B41FA5}">
                      <a16:colId xmlns:a16="http://schemas.microsoft.com/office/drawing/2014/main" val="3573252034"/>
                    </a:ext>
                  </a:extLst>
                </a:gridCol>
                <a:gridCol w="939627">
                  <a:extLst>
                    <a:ext uri="{9D8B030D-6E8A-4147-A177-3AD203B41FA5}">
                      <a16:colId xmlns:a16="http://schemas.microsoft.com/office/drawing/2014/main" val="542313148"/>
                    </a:ext>
                  </a:extLst>
                </a:gridCol>
              </a:tblGrid>
              <a:tr h="529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NO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성 명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부서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직위</a:t>
                      </a:r>
                      <a:r>
                        <a:rPr lang="en-US" altLang="ko-KR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직급</a:t>
                      </a:r>
                      <a:r>
                        <a:rPr lang="en-US" altLang="ko-KR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50" u="none" strike="noStrike" kern="1200" spc="0" baseline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인터뷰 시간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10528"/>
                  </a:ext>
                </a:extLst>
              </a:tr>
              <a:tr h="504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장훈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컨설팅사업부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차장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09:00~12:00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567133"/>
                  </a:ext>
                </a:extLst>
              </a:tr>
              <a:tr h="504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김가연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컨설팅사업부</a:t>
                      </a:r>
                      <a:endParaRPr lang="en-US" altLang="ko-KR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대리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884123"/>
                  </a:ext>
                </a:extLst>
              </a:tr>
              <a:tr h="504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한근수</a:t>
                      </a:r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컨설팅사업부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대리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20542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9EF4324-95ED-0B92-1755-26DAA981C709}"/>
              </a:ext>
            </a:extLst>
          </p:cNvPr>
          <p:cNvSpPr txBox="1"/>
          <p:nvPr/>
        </p:nvSpPr>
        <p:spPr>
          <a:xfrm>
            <a:off x="4766877" y="4142805"/>
            <a:ext cx="4100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&lt;3</a:t>
            </a:r>
            <a:r>
              <a:rPr lang="ko-KR" altLang="en-US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차 인터뷰</a:t>
            </a:r>
            <a:r>
              <a:rPr lang="en-US" altLang="ko-KR" sz="11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</a:rPr>
              <a:t>&gt;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3E09C2C-5C40-E3A4-870A-E4D8D4E77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64853"/>
              </p:ext>
            </p:extLst>
          </p:nvPr>
        </p:nvGraphicFramePr>
        <p:xfrm>
          <a:off x="4887097" y="4368364"/>
          <a:ext cx="4692794" cy="960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2445">
                  <a:extLst>
                    <a:ext uri="{9D8B030D-6E8A-4147-A177-3AD203B41FA5}">
                      <a16:colId xmlns:a16="http://schemas.microsoft.com/office/drawing/2014/main" val="2877828739"/>
                    </a:ext>
                  </a:extLst>
                </a:gridCol>
                <a:gridCol w="967303">
                  <a:extLst>
                    <a:ext uri="{9D8B030D-6E8A-4147-A177-3AD203B41FA5}">
                      <a16:colId xmlns:a16="http://schemas.microsoft.com/office/drawing/2014/main" val="1765691947"/>
                    </a:ext>
                  </a:extLst>
                </a:gridCol>
                <a:gridCol w="863000">
                  <a:extLst>
                    <a:ext uri="{9D8B030D-6E8A-4147-A177-3AD203B41FA5}">
                      <a16:colId xmlns:a16="http://schemas.microsoft.com/office/drawing/2014/main" val="900080189"/>
                    </a:ext>
                  </a:extLst>
                </a:gridCol>
                <a:gridCol w="650511">
                  <a:extLst>
                    <a:ext uri="{9D8B030D-6E8A-4147-A177-3AD203B41FA5}">
                      <a16:colId xmlns:a16="http://schemas.microsoft.com/office/drawing/2014/main" val="3012357852"/>
                    </a:ext>
                  </a:extLst>
                </a:gridCol>
                <a:gridCol w="1019908">
                  <a:extLst>
                    <a:ext uri="{9D8B030D-6E8A-4147-A177-3AD203B41FA5}">
                      <a16:colId xmlns:a16="http://schemas.microsoft.com/office/drawing/2014/main" val="3573252034"/>
                    </a:ext>
                  </a:extLst>
                </a:gridCol>
                <a:gridCol w="939627">
                  <a:extLst>
                    <a:ext uri="{9D8B030D-6E8A-4147-A177-3AD203B41FA5}">
                      <a16:colId xmlns:a16="http://schemas.microsoft.com/office/drawing/2014/main" val="542313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NO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성 명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부서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직위</a:t>
                      </a:r>
                      <a:r>
                        <a:rPr lang="en-US" altLang="ko-KR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직급</a:t>
                      </a:r>
                      <a:r>
                        <a:rPr lang="en-US" altLang="ko-KR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50" u="none" strike="noStrike" kern="1200" spc="0" baseline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인터뷰 시간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1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김우람</a:t>
                      </a:r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솔루션사업부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과장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09:00~12:00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56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하은주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전략기획</a:t>
                      </a:r>
                      <a:endParaRPr lang="en-US" altLang="ko-KR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부장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884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유재영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컨설팅사업부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부장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20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신재민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컨설팅사업부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부장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96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송헌영</a:t>
                      </a:r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전략기획</a:t>
                      </a:r>
                      <a:endParaRPr 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  <a:cs typeface="+mn-cs"/>
                        </a:rPr>
                        <a:t>이사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  <a:cs typeface="+mn-cs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975611"/>
                  </a:ext>
                </a:extLst>
              </a:tr>
            </a:tbl>
          </a:graphicData>
        </a:graphic>
      </p:graphicFrame>
      <p:pic>
        <p:nvPicPr>
          <p:cNvPr id="35" name="그림 34" descr="실내, 가구, 벽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BF6F7C-819A-4CFB-A962-503113FC1EFC}"/>
              </a:ext>
            </a:extLst>
          </p:cNvPr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522" y="5489400"/>
            <a:ext cx="778427" cy="787381"/>
          </a:xfrm>
          <a:prstGeom prst="rect">
            <a:avLst/>
          </a:prstGeom>
        </p:spPr>
      </p:pic>
      <p:pic>
        <p:nvPicPr>
          <p:cNvPr id="42" name="그림 41" descr="실내, 벽, 가구, 테이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758607-9568-5DC9-C787-B2229E372FB0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225" y="5489400"/>
            <a:ext cx="778427" cy="787381"/>
          </a:xfrm>
          <a:prstGeom prst="rect">
            <a:avLst/>
          </a:prstGeom>
        </p:spPr>
      </p:pic>
      <p:pic>
        <p:nvPicPr>
          <p:cNvPr id="3" name="그림 2" descr="텍스트, 실내, 가구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63B529-4388-BA7F-50C3-DDAB3370FEF5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929" y="5489400"/>
            <a:ext cx="778427" cy="778427"/>
          </a:xfrm>
          <a:prstGeom prst="rect">
            <a:avLst/>
          </a:prstGeom>
        </p:spPr>
      </p:pic>
      <p:pic>
        <p:nvPicPr>
          <p:cNvPr id="4" name="그림 3" descr="실내, 텍스트, 가구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8C762B-2809-6708-5C61-BD171BA23D01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633" y="5489400"/>
            <a:ext cx="778427" cy="778427"/>
          </a:xfrm>
          <a:prstGeom prst="rect">
            <a:avLst/>
          </a:prstGeom>
        </p:spPr>
      </p:pic>
      <p:pic>
        <p:nvPicPr>
          <p:cNvPr id="6" name="그림 5" descr="텍스트, 실내, 벽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02A035-45C7-7BE9-6ECA-A4EE280DB83B}"/>
              </a:ext>
            </a:extLst>
          </p:cNvPr>
          <p:cNvPicPr preferRelativeResize="0"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338" y="5489400"/>
            <a:ext cx="778426" cy="7784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E51E66-0140-12D1-4657-4A57B9E30ABB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043" y="5489400"/>
            <a:ext cx="778426" cy="77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292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158F3A-AE79-4991-A6DB-19960E16A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>
            <a:noAutofit/>
          </a:bodyPr>
          <a:lstStyle/>
          <a:p>
            <a:r>
              <a:rPr lang="ko-KR" altLang="en-US" dirty="0"/>
              <a:t>경영진 인터뷰를 통해 도출한 경영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HR </a:t>
            </a:r>
            <a:r>
              <a:rPr lang="ko-KR" altLang="en-US" dirty="0"/>
              <a:t>제도 전반에 대한 인터뷰 내용과 컨설팅 요구사항은 다음과 같으며</a:t>
            </a:r>
            <a:r>
              <a:rPr lang="en-US" altLang="ko-KR" dirty="0"/>
              <a:t>, </a:t>
            </a:r>
            <a:r>
              <a:rPr lang="ko-KR" altLang="en-US" dirty="0"/>
              <a:t>이를 기반으로 도출한 핵심 이슈사항을 도출하였음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135867-1E4C-4394-A269-BA4466E508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>
            <a:normAutofit/>
          </a:bodyPr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4BA829-BBBC-4BDC-B5AD-D52B36DA24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412709"/>
            <a:ext cx="5490040" cy="324327"/>
          </a:xfrm>
        </p:spPr>
        <p:txBody>
          <a:bodyPr>
            <a:noAutofit/>
          </a:bodyPr>
          <a:lstStyle/>
          <a:p>
            <a:r>
              <a:rPr lang="ko-KR" altLang="en-US" dirty="0"/>
              <a:t>인터뷰</a:t>
            </a:r>
            <a:r>
              <a:rPr lang="en-US" altLang="ko-KR" dirty="0"/>
              <a:t> </a:t>
            </a:r>
            <a:r>
              <a:rPr lang="ko-KR" altLang="en-US" dirty="0"/>
              <a:t>결과 요약</a:t>
            </a:r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037DDA5D-1CE6-86D2-FC50-33EC60F04B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4" name="ListLeanHorizontalTextTopic0">
            <a:extLst>
              <a:ext uri="{FF2B5EF4-FFF2-40B4-BE49-F238E27FC236}">
                <a16:creationId xmlns:a16="http://schemas.microsoft.com/office/drawing/2014/main" id="{79593F20-1F78-4B6F-907D-BD25551CB4A0}"/>
              </a:ext>
            </a:extLst>
          </p:cNvPr>
          <p:cNvSpPr txBox="1"/>
          <p:nvPr/>
        </p:nvSpPr>
        <p:spPr>
          <a:xfrm>
            <a:off x="207125" y="1680993"/>
            <a:ext cx="6980975" cy="26782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72000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400"/>
              </a:spcBef>
              <a:buSzPct val="100000"/>
              <a:defRPr/>
            </a:pPr>
            <a:r>
              <a:rPr lang="ko-KR" altLang="en-US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경영진 인터뷰 내용</a:t>
            </a:r>
            <a:endParaRPr lang="en-US" altLang="ko-KR" sz="1400" kern="0" dirty="0"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  <a:cs typeface="Arial Narrow" pitchFamily="34" charset="0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9AC969DF-E63E-4C9B-8E2C-B5F9BC759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168825"/>
              </p:ext>
            </p:extLst>
          </p:nvPr>
        </p:nvGraphicFramePr>
        <p:xfrm>
          <a:off x="273050" y="2054763"/>
          <a:ext cx="7037638" cy="40755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5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경영환경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회사는 </a:t>
                      </a:r>
                      <a:r>
                        <a:rPr lang="en-US" altLang="ko-KR" sz="1000" dirty="0"/>
                        <a:t>BIM</a:t>
                      </a:r>
                      <a:r>
                        <a:rPr lang="ko-KR" altLang="en-US" sz="1000" dirty="0"/>
                        <a:t>을 넘어 </a:t>
                      </a:r>
                      <a:r>
                        <a:rPr lang="ko-KR" altLang="en-US" sz="1000" b="1" dirty="0"/>
                        <a:t>신사업</a:t>
                      </a:r>
                      <a:r>
                        <a:rPr lang="en-US" altLang="ko-KR" sz="1000" b="1" dirty="0"/>
                        <a:t>(Next Item) </a:t>
                      </a:r>
                      <a:r>
                        <a:rPr lang="ko-KR" altLang="en-US" sz="1000" b="1" dirty="0"/>
                        <a:t>탐색 중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기술적 전환과 사업확장 필요성을 인식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인원 확대로 소규모 조직의 한계를 넘어서며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b="1" dirty="0"/>
                        <a:t>체계적 관리와 인사제도의 필요성</a:t>
                      </a:r>
                      <a:r>
                        <a:rPr lang="ko-KR" altLang="en-US" sz="1000" dirty="0"/>
                        <a:t> 부상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조직 성장 과정에서 중간층 인력 부족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허리 역할 부재로 </a:t>
                      </a:r>
                      <a:r>
                        <a:rPr lang="ko-KR" altLang="en-US" sz="1000" b="1" dirty="0"/>
                        <a:t>리더십 육성</a:t>
                      </a:r>
                      <a:r>
                        <a:rPr lang="en-US" altLang="ko-KR" sz="1000" b="1" dirty="0"/>
                        <a:t>, </a:t>
                      </a:r>
                      <a:r>
                        <a:rPr lang="ko-KR" altLang="en-US" sz="1000" b="1" dirty="0"/>
                        <a:t>인재 개발의 과제 존재</a:t>
                      </a:r>
                      <a:endParaRPr lang="ko-KR" altLang="en-US" sz="1000" dirty="0"/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364431"/>
                  </a:ext>
                </a:extLst>
              </a:tr>
              <a:tr h="503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경영철학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및 </a:t>
                      </a:r>
                      <a:r>
                        <a:rPr lang="ko-KR" altLang="en-US" sz="1100" b="0" spc="0" dirty="0" err="1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인재상</a:t>
                      </a:r>
                      <a:endParaRPr lang="ko-KR" altLang="en-US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"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가족 같은 회사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"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를 지향했으나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전문성</a:t>
                      </a: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체계화가 필요한 성장단계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임을 인식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직원들에게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업무 수행 기회 제공과 역량 성장의 기회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를 주는 것이 중요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highlight>
                            <a:srgbClr val="F5EBCC"/>
                          </a:highlight>
                        </a:rPr>
                        <a:t>인재상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: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역할과 책임을 명확히 수행하며</a:t>
                      </a: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자기주도적으로 성장하는 인재</a:t>
                      </a:r>
                      <a:endParaRPr lang="ko-KR" altLang="en-US" sz="1000" dirty="0">
                        <a:highlight>
                          <a:srgbClr val="F5EBCC"/>
                        </a:highlight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AI,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신기술 습득 등 미래지향적 역량 보유 인재를 선호</a:t>
                      </a:r>
                      <a:endParaRPr lang="ko-KR" altLang="en-US" sz="1000" dirty="0">
                        <a:highlight>
                          <a:srgbClr val="F5EBCC"/>
                        </a:highlight>
                      </a:endParaRP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노사관계 및 조직문화</a:t>
                      </a: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직원들의 의견과 복지에 관심 있으나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b="1" dirty="0"/>
                        <a:t>공식화된 소통 구조와 복지제도는 미흡</a:t>
                      </a:r>
                      <a:endParaRPr lang="ko-KR" altLang="en-US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야근 등 업무량 이슈가 있으며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공식 야근수당 대신 </a:t>
                      </a:r>
                      <a:r>
                        <a:rPr lang="ko-KR" altLang="en-US" sz="1000" b="1" dirty="0" err="1"/>
                        <a:t>실비성</a:t>
                      </a:r>
                      <a:r>
                        <a:rPr lang="ko-KR" altLang="en-US" sz="1000" b="1" dirty="0"/>
                        <a:t> 보상 지급</a:t>
                      </a:r>
                      <a:endParaRPr lang="ko-KR" altLang="en-US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책임과 권한의 명확화 미비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팀장 기피 현상 존재 → </a:t>
                      </a:r>
                      <a:r>
                        <a:rPr lang="ko-KR" altLang="en-US" sz="1000" b="1" dirty="0"/>
                        <a:t>중간관리자 책임 부담 크고 권한 미약</a:t>
                      </a:r>
                      <a:endParaRPr lang="ko-KR" altLang="en-US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팀 기반의 프로젝트 운영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altLang="ko-KR" sz="1000" b="1" dirty="0"/>
                        <a:t>PM </a:t>
                      </a:r>
                      <a:r>
                        <a:rPr lang="ko-KR" altLang="en-US" sz="1000" b="1" dirty="0"/>
                        <a:t>및 팀 단위 성과에 따른 인센티브 일부 존재</a:t>
                      </a:r>
                      <a:endParaRPr lang="ko-KR" altLang="en-US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조직문화는 </a:t>
                      </a:r>
                      <a:r>
                        <a:rPr lang="ko-KR" altLang="en-US" sz="1000" b="1" dirty="0"/>
                        <a:t>성과와 성장 중심의 변화 필요성 인식</a:t>
                      </a:r>
                      <a:endParaRPr lang="ko-KR" altLang="en-US" sz="1000" dirty="0"/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561340"/>
                  </a:ext>
                </a:extLst>
              </a:tr>
              <a:tr h="6123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HR </a:t>
                      </a:r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제도 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전반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임금체계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직급별 기준은 있으나 명확한 페이밴드와 성과연동체계 미흡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성과평가 및 역량평가 도입 검토 중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KPI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식 정량평가의 한계와 평가의 피드백 기능 중요성 인식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평가제도는 성과급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승진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교육 등과의 연계 미비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임금피크제 일부 도입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인재 유출 원인 중 하나로 낮은 연봉 지적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직원 평가의 목적을 단순 보상보다 역량 개발과 성과관리의 수단으로 인식 전환 필요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04768"/>
                  </a:ext>
                </a:extLst>
              </a:tr>
              <a:tr h="8399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컨설팅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요구사항</a:t>
                      </a: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인사체계 전반의 재설계</a:t>
                      </a: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: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 임금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평가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직급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직책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승진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보상 등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역할 기반 직무 정의</a:t>
                      </a: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직급</a:t>
                      </a: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/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직책 기준의 명확화</a:t>
                      </a:r>
                      <a:endParaRPr lang="ko-KR" altLang="en-US" sz="1000" dirty="0">
                        <a:highlight>
                          <a:srgbClr val="F5EBCC"/>
                        </a:highlight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평가체계</a:t>
                      </a: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: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 성과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-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역량 기반 평가</a:t>
                      </a:r>
                      <a:r>
                        <a:rPr lang="en-US" altLang="ko-KR" sz="1000" dirty="0">
                          <a:highlight>
                            <a:srgbClr val="F5EBCC"/>
                          </a:highlight>
                        </a:rPr>
                        <a:t>, 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다면평가 등 운영방안 설계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보상체계</a:t>
                      </a: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:</a:t>
                      </a:r>
                      <a:r>
                        <a:rPr lang="ko-KR" altLang="en-US" sz="1000" dirty="0">
                          <a:highlight>
                            <a:srgbClr val="F5EBCC"/>
                          </a:highlight>
                        </a:rPr>
                        <a:t> 조직성과와 연계한 보상 설계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리더십 육성 및 중간관리자 성장전략</a:t>
                      </a:r>
                      <a:endParaRPr lang="ko-KR" altLang="en-US" sz="1000" dirty="0">
                        <a:highlight>
                          <a:srgbClr val="F5EBCC"/>
                        </a:highlight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AI,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신기술 기반 </a:t>
                      </a:r>
                      <a:r>
                        <a:rPr lang="en-US" altLang="ko-KR" sz="1000" b="1" dirty="0">
                          <a:highlight>
                            <a:srgbClr val="F5EBCC"/>
                          </a:highlight>
                        </a:rPr>
                        <a:t>HR </a:t>
                      </a:r>
                      <a:r>
                        <a:rPr lang="ko-KR" altLang="en-US" sz="1000" b="1" dirty="0">
                          <a:highlight>
                            <a:srgbClr val="F5EBCC"/>
                          </a:highlight>
                        </a:rPr>
                        <a:t>제도 설계 검토</a:t>
                      </a:r>
                      <a:endParaRPr lang="ko-KR" altLang="en-US" sz="1000" dirty="0">
                        <a:highlight>
                          <a:srgbClr val="F5EBCC"/>
                        </a:highlight>
                      </a:endParaRP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ListLeanHorizontalTextTopic0">
            <a:extLst>
              <a:ext uri="{FF2B5EF4-FFF2-40B4-BE49-F238E27FC236}">
                <a16:creationId xmlns:a16="http://schemas.microsoft.com/office/drawing/2014/main" id="{212A19CF-24BA-6744-4425-EF666B93748E}"/>
              </a:ext>
            </a:extLst>
          </p:cNvPr>
          <p:cNvSpPr txBox="1"/>
          <p:nvPr/>
        </p:nvSpPr>
        <p:spPr>
          <a:xfrm>
            <a:off x="7610695" y="1712463"/>
            <a:ext cx="2020756" cy="26782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72000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400"/>
              </a:spcBef>
              <a:buSzPct val="100000"/>
              <a:defRPr/>
            </a:pPr>
            <a:r>
              <a:rPr lang="en-US" altLang="ko-KR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Key</a:t>
            </a:r>
            <a:r>
              <a:rPr lang="ko-KR" altLang="en-US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 </a:t>
            </a:r>
            <a:r>
              <a:rPr lang="en-US" altLang="ko-KR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Issue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A49ABAE-155B-167A-BC0A-6DF37E468411}"/>
              </a:ext>
            </a:extLst>
          </p:cNvPr>
          <p:cNvCxnSpPr>
            <a:cxnSpLocks/>
          </p:cNvCxnSpPr>
          <p:nvPr/>
        </p:nvCxnSpPr>
        <p:spPr>
          <a:xfrm>
            <a:off x="7599422" y="1952820"/>
            <a:ext cx="201805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AEA1CBFD-2928-E081-DB8D-E3FA930B4195}"/>
              </a:ext>
            </a:extLst>
          </p:cNvPr>
          <p:cNvSpPr/>
          <p:nvPr/>
        </p:nvSpPr>
        <p:spPr>
          <a:xfrm rot="5400000">
            <a:off x="7220783" y="4063154"/>
            <a:ext cx="516210" cy="16592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endParaRPr lang="ko-KR" altLang="en-US" sz="5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9" name="사각형 설명선 45">
            <a:extLst>
              <a:ext uri="{FF2B5EF4-FFF2-40B4-BE49-F238E27FC236}">
                <a16:creationId xmlns:a16="http://schemas.microsoft.com/office/drawing/2014/main" id="{8A4F3B70-C09B-5461-735E-1B55828EC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2068886"/>
            <a:ext cx="2023843" cy="660699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체계적 인사관리 및 인사제도의 필요성 부상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0" name="사각형 설명선 45">
            <a:extLst>
              <a:ext uri="{FF2B5EF4-FFF2-40B4-BE49-F238E27FC236}">
                <a16:creationId xmlns:a16="http://schemas.microsoft.com/office/drawing/2014/main" id="{BFAB9D83-6952-BC58-50C9-A15D9C472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2919070"/>
            <a:ext cx="2023843" cy="660699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조직성과 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개인성과 연계한 보상 및 성과관리 체계 확립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1" name="사각형 설명선 45">
            <a:extLst>
              <a:ext uri="{FF2B5EF4-FFF2-40B4-BE49-F238E27FC236}">
                <a16:creationId xmlns:a16="http://schemas.microsoft.com/office/drawing/2014/main" id="{95A3A7BF-F87B-0DEE-02C2-A15ADC25A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4619437"/>
            <a:ext cx="2023843" cy="660699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역량 개발 및 성과관리 수단으로 평가체계 구축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3" name="사각형 설명선 45">
            <a:extLst>
              <a:ext uri="{FF2B5EF4-FFF2-40B4-BE49-F238E27FC236}">
                <a16:creationId xmlns:a16="http://schemas.microsoft.com/office/drawing/2014/main" id="{C2F047B2-2D12-1870-B579-44304CCE3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3769253"/>
            <a:ext cx="2023843" cy="660699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직급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 - 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직책 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– 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직위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체계 구축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5" name="사각형 설명선 45">
            <a:extLst>
              <a:ext uri="{FF2B5EF4-FFF2-40B4-BE49-F238E27FC236}">
                <a16:creationId xmlns:a16="http://schemas.microsoft.com/office/drawing/2014/main" id="{9DBC66D1-8038-F389-1D79-F2E7EC742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5469620"/>
            <a:ext cx="2023843" cy="660699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조직성과와 연계한 보상체계 설계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D8642B6-F096-D2B9-0DB7-A40D52C2532F}"/>
              </a:ext>
            </a:extLst>
          </p:cNvPr>
          <p:cNvCxnSpPr>
            <a:cxnSpLocks/>
          </p:cNvCxnSpPr>
          <p:nvPr/>
        </p:nvCxnSpPr>
        <p:spPr>
          <a:xfrm>
            <a:off x="276356" y="1952820"/>
            <a:ext cx="70166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440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158F3A-AE79-4991-A6DB-19960E16A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임직원 인터뷰를 통해 도출한 근로환경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HR </a:t>
            </a:r>
            <a:r>
              <a:rPr lang="ko-KR" altLang="en-US" dirty="0"/>
              <a:t>제도 전반에 대한 인터뷰 내용과 컨설팅 요구사항은 다음과 같으며</a:t>
            </a:r>
            <a:r>
              <a:rPr lang="en-US" altLang="ko-KR" dirty="0"/>
              <a:t>, </a:t>
            </a:r>
            <a:r>
              <a:rPr lang="ko-KR" altLang="en-US" dirty="0"/>
              <a:t>이를 기반으로 도출한 핵심 이슈사항을 도출하였음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135867-1E4C-4394-A269-BA4466E508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4BA829-BBBC-4BDC-B5AD-D52B36DA24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인터뷰</a:t>
            </a:r>
            <a:r>
              <a:rPr lang="en-US" altLang="ko-KR" dirty="0"/>
              <a:t> </a:t>
            </a:r>
            <a:r>
              <a:rPr lang="ko-KR" altLang="en-US" dirty="0"/>
              <a:t>결과 요약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228FB8E0-7C38-A456-3CA7-5ADAB9A495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4" name="ListLeanHorizontalTextTopic0">
            <a:extLst>
              <a:ext uri="{FF2B5EF4-FFF2-40B4-BE49-F238E27FC236}">
                <a16:creationId xmlns:a16="http://schemas.microsoft.com/office/drawing/2014/main" id="{79593F20-1F78-4B6F-907D-BD25551CB4A0}"/>
              </a:ext>
            </a:extLst>
          </p:cNvPr>
          <p:cNvSpPr txBox="1"/>
          <p:nvPr/>
        </p:nvSpPr>
        <p:spPr>
          <a:xfrm>
            <a:off x="313590" y="1712463"/>
            <a:ext cx="6980975" cy="26782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72000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400"/>
              </a:spcBef>
              <a:buSzPct val="100000"/>
              <a:defRPr/>
            </a:pPr>
            <a:r>
              <a:rPr lang="ko-KR" altLang="en-US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근로자대표 및 근로자 인터뷰 내용</a:t>
            </a:r>
            <a:endParaRPr lang="en-US" altLang="ko-KR" sz="1400" kern="0" dirty="0"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  <a:cs typeface="Arial Narrow" pitchFamily="34" charset="0"/>
            </a:endParaRPr>
          </a:p>
        </p:txBody>
      </p:sp>
      <p:sp>
        <p:nvSpPr>
          <p:cNvPr id="35" name="ListLeanHorizontalTextTopic0">
            <a:extLst>
              <a:ext uri="{FF2B5EF4-FFF2-40B4-BE49-F238E27FC236}">
                <a16:creationId xmlns:a16="http://schemas.microsoft.com/office/drawing/2014/main" id="{BD87950C-E49A-4B80-8554-135947C24F93}"/>
              </a:ext>
            </a:extLst>
          </p:cNvPr>
          <p:cNvSpPr txBox="1"/>
          <p:nvPr/>
        </p:nvSpPr>
        <p:spPr>
          <a:xfrm>
            <a:off x="7610695" y="1712463"/>
            <a:ext cx="2020756" cy="26782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72000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400"/>
              </a:spcBef>
              <a:buSzPct val="100000"/>
              <a:defRPr/>
            </a:pPr>
            <a:r>
              <a:rPr lang="en-US" altLang="ko-KR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Key</a:t>
            </a:r>
            <a:r>
              <a:rPr lang="ko-KR" altLang="en-US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 </a:t>
            </a:r>
            <a:r>
              <a:rPr lang="en-US" altLang="ko-KR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Issue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049F55A-93C2-4904-A354-6B49179A5200}"/>
              </a:ext>
            </a:extLst>
          </p:cNvPr>
          <p:cNvCxnSpPr>
            <a:cxnSpLocks/>
          </p:cNvCxnSpPr>
          <p:nvPr/>
        </p:nvCxnSpPr>
        <p:spPr>
          <a:xfrm>
            <a:off x="276356" y="1952820"/>
            <a:ext cx="70166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1852DE3-7862-49BE-962B-F1552A38D0CE}"/>
              </a:ext>
            </a:extLst>
          </p:cNvPr>
          <p:cNvCxnSpPr>
            <a:cxnSpLocks/>
          </p:cNvCxnSpPr>
          <p:nvPr/>
        </p:nvCxnSpPr>
        <p:spPr>
          <a:xfrm>
            <a:off x="7599422" y="1952820"/>
            <a:ext cx="201805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 설명선 45">
            <a:extLst>
              <a:ext uri="{FF2B5EF4-FFF2-40B4-BE49-F238E27FC236}">
                <a16:creationId xmlns:a16="http://schemas.microsoft.com/office/drawing/2014/main" id="{971E3C04-9AF3-43E0-A1D5-C630FB44A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206888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 err="1">
                <a:solidFill>
                  <a:prstClr val="black"/>
                </a:solidFill>
                <a:latin typeface="나눔바른고딕"/>
                <a:ea typeface="나눔바른고딕"/>
              </a:rPr>
              <a:t>호봉제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 성향의 임금체계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49" name="사각형 설명선 45">
            <a:extLst>
              <a:ext uri="{FF2B5EF4-FFF2-40B4-BE49-F238E27FC236}">
                <a16:creationId xmlns:a16="http://schemas.microsoft.com/office/drawing/2014/main" id="{7EC0FA8E-F780-4EFE-A98D-795744DE9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277173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평가체계 부재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50" name="사각형 설명선 45">
            <a:extLst>
              <a:ext uri="{FF2B5EF4-FFF2-40B4-BE49-F238E27FC236}">
                <a16:creationId xmlns:a16="http://schemas.microsoft.com/office/drawing/2014/main" id="{FA21C2BD-A25B-481C-AF30-433375370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417743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조직성과 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개인성과 연계 미흡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51" name="사각형 설명선 45">
            <a:extLst>
              <a:ext uri="{FF2B5EF4-FFF2-40B4-BE49-F238E27FC236}">
                <a16:creationId xmlns:a16="http://schemas.microsoft.com/office/drawing/2014/main" id="{E0080EA4-86F1-424E-890C-4913EB15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6" y="5583136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>
                <a:solidFill>
                  <a:prstClr val="black"/>
                </a:solidFill>
                <a:latin typeface="나눔바른고딕"/>
                <a:ea typeface="나눔바른고딕"/>
              </a:rPr>
              <a:t>과중한 업무와 소통 부재로 인한 피로감 누적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52" name="사각형 설명선 45">
            <a:extLst>
              <a:ext uri="{FF2B5EF4-FFF2-40B4-BE49-F238E27FC236}">
                <a16:creationId xmlns:a16="http://schemas.microsoft.com/office/drawing/2014/main" id="{01DC3A8A-93DF-4D93-A79F-C035625BB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347458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역할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·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직급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·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보상 불일치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7356A7CF-550D-4910-8020-F05CEEDC081E}"/>
              </a:ext>
            </a:extLst>
          </p:cNvPr>
          <p:cNvSpPr/>
          <p:nvPr/>
        </p:nvSpPr>
        <p:spPr>
          <a:xfrm rot="5400000">
            <a:off x="7220783" y="4063154"/>
            <a:ext cx="516210" cy="16592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endParaRPr lang="ko-KR" altLang="en-US" sz="5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7" name="사각형 설명선 45">
            <a:extLst>
              <a:ext uri="{FF2B5EF4-FFF2-40B4-BE49-F238E27FC236}">
                <a16:creationId xmlns:a16="http://schemas.microsoft.com/office/drawing/2014/main" id="{FA21C2BD-A25B-481C-AF30-433375370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488028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경력개발체계 부재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50FFC41-44D5-3F45-0376-6A3B818FB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084292"/>
              </p:ext>
            </p:extLst>
          </p:nvPr>
        </p:nvGraphicFramePr>
        <p:xfrm>
          <a:off x="273050" y="2054763"/>
          <a:ext cx="7037638" cy="41200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19">
                  <a:extLst>
                    <a:ext uri="{9D8B030D-6E8A-4147-A177-3AD203B41FA5}">
                      <a16:colId xmlns:a16="http://schemas.microsoft.com/office/drawing/2014/main" val="1579531020"/>
                    </a:ext>
                  </a:extLst>
                </a:gridCol>
                <a:gridCol w="61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59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근로환경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급격한 사업 확장과 프로젝트 수주 증가로 인한 업무량 과중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중간관리자 이탈로 인해 조직의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허리층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공백 발생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신규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입사자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유입은 많으나 실무 투입까지 시간이 오래 걸림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업무는 대부분 프로젝트 단위이며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설계 기반의 전문성이 요구됨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업무 몰림 현상과 데드라인 압박이 지속 발생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364431"/>
                  </a:ext>
                </a:extLst>
              </a:tr>
              <a:tr h="61237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노사관계 및 조직문화</a:t>
                      </a: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수평적이고 친근한 분위기는 유지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그러나 실질적 업무 지시는 위계적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경영진과 특정 부서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경영전략실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솔루션사업부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와의 친밀도가 높아 상대적 박탈감 존재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컨설팅사업부 내부에서도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소통 부재 및 과중한 업무로 피로감 누적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부서 간 갈등과 상호 경쟁 유도 정책에 대한 우려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협업보다는 개인 역량과 희생에 의존하는 구조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561340"/>
                  </a:ext>
                </a:extLst>
              </a:tr>
              <a:tr h="61237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HR </a:t>
                      </a:r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제도 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전반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보상체계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조직성과에 기반한 보상 미비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조직의 목표달성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프로젝트 성과에 따른 인센티브 체계 없음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프로젝트 단위 성과 보상 부재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수행 난이도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성과에 따라 차등 보상하는 구조 미흡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비금전적 보상 부족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교육기회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휴가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유연근무 등 비금전적 보상체계 미흡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복리후생 미흡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사내 복지제도에 대한 구성원의 만족도 및 체감 부족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04768"/>
                  </a:ext>
                </a:extLst>
              </a:tr>
              <a:tr h="83991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임금제도</a:t>
                      </a:r>
                    </a:p>
                  </a:txBody>
                  <a:tcPr marL="91382" marR="91382" marT="4569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호봉제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운영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연차 및 직급에 따라 임금이 자동 상승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성과 반영 없음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직무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직급 간 임금 격차 미미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실질적 역할과 책임의 차이가 급여에 반영되지 않음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역량 기반 보상 미흡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업무 전문성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프로젝트 난이도에 따른 차등 보상 체계 없음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시장 수준 대비 경쟁력 부족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고연차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숙련 인력의 이탈 가능성 지속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야근수당 지급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실제 야근에 대한 보상은 있으나 금액 수준 및 기준의 합리성 부족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910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평가제도</a:t>
                      </a:r>
                    </a:p>
                  </a:txBody>
                  <a:tcPr marL="91382" marR="91382" marT="4569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정식 평가제도 부재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공식적 평가지표 및 프로세스가 없거나 매우 미흡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성과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역량 평가의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미구축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평가가 주관적이며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직무별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직급별 차별화 부족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평가결과의 인사연계 부족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경력개발 등과 연결되지 않음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피드백과 성과 리뷰 부족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프로젝트 종료 후 공식적 피드백 및 성과 리뷰 미비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다면평가에 대한 필요성 인식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상사 평가 외에 동료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자기평가 도입 요구 있음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465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5899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9EE6-7267-3756-082D-34714B8DF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A5956D-F78B-FB7A-48E2-C7AFA0AD2E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임직원 인터뷰를 통해 도출한 근로환경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HR </a:t>
            </a:r>
            <a:r>
              <a:rPr lang="ko-KR" altLang="en-US" dirty="0"/>
              <a:t>제도 전반에 대한 인터뷰 내용과 컨설팅 요구사항은 다음과 같으며</a:t>
            </a:r>
            <a:r>
              <a:rPr lang="en-US" altLang="ko-KR" dirty="0"/>
              <a:t>, </a:t>
            </a:r>
            <a:r>
              <a:rPr lang="ko-KR" altLang="en-US" dirty="0"/>
              <a:t>이를 기반으로 도출한 핵심 이슈사항을 도출하였음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F087B4-1DA5-917B-A21B-0F7E64060C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Ⅱ. </a:t>
            </a:r>
            <a:r>
              <a:rPr lang="ko-KR" altLang="en-US" dirty="0"/>
              <a:t>현황진단 </a:t>
            </a:r>
            <a:r>
              <a:rPr lang="en-US" altLang="ko-KR" dirty="0"/>
              <a:t>&gt; </a:t>
            </a:r>
            <a:r>
              <a:rPr lang="ko-KR" altLang="en-US" dirty="0"/>
              <a:t>요구분석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5D426F-CF13-16E9-DFF7-92D3188BEC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인터뷰</a:t>
            </a:r>
            <a:r>
              <a:rPr lang="en-US" altLang="ko-KR" dirty="0"/>
              <a:t> </a:t>
            </a:r>
            <a:r>
              <a:rPr lang="ko-KR" altLang="en-US" dirty="0"/>
              <a:t>결과 요약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96CB31C6-AC7E-AA31-54B5-DDA81F2483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4" name="ListLeanHorizontalTextTopic0">
            <a:extLst>
              <a:ext uri="{FF2B5EF4-FFF2-40B4-BE49-F238E27FC236}">
                <a16:creationId xmlns:a16="http://schemas.microsoft.com/office/drawing/2014/main" id="{5C76C7E3-7E02-C293-FE48-80655AF4E4A2}"/>
              </a:ext>
            </a:extLst>
          </p:cNvPr>
          <p:cNvSpPr txBox="1"/>
          <p:nvPr/>
        </p:nvSpPr>
        <p:spPr>
          <a:xfrm>
            <a:off x="313590" y="1712463"/>
            <a:ext cx="6980975" cy="26782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72000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400"/>
              </a:spcBef>
              <a:buSzPct val="100000"/>
              <a:defRPr/>
            </a:pPr>
            <a:r>
              <a:rPr lang="ko-KR" altLang="en-US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근로자대표 및 근로자 인터뷰 내용</a:t>
            </a:r>
            <a:endParaRPr lang="en-US" altLang="ko-KR" sz="1400" kern="0" dirty="0"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  <a:cs typeface="Arial Narrow" pitchFamily="34" charset="0"/>
            </a:endParaRPr>
          </a:p>
        </p:txBody>
      </p:sp>
      <p:sp>
        <p:nvSpPr>
          <p:cNvPr id="35" name="ListLeanHorizontalTextTopic0">
            <a:extLst>
              <a:ext uri="{FF2B5EF4-FFF2-40B4-BE49-F238E27FC236}">
                <a16:creationId xmlns:a16="http://schemas.microsoft.com/office/drawing/2014/main" id="{19AB18CB-4ECA-D06C-21EF-3F715E1DDF35}"/>
              </a:ext>
            </a:extLst>
          </p:cNvPr>
          <p:cNvSpPr txBox="1"/>
          <p:nvPr/>
        </p:nvSpPr>
        <p:spPr>
          <a:xfrm>
            <a:off x="7610695" y="1712463"/>
            <a:ext cx="2020756" cy="26782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72000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400"/>
              </a:spcBef>
              <a:buSzPct val="100000"/>
              <a:defRPr/>
            </a:pPr>
            <a:r>
              <a:rPr lang="en-US" altLang="ko-KR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Key</a:t>
            </a:r>
            <a:r>
              <a:rPr lang="ko-KR" altLang="en-US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 </a:t>
            </a:r>
            <a:r>
              <a:rPr lang="en-US" altLang="ko-KR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Issue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192F82B-FCA8-91A9-BFD9-5B669CA1BF53}"/>
              </a:ext>
            </a:extLst>
          </p:cNvPr>
          <p:cNvCxnSpPr>
            <a:cxnSpLocks/>
          </p:cNvCxnSpPr>
          <p:nvPr/>
        </p:nvCxnSpPr>
        <p:spPr>
          <a:xfrm>
            <a:off x="276356" y="1952820"/>
            <a:ext cx="70166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E935DCD-A6AE-214D-F373-8222A1AD00FB}"/>
              </a:ext>
            </a:extLst>
          </p:cNvPr>
          <p:cNvCxnSpPr>
            <a:cxnSpLocks/>
          </p:cNvCxnSpPr>
          <p:nvPr/>
        </p:nvCxnSpPr>
        <p:spPr>
          <a:xfrm>
            <a:off x="7599422" y="1952820"/>
            <a:ext cx="201805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3319F2FC-3E1D-A67E-D880-6C261ACFCAC0}"/>
              </a:ext>
            </a:extLst>
          </p:cNvPr>
          <p:cNvSpPr/>
          <p:nvPr/>
        </p:nvSpPr>
        <p:spPr>
          <a:xfrm rot="5400000">
            <a:off x="7220783" y="4063154"/>
            <a:ext cx="516210" cy="16592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endParaRPr lang="ko-KR" altLang="en-US" sz="5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E221F57-E4B5-2238-204F-45FD9E8A8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228528"/>
              </p:ext>
            </p:extLst>
          </p:nvPr>
        </p:nvGraphicFramePr>
        <p:xfrm>
          <a:off x="273050" y="2054762"/>
          <a:ext cx="7037638" cy="40745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0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19">
                  <a:extLst>
                    <a:ext uri="{9D8B030D-6E8A-4147-A177-3AD203B41FA5}">
                      <a16:colId xmlns:a16="http://schemas.microsoft.com/office/drawing/2014/main" val="1579531020"/>
                    </a:ext>
                  </a:extLst>
                </a:gridCol>
                <a:gridCol w="61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119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HR </a:t>
                      </a:r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제도 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전반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승진제도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근속연수 기반 승진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역량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성과에 기반한 승진이 아닌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연차 위주 승진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중간관리자 승진 및 역할 부재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허리층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 공백으로 승진과 역할 부여 기준이 불명확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직급체계와 직책의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비연계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직급이 승진 기준이지만 실제 직책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책임과 불일치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304768"/>
                  </a:ext>
                </a:extLst>
              </a:tr>
              <a:tr h="97137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교육제도</a:t>
                      </a:r>
                    </a:p>
                  </a:txBody>
                  <a:tcPr marL="91382" marR="91382" marT="4569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역량 진단 및 개발 체계 미비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교육훈련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리더십 개발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전문역량 강화를 위한 체계 없음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경력개발 로드맵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(CDP)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부재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중장기적으로 어떤 성장경로가 있는지 안내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지원이 부족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신입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경력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온보딩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교육 부재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신규입사자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실무 적응까지 장시간 소요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00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spc="0" dirty="0">
                          <a:solidFill>
                            <a:schemeClr val="tx1"/>
                          </a:solidFill>
                          <a:effectLst/>
                          <a:latin typeface="나눔바른고딕" panose="020B0600000101010101" pitchFamily="50" charset="-127"/>
                          <a:ea typeface="나눔바른고딕" panose="020B0600000101010101" pitchFamily="50" charset="-127"/>
                        </a:rPr>
                        <a:t>컨설팅 요구사항</a:t>
                      </a:r>
                      <a:endParaRPr lang="en-US" altLang="ko-KR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0" spc="0" dirty="0">
                        <a:solidFill>
                          <a:schemeClr val="tx1"/>
                        </a:solidFill>
                        <a:effectLst/>
                        <a:latin typeface="나눔바른고딕" panose="020B0600000101010101" pitchFamily="50" charset="-127"/>
                        <a:ea typeface="나눔바른고딕" panose="020B0600000101010101" pitchFamily="50" charset="-127"/>
                      </a:endParaRPr>
                    </a:p>
                  </a:txBody>
                  <a:tcPr marL="91382" marR="91382" marT="4569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호봉제에서 직무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성과 기반 임금체계로 전환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직급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직책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직무별 페이밴드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(Pay Band)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시장 경쟁력 확보를 위한 임금수준 및 구조 재설계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조직성과와 개인 성과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정성적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정량적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반영한 평가체계 설계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역할성과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역량평가의 통합적 지표 개발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피드백 기반의 평가문화 및 정기적 리뷰 프로세스 구축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다면평가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상사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동료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자기평가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적용 검토직급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직책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보상 간 정합성 확보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책임 기반의 승진 기준 수립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중간관리자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허리층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육성 및 리더십 개발 프로그램 설계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경영진과 구성원 간 정기적 소통 프로세스 구축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 간 협업문화 및 갈등관리 체계 마련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highlight>
                            <a:srgbClr val="F5EBCC"/>
                          </a:highlight>
                          <a:latin typeface="+mn-lt"/>
                          <a:ea typeface="+mn-ea"/>
                          <a:cs typeface="+mn-cs"/>
                        </a:rPr>
                        <a:t>성과공유 및 조직목표에 대한 공감대 형성 지원</a:t>
                      </a:r>
                    </a:p>
                  </a:txBody>
                  <a:tcPr marL="72000" marR="72000" marT="46800" marB="456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465465"/>
                  </a:ext>
                </a:extLst>
              </a:tr>
            </a:tbl>
          </a:graphicData>
        </a:graphic>
      </p:graphicFrame>
      <p:sp>
        <p:nvSpPr>
          <p:cNvPr id="8" name="사각형 설명선 45">
            <a:extLst>
              <a:ext uri="{FF2B5EF4-FFF2-40B4-BE49-F238E27FC236}">
                <a16:creationId xmlns:a16="http://schemas.microsoft.com/office/drawing/2014/main" id="{54CBA5D4-F824-4806-3512-8A54347E4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206888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 err="1">
                <a:solidFill>
                  <a:prstClr val="black"/>
                </a:solidFill>
                <a:latin typeface="나눔바른고딕"/>
                <a:ea typeface="나눔바른고딕"/>
              </a:rPr>
              <a:t>호봉제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 성향의 임금체계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9" name="사각형 설명선 45">
            <a:extLst>
              <a:ext uri="{FF2B5EF4-FFF2-40B4-BE49-F238E27FC236}">
                <a16:creationId xmlns:a16="http://schemas.microsoft.com/office/drawing/2014/main" id="{914815AB-0408-426A-7640-D523502B9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277173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평가체계 부재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0" name="사각형 설명선 45">
            <a:extLst>
              <a:ext uri="{FF2B5EF4-FFF2-40B4-BE49-F238E27FC236}">
                <a16:creationId xmlns:a16="http://schemas.microsoft.com/office/drawing/2014/main" id="{0BEE12CD-1189-D249-D5D6-A21C70594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417743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조직성과 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개인성과 연계 미흡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1" name="사각형 설명선 45">
            <a:extLst>
              <a:ext uri="{FF2B5EF4-FFF2-40B4-BE49-F238E27FC236}">
                <a16:creationId xmlns:a16="http://schemas.microsoft.com/office/drawing/2014/main" id="{C5942058-551C-3381-397C-96EA90C57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6" y="5583136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>
                <a:solidFill>
                  <a:prstClr val="black"/>
                </a:solidFill>
                <a:latin typeface="나눔바른고딕"/>
                <a:ea typeface="나눔바른고딕"/>
              </a:rPr>
              <a:t>과중한 업무와 소통 부재로 인한 피로감 누적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2" name="사각형 설명선 45">
            <a:extLst>
              <a:ext uri="{FF2B5EF4-FFF2-40B4-BE49-F238E27FC236}">
                <a16:creationId xmlns:a16="http://schemas.microsoft.com/office/drawing/2014/main" id="{768240C6-2B0A-F2E1-4594-AAACDD573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347458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역할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·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직급</a:t>
            </a:r>
            <a:r>
              <a:rPr lang="en-US" altLang="ko-KR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·</a:t>
            </a: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보상 불일치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13" name="사각형 설명선 45">
            <a:extLst>
              <a:ext uri="{FF2B5EF4-FFF2-40B4-BE49-F238E27FC236}">
                <a16:creationId xmlns:a16="http://schemas.microsoft.com/office/drawing/2014/main" id="{391BD272-50D4-109C-754A-A42929594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4880287"/>
            <a:ext cx="2023843" cy="546202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바른고딕"/>
                <a:ea typeface="나눔바른고딕"/>
              </a:rPr>
              <a:t>경력개발체계 부재</a:t>
            </a:r>
            <a:endParaRPr lang="en-US" altLang="ko-KR" sz="1100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10156940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73600" y="2808370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 err="1"/>
              <a:t>현황진단</a:t>
            </a:r>
            <a:endParaRPr lang="ko-KR" altLang="en-US" dirty="0"/>
          </a:p>
          <a:p>
            <a:pPr marL="514800" marR="0" lvl="0" indent="-514800" algn="l" defTabSz="914400" rtl="0" eaLnBrk="1" fontAlgn="auto" latinLnBrk="1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lang="ko-KR" altLang="en-US" dirty="0">
                <a:solidFill>
                  <a:schemeClr val="bg1"/>
                </a:solidFill>
              </a:rPr>
              <a:t>제도설계방향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/>
              <a:t>제도설계</a:t>
            </a:r>
            <a:endParaRPr lang="en-US" altLang="ko-KR" dirty="0"/>
          </a:p>
          <a:p>
            <a:r>
              <a:rPr lang="ko-KR" altLang="en-US" dirty="0"/>
              <a:t>변화관리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393727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DAAAA2-1877-B6A7-0D07-6A481E140D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㈜</a:t>
            </a:r>
            <a:r>
              <a:rPr lang="ko-KR" altLang="en-US" dirty="0" err="1">
                <a:solidFill>
                  <a:schemeClr val="dk1"/>
                </a:solidFill>
                <a:latin typeface="+mn-lt"/>
                <a:ea typeface="+mn-ea"/>
              </a:rPr>
              <a:t>베이시스소프트의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 현황진단 및 분석 결과에 따라 도출한 일터혁신 개선과제를 다음과 같이 도출하였음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C478B3-6146-DA4D-3D0C-F9D2A88FF5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b="0" dirty="0"/>
              <a:t>I</a:t>
            </a:r>
            <a:r>
              <a:rPr lang="en-US" altLang="ko-KR" dirty="0"/>
              <a:t>II</a:t>
            </a:r>
            <a:r>
              <a:rPr lang="en-US" altLang="ko-KR" b="0" dirty="0"/>
              <a:t>. </a:t>
            </a:r>
            <a:r>
              <a:rPr lang="ko-KR" altLang="en-US" b="0" dirty="0"/>
              <a:t>제도설계방향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B3E82B-6316-00C9-491C-DC518638E2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현황진단결과 요약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249B5E3-BD64-D56D-C432-135696A410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8" name="Group 34">
            <a:extLst>
              <a:ext uri="{FF2B5EF4-FFF2-40B4-BE49-F238E27FC236}">
                <a16:creationId xmlns:a16="http://schemas.microsoft.com/office/drawing/2014/main" id="{EA3BC86D-F922-32BD-12A0-74B04D982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436149"/>
              </p:ext>
            </p:extLst>
          </p:nvPr>
        </p:nvGraphicFramePr>
        <p:xfrm>
          <a:off x="273051" y="1628776"/>
          <a:ext cx="9359900" cy="4500562"/>
        </p:xfrm>
        <a:graphic>
          <a:graphicData uri="http://schemas.openxmlformats.org/drawingml/2006/table">
            <a:tbl>
              <a:tblPr/>
              <a:tblGrid>
                <a:gridCol w="336549">
                  <a:extLst>
                    <a:ext uri="{9D8B030D-6E8A-4147-A177-3AD203B41FA5}">
                      <a16:colId xmlns:a16="http://schemas.microsoft.com/office/drawing/2014/main" val="305992717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701">
                  <a:extLst>
                    <a:ext uri="{9D8B030D-6E8A-4147-A177-3AD203B41FA5}">
                      <a16:colId xmlns:a16="http://schemas.microsoft.com/office/drawing/2014/main" val="205566566"/>
                    </a:ext>
                  </a:extLst>
                </a:gridCol>
              </a:tblGrid>
              <a:tr h="328073"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일터혁신 제도수준 진단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일터혁신 조직역량 진단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endParaRPr dirty="0"/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제도분석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요구분석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(EOS/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인터뷰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8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144000" indent="-144000" fontAlgn="auto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kumimoji="0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임금</a:t>
                      </a:r>
                      <a:r>
                        <a:rPr kumimoji="0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호봉제</a:t>
                      </a:r>
                      <a:r>
                        <a:rPr kumimoji="0" lang="ko-KR" altLang="en-US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 기반 임금체계 운영으로 직무</a:t>
                      </a:r>
                      <a:r>
                        <a:rPr kumimoji="0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성과</a:t>
                      </a:r>
                      <a:r>
                        <a:rPr kumimoji="0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역할 등 </a:t>
                      </a:r>
                      <a:r>
                        <a:rPr kumimoji="0" lang="ko-KR" altLang="en-US" sz="110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미반영</a:t>
                      </a:r>
                      <a:endParaRPr kumimoji="0" lang="en-US" altLang="ko-KR" sz="11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  <a:p>
                      <a:pPr marL="144000" indent="-144000" fontAlgn="auto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endParaRPr kumimoji="0" lang="en-US" altLang="ko-KR" sz="11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  <a:p>
                      <a:pPr marL="144000" indent="-144000" fontAlgn="auto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kumimoji="0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평가</a:t>
                      </a:r>
                      <a:r>
                        <a:rPr kumimoji="0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 공식 평가제도가 부재하며</a:t>
                      </a:r>
                      <a:r>
                        <a:rPr kumimoji="0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조직 성과에 따른 업적평가</a:t>
                      </a:r>
                      <a:r>
                        <a:rPr kumimoji="0" lang="en-US" altLang="ko-KR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개인 역량에 따른 역량평가 부재</a:t>
                      </a:r>
                      <a:endParaRPr kumimoji="0" lang="en-US" altLang="ko-KR" sz="110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fontAlgn="auto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임금</a:t>
                      </a: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임금 공정성에 대한 신뢰가 낮아 성과</a:t>
                      </a: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역량 기반의 보상 및 임금체계 요구</a:t>
                      </a:r>
                      <a:endParaRPr kumimoji="0" lang="en-US" altLang="ko-KR" sz="1100" kern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fontAlgn="auto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endParaRPr kumimoji="0" lang="en-US" altLang="ko-KR" sz="1100" kern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indent="-144000" fontAlgn="auto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평가</a:t>
                      </a: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평가 기준과 프로세스</a:t>
                      </a: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및 피드백 체계 구축 요구</a:t>
                      </a:r>
                      <a:endParaRPr kumimoji="0" lang="en-US" altLang="ko-KR" sz="1100" kern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81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혁신성과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36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144000" marR="0" lvl="0" indent="-1440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경영환경</a:t>
                      </a: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시장 경쟁 심화로 인한 인재 이탈 및 확보 이슈</a:t>
                      </a:r>
                      <a:endParaRPr kumimoji="0" lang="en-US" altLang="ko-KR" sz="1100" kern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marR="0" lvl="0" indent="-1440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경영성과</a:t>
                      </a:r>
                      <a:r>
                        <a:rPr kumimoji="0" lang="en-US" altLang="ko-KR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영업이익 및 인건비 유동성 확보 필요</a:t>
                      </a:r>
                      <a:endParaRPr kumimoji="0" lang="en-US" altLang="ko-KR" sz="1100" kern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marR="36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228600" marR="0" lvl="0" indent="-228600" algn="l" defTabSz="914400" rtl="0" eaLnBrk="1" fontAlgn="ctr" latinLnBrk="1" hangingPunct="1"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임금체계 재설계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역할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직무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성과 중심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조직성과 기반 업적평가 체계 구축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 startAt="6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비금전적 보상제도 마련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81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혁신기반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144000" marR="0" lvl="0" indent="-1440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인력구조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중간관리층 및 핵심 실무 인력 확보 필요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직책별 역할과 책임 필요</a:t>
                      </a:r>
                      <a:endParaRPr kumimoji="0" lang="en-US" altLang="ko-KR" sz="1100" kern="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marR="0" lvl="0" indent="-1440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노사관계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노사협의회 구축을 통한 공식적 소통채널 필요</a:t>
                      </a:r>
                      <a:endParaRPr kumimoji="0" lang="en-US" altLang="ko-KR" sz="1100" kern="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 startAt="3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경력개발체계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(CDP)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 startAt="3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교육체계 구축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노사협의회 구축 및 운영방안 마련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 startAt="7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공식적 소통채널 구축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81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혁신역량</a:t>
                      </a:r>
                      <a:endParaRPr kumimoji="1" lang="en-US" altLang="ko-KR" sz="11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-1440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참여적 </a:t>
                      </a:r>
                      <a:r>
                        <a:rPr kumimoji="0" lang="ko-KR" altLang="en-US" sz="1100" kern="0" baseline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작업조직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및 </a:t>
                      </a:r>
                      <a:r>
                        <a:rPr kumimoji="0" lang="ko-KR" altLang="en-US" sz="1100" kern="0" baseline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혁신활동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업무 과중화로인한 혁신 활동 제한</a:t>
                      </a:r>
                      <a:endParaRPr kumimoji="0" lang="en-US" altLang="ko-KR" sz="1100" kern="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144000" marR="0" lvl="0" indent="-1440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인적자원관리 역량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체계적 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HR 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제도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임금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평가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승진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보상 등</a:t>
                      </a:r>
                      <a:r>
                        <a:rPr kumimoji="0" lang="en-US" altLang="ko-KR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100" kern="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부재</a:t>
                      </a:r>
                      <a:endParaRPr kumimoji="0" lang="en-US" altLang="ko-KR" sz="1100" kern="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 startAt="5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개인 역량 기반 성과평가 체계 도입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 startAt="9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평가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보상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승진의 유기적 연계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+mj-ea"/>
                        <a:buAutoNum type="circleNumDbPlain" startAt="9"/>
                        <a:tabLst/>
                        <a:defRPr/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피드백 체계 구축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539104"/>
                  </a:ext>
                </a:extLst>
              </a:tr>
            </a:tbl>
          </a:graphicData>
        </a:graphic>
      </p:graphicFrame>
      <p:pic>
        <p:nvPicPr>
          <p:cNvPr id="9" name="그림 8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51F9C5-C634-4432-7A0F-BD3D2A1809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88" y="2155278"/>
            <a:ext cx="1397213" cy="36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747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BD0A575F-329F-91DC-EF9F-EABFDF0BB142}"/>
              </a:ext>
            </a:extLst>
          </p:cNvPr>
          <p:cNvGrpSpPr/>
          <p:nvPr/>
        </p:nvGrpSpPr>
        <p:grpSpPr>
          <a:xfrm>
            <a:off x="5979625" y="2198453"/>
            <a:ext cx="3468129" cy="2920131"/>
            <a:chOff x="5979625" y="2198453"/>
            <a:chExt cx="3468129" cy="2920131"/>
          </a:xfrm>
        </p:grpSpPr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352BFB2C-5E8E-C312-A5DB-C03476A1796D}"/>
                </a:ext>
              </a:extLst>
            </p:cNvPr>
            <p:cNvSpPr/>
            <p:nvPr/>
          </p:nvSpPr>
          <p:spPr>
            <a:xfrm>
              <a:off x="5979625" y="2198453"/>
              <a:ext cx="3468129" cy="2920131"/>
            </a:xfrm>
            <a:custGeom>
              <a:avLst/>
              <a:gdLst>
                <a:gd name="connsiteX0" fmla="*/ 0 w 3484610"/>
                <a:gd name="connsiteY0" fmla="*/ 0 h 3058614"/>
                <a:gd name="connsiteX1" fmla="*/ 3484610 w 3484610"/>
                <a:gd name="connsiteY1" fmla="*/ 0 h 3058614"/>
                <a:gd name="connsiteX2" fmla="*/ 3484610 w 3484610"/>
                <a:gd name="connsiteY2" fmla="*/ 3058614 h 3058614"/>
                <a:gd name="connsiteX3" fmla="*/ 0 w 3484610"/>
                <a:gd name="connsiteY3" fmla="*/ 3058614 h 3058614"/>
                <a:gd name="connsiteX4" fmla="*/ 0 w 3484610"/>
                <a:gd name="connsiteY4" fmla="*/ 3058613 h 3058614"/>
                <a:gd name="connsiteX5" fmla="*/ 2335536 w 3484610"/>
                <a:gd name="connsiteY5" fmla="*/ 3058613 h 3058614"/>
                <a:gd name="connsiteX6" fmla="*/ 0 w 3484610"/>
                <a:gd name="connsiteY6" fmla="*/ 1087849 h 305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84610" h="3058614">
                  <a:moveTo>
                    <a:pt x="0" y="0"/>
                  </a:moveTo>
                  <a:lnTo>
                    <a:pt x="3484610" y="0"/>
                  </a:lnTo>
                  <a:lnTo>
                    <a:pt x="3484610" y="3058614"/>
                  </a:lnTo>
                  <a:lnTo>
                    <a:pt x="0" y="3058614"/>
                  </a:lnTo>
                  <a:lnTo>
                    <a:pt x="0" y="3058613"/>
                  </a:lnTo>
                  <a:lnTo>
                    <a:pt x="2335536" y="3058613"/>
                  </a:lnTo>
                  <a:lnTo>
                    <a:pt x="0" y="108784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txBody>
            <a:bodyPr wrap="square" lIns="36000" rtlCol="0" anchor="ctr">
              <a:noAutofit/>
            </a:bodyPr>
            <a:lstStyle/>
            <a:p>
              <a:pPr marL="174625" marR="0" lvl="0" indent="-174625" algn="l" defTabSz="9398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sp>
          <p:nvSpPr>
            <p:cNvPr id="97" name="직각 삼각형 96">
              <a:extLst>
                <a:ext uri="{FF2B5EF4-FFF2-40B4-BE49-F238E27FC236}">
                  <a16:creationId xmlns:a16="http://schemas.microsoft.com/office/drawing/2014/main" id="{81412385-F8A8-181D-0499-AC78C15CD2DF}"/>
                </a:ext>
              </a:extLst>
            </p:cNvPr>
            <p:cNvSpPr/>
            <p:nvPr/>
          </p:nvSpPr>
          <p:spPr>
            <a:xfrm flipH="1" flipV="1">
              <a:off x="7112031" y="2198453"/>
              <a:ext cx="2331507" cy="1990409"/>
            </a:xfrm>
            <a:prstGeom prst="rtTriangle">
              <a:avLst/>
            </a:prstGeom>
            <a:solidFill>
              <a:schemeClr val="tx2">
                <a:lumMod val="20000"/>
                <a:lumOff val="80000"/>
                <a:alpha val="70000"/>
              </a:schemeClr>
            </a:solidFill>
          </p:spPr>
          <p:txBody>
            <a:bodyPr wrap="square" lIns="36000" rtlCol="0" anchor="ctr">
              <a:no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174625" marR="0" lvl="0" indent="-174625" algn="l" defTabSz="9398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8C70EA55-6587-0DC5-4768-EC913AC2390B}"/>
              </a:ext>
            </a:extLst>
          </p:cNvPr>
          <p:cNvGrpSpPr/>
          <p:nvPr/>
        </p:nvGrpSpPr>
        <p:grpSpPr>
          <a:xfrm>
            <a:off x="5446096" y="2151155"/>
            <a:ext cx="4112698" cy="3283465"/>
            <a:chOff x="6347043" y="1606258"/>
            <a:chExt cx="3575682" cy="2974506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51D3F54D-7480-21FA-5E46-1F979CAA0191}"/>
                </a:ext>
              </a:extLst>
            </p:cNvPr>
            <p:cNvSpPr/>
            <p:nvPr/>
          </p:nvSpPr>
          <p:spPr>
            <a:xfrm>
              <a:off x="6347043" y="1606258"/>
              <a:ext cx="282794" cy="153349"/>
            </a:xfrm>
            <a:prstGeom prst="rect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520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High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ECCC28E0-B75E-FEE9-D110-994444274331}"/>
                </a:ext>
              </a:extLst>
            </p:cNvPr>
            <p:cNvGrpSpPr/>
            <p:nvPr/>
          </p:nvGrpSpPr>
          <p:grpSpPr>
            <a:xfrm>
              <a:off x="6355022" y="1820248"/>
              <a:ext cx="3567703" cy="2760516"/>
              <a:chOff x="6327111" y="1820248"/>
              <a:chExt cx="5040283" cy="3523543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45A2D6A1-B342-248B-8319-9E1A9F0061A4}"/>
                  </a:ext>
                </a:extLst>
              </p:cNvPr>
              <p:cNvGrpSpPr/>
              <p:nvPr/>
            </p:nvGrpSpPr>
            <p:grpSpPr>
              <a:xfrm>
                <a:off x="6408666" y="1820248"/>
                <a:ext cx="286421" cy="3240000"/>
                <a:chOff x="5103967" y="2192391"/>
                <a:chExt cx="286421" cy="3240000"/>
              </a:xfrm>
            </p:grpSpPr>
            <p:cxnSp>
              <p:nvCxnSpPr>
                <p:cNvPr id="112" name="직선 화살표 연결선 111">
                  <a:extLst>
                    <a:ext uri="{FF2B5EF4-FFF2-40B4-BE49-F238E27FC236}">
                      <a16:creationId xmlns:a16="http://schemas.microsoft.com/office/drawing/2014/main" id="{13E15801-BF16-E123-B93D-98C8F81E2941}"/>
                    </a:ext>
                  </a:extLst>
                </p:cNvPr>
                <p:cNvCxnSpPr/>
                <p:nvPr/>
              </p:nvCxnSpPr>
              <p:spPr>
                <a:xfrm>
                  <a:off x="5273139" y="2192391"/>
                  <a:ext cx="0" cy="32400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3" name="Rectangle 4">
                  <a:extLst>
                    <a:ext uri="{FF2B5EF4-FFF2-40B4-BE49-F238E27FC236}">
                      <a16:creationId xmlns:a16="http://schemas.microsoft.com/office/drawing/2014/main" id="{2F645E8E-B514-2039-9C54-5437A35D7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103967" y="2945793"/>
                  <a:ext cx="286421" cy="1636404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vert="eaVert" lIns="90000" tIns="54000" rIns="90000" bIns="54000" anchor="ctr"/>
                <a:lstStyle/>
                <a:p>
                  <a:pPr marL="87313" marR="0" lvl="0" indent="-87313" algn="ctr" defTabSz="9144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나눔바른고딕"/>
                      <a:ea typeface="나눔바른고딕"/>
                      <a:cs typeface="+mn-cs"/>
                    </a:rPr>
                    <a:t>전략적 중요도</a:t>
                  </a:r>
                </a:p>
              </p:txBody>
            </p:sp>
          </p:grpSp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EBAB59F8-6FF1-0030-F7FA-C9BEAD7CAF27}"/>
                  </a:ext>
                </a:extLst>
              </p:cNvPr>
              <p:cNvGrpSpPr/>
              <p:nvPr/>
            </p:nvGrpSpPr>
            <p:grpSpPr>
              <a:xfrm>
                <a:off x="6327111" y="5148055"/>
                <a:ext cx="5040283" cy="195736"/>
                <a:chOff x="5030657" y="5630569"/>
                <a:chExt cx="5040283" cy="195736"/>
              </a:xfrm>
            </p:grpSpPr>
            <p:grpSp>
              <p:nvGrpSpPr>
                <p:cNvPr id="107" name="그룹 106">
                  <a:extLst>
                    <a:ext uri="{FF2B5EF4-FFF2-40B4-BE49-F238E27FC236}">
                      <a16:creationId xmlns:a16="http://schemas.microsoft.com/office/drawing/2014/main" id="{D9EF854D-A1B5-7C33-F53D-5C7E58BFE342}"/>
                    </a:ext>
                  </a:extLst>
                </p:cNvPr>
                <p:cNvGrpSpPr/>
                <p:nvPr/>
              </p:nvGrpSpPr>
              <p:grpSpPr>
                <a:xfrm>
                  <a:off x="5552129" y="5678877"/>
                  <a:ext cx="4032000" cy="134199"/>
                  <a:chOff x="5543884" y="5960190"/>
                  <a:chExt cx="4032000" cy="134199"/>
                </a:xfrm>
              </p:grpSpPr>
              <p:cxnSp>
                <p:nvCxnSpPr>
                  <p:cNvPr id="110" name="직선 화살표 연결선 109">
                    <a:extLst>
                      <a:ext uri="{FF2B5EF4-FFF2-40B4-BE49-F238E27FC236}">
                        <a16:creationId xmlns:a16="http://schemas.microsoft.com/office/drawing/2014/main" id="{88DFC8F6-14C3-237D-95F7-F176FCD9E5C8}"/>
                      </a:ext>
                    </a:extLst>
                  </p:cNvPr>
                  <p:cNvCxnSpPr/>
                  <p:nvPr/>
                </p:nvCxnSpPr>
                <p:spPr>
                  <a:xfrm>
                    <a:off x="5543884" y="6009750"/>
                    <a:ext cx="403200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1" name="Rectangle 4">
                    <a:extLst>
                      <a:ext uri="{FF2B5EF4-FFF2-40B4-BE49-F238E27FC236}">
                        <a16:creationId xmlns:a16="http://schemas.microsoft.com/office/drawing/2014/main" id="{51BD4186-E4FB-FDAF-9D4F-F386048F5A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7194823" y="5960190"/>
                    <a:ext cx="1417223" cy="134199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algn="ctr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lIns="90000" tIns="54000" rIns="90000" bIns="54000" anchor="ctr"/>
                  <a:lstStyle/>
                  <a:p>
                    <a:pPr marL="87313" marR="0" lvl="0" indent="-87313" algn="ctr" defTabSz="914400" rtl="0" eaLnBrk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rPr>
                      <a:t>개선 시급성</a:t>
                    </a:r>
                  </a:p>
                </p:txBody>
              </p:sp>
            </p:grpSp>
            <p:sp>
              <p:nvSpPr>
                <p:cNvPr id="108" name="직사각형 107">
                  <a:extLst>
                    <a:ext uri="{FF2B5EF4-FFF2-40B4-BE49-F238E27FC236}">
                      <a16:creationId xmlns:a16="http://schemas.microsoft.com/office/drawing/2014/main" id="{B71295B3-8C59-FE24-C44A-3CE3A2324F1A}"/>
                    </a:ext>
                  </a:extLst>
                </p:cNvPr>
                <p:cNvSpPr/>
                <p:nvPr/>
              </p:nvSpPr>
              <p:spPr>
                <a:xfrm>
                  <a:off x="9671422" y="5630569"/>
                  <a:ext cx="399518" cy="19573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25200" tIns="0" rIns="0" bIns="0" rtlCol="0" anchor="ctr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바른고딕"/>
                      <a:ea typeface="나눔바른고딕"/>
                      <a:cs typeface="+mn-cs"/>
                    </a:rPr>
                    <a:t>High</a:t>
                  </a:r>
                  <a:endPara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바른고딕"/>
                    <a:ea typeface="나눔바른고딕"/>
                    <a:cs typeface="+mn-cs"/>
                  </a:endParaRPr>
                </a:p>
              </p:txBody>
            </p:sp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9546048D-9154-9149-485D-D7B61B9FB325}"/>
                    </a:ext>
                  </a:extLst>
                </p:cNvPr>
                <p:cNvSpPr/>
                <p:nvPr/>
              </p:nvSpPr>
              <p:spPr>
                <a:xfrm>
                  <a:off x="5030657" y="5630569"/>
                  <a:ext cx="358366" cy="195736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25200" tIns="0" rIns="0" bIns="0" rtlCol="0" anchor="ctr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나눔바른고딕"/>
                      <a:ea typeface="나눔바른고딕"/>
                      <a:cs typeface="+mn-cs"/>
                    </a:rPr>
                    <a:t>Low</a:t>
                  </a:r>
                  <a:endPara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바른고딕"/>
                    <a:ea typeface="나눔바른고딕"/>
                    <a:cs typeface="+mn-cs"/>
                  </a:endParaRPr>
                </a:p>
              </p:txBody>
            </p:sp>
          </p:grpSp>
        </p:grpSp>
      </p:grpSp>
      <p:sp>
        <p:nvSpPr>
          <p:cNvPr id="42" name="직사각형 41"/>
          <p:cNvSpPr/>
          <p:nvPr/>
        </p:nvSpPr>
        <p:spPr>
          <a:xfrm>
            <a:off x="6246522" y="1960302"/>
            <a:ext cx="33918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   </a:t>
            </a:r>
            <a:r>
              <a:rPr kumimoji="0" lang="en-US" altLang="ko-KR" sz="900" b="0" i="0" u="none" strike="noStrike" kern="10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I. </a:t>
            </a:r>
            <a:r>
              <a:rPr kumimoji="0" lang="ko-KR" altLang="en-US" sz="900" b="0" i="0" u="none" strike="noStrike" kern="10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최우선 해결 과제     </a:t>
            </a:r>
            <a:r>
              <a:rPr kumimoji="0" lang="en-US" altLang="ko-KR" sz="900" b="0" i="0" u="none" strike="noStrike" kern="10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II. </a:t>
            </a:r>
            <a:r>
              <a:rPr kumimoji="0" lang="ko-KR" altLang="en-US" sz="900" b="0" i="0" u="none" strike="noStrike" kern="10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중요 과제     </a:t>
            </a:r>
            <a:r>
              <a:rPr kumimoji="0" lang="en-US" altLang="ko-KR" sz="900" b="0" i="0" u="none" strike="noStrike" kern="10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III. </a:t>
            </a:r>
            <a:r>
              <a:rPr kumimoji="0" lang="ko-KR" altLang="en-US" sz="900" b="0" i="0" u="none" strike="noStrike" kern="10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일반 과제 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C294124-7092-62FD-B0B5-AE52634D2223}"/>
              </a:ext>
            </a:extLst>
          </p:cNvPr>
          <p:cNvGrpSpPr/>
          <p:nvPr/>
        </p:nvGrpSpPr>
        <p:grpSpPr>
          <a:xfrm>
            <a:off x="5979624" y="5615863"/>
            <a:ext cx="3463913" cy="517335"/>
            <a:chOff x="5671520" y="5615863"/>
            <a:chExt cx="2569818" cy="517335"/>
          </a:xfrm>
        </p:grpSpPr>
        <p:sp>
          <p:nvSpPr>
            <p:cNvPr id="52" name="아래쪽 화살표 36">
              <a:extLst>
                <a:ext uri="{FF2B5EF4-FFF2-40B4-BE49-F238E27FC236}">
                  <a16:creationId xmlns:a16="http://schemas.microsoft.com/office/drawing/2014/main" id="{5ED1B806-6DE0-0F95-3BB7-7588B3D5279C}"/>
                </a:ext>
              </a:extLst>
            </p:cNvPr>
            <p:cNvSpPr/>
            <p:nvPr/>
          </p:nvSpPr>
          <p:spPr>
            <a:xfrm>
              <a:off x="7046470" y="5615863"/>
              <a:ext cx="1194868" cy="517335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108000" rIns="90000" bIns="72000" anchor="ctr"/>
            <a:lstStyle/>
            <a:p>
              <a:pPr marL="0" marR="0" lvl="1" indent="0" algn="ctr" defTabSz="9398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평가체계 설계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sp>
          <p:nvSpPr>
            <p:cNvPr id="53" name="아래쪽 화살표 36">
              <a:extLst>
                <a:ext uri="{FF2B5EF4-FFF2-40B4-BE49-F238E27FC236}">
                  <a16:creationId xmlns:a16="http://schemas.microsoft.com/office/drawing/2014/main" id="{CFDA9324-F830-37B2-D09D-A150B772ECBB}"/>
                </a:ext>
              </a:extLst>
            </p:cNvPr>
            <p:cNvSpPr/>
            <p:nvPr/>
          </p:nvSpPr>
          <p:spPr>
            <a:xfrm>
              <a:off x="5671520" y="5615863"/>
              <a:ext cx="1194868" cy="517335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  <a:effectLst>
              <a:outerShdw dist="127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108000" rIns="90000" bIns="72000" anchor="ctr"/>
            <a:lstStyle/>
            <a:p>
              <a:pPr marL="0" marR="0" lvl="1" indent="0" algn="ctr" defTabSz="9398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임금체계 재설계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sp>
          <p:nvSpPr>
            <p:cNvPr id="48" name="Rectangle 20">
              <a:extLst>
                <a:ext uri="{FF2B5EF4-FFF2-40B4-BE49-F238E27FC236}">
                  <a16:creationId xmlns:a16="http://schemas.microsoft.com/office/drawing/2014/main" id="{5E5D45C7-5964-816A-B1B7-67A80CCF8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7081" y="5712345"/>
              <a:ext cx="70575" cy="109525"/>
            </a:xfrm>
            <a:prstGeom prst="rect">
              <a:avLst/>
            </a:prstGeom>
            <a:solidFill>
              <a:schemeClr val="bg1"/>
            </a:solidFill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3600" tIns="46800" rIns="3600" bIns="468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kern="0" dirty="0">
                  <a:solidFill>
                    <a:srgbClr val="0070C0"/>
                  </a:solidFill>
                  <a:latin typeface="+mn-ea"/>
                </a:rPr>
                <a:t>1</a:t>
              </a:r>
            </a:p>
          </p:txBody>
        </p:sp>
        <p:sp>
          <p:nvSpPr>
            <p:cNvPr id="49" name="Rectangle 20">
              <a:extLst>
                <a:ext uri="{FF2B5EF4-FFF2-40B4-BE49-F238E27FC236}">
                  <a16:creationId xmlns:a16="http://schemas.microsoft.com/office/drawing/2014/main" id="{A86F0D3C-D212-2D54-D9B3-37C8FEE91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31" y="5717102"/>
              <a:ext cx="70575" cy="109525"/>
            </a:xfrm>
            <a:prstGeom prst="rect">
              <a:avLst/>
            </a:prstGeom>
            <a:solidFill>
              <a:schemeClr val="bg1"/>
            </a:solidFill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3600" tIns="46800" rIns="3600" bIns="468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kern="0" dirty="0">
                  <a:solidFill>
                    <a:srgbClr val="0070C0"/>
                  </a:solidFill>
                  <a:latin typeface="+mn-ea"/>
                </a:rPr>
                <a:t>2</a:t>
              </a:r>
            </a:p>
          </p:txBody>
        </p:sp>
      </p:grp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DAAAA2-1877-B6A7-0D07-6A481E140D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sz="1600" u="none" strike="noStrike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노사 공동의 성과에 미치는 영향력을 평가하여 중대 이슈와 컨설팅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요구사항</a:t>
            </a:r>
            <a:r>
              <a:rPr lang="ko-KR" altLang="en-US" sz="1600" u="none" strike="noStrike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을 다음과 같이 확정하였음</a:t>
            </a:r>
            <a:r>
              <a:rPr lang="en-US" altLang="ko-KR" sz="1600" u="none" strike="noStrike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4D8BBB4-0A36-A5E0-A531-B364C751D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b="0" dirty="0"/>
              <a:t>I</a:t>
            </a:r>
            <a:r>
              <a:rPr lang="en-US" altLang="ko-KR" dirty="0"/>
              <a:t>II</a:t>
            </a:r>
            <a:r>
              <a:rPr lang="en-US" altLang="ko-KR" b="0" dirty="0"/>
              <a:t>. </a:t>
            </a:r>
            <a:r>
              <a:rPr lang="ko-KR" altLang="en-US" b="0" dirty="0"/>
              <a:t>제도설계방향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B3E82B-6316-00C9-491C-DC518638E2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우선 해결과제 선정</a:t>
            </a:r>
            <a:r>
              <a:rPr lang="en-US" altLang="ko-KR" dirty="0"/>
              <a:t> </a:t>
            </a:r>
            <a:r>
              <a:rPr lang="ko-KR" altLang="en-US" dirty="0"/>
              <a:t>및 컨설팅 요구사항 확정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4860F79-480C-301D-B3FA-11C182259D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B3F2D-5AB7-72D3-4779-9692CAE1AD4A}"/>
              </a:ext>
            </a:extLst>
          </p:cNvPr>
          <p:cNvSpPr txBox="1"/>
          <p:nvPr/>
        </p:nvSpPr>
        <p:spPr>
          <a:xfrm>
            <a:off x="273049" y="5734976"/>
            <a:ext cx="46393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lvl="0" indent="-108000" eaLnBrk="0" fontAlgn="base" latinLnBrk="0" hangingPunct="0"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</a:rPr>
              <a:t>(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</a:rPr>
              <a:t>전략적  중요도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</a:rPr>
              <a:t>) </a:t>
            </a:r>
            <a:r>
              <a:rPr kumimoji="0" lang="ko-KR" altLang="en-US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</a:rPr>
              <a:t>과제</a:t>
            </a:r>
            <a:r>
              <a:rPr lang="ko-KR" altLang="en-US" sz="1000" dirty="0">
                <a:solidFill>
                  <a:prstClr val="black"/>
                </a:solidFill>
              </a:rPr>
              <a:t> 추진에 따른 경영적 파급효과 및 변화 범위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상중하 평가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pPr marL="108000" lvl="0" indent="-108000" eaLnBrk="0" fontAlgn="base" latinLnBrk="0" hangingPunct="0"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바른고딕"/>
                <a:ea typeface="나눔바른고딕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나눔바른고딕"/>
                <a:ea typeface="나눔바른고딕"/>
              </a:rPr>
              <a:t>개선  시급성</a:t>
            </a:r>
            <a:r>
              <a:rPr kumimoji="0" lang="en-US" altLang="ko-KR" sz="10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</a:rPr>
              <a:t>시급히 요구되는 정도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실행가능성 및 가용성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상중하 평가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endParaRPr kumimoji="0" lang="en-US" altLang="ko-KR" sz="10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/>
              <a:ea typeface="나눔바른고딕"/>
            </a:endParaRP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25CE4BD9-8D7B-70FE-255C-9C4444F56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933521"/>
              </p:ext>
            </p:extLst>
          </p:nvPr>
        </p:nvGraphicFramePr>
        <p:xfrm>
          <a:off x="273050" y="2061189"/>
          <a:ext cx="4679950" cy="34395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077">
                  <a:extLst>
                    <a:ext uri="{9D8B030D-6E8A-4147-A177-3AD203B41FA5}">
                      <a16:colId xmlns:a16="http://schemas.microsoft.com/office/drawing/2014/main" val="1483434464"/>
                    </a:ext>
                  </a:extLst>
                </a:gridCol>
                <a:gridCol w="1966169">
                  <a:extLst>
                    <a:ext uri="{9D8B030D-6E8A-4147-A177-3AD203B41FA5}">
                      <a16:colId xmlns:a16="http://schemas.microsoft.com/office/drawing/2014/main" val="217133060"/>
                    </a:ext>
                  </a:extLst>
                </a:gridCol>
                <a:gridCol w="611426">
                  <a:extLst>
                    <a:ext uri="{9D8B030D-6E8A-4147-A177-3AD203B41FA5}">
                      <a16:colId xmlns:a16="http://schemas.microsoft.com/office/drawing/2014/main" val="3405843105"/>
                    </a:ext>
                  </a:extLst>
                </a:gridCol>
                <a:gridCol w="611426">
                  <a:extLst>
                    <a:ext uri="{9D8B030D-6E8A-4147-A177-3AD203B41FA5}">
                      <a16:colId xmlns:a16="http://schemas.microsoft.com/office/drawing/2014/main" val="105776461"/>
                    </a:ext>
                  </a:extLst>
                </a:gridCol>
                <a:gridCol w="611426">
                  <a:extLst>
                    <a:ext uri="{9D8B030D-6E8A-4147-A177-3AD203B41FA5}">
                      <a16:colId xmlns:a16="http://schemas.microsoft.com/office/drawing/2014/main" val="3364631253"/>
                    </a:ext>
                  </a:extLst>
                </a:gridCol>
                <a:gridCol w="611426">
                  <a:extLst>
                    <a:ext uri="{9D8B030D-6E8A-4147-A177-3AD203B41FA5}">
                      <a16:colId xmlns:a16="http://schemas.microsoft.com/office/drawing/2014/main" val="147734405"/>
                    </a:ext>
                  </a:extLst>
                </a:gridCol>
              </a:tblGrid>
              <a:tr h="273415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개선 과제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요구사항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성숙도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우선순위 평가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328441"/>
                  </a:ext>
                </a:extLst>
              </a:tr>
              <a:tr h="432000">
                <a:tc gridSpan="2"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전략적 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중요도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개선 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시급성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21149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임금체계 재설계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성과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임금체계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34829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조직성과 기반 업적평가 체계 구축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평가체계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52244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경력개발체계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(CDP)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교육체계</a:t>
                      </a: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140" marR="4140" marT="414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172664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교육체계 구축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교육체계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u="none" strike="noStrike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7727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개인 역량 기반 성과평가 체계 구축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평가체계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u="none" strike="noStrike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309183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비금전적 보상제도 마련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보상체계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u="none" strike="noStrike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26401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노사협의회 구축 및 운영방안 마련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노사관계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u="none" strike="noStrike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693928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공식적 소통채널 구축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노사관계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u="none" strike="noStrike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69139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</a:t>
                      </a:r>
                      <a:r>
                        <a:rPr lang="en-US" altLang="ko-KR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보상</a:t>
                      </a:r>
                      <a:r>
                        <a:rPr lang="en-US" altLang="ko-KR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 유기적 연계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u="none" strike="noStrike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769835"/>
                  </a:ext>
                </a:extLst>
              </a:tr>
              <a:tr h="2734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피드백 체계 구축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평가체계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u="none" strike="noStrike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986362"/>
                  </a:ext>
                </a:extLst>
              </a:tr>
            </a:tbl>
          </a:graphicData>
        </a:graphic>
      </p:graphicFrame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F58FD082-B01D-EE00-F28B-0A114D519DB9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42321FF0-8C89-CBF5-EA41-2B3127F9EFA0}"/>
                </a:ext>
              </a:extLst>
            </p:cNvPr>
            <p:cNvSpPr/>
            <p:nvPr userDrawn="1"/>
          </p:nvSpPr>
          <p:spPr>
            <a:xfrm>
              <a:off x="2527687" y="1626519"/>
              <a:ext cx="1921915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노사 공동 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우선순위 평가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3847838E-5AFF-DD8D-BBE3-36307E9AC85E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D1255D1-6A30-51CB-BA82-4AF5C31F7240}"/>
              </a:ext>
            </a:extLst>
          </p:cNvPr>
          <p:cNvGrpSpPr/>
          <p:nvPr/>
        </p:nvGrpSpPr>
        <p:grpSpPr>
          <a:xfrm>
            <a:off x="-1599186" y="2412882"/>
            <a:ext cx="1222408" cy="652408"/>
            <a:chOff x="10193153" y="1828800"/>
            <a:chExt cx="1222408" cy="6524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0A769EA-E724-F9CD-DFB4-35F0F5C287B6}"/>
                </a:ext>
              </a:extLst>
            </p:cNvPr>
            <p:cNvSpPr txBox="1"/>
            <p:nvPr/>
          </p:nvSpPr>
          <p:spPr>
            <a:xfrm>
              <a:off x="10193153" y="1828800"/>
              <a:ext cx="1222408" cy="6524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  <a:prstDash val="sysDash"/>
            </a:ln>
          </p:spPr>
          <p:txBody>
            <a:bodyPr wrap="square" lIns="36000" rIns="36000" rtlCol="0" anchor="ctr">
              <a:noAutofit/>
            </a:bodyPr>
            <a:lstStyle/>
            <a:p>
              <a:pPr marL="92075" indent="-92075" algn="ctr">
                <a:spcBef>
                  <a:spcPts val="0"/>
                </a:spcBef>
                <a:buNone/>
              </a:pPr>
              <a:r>
                <a:rPr lang="en-US" altLang="ko-KR" sz="1050" dirty="0"/>
                <a:t>5</a:t>
              </a:r>
              <a:r>
                <a:rPr lang="ko-KR" altLang="en-US" sz="1050" dirty="0"/>
                <a:t>점 척도로 진단</a:t>
              </a:r>
              <a:endParaRPr lang="en-US" altLang="ko-KR" sz="1050" dirty="0"/>
            </a:p>
            <a:p>
              <a:pPr marL="92075" indent="-92075" algn="ctr">
                <a:spcBef>
                  <a:spcPts val="0"/>
                </a:spcBef>
                <a:buNone/>
              </a:pPr>
              <a:endParaRPr lang="en-US" altLang="ko-KR" sz="1050" dirty="0"/>
            </a:p>
            <a:p>
              <a:pPr marL="92075" indent="-92075" algn="ctr">
                <a:spcBef>
                  <a:spcPts val="0"/>
                </a:spcBef>
                <a:buNone/>
              </a:pPr>
              <a:endParaRPr lang="ko-KR" altLang="en-US" sz="1050" dirty="0"/>
            </a:p>
          </p:txBody>
        </p:sp>
        <p:pic>
          <p:nvPicPr>
            <p:cNvPr id="19" name="그림 18" descr="원이(가) 표시된 사진&#10;&#10;자동 생성된 설명">
              <a:extLst>
                <a:ext uri="{FF2B5EF4-FFF2-40B4-BE49-F238E27FC236}">
                  <a16:creationId xmlns:a16="http://schemas.microsoft.com/office/drawing/2014/main" id="{0F399FE1-1204-20A5-7825-DB3D3101C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8952" y="2124237"/>
              <a:ext cx="171798" cy="171798"/>
            </a:xfrm>
            <a:prstGeom prst="rect">
              <a:avLst/>
            </a:prstGeom>
          </p:spPr>
        </p:pic>
        <p:pic>
          <p:nvPicPr>
            <p:cNvPr id="20" name="그림 19" descr="로고, 상징, 화이트이(가) 표시된 사진&#10;&#10;자동 생성된 설명">
              <a:extLst>
                <a:ext uri="{FF2B5EF4-FFF2-40B4-BE49-F238E27FC236}">
                  <a16:creationId xmlns:a16="http://schemas.microsoft.com/office/drawing/2014/main" id="{A85CB453-2242-58BD-DF19-D88F5E6C3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1284" y="2124237"/>
              <a:ext cx="171798" cy="171798"/>
            </a:xfrm>
            <a:prstGeom prst="rect">
              <a:avLst/>
            </a:prstGeom>
          </p:spPr>
        </p:pic>
        <p:pic>
          <p:nvPicPr>
            <p:cNvPr id="21" name="그림 20" descr="로고, 블랙이(가) 표시된 사진&#10;&#10;자동 생성된 설명">
              <a:extLst>
                <a:ext uri="{FF2B5EF4-FFF2-40B4-BE49-F238E27FC236}">
                  <a16:creationId xmlns:a16="http://schemas.microsoft.com/office/drawing/2014/main" id="{54BEF7C5-50B1-40A8-6C66-76E314C3B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13616" y="2122852"/>
              <a:ext cx="171798" cy="174569"/>
            </a:xfrm>
            <a:prstGeom prst="rect">
              <a:avLst/>
            </a:prstGeom>
          </p:spPr>
        </p:pic>
        <p:pic>
          <p:nvPicPr>
            <p:cNvPr id="22" name="그림 21" descr="로고, 블랙, 화이트, 실루엣이(가) 표시된 사진&#10;&#10;자동 생성된 설명">
              <a:extLst>
                <a:ext uri="{FF2B5EF4-FFF2-40B4-BE49-F238E27FC236}">
                  <a16:creationId xmlns:a16="http://schemas.microsoft.com/office/drawing/2014/main" id="{F147CD06-00E6-930B-DBCD-CF9D17B8F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5948" y="2124237"/>
              <a:ext cx="171798" cy="171798"/>
            </a:xfrm>
            <a:prstGeom prst="rect">
              <a:avLst/>
            </a:prstGeom>
          </p:spPr>
        </p:pic>
        <p:pic>
          <p:nvPicPr>
            <p:cNvPr id="23" name="그림 22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5E19DE22-5536-C5ED-51A8-41F9B42A8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38278" y="2124237"/>
              <a:ext cx="171798" cy="171798"/>
            </a:xfrm>
            <a:prstGeom prst="rect">
              <a:avLst/>
            </a:prstGeom>
          </p:spPr>
        </p:pic>
      </p:grpSp>
      <p:pic>
        <p:nvPicPr>
          <p:cNvPr id="25" name="그림 24" descr="로고, 블랙, 화이트, 실루엣이(가) 표시된 사진&#10;&#10;자동 생성된 설명">
            <a:extLst>
              <a:ext uri="{FF2B5EF4-FFF2-40B4-BE49-F238E27FC236}">
                <a16:creationId xmlns:a16="http://schemas.microsoft.com/office/drawing/2014/main" id="{42938E96-506B-238B-9407-C79B63ED68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5832" y="2804978"/>
            <a:ext cx="171798" cy="171798"/>
          </a:xfrm>
          <a:prstGeom prst="rect">
            <a:avLst/>
          </a:prstGeom>
        </p:spPr>
      </p:pic>
      <p:pic>
        <p:nvPicPr>
          <p:cNvPr id="26" name="그림 25" descr="로고, 블랙, 화이트, 실루엣이(가) 표시된 사진&#10;&#10;자동 생성된 설명">
            <a:extLst>
              <a:ext uri="{FF2B5EF4-FFF2-40B4-BE49-F238E27FC236}">
                <a16:creationId xmlns:a16="http://schemas.microsoft.com/office/drawing/2014/main" id="{CB43E590-2EE1-2E8F-4E72-260E7DA87D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0778" y="3098580"/>
            <a:ext cx="171798" cy="171798"/>
          </a:xfrm>
          <a:prstGeom prst="rect">
            <a:avLst/>
          </a:prstGeom>
        </p:spPr>
      </p:pic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C21C6B68-2C00-720B-D06E-D4C6F6C48C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9304707"/>
              </p:ext>
            </p:extLst>
          </p:nvPr>
        </p:nvGraphicFramePr>
        <p:xfrm>
          <a:off x="5853922" y="2061189"/>
          <a:ext cx="3733200" cy="317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1" name="그림 10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55B1C8B0-836C-4042-D053-F12345DA06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2804978"/>
            <a:ext cx="171798" cy="171798"/>
          </a:xfrm>
          <a:prstGeom prst="rect">
            <a:avLst/>
          </a:prstGeom>
        </p:spPr>
      </p:pic>
      <p:pic>
        <p:nvPicPr>
          <p:cNvPr id="12" name="그림 11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21DFC801-5092-6EF1-2F34-4A8539F8D5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3087019"/>
            <a:ext cx="171798" cy="171798"/>
          </a:xfrm>
          <a:prstGeom prst="rect">
            <a:avLst/>
          </a:prstGeom>
        </p:spPr>
      </p:pic>
      <p:pic>
        <p:nvPicPr>
          <p:cNvPr id="15" name="그림 14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9BD84856-D6EC-1BDB-8402-D538AF640D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3364141"/>
            <a:ext cx="171798" cy="171798"/>
          </a:xfrm>
          <a:prstGeom prst="rect">
            <a:avLst/>
          </a:prstGeom>
        </p:spPr>
      </p:pic>
      <p:pic>
        <p:nvPicPr>
          <p:cNvPr id="16" name="그림 15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5EECB6C2-7991-08D0-95B1-C6F05E4835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3646182"/>
            <a:ext cx="171798" cy="171798"/>
          </a:xfrm>
          <a:prstGeom prst="rect">
            <a:avLst/>
          </a:prstGeom>
        </p:spPr>
      </p:pic>
      <p:pic>
        <p:nvPicPr>
          <p:cNvPr id="24" name="그림 23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4CB80063-EB16-7884-B518-C47088FACE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3926596"/>
            <a:ext cx="171798" cy="171798"/>
          </a:xfrm>
          <a:prstGeom prst="rect">
            <a:avLst/>
          </a:prstGeom>
        </p:spPr>
      </p:pic>
      <p:pic>
        <p:nvPicPr>
          <p:cNvPr id="27" name="그림 26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89877642-2E0B-6454-343B-14AB725B46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4208637"/>
            <a:ext cx="171798" cy="171798"/>
          </a:xfrm>
          <a:prstGeom prst="rect">
            <a:avLst/>
          </a:prstGeom>
        </p:spPr>
      </p:pic>
      <p:pic>
        <p:nvPicPr>
          <p:cNvPr id="28" name="그림 27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517F0955-BD47-C17F-1E34-8BBEC5EE52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4480394"/>
            <a:ext cx="171798" cy="171798"/>
          </a:xfrm>
          <a:prstGeom prst="rect">
            <a:avLst/>
          </a:prstGeom>
        </p:spPr>
      </p:pic>
      <p:pic>
        <p:nvPicPr>
          <p:cNvPr id="29" name="그림 28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38E97ECA-DD1D-9D7A-1C2C-77805C1C5E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4762435"/>
            <a:ext cx="171798" cy="171798"/>
          </a:xfrm>
          <a:prstGeom prst="rect">
            <a:avLst/>
          </a:prstGeom>
        </p:spPr>
      </p:pic>
      <p:pic>
        <p:nvPicPr>
          <p:cNvPr id="30" name="그림 29" descr="로고, 상징, 화이트이(가) 표시된 사진&#10;&#10;자동 생성된 설명">
            <a:extLst>
              <a:ext uri="{FF2B5EF4-FFF2-40B4-BE49-F238E27FC236}">
                <a16:creationId xmlns:a16="http://schemas.microsoft.com/office/drawing/2014/main" id="{645C09F3-42B4-CACE-4E1D-2C56B2F641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5001524"/>
            <a:ext cx="171798" cy="171798"/>
          </a:xfrm>
          <a:prstGeom prst="rect">
            <a:avLst/>
          </a:prstGeom>
        </p:spPr>
      </p:pic>
      <p:pic>
        <p:nvPicPr>
          <p:cNvPr id="34" name="그림 33" descr="로고, 블랙이(가) 표시된 사진&#10;&#10;자동 생성된 설명">
            <a:extLst>
              <a:ext uri="{FF2B5EF4-FFF2-40B4-BE49-F238E27FC236}">
                <a16:creationId xmlns:a16="http://schemas.microsoft.com/office/drawing/2014/main" id="{BF0C2E85-14AC-CB56-10F8-9AF1EDCA8F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5282514"/>
            <a:ext cx="171798" cy="174569"/>
          </a:xfrm>
          <a:prstGeom prst="rect">
            <a:avLst/>
          </a:prstGeom>
        </p:spPr>
      </p:pic>
      <p:pic>
        <p:nvPicPr>
          <p:cNvPr id="36" name="그림 35" descr="로고, 블랙이(가) 표시된 사진&#10;&#10;자동 생성된 설명">
            <a:extLst>
              <a:ext uri="{FF2B5EF4-FFF2-40B4-BE49-F238E27FC236}">
                <a16:creationId xmlns:a16="http://schemas.microsoft.com/office/drawing/2014/main" id="{0FC23DEB-9085-EB69-98DD-9CB0AB14F8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3650589"/>
            <a:ext cx="171798" cy="174569"/>
          </a:xfrm>
          <a:prstGeom prst="rect">
            <a:avLst/>
          </a:prstGeom>
        </p:spPr>
      </p:pic>
      <p:pic>
        <p:nvPicPr>
          <p:cNvPr id="37" name="그림 36" descr="로고, 블랙이(가) 표시된 사진&#10;&#10;자동 생성된 설명">
            <a:extLst>
              <a:ext uri="{FF2B5EF4-FFF2-40B4-BE49-F238E27FC236}">
                <a16:creationId xmlns:a16="http://schemas.microsoft.com/office/drawing/2014/main" id="{955E5369-8730-AEB0-0404-059E50B769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52" y="3362755"/>
            <a:ext cx="171798" cy="174569"/>
          </a:xfrm>
          <a:prstGeom prst="rect">
            <a:avLst/>
          </a:prstGeom>
        </p:spPr>
      </p:pic>
      <p:sp>
        <p:nvSpPr>
          <p:cNvPr id="38" name="타원 37">
            <a:extLst>
              <a:ext uri="{FF2B5EF4-FFF2-40B4-BE49-F238E27FC236}">
                <a16:creationId xmlns:a16="http://schemas.microsoft.com/office/drawing/2014/main" id="{E4672E15-31F6-AA35-CF9C-FB01B1C5276A}"/>
              </a:ext>
            </a:extLst>
          </p:cNvPr>
          <p:cNvSpPr/>
          <p:nvPr/>
        </p:nvSpPr>
        <p:spPr>
          <a:xfrm>
            <a:off x="7913152" y="2555350"/>
            <a:ext cx="181653" cy="181653"/>
          </a:xfrm>
          <a:prstGeom prst="ellipse">
            <a:avLst/>
          </a:prstGeom>
          <a:solidFill>
            <a:srgbClr val="17365D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E24675B-BAE0-BA23-E0B7-D1EFC36ADED2}"/>
              </a:ext>
            </a:extLst>
          </p:cNvPr>
          <p:cNvSpPr/>
          <p:nvPr/>
        </p:nvSpPr>
        <p:spPr>
          <a:xfrm>
            <a:off x="7923775" y="4230976"/>
            <a:ext cx="352392" cy="333760"/>
          </a:xfrm>
          <a:prstGeom prst="ellipse">
            <a:avLst/>
          </a:prstGeom>
          <a:solidFill>
            <a:srgbClr val="EDF3FB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044FB398-B2F9-5643-86C4-C03F64710566}"/>
              </a:ext>
            </a:extLst>
          </p:cNvPr>
          <p:cNvSpPr/>
          <p:nvPr/>
        </p:nvSpPr>
        <p:spPr>
          <a:xfrm>
            <a:off x="6696788" y="3398321"/>
            <a:ext cx="352392" cy="333760"/>
          </a:xfrm>
          <a:prstGeom prst="ellipse">
            <a:avLst/>
          </a:prstGeom>
          <a:solidFill>
            <a:srgbClr val="EDF3FB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B815840-271B-360C-FC14-E768FFAD5DFD}"/>
              </a:ext>
            </a:extLst>
          </p:cNvPr>
          <p:cNvSpPr/>
          <p:nvPr/>
        </p:nvSpPr>
        <p:spPr>
          <a:xfrm>
            <a:off x="6527109" y="4428675"/>
            <a:ext cx="352392" cy="333760"/>
          </a:xfrm>
          <a:prstGeom prst="ellipse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7037FAF4-F159-455D-BC4A-0B96A2E8F2D0}"/>
              </a:ext>
            </a:extLst>
          </p:cNvPr>
          <p:cNvSpPr/>
          <p:nvPr/>
        </p:nvSpPr>
        <p:spPr>
          <a:xfrm>
            <a:off x="7173981" y="3820186"/>
            <a:ext cx="293620" cy="292357"/>
          </a:xfrm>
          <a:prstGeom prst="ellipse">
            <a:avLst/>
          </a:prstGeom>
          <a:solidFill>
            <a:srgbClr val="17365D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</a:rPr>
              <a:t>10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FC755E6-ACF1-FB47-0BDD-E9A1FAE808FD}"/>
              </a:ext>
            </a:extLst>
          </p:cNvPr>
          <p:cNvSpPr/>
          <p:nvPr/>
        </p:nvSpPr>
        <p:spPr>
          <a:xfrm>
            <a:off x="6461260" y="4346017"/>
            <a:ext cx="352392" cy="333760"/>
          </a:xfrm>
          <a:prstGeom prst="ellipse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696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9434F-3080-E0A1-76A8-716843BA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9A042A99-03F5-B525-6F59-EA4B8AFDB4E1}"/>
              </a:ext>
            </a:extLst>
          </p:cNvPr>
          <p:cNvSpPr/>
          <p:nvPr/>
        </p:nvSpPr>
        <p:spPr>
          <a:xfrm>
            <a:off x="288086" y="2060576"/>
            <a:ext cx="3636214" cy="317067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F6FA4D8-2185-A1D6-C151-4962CF7668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컨설팅 요구사항 별 </a:t>
            </a:r>
            <a:r>
              <a:rPr lang="ko-KR" altLang="en-US" sz="1600" u="none" strike="noStrike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일터혁신 추진방향에 부합하는 제도설계방향 및 컨설팅 추진 프로세스</a:t>
            </a:r>
            <a:r>
              <a:rPr lang="en-US" altLang="ko-KR" sz="1600" u="none" strike="noStrike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, KPI </a:t>
            </a:r>
            <a:r>
              <a:rPr lang="ko-KR" altLang="en-US" sz="1600" u="none" strike="noStrike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및 목표를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다음과 같이 제시함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46C3CE8-0690-6E0D-12E2-A7E774B01D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제도설계방향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9B445B-A382-4CF1-8930-3807F0ED43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r>
              <a:rPr lang="ko-KR" altLang="en-US" dirty="0"/>
              <a:t>일터혁신 수준별 제도설계 방향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9AC5FADF-6F85-D87D-F2E6-BB63C42F54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76416D1-1D40-5975-0FE6-DA94CD34BF03}"/>
              </a:ext>
            </a:extLst>
          </p:cNvPr>
          <p:cNvGrpSpPr/>
          <p:nvPr/>
        </p:nvGrpSpPr>
        <p:grpSpPr>
          <a:xfrm>
            <a:off x="4426491" y="1628816"/>
            <a:ext cx="5220000" cy="326265"/>
            <a:chOff x="7323746" y="1748657"/>
            <a:chExt cx="2309205" cy="30535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2656C85-7838-C35D-BD7C-D62682610A42}"/>
                </a:ext>
              </a:extLst>
            </p:cNvPr>
            <p:cNvSpPr/>
            <p:nvPr userDrawn="1"/>
          </p:nvSpPr>
          <p:spPr>
            <a:xfrm>
              <a:off x="7323747" y="1748657"/>
              <a:ext cx="2309204" cy="28975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일터혁신 추진목적 및 제도설계방향</a:t>
              </a: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14CA6A8-4A2F-FF79-C5A6-D01BA5C5CB52}"/>
                </a:ext>
              </a:extLst>
            </p:cNvPr>
            <p:cNvCxnSpPr/>
            <p:nvPr userDrawn="1"/>
          </p:nvCxnSpPr>
          <p:spPr>
            <a:xfrm>
              <a:off x="7323746" y="2054012"/>
              <a:ext cx="23092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D0E15B2-1CF6-9C5D-57C5-00950F20C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03447"/>
              </p:ext>
            </p:extLst>
          </p:nvPr>
        </p:nvGraphicFramePr>
        <p:xfrm>
          <a:off x="4426491" y="2062348"/>
          <a:ext cx="5219998" cy="581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5085">
                  <a:extLst>
                    <a:ext uri="{9D8B030D-6E8A-4147-A177-3AD203B41FA5}">
                      <a16:colId xmlns:a16="http://schemas.microsoft.com/office/drawing/2014/main" val="2398161033"/>
                    </a:ext>
                  </a:extLst>
                </a:gridCol>
                <a:gridCol w="4204913">
                  <a:extLst>
                    <a:ext uri="{9D8B030D-6E8A-4147-A177-3AD203B41FA5}">
                      <a16:colId xmlns:a16="http://schemas.microsoft.com/office/drawing/2014/main" val="217222399"/>
                    </a:ext>
                  </a:extLst>
                </a:gridCol>
              </a:tblGrid>
              <a:tr h="2907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일터혁신 추진목표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베이시스소프트의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지속가능성장을 위한 변화 기반 확보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726440"/>
                  </a:ext>
                </a:extLst>
              </a:tr>
              <a:tr h="2907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일터혁신</a:t>
                      </a: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KPI</a:t>
                      </a:r>
                      <a:endParaRPr lang="ko-KR" altLang="en-US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‘28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년까지 일터혁신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도약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9270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AF954ECB-822C-599B-E244-C15F8C9F9EEC}"/>
              </a:ext>
            </a:extLst>
          </p:cNvPr>
          <p:cNvGrpSpPr/>
          <p:nvPr/>
        </p:nvGrpSpPr>
        <p:grpSpPr>
          <a:xfrm>
            <a:off x="273931" y="1629035"/>
            <a:ext cx="3636214" cy="325827"/>
            <a:chOff x="273929" y="1626519"/>
            <a:chExt cx="6429396" cy="325827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D06DD17-59FC-7EC6-7CEE-07C1BDF8894E}"/>
                </a:ext>
              </a:extLst>
            </p:cNvPr>
            <p:cNvSpPr/>
            <p:nvPr userDrawn="1"/>
          </p:nvSpPr>
          <p:spPr>
            <a:xfrm>
              <a:off x="1837328" y="1626519"/>
              <a:ext cx="3302597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일터혁신 수준 진단결과</a:t>
              </a: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0FA30DB-DB16-1285-50C9-4066BF5C3F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88E82EBB-A8B7-A52A-955E-F545C685B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587288"/>
              </p:ext>
            </p:extLst>
          </p:nvPr>
        </p:nvGraphicFramePr>
        <p:xfrm>
          <a:off x="4406193" y="5664698"/>
          <a:ext cx="5219998" cy="46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4325">
                  <a:extLst>
                    <a:ext uri="{9D8B030D-6E8A-4147-A177-3AD203B41FA5}">
                      <a16:colId xmlns:a16="http://schemas.microsoft.com/office/drawing/2014/main" val="2398161033"/>
                    </a:ext>
                  </a:extLst>
                </a:gridCol>
                <a:gridCol w="3915673">
                  <a:extLst>
                    <a:ext uri="{9D8B030D-6E8A-4147-A177-3AD203B41FA5}">
                      <a16:colId xmlns:a16="http://schemas.microsoft.com/office/drawing/2014/main" val="217222399"/>
                    </a:ext>
                  </a:extLst>
                </a:gridCol>
              </a:tblGrid>
              <a:tr h="24628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‘26</a:t>
                      </a: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컨설팅 요구사항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교육체계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채용제도 마련 및 운영지원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726440"/>
                  </a:ext>
                </a:extLst>
              </a:tr>
              <a:tr h="2183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정부지원사업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927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4A6EB24-4F31-772E-F2B3-17FE49B97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030317"/>
              </p:ext>
            </p:extLst>
          </p:nvPr>
        </p:nvGraphicFramePr>
        <p:xfrm>
          <a:off x="4412971" y="2804159"/>
          <a:ext cx="5233517" cy="2762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8349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  <a:gridCol w="2082584">
                  <a:extLst>
                    <a:ext uri="{9D8B030D-6E8A-4147-A177-3AD203B41FA5}">
                      <a16:colId xmlns:a16="http://schemas.microsoft.com/office/drawing/2014/main" val="1817237126"/>
                    </a:ext>
                  </a:extLst>
                </a:gridCol>
                <a:gridCol w="2082584">
                  <a:extLst>
                    <a:ext uri="{9D8B030D-6E8A-4147-A177-3AD203B41FA5}">
                      <a16:colId xmlns:a16="http://schemas.microsoft.com/office/drawing/2014/main" val="3095484276"/>
                    </a:ext>
                  </a:extLst>
                </a:gridCol>
              </a:tblGrid>
              <a:tr h="259309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컨설팅 요구사항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임금체계 재설계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평가체계 설계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  <a:tr h="376634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추진배경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호봉제를 탈피하여 역할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직무</a:t>
                      </a:r>
                      <a:r>
                        <a:rPr kumimoji="0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성과 중심의 임금체계 구축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성과중심 아닌 재량적 운영 중심 평가체계</a:t>
                      </a:r>
                      <a:endParaRPr kumimoji="0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피드백 기반 제도 </a:t>
                      </a:r>
                      <a:r>
                        <a:rPr kumimoji="0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미구축</a:t>
                      </a:r>
                      <a:endParaRPr kumimoji="0" lang="ko-KR" altLang="en-US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849871"/>
                  </a:ext>
                </a:extLst>
              </a:tr>
              <a:tr h="456712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제도설계방향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임금체계 재설계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역할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직무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성과 중심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성장 피드백 중심 평가 프로세스 도입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구성원 수용성 중심 설계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431435"/>
                  </a:ext>
                </a:extLst>
              </a:tr>
              <a:tr h="678759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과업 범위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보상전략 수립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임금체계 설계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임금시뮬레이션</a:t>
                      </a:r>
                      <a:endParaRPr kumimoji="0" lang="ko-KR" altLang="en-US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모형 설계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요소 설계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 방안 마련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02061"/>
                  </a:ext>
                </a:extLst>
              </a:tr>
              <a:tr h="324136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KPI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임금체계 도입 여부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900" u="none" strike="noStrike" spc="-50" baseline="0" dirty="0">
                          <a:effectLst/>
                          <a:latin typeface="+mn-ea"/>
                          <a:ea typeface="+mn-ea"/>
                        </a:rPr>
                        <a:t>평가체계 도입 여부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085514"/>
                  </a:ext>
                </a:extLst>
              </a:tr>
              <a:tr h="333354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산출방식</a:t>
                      </a:r>
                      <a:endParaRPr lang="en-US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이행과제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개선과제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)*100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이행과제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개선과제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)*100</a:t>
                      </a:r>
                      <a:endParaRPr lang="ko-KR" altLang="en-US" sz="900" u="none" strike="noStrike" spc="-5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001859"/>
                  </a:ext>
                </a:extLst>
              </a:tr>
              <a:tr h="333354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목표</a:t>
                      </a:r>
                      <a:endParaRPr lang="en-US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100%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900" u="none" strike="noStrike" spc="-50" baseline="0" dirty="0">
                          <a:effectLst/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900" u="none" strike="noStrike" spc="-5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30570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7D2BB8F-4115-E098-8E0A-96A0930D4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331452"/>
              </p:ext>
            </p:extLst>
          </p:nvPr>
        </p:nvGraphicFramePr>
        <p:xfrm>
          <a:off x="288084" y="5436583"/>
          <a:ext cx="3636215" cy="703680"/>
        </p:xfrm>
        <a:graphic>
          <a:graphicData uri="http://schemas.openxmlformats.org/drawingml/2006/table">
            <a:tbl>
              <a:tblPr/>
              <a:tblGrid>
                <a:gridCol w="727243">
                  <a:extLst>
                    <a:ext uri="{9D8B030D-6E8A-4147-A177-3AD203B41FA5}">
                      <a16:colId xmlns:a16="http://schemas.microsoft.com/office/drawing/2014/main" val="1151449664"/>
                    </a:ext>
                  </a:extLst>
                </a:gridCol>
                <a:gridCol w="727243">
                  <a:extLst>
                    <a:ext uri="{9D8B030D-6E8A-4147-A177-3AD203B41FA5}">
                      <a16:colId xmlns:a16="http://schemas.microsoft.com/office/drawing/2014/main" val="1147360390"/>
                    </a:ext>
                  </a:extLst>
                </a:gridCol>
                <a:gridCol w="727243">
                  <a:extLst>
                    <a:ext uri="{9D8B030D-6E8A-4147-A177-3AD203B41FA5}">
                      <a16:colId xmlns:a16="http://schemas.microsoft.com/office/drawing/2014/main" val="1497292098"/>
                    </a:ext>
                  </a:extLst>
                </a:gridCol>
                <a:gridCol w="727243">
                  <a:extLst>
                    <a:ext uri="{9D8B030D-6E8A-4147-A177-3AD203B41FA5}">
                      <a16:colId xmlns:a16="http://schemas.microsoft.com/office/drawing/2014/main" val="3147537320"/>
                    </a:ext>
                  </a:extLst>
                </a:gridCol>
                <a:gridCol w="727243">
                  <a:extLst>
                    <a:ext uri="{9D8B030D-6E8A-4147-A177-3AD203B41FA5}">
                      <a16:colId xmlns:a16="http://schemas.microsoft.com/office/drawing/2014/main" val="286266930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일터혁신 수준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Level 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Level 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Level 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800" b="0" i="0" u="none" strike="noStrike" dirty="0">
                          <a:solidFill>
                            <a:srgbClr val="FFFFFF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Level 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5797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제도설계방향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혁신토대마련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성장기반확보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변화기반확보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유연화추구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650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KPI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법률리스크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 최소화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신규제도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도입률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개선제도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도입률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직원만족도 제고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87713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68EB30CE-6702-7AB1-2F2C-964A4DEB7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30213"/>
              </p:ext>
            </p:extLst>
          </p:nvPr>
        </p:nvGraphicFramePr>
        <p:xfrm>
          <a:off x="633790" y="2661020"/>
          <a:ext cx="3096000" cy="227378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304681141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5251483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718156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474033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237480764"/>
                    </a:ext>
                  </a:extLst>
                </a:gridCol>
              </a:tblGrid>
              <a:tr h="5234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혁신단계</a:t>
                      </a: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13688"/>
                  </a:ext>
                </a:extLst>
              </a:tr>
              <a:tr h="5234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참여단계</a:t>
                      </a:r>
                      <a:endParaRPr lang="en-US" altLang="ko-KR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00061"/>
                  </a:ext>
                </a:extLst>
              </a:tr>
              <a:tr h="5234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협력단계</a:t>
                      </a:r>
                      <a:endParaRPr lang="en-US" altLang="ko-KR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EEF9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52031"/>
                  </a:ext>
                </a:extLst>
              </a:tr>
              <a:tr h="5234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기초단계</a:t>
                      </a:r>
                      <a:endParaRPr lang="en-US" altLang="ko-KR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EEF9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EEF9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2421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무관심</a:t>
                      </a:r>
                      <a:endParaRPr 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3" marR="4443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필요인식</a:t>
                      </a:r>
                      <a:endParaRPr 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3" marR="4443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제도운영</a:t>
                      </a:r>
                      <a:endParaRPr 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3" marR="4443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내재화</a:t>
                      </a:r>
                      <a:endParaRPr 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3" marR="4443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2040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A82F8A84-7CC5-2490-1929-E121D1285D85}"/>
              </a:ext>
            </a:extLst>
          </p:cNvPr>
          <p:cNvGrpSpPr/>
          <p:nvPr/>
        </p:nvGrpSpPr>
        <p:grpSpPr>
          <a:xfrm>
            <a:off x="355725" y="2643797"/>
            <a:ext cx="3410809" cy="2514219"/>
            <a:chOff x="355725" y="2701336"/>
            <a:chExt cx="3410809" cy="2477568"/>
          </a:xfrm>
        </p:grpSpPr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BE446171-8742-691E-13A1-F5398D4C8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501" y="2701336"/>
              <a:ext cx="3110289" cy="22535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70"/>
                </a:cxn>
                <a:cxn ang="0">
                  <a:pos x="1905" y="1270"/>
                </a:cxn>
              </a:cxnLst>
              <a:rect l="0" t="0" r="r" b="b"/>
              <a:pathLst>
                <a:path w="1905" h="1270">
                  <a:moveTo>
                    <a:pt x="0" y="0"/>
                  </a:moveTo>
                  <a:lnTo>
                    <a:pt x="0" y="1270"/>
                  </a:lnTo>
                  <a:lnTo>
                    <a:pt x="1905" y="1270"/>
                  </a:lnTo>
                </a:path>
              </a:pathLst>
            </a:custGeom>
            <a:noFill/>
            <a:ln w="635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stealth" w="med" len="med"/>
            </a:ln>
            <a:effectLst/>
          </p:spPr>
          <p:txBody>
            <a:bodyPr lIns="92075" tIns="46038" rIns="92075" bIns="46038" anchor="ctr"/>
            <a:lstStyle/>
            <a:p>
              <a:pPr latinLnBrk="0"/>
              <a:endParaRPr lang="ko-KR" altLang="en-US" sz="1200" kern="0" dirty="0">
                <a:solidFill>
                  <a:srgbClr val="000000"/>
                </a:solidFill>
                <a:latin typeface="+mn-ea"/>
                <a:cs typeface="Arial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38EE681-A516-8E59-8B91-B10250685B46}"/>
                </a:ext>
              </a:extLst>
            </p:cNvPr>
            <p:cNvSpPr txBox="1"/>
            <p:nvPr/>
          </p:nvSpPr>
          <p:spPr>
            <a:xfrm>
              <a:off x="355725" y="2782833"/>
              <a:ext cx="241980" cy="856163"/>
            </a:xfrm>
            <a:prstGeom prst="rect">
              <a:avLst/>
            </a:prstGeom>
            <a:noFill/>
          </p:spPr>
          <p:txBody>
            <a:bodyPr vert="eaVert" wrap="none" lIns="36000" tIns="0" rIns="36000" bIns="0" rtlCol="0">
              <a:spAutoFit/>
            </a:bodyPr>
            <a:lstStyle>
              <a:defPPr>
                <a:defRPr lang="ko-KR"/>
              </a:defPPr>
              <a:lvl1pPr algn="ctr" latinLnBrk="0">
                <a:defRPr sz="1200" kern="0">
                  <a:solidFill>
                    <a:prstClr val="black"/>
                  </a:solidFill>
                  <a:latin typeface="+mn-ea"/>
                </a:defRPr>
              </a:lvl1pPr>
            </a:lstStyle>
            <a:p>
              <a:r>
                <a:rPr lang="ko-KR" altLang="en-US" sz="1100" spc="-150" dirty="0"/>
                <a:t>조직 발전단계</a:t>
              </a:r>
              <a:endParaRPr lang="en-US" altLang="ko-KR" sz="1100" spc="-15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C75408-B1BF-B9E5-01F4-2AAB0ED5D432}"/>
                </a:ext>
              </a:extLst>
            </p:cNvPr>
            <p:cNvSpPr txBox="1"/>
            <p:nvPr/>
          </p:nvSpPr>
          <p:spPr>
            <a:xfrm>
              <a:off x="3113544" y="5012095"/>
              <a:ext cx="652990" cy="166809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algn="r" latinLnBrk="0">
                <a:defRPr/>
              </a:pPr>
              <a:r>
                <a:rPr lang="ko-KR" altLang="en-US" sz="1100" kern="0" spc="-100" dirty="0">
                  <a:solidFill>
                    <a:prstClr val="black"/>
                  </a:solidFill>
                  <a:latin typeface="+mn-ea"/>
                </a:rPr>
                <a:t>제도 성숙도</a:t>
              </a:r>
              <a:endParaRPr lang="en-US" altLang="ko-KR" sz="1100" kern="0" spc="-10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651E595-3BBF-8A66-E441-1BC4DEF3E8E8}"/>
              </a:ext>
            </a:extLst>
          </p:cNvPr>
          <p:cNvGrpSpPr/>
          <p:nvPr/>
        </p:nvGrpSpPr>
        <p:grpSpPr>
          <a:xfrm>
            <a:off x="1765814" y="3030615"/>
            <a:ext cx="1306945" cy="1091447"/>
            <a:chOff x="1765814" y="3051881"/>
            <a:chExt cx="1306945" cy="1091447"/>
          </a:xfrm>
        </p:grpSpPr>
        <p:sp>
          <p:nvSpPr>
            <p:cNvPr id="32" name="Oval 20">
              <a:extLst>
                <a:ext uri="{FF2B5EF4-FFF2-40B4-BE49-F238E27FC236}">
                  <a16:creationId xmlns:a16="http://schemas.microsoft.com/office/drawing/2014/main" id="{684D6CE4-2C51-154C-20E0-6A5B4A827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2496" y="3051881"/>
              <a:ext cx="700263" cy="675941"/>
            </a:xfrm>
            <a:prstGeom prst="ellipse">
              <a:avLst/>
            </a:prstGeom>
            <a:solidFill>
              <a:schemeClr val="bg1"/>
            </a:solidFill>
            <a:ln w="12700" algn="ctr">
              <a:noFill/>
              <a:round/>
              <a:headEnd/>
              <a:tailEnd/>
            </a:ln>
            <a:effectLst>
              <a:outerShdw blurRad="63500" sx="110000" sy="110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latinLnBrk="0"/>
              <a:r>
                <a:rPr lang="en-US" altLang="ko-KR" sz="1100" b="1" kern="0" spc="-50" dirty="0">
                  <a:latin typeface="+mn-ea"/>
                  <a:cs typeface="Arial" charset="0"/>
                </a:rPr>
                <a:t>To-be</a:t>
              </a:r>
            </a:p>
            <a:p>
              <a:pPr algn="ctr" latinLnBrk="0"/>
              <a:r>
                <a:rPr lang="ko-KR" altLang="en-US" sz="1100" b="1" kern="0" spc="-50" dirty="0">
                  <a:latin typeface="+mn-ea"/>
                  <a:cs typeface="Arial" charset="0"/>
                </a:rPr>
                <a:t>일터혁신</a:t>
              </a:r>
              <a:endParaRPr lang="en-US" altLang="ko-KR" sz="1100" b="1" kern="0" spc="-50" dirty="0">
                <a:latin typeface="+mn-ea"/>
                <a:cs typeface="Arial" charset="0"/>
              </a:endParaRPr>
            </a:p>
            <a:p>
              <a:pPr algn="ctr" latinLnBrk="0"/>
              <a:r>
                <a:rPr lang="en-US" altLang="ko-KR" sz="1100" b="1" kern="0" spc="-50" dirty="0">
                  <a:latin typeface="+mn-ea"/>
                  <a:cs typeface="Arial" charset="0"/>
                </a:rPr>
                <a:t>Level 3</a:t>
              </a:r>
            </a:p>
          </p:txBody>
        </p:sp>
        <p:sp>
          <p:nvSpPr>
            <p:cNvPr id="33" name="도형 29">
              <a:extLst>
                <a:ext uri="{FF2B5EF4-FFF2-40B4-BE49-F238E27FC236}">
                  <a16:creationId xmlns:a16="http://schemas.microsoft.com/office/drawing/2014/main" id="{58C0B475-2FD6-B465-CA06-DF6E1E0C3934}"/>
                </a:ext>
              </a:extLst>
            </p:cNvPr>
            <p:cNvSpPr/>
            <p:nvPr/>
          </p:nvSpPr>
          <p:spPr>
            <a:xfrm rot="18199814" flipV="1">
              <a:off x="2093765" y="3686849"/>
              <a:ext cx="456752" cy="308315"/>
            </a:xfrm>
            <a:custGeom>
              <a:avLst/>
              <a:gdLst>
                <a:gd name="connsiteX0" fmla="*/ 0 w 1622066"/>
                <a:gd name="connsiteY0" fmla="*/ 1264783 h 1264783"/>
                <a:gd name="connsiteX1" fmla="*/ 1381681 w 1622066"/>
                <a:gd name="connsiteY1" fmla="*/ 158098 h 1264783"/>
                <a:gd name="connsiteX2" fmla="*/ 1363868 w 1622066"/>
                <a:gd name="connsiteY2" fmla="*/ 0 h 1264783"/>
                <a:gd name="connsiteX3" fmla="*/ 1622066 w 1622066"/>
                <a:gd name="connsiteY3" fmla="*/ 189970 h 1264783"/>
                <a:gd name="connsiteX4" fmla="*/ 1420928 w 1622066"/>
                <a:gd name="connsiteY4" fmla="*/ 506419 h 1264783"/>
                <a:gd name="connsiteX5" fmla="*/ 1403114 w 1622066"/>
                <a:gd name="connsiteY5" fmla="*/ 348321 h 1264783"/>
                <a:gd name="connsiteX6" fmla="*/ 0 w 1622066"/>
                <a:gd name="connsiteY6" fmla="*/ 1264783 h 1264783"/>
                <a:gd name="connsiteX0" fmla="*/ 0 w 1645085"/>
                <a:gd name="connsiteY0" fmla="*/ 1264783 h 1264783"/>
                <a:gd name="connsiteX1" fmla="*/ 1381681 w 1645085"/>
                <a:gd name="connsiteY1" fmla="*/ 158098 h 1264783"/>
                <a:gd name="connsiteX2" fmla="*/ 1363868 w 1645085"/>
                <a:gd name="connsiteY2" fmla="*/ 0 h 1264783"/>
                <a:gd name="connsiteX3" fmla="*/ 1645085 w 1645085"/>
                <a:gd name="connsiteY3" fmla="*/ 232691 h 1264783"/>
                <a:gd name="connsiteX4" fmla="*/ 1420928 w 1645085"/>
                <a:gd name="connsiteY4" fmla="*/ 506419 h 1264783"/>
                <a:gd name="connsiteX5" fmla="*/ 1403114 w 1645085"/>
                <a:gd name="connsiteY5" fmla="*/ 348321 h 1264783"/>
                <a:gd name="connsiteX6" fmla="*/ 0 w 1645085"/>
                <a:gd name="connsiteY6" fmla="*/ 1264783 h 1264783"/>
                <a:gd name="connsiteX0" fmla="*/ -1 w 1368526"/>
                <a:gd name="connsiteY0" fmla="*/ 1147474 h 1147474"/>
                <a:gd name="connsiteX1" fmla="*/ 1105122 w 1368526"/>
                <a:gd name="connsiteY1" fmla="*/ 158098 h 1147474"/>
                <a:gd name="connsiteX2" fmla="*/ 1087309 w 1368526"/>
                <a:gd name="connsiteY2" fmla="*/ 0 h 1147474"/>
                <a:gd name="connsiteX3" fmla="*/ 1368526 w 1368526"/>
                <a:gd name="connsiteY3" fmla="*/ 232691 h 1147474"/>
                <a:gd name="connsiteX4" fmla="*/ 1144369 w 1368526"/>
                <a:gd name="connsiteY4" fmla="*/ 506419 h 1147474"/>
                <a:gd name="connsiteX5" fmla="*/ 1126555 w 1368526"/>
                <a:gd name="connsiteY5" fmla="*/ 348321 h 1147474"/>
                <a:gd name="connsiteX6" fmla="*/ -1 w 1368526"/>
                <a:gd name="connsiteY6" fmla="*/ 1147474 h 1147474"/>
                <a:gd name="connsiteX0" fmla="*/ 0 w 1169014"/>
                <a:gd name="connsiteY0" fmla="*/ 830447 h 830448"/>
                <a:gd name="connsiteX1" fmla="*/ 905610 w 1169014"/>
                <a:gd name="connsiteY1" fmla="*/ 158098 h 830448"/>
                <a:gd name="connsiteX2" fmla="*/ 887797 w 1169014"/>
                <a:gd name="connsiteY2" fmla="*/ 0 h 830448"/>
                <a:gd name="connsiteX3" fmla="*/ 1169014 w 1169014"/>
                <a:gd name="connsiteY3" fmla="*/ 232691 h 830448"/>
                <a:gd name="connsiteX4" fmla="*/ 944857 w 1169014"/>
                <a:gd name="connsiteY4" fmla="*/ 506419 h 830448"/>
                <a:gd name="connsiteX5" fmla="*/ 927043 w 1169014"/>
                <a:gd name="connsiteY5" fmla="*/ 348321 h 830448"/>
                <a:gd name="connsiteX6" fmla="*/ 0 w 1169014"/>
                <a:gd name="connsiteY6" fmla="*/ 830447 h 830448"/>
                <a:gd name="connsiteX0" fmla="*/ 0 w 1169014"/>
                <a:gd name="connsiteY0" fmla="*/ 830447 h 830448"/>
                <a:gd name="connsiteX1" fmla="*/ 905610 w 1169014"/>
                <a:gd name="connsiteY1" fmla="*/ 158098 h 830448"/>
                <a:gd name="connsiteX2" fmla="*/ 887797 w 1169014"/>
                <a:gd name="connsiteY2" fmla="*/ 0 h 830448"/>
                <a:gd name="connsiteX3" fmla="*/ 1169014 w 1169014"/>
                <a:gd name="connsiteY3" fmla="*/ 232691 h 830448"/>
                <a:gd name="connsiteX4" fmla="*/ 944857 w 1169014"/>
                <a:gd name="connsiteY4" fmla="*/ 506419 h 830448"/>
                <a:gd name="connsiteX5" fmla="*/ 927043 w 1169014"/>
                <a:gd name="connsiteY5" fmla="*/ 348321 h 830448"/>
                <a:gd name="connsiteX6" fmla="*/ 0 w 1169014"/>
                <a:gd name="connsiteY6" fmla="*/ 830447 h 830448"/>
                <a:gd name="connsiteX0" fmla="*/ -1 w 1252427"/>
                <a:gd name="connsiteY0" fmla="*/ 679798 h 679798"/>
                <a:gd name="connsiteX1" fmla="*/ 989023 w 1252427"/>
                <a:gd name="connsiteY1" fmla="*/ 158098 h 679798"/>
                <a:gd name="connsiteX2" fmla="*/ 971210 w 1252427"/>
                <a:gd name="connsiteY2" fmla="*/ 0 h 679798"/>
                <a:gd name="connsiteX3" fmla="*/ 1252427 w 1252427"/>
                <a:gd name="connsiteY3" fmla="*/ 232691 h 679798"/>
                <a:gd name="connsiteX4" fmla="*/ 1028270 w 1252427"/>
                <a:gd name="connsiteY4" fmla="*/ 506419 h 679798"/>
                <a:gd name="connsiteX5" fmla="*/ 1010456 w 1252427"/>
                <a:gd name="connsiteY5" fmla="*/ 348321 h 679798"/>
                <a:gd name="connsiteX6" fmla="*/ -1 w 1252427"/>
                <a:gd name="connsiteY6" fmla="*/ 679798 h 679798"/>
                <a:gd name="connsiteX0" fmla="*/ -1 w 1252427"/>
                <a:gd name="connsiteY0" fmla="*/ 679798 h 679798"/>
                <a:gd name="connsiteX1" fmla="*/ 989023 w 1252427"/>
                <a:gd name="connsiteY1" fmla="*/ 158098 h 679798"/>
                <a:gd name="connsiteX2" fmla="*/ 971210 w 1252427"/>
                <a:gd name="connsiteY2" fmla="*/ 0 h 679798"/>
                <a:gd name="connsiteX3" fmla="*/ 1252427 w 1252427"/>
                <a:gd name="connsiteY3" fmla="*/ 232691 h 679798"/>
                <a:gd name="connsiteX4" fmla="*/ 1028270 w 1252427"/>
                <a:gd name="connsiteY4" fmla="*/ 506419 h 679798"/>
                <a:gd name="connsiteX5" fmla="*/ 1010456 w 1252427"/>
                <a:gd name="connsiteY5" fmla="*/ 348321 h 679798"/>
                <a:gd name="connsiteX6" fmla="*/ -1 w 1252427"/>
                <a:gd name="connsiteY6" fmla="*/ 679798 h 679798"/>
                <a:gd name="connsiteX0" fmla="*/ -1 w 1252427"/>
                <a:gd name="connsiteY0" fmla="*/ 679798 h 679798"/>
                <a:gd name="connsiteX1" fmla="*/ 989023 w 1252427"/>
                <a:gd name="connsiteY1" fmla="*/ 158098 h 679798"/>
                <a:gd name="connsiteX2" fmla="*/ 971210 w 1252427"/>
                <a:gd name="connsiteY2" fmla="*/ 0 h 679798"/>
                <a:gd name="connsiteX3" fmla="*/ 1252427 w 1252427"/>
                <a:gd name="connsiteY3" fmla="*/ 232691 h 679798"/>
                <a:gd name="connsiteX4" fmla="*/ 1028270 w 1252427"/>
                <a:gd name="connsiteY4" fmla="*/ 506419 h 679798"/>
                <a:gd name="connsiteX5" fmla="*/ 1010456 w 1252427"/>
                <a:gd name="connsiteY5" fmla="*/ 348321 h 679798"/>
                <a:gd name="connsiteX6" fmla="*/ -1 w 1252427"/>
                <a:gd name="connsiteY6" fmla="*/ 679798 h 679798"/>
                <a:gd name="connsiteX0" fmla="*/ 1 w 994903"/>
                <a:gd name="connsiteY0" fmla="*/ 600384 h 600384"/>
                <a:gd name="connsiteX1" fmla="*/ 731499 w 994903"/>
                <a:gd name="connsiteY1" fmla="*/ 158098 h 600384"/>
                <a:gd name="connsiteX2" fmla="*/ 713686 w 994903"/>
                <a:gd name="connsiteY2" fmla="*/ 0 h 600384"/>
                <a:gd name="connsiteX3" fmla="*/ 994903 w 994903"/>
                <a:gd name="connsiteY3" fmla="*/ 232691 h 600384"/>
                <a:gd name="connsiteX4" fmla="*/ 770746 w 994903"/>
                <a:gd name="connsiteY4" fmla="*/ 506419 h 600384"/>
                <a:gd name="connsiteX5" fmla="*/ 752932 w 994903"/>
                <a:gd name="connsiteY5" fmla="*/ 348321 h 600384"/>
                <a:gd name="connsiteX6" fmla="*/ 1 w 994903"/>
                <a:gd name="connsiteY6" fmla="*/ 600384 h 600384"/>
                <a:gd name="connsiteX0" fmla="*/ 1 w 994903"/>
                <a:gd name="connsiteY0" fmla="*/ 600384 h 600384"/>
                <a:gd name="connsiteX1" fmla="*/ 731499 w 994903"/>
                <a:gd name="connsiteY1" fmla="*/ 158098 h 600384"/>
                <a:gd name="connsiteX2" fmla="*/ 713686 w 994903"/>
                <a:gd name="connsiteY2" fmla="*/ 0 h 600384"/>
                <a:gd name="connsiteX3" fmla="*/ 994903 w 994903"/>
                <a:gd name="connsiteY3" fmla="*/ 232691 h 600384"/>
                <a:gd name="connsiteX4" fmla="*/ 770746 w 994903"/>
                <a:gd name="connsiteY4" fmla="*/ 506419 h 600384"/>
                <a:gd name="connsiteX5" fmla="*/ 752932 w 994903"/>
                <a:gd name="connsiteY5" fmla="*/ 348321 h 600384"/>
                <a:gd name="connsiteX6" fmla="*/ 1 w 994903"/>
                <a:gd name="connsiteY6" fmla="*/ 600384 h 600384"/>
                <a:gd name="connsiteX0" fmla="*/ 1 w 994903"/>
                <a:gd name="connsiteY0" fmla="*/ 600384 h 600384"/>
                <a:gd name="connsiteX1" fmla="*/ 731499 w 994903"/>
                <a:gd name="connsiteY1" fmla="*/ 158098 h 600384"/>
                <a:gd name="connsiteX2" fmla="*/ 713686 w 994903"/>
                <a:gd name="connsiteY2" fmla="*/ 0 h 600384"/>
                <a:gd name="connsiteX3" fmla="*/ 994903 w 994903"/>
                <a:gd name="connsiteY3" fmla="*/ 232691 h 600384"/>
                <a:gd name="connsiteX4" fmla="*/ 770746 w 994903"/>
                <a:gd name="connsiteY4" fmla="*/ 506419 h 600384"/>
                <a:gd name="connsiteX5" fmla="*/ 752932 w 994903"/>
                <a:gd name="connsiteY5" fmla="*/ 348321 h 600384"/>
                <a:gd name="connsiteX6" fmla="*/ 1 w 994903"/>
                <a:gd name="connsiteY6" fmla="*/ 600384 h 600384"/>
                <a:gd name="connsiteX0" fmla="*/ -1 w 994901"/>
                <a:gd name="connsiteY0" fmla="*/ 600384 h 600384"/>
                <a:gd name="connsiteX1" fmla="*/ 731497 w 994901"/>
                <a:gd name="connsiteY1" fmla="*/ 158098 h 600384"/>
                <a:gd name="connsiteX2" fmla="*/ 713684 w 994901"/>
                <a:gd name="connsiteY2" fmla="*/ 0 h 600384"/>
                <a:gd name="connsiteX3" fmla="*/ 994901 w 994901"/>
                <a:gd name="connsiteY3" fmla="*/ 232691 h 600384"/>
                <a:gd name="connsiteX4" fmla="*/ 770744 w 994901"/>
                <a:gd name="connsiteY4" fmla="*/ 506419 h 600384"/>
                <a:gd name="connsiteX5" fmla="*/ 752930 w 994901"/>
                <a:gd name="connsiteY5" fmla="*/ 348321 h 600384"/>
                <a:gd name="connsiteX6" fmla="*/ -1 w 994901"/>
                <a:gd name="connsiteY6" fmla="*/ 600384 h 600384"/>
                <a:gd name="connsiteX0" fmla="*/ 1 w 994903"/>
                <a:gd name="connsiteY0" fmla="*/ 600384 h 600384"/>
                <a:gd name="connsiteX1" fmla="*/ 731499 w 994903"/>
                <a:gd name="connsiteY1" fmla="*/ 158098 h 600384"/>
                <a:gd name="connsiteX2" fmla="*/ 713686 w 994903"/>
                <a:gd name="connsiteY2" fmla="*/ 0 h 600384"/>
                <a:gd name="connsiteX3" fmla="*/ 994903 w 994903"/>
                <a:gd name="connsiteY3" fmla="*/ 232691 h 600384"/>
                <a:gd name="connsiteX4" fmla="*/ 770746 w 994903"/>
                <a:gd name="connsiteY4" fmla="*/ 506419 h 600384"/>
                <a:gd name="connsiteX5" fmla="*/ 752932 w 994903"/>
                <a:gd name="connsiteY5" fmla="*/ 348321 h 600384"/>
                <a:gd name="connsiteX6" fmla="*/ 1 w 994903"/>
                <a:gd name="connsiteY6" fmla="*/ 600384 h 600384"/>
                <a:gd name="connsiteX0" fmla="*/ -1 w 994901"/>
                <a:gd name="connsiteY0" fmla="*/ 600384 h 600384"/>
                <a:gd name="connsiteX1" fmla="*/ 731497 w 994901"/>
                <a:gd name="connsiteY1" fmla="*/ 158098 h 600384"/>
                <a:gd name="connsiteX2" fmla="*/ 713684 w 994901"/>
                <a:gd name="connsiteY2" fmla="*/ 0 h 600384"/>
                <a:gd name="connsiteX3" fmla="*/ 994901 w 994901"/>
                <a:gd name="connsiteY3" fmla="*/ 232691 h 600384"/>
                <a:gd name="connsiteX4" fmla="*/ 770744 w 994901"/>
                <a:gd name="connsiteY4" fmla="*/ 506419 h 600384"/>
                <a:gd name="connsiteX5" fmla="*/ 752930 w 994901"/>
                <a:gd name="connsiteY5" fmla="*/ 348321 h 600384"/>
                <a:gd name="connsiteX6" fmla="*/ -1 w 994901"/>
                <a:gd name="connsiteY6" fmla="*/ 600384 h 60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4901" h="600384">
                  <a:moveTo>
                    <a:pt x="-1" y="600384"/>
                  </a:moveTo>
                  <a:cubicBezTo>
                    <a:pt x="87490" y="490791"/>
                    <a:pt x="-9394" y="333762"/>
                    <a:pt x="731497" y="158098"/>
                  </a:cubicBezTo>
                  <a:lnTo>
                    <a:pt x="713684" y="0"/>
                  </a:lnTo>
                  <a:lnTo>
                    <a:pt x="994901" y="232691"/>
                  </a:lnTo>
                  <a:lnTo>
                    <a:pt x="770744" y="506419"/>
                  </a:lnTo>
                  <a:lnTo>
                    <a:pt x="752930" y="348321"/>
                  </a:lnTo>
                  <a:cubicBezTo>
                    <a:pt x="87865" y="418587"/>
                    <a:pt x="33959" y="578434"/>
                    <a:pt x="-1" y="60038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square" lIns="36000" rIns="36000" anchor="ctr">
              <a:noAutofit/>
            </a:bodyPr>
            <a:lstStyle/>
            <a:p>
              <a:pPr latinLnBrk="0"/>
              <a:endParaRPr lang="ko-KR" altLang="en-US" sz="1200" i="1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34" name="Oval 17">
              <a:extLst>
                <a:ext uri="{FF2B5EF4-FFF2-40B4-BE49-F238E27FC236}">
                  <a16:creationId xmlns:a16="http://schemas.microsoft.com/office/drawing/2014/main" id="{ED07E934-9BF2-F46D-2385-E0EF401FE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814" y="3892934"/>
              <a:ext cx="280246" cy="250394"/>
            </a:xfrm>
            <a:prstGeom prst="ellipse">
              <a:avLst/>
            </a:prstGeom>
            <a:solidFill>
              <a:schemeClr val="bg1"/>
            </a:solidFill>
            <a:ln w="12700" algn="ctr">
              <a:noFill/>
              <a:round/>
              <a:headEnd/>
              <a:tailEnd/>
            </a:ln>
            <a:effectLst>
              <a:outerShdw blurRad="63500" sx="110000" sy="110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b" anchorCtr="1"/>
            <a:lstStyle/>
            <a:p>
              <a:pPr algn="ctr" latinLnBrk="0"/>
              <a:r>
                <a:rPr lang="en-US" altLang="ko-KR" sz="1100" b="1" kern="0" spc="-50" dirty="0">
                  <a:latin typeface="+mn-ea"/>
                  <a:cs typeface="Arial" charset="0"/>
                </a:rPr>
                <a:t>As-is</a:t>
              </a:r>
            </a:p>
            <a:p>
              <a:pPr algn="ctr" latinLnBrk="0"/>
              <a:r>
                <a:rPr lang="en-US" altLang="ko-KR" sz="1100" b="1" kern="0" spc="-50" dirty="0">
                  <a:latin typeface="+mn-ea"/>
                  <a:cs typeface="Arial" charset="0"/>
                </a:rPr>
                <a:t>Lv.2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C560F9A-766E-AC40-6E3A-089E988BEEC8}"/>
              </a:ext>
            </a:extLst>
          </p:cNvPr>
          <p:cNvGrpSpPr/>
          <p:nvPr/>
        </p:nvGrpSpPr>
        <p:grpSpPr>
          <a:xfrm>
            <a:off x="3964343" y="2060576"/>
            <a:ext cx="408207" cy="4079687"/>
            <a:chOff x="3921811" y="2060576"/>
            <a:chExt cx="504680" cy="4079687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3BF4C1F4-4FBC-1BF6-C7FC-3BF39307D5B1}"/>
                </a:ext>
              </a:extLst>
            </p:cNvPr>
            <p:cNvCxnSpPr>
              <a:cxnSpLocks/>
            </p:cNvCxnSpPr>
            <p:nvPr/>
          </p:nvCxnSpPr>
          <p:spPr>
            <a:xfrm>
              <a:off x="3946094" y="5228965"/>
              <a:ext cx="460099" cy="9112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6F4F686-AC82-A70A-8EC4-FDFD5AC5475D}"/>
                </a:ext>
              </a:extLst>
            </p:cNvPr>
            <p:cNvCxnSpPr>
              <a:cxnSpLocks/>
            </p:cNvCxnSpPr>
            <p:nvPr/>
          </p:nvCxnSpPr>
          <p:spPr>
            <a:xfrm>
              <a:off x="3921811" y="2060576"/>
              <a:ext cx="50468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751158-42CE-BDED-0375-28BA6453F7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857" y="2155278"/>
            <a:ext cx="1397213" cy="36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945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디자인팀과의 긴밀한 업무 협조를 바탕으로 추진할 주요 활동 및 추진 일정 계획은 다음과 같음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제도설계방향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r>
              <a:rPr lang="ko-KR" altLang="en-US" dirty="0"/>
              <a:t>향후 추진 계획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91742F9-5E3B-6B53-E7D2-5801C8034E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6DBC0C5-2265-A633-16D8-EF97E35DA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05272"/>
              </p:ext>
            </p:extLst>
          </p:nvPr>
        </p:nvGraphicFramePr>
        <p:xfrm>
          <a:off x="273050" y="1625512"/>
          <a:ext cx="9372246" cy="4412756"/>
        </p:xfrm>
        <a:graphic>
          <a:graphicData uri="http://schemas.openxmlformats.org/drawingml/2006/table">
            <a:tbl>
              <a:tblPr/>
              <a:tblGrid>
                <a:gridCol w="804312">
                  <a:extLst>
                    <a:ext uri="{9D8B030D-6E8A-4147-A177-3AD203B41FA5}">
                      <a16:colId xmlns:a16="http://schemas.microsoft.com/office/drawing/2014/main" val="1297279594"/>
                    </a:ext>
                  </a:extLst>
                </a:gridCol>
                <a:gridCol w="986828">
                  <a:extLst>
                    <a:ext uri="{9D8B030D-6E8A-4147-A177-3AD203B41FA5}">
                      <a16:colId xmlns:a16="http://schemas.microsoft.com/office/drawing/2014/main" val="440332993"/>
                    </a:ext>
                  </a:extLst>
                </a:gridCol>
                <a:gridCol w="1593410">
                  <a:extLst>
                    <a:ext uri="{9D8B030D-6E8A-4147-A177-3AD203B41FA5}">
                      <a16:colId xmlns:a16="http://schemas.microsoft.com/office/drawing/2014/main" val="2682817090"/>
                    </a:ext>
                  </a:extLst>
                </a:gridCol>
                <a:gridCol w="1213164">
                  <a:extLst>
                    <a:ext uri="{9D8B030D-6E8A-4147-A177-3AD203B41FA5}">
                      <a16:colId xmlns:a16="http://schemas.microsoft.com/office/drawing/2014/main" val="1172247648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33750902"/>
                    </a:ext>
                  </a:extLst>
                </a:gridCol>
                <a:gridCol w="959668">
                  <a:extLst>
                    <a:ext uri="{9D8B030D-6E8A-4147-A177-3AD203B41FA5}">
                      <a16:colId xmlns:a16="http://schemas.microsoft.com/office/drawing/2014/main" val="2020766012"/>
                    </a:ext>
                  </a:extLst>
                </a:gridCol>
                <a:gridCol w="975931">
                  <a:extLst>
                    <a:ext uri="{9D8B030D-6E8A-4147-A177-3AD203B41FA5}">
                      <a16:colId xmlns:a16="http://schemas.microsoft.com/office/drawing/2014/main" val="1345875793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788007831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1123103700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3151865588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1697806430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1321281732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2469362121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1170568342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2730285505"/>
                    </a:ext>
                  </a:extLst>
                </a:gridCol>
                <a:gridCol w="207437">
                  <a:extLst>
                    <a:ext uri="{9D8B030D-6E8A-4147-A177-3AD203B41FA5}">
                      <a16:colId xmlns:a16="http://schemas.microsoft.com/office/drawing/2014/main" val="1395128954"/>
                    </a:ext>
                  </a:extLst>
                </a:gridCol>
              </a:tblGrid>
              <a:tr h="235217"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af-ZA" sz="1000" b="0" kern="0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Module</a:t>
                      </a:r>
                      <a:endParaRPr kumimoji="1" lang="af-ZA" sz="1000" b="0" kern="0" spc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af-ZA" sz="1000" b="0" kern="0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Step</a:t>
                      </a:r>
                      <a:endParaRPr kumimoji="1" lang="af-ZA" sz="1000" b="0" kern="0" spc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af-ZA" sz="1000" b="0" kern="0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Activities</a:t>
                      </a:r>
                      <a:endParaRPr kumimoji="1" lang="af-ZA" sz="1000" b="0" kern="0" spc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kern="0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컨설팅 추진 방법</a:t>
                      </a:r>
                      <a:endParaRPr kumimoji="1" lang="ko-KR" altLang="en-US" sz="1000" b="0" kern="0" spc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kern="0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제도설계 참여자</a:t>
                      </a:r>
                      <a:endParaRPr kumimoji="1" lang="af-ZA" sz="1000" b="0" kern="0" spc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kern="0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산출물</a:t>
                      </a:r>
                      <a:endParaRPr kumimoji="1" lang="ko-KR" altLang="en-US" sz="1000" b="0" kern="0" spc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kern="0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7</a:t>
                      </a:r>
                      <a:r>
                        <a:rPr kumimoji="1" lang="ko-KR" altLang="en-US" sz="1000" b="0" kern="0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월</a:t>
                      </a: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kern="0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8</a:t>
                      </a:r>
                      <a:r>
                        <a:rPr kumimoji="1" lang="ko-KR" altLang="en-US" sz="1000" b="0" kern="0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월</a:t>
                      </a: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1000" b="0" kern="0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9</a:t>
                      </a:r>
                      <a:r>
                        <a:rPr kumimoji="1" lang="ko-KR" altLang="en-US" sz="1000" b="0" kern="0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월</a:t>
                      </a: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946215"/>
                  </a:ext>
                </a:extLst>
              </a:tr>
              <a:tr h="235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kern="0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디자인팀</a:t>
                      </a:r>
                      <a:endParaRPr kumimoji="1" lang="ko-KR" altLang="en-US" sz="1000" b="0" kern="0" spc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kern="0" spc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디자인팀 외</a:t>
                      </a:r>
                      <a:endParaRPr kumimoji="1" lang="af-ZA" sz="1000" b="0" kern="0" spc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01" marR="5201" marT="5201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659109"/>
                  </a:ext>
                </a:extLst>
              </a:tr>
              <a:tr h="36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spc="-100" baseline="0" dirty="0">
                          <a:effectLst/>
                          <a:latin typeface="+mn-ea"/>
                          <a:ea typeface="+mn-ea"/>
                        </a:rPr>
                        <a:t>M3. </a:t>
                      </a:r>
                      <a:r>
                        <a:rPr lang="ko-KR" altLang="en-US" sz="900" b="0" u="none" strike="noStrike" spc="-100" baseline="0" dirty="0">
                          <a:effectLst/>
                          <a:latin typeface="+mn-ea"/>
                          <a:ea typeface="+mn-ea"/>
                        </a:rPr>
                        <a:t>임금체계</a:t>
                      </a:r>
                      <a:endParaRPr lang="en-US" altLang="ko-KR" sz="900" b="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900" b="0" u="none" strike="noStrike" spc="-100" baseline="0" dirty="0">
                          <a:effectLst/>
                          <a:latin typeface="+mn-ea"/>
                          <a:ea typeface="+mn-ea"/>
                        </a:rPr>
                        <a:t>재설계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보상전략 수립</a:t>
                      </a: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임금구조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수준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비중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결정요인에 대한 개선방향 설정</a:t>
                      </a:r>
                    </a:p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성과연계 임금 구성 방안 수립</a:t>
                      </a:r>
                    </a:p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임금등급 기준 설정</a:t>
                      </a: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디자인팀 회의</a:t>
                      </a:r>
                      <a:endParaRPr kumimoji="0" lang="en-US" altLang="ko-KR" sz="900" b="0" i="0" u="none" strike="noStrike" kern="1200" cap="none" spc="-10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경영진 회의</a:t>
                      </a:r>
                      <a:endParaRPr kumimoji="0" lang="ko-KR" altLang="en-US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■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경영진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■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근로자대표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■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인사담당자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□ 일반근로자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보상체계 수립 결과</a:t>
                      </a: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5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924327"/>
                  </a:ext>
                </a:extLst>
              </a:tr>
              <a:tr h="3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임금체계 설계</a:t>
                      </a: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성과와 연동될 임금 구성요소 및 연동 방안 논의</a:t>
                      </a:r>
                    </a:p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연봉 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Band(Range 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lang="ko-KR" altLang="en-US" sz="900" b="0" i="0" u="none" strike="noStrike" spc="-100" baseline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중복율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등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수립</a:t>
                      </a: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디자인팀 회의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경영진 회의</a:t>
                      </a: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■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경영진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■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근로자대표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■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인사담당자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□ 일반근로자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spc="-100" baseline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Payband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345386"/>
                  </a:ext>
                </a:extLst>
              </a:tr>
              <a:tr h="3455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 시뮬레이션</a:t>
                      </a: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연봉제 도입 및 개선에 따른 시뮬레이션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 개편에 따른 불이익 인력 구제방안 논의</a:t>
                      </a: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디자인팀 회의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□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경영진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■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근로자대표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■ 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인사담당자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dirty="0">
                          <a:effectLst/>
                        </a:rPr>
                        <a:t>□ 일반근로자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임금제도 개선안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시뮬레이션 결과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514758"/>
                  </a:ext>
                </a:extLst>
              </a:tr>
              <a:tr h="540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spc="-100" baseline="0" dirty="0">
                          <a:effectLst/>
                          <a:latin typeface="+mn-ea"/>
                          <a:ea typeface="+mn-ea"/>
                        </a:rPr>
                        <a:t>M4. </a:t>
                      </a:r>
                      <a:r>
                        <a:rPr lang="ko-KR" altLang="en-US" sz="900" b="0" u="none" strike="noStrike" spc="-100" baseline="0" dirty="0">
                          <a:effectLst/>
                          <a:latin typeface="+mn-ea"/>
                          <a:ea typeface="+mn-ea"/>
                        </a:rPr>
                        <a:t>평가체계</a:t>
                      </a:r>
                      <a:endParaRPr lang="en-US" altLang="ko-KR" sz="900" b="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900" b="0" u="none" strike="noStrike" spc="-100" baseline="0" dirty="0">
                          <a:effectLst/>
                          <a:latin typeface="+mn-ea"/>
                          <a:ea typeface="+mn-ea"/>
                        </a:rPr>
                        <a:t>설계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평가 모형 설계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평가유형 선정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성과평가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역량평가</a:t>
                      </a: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핵심관계자 인터뷰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디자인팀 회의</a:t>
                      </a:r>
                      <a:endParaRPr lang="en-US" altLang="ko-KR" sz="900" u="none" strike="noStrike" spc="-100" baseline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indent="0" algn="l" fontAlgn="ctr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경영진 회의</a:t>
                      </a: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kern="1200" spc="-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경영진</a:t>
                      </a:r>
                      <a:endParaRPr lang="en-US" altLang="ko-KR" sz="900" u="none" strike="noStrike" kern="120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kern="1200" spc="-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근로자대표</a:t>
                      </a:r>
                      <a:endParaRPr lang="en-US" altLang="ko-KR" sz="900" u="none" strike="noStrike" kern="120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kern="1200" spc="-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인사담당자</a:t>
                      </a:r>
                      <a:endParaRPr lang="en-US" altLang="ko-KR" sz="900" u="none" strike="noStrike" kern="120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kern="1200" spc="-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일반근로자</a:t>
                      </a:r>
                      <a:endParaRPr lang="en-US" altLang="ko-KR" sz="900" u="none" strike="noStrike" kern="120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평가체계 수립 결과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5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5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085572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 요소 설계</a:t>
                      </a: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기초 평가요소 도출</a:t>
                      </a:r>
                      <a:r>
                        <a:rPr lang="en-US" altLang="ko-KR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spc="-100" baseline="0" dirty="0" err="1">
                          <a:effectLst/>
                          <a:latin typeface="+mn-ea"/>
                          <a:ea typeface="+mn-ea"/>
                        </a:rPr>
                        <a:t>단순고과</a:t>
                      </a:r>
                      <a:r>
                        <a:rPr lang="en-US" altLang="ko-KR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평가결과 연계 산출방법 설정</a:t>
                      </a:r>
                      <a:r>
                        <a:rPr lang="en-US" altLang="ko-KR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조직일체</a:t>
                      </a:r>
                      <a:r>
                        <a:rPr lang="en-US" altLang="ko-KR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평가요소 작성방법</a:t>
                      </a:r>
                      <a:r>
                        <a:rPr lang="en-US" altLang="ko-KR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성과신고</a:t>
                      </a:r>
                      <a:r>
                        <a:rPr lang="en-US" altLang="ko-KR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핵심관계자 인터뷰</a:t>
                      </a:r>
                      <a:endParaRPr kumimoji="0" lang="en-US" altLang="ko-KR" sz="900" b="0" i="0" u="none" strike="noStrike" kern="1200" cap="none" spc="-10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디자인팀 회의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경영진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근로자대표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인사담당자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일반근로자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T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strike="noStrike" kern="1200" spc="-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부서별 </a:t>
                      </a:r>
                      <a:r>
                        <a:rPr lang="ko-KR" altLang="en-US" sz="900" u="none" strike="noStrike" kern="1200" spc="-10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직책자</a:t>
                      </a:r>
                      <a:endParaRPr lang="ko-KR" altLang="en-US" sz="900" u="none" strike="noStrike" kern="120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평가요소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16069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 방안 마련</a:t>
                      </a: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 운영 및 프로세스</a:t>
                      </a:r>
                    </a:p>
                    <a:p>
                      <a:pPr marL="0" indent="0" algn="l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기초평가 운영방안</a:t>
                      </a:r>
                    </a:p>
                    <a:p>
                      <a:pPr marL="0" indent="0" algn="l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연간 평가절차 설정</a:t>
                      </a:r>
                    </a:p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 양식</a:t>
                      </a: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핵심관계자 인터뷰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디자인팀 회의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경영진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근로자대표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인사담당자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일반근로자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T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부서별 </a:t>
                      </a:r>
                      <a:r>
                        <a:rPr lang="ko-KR" altLang="en-US" sz="900" u="none" strike="noStrike" kern="1200" spc="-10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직책자</a:t>
                      </a:r>
                      <a:endParaRPr lang="ko-KR" altLang="en-US" sz="900" u="none" strike="noStrike" kern="120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endParaRPr lang="ko-KR" altLang="en-US" sz="900" u="none" strike="noStrike" kern="1200" spc="-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평가운영프로세스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51826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 spc="-100" baseline="0">
                          <a:effectLst/>
                          <a:latin typeface="+mn-ea"/>
                          <a:ea typeface="+mn-ea"/>
                        </a:rPr>
                        <a:t>M5. </a:t>
                      </a:r>
                      <a:r>
                        <a:rPr lang="ko-KR" altLang="en-US" sz="900" b="0" u="none" strike="noStrike" spc="-100" baseline="0">
                          <a:effectLst/>
                          <a:latin typeface="+mn-ea"/>
                          <a:ea typeface="+mn-ea"/>
                        </a:rPr>
                        <a:t>변화관리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ko-KR" altLang="en-US" sz="900" u="none" strike="noStrike" spc="-100" baseline="0">
                          <a:effectLst/>
                          <a:latin typeface="+mn-ea"/>
                          <a:ea typeface="+mn-ea"/>
                        </a:rPr>
                        <a:t>제도이행계획 수립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indent="-72000" algn="l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컨설팅 이행계획서 작성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 latinLnBrk="0">
                        <a:buFont typeface="Arial" panose="020B0604020202020204" pitchFamily="34" charset="0"/>
                        <a:buNone/>
                      </a:pPr>
                      <a:r>
                        <a:rPr lang="ko-KR" altLang="en-US" sz="900" u="none" strike="noStrike" spc="-100" baseline="0" dirty="0">
                          <a:effectLst/>
                          <a:latin typeface="+mn-ea"/>
                          <a:ea typeface="+mn-ea"/>
                        </a:rPr>
                        <a:t>디자인팀 회의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경영진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근로자대표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인사담당자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u="none" strike="noStrike" kern="1200" spc="-1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■ 일반근로자</a:t>
                      </a:r>
                      <a:endParaRPr lang="en-US" altLang="ko-KR" sz="900" u="none" strike="noStrike" kern="1200" spc="-1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임직원</a:t>
                      </a: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5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01" marR="5201" marT="5201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935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7344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CFAA3-CC0C-A86D-A271-D039D589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F537B76-D961-90E3-BFCE-04230EC1C68B}"/>
              </a:ext>
            </a:extLst>
          </p:cNvPr>
          <p:cNvSpPr/>
          <p:nvPr/>
        </p:nvSpPr>
        <p:spPr>
          <a:xfrm>
            <a:off x="273600" y="3364623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63EBC71-DD2F-4F09-04CE-A8E3197CB8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2913" y="1820415"/>
            <a:ext cx="7492047" cy="2401887"/>
          </a:xfrm>
        </p:spPr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/>
              <a:t>현황진단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>
                <a:solidFill>
                  <a:schemeClr val="bg1"/>
                </a:solidFill>
              </a:rPr>
              <a:t>제도설계 </a:t>
            </a:r>
            <a:r>
              <a:rPr lang="en-US" altLang="ko-KR" dirty="0">
                <a:solidFill>
                  <a:prstClr val="white"/>
                </a:solidFill>
              </a:rPr>
              <a:t>[</a:t>
            </a:r>
            <a:r>
              <a:rPr lang="ko-KR" altLang="en-US" dirty="0">
                <a:solidFill>
                  <a:prstClr val="white"/>
                </a:solidFill>
              </a:rPr>
              <a:t>임금체계 재설계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평가체계 설계</a:t>
            </a:r>
            <a:r>
              <a:rPr lang="en-US" altLang="ko-KR" dirty="0">
                <a:solidFill>
                  <a:prstClr val="white"/>
                </a:solidFill>
              </a:rPr>
              <a:t>]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/>
              <a:t>변화관리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4707907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2B40FEDF-E17E-4DAD-AFD7-2A1B45DB51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㈜</a:t>
            </a:r>
            <a:r>
              <a:rPr lang="ko-KR" altLang="en-US" dirty="0" err="1">
                <a:solidFill>
                  <a:schemeClr val="dk1"/>
                </a:solidFill>
                <a:latin typeface="+mn-lt"/>
                <a:ea typeface="+mn-ea"/>
              </a:rPr>
              <a:t>베이시스소프트는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 현재 </a:t>
            </a:r>
            <a:r>
              <a:rPr lang="ko-KR" altLang="en-US" dirty="0" err="1">
                <a:solidFill>
                  <a:schemeClr val="dk1"/>
                </a:solidFill>
                <a:latin typeface="+mn-lt"/>
                <a:ea typeface="+mn-ea"/>
              </a:rPr>
              <a:t>호봉제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 중심 보상체계와 평가제도의 부재로 인한 공정성 한계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핵심 인재 확보 어려움이 나타나고 있어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조직의 전략 방향에 맞는 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HR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체계 구축이 필요함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.</a:t>
            </a:r>
            <a:endParaRPr lang="ko-KR" altLang="en-US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5" name="텍스트 개체 틀 1">
            <a:extLst>
              <a:ext uri="{FF2B5EF4-FFF2-40B4-BE49-F238E27FC236}">
                <a16:creationId xmlns:a16="http://schemas.microsoft.com/office/drawing/2014/main" id="{E02E59AF-8E10-479D-97F6-123C77FF8F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4"/>
            <a:ext cx="6124568" cy="324327"/>
          </a:xfrm>
        </p:spPr>
        <p:txBody>
          <a:bodyPr wrap="square" anchor="ctr">
            <a:no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HR </a:t>
            </a:r>
            <a:r>
              <a:rPr lang="ko-KR" altLang="en-US" dirty="0">
                <a:latin typeface="+mj-ea"/>
                <a:ea typeface="+mj-ea"/>
              </a:rPr>
              <a:t>체계 구축 필요성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783F8-1193-10C9-6E76-FDC7AB63A646}"/>
              </a:ext>
            </a:extLst>
          </p:cNvPr>
          <p:cNvSpPr txBox="1"/>
          <p:nvPr/>
        </p:nvSpPr>
        <p:spPr>
          <a:xfrm>
            <a:off x="4994557" y="2221936"/>
            <a:ext cx="4638393" cy="384333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prstDash val="sysDash"/>
          </a:ln>
        </p:spPr>
        <p:txBody>
          <a:bodyPr wrap="square">
            <a:noAutofit/>
          </a:bodyPr>
          <a:lstStyle/>
          <a:p>
            <a:pPr latinLnBrk="0"/>
            <a:endParaRPr lang="ko-KR" altLang="en-US" sz="1200" dirty="0"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88C04D4-46F1-DD69-C0AF-7B3505E419AA}"/>
              </a:ext>
            </a:extLst>
          </p:cNvPr>
          <p:cNvGrpSpPr/>
          <p:nvPr/>
        </p:nvGrpSpPr>
        <p:grpSpPr>
          <a:xfrm>
            <a:off x="5141662" y="2632250"/>
            <a:ext cx="4386513" cy="3022708"/>
            <a:chOff x="5141662" y="2385310"/>
            <a:chExt cx="4386513" cy="302270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8695AA-B917-0E29-A584-C2856BAE8C69}"/>
                </a:ext>
              </a:extLst>
            </p:cNvPr>
            <p:cNvSpPr txBox="1"/>
            <p:nvPr/>
          </p:nvSpPr>
          <p:spPr>
            <a:xfrm>
              <a:off x="5141662" y="2385310"/>
              <a:ext cx="4386513" cy="80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  <a:prstDash val="sysDash"/>
            </a:ln>
          </p:spPr>
          <p:txBody>
            <a:bodyPr wrap="square">
              <a:noAutofit/>
            </a:bodyPr>
            <a:lstStyle/>
            <a:p>
              <a:pPr algn="ctr" latinLnBrk="0"/>
              <a:r>
                <a:rPr lang="en-US" altLang="ko-KR" sz="1400" b="1" dirty="0">
                  <a:solidFill>
                    <a:srgbClr val="17365D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[</a:t>
              </a:r>
              <a:r>
                <a:rPr lang="ko-KR" altLang="en-US" sz="1400" b="1" dirty="0">
                  <a:solidFill>
                    <a:srgbClr val="17365D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직급체계</a:t>
              </a:r>
              <a:r>
                <a:rPr lang="en-US" altLang="ko-KR" sz="1400" b="1" dirty="0">
                  <a:solidFill>
                    <a:srgbClr val="17365D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]</a:t>
              </a:r>
            </a:p>
            <a:p>
              <a:pPr algn="ctr" latinLnBrk="0"/>
              <a:endPara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 latinLnBrk="0"/>
              <a:r>
                <a:rPr lang="ko-KR" altLang="en-US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일정한 기준에 의해 조직 구성원을 구분</a:t>
              </a:r>
              <a:r>
                <a:rPr lang="en-US" altLang="ko-KR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직책</a:t>
              </a:r>
              <a:r>
                <a:rPr lang="en-US" altLang="ko-KR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직급 등</a:t>
              </a:r>
              <a:r>
                <a:rPr lang="en-US" altLang="ko-KR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en-US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하고</a:t>
              </a:r>
              <a:r>
                <a:rPr lang="en-US" altLang="ko-KR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</a:p>
            <a:p>
              <a:pPr algn="ctr" latinLnBrk="0"/>
              <a:r>
                <a:rPr lang="ko-KR" altLang="en-US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무엇을 기대하는지를 명확히 함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602E40D-9DE6-B7E6-E3A8-8B6AD39FAB21}"/>
                </a:ext>
              </a:extLst>
            </p:cNvPr>
            <p:cNvSpPr txBox="1"/>
            <p:nvPr/>
          </p:nvSpPr>
          <p:spPr>
            <a:xfrm>
              <a:off x="5141662" y="4598079"/>
              <a:ext cx="4386513" cy="80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  <a:prstDash val="sysDash"/>
            </a:ln>
          </p:spPr>
          <p:txBody>
            <a:bodyPr wrap="square">
              <a:noAutofit/>
            </a:bodyPr>
            <a:lstStyle/>
            <a:p>
              <a:pPr algn="ctr" latinLnBrk="0"/>
              <a:r>
                <a:rPr lang="en-US" altLang="ko-KR" sz="1400" b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[</a:t>
              </a:r>
              <a:r>
                <a:rPr lang="ko-KR" altLang="en-US" sz="1400" b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평가체계</a:t>
              </a:r>
              <a:r>
                <a:rPr lang="en-US" altLang="ko-KR" sz="1400" b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]</a:t>
              </a:r>
            </a:p>
            <a:p>
              <a:pPr algn="ctr" latinLnBrk="0"/>
              <a:endPara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 latinLnBrk="0"/>
              <a:r>
                <a:rPr lang="ko-KR" altLang="en-US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조직구성원에게 기대하는 것을 어느 정도 수행하였는지 명확히 함</a:t>
              </a:r>
              <a:r>
                <a:rPr lang="en-US" altLang="ko-KR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9FF562-4F2C-0D28-F0C3-F18F0D299496}"/>
                </a:ext>
              </a:extLst>
            </p:cNvPr>
            <p:cNvSpPr txBox="1"/>
            <p:nvPr/>
          </p:nvSpPr>
          <p:spPr>
            <a:xfrm>
              <a:off x="5141662" y="3491694"/>
              <a:ext cx="4386513" cy="8099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  <a:prstDash val="sysDash"/>
            </a:ln>
          </p:spPr>
          <p:txBody>
            <a:bodyPr wrap="square">
              <a:noAutofit/>
            </a:bodyPr>
            <a:lstStyle/>
            <a:p>
              <a:pPr algn="ctr" latinLnBrk="0"/>
              <a:r>
                <a:rPr lang="en-US" altLang="ko-KR" sz="1400" b="1" dirty="0">
                  <a:solidFill>
                    <a:srgbClr val="17365D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[</a:t>
              </a:r>
              <a:r>
                <a:rPr lang="ko-KR" altLang="en-US" sz="1400" b="1" dirty="0">
                  <a:solidFill>
                    <a:srgbClr val="17365D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임금체계</a:t>
              </a:r>
              <a:r>
                <a:rPr lang="en-US" altLang="ko-KR" sz="1400" b="1" dirty="0">
                  <a:solidFill>
                    <a:srgbClr val="17365D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]</a:t>
              </a:r>
            </a:p>
            <a:p>
              <a:pPr algn="ctr" latinLnBrk="0"/>
              <a:endPara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 latinLnBrk="0"/>
              <a:r>
                <a:rPr lang="ko-KR" altLang="en-US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무엇에 대해 임금을 지불하는지를 명확히 함</a:t>
              </a:r>
              <a:r>
                <a:rPr lang="en-US" altLang="ko-KR" sz="12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5BCAAD0-C561-B9D3-DFCE-D6030ACA868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3050" y="3090032"/>
            <a:ext cx="4324393" cy="83660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EC0D2D4-E9FD-6202-983A-A2E6C6A79B3F}"/>
              </a:ext>
            </a:extLst>
          </p:cNvPr>
          <p:cNvGrpSpPr/>
          <p:nvPr/>
        </p:nvGrpSpPr>
        <p:grpSpPr>
          <a:xfrm>
            <a:off x="1216546" y="3808406"/>
            <a:ext cx="2500303" cy="1989320"/>
            <a:chOff x="726993" y="2198571"/>
            <a:chExt cx="3696087" cy="3212415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40509C16-C1F2-292C-ADD0-2917C7730AE9}"/>
                </a:ext>
              </a:extLst>
            </p:cNvPr>
            <p:cNvSpPr/>
            <p:nvPr/>
          </p:nvSpPr>
          <p:spPr>
            <a:xfrm>
              <a:off x="1951422" y="2198571"/>
              <a:ext cx="1197621" cy="1197621"/>
            </a:xfrm>
            <a:prstGeom prst="ellipse">
              <a:avLst/>
            </a:prstGeom>
            <a:solidFill>
              <a:srgbClr val="31859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latinLnBrk="0"/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직급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EEAA4B7-3738-F048-F1C5-E1AEA5B19B56}"/>
                </a:ext>
              </a:extLst>
            </p:cNvPr>
            <p:cNvSpPr/>
            <p:nvPr/>
          </p:nvSpPr>
          <p:spPr>
            <a:xfrm>
              <a:off x="726993" y="4213365"/>
              <a:ext cx="1197621" cy="1197621"/>
            </a:xfrm>
            <a:prstGeom prst="ellipse">
              <a:avLst/>
            </a:prstGeom>
            <a:solidFill>
              <a:srgbClr val="31859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latinLnBrk="0"/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3AE3BF6-0991-83C3-1A96-344CB906162E}"/>
                </a:ext>
              </a:extLst>
            </p:cNvPr>
            <p:cNvSpPr/>
            <p:nvPr/>
          </p:nvSpPr>
          <p:spPr>
            <a:xfrm>
              <a:off x="3225459" y="4213365"/>
              <a:ext cx="1197621" cy="1197621"/>
            </a:xfrm>
            <a:prstGeom prst="ellipse">
              <a:avLst/>
            </a:prstGeom>
            <a:solidFill>
              <a:srgbClr val="31859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latinLnBrk="0"/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임금</a:t>
              </a:r>
            </a:p>
          </p:txBody>
        </p:sp>
        <p:sp>
          <p:nvSpPr>
            <p:cNvPr id="14" name="화살표: 위쪽/아래쪽 13">
              <a:extLst>
                <a:ext uri="{FF2B5EF4-FFF2-40B4-BE49-F238E27FC236}">
                  <a16:creationId xmlns:a16="http://schemas.microsoft.com/office/drawing/2014/main" id="{58B0C9A1-08A6-C448-3D9B-2A50CB543CF3}"/>
                </a:ext>
              </a:extLst>
            </p:cNvPr>
            <p:cNvSpPr/>
            <p:nvPr/>
          </p:nvSpPr>
          <p:spPr>
            <a:xfrm rot="2230163">
              <a:off x="1820919" y="3512047"/>
              <a:ext cx="207390" cy="581919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화살표: 위쪽/아래쪽 14">
              <a:extLst>
                <a:ext uri="{FF2B5EF4-FFF2-40B4-BE49-F238E27FC236}">
                  <a16:creationId xmlns:a16="http://schemas.microsoft.com/office/drawing/2014/main" id="{23CE2681-4E5B-EB7A-43DE-FDB0E8E227A2}"/>
                </a:ext>
              </a:extLst>
            </p:cNvPr>
            <p:cNvSpPr/>
            <p:nvPr/>
          </p:nvSpPr>
          <p:spPr>
            <a:xfrm rot="8100000">
              <a:off x="3045348" y="3527485"/>
              <a:ext cx="207390" cy="581919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" name="화살표: 위쪽/아래쪽 15">
              <a:extLst>
                <a:ext uri="{FF2B5EF4-FFF2-40B4-BE49-F238E27FC236}">
                  <a16:creationId xmlns:a16="http://schemas.microsoft.com/office/drawing/2014/main" id="{2AB9066B-DB2C-CC8F-9888-DBE7C01E1F77}"/>
                </a:ext>
              </a:extLst>
            </p:cNvPr>
            <p:cNvSpPr/>
            <p:nvPr/>
          </p:nvSpPr>
          <p:spPr>
            <a:xfrm rot="5400000">
              <a:off x="2424850" y="4521216"/>
              <a:ext cx="207390" cy="581919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335062-798F-2F0E-A5DD-1C16E6F999DA}"/>
              </a:ext>
            </a:extLst>
          </p:cNvPr>
          <p:cNvSpPr txBox="1"/>
          <p:nvPr/>
        </p:nvSpPr>
        <p:spPr>
          <a:xfrm>
            <a:off x="642254" y="2232509"/>
            <a:ext cx="3796968" cy="300347"/>
          </a:xfrm>
          <a:prstGeom prst="rect">
            <a:avLst/>
          </a:prstGeom>
          <a:solidFill>
            <a:srgbClr val="002060"/>
          </a:solidFill>
          <a:ln w="3175">
            <a:noFill/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72000" tIns="72000" rIns="72000" bIns="72000" anchor="ctr"/>
          <a:lstStyle>
            <a:defPPr>
              <a:defRPr lang="ko-KR"/>
            </a:defPPr>
            <a:lvl1pPr algn="ctr" defTabSz="742950" fontAlgn="ctr">
              <a:lnSpc>
                <a:spcPct val="120000"/>
              </a:lnSpc>
              <a:spcBef>
                <a:spcPts val="200"/>
              </a:spcBef>
              <a:defRPr sz="12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조직 전략 방향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90704CDD-C43B-3F11-A481-50B010CFA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319" y="2588573"/>
            <a:ext cx="1281289" cy="259442"/>
          </a:xfrm>
          <a:prstGeom prst="rect">
            <a:avLst/>
          </a:prstGeom>
          <a:pattFill prst="ltUpDiag">
            <a:fgClr>
              <a:srgbClr val="DDDDDD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2462" rIns="12462" anchor="ctr"/>
          <a:lstStyle/>
          <a:p>
            <a:pPr algn="ctr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미션</a:t>
            </a:r>
            <a:r>
              <a:rPr kumimoji="1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1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비전</a:t>
            </a:r>
          </a:p>
        </p:txBody>
      </p:sp>
      <p:sp>
        <p:nvSpPr>
          <p:cNvPr id="19" name="Rectangle 7" descr="밝은 상향 대각선">
            <a:extLst>
              <a:ext uri="{FF2B5EF4-FFF2-40B4-BE49-F238E27FC236}">
                <a16:creationId xmlns:a16="http://schemas.microsoft.com/office/drawing/2014/main" id="{16E99C28-86E4-6FCB-26BA-74A1C87DA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254" y="2917074"/>
            <a:ext cx="1281289" cy="255655"/>
          </a:xfrm>
          <a:prstGeom prst="rect">
            <a:avLst/>
          </a:prstGeom>
          <a:pattFill prst="ltUpDiag">
            <a:fgClr>
              <a:srgbClr val="DDDDDD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2462" rIns="12462" anchor="ctr"/>
          <a:lstStyle/>
          <a:p>
            <a:pPr algn="ctr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HR </a:t>
            </a:r>
            <a:r>
              <a:rPr kumimoji="1" lang="ko-KR" altLang="en-US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전략</a:t>
            </a:r>
          </a:p>
        </p:txBody>
      </p:sp>
      <p:sp>
        <p:nvSpPr>
          <p:cNvPr id="20" name="Rectangle 14" descr="밝은 상향 대각선">
            <a:extLst>
              <a:ext uri="{FF2B5EF4-FFF2-40B4-BE49-F238E27FC236}">
                <a16:creationId xmlns:a16="http://schemas.microsoft.com/office/drawing/2014/main" id="{2085730B-C3E3-2CEE-3303-3278EE91A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608" y="2917074"/>
            <a:ext cx="1279614" cy="255655"/>
          </a:xfrm>
          <a:prstGeom prst="rect">
            <a:avLst/>
          </a:prstGeom>
          <a:pattFill prst="ltUpDiag">
            <a:fgClr>
              <a:srgbClr val="DDDDDD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2462" rIns="12462" anchor="ctr"/>
          <a:lstStyle/>
          <a:p>
            <a:pPr algn="ctr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ko-KR" altLang="en-US" sz="1100" b="1" kern="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인재상</a:t>
            </a:r>
            <a:endParaRPr kumimoji="1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Rectangle 7" descr="밝은 상향 대각선">
            <a:extLst>
              <a:ext uri="{FF2B5EF4-FFF2-40B4-BE49-F238E27FC236}">
                <a16:creationId xmlns:a16="http://schemas.microsoft.com/office/drawing/2014/main" id="{7E2DF7DE-5463-5FF1-B700-889702541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254" y="3228777"/>
            <a:ext cx="3796968" cy="25565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12462" rIns="12462" anchor="ctr"/>
          <a:lstStyle/>
          <a:p>
            <a:pPr algn="ctr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1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HRM Concept</a:t>
            </a:r>
            <a:endParaRPr kumimoji="1" lang="ko-KR" altLang="en-US" sz="11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14A8620-4337-E0FC-FF07-AACA766F4C46}"/>
              </a:ext>
            </a:extLst>
          </p:cNvPr>
          <p:cNvGrpSpPr/>
          <p:nvPr/>
        </p:nvGrpSpPr>
        <p:grpSpPr>
          <a:xfrm>
            <a:off x="273050" y="1643085"/>
            <a:ext cx="9359900" cy="319435"/>
            <a:chOff x="488950" y="1879556"/>
            <a:chExt cx="8928100" cy="300521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8D763690-A789-CCAC-C263-4C92642808BD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CD68C8E-4CE1-C9A5-7274-7F7A6C49FA99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</a:pPr>
              <a:r>
                <a:rPr kumimoji="1" lang="en-US" altLang="ko-KR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HR</a:t>
              </a: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 체계 구축 방향</a:t>
              </a:r>
              <a:endPara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7A8F447E-7F57-909C-74BB-35F1571C41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</a:t>
            </a:r>
          </a:p>
        </p:txBody>
      </p:sp>
    </p:spTree>
    <p:extLst>
      <p:ext uri="{BB962C8B-B14F-4D97-AF65-F5344CB8AC3E}">
        <p14:creationId xmlns:p14="http://schemas.microsoft.com/office/powerpoint/2010/main" val="24742328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AE716-7D3D-3007-C767-4F4F5EDB6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29168B0-7A65-DA0C-3988-1F85308EC6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㈜</a:t>
            </a:r>
            <a:r>
              <a:rPr lang="ko-KR" altLang="en-US" dirty="0" err="1">
                <a:solidFill>
                  <a:schemeClr val="dk1"/>
                </a:solidFill>
                <a:latin typeface="+mn-lt"/>
                <a:ea typeface="+mn-ea"/>
              </a:rPr>
              <a:t>베이시스소프트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HR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제도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현황 및 임직원 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EOS,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인터뷰 결과를 종합적으로 분석하여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, HR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제도 설계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(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안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)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을 다음과 같이 수립하였음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.</a:t>
            </a:r>
            <a:endParaRPr lang="ko-KR" altLang="en-US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5" name="텍스트 개체 틀 1">
            <a:extLst>
              <a:ext uri="{FF2B5EF4-FFF2-40B4-BE49-F238E27FC236}">
                <a16:creationId xmlns:a16="http://schemas.microsoft.com/office/drawing/2014/main" id="{BE16D5E8-0576-CDF6-E395-3A16FFFBA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49" y="389514"/>
            <a:ext cx="6196313" cy="324327"/>
          </a:xfrm>
        </p:spPr>
        <p:txBody>
          <a:bodyPr wrap="square" anchor="ctr">
            <a:no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㈜</a:t>
            </a:r>
            <a:r>
              <a:rPr lang="ko-KR" altLang="en-US" dirty="0" err="1">
                <a:latin typeface="+mj-ea"/>
                <a:ea typeface="+mj-ea"/>
              </a:rPr>
              <a:t>베이시스소프트</a:t>
            </a:r>
            <a:r>
              <a:rPr lang="en-US" altLang="ko-KR" dirty="0">
                <a:latin typeface="+mj-ea"/>
                <a:ea typeface="+mj-ea"/>
              </a:rPr>
              <a:t>_HR</a:t>
            </a:r>
            <a:r>
              <a:rPr lang="ko-KR" altLang="en-US" dirty="0">
                <a:latin typeface="+mj-ea"/>
                <a:ea typeface="+mj-ea"/>
              </a:rPr>
              <a:t> 제도 설계 방향 종합</a:t>
            </a:r>
          </a:p>
        </p:txBody>
      </p:sp>
      <p:sp>
        <p:nvSpPr>
          <p:cNvPr id="450" name="ListLeanHorizontalTextTopic0">
            <a:extLst>
              <a:ext uri="{FF2B5EF4-FFF2-40B4-BE49-F238E27FC236}">
                <a16:creationId xmlns:a16="http://schemas.microsoft.com/office/drawing/2014/main" id="{D9DE4A0F-F926-7033-E592-ABE9616F8655}"/>
              </a:ext>
            </a:extLst>
          </p:cNvPr>
          <p:cNvSpPr txBox="1"/>
          <p:nvPr/>
        </p:nvSpPr>
        <p:spPr>
          <a:xfrm>
            <a:off x="313590" y="1708296"/>
            <a:ext cx="6980975" cy="2719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72000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400"/>
              </a:spcBef>
              <a:buSzPct val="100000"/>
              <a:defRPr/>
            </a:pPr>
            <a:r>
              <a:rPr lang="ko-KR" altLang="en-US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주요 시사점</a:t>
            </a:r>
            <a:endParaRPr lang="en-US" altLang="ko-KR" sz="1400" kern="0" dirty="0"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  <a:cs typeface="Arial Narrow" pitchFamily="34" charset="0"/>
            </a:endParaRPr>
          </a:p>
        </p:txBody>
      </p:sp>
      <p:sp>
        <p:nvSpPr>
          <p:cNvPr id="451" name="ListLeanHorizontalTextTopic0">
            <a:extLst>
              <a:ext uri="{FF2B5EF4-FFF2-40B4-BE49-F238E27FC236}">
                <a16:creationId xmlns:a16="http://schemas.microsoft.com/office/drawing/2014/main" id="{C6ACBD86-0846-B173-4E3F-494A1B93463C}"/>
              </a:ext>
            </a:extLst>
          </p:cNvPr>
          <p:cNvSpPr txBox="1"/>
          <p:nvPr/>
        </p:nvSpPr>
        <p:spPr>
          <a:xfrm>
            <a:off x="7610695" y="1708296"/>
            <a:ext cx="2020756" cy="2719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72000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400"/>
              </a:spcBef>
              <a:buSzPct val="100000"/>
              <a:defRPr/>
            </a:pPr>
            <a:r>
              <a:rPr lang="en-US" altLang="ko-KR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HR </a:t>
            </a:r>
            <a:r>
              <a:rPr lang="ko-KR" altLang="en-US" sz="1400" kern="0" dirty="0">
                <a:solidFill>
                  <a:prstClr val="black"/>
                </a:solidFill>
                <a:latin typeface="나눔바른고딕" panose="020B0600000101010101" pitchFamily="50" charset="-127"/>
                <a:ea typeface="나눔바른고딕" panose="020B0600000101010101" pitchFamily="50" charset="-127"/>
                <a:cs typeface="Arial Narrow" pitchFamily="34" charset="0"/>
              </a:rPr>
              <a:t>제도 설계 방향</a:t>
            </a:r>
            <a:endParaRPr lang="en-US" altLang="ko-KR" sz="1400" kern="0" dirty="0">
              <a:solidFill>
                <a:prstClr val="black"/>
              </a:solidFill>
              <a:latin typeface="나눔바른고딕" panose="020B0600000101010101" pitchFamily="50" charset="-127"/>
              <a:ea typeface="나눔바른고딕" panose="020B0600000101010101" pitchFamily="50" charset="-127"/>
              <a:cs typeface="Arial Narrow" pitchFamily="34" charset="0"/>
            </a:endParaRPr>
          </a:p>
        </p:txBody>
      </p:sp>
      <p:cxnSp>
        <p:nvCxnSpPr>
          <p:cNvPr id="452" name="직선 연결선 451">
            <a:extLst>
              <a:ext uri="{FF2B5EF4-FFF2-40B4-BE49-F238E27FC236}">
                <a16:creationId xmlns:a16="http://schemas.microsoft.com/office/drawing/2014/main" id="{15E49268-3ABB-D3C0-14E3-295A2BE9E7BB}"/>
              </a:ext>
            </a:extLst>
          </p:cNvPr>
          <p:cNvCxnSpPr>
            <a:cxnSpLocks/>
          </p:cNvCxnSpPr>
          <p:nvPr/>
        </p:nvCxnSpPr>
        <p:spPr>
          <a:xfrm>
            <a:off x="276356" y="1952820"/>
            <a:ext cx="701662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직선 연결선 452">
            <a:extLst>
              <a:ext uri="{FF2B5EF4-FFF2-40B4-BE49-F238E27FC236}">
                <a16:creationId xmlns:a16="http://schemas.microsoft.com/office/drawing/2014/main" id="{1779D3C5-9FEF-2B2B-8404-04A2082E70A8}"/>
              </a:ext>
            </a:extLst>
          </p:cNvPr>
          <p:cNvCxnSpPr>
            <a:cxnSpLocks/>
          </p:cNvCxnSpPr>
          <p:nvPr/>
        </p:nvCxnSpPr>
        <p:spPr>
          <a:xfrm>
            <a:off x="7599422" y="1952820"/>
            <a:ext cx="201805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사각형 설명선 45">
            <a:extLst>
              <a:ext uri="{FF2B5EF4-FFF2-40B4-BE49-F238E27FC236}">
                <a16:creationId xmlns:a16="http://schemas.microsoft.com/office/drawing/2014/main" id="{D58265EA-BDBA-D1AA-0192-89BA8C642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2068887"/>
            <a:ext cx="2023843" cy="1273504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[</a:t>
            </a:r>
            <a:r>
              <a:rPr lang="ko-KR" altLang="en-US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직급체계</a:t>
            </a:r>
            <a:r>
              <a:rPr lang="en-US" altLang="ko-KR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]</a:t>
            </a:r>
            <a:endParaRPr lang="en-US" altLang="ko-KR" sz="1050" b="1" dirty="0">
              <a:solidFill>
                <a:prstClr val="black"/>
              </a:solidFill>
              <a:latin typeface="나눔바른고딕"/>
              <a:ea typeface="나눔바른고딕"/>
            </a:endParaRPr>
          </a:p>
          <a:p>
            <a:pPr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→ 역할 기반 직급체계 도입 </a:t>
            </a: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직급체계 간소화 및 개편</a:t>
            </a: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)</a:t>
            </a:r>
          </a:p>
          <a:p>
            <a:pPr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→ 역할에 기반한 직급 승진</a:t>
            </a: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/</a:t>
            </a: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직책 승진 제도 마련</a:t>
            </a:r>
            <a:endParaRPr lang="en-US" altLang="ko-KR" sz="1050" b="1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455" name="사각형 설명선 45">
            <a:extLst>
              <a:ext uri="{FF2B5EF4-FFF2-40B4-BE49-F238E27FC236}">
                <a16:creationId xmlns:a16="http://schemas.microsoft.com/office/drawing/2014/main" id="{164F1C1C-C24E-D6E5-2E04-9A05D51E7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90" y="2068887"/>
            <a:ext cx="6979386" cy="1273504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1. </a:t>
            </a:r>
            <a:r>
              <a:rPr lang="ko-KR" altLang="en-US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직무의 혼재성과 역할 다양성을 고려하여 보상</a:t>
            </a:r>
            <a:r>
              <a:rPr lang="en-US" altLang="ko-KR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·</a:t>
            </a:r>
            <a:r>
              <a:rPr lang="ko-KR" altLang="en-US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평가 불일치 해소 </a:t>
            </a:r>
            <a:endParaRPr lang="en-US" altLang="ko-KR" sz="1400" b="1" dirty="0">
              <a:solidFill>
                <a:prstClr val="black"/>
              </a:solidFill>
              <a:latin typeface="나눔바른고딕"/>
              <a:ea typeface="나눔바른고딕"/>
            </a:endParaRPr>
          </a:p>
          <a:p>
            <a:pPr marL="285750" indent="-107950" fontAlgn="ctr" latinLnBrk="0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중소기업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(30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인 내외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)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및 </a:t>
            </a:r>
            <a:r>
              <a:rPr lang="ko-KR" altLang="en-US" sz="1200" b="1" dirty="0" err="1">
                <a:solidFill>
                  <a:prstClr val="black"/>
                </a:solidFill>
                <a:latin typeface="나눔바른고딕"/>
                <a:ea typeface="나눔바른고딕"/>
              </a:rPr>
              <a:t>베이시스소프트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 주요 직무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(BIM 3D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모델링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SW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영업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교육 등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)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특성상 한사람이 여러 직무를 수행하고 있으며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동일 직무 내에서도 책임 수준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역할 복잡도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난이도가 상이함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.</a:t>
            </a:r>
          </a:p>
          <a:p>
            <a:pPr marL="285750" indent="-107950" fontAlgn="ctr" latinLnBrk="0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기존 호봉제적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HR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체계로는 실질적 기여 수준을 반영한 보상과 평가가 어려움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.</a:t>
            </a:r>
          </a:p>
          <a:p>
            <a:pPr marL="177800" indent="-177800"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▶ 역할 단위의 기대성과와 책임 수준을 기준으로 정합성 있는 평가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·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보상 체계 설계</a:t>
            </a:r>
            <a:endParaRPr lang="en-US" altLang="ko-KR" sz="1100" b="1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457" name="사각형 설명선 45">
            <a:extLst>
              <a:ext uri="{FF2B5EF4-FFF2-40B4-BE49-F238E27FC236}">
                <a16:creationId xmlns:a16="http://schemas.microsoft.com/office/drawing/2014/main" id="{43BB7D1A-0B91-C798-994C-07580B571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90" y="3451453"/>
            <a:ext cx="6979386" cy="1273504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2. </a:t>
            </a:r>
            <a:r>
              <a:rPr lang="ko-KR" altLang="en-US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공정성과 성장경로 요구에 부합하는 </a:t>
            </a:r>
            <a:r>
              <a:rPr lang="en-US" altLang="ko-KR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HR</a:t>
            </a:r>
            <a:r>
              <a:rPr lang="ko-KR" altLang="en-US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체계 구축</a:t>
            </a:r>
          </a:p>
          <a:p>
            <a:pPr marL="285750" indent="-107950" fontAlgn="ctr" latinLnBrk="0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구성원들은 성과와 연계된 보상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역량 기반 승진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기여에 대한 평가를 요구하고 있음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.</a:t>
            </a:r>
          </a:p>
          <a:p>
            <a:pPr marL="285750" indent="-107950" fontAlgn="ctr" latinLnBrk="0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동시에 중간관리자 부재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경력단절 이슈 해결 등을 위한 명확한 성장 경로체계가 요구됨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.</a:t>
            </a:r>
          </a:p>
          <a:p>
            <a:pPr marL="177800" indent="-177800"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▶ 역할 중심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HR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체계는 성과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-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보상 연계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리더 육성 경로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경력개발체계를 유기적으로 연계하여 운영할 수 있음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.</a:t>
            </a:r>
            <a:endParaRPr lang="en-US" altLang="ko-KR" sz="1100" b="1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458" name="사각형 설명선 45">
            <a:extLst>
              <a:ext uri="{FF2B5EF4-FFF2-40B4-BE49-F238E27FC236}">
                <a16:creationId xmlns:a16="http://schemas.microsoft.com/office/drawing/2014/main" id="{3F414EA8-4765-95EC-795E-9BD1DF405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3451453"/>
            <a:ext cx="2023843" cy="1273504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[</a:t>
            </a:r>
            <a:r>
              <a:rPr lang="ko-KR" altLang="en-US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임금체계</a:t>
            </a:r>
            <a:r>
              <a:rPr lang="en-US" altLang="ko-KR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]</a:t>
            </a:r>
          </a:p>
          <a:p>
            <a:pPr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→ 역할별 책임과 기대성과에 따라 </a:t>
            </a:r>
            <a:r>
              <a:rPr lang="en-US" altLang="ko-KR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Pay Band(</a:t>
            </a:r>
            <a:r>
              <a:rPr lang="ko-KR" altLang="en-US" sz="1100" b="1" dirty="0" err="1">
                <a:solidFill>
                  <a:prstClr val="black"/>
                </a:solidFill>
                <a:latin typeface="나눔바른고딕"/>
                <a:ea typeface="나눔바른고딕"/>
              </a:rPr>
              <a:t>역할급</a:t>
            </a:r>
            <a:r>
              <a:rPr lang="en-US" altLang="ko-KR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) </a:t>
            </a:r>
            <a:r>
              <a:rPr lang="ko-KR" altLang="en-US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설계</a:t>
            </a:r>
            <a:endParaRPr lang="en-US" altLang="ko-KR" sz="1100" b="1" dirty="0">
              <a:solidFill>
                <a:prstClr val="black"/>
              </a:solidFill>
              <a:latin typeface="나눔바른고딕"/>
              <a:ea typeface="나눔바른고딕"/>
            </a:endParaRPr>
          </a:p>
          <a:p>
            <a:pPr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→ 역할에 따른 기본급 </a:t>
            </a:r>
            <a:r>
              <a:rPr lang="en-US" altLang="ko-KR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+ </a:t>
            </a:r>
            <a:r>
              <a:rPr lang="ko-KR" altLang="en-US" sz="1100" b="1" dirty="0">
                <a:solidFill>
                  <a:prstClr val="black"/>
                </a:solidFill>
                <a:latin typeface="나눔바른고딕"/>
                <a:ea typeface="나눔바른고딕"/>
              </a:rPr>
              <a:t>평가에 따른 성과급 제도 도입</a:t>
            </a:r>
            <a:endParaRPr lang="en-US" altLang="ko-KR" sz="1100" b="1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sp>
        <p:nvSpPr>
          <p:cNvPr id="459" name="사각형 설명선 45">
            <a:extLst>
              <a:ext uri="{FF2B5EF4-FFF2-40B4-BE49-F238E27FC236}">
                <a16:creationId xmlns:a16="http://schemas.microsoft.com/office/drawing/2014/main" id="{2F7835D1-D96D-8F3B-25EC-F598446CB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90" y="4819103"/>
            <a:ext cx="6979386" cy="1273504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bg1">
              <a:lumMod val="85000"/>
              <a:alpha val="20000"/>
            </a:schemeClr>
          </a:solidFill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ctr" latinLnBrk="0">
              <a:lnSpc>
                <a:spcPct val="120000"/>
              </a:lnSpc>
              <a:buClr>
                <a:srgbClr val="4F81BD"/>
              </a:buClr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3. </a:t>
            </a:r>
            <a:r>
              <a:rPr lang="ko-KR" altLang="en-US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프로젝트형 조직운영과 </a:t>
            </a:r>
            <a:r>
              <a:rPr lang="en-US" altLang="ko-KR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‘</a:t>
            </a:r>
            <a:r>
              <a:rPr lang="ko-KR" altLang="en-US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역할기반 </a:t>
            </a:r>
            <a:r>
              <a:rPr lang="en-US" altLang="ko-KR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HR </a:t>
            </a:r>
            <a:r>
              <a:rPr lang="ko-KR" altLang="en-US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체계</a:t>
            </a:r>
            <a:r>
              <a:rPr lang="en-US" altLang="ko-KR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’</a:t>
            </a:r>
            <a:r>
              <a:rPr lang="ko-KR" altLang="en-US" sz="1400" b="1" dirty="0">
                <a:solidFill>
                  <a:prstClr val="black"/>
                </a:solidFill>
                <a:latin typeface="나눔바른고딕"/>
                <a:ea typeface="나눔바른고딕"/>
              </a:rPr>
              <a:t>의 높은 정합성</a:t>
            </a:r>
          </a:p>
          <a:p>
            <a:pPr marL="285750" indent="-107950" fontAlgn="ctr" latinLnBrk="0"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프로젝트별 인력 배치와 수행 역할이 유동적인 산업에서는 고정된 직무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,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능력 중심의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HR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체계보다 유연하게 운영할 수 있는 역할기반의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HR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체계가 적합함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.</a:t>
            </a:r>
          </a:p>
          <a:p>
            <a:pPr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▶ 프로젝트 중심의 업무 특성상 역할 기반 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HR </a:t>
            </a:r>
            <a:r>
              <a:rPr lang="ko-KR" altLang="en-US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체계 정합성 높음</a:t>
            </a:r>
            <a:r>
              <a:rPr lang="en-US" altLang="ko-KR" sz="1200" b="1" dirty="0">
                <a:solidFill>
                  <a:prstClr val="black"/>
                </a:solidFill>
                <a:latin typeface="나눔바른고딕"/>
                <a:ea typeface="나눔바른고딕"/>
              </a:rPr>
              <a:t>.</a:t>
            </a:r>
          </a:p>
        </p:txBody>
      </p:sp>
      <p:sp>
        <p:nvSpPr>
          <p:cNvPr id="460" name="사각형 설명선 45">
            <a:extLst>
              <a:ext uri="{FF2B5EF4-FFF2-40B4-BE49-F238E27FC236}">
                <a16:creationId xmlns:a16="http://schemas.microsoft.com/office/drawing/2014/main" id="{06DFC0B5-A2C0-2F63-2389-A3108755C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695" y="4819103"/>
            <a:ext cx="2023843" cy="1273503"/>
          </a:xfrm>
          <a:prstGeom prst="wedgeRectCallout">
            <a:avLst>
              <a:gd name="adj1" fmla="val 19618"/>
              <a:gd name="adj2" fmla="val 49550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ln w="1905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[</a:t>
            </a: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평가체계</a:t>
            </a: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]</a:t>
            </a:r>
          </a:p>
          <a:p>
            <a:pPr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→ </a:t>
            </a: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(</a:t>
            </a: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조직</a:t>
            </a: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)</a:t>
            </a: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성과평가 </a:t>
            </a: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+ (</a:t>
            </a: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개인</a:t>
            </a:r>
            <a:r>
              <a:rPr lang="en-US" altLang="ko-KR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)</a:t>
            </a: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역할 및 역량 평가 제도 도입</a:t>
            </a:r>
            <a:endParaRPr lang="en-US" altLang="ko-KR" sz="1050" b="1" dirty="0">
              <a:solidFill>
                <a:prstClr val="black"/>
              </a:solidFill>
              <a:latin typeface="나눔바른고딕"/>
              <a:ea typeface="나눔바른고딕"/>
            </a:endParaRPr>
          </a:p>
          <a:p>
            <a:pPr fontAlgn="ctr" latinLnBrk="0">
              <a:lnSpc>
                <a:spcPct val="120000"/>
              </a:lnSpc>
              <a:buClr>
                <a:schemeClr val="tx1"/>
              </a:buClr>
              <a:defRPr/>
            </a:pPr>
            <a:r>
              <a:rPr lang="ko-KR" altLang="en-US" sz="1050" b="1" dirty="0">
                <a:solidFill>
                  <a:prstClr val="black"/>
                </a:solidFill>
                <a:latin typeface="나눔바른고딕"/>
                <a:ea typeface="나눔바른고딕"/>
              </a:rPr>
              <a:t>→ 평가 결과 기반 임금 인상 및 성과급 반영</a:t>
            </a:r>
            <a:endParaRPr lang="en-US" altLang="ko-KR" sz="1050" b="1" dirty="0">
              <a:solidFill>
                <a:prstClr val="black"/>
              </a:solidFill>
              <a:latin typeface="나눔바른고딕"/>
              <a:ea typeface="나눔바른고딕"/>
            </a:endParaRPr>
          </a:p>
        </p:txBody>
      </p:sp>
      <p:cxnSp>
        <p:nvCxnSpPr>
          <p:cNvPr id="462" name="연결선: 꺾임 461">
            <a:extLst>
              <a:ext uri="{FF2B5EF4-FFF2-40B4-BE49-F238E27FC236}">
                <a16:creationId xmlns:a16="http://schemas.microsoft.com/office/drawing/2014/main" id="{6B7DF407-93B8-CCA9-87CC-A82F088F6ECF}"/>
              </a:ext>
            </a:extLst>
          </p:cNvPr>
          <p:cNvCxnSpPr>
            <a:cxnSpLocks/>
            <a:stCxn id="455" idx="3"/>
            <a:endCxn id="458" idx="1"/>
          </p:cNvCxnSpPr>
          <p:nvPr/>
        </p:nvCxnSpPr>
        <p:spPr>
          <a:xfrm>
            <a:off x="7292976" y="2705639"/>
            <a:ext cx="317719" cy="1382566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연결선: 꺾임 463">
            <a:extLst>
              <a:ext uri="{FF2B5EF4-FFF2-40B4-BE49-F238E27FC236}">
                <a16:creationId xmlns:a16="http://schemas.microsoft.com/office/drawing/2014/main" id="{666CFC33-20CC-701E-11F2-C61176718D37}"/>
              </a:ext>
            </a:extLst>
          </p:cNvPr>
          <p:cNvCxnSpPr>
            <a:cxnSpLocks/>
            <a:stCxn id="457" idx="3"/>
            <a:endCxn id="460" idx="1"/>
          </p:cNvCxnSpPr>
          <p:nvPr/>
        </p:nvCxnSpPr>
        <p:spPr>
          <a:xfrm>
            <a:off x="7292976" y="4088205"/>
            <a:ext cx="317719" cy="1367650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CA72C377-E472-9FBA-EED1-41C942EA023C}"/>
              </a:ext>
            </a:extLst>
          </p:cNvPr>
          <p:cNvCxnSpPr>
            <a:cxnSpLocks/>
            <a:stCxn id="459" idx="3"/>
            <a:endCxn id="454" idx="1"/>
          </p:cNvCxnSpPr>
          <p:nvPr/>
        </p:nvCxnSpPr>
        <p:spPr>
          <a:xfrm flipV="1">
            <a:off x="7292976" y="2705639"/>
            <a:ext cx="317719" cy="2750216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5">
            <a:extLst>
              <a:ext uri="{FF2B5EF4-FFF2-40B4-BE49-F238E27FC236}">
                <a16:creationId xmlns:a16="http://schemas.microsoft.com/office/drawing/2014/main" id="{1D1AAC1B-BD53-00DA-B64E-DC4EF31C15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</a:t>
            </a:r>
          </a:p>
        </p:txBody>
      </p:sp>
    </p:spTree>
    <p:extLst>
      <p:ext uri="{BB962C8B-B14F-4D97-AF65-F5344CB8AC3E}">
        <p14:creationId xmlns:p14="http://schemas.microsoft.com/office/powerpoint/2010/main" val="2240134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E9F6-56DB-E803-0067-005C3054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AAF7670-E653-D5C1-01D6-DA567E00E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조직의 전략 방향에 따른 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HR Concept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에 따라 역할을 중심으로 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HR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체계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(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임금체계 및 평가체계 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)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를 구축하는 것으로 협의하여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역할 등급 및 정의에 따라 보상과 평가가 연계될 수 있도록 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HR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제도 설계 방향을 설정하였음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.</a:t>
            </a:r>
            <a:endParaRPr lang="ko-KR" altLang="en-US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5" name="텍스트 개체 틀 1">
            <a:extLst>
              <a:ext uri="{FF2B5EF4-FFF2-40B4-BE49-F238E27FC236}">
                <a16:creationId xmlns:a16="http://schemas.microsoft.com/office/drawing/2014/main" id="{30358880-CB7B-6303-AA4A-E2B5F51339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4"/>
            <a:ext cx="6124568" cy="324327"/>
          </a:xfrm>
        </p:spPr>
        <p:txBody>
          <a:bodyPr wrap="square" anchor="ctr">
            <a:noAutofit/>
          </a:bodyPr>
          <a:lstStyle/>
          <a:p>
            <a:r>
              <a:rPr lang="ko-KR" altLang="en-US" dirty="0" err="1">
                <a:latin typeface="+mj-ea"/>
                <a:ea typeface="+mj-ea"/>
              </a:rPr>
              <a:t>베이시스소프트</a:t>
            </a:r>
            <a:r>
              <a:rPr lang="en-US" altLang="ko-KR" dirty="0">
                <a:latin typeface="+mj-ea"/>
                <a:ea typeface="+mj-ea"/>
              </a:rPr>
              <a:t>_HR</a:t>
            </a:r>
            <a:r>
              <a:rPr lang="ko-KR" altLang="en-US" dirty="0">
                <a:latin typeface="+mj-ea"/>
                <a:ea typeface="+mj-ea"/>
              </a:rPr>
              <a:t> 제도 설계 방향 종합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B7CE67F-0632-C5D8-5089-5843DE923F54}"/>
              </a:ext>
            </a:extLst>
          </p:cNvPr>
          <p:cNvGrpSpPr/>
          <p:nvPr/>
        </p:nvGrpSpPr>
        <p:grpSpPr>
          <a:xfrm>
            <a:off x="273050" y="1643085"/>
            <a:ext cx="9359900" cy="319435"/>
            <a:chOff x="488950" y="1879556"/>
            <a:chExt cx="8928100" cy="300521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29AB6943-1C40-AEE6-937A-4F7D82F9E426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B05BFDA-3C8C-2E03-77AC-976B057A3B48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</a:pPr>
              <a:r>
                <a:rPr kumimoji="1" lang="en-US" altLang="ko-KR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HR</a:t>
              </a: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제도 설계  방향</a:t>
              </a:r>
              <a:endPara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57DAF52-1376-0BB5-42A7-55CD2222A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537955"/>
              </p:ext>
            </p:extLst>
          </p:nvPr>
        </p:nvGraphicFramePr>
        <p:xfrm>
          <a:off x="273050" y="2043314"/>
          <a:ext cx="9359900" cy="408602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930594">
                  <a:extLst>
                    <a:ext uri="{9D8B030D-6E8A-4147-A177-3AD203B41FA5}">
                      <a16:colId xmlns:a16="http://schemas.microsoft.com/office/drawing/2014/main" val="3389221948"/>
                    </a:ext>
                  </a:extLst>
                </a:gridCol>
                <a:gridCol w="1045009">
                  <a:extLst>
                    <a:ext uri="{9D8B030D-6E8A-4147-A177-3AD203B41FA5}">
                      <a16:colId xmlns:a16="http://schemas.microsoft.com/office/drawing/2014/main" val="2676024722"/>
                    </a:ext>
                  </a:extLst>
                </a:gridCol>
                <a:gridCol w="1475621">
                  <a:extLst>
                    <a:ext uri="{9D8B030D-6E8A-4147-A177-3AD203B41FA5}">
                      <a16:colId xmlns:a16="http://schemas.microsoft.com/office/drawing/2014/main" val="2914362534"/>
                    </a:ext>
                  </a:extLst>
                </a:gridCol>
                <a:gridCol w="2219326">
                  <a:extLst>
                    <a:ext uri="{9D8B030D-6E8A-4147-A177-3AD203B41FA5}">
                      <a16:colId xmlns:a16="http://schemas.microsoft.com/office/drawing/2014/main" val="2351812176"/>
                    </a:ext>
                  </a:extLst>
                </a:gridCol>
                <a:gridCol w="3689350">
                  <a:extLst>
                    <a:ext uri="{9D8B030D-6E8A-4147-A177-3AD203B41FA5}">
                      <a16:colId xmlns:a16="http://schemas.microsoft.com/office/drawing/2014/main" val="4016910033"/>
                    </a:ext>
                  </a:extLst>
                </a:gridCol>
              </a:tblGrid>
              <a:tr h="184917"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 </a:t>
                      </a:r>
                      <a:endParaRPr lang="ko-KR" altLang="en-US" sz="1200" b="1" i="0" u="none" strike="noStrike" spc="0" baseline="0" dirty="0"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가치결정방식</a:t>
                      </a:r>
                      <a:endParaRPr lang="ko-KR" altLang="en-US" sz="1200" b="1" i="0" u="none" strike="noStrike" spc="0" baseline="0" dirty="0"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0" baseline="0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 구분</a:t>
                      </a: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 spc="0" baseline="0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Message</a:t>
                      </a:r>
                      <a:endParaRPr lang="ko-KR" altLang="en-US" sz="1200" b="1" i="0" u="none" strike="noStrike" spc="0" baseline="0" dirty="0"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장점</a:t>
                      </a:r>
                      <a:endParaRPr lang="ko-KR" altLang="en-US" sz="1200" b="1" i="0" u="none" strike="noStrike" spc="0" baseline="0" dirty="0"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879"/>
                  </a:ext>
                </a:extLst>
              </a:tr>
              <a:tr h="815335"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숙련도</a:t>
                      </a:r>
                      <a:endParaRPr lang="en-US" altLang="ko-KR" sz="1200" b="1" u="none" strike="noStrike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중심</a:t>
                      </a:r>
                      <a:endParaRPr lang="en-US" altLang="ko-KR" sz="1200" b="1" u="none" strike="noStrike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근속년수 및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직급체류년한</a:t>
                      </a: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시간경과에 따른 구분</a:t>
                      </a: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연령</a:t>
                      </a:r>
                      <a:r>
                        <a:rPr lang="en-US" altLang="ko-KR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근무연수</a:t>
                      </a: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오랫동안 근무해 주세요</a:t>
                      </a:r>
                      <a:r>
                        <a:rPr lang="en-US" altLang="ko-KR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!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직원에 대해 생활 측면에서의 안정감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장기근속을 유도</a:t>
                      </a: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06150"/>
                  </a:ext>
                </a:extLst>
              </a:tr>
              <a:tr h="1132614"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</a:t>
                      </a:r>
                      <a:endParaRPr lang="en-US" altLang="ko-KR" sz="1200" b="1" u="none" strike="noStrike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중심</a:t>
                      </a:r>
                      <a:endParaRPr lang="en-US" altLang="ko-KR" sz="1200" b="1" u="none" strike="noStrike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직능자격등급 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및 평가</a:t>
                      </a: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능력에 따른 구분</a:t>
                      </a: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보유능력기준</a:t>
                      </a: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직무역량 기준</a:t>
                      </a: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개인 직무역량을 향상해 주세요</a:t>
                      </a:r>
                      <a:r>
                        <a:rPr lang="en-US" altLang="ko-KR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!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근로자 동기부여 가능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연공중심에서 능력중심에 이르기까지 기업의 실정에 맞는 폭넓은 운용 가능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직위승진을</a:t>
                      </a: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보상받는 계층과 </a:t>
                      </a:r>
                      <a:r>
                        <a:rPr lang="ko-KR" altLang="en-US" sz="1100" b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급여보상을</a:t>
                      </a: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받는 계층으로 구분되어 보상의 기회가 확대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능력에 따른 처우 가능</a:t>
                      </a: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119584"/>
                  </a:ext>
                </a:extLst>
              </a:tr>
              <a:tr h="924582"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역할</a:t>
                      </a:r>
                      <a:endParaRPr lang="en-US" altLang="ko-KR" sz="1200" b="1" u="none" strike="noStrike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중심</a:t>
                      </a:r>
                      <a:endParaRPr lang="en-US" altLang="ko-KR" sz="1200" b="1" u="none" strike="noStrike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역할분석</a:t>
                      </a: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및 평가</a:t>
                      </a: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역할</a:t>
                      </a:r>
                      <a:r>
                        <a:rPr lang="en-US" altLang="ko-KR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X </a:t>
                      </a: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능력에 따른 구분</a:t>
                      </a: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역할 기준</a:t>
                      </a: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marR="0" lvl="0" indent="-864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역할과 능력을 확대해 주세요</a:t>
                      </a:r>
                      <a:r>
                        <a:rPr lang="en-US" altLang="ko-KR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!</a:t>
                      </a: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역할의 가치와 보상 연계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marR="0" indent="-864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다른 가치의 장점 혼합 가능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marR="0" indent="-864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수평적 </a:t>
                      </a:r>
                      <a:r>
                        <a:rPr lang="ko-KR" altLang="en-US" sz="1100" b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이동관리에</a:t>
                      </a: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용이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marR="0" indent="-864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고령화 사회에 적합</a:t>
                      </a: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264363"/>
                  </a:ext>
                </a:extLst>
              </a:tr>
              <a:tr h="1028576"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직무</a:t>
                      </a:r>
                      <a:endParaRPr lang="en-US" altLang="ko-KR" sz="1200" b="1" u="none" strike="noStrike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중심</a:t>
                      </a:r>
                      <a:endParaRPr lang="en-US" altLang="ko-KR" sz="1200" b="1" u="none" strike="noStrike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직무분석 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및 </a:t>
                      </a:r>
                      <a:r>
                        <a:rPr lang="ko-KR" altLang="en-US" sz="1100" b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직무평가</a:t>
                      </a: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업무 내용에 따른 구분</a:t>
                      </a: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직무 기준</a:t>
                      </a:r>
                    </a:p>
                    <a:p>
                      <a:pPr algn="ctr" rtl="0" fontAlgn="ctr" latinLnBrk="0">
                        <a:lnSpc>
                          <a:spcPct val="100000"/>
                        </a:lnSpc>
                      </a:pP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908" marR="1908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altLang="ko-KR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더 가치 있는 일을 해주세요</a:t>
                      </a:r>
                      <a:r>
                        <a:rPr lang="en-US" altLang="ko-KR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!</a:t>
                      </a:r>
                    </a:p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일의 가치를 높여주세요</a:t>
                      </a:r>
                      <a:r>
                        <a:rPr lang="en-US" altLang="ko-KR" sz="11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!</a:t>
                      </a: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marL="86400" indent="-86400" algn="l" rtl="0" font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일의 가치와 보상이 일치함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marR="0" indent="-864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인종</a:t>
                      </a:r>
                      <a:r>
                        <a:rPr lang="en-US" altLang="ko-KR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성별과 무관하게 직무의 가치로 보상함으로 합리적고용차별 문제 최소화</a:t>
                      </a:r>
                      <a:endParaRPr lang="en-US" altLang="ko-KR" sz="1100" b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86400" marR="0" indent="-864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u="none" strike="noStrike" spc="0" baseline="0" dirty="0" err="1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장기근속에</a:t>
                      </a:r>
                      <a:r>
                        <a:rPr lang="ko-KR" altLang="en-US" sz="1100" b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따른 高임금 억제 가능</a:t>
                      </a:r>
                      <a:endParaRPr lang="ko-KR" altLang="en-US" sz="11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940282"/>
                  </a:ext>
                </a:extLst>
              </a:tr>
            </a:tbl>
          </a:graphicData>
        </a:graphic>
      </p:graphicFrame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A6A2A4B9-8E07-290A-F30E-7F7E443344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</a:t>
            </a:r>
          </a:p>
        </p:txBody>
      </p:sp>
    </p:spTree>
    <p:extLst>
      <p:ext uri="{BB962C8B-B14F-4D97-AF65-F5344CB8AC3E}">
        <p14:creationId xmlns:p14="http://schemas.microsoft.com/office/powerpoint/2010/main" val="30287867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6A7A-F283-4FDD-BE21-509CFBF9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425A87-17E9-CD04-492A-B13E5D86142B}"/>
              </a:ext>
            </a:extLst>
          </p:cNvPr>
          <p:cNvSpPr/>
          <p:nvPr/>
        </p:nvSpPr>
        <p:spPr>
          <a:xfrm>
            <a:off x="273600" y="3364623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AA2AE6-3FFE-0CD8-7279-D87DD93C96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2913" y="1820415"/>
            <a:ext cx="7492047" cy="2401887"/>
          </a:xfrm>
        </p:spPr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/>
              <a:t>현황진단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>
                <a:solidFill>
                  <a:schemeClr val="bg1"/>
                </a:solidFill>
              </a:rPr>
              <a:t>제도설계 </a:t>
            </a:r>
            <a:r>
              <a:rPr lang="en-US" altLang="ko-KR" dirty="0">
                <a:solidFill>
                  <a:prstClr val="white"/>
                </a:solidFill>
              </a:rPr>
              <a:t>[</a:t>
            </a:r>
            <a:r>
              <a:rPr lang="ko-KR" altLang="en-US" dirty="0">
                <a:solidFill>
                  <a:prstClr val="white"/>
                </a:solidFill>
              </a:rPr>
              <a:t>임금체계 재설계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평가체계 설계</a:t>
            </a:r>
            <a:r>
              <a:rPr lang="en-US" altLang="ko-KR" dirty="0">
                <a:solidFill>
                  <a:prstClr val="white"/>
                </a:solidFill>
              </a:rPr>
              <a:t>]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/>
              <a:t>변화관리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23711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A936-C7F7-1597-5CD7-6DBCBD5C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88D0FBE-28B6-3979-B771-4E191E12BF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 err="1"/>
              <a:t>베이시스소프트는</a:t>
            </a:r>
            <a:r>
              <a:rPr lang="ko-KR" altLang="en-US" dirty="0"/>
              <a:t> 기존의 </a:t>
            </a:r>
            <a:r>
              <a:rPr lang="ko-KR" altLang="en-US" b="1" dirty="0" err="1"/>
              <a:t>호봉제</a:t>
            </a:r>
            <a:r>
              <a:rPr lang="ko-KR" altLang="en-US" b="1" dirty="0"/>
              <a:t> 중심 임금체계에서 벗어나</a:t>
            </a:r>
            <a:r>
              <a:rPr lang="ko-KR" altLang="en-US" dirty="0"/>
              <a:t> 역할</a:t>
            </a:r>
            <a:r>
              <a:rPr lang="en-US" altLang="ko-KR" dirty="0"/>
              <a:t>·</a:t>
            </a:r>
            <a:r>
              <a:rPr lang="ko-KR" altLang="en-US" dirty="0"/>
              <a:t>직무</a:t>
            </a:r>
            <a:r>
              <a:rPr lang="en-US" altLang="ko-KR" dirty="0"/>
              <a:t>·</a:t>
            </a:r>
            <a:r>
              <a:rPr lang="ko-KR" altLang="en-US" dirty="0"/>
              <a:t>성과 중심의 </a:t>
            </a:r>
            <a:r>
              <a:rPr lang="ko-KR" altLang="en-US" b="1" dirty="0" err="1"/>
              <a:t>역할급</a:t>
            </a:r>
            <a:r>
              <a:rPr lang="ko-KR" altLang="en-US" b="1" dirty="0"/>
              <a:t> 기반 임금체계</a:t>
            </a:r>
            <a:r>
              <a:rPr lang="ko-KR" altLang="en-US" dirty="0"/>
              <a:t>로 전환함</a:t>
            </a:r>
            <a:r>
              <a:rPr lang="en-US" altLang="ko-KR" dirty="0"/>
              <a:t>. </a:t>
            </a:r>
            <a:r>
              <a:rPr lang="ko-KR" altLang="en-US" dirty="0"/>
              <a:t>모든 직원을 대상으로 역할 등급별 </a:t>
            </a:r>
            <a:r>
              <a:rPr lang="en-US" altLang="ko-KR" dirty="0" err="1"/>
              <a:t>Payband</a:t>
            </a:r>
            <a:r>
              <a:rPr lang="ko-KR" altLang="en-US" dirty="0"/>
              <a:t>를 적용하여 </a:t>
            </a:r>
            <a:r>
              <a:rPr lang="ko-KR" altLang="en-US" b="1" dirty="0"/>
              <a:t>내</a:t>
            </a:r>
            <a:r>
              <a:rPr lang="en-US" altLang="ko-KR" b="1" dirty="0"/>
              <a:t>·</a:t>
            </a:r>
            <a:r>
              <a:rPr lang="ko-KR" altLang="en-US" b="1" dirty="0"/>
              <a:t>외부 형평성을 확보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시장임금 벤치마킹 및 재무현황을 고려한 임금체계를  재설계 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985360E-87D5-0CEF-FF77-A38682536F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5480CA-111D-1F70-92EA-71B23F258A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제도설계 및 개선 요약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2CA075B-8A94-AACE-9A22-7A7442A75A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45D446D-6830-65B1-DC53-0E269A9C2C50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B69F3B36-1ADC-CB1C-573B-92C2FCB7E6A8}"/>
                </a:ext>
              </a:extLst>
            </p:cNvPr>
            <p:cNvSpPr/>
            <p:nvPr userDrawn="1"/>
          </p:nvSpPr>
          <p:spPr>
            <a:xfrm>
              <a:off x="2888436" y="1626519"/>
              <a:ext cx="1200425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제도설계 및 개선 요약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B7E4EF4-84B8-88D3-540E-EF42BAE681AC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9BD1D5B-1CC9-5EF8-77E7-36FD12226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647979"/>
              </p:ext>
            </p:extLst>
          </p:nvPr>
        </p:nvGraphicFramePr>
        <p:xfrm>
          <a:off x="273050" y="2165233"/>
          <a:ext cx="3150933" cy="39849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8349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  <a:gridCol w="2082584">
                  <a:extLst>
                    <a:ext uri="{9D8B030D-6E8A-4147-A177-3AD203B41FA5}">
                      <a16:colId xmlns:a16="http://schemas.microsoft.com/office/drawing/2014/main" val="1817237126"/>
                    </a:ext>
                  </a:extLst>
                </a:gridCol>
              </a:tblGrid>
              <a:tr h="374090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컨설팅 요구사항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임금체계 재설계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  <a:tr h="543348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추진배경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호봉제를 탈피하여 역할</a:t>
                      </a:r>
                      <a:r>
                        <a:rPr kumimoji="0" lang="en-US" altLang="ko-KR" sz="12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직무</a:t>
                      </a:r>
                      <a:r>
                        <a:rPr kumimoji="0" lang="en-US" altLang="ko-KR" sz="12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성과 중심의 임금체계 구축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849871"/>
                  </a:ext>
                </a:extLst>
              </a:tr>
              <a:tr h="658872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제도설계방향</a:t>
                      </a:r>
                      <a:endParaRPr lang="en-US" altLang="ko-KR" sz="12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임금체계 재설계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역할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직무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성과 중심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431435"/>
                  </a:ext>
                </a:extLst>
              </a:tr>
              <a:tr h="979207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과업 범위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보상전략 수립</a:t>
                      </a:r>
                      <a:endParaRPr kumimoji="0" lang="en-US" altLang="ko-KR" sz="12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임금체계 설계</a:t>
                      </a:r>
                      <a:endParaRPr kumimoji="0" lang="en-US" altLang="ko-KR" sz="12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indent="-7200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2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임금시뮬레이션</a:t>
                      </a:r>
                      <a:endParaRPr kumimoji="0" lang="ko-KR" altLang="en-US" sz="12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02061"/>
                  </a:ext>
                </a:extLst>
              </a:tr>
              <a:tr h="467612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1200" u="none" strike="noStrike" dirty="0">
                          <a:effectLst/>
                          <a:latin typeface="+mn-ea"/>
                          <a:ea typeface="+mn-ea"/>
                        </a:rPr>
                        <a:t>KPI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ko-KR" altLang="en-US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임금체계 도입 여부</a:t>
                      </a:r>
                      <a:endParaRPr kumimoji="0" lang="en-US" altLang="ko-KR" sz="12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085514"/>
                  </a:ext>
                </a:extLst>
              </a:tr>
              <a:tr h="480911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산출방식</a:t>
                      </a:r>
                      <a:endParaRPr lang="en-US" sz="12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이행과제</a:t>
                      </a:r>
                      <a:r>
                        <a:rPr kumimoji="0" lang="en-US" altLang="ko-KR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/</a:t>
                      </a:r>
                      <a:r>
                        <a:rPr kumimoji="0" lang="ko-KR" altLang="en-US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개선과제</a:t>
                      </a:r>
                      <a:r>
                        <a:rPr kumimoji="0" lang="en-US" altLang="ko-KR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)*100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001859"/>
                  </a:ext>
                </a:extLst>
              </a:tr>
              <a:tr h="480911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200" u="none" strike="noStrike" dirty="0">
                          <a:effectLst/>
                          <a:latin typeface="+mn-ea"/>
                          <a:ea typeface="+mn-ea"/>
                        </a:rPr>
                        <a:t>목표</a:t>
                      </a:r>
                      <a:endParaRPr lang="en-US" sz="12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ko-KR" sz="12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100%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30570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BC4316C-FE6E-A3F5-1045-1F77B65D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711667"/>
              </p:ext>
            </p:extLst>
          </p:nvPr>
        </p:nvGraphicFramePr>
        <p:xfrm>
          <a:off x="4114800" y="2133600"/>
          <a:ext cx="5518151" cy="4027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3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326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05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05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현행 제도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05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설계안</a:t>
                      </a:r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270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ko-KR" altLang="en-US" sz="11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호봉제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중심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직급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직책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직위 체계 구축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 중심 임금체계 설계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26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적용대상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직원 동일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직원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 등급별 임금 </a:t>
                      </a:r>
                      <a:r>
                        <a:rPr lang="en-US" altLang="ko-KR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payband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1234"/>
                  </a:ext>
                </a:extLst>
              </a:tr>
              <a:tr h="77405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운영방식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vert="eaVert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보상전략 수립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명확한 전략 부재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내외부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형평성 기반 보상 전략 수립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시장 임금 벤치마킹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 재무 현황 고려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9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임금체계 설계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호봉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연공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위주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역할급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기반 임금체계 설계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전사 역할등급을 기반으로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직무별 역할등급 설계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44000" indent="-144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시행 초기인 점을 고려하여 직무별 임금은 동일하게 설정하고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역할등급에 따른 </a:t>
                      </a:r>
                      <a:r>
                        <a:rPr lang="en-US" altLang="ko-KR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payband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911319"/>
                  </a:ext>
                </a:extLst>
              </a:tr>
              <a:tr h="5092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임금시뮬레이션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+1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+2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임금 시뮬레이션 실시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744745"/>
                  </a:ext>
                </a:extLst>
              </a:tr>
              <a:tr h="386132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산출물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역할급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기반 </a:t>
                      </a:r>
                      <a:r>
                        <a:rPr lang="en-US" altLang="ko-KR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Payband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결과표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052501"/>
                  </a:ext>
                </a:extLst>
              </a:tr>
              <a:tr h="279326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정부지원사업연계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104012"/>
                  </a:ext>
                </a:extLst>
              </a:tr>
            </a:tbl>
          </a:graphicData>
        </a:graphic>
      </p:graphicFrame>
      <p:pic>
        <p:nvPicPr>
          <p:cNvPr id="8" name="그림 4" descr="arrow.png">
            <a:extLst>
              <a:ext uri="{FF2B5EF4-FFF2-40B4-BE49-F238E27FC236}">
                <a16:creationId xmlns:a16="http://schemas.microsoft.com/office/drawing/2014/main" id="{62B7FA63-9819-64D1-6DB1-DD83B7FE3B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24"/>
          <a:stretch/>
        </p:blipFill>
        <p:spPr bwMode="auto">
          <a:xfrm>
            <a:off x="3286424" y="2424173"/>
            <a:ext cx="741092" cy="31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94422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62C5DD-B7E2-F7CD-50E1-3333742EC5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1">
            <a:extLst>
              <a:ext uri="{FF2B5EF4-FFF2-40B4-BE49-F238E27FC236}">
                <a16:creationId xmlns:a16="http://schemas.microsoft.com/office/drawing/2014/main" id="{40E2DB5B-67D7-93B8-9D5A-0A512F9867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 anchor="t"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</a:t>
            </a:r>
            <a:r>
              <a:rPr lang="en-US" altLang="ko-KR" dirty="0"/>
              <a:t>HR </a:t>
            </a:r>
            <a:r>
              <a:rPr lang="ko-KR" altLang="en-US" dirty="0"/>
              <a:t>제도 설계 방향에 따라 직무</a:t>
            </a:r>
            <a:r>
              <a:rPr lang="en-US" altLang="ko-KR" dirty="0"/>
              <a:t>, </a:t>
            </a:r>
            <a:r>
              <a:rPr lang="ko-KR" altLang="en-US" dirty="0"/>
              <a:t>직급 체계  및 임금 관련 공정성</a:t>
            </a:r>
            <a:r>
              <a:rPr lang="en-US" altLang="ko-KR" dirty="0"/>
              <a:t>·</a:t>
            </a:r>
            <a:r>
              <a:rPr lang="ko-KR" altLang="en-US" dirty="0"/>
              <a:t>경쟁력 부족 문제를 해소하기 위해</a:t>
            </a:r>
            <a:r>
              <a:rPr lang="en-US" altLang="ko-KR" dirty="0"/>
              <a:t>, </a:t>
            </a:r>
            <a:r>
              <a:rPr lang="ko-KR" altLang="en-US" dirty="0"/>
              <a:t>다음과 같은 프로세스를 통해 컨설팅을 수행하였음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5" name="텍스트 개체 틀 5">
            <a:extLst>
              <a:ext uri="{FF2B5EF4-FFF2-40B4-BE49-F238E27FC236}">
                <a16:creationId xmlns:a16="http://schemas.microsoft.com/office/drawing/2014/main" id="{FD33D738-91AB-C68D-3546-380FB62C62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36" name="텍스트 개체 틀 3">
            <a:extLst>
              <a:ext uri="{FF2B5EF4-FFF2-40B4-BE49-F238E27FC236}">
                <a16:creationId xmlns:a16="http://schemas.microsoft.com/office/drawing/2014/main" id="{A185E790-D0E1-191E-89AB-A2FDEC4598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r>
              <a:rPr lang="ko-KR" altLang="en-US" dirty="0"/>
              <a:t>제도설계 프로세스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47D8152-4FB2-BBC7-DC37-E80820133572}"/>
              </a:ext>
            </a:extLst>
          </p:cNvPr>
          <p:cNvGrpSpPr/>
          <p:nvPr/>
        </p:nvGrpSpPr>
        <p:grpSpPr>
          <a:xfrm>
            <a:off x="273049" y="1654446"/>
            <a:ext cx="9359899" cy="300521"/>
            <a:chOff x="488950" y="1868339"/>
            <a:chExt cx="8928100" cy="300521"/>
          </a:xfrm>
        </p:grpSpPr>
        <p:cxnSp>
          <p:nvCxnSpPr>
            <p:cNvPr id="38" name="직선 연결선 8">
              <a:extLst>
                <a:ext uri="{FF2B5EF4-FFF2-40B4-BE49-F238E27FC236}">
                  <a16:creationId xmlns:a16="http://schemas.microsoft.com/office/drawing/2014/main" id="{E352ACEE-98BB-8BB5-5E5C-2BA676F3277D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C00AF7B-E3B7-C8A5-4802-3AFFCD5B678A}"/>
                </a:ext>
              </a:extLst>
            </p:cNvPr>
            <p:cNvSpPr/>
            <p:nvPr/>
          </p:nvSpPr>
          <p:spPr>
            <a:xfrm>
              <a:off x="488950" y="1868339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1588" marR="0" lvl="1" indent="0" algn="ctr" defTabSz="712788" rtl="0" eaLnBrk="1" fontAlgn="auto" latinLnBrk="0" hangingPunct="1">
                <a:lnSpc>
                  <a:spcPct val="110000"/>
                </a:lnSpc>
                <a:spcBef>
                  <a:spcPts val="3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임금체계 재설계 프로세스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131D2A6-7553-3175-7401-E313E9ED8B1D}"/>
              </a:ext>
            </a:extLst>
          </p:cNvPr>
          <p:cNvSpPr txBox="1"/>
          <p:nvPr/>
        </p:nvSpPr>
        <p:spPr>
          <a:xfrm>
            <a:off x="292288" y="3079760"/>
            <a:ext cx="2709026" cy="118226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직무분석 프로세스 논의 및 수립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직무분류체계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직급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−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직책 </a:t>
            </a:r>
            <a:r>
              <a:rPr lang="ko-KR" altLang="en-US" sz="1100" dirty="0">
                <a:solidFill>
                  <a:prstClr val="black"/>
                </a:solidFill>
                <a:latin typeface="페이퍼로지 5 Medium" pitchFamily="2" charset="-127"/>
                <a:ea typeface="페이퍼로지 5 Medium" pitchFamily="2" charset="-127"/>
              </a:rPr>
              <a:t>−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직위 체계 설계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직무분석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직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무 프로파일 개발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41" name="모서리가 둥근 직사각형 23">
            <a:extLst>
              <a:ext uri="{FF2B5EF4-FFF2-40B4-BE49-F238E27FC236}">
                <a16:creationId xmlns:a16="http://schemas.microsoft.com/office/drawing/2014/main" id="{739D915A-ED03-45E4-9789-6956051AD5A8}"/>
              </a:ext>
            </a:extLst>
          </p:cNvPr>
          <p:cNvSpPr/>
          <p:nvPr/>
        </p:nvSpPr>
        <p:spPr>
          <a:xfrm>
            <a:off x="311525" y="2739049"/>
            <a:ext cx="2709026" cy="295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주요 추진 내용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BE4610-7EFF-68D4-CF94-4B94DE687134}"/>
              </a:ext>
            </a:extLst>
          </p:cNvPr>
          <p:cNvSpPr txBox="1"/>
          <p:nvPr/>
        </p:nvSpPr>
        <p:spPr>
          <a:xfrm>
            <a:off x="273050" y="4725160"/>
            <a:ext cx="2709026" cy="32801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인사담당자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근로자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컨설턴트</a:t>
            </a:r>
          </a:p>
        </p:txBody>
      </p:sp>
      <p:sp>
        <p:nvSpPr>
          <p:cNvPr id="43" name="모서리가 둥근 직사각형 25">
            <a:extLst>
              <a:ext uri="{FF2B5EF4-FFF2-40B4-BE49-F238E27FC236}">
                <a16:creationId xmlns:a16="http://schemas.microsoft.com/office/drawing/2014/main" id="{6322C23B-69ED-CB73-D625-D57CD83A2D12}"/>
              </a:ext>
            </a:extLst>
          </p:cNvPr>
          <p:cNvSpPr/>
          <p:nvPr/>
        </p:nvSpPr>
        <p:spPr>
          <a:xfrm>
            <a:off x="292288" y="4384448"/>
            <a:ext cx="2709026" cy="2950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참여자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3A787-FCAC-48A3-6837-0637CD920696}"/>
              </a:ext>
            </a:extLst>
          </p:cNvPr>
          <p:cNvSpPr txBox="1"/>
          <p:nvPr/>
        </p:nvSpPr>
        <p:spPr>
          <a:xfrm>
            <a:off x="292288" y="5550426"/>
            <a:ext cx="2709026" cy="66749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직무분류체계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직군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직책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직위 체계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모서리가 둥근 직사각형 30">
            <a:extLst>
              <a:ext uri="{FF2B5EF4-FFF2-40B4-BE49-F238E27FC236}">
                <a16:creationId xmlns:a16="http://schemas.microsoft.com/office/drawing/2014/main" id="{959BE3E2-31AA-8155-C981-55D71EBDB2AD}"/>
              </a:ext>
            </a:extLst>
          </p:cNvPr>
          <p:cNvSpPr/>
          <p:nvPr/>
        </p:nvSpPr>
        <p:spPr>
          <a:xfrm>
            <a:off x="311525" y="5209715"/>
            <a:ext cx="2709026" cy="29504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산출물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A4A029-8610-C3C3-1C57-4D2C377CCCC4}"/>
              </a:ext>
            </a:extLst>
          </p:cNvPr>
          <p:cNvSpPr txBox="1"/>
          <p:nvPr/>
        </p:nvSpPr>
        <p:spPr>
          <a:xfrm>
            <a:off x="3494170" y="3085449"/>
            <a:ext cx="2709026" cy="118226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역할분류 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분류법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역할등급 도출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역할분류 정의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b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직무</a:t>
            </a:r>
            <a:r>
              <a:rPr lang="en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계층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en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R&amp;R 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설정</a:t>
            </a:r>
            <a:b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 등급별 정의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권한과 책임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직무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&amp;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 프로파일 개발</a:t>
            </a:r>
          </a:p>
        </p:txBody>
      </p:sp>
      <p:sp>
        <p:nvSpPr>
          <p:cNvPr id="47" name="모서리가 둥근 직사각형 32">
            <a:extLst>
              <a:ext uri="{FF2B5EF4-FFF2-40B4-BE49-F238E27FC236}">
                <a16:creationId xmlns:a16="http://schemas.microsoft.com/office/drawing/2014/main" id="{A8ECF5E3-4268-FB11-8D9E-F1648F0999DA}"/>
              </a:ext>
            </a:extLst>
          </p:cNvPr>
          <p:cNvSpPr/>
          <p:nvPr/>
        </p:nvSpPr>
        <p:spPr>
          <a:xfrm>
            <a:off x="3513408" y="2744738"/>
            <a:ext cx="2709026" cy="295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주요 추진 내용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4B4842-5BC1-4A75-337F-1C03ED47DC22}"/>
              </a:ext>
            </a:extLst>
          </p:cNvPr>
          <p:cNvSpPr txBox="1"/>
          <p:nvPr/>
        </p:nvSpPr>
        <p:spPr>
          <a:xfrm>
            <a:off x="3474932" y="4730849"/>
            <a:ext cx="2709026" cy="32801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경영진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인사담당자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컨설턴트</a:t>
            </a:r>
          </a:p>
        </p:txBody>
      </p:sp>
      <p:sp>
        <p:nvSpPr>
          <p:cNvPr id="49" name="모서리가 둥근 직사각형 34">
            <a:extLst>
              <a:ext uri="{FF2B5EF4-FFF2-40B4-BE49-F238E27FC236}">
                <a16:creationId xmlns:a16="http://schemas.microsoft.com/office/drawing/2014/main" id="{6475EBFE-109C-0C03-26F4-B43D50A73AEA}"/>
              </a:ext>
            </a:extLst>
          </p:cNvPr>
          <p:cNvSpPr/>
          <p:nvPr/>
        </p:nvSpPr>
        <p:spPr>
          <a:xfrm>
            <a:off x="3494170" y="4390137"/>
            <a:ext cx="2709026" cy="2950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참여자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6BCD90-6526-571D-3685-6F12D7EDE719}"/>
              </a:ext>
            </a:extLst>
          </p:cNvPr>
          <p:cNvSpPr txBox="1"/>
          <p:nvPr/>
        </p:nvSpPr>
        <p:spPr>
          <a:xfrm>
            <a:off x="3494170" y="5556115"/>
            <a:ext cx="2709026" cy="66749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역할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직무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계층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)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R&amp;R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정의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직무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&amp;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 프로파일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모서리가 둥근 직사각형 52">
            <a:extLst>
              <a:ext uri="{FF2B5EF4-FFF2-40B4-BE49-F238E27FC236}">
                <a16:creationId xmlns:a16="http://schemas.microsoft.com/office/drawing/2014/main" id="{38E2D13D-4C6C-84BC-8832-7815F4ACCB4B}"/>
              </a:ext>
            </a:extLst>
          </p:cNvPr>
          <p:cNvSpPr/>
          <p:nvPr/>
        </p:nvSpPr>
        <p:spPr>
          <a:xfrm>
            <a:off x="3513408" y="5215404"/>
            <a:ext cx="2709026" cy="29504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산출물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4F5267-CE01-1B33-A945-C5B2688B5C3D}"/>
              </a:ext>
            </a:extLst>
          </p:cNvPr>
          <p:cNvSpPr txBox="1"/>
          <p:nvPr/>
        </p:nvSpPr>
        <p:spPr>
          <a:xfrm>
            <a:off x="6678736" y="3079760"/>
            <a:ext cx="2709026" cy="118226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역할급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형태 </a:t>
            </a:r>
            <a:r>
              <a:rPr lang="en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Option(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범위형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단일형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역할급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Payband</a:t>
            </a: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설계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역할급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설계 시뮬레이션</a:t>
            </a:r>
            <a:b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역할등급별 </a:t>
            </a:r>
            <a:r>
              <a:rPr lang="en-US" altLang="ko-KR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Payband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   - 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평가등급별 </a:t>
            </a:r>
            <a:r>
              <a:rPr lang="ko-KR" altLang="en-US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인상율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3" name="모서리가 둥근 직사각형 54">
            <a:extLst>
              <a:ext uri="{FF2B5EF4-FFF2-40B4-BE49-F238E27FC236}">
                <a16:creationId xmlns:a16="http://schemas.microsoft.com/office/drawing/2014/main" id="{BDC75353-E7B7-2414-6082-9C20A86A24F1}"/>
              </a:ext>
            </a:extLst>
          </p:cNvPr>
          <p:cNvSpPr/>
          <p:nvPr/>
        </p:nvSpPr>
        <p:spPr>
          <a:xfrm>
            <a:off x="6697974" y="2739049"/>
            <a:ext cx="2709026" cy="295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주요 추진 내용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771975-C073-9CCC-92B5-6C01E2ACFD35}"/>
              </a:ext>
            </a:extLst>
          </p:cNvPr>
          <p:cNvSpPr txBox="1"/>
          <p:nvPr/>
        </p:nvSpPr>
        <p:spPr>
          <a:xfrm>
            <a:off x="6659499" y="4725160"/>
            <a:ext cx="2709026" cy="32801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경영진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인사담당자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컨설턴트</a:t>
            </a:r>
          </a:p>
        </p:txBody>
      </p:sp>
      <p:sp>
        <p:nvSpPr>
          <p:cNvPr id="55" name="모서리가 둥근 직사각형 56">
            <a:extLst>
              <a:ext uri="{FF2B5EF4-FFF2-40B4-BE49-F238E27FC236}">
                <a16:creationId xmlns:a16="http://schemas.microsoft.com/office/drawing/2014/main" id="{7CAF8B16-FA95-33F3-2321-F70792CC19A0}"/>
              </a:ext>
            </a:extLst>
          </p:cNvPr>
          <p:cNvSpPr/>
          <p:nvPr/>
        </p:nvSpPr>
        <p:spPr>
          <a:xfrm>
            <a:off x="6678736" y="4384448"/>
            <a:ext cx="2709026" cy="2950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참여자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8163BB-F011-8B57-903D-0B29C3DE1ED7}"/>
              </a:ext>
            </a:extLst>
          </p:cNvPr>
          <p:cNvSpPr txBox="1"/>
          <p:nvPr/>
        </p:nvSpPr>
        <p:spPr>
          <a:xfrm>
            <a:off x="6678736" y="5550426"/>
            <a:ext cx="2709026" cy="66749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역할급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Payband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역할급</a:t>
            </a: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설계 적용 시뮬레이션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lvl="0" indent="-171450">
              <a:buFont typeface="Wingdings" panose="05000000000000000000" pitchFamily="2" charset="2"/>
              <a:buChar char="ü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시뮬레이션 결과 정리</a:t>
            </a:r>
            <a:endParaRPr lang="en-US" altLang="ko-KR" sz="11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모서리가 둥근 직사각형 58">
            <a:extLst>
              <a:ext uri="{FF2B5EF4-FFF2-40B4-BE49-F238E27FC236}">
                <a16:creationId xmlns:a16="http://schemas.microsoft.com/office/drawing/2014/main" id="{FEC215AC-1C8B-1CA9-5575-AEC81BA57784}"/>
              </a:ext>
            </a:extLst>
          </p:cNvPr>
          <p:cNvSpPr/>
          <p:nvPr/>
        </p:nvSpPr>
        <p:spPr>
          <a:xfrm>
            <a:off x="6697974" y="5209715"/>
            <a:ext cx="2709026" cy="29504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산출물</a:t>
            </a:r>
          </a:p>
        </p:txBody>
      </p:sp>
      <p:sp>
        <p:nvSpPr>
          <p:cNvPr id="58" name="오각형[P] 60">
            <a:extLst>
              <a:ext uri="{FF2B5EF4-FFF2-40B4-BE49-F238E27FC236}">
                <a16:creationId xmlns:a16="http://schemas.microsoft.com/office/drawing/2014/main" id="{98A1034B-A7FA-2640-0888-F3D4BEF3229B}"/>
              </a:ext>
            </a:extLst>
          </p:cNvPr>
          <p:cNvSpPr/>
          <p:nvPr/>
        </p:nvSpPr>
        <p:spPr>
          <a:xfrm>
            <a:off x="324492" y="2053952"/>
            <a:ext cx="2960354" cy="593647"/>
          </a:xfrm>
          <a:prstGeom prst="homePlate">
            <a:avLst>
              <a:gd name="adj" fmla="val 32837"/>
            </a:avLst>
          </a:prstGeom>
          <a:solidFill>
            <a:schemeClr val="tx2">
              <a:lumMod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kumimoji="1"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59" name="자유형 61">
            <a:extLst>
              <a:ext uri="{FF2B5EF4-FFF2-40B4-BE49-F238E27FC236}">
                <a16:creationId xmlns:a16="http://schemas.microsoft.com/office/drawing/2014/main" id="{97BF3813-7F41-541F-B799-163DF017E869}"/>
              </a:ext>
            </a:extLst>
          </p:cNvPr>
          <p:cNvSpPr/>
          <p:nvPr/>
        </p:nvSpPr>
        <p:spPr>
          <a:xfrm>
            <a:off x="324492" y="2047190"/>
            <a:ext cx="2876014" cy="204773"/>
          </a:xfrm>
          <a:custGeom>
            <a:avLst/>
            <a:gdLst>
              <a:gd name="connsiteX0" fmla="*/ 0 w 2508725"/>
              <a:gd name="connsiteY0" fmla="*/ 0 h 315415"/>
              <a:gd name="connsiteX1" fmla="*/ 2337044 w 2508725"/>
              <a:gd name="connsiteY1" fmla="*/ 0 h 315415"/>
              <a:gd name="connsiteX2" fmla="*/ 2508725 w 2508725"/>
              <a:gd name="connsiteY2" fmla="*/ 315415 h 315415"/>
              <a:gd name="connsiteX3" fmla="*/ 0 w 2508725"/>
              <a:gd name="connsiteY3" fmla="*/ 315415 h 31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8725" h="315415">
                <a:moveTo>
                  <a:pt x="0" y="0"/>
                </a:moveTo>
                <a:lnTo>
                  <a:pt x="2337044" y="0"/>
                </a:lnTo>
                <a:lnTo>
                  <a:pt x="2508725" y="315415"/>
                </a:lnTo>
                <a:lnTo>
                  <a:pt x="0" y="315415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 sz="1050" dirty="0">
              <a:solidFill>
                <a:schemeClr val="bg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792583ED-C9DE-CE84-6853-9F06E1B9C91D}"/>
              </a:ext>
            </a:extLst>
          </p:cNvPr>
          <p:cNvGrpSpPr/>
          <p:nvPr/>
        </p:nvGrpSpPr>
        <p:grpSpPr>
          <a:xfrm>
            <a:off x="324492" y="2053951"/>
            <a:ext cx="2960354" cy="593648"/>
            <a:chOff x="764109" y="2053951"/>
            <a:chExt cx="2087593" cy="593648"/>
          </a:xfrm>
        </p:grpSpPr>
        <p:sp>
          <p:nvSpPr>
            <p:cNvPr id="61" name="오각형[P] 62">
              <a:extLst>
                <a:ext uri="{FF2B5EF4-FFF2-40B4-BE49-F238E27FC236}">
                  <a16:creationId xmlns:a16="http://schemas.microsoft.com/office/drawing/2014/main" id="{45230A44-3E30-093B-5C7D-9C271880A617}"/>
                </a:ext>
              </a:extLst>
            </p:cNvPr>
            <p:cNvSpPr/>
            <p:nvPr/>
          </p:nvSpPr>
          <p:spPr>
            <a:xfrm>
              <a:off x="764109" y="2053952"/>
              <a:ext cx="2087593" cy="593647"/>
            </a:xfrm>
            <a:prstGeom prst="homePlate">
              <a:avLst>
                <a:gd name="adj" fmla="val 33961"/>
              </a:avLst>
            </a:prstGeom>
            <a:solidFill>
              <a:schemeClr val="tx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en-US" altLang="ko-KR" sz="14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kumimoji="1" lang="ko-KR" altLang="en-US" sz="1400" b="1" dirty="0">
                  <a:solidFill>
                    <a:schemeClr val="bg1"/>
                  </a:solidFill>
                  <a:latin typeface="+mn-ea"/>
                </a:rPr>
                <a:t>직무체계 설계</a:t>
              </a:r>
            </a:p>
          </p:txBody>
        </p:sp>
        <p:sp>
          <p:nvSpPr>
            <p:cNvPr id="62" name="자유형 63">
              <a:extLst>
                <a:ext uri="{FF2B5EF4-FFF2-40B4-BE49-F238E27FC236}">
                  <a16:creationId xmlns:a16="http://schemas.microsoft.com/office/drawing/2014/main" id="{4FCEF13A-0D3A-F70B-CB5F-B819772BE2FB}"/>
                </a:ext>
              </a:extLst>
            </p:cNvPr>
            <p:cNvSpPr/>
            <p:nvPr/>
          </p:nvSpPr>
          <p:spPr>
            <a:xfrm>
              <a:off x="764109" y="2053951"/>
              <a:ext cx="2025291" cy="204774"/>
            </a:xfrm>
            <a:custGeom>
              <a:avLst/>
              <a:gdLst>
                <a:gd name="connsiteX0" fmla="*/ 0 w 2508725"/>
                <a:gd name="connsiteY0" fmla="*/ 0 h 315415"/>
                <a:gd name="connsiteX1" fmla="*/ 2337044 w 2508725"/>
                <a:gd name="connsiteY1" fmla="*/ 0 h 315415"/>
                <a:gd name="connsiteX2" fmla="*/ 2508725 w 2508725"/>
                <a:gd name="connsiteY2" fmla="*/ 315415 h 315415"/>
                <a:gd name="connsiteX3" fmla="*/ 0 w 2508725"/>
                <a:gd name="connsiteY3" fmla="*/ 315415 h 31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725" h="315415">
                  <a:moveTo>
                    <a:pt x="0" y="0"/>
                  </a:moveTo>
                  <a:lnTo>
                    <a:pt x="2337044" y="0"/>
                  </a:lnTo>
                  <a:lnTo>
                    <a:pt x="2508725" y="315415"/>
                  </a:lnTo>
                  <a:lnTo>
                    <a:pt x="0" y="315415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en-US" altLang="ko-KR" sz="1050" b="1" dirty="0">
                  <a:solidFill>
                    <a:schemeClr val="tx2">
                      <a:lumMod val="50000"/>
                    </a:schemeClr>
                  </a:solidFill>
                </a:rPr>
                <a:t>Step 1</a:t>
              </a:r>
              <a:endParaRPr kumimoji="1" lang="ko-KR" altLang="en-US" sz="105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D0E7B219-76BD-F94B-8BC2-5BAEB2E87FF4}"/>
              </a:ext>
            </a:extLst>
          </p:cNvPr>
          <p:cNvGrpSpPr/>
          <p:nvPr/>
        </p:nvGrpSpPr>
        <p:grpSpPr>
          <a:xfrm>
            <a:off x="3488030" y="2070467"/>
            <a:ext cx="2960354" cy="593648"/>
            <a:chOff x="764109" y="2053951"/>
            <a:chExt cx="2087593" cy="593648"/>
          </a:xfrm>
        </p:grpSpPr>
        <p:sp>
          <p:nvSpPr>
            <p:cNvPr id="70" name="오각형[P] 87">
              <a:extLst>
                <a:ext uri="{FF2B5EF4-FFF2-40B4-BE49-F238E27FC236}">
                  <a16:creationId xmlns:a16="http://schemas.microsoft.com/office/drawing/2014/main" id="{800A6378-7BE2-731C-0DC5-A1694B50810B}"/>
                </a:ext>
              </a:extLst>
            </p:cNvPr>
            <p:cNvSpPr/>
            <p:nvPr/>
          </p:nvSpPr>
          <p:spPr>
            <a:xfrm>
              <a:off x="764109" y="2053952"/>
              <a:ext cx="2087593" cy="593647"/>
            </a:xfrm>
            <a:prstGeom prst="homePlate">
              <a:avLst>
                <a:gd name="adj" fmla="val 33961"/>
              </a:avLst>
            </a:prstGeom>
            <a:solidFill>
              <a:schemeClr val="tx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en-US" altLang="ko-KR" sz="14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kumimoji="1" lang="ko-KR" altLang="en-US" sz="1400" b="1" dirty="0">
                  <a:solidFill>
                    <a:schemeClr val="bg1"/>
                  </a:solidFill>
                  <a:latin typeface="+mn-ea"/>
                </a:rPr>
                <a:t>역할체계 설계</a:t>
              </a:r>
            </a:p>
          </p:txBody>
        </p:sp>
        <p:sp>
          <p:nvSpPr>
            <p:cNvPr id="71" name="자유형 88">
              <a:extLst>
                <a:ext uri="{FF2B5EF4-FFF2-40B4-BE49-F238E27FC236}">
                  <a16:creationId xmlns:a16="http://schemas.microsoft.com/office/drawing/2014/main" id="{AE0A3D67-6C1A-F218-EF79-24700711C36D}"/>
                </a:ext>
              </a:extLst>
            </p:cNvPr>
            <p:cNvSpPr/>
            <p:nvPr/>
          </p:nvSpPr>
          <p:spPr>
            <a:xfrm>
              <a:off x="764109" y="2053951"/>
              <a:ext cx="2025291" cy="204774"/>
            </a:xfrm>
            <a:custGeom>
              <a:avLst/>
              <a:gdLst>
                <a:gd name="connsiteX0" fmla="*/ 0 w 2508725"/>
                <a:gd name="connsiteY0" fmla="*/ 0 h 315415"/>
                <a:gd name="connsiteX1" fmla="*/ 2337044 w 2508725"/>
                <a:gd name="connsiteY1" fmla="*/ 0 h 315415"/>
                <a:gd name="connsiteX2" fmla="*/ 2508725 w 2508725"/>
                <a:gd name="connsiteY2" fmla="*/ 315415 h 315415"/>
                <a:gd name="connsiteX3" fmla="*/ 0 w 2508725"/>
                <a:gd name="connsiteY3" fmla="*/ 315415 h 31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725" h="315415">
                  <a:moveTo>
                    <a:pt x="0" y="0"/>
                  </a:moveTo>
                  <a:lnTo>
                    <a:pt x="2337044" y="0"/>
                  </a:lnTo>
                  <a:lnTo>
                    <a:pt x="2508725" y="315415"/>
                  </a:lnTo>
                  <a:lnTo>
                    <a:pt x="0" y="315415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en-US" altLang="ko-KR" sz="1050" b="1" dirty="0">
                  <a:solidFill>
                    <a:schemeClr val="tx2">
                      <a:lumMod val="50000"/>
                    </a:schemeClr>
                  </a:solidFill>
                </a:rPr>
                <a:t>Step 2</a:t>
              </a:r>
              <a:endParaRPr kumimoji="1" lang="ko-KR" altLang="en-US" sz="105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88F40AE-5AB1-0E14-29A5-3782AE8B2DE0}"/>
              </a:ext>
            </a:extLst>
          </p:cNvPr>
          <p:cNvGrpSpPr/>
          <p:nvPr/>
        </p:nvGrpSpPr>
        <p:grpSpPr>
          <a:xfrm>
            <a:off x="6672596" y="2077982"/>
            <a:ext cx="2960354" cy="593648"/>
            <a:chOff x="764109" y="2053951"/>
            <a:chExt cx="2087593" cy="593648"/>
          </a:xfrm>
        </p:grpSpPr>
        <p:sp>
          <p:nvSpPr>
            <p:cNvPr id="73" name="오각형[P] 90">
              <a:extLst>
                <a:ext uri="{FF2B5EF4-FFF2-40B4-BE49-F238E27FC236}">
                  <a16:creationId xmlns:a16="http://schemas.microsoft.com/office/drawing/2014/main" id="{4E025A53-8DF9-A639-D88C-40F3DE090FD4}"/>
                </a:ext>
              </a:extLst>
            </p:cNvPr>
            <p:cNvSpPr/>
            <p:nvPr/>
          </p:nvSpPr>
          <p:spPr>
            <a:xfrm>
              <a:off x="764109" y="2053952"/>
              <a:ext cx="2087593" cy="593647"/>
            </a:xfrm>
            <a:prstGeom prst="homePlate">
              <a:avLst>
                <a:gd name="adj" fmla="val 33961"/>
              </a:avLst>
            </a:prstGeom>
            <a:solidFill>
              <a:schemeClr val="tx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en-US" altLang="ko-KR" sz="14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kumimoji="1" lang="ko-KR" altLang="en-US" sz="1400" b="1" dirty="0" err="1">
                  <a:solidFill>
                    <a:schemeClr val="bg1"/>
                  </a:solidFill>
                  <a:latin typeface="+mn-ea"/>
                </a:rPr>
                <a:t>역할급</a:t>
              </a:r>
              <a:r>
                <a:rPr kumimoji="1" lang="ko-KR" altLang="en-US" sz="1400" b="1" dirty="0">
                  <a:solidFill>
                    <a:schemeClr val="bg1"/>
                  </a:solidFill>
                  <a:latin typeface="+mn-ea"/>
                </a:rPr>
                <a:t> 설계 및 시뮬레이션</a:t>
              </a:r>
            </a:p>
          </p:txBody>
        </p:sp>
        <p:sp>
          <p:nvSpPr>
            <p:cNvPr id="74" name="자유형 91">
              <a:extLst>
                <a:ext uri="{FF2B5EF4-FFF2-40B4-BE49-F238E27FC236}">
                  <a16:creationId xmlns:a16="http://schemas.microsoft.com/office/drawing/2014/main" id="{A7297C8A-6ED8-05A1-6033-04CD84BE029A}"/>
                </a:ext>
              </a:extLst>
            </p:cNvPr>
            <p:cNvSpPr/>
            <p:nvPr/>
          </p:nvSpPr>
          <p:spPr>
            <a:xfrm>
              <a:off x="764109" y="2053951"/>
              <a:ext cx="2025291" cy="204774"/>
            </a:xfrm>
            <a:custGeom>
              <a:avLst/>
              <a:gdLst>
                <a:gd name="connsiteX0" fmla="*/ 0 w 2508725"/>
                <a:gd name="connsiteY0" fmla="*/ 0 h 315415"/>
                <a:gd name="connsiteX1" fmla="*/ 2337044 w 2508725"/>
                <a:gd name="connsiteY1" fmla="*/ 0 h 315415"/>
                <a:gd name="connsiteX2" fmla="*/ 2508725 w 2508725"/>
                <a:gd name="connsiteY2" fmla="*/ 315415 h 315415"/>
                <a:gd name="connsiteX3" fmla="*/ 0 w 2508725"/>
                <a:gd name="connsiteY3" fmla="*/ 315415 h 31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725" h="315415">
                  <a:moveTo>
                    <a:pt x="0" y="0"/>
                  </a:moveTo>
                  <a:lnTo>
                    <a:pt x="2337044" y="0"/>
                  </a:lnTo>
                  <a:lnTo>
                    <a:pt x="2508725" y="315415"/>
                  </a:lnTo>
                  <a:lnTo>
                    <a:pt x="0" y="315415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en-US" altLang="ko-KR" sz="1050" b="1" dirty="0">
                  <a:solidFill>
                    <a:schemeClr val="tx2">
                      <a:lumMod val="50000"/>
                    </a:schemeClr>
                  </a:solidFill>
                </a:rPr>
                <a:t>Step 3</a:t>
              </a:r>
              <a:endParaRPr kumimoji="1" lang="ko-KR" altLang="en-US" sz="105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76744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BC05-D99A-CBC9-0D62-6173F7A1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C7CC575-5CF5-AAFF-1ADD-447A2339A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과업 중심의 수평적 분류 체계에서 벗어나</a:t>
            </a:r>
            <a:r>
              <a:rPr lang="en-US" altLang="ko-KR" dirty="0"/>
              <a:t>, </a:t>
            </a:r>
            <a:r>
              <a:rPr lang="ko-KR" altLang="en-US" b="1" dirty="0"/>
              <a:t>역할과 책임 수준에 따른 수직적 분류</a:t>
            </a:r>
            <a:r>
              <a:rPr lang="ko-KR" altLang="en-US" dirty="0"/>
              <a:t>로 전환하여 직무</a:t>
            </a:r>
            <a:r>
              <a:rPr lang="en-US" altLang="ko-KR" dirty="0"/>
              <a:t>·</a:t>
            </a:r>
            <a:r>
              <a:rPr lang="ko-KR" altLang="en-US" dirty="0"/>
              <a:t>역할 중심의 </a:t>
            </a:r>
            <a:r>
              <a:rPr lang="en-US" altLang="ko-KR" dirty="0"/>
              <a:t>HR </a:t>
            </a:r>
            <a:r>
              <a:rPr lang="ko-KR" altLang="en-US" dirty="0"/>
              <a:t>체계를 정립함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0B96AC2-3950-10CE-03A9-ED20A76D8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25DEB5-05DA-CA3A-C2A0-EDAEC068C9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6D189B3-D409-3C15-F746-02A929F044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5E441441-530C-57F0-D595-9E60BF9C144E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502EC6C5-A391-797D-5B6D-DF658503CDF5}"/>
                </a:ext>
              </a:extLst>
            </p:cNvPr>
            <p:cNvSpPr/>
            <p:nvPr userDrawn="1"/>
          </p:nvSpPr>
          <p:spPr>
            <a:xfrm>
              <a:off x="2847148" y="1626519"/>
              <a:ext cx="1283008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직무체계 개편 고려사항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68BF3D69-5760-8275-BE59-64A88CFCFE17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D1B5CF5-D3C7-CEB9-5360-FD1C54765781}"/>
              </a:ext>
            </a:extLst>
          </p:cNvPr>
          <p:cNvGrpSpPr/>
          <p:nvPr/>
        </p:nvGrpSpPr>
        <p:grpSpPr>
          <a:xfrm>
            <a:off x="390388" y="2062366"/>
            <a:ext cx="9131495" cy="4103061"/>
            <a:chOff x="390388" y="1991849"/>
            <a:chExt cx="9131495" cy="4173578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CEF7387-387F-11C3-DF03-F7FA056BF564}"/>
                </a:ext>
              </a:extLst>
            </p:cNvPr>
            <p:cNvGrpSpPr/>
            <p:nvPr/>
          </p:nvGrpSpPr>
          <p:grpSpPr>
            <a:xfrm>
              <a:off x="390388" y="2138957"/>
              <a:ext cx="9131495" cy="4026470"/>
              <a:chOff x="390388" y="2143223"/>
              <a:chExt cx="9131495" cy="4165778"/>
            </a:xfrm>
          </p:grpSpPr>
          <p:sp>
            <p:nvSpPr>
              <p:cNvPr id="12" name="Text Box 11">
                <a:extLst>
                  <a:ext uri="{FF2B5EF4-FFF2-40B4-BE49-F238E27FC236}">
                    <a16:creationId xmlns:a16="http://schemas.microsoft.com/office/drawing/2014/main" id="{5F389E8C-3628-3519-77F2-0547BC05F1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776" y="4187953"/>
                <a:ext cx="4155181" cy="21207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95250" indent="-952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5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544513" indent="-185738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2pPr>
                <a:lvl3pPr marL="917575" indent="-1936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3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3pPr>
                <a:lvl4pPr marL="1373188" indent="-1809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SimSun" panose="02010600030101010101" pitchFamily="2" charset="-122"/>
                  <a:buChar char="-"/>
                  <a:defRPr kumimoji="1" sz="1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4pPr>
                <a:lvl5pPr marL="1698625" indent="-1460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5pPr>
                <a:lvl6pPr marL="21558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6pPr>
                <a:lvl7pPr marL="26130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7pPr>
                <a:lvl8pPr marL="30702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8pPr>
                <a:lvl9pPr marL="35274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9pPr>
              </a:lstStyle>
              <a:p>
                <a:pPr fontAlgn="ctr" latinLnBrk="0">
                  <a:lnSpc>
                    <a:spcPct val="100000"/>
                  </a:lnSpc>
                  <a:spcBef>
                    <a:spcPct val="10000"/>
                  </a:spcBef>
                  <a:buClrTx/>
                </a:pPr>
                <a:r>
                  <a:rPr lang="en-US" altLang="ko-KR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[</a:t>
                </a:r>
                <a:r>
                  <a:rPr lang="ko-KR" altLang="en-US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직무 개념</a:t>
                </a:r>
                <a:r>
                  <a:rPr lang="en-US" altLang="ko-KR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] </a:t>
                </a:r>
                <a:r>
                  <a:rPr lang="en-US" altLang="ko-KR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Narrow Job Definition (</a:t>
                </a:r>
                <a:r>
                  <a:rPr lang="ko-KR" altLang="en-US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직무 세분화</a:t>
                </a:r>
                <a:r>
                  <a:rPr lang="en-US" altLang="ko-KR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</a:t>
                </a:r>
                <a:endParaRPr lang="en-US" altLang="ko-KR" sz="105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171450" indent="-17145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유사한 지식과 기술이 요구되는 유사한 과업</a:t>
                </a:r>
                <a:r>
                  <a:rPr lang="en-US" altLang="ko-KR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(Task)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의 집합</a:t>
                </a:r>
                <a:endParaRPr lang="en-US" altLang="ko-KR" sz="105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171450" indent="-171450" latinLnBrk="0">
                  <a:lnSpc>
                    <a:spcPct val="95000"/>
                  </a:lnSpc>
                  <a:spcBef>
                    <a:spcPct val="5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직무를 개인들의 수행 업무 지칭을 위한 ‘코드명’ 개념으로 활용</a:t>
                </a:r>
              </a:p>
              <a:p>
                <a:pPr marL="0" indent="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</a:pPr>
                <a:endParaRPr lang="ko-KR" altLang="en-US" sz="1050" b="1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fontAlgn="ctr" latinLnBrk="0">
                  <a:lnSpc>
                    <a:spcPct val="100000"/>
                  </a:lnSpc>
                  <a:spcBef>
                    <a:spcPct val="10000"/>
                  </a:spcBef>
                  <a:buClrTx/>
                </a:pPr>
                <a:r>
                  <a:rPr lang="en-US" altLang="ko-KR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[</a:t>
                </a:r>
                <a:r>
                  <a:rPr lang="ko-KR" altLang="en-US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주요 특징</a:t>
                </a:r>
                <a:r>
                  <a:rPr lang="en-US" altLang="ko-KR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] </a:t>
                </a:r>
                <a:r>
                  <a:rPr lang="en-US" altLang="ko-KR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Independent Jobs (</a:t>
                </a:r>
                <a:r>
                  <a:rPr lang="ko-KR" altLang="en-US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과업의 독립성</a:t>
                </a:r>
                <a:r>
                  <a:rPr lang="en-US" altLang="ko-KR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</a:t>
                </a:r>
                <a:endParaRPr lang="ko-KR" altLang="en-US" sz="1050" b="1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171450" indent="-17145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개인중심의 성과구조</a:t>
                </a:r>
                <a:r>
                  <a:rPr lang="en-US" altLang="ko-KR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업무할당의 명확성이 보장되는 환경에 적합</a:t>
                </a:r>
                <a:endParaRPr lang="en-US" altLang="ko-KR" sz="105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171450" indent="-17145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개별 과업 수준에서의 전문화를 도모할 수 있음</a:t>
                </a:r>
              </a:p>
              <a:p>
                <a:pPr marL="171450" indent="-17145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직무 수가 많아 관리가 힘들고</a:t>
                </a:r>
                <a:r>
                  <a:rPr lang="en-US" altLang="ko-KR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인력 </a:t>
                </a:r>
                <a:r>
                  <a:rPr lang="ko-KR" altLang="en-US" sz="105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유출입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등에 따른 업무분장 변화 시 직무를 새롭게 정의해야 하는 경우가 발생</a:t>
                </a:r>
              </a:p>
              <a:p>
                <a:pPr marL="171450" indent="-17145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조직 및 인력 상황에 따른 인재의 유연한 활용이 곤란함</a:t>
                </a:r>
                <a:endParaRPr lang="en-US" altLang="ko-KR" sz="105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3" name="Text Box 12">
                <a:extLst>
                  <a:ext uri="{FF2B5EF4-FFF2-40B4-BE49-F238E27FC236}">
                    <a16:creationId xmlns:a16="http://schemas.microsoft.com/office/drawing/2014/main" id="{DA7AA60D-304E-B4AF-E78A-D2E0954AFA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0439" y="4187953"/>
                <a:ext cx="4123166" cy="20527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95250" indent="-952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5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544513" indent="-185738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2pPr>
                <a:lvl3pPr marL="917575" indent="-1936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3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3pPr>
                <a:lvl4pPr marL="1373188" indent="-1809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SimSun" panose="02010600030101010101" pitchFamily="2" charset="-122"/>
                  <a:buChar char="-"/>
                  <a:defRPr kumimoji="1" sz="1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4pPr>
                <a:lvl5pPr marL="1698625" indent="-1460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5pPr>
                <a:lvl6pPr marL="21558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6pPr>
                <a:lvl7pPr marL="26130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7pPr>
                <a:lvl8pPr marL="30702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8pPr>
                <a:lvl9pPr marL="35274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9pPr>
              </a:lstStyle>
              <a:p>
                <a:pPr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</a:pPr>
                <a:r>
                  <a:rPr lang="en-US" altLang="ko-KR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[</a:t>
                </a:r>
                <a:r>
                  <a:rPr lang="ko-KR" altLang="en-US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직무 개념</a:t>
                </a:r>
                <a:r>
                  <a:rPr lang="en-US" altLang="ko-KR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] </a:t>
                </a:r>
                <a:r>
                  <a:rPr lang="en-US" altLang="ko-KR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Broad Job Definition(</a:t>
                </a:r>
                <a:r>
                  <a:rPr lang="ko-KR" altLang="en-US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직무 광역화</a:t>
                </a:r>
                <a:r>
                  <a:rPr lang="en-US" altLang="ko-KR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</a:t>
                </a:r>
                <a:endParaRPr lang="en-US" altLang="ko-KR" sz="105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171450" indent="-171450" latinLnBrk="0">
                  <a:lnSpc>
                    <a:spcPct val="95000"/>
                  </a:lnSpc>
                  <a:spcBef>
                    <a:spcPct val="5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조직 내 역할</a:t>
                </a:r>
                <a:r>
                  <a:rPr lang="en-US" altLang="ko-KR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(Role)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과 과업</a:t>
                </a:r>
                <a:r>
                  <a:rPr lang="en-US" altLang="ko-KR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(Task)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을 결합한 </a:t>
                </a:r>
                <a:r>
                  <a:rPr lang="en-US" altLang="ko-KR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Position 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개념</a:t>
                </a:r>
              </a:p>
              <a:p>
                <a:pPr marL="171450" indent="-171450" latinLnBrk="0">
                  <a:lnSpc>
                    <a:spcPct val="95000"/>
                  </a:lnSpc>
                  <a:spcBef>
                    <a:spcPct val="5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직무를 인사관리의 기본 단위로 활용</a:t>
                </a:r>
                <a:endParaRPr lang="en-US" altLang="ko-KR" sz="1050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Tx/>
                  <a:buNone/>
                </a:pPr>
                <a:endParaRPr lang="en-US" altLang="ko-KR" sz="105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Tx/>
                  <a:buNone/>
                </a:pPr>
                <a:r>
                  <a:rPr lang="en-US" altLang="ko-KR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[</a:t>
                </a:r>
                <a:r>
                  <a:rPr lang="ko-KR" altLang="en-US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주요 특징</a:t>
                </a:r>
                <a:r>
                  <a:rPr lang="en-US" altLang="ko-KR" sz="1050" b="1" dirty="0">
                    <a:solidFill>
                      <a:srgbClr val="A5002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] </a:t>
                </a:r>
                <a:r>
                  <a:rPr lang="en-US" altLang="ko-KR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Overlapped Jobs (</a:t>
                </a:r>
                <a:r>
                  <a:rPr lang="ko-KR" altLang="en-US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과업의 </a:t>
                </a:r>
                <a:r>
                  <a:rPr lang="ko-KR" altLang="en-US" sz="1050" b="1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중첩성</a:t>
                </a:r>
                <a:r>
                  <a:rPr lang="en-US" altLang="ko-KR" sz="1050" b="1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</a:t>
                </a:r>
              </a:p>
              <a:p>
                <a:pPr marL="171450" indent="-17145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집단중심의 성과구조</a:t>
                </a:r>
                <a:r>
                  <a:rPr lang="en-US" altLang="ko-KR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업무할당의 유연성이 보장되는 환경에 적합</a:t>
                </a:r>
                <a:endParaRPr lang="en-US" altLang="ko-KR" sz="105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171450" indent="-17145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경력경로 및 역량평가 설계 시 일관되게 적용하여 인사제도 상의 직무체계 활용도를 제고할 수 있음</a:t>
                </a:r>
              </a:p>
              <a:p>
                <a:pPr marL="171450" indent="-171450" fontAlgn="ctr" latinLnBrk="0">
                  <a:lnSpc>
                    <a:spcPct val="100000"/>
                  </a:lnSpc>
                  <a:spcBef>
                    <a:spcPct val="3000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외부노동 시장에서 일반적으로 활용되며</a:t>
                </a:r>
                <a:r>
                  <a:rPr lang="en-US" altLang="ko-KR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ko-KR" altLang="en-US" sz="105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다기능화에 따른 인재 활용 폭이 증가함</a:t>
                </a:r>
              </a:p>
            </p:txBody>
          </p: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816B62B7-49FF-1172-CFD0-14B95E1AC146}"/>
                  </a:ext>
                </a:extLst>
              </p:cNvPr>
              <p:cNvGrpSpPr/>
              <p:nvPr/>
            </p:nvGrpSpPr>
            <p:grpSpPr>
              <a:xfrm>
                <a:off x="607947" y="2505044"/>
                <a:ext cx="3992699" cy="1418189"/>
                <a:chOff x="611188" y="2215458"/>
                <a:chExt cx="3841750" cy="1478206"/>
              </a:xfrm>
            </p:grpSpPr>
            <p:sp>
              <p:nvSpPr>
                <p:cNvPr id="28" name="Rectangle 2">
                  <a:extLst>
                    <a:ext uri="{FF2B5EF4-FFF2-40B4-BE49-F238E27FC236}">
                      <a16:creationId xmlns:a16="http://schemas.microsoft.com/office/drawing/2014/main" id="{DF2A98D8-593B-6264-CE97-F7D43DB02B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11188" y="2215458"/>
                  <a:ext cx="3841750" cy="1478206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eaLnBrk="1" hangingPunct="1"/>
                  <a:endParaRPr lang="ko-KR" altLang="en-US" sz="1100" dirty="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29" name="Rectangle 4" descr="어두운 상향 대각선">
                  <a:extLst>
                    <a:ext uri="{FF2B5EF4-FFF2-40B4-BE49-F238E27FC236}">
                      <a16:creationId xmlns:a16="http://schemas.microsoft.com/office/drawing/2014/main" id="{7567E5B9-5981-1349-2C50-E64762B8B1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747713" y="3165253"/>
                  <a:ext cx="3568700" cy="395288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eaLnBrk="1" hangingPunct="1"/>
                  <a:endParaRPr lang="ko-KR" altLang="en-US" sz="1100" dirty="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30" name="Rectangle 14">
                  <a:extLst>
                    <a:ext uri="{FF2B5EF4-FFF2-40B4-BE49-F238E27FC236}">
                      <a16:creationId xmlns:a16="http://schemas.microsoft.com/office/drawing/2014/main" id="{FBA894AA-F5C8-87AC-3DB6-57D8228523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989138" y="2327053"/>
                  <a:ext cx="1101725" cy="242888"/>
                </a:xfrm>
                <a:prstGeom prst="rect">
                  <a:avLst/>
                </a:prstGeom>
                <a:solidFill>
                  <a:srgbClr val="4DADC7">
                    <a:alpha val="50000"/>
                  </a:srgbClr>
                </a:solidFill>
                <a:ln w="3175" algn="ctr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105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인사</a:t>
                  </a:r>
                </a:p>
              </p:txBody>
            </p:sp>
            <p:sp>
              <p:nvSpPr>
                <p:cNvPr id="31" name="Rectangle 15">
                  <a:extLst>
                    <a:ext uri="{FF2B5EF4-FFF2-40B4-BE49-F238E27FC236}">
                      <a16:creationId xmlns:a16="http://schemas.microsoft.com/office/drawing/2014/main" id="{3693C693-10F0-6185-5023-68023932CF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823913" y="2327053"/>
                  <a:ext cx="1103312" cy="242888"/>
                </a:xfrm>
                <a:prstGeom prst="rect">
                  <a:avLst/>
                </a:prstGeom>
                <a:solidFill>
                  <a:srgbClr val="4DADC7">
                    <a:alpha val="50000"/>
                  </a:srgbClr>
                </a:solidFill>
                <a:ln w="3175" algn="ctr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105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재무</a:t>
                  </a:r>
                </a:p>
              </p:txBody>
            </p:sp>
            <p:sp>
              <p:nvSpPr>
                <p:cNvPr id="32" name="Rectangle 16">
                  <a:extLst>
                    <a:ext uri="{FF2B5EF4-FFF2-40B4-BE49-F238E27FC236}">
                      <a16:creationId xmlns:a16="http://schemas.microsoft.com/office/drawing/2014/main" id="{FAD9C4B1-264F-B05D-6B32-F2735E66BA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38488" y="2327053"/>
                  <a:ext cx="1103312" cy="242888"/>
                </a:xfrm>
                <a:prstGeom prst="rect">
                  <a:avLst/>
                </a:prstGeom>
                <a:solidFill>
                  <a:srgbClr val="4DADC7">
                    <a:alpha val="50000"/>
                  </a:srgbClr>
                </a:solidFill>
                <a:ln w="3175" algn="ctr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105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총무</a:t>
                  </a:r>
                </a:p>
              </p:txBody>
            </p:sp>
            <p:sp>
              <p:nvSpPr>
                <p:cNvPr id="33" name="Rectangle 17">
                  <a:extLst>
                    <a:ext uri="{FF2B5EF4-FFF2-40B4-BE49-F238E27FC236}">
                      <a16:creationId xmlns:a16="http://schemas.microsoft.com/office/drawing/2014/main" id="{64F1394A-0DA3-76B9-3792-60AB5146F0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1989138" y="3277966"/>
                  <a:ext cx="1101725" cy="19526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채용담당</a:t>
                  </a:r>
                </a:p>
              </p:txBody>
            </p:sp>
            <p:sp>
              <p:nvSpPr>
                <p:cNvPr id="34" name="Rectangle 18">
                  <a:extLst>
                    <a:ext uri="{FF2B5EF4-FFF2-40B4-BE49-F238E27FC236}">
                      <a16:creationId xmlns:a16="http://schemas.microsoft.com/office/drawing/2014/main" id="{5AAA4262-8492-EF56-9061-BBC4EDBDB5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138488" y="3277966"/>
                  <a:ext cx="1103312" cy="19526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en-US" altLang="ko-KR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……</a:t>
                  </a:r>
                </a:p>
              </p:txBody>
            </p:sp>
            <p:sp>
              <p:nvSpPr>
                <p:cNvPr id="35" name="Rectangle 19">
                  <a:extLst>
                    <a:ext uri="{FF2B5EF4-FFF2-40B4-BE49-F238E27FC236}">
                      <a16:creationId xmlns:a16="http://schemas.microsoft.com/office/drawing/2014/main" id="{7DAD6E69-7803-F5D4-51ED-6CE4E6B8DF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823913" y="3277966"/>
                  <a:ext cx="1103312" cy="19526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평가담당</a:t>
                  </a:r>
                </a:p>
              </p:txBody>
            </p:sp>
            <p:cxnSp>
              <p:nvCxnSpPr>
                <p:cNvPr id="36" name="AutoShape 20">
                  <a:extLst>
                    <a:ext uri="{FF2B5EF4-FFF2-40B4-BE49-F238E27FC236}">
                      <a16:creationId xmlns:a16="http://schemas.microsoft.com/office/drawing/2014/main" id="{F4191792-3423-2083-DF47-91264101F89A}"/>
                    </a:ext>
                  </a:extLst>
                </p:cNvPr>
                <p:cNvCxnSpPr>
                  <a:cxnSpLocks noChangeShapeType="1"/>
                  <a:stCxn id="30" idx="2"/>
                  <a:endCxn id="35" idx="0"/>
                </p:cNvCxnSpPr>
                <p:nvPr/>
              </p:nvCxnSpPr>
              <p:spPr bwMode="gray">
                <a:xfrm rot="5400000">
                  <a:off x="1604169" y="2342135"/>
                  <a:ext cx="708025" cy="1163637"/>
                </a:xfrm>
                <a:prstGeom prst="bentConnector3">
                  <a:avLst>
                    <a:gd name="adj1" fmla="val 49778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" name="AutoShape 21">
                  <a:extLst>
                    <a:ext uri="{FF2B5EF4-FFF2-40B4-BE49-F238E27FC236}">
                      <a16:creationId xmlns:a16="http://schemas.microsoft.com/office/drawing/2014/main" id="{332C3AA5-7018-BC76-F700-DE3D2344518D}"/>
                    </a:ext>
                  </a:extLst>
                </p:cNvPr>
                <p:cNvCxnSpPr>
                  <a:cxnSpLocks noChangeShapeType="1"/>
                  <a:stCxn id="30" idx="2"/>
                  <a:endCxn id="33" idx="0"/>
                </p:cNvCxnSpPr>
                <p:nvPr/>
              </p:nvCxnSpPr>
              <p:spPr bwMode="gray">
                <a:xfrm rot="5400000">
                  <a:off x="2185987" y="2923954"/>
                  <a:ext cx="708025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" name="AutoShape 22">
                  <a:extLst>
                    <a:ext uri="{FF2B5EF4-FFF2-40B4-BE49-F238E27FC236}">
                      <a16:creationId xmlns:a16="http://schemas.microsoft.com/office/drawing/2014/main" id="{1597D34C-1677-90DA-EBE8-B305B0C18E4E}"/>
                    </a:ext>
                  </a:extLst>
                </p:cNvPr>
                <p:cNvCxnSpPr>
                  <a:cxnSpLocks noChangeShapeType="1"/>
                  <a:stCxn id="30" idx="2"/>
                  <a:endCxn id="34" idx="0"/>
                </p:cNvCxnSpPr>
                <p:nvPr/>
              </p:nvCxnSpPr>
              <p:spPr bwMode="gray">
                <a:xfrm rot="16200000" flipH="1">
                  <a:off x="2761456" y="2348485"/>
                  <a:ext cx="708025" cy="1150938"/>
                </a:xfrm>
                <a:prstGeom prst="bentConnector3">
                  <a:avLst>
                    <a:gd name="adj1" fmla="val 49778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39" name="AutoShape 23">
                  <a:extLst>
                    <a:ext uri="{FF2B5EF4-FFF2-40B4-BE49-F238E27FC236}">
                      <a16:creationId xmlns:a16="http://schemas.microsoft.com/office/drawing/2014/main" id="{C570A731-3BBB-49CE-F1C7-AD2F7CF03B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484563" y="2668366"/>
                  <a:ext cx="725487" cy="341312"/>
                </a:xfrm>
                <a:prstGeom prst="wedgeRectCallout">
                  <a:avLst>
                    <a:gd name="adj1" fmla="val -43000"/>
                    <a:gd name="adj2" fmla="val 87208"/>
                  </a:avLst>
                </a:prstGeom>
                <a:solidFill>
                  <a:srgbClr val="3693AC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8000" rIns="18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kumimoji="0" lang="ko-KR" altLang="en-US" sz="900" b="1" dirty="0">
                      <a:solidFill>
                        <a:schemeClr val="bg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수평적</a:t>
                  </a:r>
                </a:p>
                <a:p>
                  <a:pPr algn="ctr" eaLnBrk="1" latinLnBrk="0" hangingPunct="1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kumimoji="0" lang="ko-KR" altLang="en-US" sz="900" b="1" dirty="0">
                      <a:solidFill>
                        <a:schemeClr val="bg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분류</a:t>
                  </a:r>
                </a:p>
              </p:txBody>
            </p: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3FEE5384-2710-5B7A-E377-64B00D3D5A01}"/>
                  </a:ext>
                </a:extLst>
              </p:cNvPr>
              <p:cNvGrpSpPr/>
              <p:nvPr/>
            </p:nvGrpSpPr>
            <p:grpSpPr>
              <a:xfrm>
                <a:off x="5311625" y="2505044"/>
                <a:ext cx="3992699" cy="1418189"/>
                <a:chOff x="5527676" y="2215458"/>
                <a:chExt cx="3825875" cy="1478206"/>
              </a:xfrm>
            </p:grpSpPr>
            <p:sp>
              <p:nvSpPr>
                <p:cNvPr id="18" name="Rectangle 3">
                  <a:extLst>
                    <a:ext uri="{FF2B5EF4-FFF2-40B4-BE49-F238E27FC236}">
                      <a16:creationId xmlns:a16="http://schemas.microsoft.com/office/drawing/2014/main" id="{D82A5D3E-71F6-C175-6E8D-A845B87319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527676" y="2215458"/>
                  <a:ext cx="3825875" cy="1478206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eaLnBrk="1" hangingPunct="1"/>
                  <a:endParaRPr lang="ko-KR" altLang="en-US" sz="1100" dirty="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19" name="Rectangle 5" descr="어두운 상향 대각선">
                  <a:extLst>
                    <a:ext uri="{FF2B5EF4-FFF2-40B4-BE49-F238E27FC236}">
                      <a16:creationId xmlns:a16="http://schemas.microsoft.com/office/drawing/2014/main" id="{D9CDD82A-39D6-F626-C296-DBFAD75811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757988" y="2689003"/>
                  <a:ext cx="1473200" cy="871538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algn="ctr" fontAlgn="ctr">
                    <a:spcBef>
                      <a:spcPct val="50000"/>
                    </a:spcBef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algn="ctr" eaLnBrk="0" fontAlgn="ctr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kumimoji="1" sz="120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eaLnBrk="1" hangingPunct="1"/>
                  <a:endParaRPr lang="ko-KR" altLang="en-US" sz="1100" dirty="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20" name="Rectangle 25">
                  <a:extLst>
                    <a:ext uri="{FF2B5EF4-FFF2-40B4-BE49-F238E27FC236}">
                      <a16:creationId xmlns:a16="http://schemas.microsoft.com/office/drawing/2014/main" id="{21A5E28E-81F3-8B09-D65E-BAB98B4AF0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945313" y="2327053"/>
                  <a:ext cx="1103313" cy="242888"/>
                </a:xfrm>
                <a:prstGeom prst="rect">
                  <a:avLst/>
                </a:prstGeom>
                <a:solidFill>
                  <a:srgbClr val="4DADC7">
                    <a:alpha val="50000"/>
                  </a:srgbClr>
                </a:solidFill>
                <a:ln w="3175" algn="ctr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105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인사</a:t>
                  </a:r>
                </a:p>
              </p:txBody>
            </p:sp>
            <p:sp>
              <p:nvSpPr>
                <p:cNvPr id="21" name="Rectangle 26">
                  <a:extLst>
                    <a:ext uri="{FF2B5EF4-FFF2-40B4-BE49-F238E27FC236}">
                      <a16:creationId xmlns:a16="http://schemas.microsoft.com/office/drawing/2014/main" id="{4E0DA982-ED81-994E-F9B7-9F5304855D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945313" y="3277966"/>
                  <a:ext cx="1103313" cy="19526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인사 </a:t>
                  </a:r>
                  <a:r>
                    <a:rPr kumimoji="0" lang="en-US" altLang="ko-KR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Assistant</a:t>
                  </a:r>
                </a:p>
              </p:txBody>
            </p:sp>
            <p:cxnSp>
              <p:nvCxnSpPr>
                <p:cNvPr id="22" name="AutoShape 27">
                  <a:extLst>
                    <a:ext uri="{FF2B5EF4-FFF2-40B4-BE49-F238E27FC236}">
                      <a16:creationId xmlns:a16="http://schemas.microsoft.com/office/drawing/2014/main" id="{50DCB6F4-9F86-BEA1-2830-F3812B2A2328}"/>
                    </a:ext>
                  </a:extLst>
                </p:cNvPr>
                <p:cNvCxnSpPr>
                  <a:cxnSpLocks noChangeShapeType="1"/>
                  <a:stCxn id="20" idx="2"/>
                  <a:endCxn id="21" idx="0"/>
                </p:cNvCxnSpPr>
                <p:nvPr/>
              </p:nvCxnSpPr>
              <p:spPr bwMode="gray">
                <a:xfrm>
                  <a:off x="7497763" y="2569941"/>
                  <a:ext cx="0" cy="708025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23" name="Rectangle 28">
                  <a:extLst>
                    <a:ext uri="{FF2B5EF4-FFF2-40B4-BE49-F238E27FC236}">
                      <a16:creationId xmlns:a16="http://schemas.microsoft.com/office/drawing/2014/main" id="{2E8BFCFD-1305-1F82-C8B3-3FFE93C734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945313" y="2769966"/>
                  <a:ext cx="1103313" cy="195262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인사 </a:t>
                  </a:r>
                  <a:r>
                    <a:rPr kumimoji="0" lang="en-US" altLang="ko-KR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Manager</a:t>
                  </a:r>
                </a:p>
              </p:txBody>
            </p:sp>
            <p:sp>
              <p:nvSpPr>
                <p:cNvPr id="24" name="Rectangle 29">
                  <a:extLst>
                    <a:ext uri="{FF2B5EF4-FFF2-40B4-BE49-F238E27FC236}">
                      <a16:creationId xmlns:a16="http://schemas.microsoft.com/office/drawing/2014/main" id="{21A5CA76-1C3A-5BFE-DE5F-7B36643075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6945313" y="3022378"/>
                  <a:ext cx="1103313" cy="195263"/>
                </a:xfrm>
                <a:prstGeom prst="rect">
                  <a:avLst/>
                </a:prstGeom>
                <a:solidFill>
                  <a:schemeClr val="bg1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인사 </a:t>
                  </a:r>
                  <a:r>
                    <a:rPr kumimoji="0" lang="en-US" altLang="ko-KR" sz="90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Specialist</a:t>
                  </a:r>
                </a:p>
              </p:txBody>
            </p:sp>
            <p:sp>
              <p:nvSpPr>
                <p:cNvPr id="25" name="Rectangle 30">
                  <a:extLst>
                    <a:ext uri="{FF2B5EF4-FFF2-40B4-BE49-F238E27FC236}">
                      <a16:creationId xmlns:a16="http://schemas.microsoft.com/office/drawing/2014/main" id="{038D630E-9D8A-95F8-65E5-2F9B01A9E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5767388" y="2327053"/>
                  <a:ext cx="1101725" cy="242888"/>
                </a:xfrm>
                <a:prstGeom prst="rect">
                  <a:avLst/>
                </a:prstGeom>
                <a:solidFill>
                  <a:srgbClr val="4DADC7">
                    <a:alpha val="50000"/>
                  </a:srgbClr>
                </a:solidFill>
                <a:ln w="3175" algn="ctr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105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재무</a:t>
                  </a:r>
                </a:p>
              </p:txBody>
            </p:sp>
            <p:sp>
              <p:nvSpPr>
                <p:cNvPr id="26" name="Rectangle 31">
                  <a:extLst>
                    <a:ext uri="{FF2B5EF4-FFF2-40B4-BE49-F238E27FC236}">
                      <a16:creationId xmlns:a16="http://schemas.microsoft.com/office/drawing/2014/main" id="{C4B76D2F-68F7-4395-1CCE-B8C37D11D3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8126413" y="2327053"/>
                  <a:ext cx="1101725" cy="242888"/>
                </a:xfrm>
                <a:prstGeom prst="rect">
                  <a:avLst/>
                </a:prstGeom>
                <a:solidFill>
                  <a:srgbClr val="4DADC7">
                    <a:alpha val="50000"/>
                  </a:srgbClr>
                </a:solidFill>
                <a:ln w="3175" algn="ctr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rIns="90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/>
                  <a:r>
                    <a:rPr kumimoji="0" lang="ko-KR" altLang="en-US" sz="1050" b="1" dirty="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총무</a:t>
                  </a:r>
                </a:p>
              </p:txBody>
            </p:sp>
            <p:sp>
              <p:nvSpPr>
                <p:cNvPr id="27" name="AutoShape 32">
                  <a:extLst>
                    <a:ext uri="{FF2B5EF4-FFF2-40B4-BE49-F238E27FC236}">
                      <a16:creationId xmlns:a16="http://schemas.microsoft.com/office/drawing/2014/main" id="{3E5123F4-B17C-9331-8B50-0FC90EF519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8334362" y="2884773"/>
                  <a:ext cx="727075" cy="341312"/>
                </a:xfrm>
                <a:prstGeom prst="wedgeRectCallout">
                  <a:avLst>
                    <a:gd name="adj1" fmla="val -69653"/>
                    <a:gd name="adj2" fmla="val -16046"/>
                  </a:avLst>
                </a:prstGeom>
                <a:solidFill>
                  <a:srgbClr val="3693AC"/>
                </a:solidFill>
                <a:ln w="31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8000" rIns="18000" anchor="ctr"/>
                <a:lstStyle>
                  <a:lvl1pPr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5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544513" indent="-185738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2pPr>
                  <a:lvl3pPr marL="917575" indent="-1936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defRPr kumimoji="1" sz="13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 panose="020B0604020202020204" pitchFamily="34" charset="0"/>
                    </a:defRPr>
                  </a:lvl3pPr>
                  <a:lvl4pPr marL="1373188" indent="-180975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SimSun" panose="02010600030101010101" pitchFamily="2" charset="-122"/>
                    <a:buChar char="-"/>
                    <a:defRPr kumimoji="1" sz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4pPr>
                  <a:lvl5pPr marL="1698625" indent="-146050" latinLnBrk="1">
                    <a:lnSpc>
                      <a:spcPct val="104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5pPr>
                  <a:lvl6pPr marL="21558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6pPr>
                  <a:lvl7pPr marL="26130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7pPr>
                  <a:lvl8pPr marL="30702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8pPr>
                  <a:lvl9pPr marL="3527425" indent="-146050" eaLnBrk="0" fontAlgn="base" hangingPunct="0">
                    <a:lnSpc>
                      <a:spcPct val="104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latinLnBrk="0" hangingPunct="1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kumimoji="0" lang="ko-KR" altLang="en-US" sz="900" b="1" dirty="0">
                      <a:solidFill>
                        <a:schemeClr val="bg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수직적</a:t>
                  </a:r>
                </a:p>
                <a:p>
                  <a:pPr algn="ctr" eaLnBrk="1" latinLnBrk="0" hangingPunct="1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kumimoji="0" lang="ko-KR" altLang="en-US" sz="900" b="1" dirty="0">
                      <a:solidFill>
                        <a:schemeClr val="bg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분류</a:t>
                  </a:r>
                </a:p>
              </p:txBody>
            </p:sp>
          </p:grpSp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ED7E92F2-5125-D7F2-712B-426675F2C709}"/>
                  </a:ext>
                </a:extLst>
              </p:cNvPr>
              <p:cNvSpPr/>
              <p:nvPr/>
            </p:nvSpPr>
            <p:spPr>
              <a:xfrm>
                <a:off x="390388" y="2143223"/>
                <a:ext cx="4427817" cy="4165778"/>
              </a:xfrm>
              <a:custGeom>
                <a:avLst/>
                <a:gdLst/>
                <a:ahLst/>
                <a:cxnLst/>
                <a:rect l="l" t="t" r="r" b="b"/>
                <a:pathLst>
                  <a:path w="3211195" h="4960620">
                    <a:moveTo>
                      <a:pt x="0" y="4960620"/>
                    </a:moveTo>
                    <a:lnTo>
                      <a:pt x="3211068" y="4960620"/>
                    </a:lnTo>
                    <a:lnTo>
                      <a:pt x="3211068" y="0"/>
                    </a:lnTo>
                    <a:lnTo>
                      <a:pt x="0" y="0"/>
                    </a:lnTo>
                    <a:lnTo>
                      <a:pt x="0" y="4960620"/>
                    </a:lnTo>
                    <a:close/>
                  </a:path>
                </a:pathLst>
              </a:custGeom>
              <a:ln w="9144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601B3E25-F094-70FD-2D5C-46B6ADA65116}"/>
                  </a:ext>
                </a:extLst>
              </p:cNvPr>
              <p:cNvSpPr/>
              <p:nvPr/>
            </p:nvSpPr>
            <p:spPr>
              <a:xfrm>
                <a:off x="5094066" y="2143223"/>
                <a:ext cx="4427817" cy="4165778"/>
              </a:xfrm>
              <a:custGeom>
                <a:avLst/>
                <a:gdLst/>
                <a:ahLst/>
                <a:cxnLst/>
                <a:rect l="l" t="t" r="r" b="b"/>
                <a:pathLst>
                  <a:path w="3211195" h="4960620">
                    <a:moveTo>
                      <a:pt x="0" y="4960620"/>
                    </a:moveTo>
                    <a:lnTo>
                      <a:pt x="3211068" y="4960620"/>
                    </a:lnTo>
                    <a:lnTo>
                      <a:pt x="3211068" y="0"/>
                    </a:lnTo>
                    <a:lnTo>
                      <a:pt x="0" y="0"/>
                    </a:lnTo>
                    <a:lnTo>
                      <a:pt x="0" y="4960620"/>
                    </a:lnTo>
                    <a:close/>
                  </a:path>
                </a:pathLst>
              </a:custGeom>
              <a:ln w="9144">
                <a:solidFill>
                  <a:srgbClr val="7E7E7E"/>
                </a:solidFill>
              </a:ln>
            </p:spPr>
            <p:txBody>
              <a:bodyPr wrap="square" lIns="0" tIns="0" rIns="0" bIns="0" rtlCol="0"/>
              <a:lstStyle/>
              <a:p>
                <a:endParaRPr sz="1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272FAA1B-6B8B-CFD2-9B25-08F47A9F2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56" y="2006120"/>
              <a:ext cx="2113079" cy="281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>
              <a:lvl1pPr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ko-KR" altLang="en-US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과업 중심 전통적 직무분류체계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1CD29B18-3E99-860C-0345-12D764CD5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9867" y="1991849"/>
              <a:ext cx="1656223" cy="281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>
              <a:lvl1pPr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ko-KR" altLang="en-US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역할 중심 직무분류체계</a:t>
              </a:r>
            </a:p>
          </p:txBody>
        </p:sp>
        <p:pic>
          <p:nvPicPr>
            <p:cNvPr id="11" name="그래픽 10" descr="반복 단색으로 채워진">
              <a:extLst>
                <a:ext uri="{FF2B5EF4-FFF2-40B4-BE49-F238E27FC236}">
                  <a16:creationId xmlns:a16="http://schemas.microsoft.com/office/drawing/2014/main" id="{B79945A1-916D-6E4F-7F2D-033E6015F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5800" y="369474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01080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9B56-F021-4835-2F14-6BC02B01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30EC79E-9EC1-AB8C-F507-8358F112AF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수평적 분류 중심의 직무체계에서 벗어나</a:t>
            </a:r>
            <a:r>
              <a:rPr lang="en-US" altLang="ko-KR" dirty="0"/>
              <a:t>, </a:t>
            </a:r>
            <a:r>
              <a:rPr lang="ko-KR" altLang="en-US" b="1" dirty="0"/>
              <a:t>역할과 책임 수준을 반영한 수직적 분류와 고유 직무 식별</a:t>
            </a:r>
            <a:r>
              <a:rPr lang="ko-KR" altLang="en-US" dirty="0"/>
              <a:t>을 통해 정합성 있는 보상</a:t>
            </a:r>
            <a:r>
              <a:rPr lang="en-US" altLang="ko-KR" dirty="0"/>
              <a:t>·</a:t>
            </a:r>
            <a:r>
              <a:rPr lang="ko-KR" altLang="en-US" dirty="0"/>
              <a:t>평가 기준을 마련함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A8F639-E3E9-D7F6-042F-11D785852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CCC77E-E9B7-CF3B-9906-33CBB52958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B0656D0-BCD5-A861-FAE2-219D79EC24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B38C93ED-BC2B-5DF8-A2F7-061B13C7229A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F1E5D3FE-7317-F42A-A159-1FD9CF140844}"/>
                </a:ext>
              </a:extLst>
            </p:cNvPr>
            <p:cNvSpPr/>
            <p:nvPr userDrawn="1"/>
          </p:nvSpPr>
          <p:spPr>
            <a:xfrm>
              <a:off x="2847145" y="1626519"/>
              <a:ext cx="1283007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직무체계 개편 고려사항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244EC38C-E6EF-C9DD-5688-80032064D4D1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5F2A03-3E8E-DF59-9BA8-A34536806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606214"/>
              </p:ext>
            </p:extLst>
          </p:nvPr>
        </p:nvGraphicFramePr>
        <p:xfrm>
          <a:off x="1065530" y="4839049"/>
          <a:ext cx="4841305" cy="1402626"/>
        </p:xfrm>
        <a:graphic>
          <a:graphicData uri="http://schemas.openxmlformats.org/drawingml/2006/table">
            <a:tbl>
              <a:tblPr/>
              <a:tblGrid>
                <a:gridCol w="1187912">
                  <a:extLst>
                    <a:ext uri="{9D8B030D-6E8A-4147-A177-3AD203B41FA5}">
                      <a16:colId xmlns:a16="http://schemas.microsoft.com/office/drawing/2014/main" val="3686013670"/>
                    </a:ext>
                  </a:extLst>
                </a:gridCol>
                <a:gridCol w="3653393">
                  <a:extLst>
                    <a:ext uri="{9D8B030D-6E8A-4147-A177-3AD203B41FA5}">
                      <a16:colId xmlns:a16="http://schemas.microsoft.com/office/drawing/2014/main" val="1334248004"/>
                    </a:ext>
                  </a:extLst>
                </a:gridCol>
              </a:tblGrid>
              <a:tr h="233771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직급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90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직무명</a:t>
                      </a: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0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: </a:t>
                      </a: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경영기획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90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826188"/>
                  </a:ext>
                </a:extLst>
              </a:tr>
              <a:tr h="233771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G5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경영기획 총괄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0918753"/>
                  </a:ext>
                </a:extLst>
              </a:tr>
              <a:tr h="233771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G4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경영기획 개선책 및 대내외 대응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906983"/>
                  </a:ext>
                </a:extLst>
              </a:tr>
              <a:tr h="233771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G3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경영기획 수립 및 문제해결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325741"/>
                  </a:ext>
                </a:extLst>
              </a:tr>
              <a:tr h="233771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G2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경영기획 조사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·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분석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957786"/>
                  </a:ext>
                </a:extLst>
              </a:tr>
              <a:tr h="233771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G1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경영기획 지원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93854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4CD955B7-58DB-E2CD-B577-C1DA250D6964}"/>
              </a:ext>
            </a:extLst>
          </p:cNvPr>
          <p:cNvGrpSpPr/>
          <p:nvPr/>
        </p:nvGrpSpPr>
        <p:grpSpPr>
          <a:xfrm>
            <a:off x="488953" y="2188294"/>
            <a:ext cx="5681692" cy="2668063"/>
            <a:chOff x="520988" y="2047521"/>
            <a:chExt cx="5788761" cy="4233623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2445F0A-EE7A-F004-5BC6-E25EAD502127}"/>
                </a:ext>
              </a:extLst>
            </p:cNvPr>
            <p:cNvGrpSpPr/>
            <p:nvPr/>
          </p:nvGrpSpPr>
          <p:grpSpPr>
            <a:xfrm>
              <a:off x="1108430" y="2533967"/>
              <a:ext cx="4932537" cy="528165"/>
              <a:chOff x="829030" y="2735735"/>
              <a:chExt cx="7665998" cy="225234"/>
            </a:xfrm>
          </p:grpSpPr>
          <p:sp>
            <p:nvSpPr>
              <p:cNvPr id="18" name="Rectangle 15">
                <a:extLst>
                  <a:ext uri="{FF2B5EF4-FFF2-40B4-BE49-F238E27FC236}">
                    <a16:creationId xmlns:a16="http://schemas.microsoft.com/office/drawing/2014/main" id="{E061FF65-C015-DD58-B972-B391179D0F0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829030" y="2735735"/>
                <a:ext cx="1146663" cy="225234"/>
              </a:xfrm>
              <a:prstGeom prst="rect">
                <a:avLst/>
              </a:prstGeom>
              <a:solidFill>
                <a:srgbClr val="002060"/>
              </a:solidFill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0000" rIns="90000" anchor="ctr"/>
              <a:lstStyle>
                <a:lvl1pPr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5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544513" indent="-185738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2pPr>
                <a:lvl3pPr marL="917575" indent="-1936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3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3pPr>
                <a:lvl4pPr marL="1373188" indent="-1809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SimSun" panose="02010600030101010101" pitchFamily="2" charset="-122"/>
                  <a:buChar char="-"/>
                  <a:defRPr kumimoji="1" sz="1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4pPr>
                <a:lvl5pPr marL="1698625" indent="-1460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5pPr>
                <a:lvl6pPr marL="21558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6pPr>
                <a:lvl7pPr marL="26130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7pPr>
                <a:lvl8pPr marL="30702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8pPr>
                <a:lvl9pPr marL="35274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9pPr>
              </a:lstStyle>
              <a:p>
                <a:pPr algn="ctr" eaLnBrk="1" latinLnBrk="0" hangingPunct="1"/>
                <a:r>
                  <a:rPr kumimoji="0" lang="ko-KR" altLang="en-US" sz="11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경영기획</a:t>
                </a:r>
              </a:p>
            </p:txBody>
          </p:sp>
          <p:sp>
            <p:nvSpPr>
              <p:cNvPr id="19" name="Rectangle 15">
                <a:extLst>
                  <a:ext uri="{FF2B5EF4-FFF2-40B4-BE49-F238E27FC236}">
                    <a16:creationId xmlns:a16="http://schemas.microsoft.com/office/drawing/2014/main" id="{010C1E9A-ED30-8434-E52E-67E8B3CEA40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32897" y="2735735"/>
                <a:ext cx="1146663" cy="225234"/>
              </a:xfrm>
              <a:prstGeom prst="rect">
                <a:avLst/>
              </a:prstGeom>
              <a:solidFill>
                <a:srgbClr val="002060"/>
              </a:solidFill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0000" rIns="90000" anchor="ctr"/>
              <a:lstStyle>
                <a:lvl1pPr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5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544513" indent="-185738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2pPr>
                <a:lvl3pPr marL="917575" indent="-1936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3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3pPr>
                <a:lvl4pPr marL="1373188" indent="-1809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SimSun" panose="02010600030101010101" pitchFamily="2" charset="-122"/>
                  <a:buChar char="-"/>
                  <a:defRPr kumimoji="1" sz="1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4pPr>
                <a:lvl5pPr marL="1698625" indent="-1460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5pPr>
                <a:lvl6pPr marL="21558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6pPr>
                <a:lvl7pPr marL="26130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7pPr>
                <a:lvl8pPr marL="30702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8pPr>
                <a:lvl9pPr marL="35274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9pPr>
              </a:lstStyle>
              <a:p>
                <a:pPr algn="ctr" eaLnBrk="1" latinLnBrk="0" hangingPunct="1"/>
                <a:r>
                  <a:rPr kumimoji="0" lang="ko-KR" altLang="en-US" sz="1100" b="1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인사</a:t>
                </a:r>
                <a:endPara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0" name="Rectangle 15">
                <a:extLst>
                  <a:ext uri="{FF2B5EF4-FFF2-40B4-BE49-F238E27FC236}">
                    <a16:creationId xmlns:a16="http://schemas.microsoft.com/office/drawing/2014/main" id="{5DBFB0BF-AA25-EBF0-1909-8ADAB282E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436764" y="2735735"/>
                <a:ext cx="1146663" cy="225234"/>
              </a:xfrm>
              <a:prstGeom prst="rect">
                <a:avLst/>
              </a:prstGeom>
              <a:solidFill>
                <a:srgbClr val="002060"/>
              </a:solidFill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0000" rIns="90000" anchor="ctr"/>
              <a:lstStyle>
                <a:lvl1pPr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5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544513" indent="-185738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2pPr>
                <a:lvl3pPr marL="917575" indent="-1936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3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3pPr>
                <a:lvl4pPr marL="1373188" indent="-1809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SimSun" panose="02010600030101010101" pitchFamily="2" charset="-122"/>
                  <a:buChar char="-"/>
                  <a:defRPr kumimoji="1" sz="1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4pPr>
                <a:lvl5pPr marL="1698625" indent="-1460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5pPr>
                <a:lvl6pPr marL="21558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6pPr>
                <a:lvl7pPr marL="26130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7pPr>
                <a:lvl8pPr marL="30702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8pPr>
                <a:lvl9pPr marL="35274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9pPr>
              </a:lstStyle>
              <a:p>
                <a:pPr algn="ctr" eaLnBrk="1" latinLnBrk="0" hangingPunct="1"/>
                <a:r>
                  <a:rPr kumimoji="0" lang="ko-KR" altLang="en-US" sz="1100" b="1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회계</a:t>
                </a:r>
                <a:endPara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1" name="Rectangle 15">
                <a:extLst>
                  <a:ext uri="{FF2B5EF4-FFF2-40B4-BE49-F238E27FC236}">
                    <a16:creationId xmlns:a16="http://schemas.microsoft.com/office/drawing/2014/main" id="{A3FFB7AA-F719-EC7F-3564-84B3017ADE1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4740631" y="2735735"/>
                <a:ext cx="1146663" cy="225234"/>
              </a:xfrm>
              <a:prstGeom prst="rect">
                <a:avLst/>
              </a:prstGeom>
              <a:solidFill>
                <a:srgbClr val="002060"/>
              </a:solidFill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0000" rIns="90000" anchor="ctr"/>
              <a:lstStyle>
                <a:lvl1pPr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5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544513" indent="-185738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2pPr>
                <a:lvl3pPr marL="917575" indent="-1936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3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3pPr>
                <a:lvl4pPr marL="1373188" indent="-1809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SimSun" panose="02010600030101010101" pitchFamily="2" charset="-122"/>
                  <a:buChar char="-"/>
                  <a:defRPr kumimoji="1" sz="1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4pPr>
                <a:lvl5pPr marL="1698625" indent="-1460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5pPr>
                <a:lvl6pPr marL="21558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6pPr>
                <a:lvl7pPr marL="26130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7pPr>
                <a:lvl8pPr marL="30702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8pPr>
                <a:lvl9pPr marL="35274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9pPr>
              </a:lstStyle>
              <a:p>
                <a:pPr algn="ctr" eaLnBrk="1" latinLnBrk="0" hangingPunct="1"/>
                <a:r>
                  <a:rPr kumimoji="0" lang="ko-KR" altLang="en-US" sz="1100" b="1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총무</a:t>
                </a:r>
                <a:endPara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2" name="Rectangle 15">
                <a:extLst>
                  <a:ext uri="{FF2B5EF4-FFF2-40B4-BE49-F238E27FC236}">
                    <a16:creationId xmlns:a16="http://schemas.microsoft.com/office/drawing/2014/main" id="{2AB119B2-8493-D80A-DC9F-CA6A7742EF9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044498" y="2735735"/>
                <a:ext cx="1146663" cy="225234"/>
              </a:xfrm>
              <a:prstGeom prst="rect">
                <a:avLst/>
              </a:prstGeom>
              <a:solidFill>
                <a:srgbClr val="002060"/>
              </a:solidFill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0000" rIns="90000" anchor="ctr"/>
              <a:lstStyle>
                <a:lvl1pPr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5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544513" indent="-185738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2pPr>
                <a:lvl3pPr marL="917575" indent="-1936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3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3pPr>
                <a:lvl4pPr marL="1373188" indent="-1809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SimSun" panose="02010600030101010101" pitchFamily="2" charset="-122"/>
                  <a:buChar char="-"/>
                  <a:defRPr kumimoji="1" sz="1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4pPr>
                <a:lvl5pPr marL="1698625" indent="-1460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5pPr>
                <a:lvl6pPr marL="21558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6pPr>
                <a:lvl7pPr marL="26130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7pPr>
                <a:lvl8pPr marL="30702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8pPr>
                <a:lvl9pPr marL="35274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9pPr>
              </a:lstStyle>
              <a:p>
                <a:pPr algn="ctr" eaLnBrk="1" latinLnBrk="0" hangingPunct="1"/>
                <a:r>
                  <a:rPr kumimoji="0" lang="en-US" altLang="ko-KR" sz="11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IT</a:t>
                </a:r>
                <a:endPara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23" name="Rectangle 15">
                <a:extLst>
                  <a:ext uri="{FF2B5EF4-FFF2-40B4-BE49-F238E27FC236}">
                    <a16:creationId xmlns:a16="http://schemas.microsoft.com/office/drawing/2014/main" id="{40691955-360F-B0D3-2B20-7500159DDEF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7348365" y="2735735"/>
                <a:ext cx="1146663" cy="225234"/>
              </a:xfrm>
              <a:prstGeom prst="rect">
                <a:avLst/>
              </a:prstGeom>
              <a:solidFill>
                <a:srgbClr val="002060"/>
              </a:solidFill>
              <a:ln w="3175" algn="ctr">
                <a:noFill/>
                <a:miter lim="800000"/>
                <a:headEnd/>
                <a:tailEnd/>
              </a:ln>
              <a:effectLst/>
            </p:spPr>
            <p:txBody>
              <a:bodyPr wrap="none" lIns="90000" rIns="90000" anchor="ctr"/>
              <a:lstStyle>
                <a:lvl1pPr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5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544513" indent="-185738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2pPr>
                <a:lvl3pPr marL="917575" indent="-1936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defRPr kumimoji="1" sz="13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defRPr>
                </a:lvl3pPr>
                <a:lvl4pPr marL="1373188" indent="-180975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SimSun" panose="02010600030101010101" pitchFamily="2" charset="-122"/>
                  <a:buChar char="-"/>
                  <a:defRPr kumimoji="1" sz="12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4pPr>
                <a:lvl5pPr marL="1698625" indent="-146050" latinLnBrk="1">
                  <a:lnSpc>
                    <a:spcPct val="104000"/>
                  </a:lnSpc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5pPr>
                <a:lvl6pPr marL="21558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6pPr>
                <a:lvl7pPr marL="26130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7pPr>
                <a:lvl8pPr marL="30702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8pPr>
                <a:lvl9pPr marL="3527425" indent="-14605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  <a:cs typeface="Arial" panose="020B0604020202020204" pitchFamily="34" charset="0"/>
                  </a:defRPr>
                </a:lvl9pPr>
              </a:lstStyle>
              <a:p>
                <a:pPr algn="ctr" eaLnBrk="1" latinLnBrk="0" hangingPunct="1"/>
                <a:r>
                  <a:rPr kumimoji="0" lang="en-US" altLang="ko-KR" sz="1100" b="1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…</a:t>
                </a:r>
                <a:endPara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99F26F9D-E571-9AD2-7361-01971F77BC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8430" y="3245167"/>
              <a:ext cx="4932537" cy="288001"/>
            </a:xfrm>
            <a:prstGeom prst="rect">
              <a:avLst/>
            </a:prstGeom>
            <a:solidFill>
              <a:srgbClr val="A6A6A6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90000" rIns="90000" anchor="ctr"/>
            <a:lstStyle>
              <a:lvl1pPr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5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544513" indent="-185738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2pPr>
              <a:lvl3pPr marL="917575" indent="-193675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3pPr>
              <a:lvl4pPr marL="1373188" indent="-180975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SimSun" panose="02010600030101010101" pitchFamily="2" charset="-122"/>
                <a:buChar char="-"/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4pPr>
              <a:lvl5pPr marL="1698625" indent="-146050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5pPr>
              <a:lvl6pPr marL="21558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6pPr>
              <a:lvl7pPr marL="26130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7pPr>
              <a:lvl8pPr marL="30702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8pPr>
              <a:lvl9pPr marL="35274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9pPr>
            </a:lstStyle>
            <a:p>
              <a:pPr algn="ctr" eaLnBrk="1" latinLnBrk="0" hangingPunct="1"/>
              <a:r>
                <a: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총괄</a:t>
              </a:r>
            </a:p>
          </p:txBody>
        </p:sp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944174B5-C26F-D8FB-E7F3-C6598B2713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8430" y="3716203"/>
              <a:ext cx="4932537" cy="288001"/>
            </a:xfrm>
            <a:prstGeom prst="rect">
              <a:avLst/>
            </a:prstGeom>
            <a:solidFill>
              <a:srgbClr val="A6A6A6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90000" rIns="90000" anchor="ctr"/>
            <a:lstStyle>
              <a:lvl1pPr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5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544513" indent="-185738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2pPr>
              <a:lvl3pPr marL="917575" indent="-193675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3pPr>
              <a:lvl4pPr marL="1373188" indent="-180975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SimSun" panose="02010600030101010101" pitchFamily="2" charset="-122"/>
                <a:buChar char="-"/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4pPr>
              <a:lvl5pPr marL="1698625" indent="-146050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5pPr>
              <a:lvl6pPr marL="21558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6pPr>
              <a:lvl7pPr marL="26130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7pPr>
              <a:lvl8pPr marL="30702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8pPr>
              <a:lvl9pPr marL="35274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9pPr>
            </a:lstStyle>
            <a:p>
              <a:pPr algn="ctr" eaLnBrk="1" latinLnBrk="0" hangingPunct="1"/>
              <a:r>
                <a: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기획</a:t>
              </a:r>
            </a:p>
          </p:txBody>
        </p:sp>
        <p:sp>
          <p:nvSpPr>
            <p:cNvPr id="11" name="Rectangle 15">
              <a:extLst>
                <a:ext uri="{FF2B5EF4-FFF2-40B4-BE49-F238E27FC236}">
                  <a16:creationId xmlns:a16="http://schemas.microsoft.com/office/drawing/2014/main" id="{CE107EFC-3D90-E441-DB0C-46FC9B93436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8430" y="4187239"/>
              <a:ext cx="4932537" cy="288001"/>
            </a:xfrm>
            <a:prstGeom prst="rect">
              <a:avLst/>
            </a:prstGeom>
            <a:solidFill>
              <a:srgbClr val="A6A6A6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90000" rIns="90000" anchor="ctr"/>
            <a:lstStyle>
              <a:lvl1pPr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5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544513" indent="-185738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2pPr>
              <a:lvl3pPr marL="917575" indent="-193675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3pPr>
              <a:lvl4pPr marL="1373188" indent="-180975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SimSun" panose="02010600030101010101" pitchFamily="2" charset="-122"/>
                <a:buChar char="-"/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4pPr>
              <a:lvl5pPr marL="1698625" indent="-146050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5pPr>
              <a:lvl6pPr marL="21558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6pPr>
              <a:lvl7pPr marL="26130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7pPr>
              <a:lvl8pPr marL="30702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8pPr>
              <a:lvl9pPr marL="35274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9pPr>
            </a:lstStyle>
            <a:p>
              <a:pPr algn="ctr" eaLnBrk="1" latinLnBrk="0" hangingPunct="1"/>
              <a:r>
                <a: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문제해결</a:t>
              </a:r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B1B9DB11-0F06-7498-E3AB-E9548E9E271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8430" y="4658275"/>
              <a:ext cx="4932537" cy="288001"/>
            </a:xfrm>
            <a:prstGeom prst="rect">
              <a:avLst/>
            </a:prstGeom>
            <a:solidFill>
              <a:srgbClr val="A6A6A6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90000" rIns="90000" anchor="ctr"/>
            <a:lstStyle>
              <a:lvl1pPr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5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544513" indent="-185738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2pPr>
              <a:lvl3pPr marL="917575" indent="-193675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3pPr>
              <a:lvl4pPr marL="1373188" indent="-180975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SimSun" panose="02010600030101010101" pitchFamily="2" charset="-122"/>
                <a:buChar char="-"/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4pPr>
              <a:lvl5pPr marL="1698625" indent="-146050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5pPr>
              <a:lvl6pPr marL="21558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6pPr>
              <a:lvl7pPr marL="26130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7pPr>
              <a:lvl8pPr marL="30702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8pPr>
              <a:lvl9pPr marL="35274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9pPr>
            </a:lstStyle>
            <a:p>
              <a:pPr algn="ctr" eaLnBrk="1" latinLnBrk="0" hangingPunct="1"/>
              <a:r>
                <a: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운영</a:t>
              </a:r>
              <a:r>
                <a:rPr kumimoji="0" lang="en-US" altLang="ko-KR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실무</a:t>
              </a:r>
              <a:r>
                <a:rPr kumimoji="0" lang="en-US" altLang="ko-KR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kumimoji="0" lang="ko-KR" altLang="en-US" sz="11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23297145-25C7-CEE8-E9A2-A4C1514D057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08430" y="5129311"/>
              <a:ext cx="4932537" cy="288001"/>
            </a:xfrm>
            <a:prstGeom prst="rect">
              <a:avLst/>
            </a:prstGeom>
            <a:solidFill>
              <a:srgbClr val="A6A6A6"/>
            </a:solidFill>
            <a:ln w="3175" algn="ctr">
              <a:noFill/>
              <a:miter lim="800000"/>
              <a:headEnd/>
              <a:tailEnd/>
            </a:ln>
            <a:effectLst/>
          </p:spPr>
          <p:txBody>
            <a:bodyPr wrap="none" lIns="90000" rIns="90000" anchor="ctr"/>
            <a:lstStyle>
              <a:lvl1pPr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5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544513" indent="-185738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2pPr>
              <a:lvl3pPr marL="917575" indent="-193675" latinLnBrk="1">
                <a:lnSpc>
                  <a:spcPct val="104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defRPr kumimoji="1" sz="13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defRPr>
              </a:lvl3pPr>
              <a:lvl4pPr marL="1373188" indent="-180975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SimSun" panose="02010600030101010101" pitchFamily="2" charset="-122"/>
                <a:buChar char="-"/>
                <a:defRPr kumimoji="1" sz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4pPr>
              <a:lvl5pPr marL="1698625" indent="-146050" latinLnBrk="1">
                <a:lnSpc>
                  <a:spcPct val="104000"/>
                </a:lnSpc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5pPr>
              <a:lvl6pPr marL="21558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6pPr>
              <a:lvl7pPr marL="26130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7pPr>
              <a:lvl8pPr marL="30702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8pPr>
              <a:lvl9pPr marL="3527425" indent="-14605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Arial" panose="020B0604020202020204" pitchFamily="34" charset="0"/>
                </a:defRPr>
              </a:lvl9pPr>
            </a:lstStyle>
            <a:p>
              <a:pPr algn="ctr" eaLnBrk="1" latinLnBrk="0" hangingPunct="1"/>
              <a:r>
                <a:rPr kumimoji="0" lang="ko-KR" altLang="en-US" sz="1100" b="1" dirty="0">
                  <a:solidFill>
                    <a:schemeClr val="bg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지원</a:t>
              </a: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A33C60EF-8D31-52B9-D690-A367F924CA08}"/>
                </a:ext>
              </a:extLst>
            </p:cNvPr>
            <p:cNvCxnSpPr>
              <a:cxnSpLocks/>
            </p:cNvCxnSpPr>
            <p:nvPr/>
          </p:nvCxnSpPr>
          <p:spPr>
            <a:xfrm>
              <a:off x="965200" y="2394585"/>
              <a:ext cx="0" cy="3510280"/>
            </a:xfrm>
            <a:prstGeom prst="straightConnector1">
              <a:avLst/>
            </a:prstGeom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68689A2C-19CB-F074-34E0-91DAD886458E}"/>
                </a:ext>
              </a:extLst>
            </p:cNvPr>
            <p:cNvCxnSpPr>
              <a:cxnSpLocks/>
            </p:cNvCxnSpPr>
            <p:nvPr/>
          </p:nvCxnSpPr>
          <p:spPr>
            <a:xfrm>
              <a:off x="965200" y="2394585"/>
              <a:ext cx="5344549" cy="0"/>
            </a:xfrm>
            <a:prstGeom prst="straightConnector1">
              <a:avLst/>
            </a:prstGeom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2BCAE04A-F38A-A8FE-D039-06CE3FF7D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522" y="2047521"/>
              <a:ext cx="343235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>
              <a:lvl1pPr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ko-KR" altLang="en-US" sz="110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수평적</a:t>
              </a:r>
              <a:r>
                <a:rPr lang="ko-KR" altLang="en-US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직무분류 </a:t>
              </a:r>
              <a:r>
                <a:rPr lang="en-US" altLang="ko-KR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: </a:t>
              </a:r>
              <a:r>
                <a:rPr lang="ko-KR" altLang="en-US" sz="110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업무 특성</a:t>
              </a:r>
              <a:r>
                <a:rPr lang="en-US" altLang="ko-KR" sz="110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</a:t>
              </a:r>
              <a:r>
                <a:rPr lang="ko-KR" altLang="en-US" sz="110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범위 유사성 </a:t>
              </a:r>
              <a:r>
                <a:rPr lang="en-US" altLang="ko-KR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=</a:t>
              </a:r>
              <a:r>
                <a:rPr lang="ko-KR" altLang="en-US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부서</a:t>
              </a:r>
              <a:r>
                <a:rPr lang="en-US" altLang="ko-KR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ko-KR" altLang="en-US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팀</a:t>
              </a:r>
              <a:r>
                <a:rPr lang="en-US" altLang="ko-KR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</a:t>
              </a:r>
              <a:r>
                <a:rPr lang="ko-KR" altLang="en-US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기준</a:t>
              </a:r>
            </a:p>
          </p:txBody>
        </p:sp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73F22F40-B7FD-D024-0105-7D259E551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920112" y="4578434"/>
              <a:ext cx="3143810" cy="261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>
              <a:lvl1pPr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algn="ctr" fontAlgn="ctr">
                <a:spcBef>
                  <a:spcPct val="50000"/>
                </a:spcBef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kumimoji="1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ko-KR" altLang="en-US" sz="110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수직적</a:t>
              </a:r>
              <a:r>
                <a:rPr lang="ko-KR" altLang="en-US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직무분류 </a:t>
              </a:r>
              <a:r>
                <a:rPr lang="en-US" altLang="ko-KR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:</a:t>
              </a:r>
              <a:r>
                <a:rPr lang="ko-KR" altLang="en-US" sz="110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역할</a:t>
              </a:r>
              <a:r>
                <a:rPr lang="en-US" altLang="ko-KR" sz="110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</a:t>
              </a:r>
              <a:r>
                <a:rPr lang="ko-KR" altLang="en-US" sz="1100" b="1" dirty="0">
                  <a:solidFill>
                    <a:srgbClr val="A5002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책임 수준 유사성 </a:t>
              </a:r>
              <a:r>
                <a:rPr lang="en-US" altLang="ko-KR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= </a:t>
              </a:r>
              <a:r>
                <a:rPr lang="ko-KR" altLang="en-US" sz="11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직급기준</a:t>
              </a:r>
            </a:p>
          </p:txBody>
        </p:sp>
      </p:grpSp>
      <p:pic>
        <p:nvPicPr>
          <p:cNvPr id="24" name="그래픽 23" descr="갈매기형 화살표 단색으로 채워진">
            <a:extLst>
              <a:ext uri="{FF2B5EF4-FFF2-40B4-BE49-F238E27FC236}">
                <a16:creationId xmlns:a16="http://schemas.microsoft.com/office/drawing/2014/main" id="{431AFA20-D1AA-2AA2-0499-7F479D635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3376951" y="3536909"/>
            <a:ext cx="317746" cy="2092117"/>
          </a:xfrm>
          <a:prstGeom prst="rect">
            <a:avLst/>
          </a:prstGeom>
        </p:spPr>
      </p:pic>
      <p:sp>
        <p:nvSpPr>
          <p:cNvPr id="25" name="Rectangle 15">
            <a:extLst>
              <a:ext uri="{FF2B5EF4-FFF2-40B4-BE49-F238E27FC236}">
                <a16:creationId xmlns:a16="http://schemas.microsoft.com/office/drawing/2014/main" id="{672A13E7-12EE-DA26-F7EA-0C75E7B615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2447" y="2284719"/>
            <a:ext cx="2880358" cy="40373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wrap="none" lIns="90000" rIns="90000" anchor="ctr"/>
          <a:lstStyle>
            <a:lvl1pPr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5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4513" indent="-185738"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917575" indent="-193675"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 marL="1373188" indent="-180975" latinLnBrk="1">
              <a:lnSpc>
                <a:spcPct val="104000"/>
              </a:lnSpc>
              <a:spcBef>
                <a:spcPct val="20000"/>
              </a:spcBef>
              <a:buClr>
                <a:schemeClr val="accent1"/>
              </a:buClr>
              <a:buFont typeface="SimSun" panose="02010600030101010101" pitchFamily="2" charset="-122"/>
              <a:buChar char="-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698625" indent="-146050" latinLnBrk="1">
              <a:lnSpc>
                <a:spcPct val="104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558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6130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0702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5274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ctr" eaLnBrk="1" latinLnBrk="0" hangingPunct="1"/>
            <a:r>
              <a:rPr kumimoji="0"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① 수평적 분류</a:t>
            </a: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3CF1C514-0209-F706-6372-A61AA5AC8E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2447" y="3958162"/>
            <a:ext cx="2880358" cy="40373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wrap="none" lIns="90000" rIns="90000" anchor="ctr"/>
          <a:lstStyle>
            <a:lvl1pPr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5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4513" indent="-185738"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917575" indent="-193675"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 marL="1373188" indent="-180975" latinLnBrk="1">
              <a:lnSpc>
                <a:spcPct val="104000"/>
              </a:lnSpc>
              <a:spcBef>
                <a:spcPct val="20000"/>
              </a:spcBef>
              <a:buClr>
                <a:schemeClr val="accent1"/>
              </a:buClr>
              <a:buFont typeface="SimSun" panose="02010600030101010101" pitchFamily="2" charset="-122"/>
              <a:buChar char="-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698625" indent="-146050" latinLnBrk="1">
              <a:lnSpc>
                <a:spcPct val="104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558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6130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0702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5274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ctr" eaLnBrk="1" latinLnBrk="0" hangingPunct="1"/>
            <a:r>
              <a:rPr kumimoji="0"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② 수직적 분류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1D893C-B05F-DCA3-84E4-487293D20810}"/>
              </a:ext>
            </a:extLst>
          </p:cNvPr>
          <p:cNvSpPr txBox="1"/>
          <p:nvPr/>
        </p:nvSpPr>
        <p:spPr>
          <a:xfrm>
            <a:off x="6602447" y="2713325"/>
            <a:ext cx="2880358" cy="1120287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noAutofit/>
          </a:bodyPr>
          <a:lstStyle/>
          <a:p>
            <a:pPr marL="138113" marR="0" lvl="0" indent="-1381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>
                <a:tab pos="1028700" algn="l"/>
              </a:tabLst>
            </a:pPr>
            <a:r>
              <a:rPr kumimoji="0" lang="ko-KR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ea"/>
                <a:ea typeface="+mj-ea"/>
              </a:rPr>
              <a:t>조직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ea"/>
                <a:ea typeface="+mj-ea"/>
              </a:rPr>
              <a:t>/</a:t>
            </a:r>
            <a:r>
              <a:rPr kumimoji="0" lang="ko-KR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ea"/>
                <a:ea typeface="+mj-ea"/>
              </a:rPr>
              <a:t>기능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ea"/>
                <a:ea typeface="+mj-ea"/>
              </a:rPr>
              <a:t>/</a:t>
            </a:r>
            <a:r>
              <a:rPr kumimoji="0" lang="ko-KR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ea"/>
                <a:ea typeface="+mj-ea"/>
              </a:rPr>
              <a:t>업무영역에 따른 </a:t>
            </a: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표준체계 도출</a:t>
            </a:r>
            <a:endParaRPr kumimoji="1" lang="en-US" altLang="ko-KR" sz="1100" b="1" dirty="0">
              <a:solidFill>
                <a:srgbClr val="A5002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38113" marR="0" lvl="0" indent="-1381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>
                <a:tab pos="1028700" algn="l"/>
              </a:tabLst>
            </a:pP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채용</a:t>
            </a:r>
            <a:r>
              <a:rPr kumimoji="1" lang="en-US" altLang="ko-KR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역량평가</a:t>
            </a:r>
            <a:r>
              <a:rPr kumimoji="1" lang="en-US" altLang="ko-KR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경력개발</a:t>
            </a:r>
            <a:r>
              <a:rPr kumimoji="1" lang="en-US" altLang="ko-KR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교육훈련</a:t>
            </a:r>
            <a: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</a:rPr>
              <a:t> 등 제반 </a:t>
            </a: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인사제도 운영의 기준</a:t>
            </a:r>
            <a: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</a:rPr>
              <a:t>으로서 활용</a:t>
            </a:r>
            <a:endParaRPr lang="en-US" altLang="ko-KR" sz="1050" dirty="0">
              <a:solidFill>
                <a:srgbClr val="000000"/>
              </a:solidFill>
              <a:latin typeface="+mj-ea"/>
              <a:ea typeface="+mj-ea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tabLst>
                <a:tab pos="1028700" algn="l"/>
              </a:tabLst>
            </a:pPr>
            <a:r>
              <a:rPr lang="en-US" altLang="ko-KR" sz="1050" dirty="0">
                <a:solidFill>
                  <a:srgbClr val="000000"/>
                </a:solidFill>
                <a:latin typeface="+mj-ea"/>
                <a:ea typeface="+mj-ea"/>
              </a:rPr>
              <a:t> - </a:t>
            </a:r>
            <a: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</a:rPr>
              <a:t>직무관리 유용성을 고려한 직무변동 최소화 필요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2B0C2A-7F94-6EBB-E8DA-D71B2C44C07C}"/>
              </a:ext>
            </a:extLst>
          </p:cNvPr>
          <p:cNvSpPr txBox="1"/>
          <p:nvPr/>
        </p:nvSpPr>
        <p:spPr>
          <a:xfrm>
            <a:off x="6602447" y="4390692"/>
            <a:ext cx="2880358" cy="643038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noAutofit/>
          </a:bodyPr>
          <a:lstStyle/>
          <a:p>
            <a:pPr marL="138113" marR="0" lvl="0" indent="-1381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>
                <a:tab pos="1028700" algn="l"/>
              </a:tabLst>
            </a:pP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역할 및 책임 범위에 따른 직무세분화</a:t>
            </a:r>
            <a:endParaRPr kumimoji="1" lang="en-US" altLang="ko-KR" sz="1100" b="1" dirty="0">
              <a:solidFill>
                <a:srgbClr val="A5002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38113" marR="0" lvl="0" indent="-1381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>
                <a:tab pos="1028700" algn="l"/>
              </a:tabLst>
            </a:pP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직무 및 역할 기반의 보상 차등 기준</a:t>
            </a:r>
            <a: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</a:rPr>
              <a:t>으로 활용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0520C75-1842-45AD-A780-30BDEC3737BF}"/>
              </a:ext>
            </a:extLst>
          </p:cNvPr>
          <p:cNvSpPr/>
          <p:nvPr/>
        </p:nvSpPr>
        <p:spPr>
          <a:xfrm>
            <a:off x="1014446" y="2453195"/>
            <a:ext cx="4947920" cy="42016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857F2A3-A7C1-BC67-8387-0F7287A26D3D}"/>
              </a:ext>
            </a:extLst>
          </p:cNvPr>
          <p:cNvSpPr/>
          <p:nvPr/>
        </p:nvSpPr>
        <p:spPr>
          <a:xfrm>
            <a:off x="1014446" y="2923182"/>
            <a:ext cx="4947920" cy="1427082"/>
          </a:xfrm>
          <a:prstGeom prst="roundRect">
            <a:avLst>
              <a:gd name="adj" fmla="val 5289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8B38DA12-EBCA-EA68-5283-98E96ED6EC47}"/>
              </a:ext>
            </a:extLst>
          </p:cNvPr>
          <p:cNvCxnSpPr>
            <a:cxnSpLocks/>
            <a:stCxn id="29" idx="3"/>
            <a:endCxn id="25" idx="1"/>
          </p:cNvCxnSpPr>
          <p:nvPr/>
        </p:nvCxnSpPr>
        <p:spPr>
          <a:xfrm flipV="1">
            <a:off x="5962366" y="2486585"/>
            <a:ext cx="640081" cy="176693"/>
          </a:xfrm>
          <a:prstGeom prst="bentConnector3">
            <a:avLst/>
          </a:pr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108BE9DA-D062-E1EF-8D50-BF44BEC7280B}"/>
              </a:ext>
            </a:extLst>
          </p:cNvPr>
          <p:cNvCxnSpPr>
            <a:cxnSpLocks/>
            <a:stCxn id="30" idx="3"/>
            <a:endCxn id="26" idx="1"/>
          </p:cNvCxnSpPr>
          <p:nvPr/>
        </p:nvCxnSpPr>
        <p:spPr>
          <a:xfrm>
            <a:off x="5962366" y="3636723"/>
            <a:ext cx="640081" cy="523306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Rectangle 15">
            <a:extLst>
              <a:ext uri="{FF2B5EF4-FFF2-40B4-BE49-F238E27FC236}">
                <a16:creationId xmlns:a16="http://schemas.microsoft.com/office/drawing/2014/main" id="{5CBDF42E-1F00-E97B-9881-3225DB9F62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2447" y="5166107"/>
            <a:ext cx="2880358" cy="40373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2">
                <a:lumMod val="90000"/>
              </a:schemeClr>
            </a:solidFill>
            <a:miter lim="800000"/>
            <a:headEnd/>
            <a:tailEnd/>
          </a:ln>
          <a:effectLst/>
        </p:spPr>
        <p:txBody>
          <a:bodyPr wrap="none" lIns="90000" rIns="90000" anchor="ctr"/>
          <a:lstStyle>
            <a:lvl1pPr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5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4513" indent="-185738"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917575" indent="-193675" latinLnBrk="1">
              <a:lnSpc>
                <a:spcPct val="104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kumimoji="1" sz="13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 marL="1373188" indent="-180975" latinLnBrk="1">
              <a:lnSpc>
                <a:spcPct val="104000"/>
              </a:lnSpc>
              <a:spcBef>
                <a:spcPct val="20000"/>
              </a:spcBef>
              <a:buClr>
                <a:schemeClr val="accent1"/>
              </a:buClr>
              <a:buFont typeface="SimSun" panose="02010600030101010101" pitchFamily="2" charset="-122"/>
              <a:buChar char="-"/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698625" indent="-146050" latinLnBrk="1">
              <a:lnSpc>
                <a:spcPct val="104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558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6130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0702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527425" indent="-14605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ctr" eaLnBrk="1" latinLnBrk="0" hangingPunct="1"/>
            <a:r>
              <a:rPr kumimoji="0"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③ 고유 직무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3A2D59-379B-416B-D242-0D1BB1F6CEF8}"/>
              </a:ext>
            </a:extLst>
          </p:cNvPr>
          <p:cNvSpPr txBox="1"/>
          <p:nvPr/>
        </p:nvSpPr>
        <p:spPr>
          <a:xfrm>
            <a:off x="6602447" y="5598637"/>
            <a:ext cx="2880358" cy="643038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noAutofit/>
          </a:bodyPr>
          <a:lstStyle/>
          <a:p>
            <a:pPr marL="138113" marR="0" lvl="0" indent="-1381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>
                <a:tab pos="1028700" algn="l"/>
              </a:tabLst>
            </a:pP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수평적 </a:t>
            </a:r>
            <a:r>
              <a:rPr kumimoji="1" lang="en-US" altLang="ko-KR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 </a:t>
            </a: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수직적</a:t>
            </a:r>
            <a:endParaRPr kumimoji="1" lang="en-US" altLang="ko-KR" sz="1100" b="1" dirty="0">
              <a:solidFill>
                <a:srgbClr val="A5002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38113" marR="0" lvl="0" indent="-138113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§"/>
              <a:tabLst>
                <a:tab pos="1028700" algn="l"/>
              </a:tabLst>
            </a:pPr>
            <a:r>
              <a:rPr kumimoji="1" lang="ko-KR" altLang="en-US" sz="1100" b="1" dirty="0">
                <a:solidFill>
                  <a:srgbClr val="A5002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인사관리 대상 고유 직무</a:t>
            </a:r>
            <a:endParaRPr kumimoji="1" lang="en-US" altLang="ko-KR" sz="1100" b="1" dirty="0">
              <a:solidFill>
                <a:srgbClr val="A5002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A7D6627B-66BC-7030-58B7-6D9FB46CD4A4}"/>
              </a:ext>
            </a:extLst>
          </p:cNvPr>
          <p:cNvCxnSpPr>
            <a:cxnSpLocks/>
            <a:stCxn id="3" idx="3"/>
            <a:endCxn id="33" idx="1"/>
          </p:cNvCxnSpPr>
          <p:nvPr/>
        </p:nvCxnSpPr>
        <p:spPr>
          <a:xfrm flipV="1">
            <a:off x="5906835" y="5367974"/>
            <a:ext cx="695612" cy="172388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171A1D4-8636-A400-671A-E891D11003EF}"/>
              </a:ext>
            </a:extLst>
          </p:cNvPr>
          <p:cNvSpPr/>
          <p:nvPr/>
        </p:nvSpPr>
        <p:spPr>
          <a:xfrm>
            <a:off x="2240280" y="5083426"/>
            <a:ext cx="3666555" cy="1181431"/>
          </a:xfrm>
          <a:prstGeom prst="roundRect">
            <a:avLst>
              <a:gd name="adj" fmla="val 5289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7340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6B67-AE47-4CA4-5363-2C2745B4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FFB1A17-1BEB-A30E-8609-0243DA8C23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현재 조직 구조를 기준으로 직무를 분류하여 각 </a:t>
            </a:r>
            <a:r>
              <a:rPr lang="ko-KR" altLang="en-US" dirty="0" err="1"/>
              <a:t>직군과</a:t>
            </a:r>
            <a:r>
              <a:rPr lang="ko-KR" altLang="en-US" dirty="0"/>
              <a:t> 직렬별 고유직무를 도출하고</a:t>
            </a:r>
            <a:r>
              <a:rPr lang="en-US" altLang="ko-KR" dirty="0"/>
              <a:t>, </a:t>
            </a:r>
            <a:r>
              <a:rPr lang="ko-KR" altLang="en-US" dirty="0"/>
              <a:t>현행 조직구조와 연계성을 유지하면서 직무 분류체계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r>
              <a:rPr lang="ko-KR" altLang="en-US" dirty="0"/>
              <a:t>을 설계하였음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042B036-F1F9-F59C-2600-1CF235D7C3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04715-2994-935A-4BC8-8F799C5300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39CAFED-6A37-1C83-F5FD-65FBF66FA9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858BAF28-8746-DFF0-AF56-3CA6162FFC48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A5E038FC-0BCD-8DD8-C5A0-8FD196A1E631}"/>
                </a:ext>
              </a:extLst>
            </p:cNvPr>
            <p:cNvSpPr/>
            <p:nvPr userDrawn="1"/>
          </p:nvSpPr>
          <p:spPr>
            <a:xfrm>
              <a:off x="2276870" y="1626519"/>
              <a:ext cx="2422240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직무분류체계 </a:t>
              </a:r>
              <a:r>
                <a:rPr lang="ko-KR" altLang="en-US" sz="1400" dirty="0" err="1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설계안</a:t>
              </a: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_1</a:t>
              </a: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안</a:t>
              </a: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) </a:t>
              </a: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조직 구조 기반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07A35D4E-C7C3-90BE-2049-10E9AAFB2926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404A0977-7ACB-CF03-042B-246CC197161B}"/>
              </a:ext>
            </a:extLst>
          </p:cNvPr>
          <p:cNvGrpSpPr/>
          <p:nvPr/>
        </p:nvGrpSpPr>
        <p:grpSpPr>
          <a:xfrm>
            <a:off x="273050" y="2060577"/>
            <a:ext cx="9359899" cy="4068759"/>
            <a:chOff x="414131" y="1628779"/>
            <a:chExt cx="9002919" cy="4500557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F9790E17-CABA-1C66-F500-6687BB17F203}"/>
                </a:ext>
              </a:extLst>
            </p:cNvPr>
            <p:cNvSpPr/>
            <p:nvPr/>
          </p:nvSpPr>
          <p:spPr>
            <a:xfrm>
              <a:off x="414131" y="1628779"/>
              <a:ext cx="653222" cy="436834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직군</a:t>
              </a: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22E629ED-33EE-B5A4-BB9D-081287B33FE4}"/>
                </a:ext>
              </a:extLst>
            </p:cNvPr>
            <p:cNvSpPr/>
            <p:nvPr/>
          </p:nvSpPr>
          <p:spPr>
            <a:xfrm>
              <a:off x="1194995" y="1634154"/>
              <a:ext cx="1407841" cy="42792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경영관리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5B9740AB-6808-1C82-E923-C60246831657}"/>
                </a:ext>
              </a:extLst>
            </p:cNvPr>
            <p:cNvSpPr/>
            <p:nvPr/>
          </p:nvSpPr>
          <p:spPr>
            <a:xfrm>
              <a:off x="2691692" y="1634155"/>
              <a:ext cx="3304567" cy="42792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설계</a:t>
              </a: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BEC3B089-E94A-C029-D6F5-C966707D1985}"/>
                </a:ext>
              </a:extLst>
            </p:cNvPr>
            <p:cNvSpPr/>
            <p:nvPr/>
          </p:nvSpPr>
          <p:spPr>
            <a:xfrm>
              <a:off x="6085115" y="1634154"/>
              <a:ext cx="3331935" cy="42792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영업</a:t>
              </a: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5723926E-AB87-AAC9-602B-A97FB72A3FD9}"/>
                </a:ext>
              </a:extLst>
            </p:cNvPr>
            <p:cNvSpPr/>
            <p:nvPr/>
          </p:nvSpPr>
          <p:spPr>
            <a:xfrm>
              <a:off x="422757" y="2210494"/>
              <a:ext cx="653222" cy="436834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직렬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AC99A260-18A2-3C54-31D3-3E04708385BE}"/>
                </a:ext>
              </a:extLst>
            </p:cNvPr>
            <p:cNvSpPr/>
            <p:nvPr/>
          </p:nvSpPr>
          <p:spPr>
            <a:xfrm>
              <a:off x="1194995" y="2219407"/>
              <a:ext cx="1407841" cy="42792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경영전략기획</a:t>
              </a: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15219210-E10D-1669-8091-6C1E2F9CCE46}"/>
                </a:ext>
              </a:extLst>
            </p:cNvPr>
            <p:cNvSpPr/>
            <p:nvPr/>
          </p:nvSpPr>
          <p:spPr>
            <a:xfrm>
              <a:off x="2691692" y="2219408"/>
              <a:ext cx="1046866" cy="42792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컨설팅</a:t>
              </a: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F4514026-B1A0-870E-2650-EF1D021419BE}"/>
                </a:ext>
              </a:extLst>
            </p:cNvPr>
            <p:cNvSpPr/>
            <p:nvPr/>
          </p:nvSpPr>
          <p:spPr>
            <a:xfrm>
              <a:off x="4949393" y="2210494"/>
              <a:ext cx="1046866" cy="42792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연구개발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(R&amp;D)</a:t>
              </a: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17785A9E-B040-2072-56F1-CD59717B8E7F}"/>
                </a:ext>
              </a:extLst>
            </p:cNvPr>
            <p:cNvSpPr/>
            <p:nvPr/>
          </p:nvSpPr>
          <p:spPr>
            <a:xfrm>
              <a:off x="3827413" y="2210494"/>
              <a:ext cx="1046866" cy="42792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24E35866-7B6C-CD2E-DF09-6C1EF0F35751}"/>
                </a:ext>
              </a:extLst>
            </p:cNvPr>
            <p:cNvSpPr/>
            <p:nvPr/>
          </p:nvSpPr>
          <p:spPr>
            <a:xfrm>
              <a:off x="6085115" y="2219407"/>
              <a:ext cx="1046865" cy="42792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</a:t>
              </a: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CA7FDFD5-647F-4046-148E-753C43ED0798}"/>
                </a:ext>
              </a:extLst>
            </p:cNvPr>
            <p:cNvSpPr/>
            <p:nvPr/>
          </p:nvSpPr>
          <p:spPr>
            <a:xfrm>
              <a:off x="7220836" y="2219407"/>
              <a:ext cx="2196214" cy="42792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B2DA78F-F479-CA9F-87F1-629958941E26}"/>
                </a:ext>
              </a:extLst>
            </p:cNvPr>
            <p:cNvSpPr/>
            <p:nvPr/>
          </p:nvSpPr>
          <p:spPr>
            <a:xfrm>
              <a:off x="418171" y="2803734"/>
              <a:ext cx="653221" cy="1880413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고유직무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65D17E91-649C-1DE0-0A1F-DFD5182297CD}"/>
                </a:ext>
              </a:extLst>
            </p:cNvPr>
            <p:cNvSpPr/>
            <p:nvPr/>
          </p:nvSpPr>
          <p:spPr>
            <a:xfrm>
              <a:off x="1194995" y="2803734"/>
              <a:ext cx="1407841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경영전략기획 총괄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1164F97A-C76C-8EBE-4508-9DC39AE743CC}"/>
                </a:ext>
              </a:extLst>
            </p:cNvPr>
            <p:cNvSpPr/>
            <p:nvPr/>
          </p:nvSpPr>
          <p:spPr>
            <a:xfrm>
              <a:off x="1194995" y="3467297"/>
              <a:ext cx="1407841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경영전략기획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1B24ED3E-83B5-121A-BA89-4ECEADA04061}"/>
                </a:ext>
              </a:extLst>
            </p:cNvPr>
            <p:cNvSpPr/>
            <p:nvPr/>
          </p:nvSpPr>
          <p:spPr>
            <a:xfrm>
              <a:off x="1194995" y="4130859"/>
              <a:ext cx="1407841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경영전략기획 실무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CF674D77-1295-48C5-8645-9F73B2B9CA0E}"/>
                </a:ext>
              </a:extLst>
            </p:cNvPr>
            <p:cNvSpPr/>
            <p:nvPr/>
          </p:nvSpPr>
          <p:spPr>
            <a:xfrm>
              <a:off x="2691692" y="2803735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컨설팅 총괄</a:t>
              </a: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68408179-1672-7650-14A1-7EA0C8BC6DF7}"/>
                </a:ext>
              </a:extLst>
            </p:cNvPr>
            <p:cNvSpPr/>
            <p:nvPr/>
          </p:nvSpPr>
          <p:spPr>
            <a:xfrm>
              <a:off x="2691692" y="3467298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컨설팅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5B2CBBA8-D272-24E7-B86C-CAE02986421D}"/>
                </a:ext>
              </a:extLst>
            </p:cNvPr>
            <p:cNvSpPr/>
            <p:nvPr/>
          </p:nvSpPr>
          <p:spPr>
            <a:xfrm>
              <a:off x="2691692" y="4130861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컨설팅 실무</a:t>
              </a: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21353D28-0D5B-1621-6DAB-79C1476E2FF7}"/>
                </a:ext>
              </a:extLst>
            </p:cNvPr>
            <p:cNvSpPr/>
            <p:nvPr/>
          </p:nvSpPr>
          <p:spPr>
            <a:xfrm>
              <a:off x="4949393" y="2792211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R&amp;D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총괄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F51736F3-314E-4E3A-8C54-8F3D6D318576}"/>
                </a:ext>
              </a:extLst>
            </p:cNvPr>
            <p:cNvSpPr/>
            <p:nvPr/>
          </p:nvSpPr>
          <p:spPr>
            <a:xfrm>
              <a:off x="4949393" y="3455773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R&amp;D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6B99B2FA-EC0C-3D75-1AF1-7F8E01FBA23E}"/>
                </a:ext>
              </a:extLst>
            </p:cNvPr>
            <p:cNvSpPr/>
            <p:nvPr/>
          </p:nvSpPr>
          <p:spPr>
            <a:xfrm>
              <a:off x="4949393" y="4119336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R&amp;D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실무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E219748E-1DD7-D0B4-5475-9D67B3AC0E0D}"/>
                </a:ext>
              </a:extLst>
            </p:cNvPr>
            <p:cNvSpPr/>
            <p:nvPr/>
          </p:nvSpPr>
          <p:spPr>
            <a:xfrm>
              <a:off x="3827413" y="2792211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총괄</a:t>
              </a: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A076B19D-8B2E-909A-23CB-C4096648A087}"/>
                </a:ext>
              </a:extLst>
            </p:cNvPr>
            <p:cNvSpPr/>
            <p:nvPr/>
          </p:nvSpPr>
          <p:spPr>
            <a:xfrm>
              <a:off x="3827413" y="3455773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C644D4E-03BE-39A7-CC7D-A7654CBAF17E}"/>
                </a:ext>
              </a:extLst>
            </p:cNvPr>
            <p:cNvSpPr/>
            <p:nvPr/>
          </p:nvSpPr>
          <p:spPr>
            <a:xfrm>
              <a:off x="3827413" y="4119336"/>
              <a:ext cx="1046866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실무</a:t>
              </a: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056DF37E-8068-9604-39DF-7F97DA9E1781}"/>
                </a:ext>
              </a:extLst>
            </p:cNvPr>
            <p:cNvSpPr/>
            <p:nvPr/>
          </p:nvSpPr>
          <p:spPr>
            <a:xfrm>
              <a:off x="6085115" y="2803734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 총괄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34C5F405-132F-2A31-CD6A-7CCB2C9F351C}"/>
                </a:ext>
              </a:extLst>
            </p:cNvPr>
            <p:cNvSpPr/>
            <p:nvPr/>
          </p:nvSpPr>
          <p:spPr>
            <a:xfrm>
              <a:off x="6085115" y="3467297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530716B0-B884-30EF-C592-06782518CE36}"/>
                </a:ext>
              </a:extLst>
            </p:cNvPr>
            <p:cNvSpPr/>
            <p:nvPr/>
          </p:nvSpPr>
          <p:spPr>
            <a:xfrm>
              <a:off x="6085115" y="4130859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 실무</a:t>
              </a: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C32CDEF7-05DC-07D9-C4F6-9D1B092F879E}"/>
                </a:ext>
              </a:extLst>
            </p:cNvPr>
            <p:cNvSpPr/>
            <p:nvPr/>
          </p:nvSpPr>
          <p:spPr>
            <a:xfrm>
              <a:off x="7220836" y="2803734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 총괄</a:t>
              </a: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31EA950B-D905-149D-3DCD-AEC9DCE627A4}"/>
                </a:ext>
              </a:extLst>
            </p:cNvPr>
            <p:cNvSpPr/>
            <p:nvPr/>
          </p:nvSpPr>
          <p:spPr>
            <a:xfrm>
              <a:off x="7220836" y="3467297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475A0263-F7DF-5502-1C69-FEC7D0BB9027}"/>
                </a:ext>
              </a:extLst>
            </p:cNvPr>
            <p:cNvSpPr/>
            <p:nvPr/>
          </p:nvSpPr>
          <p:spPr>
            <a:xfrm>
              <a:off x="7220836" y="4130859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 실무</a:t>
              </a: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0F26E913-6B00-EE86-395A-2615420A9705}"/>
                </a:ext>
              </a:extLst>
            </p:cNvPr>
            <p:cNvSpPr/>
            <p:nvPr/>
          </p:nvSpPr>
          <p:spPr>
            <a:xfrm>
              <a:off x="8370185" y="2803734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총괄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51AB89F2-CFBA-D6A1-71E4-0CCF1019A981}"/>
                </a:ext>
              </a:extLst>
            </p:cNvPr>
            <p:cNvSpPr/>
            <p:nvPr/>
          </p:nvSpPr>
          <p:spPr>
            <a:xfrm>
              <a:off x="8370185" y="3467297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0C345B2A-35D2-F026-67CA-63A02BDEF92C}"/>
                </a:ext>
              </a:extLst>
            </p:cNvPr>
            <p:cNvSpPr/>
            <p:nvPr/>
          </p:nvSpPr>
          <p:spPr>
            <a:xfrm>
              <a:off x="8370185" y="4130859"/>
              <a:ext cx="1046865" cy="5532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실무</a:t>
              </a: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5008378-317D-D478-9B7A-A0FB3187F4BD}"/>
                </a:ext>
              </a:extLst>
            </p:cNvPr>
            <p:cNvSpPr/>
            <p:nvPr/>
          </p:nvSpPr>
          <p:spPr>
            <a:xfrm>
              <a:off x="414131" y="4837943"/>
              <a:ext cx="653222" cy="1291393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표준직무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55125DEC-FEDF-7A56-D302-9FDC987D11D4}"/>
                </a:ext>
              </a:extLst>
            </p:cNvPr>
            <p:cNvSpPr/>
            <p:nvPr/>
          </p:nvSpPr>
          <p:spPr>
            <a:xfrm>
              <a:off x="1194996" y="4837943"/>
              <a:ext cx="324921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기획</a:t>
              </a: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04ED630E-93BC-FECB-DD95-571B40CB0DF7}"/>
                </a:ext>
              </a:extLst>
            </p:cNvPr>
            <p:cNvSpPr/>
            <p:nvPr/>
          </p:nvSpPr>
          <p:spPr>
            <a:xfrm>
              <a:off x="1555968" y="4837943"/>
              <a:ext cx="324921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인사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총무</a:t>
              </a: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D72F2621-E41F-EB21-B3A9-C293D148A591}"/>
                </a:ext>
              </a:extLst>
            </p:cNvPr>
            <p:cNvSpPr/>
            <p:nvPr/>
          </p:nvSpPr>
          <p:spPr>
            <a:xfrm>
              <a:off x="1916940" y="4837943"/>
              <a:ext cx="324921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재무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회계</a:t>
              </a: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53FD2F19-3A3E-21D4-17C7-54B9C83B56D6}"/>
                </a:ext>
              </a:extLst>
            </p:cNvPr>
            <p:cNvSpPr/>
            <p:nvPr/>
          </p:nvSpPr>
          <p:spPr>
            <a:xfrm>
              <a:off x="2277913" y="4837943"/>
              <a:ext cx="324921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마케팅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1EB0B609-BAC9-74E2-DA63-081B7AA35B9A}"/>
                </a:ext>
              </a:extLst>
            </p:cNvPr>
            <p:cNvSpPr/>
            <p:nvPr/>
          </p:nvSpPr>
          <p:spPr>
            <a:xfrm>
              <a:off x="2691693" y="4837944"/>
              <a:ext cx="324921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계획 모델링</a:t>
              </a: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6C3A0BCF-D42E-0820-F72A-2800FA328432}"/>
                </a:ext>
              </a:extLst>
            </p:cNvPr>
            <p:cNvSpPr/>
            <p:nvPr/>
          </p:nvSpPr>
          <p:spPr>
            <a:xfrm>
              <a:off x="3052665" y="4837944"/>
              <a:ext cx="324921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구조 모델링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6C06A161-6B4B-BA03-418A-4D2DA63BA90D}"/>
                </a:ext>
              </a:extLst>
            </p:cNvPr>
            <p:cNvSpPr/>
            <p:nvPr/>
          </p:nvSpPr>
          <p:spPr>
            <a:xfrm>
              <a:off x="3413637" y="4837944"/>
              <a:ext cx="324921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드론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응용 모델링</a:t>
              </a: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9C40CBAE-A151-E7A3-2BE1-12A78B201300}"/>
                </a:ext>
              </a:extLst>
            </p:cNvPr>
            <p:cNvSpPr/>
            <p:nvPr/>
          </p:nvSpPr>
          <p:spPr>
            <a:xfrm>
              <a:off x="4949395" y="4829030"/>
              <a:ext cx="495920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건설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개발</a:t>
              </a: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EA35D2DE-7B6D-1614-5CB9-68D5DEC3036E}"/>
                </a:ext>
              </a:extLst>
            </p:cNvPr>
            <p:cNvSpPr/>
            <p:nvPr/>
          </p:nvSpPr>
          <p:spPr>
            <a:xfrm>
              <a:off x="5500340" y="4829030"/>
              <a:ext cx="495920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국책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연구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과제 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기획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수행</a:t>
              </a: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3F6D5468-7C8D-7908-D000-25B73DF86722}"/>
                </a:ext>
              </a:extLst>
            </p:cNvPr>
            <p:cNvSpPr/>
            <p:nvPr/>
          </p:nvSpPr>
          <p:spPr>
            <a:xfrm>
              <a:off x="3827415" y="4829030"/>
              <a:ext cx="495920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 운영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DFE49656-87FB-D9F8-B080-15B51B5860B8}"/>
                </a:ext>
              </a:extLst>
            </p:cNvPr>
            <p:cNvSpPr/>
            <p:nvPr/>
          </p:nvSpPr>
          <p:spPr>
            <a:xfrm>
              <a:off x="4378359" y="4829030"/>
              <a:ext cx="495920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D6BC0D2F-796D-F8D1-0223-C50ADEBE5AA1}"/>
                </a:ext>
              </a:extLst>
            </p:cNvPr>
            <p:cNvSpPr/>
            <p:nvPr/>
          </p:nvSpPr>
          <p:spPr>
            <a:xfrm>
              <a:off x="6079888" y="4829030"/>
              <a:ext cx="1046865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7A49610-F930-8178-255A-6A3932A3C222}"/>
                </a:ext>
              </a:extLst>
            </p:cNvPr>
            <p:cNvSpPr/>
            <p:nvPr/>
          </p:nvSpPr>
          <p:spPr>
            <a:xfrm>
              <a:off x="7220836" y="4829030"/>
              <a:ext cx="1046865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</a:t>
              </a: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A2262B6C-BEE1-C5D5-220E-A5F7AFC303F7}"/>
                </a:ext>
              </a:extLst>
            </p:cNvPr>
            <p:cNvSpPr/>
            <p:nvPr/>
          </p:nvSpPr>
          <p:spPr>
            <a:xfrm>
              <a:off x="8370186" y="4829030"/>
              <a:ext cx="495920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 운영</a:t>
              </a: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399B1D51-33CB-2EB5-D391-037EAF4E47E6}"/>
                </a:ext>
              </a:extLst>
            </p:cNvPr>
            <p:cNvSpPr/>
            <p:nvPr/>
          </p:nvSpPr>
          <p:spPr>
            <a:xfrm>
              <a:off x="8921130" y="4829030"/>
              <a:ext cx="495920" cy="129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82644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E06E5-355C-4E65-4DE1-002BA0AA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F75BA6A-F24C-4AC3-727E-BBAC6521A0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/>
              <a:t>두번째 안은</a:t>
            </a:r>
            <a:r>
              <a:rPr lang="en-US" altLang="ko-KR" dirty="0"/>
              <a:t>, </a:t>
            </a:r>
            <a:r>
              <a:rPr lang="ko-KR" altLang="en-US" dirty="0"/>
              <a:t>직무 의 고유 특성과 직무 수행 내용 및 필요 요건을  고려하여 직무 분류체계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r>
              <a:rPr lang="ko-KR" altLang="en-US" dirty="0"/>
              <a:t>을 설계하였음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F51C80E-3004-9658-1926-FE532D5BCC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68676C-AAD4-EA43-0B2C-C0AC8ACF73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7472AC6-1FFF-197B-F86C-773C4FA714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19C2F342-BC29-4018-894E-8A547CB1CE03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55D9F5AB-E1B2-F043-57C2-9DC6DE1C0686}"/>
                </a:ext>
              </a:extLst>
            </p:cNvPr>
            <p:cNvSpPr/>
            <p:nvPr userDrawn="1"/>
          </p:nvSpPr>
          <p:spPr>
            <a:xfrm>
              <a:off x="2276870" y="1626519"/>
              <a:ext cx="2422240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직무분류체계 </a:t>
              </a:r>
              <a:r>
                <a:rPr lang="ko-KR" altLang="en-US" sz="1400" dirty="0" err="1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설계안</a:t>
              </a: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_2</a:t>
              </a: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안</a:t>
              </a: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) </a:t>
              </a: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직무 기반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0A4A13EB-39C2-6D14-A25A-75AFFE1EB861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C448864-23C5-6765-AD6D-90BC6A6EE055}"/>
              </a:ext>
            </a:extLst>
          </p:cNvPr>
          <p:cNvGrpSpPr/>
          <p:nvPr/>
        </p:nvGrpSpPr>
        <p:grpSpPr>
          <a:xfrm>
            <a:off x="273051" y="2060575"/>
            <a:ext cx="9359900" cy="4068763"/>
            <a:chOff x="273051" y="2194560"/>
            <a:chExt cx="9359900" cy="393477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FF2F154-34B7-BDDA-9814-A24221B59F3A}"/>
                </a:ext>
              </a:extLst>
            </p:cNvPr>
            <p:cNvSpPr/>
            <p:nvPr/>
          </p:nvSpPr>
          <p:spPr>
            <a:xfrm>
              <a:off x="1065865" y="2199260"/>
              <a:ext cx="1152042" cy="37412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경영관리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34F094D-9EC4-76DB-629C-10EEA28A0688}"/>
                </a:ext>
              </a:extLst>
            </p:cNvPr>
            <p:cNvSpPr/>
            <p:nvPr/>
          </p:nvSpPr>
          <p:spPr>
            <a:xfrm>
              <a:off x="2290618" y="2199261"/>
              <a:ext cx="1786019" cy="37412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영업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A4D70E3-006C-4071-ED48-A58CCA1CE3A3}"/>
                </a:ext>
              </a:extLst>
            </p:cNvPr>
            <p:cNvSpPr/>
            <p:nvPr/>
          </p:nvSpPr>
          <p:spPr>
            <a:xfrm>
              <a:off x="4149347" y="2199260"/>
              <a:ext cx="2695249" cy="37412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설계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2A3014A-CE86-3C16-5EA9-94381C3F4333}"/>
                </a:ext>
              </a:extLst>
            </p:cNvPr>
            <p:cNvSpPr/>
            <p:nvPr/>
          </p:nvSpPr>
          <p:spPr>
            <a:xfrm>
              <a:off x="1065865" y="2710938"/>
              <a:ext cx="1152042" cy="3741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경영전략기획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72CD535-DFEB-1902-9747-BFB4722A2129}"/>
                </a:ext>
              </a:extLst>
            </p:cNvPr>
            <p:cNvSpPr/>
            <p:nvPr/>
          </p:nvSpPr>
          <p:spPr>
            <a:xfrm>
              <a:off x="8776296" y="2710938"/>
              <a:ext cx="856654" cy="3741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연구개발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(R&amp;D)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EC1C6B8-1AEF-0D91-B2E5-FE559D20EAC6}"/>
                </a:ext>
              </a:extLst>
            </p:cNvPr>
            <p:cNvSpPr/>
            <p:nvPr/>
          </p:nvSpPr>
          <p:spPr>
            <a:xfrm>
              <a:off x="6909014" y="2703147"/>
              <a:ext cx="856654" cy="3741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E047A90-58C8-750A-2731-ED918B9E4A3A}"/>
                </a:ext>
              </a:extLst>
            </p:cNvPr>
            <p:cNvSpPr/>
            <p:nvPr/>
          </p:nvSpPr>
          <p:spPr>
            <a:xfrm>
              <a:off x="2294895" y="2710938"/>
              <a:ext cx="856653" cy="3741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4373A62-FBA6-8E6D-4C3F-8E7F1F2BFA1C}"/>
                </a:ext>
              </a:extLst>
            </p:cNvPr>
            <p:cNvSpPr/>
            <p:nvPr/>
          </p:nvSpPr>
          <p:spPr>
            <a:xfrm>
              <a:off x="3219983" y="2710938"/>
              <a:ext cx="856653" cy="3741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584A581-D535-46F2-E0C6-10CB85AC3C37}"/>
                </a:ext>
              </a:extLst>
            </p:cNvPr>
            <p:cNvSpPr/>
            <p:nvPr/>
          </p:nvSpPr>
          <p:spPr>
            <a:xfrm>
              <a:off x="1065865" y="3221809"/>
              <a:ext cx="1152042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경영전략기획 총괄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5AC5B56-6C9C-9227-16D3-622A74534AF6}"/>
                </a:ext>
              </a:extLst>
            </p:cNvPr>
            <p:cNvSpPr/>
            <p:nvPr/>
          </p:nvSpPr>
          <p:spPr>
            <a:xfrm>
              <a:off x="1065865" y="3801952"/>
              <a:ext cx="1152042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경영전략기획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107F650-4225-2984-231E-793DDDBA2731}"/>
                </a:ext>
              </a:extLst>
            </p:cNvPr>
            <p:cNvSpPr/>
            <p:nvPr/>
          </p:nvSpPr>
          <p:spPr>
            <a:xfrm>
              <a:off x="1065865" y="4382096"/>
              <a:ext cx="1152042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경영전략기획 실무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69313E5-9938-3334-4301-931395769D67}"/>
                </a:ext>
              </a:extLst>
            </p:cNvPr>
            <p:cNvSpPr/>
            <p:nvPr/>
          </p:nvSpPr>
          <p:spPr>
            <a:xfrm>
              <a:off x="8776296" y="3219526"/>
              <a:ext cx="856654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R&amp;D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총괄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7159497-48EB-C80F-46D2-26585087C5AD}"/>
                </a:ext>
              </a:extLst>
            </p:cNvPr>
            <p:cNvSpPr/>
            <p:nvPr/>
          </p:nvSpPr>
          <p:spPr>
            <a:xfrm>
              <a:off x="8776296" y="3799670"/>
              <a:ext cx="856654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R&amp;D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F05644C-5DDA-CD0E-9986-A08A59A139AC}"/>
                </a:ext>
              </a:extLst>
            </p:cNvPr>
            <p:cNvSpPr/>
            <p:nvPr/>
          </p:nvSpPr>
          <p:spPr>
            <a:xfrm>
              <a:off x="8776296" y="4379814"/>
              <a:ext cx="856654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R&amp;D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실무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FE44E3E-CAE1-EC2C-6D0F-E7BC9F987DC4}"/>
                </a:ext>
              </a:extLst>
            </p:cNvPr>
            <p:cNvSpPr/>
            <p:nvPr/>
          </p:nvSpPr>
          <p:spPr>
            <a:xfrm>
              <a:off x="6909014" y="3211733"/>
              <a:ext cx="856654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 총괄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97D6244-BDE4-9406-5E6B-DDB6CF037641}"/>
                </a:ext>
              </a:extLst>
            </p:cNvPr>
            <p:cNvSpPr/>
            <p:nvPr/>
          </p:nvSpPr>
          <p:spPr>
            <a:xfrm>
              <a:off x="6909014" y="3791878"/>
              <a:ext cx="856654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C02E572-D018-02B0-CC66-9C3EDC7B11F8}"/>
                </a:ext>
              </a:extLst>
            </p:cNvPr>
            <p:cNvSpPr/>
            <p:nvPr/>
          </p:nvSpPr>
          <p:spPr>
            <a:xfrm>
              <a:off x="6909014" y="4372021"/>
              <a:ext cx="856654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 실무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B837953-DCCE-B458-FC8F-975DEBB81866}"/>
                </a:ext>
              </a:extLst>
            </p:cNvPr>
            <p:cNvSpPr/>
            <p:nvPr/>
          </p:nvSpPr>
          <p:spPr>
            <a:xfrm>
              <a:off x="2294895" y="3221809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 총괄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6697EC4-A464-49E9-8F0C-7530EF79812C}"/>
                </a:ext>
              </a:extLst>
            </p:cNvPr>
            <p:cNvSpPr/>
            <p:nvPr/>
          </p:nvSpPr>
          <p:spPr>
            <a:xfrm>
              <a:off x="2294895" y="3801952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9A38702-46E6-46AB-6AD7-3C08CF6E1E99}"/>
                </a:ext>
              </a:extLst>
            </p:cNvPr>
            <p:cNvSpPr/>
            <p:nvPr/>
          </p:nvSpPr>
          <p:spPr>
            <a:xfrm>
              <a:off x="2294895" y="4382096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 실무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987DC40-03A2-999F-2D81-9FEA82041C41}"/>
                </a:ext>
              </a:extLst>
            </p:cNvPr>
            <p:cNvSpPr/>
            <p:nvPr/>
          </p:nvSpPr>
          <p:spPr>
            <a:xfrm>
              <a:off x="3219983" y="3221809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 총괄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CB9519C-70AF-7D1B-7C86-543AB1F9C83F}"/>
                </a:ext>
              </a:extLst>
            </p:cNvPr>
            <p:cNvSpPr/>
            <p:nvPr/>
          </p:nvSpPr>
          <p:spPr>
            <a:xfrm>
              <a:off x="3219983" y="3801952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658FC62-196E-19E4-C1FF-92C8D163597E}"/>
                </a:ext>
              </a:extLst>
            </p:cNvPr>
            <p:cNvSpPr/>
            <p:nvPr/>
          </p:nvSpPr>
          <p:spPr>
            <a:xfrm>
              <a:off x="3219983" y="4382096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 실무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CFED51E-262F-FA30-40D0-A1F9E3D2E9B2}"/>
                </a:ext>
              </a:extLst>
            </p:cNvPr>
            <p:cNvSpPr/>
            <p:nvPr/>
          </p:nvSpPr>
          <p:spPr>
            <a:xfrm>
              <a:off x="7842656" y="3221809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 총괄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4A2F20E-B172-4B76-18B4-29E9BDAC5925}"/>
                </a:ext>
              </a:extLst>
            </p:cNvPr>
            <p:cNvSpPr/>
            <p:nvPr/>
          </p:nvSpPr>
          <p:spPr>
            <a:xfrm>
              <a:off x="7842656" y="3801952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37C3C8E-5D7C-95F8-0959-86E1A98F33CB}"/>
                </a:ext>
              </a:extLst>
            </p:cNvPr>
            <p:cNvSpPr/>
            <p:nvPr/>
          </p:nvSpPr>
          <p:spPr>
            <a:xfrm>
              <a:off x="7842656" y="4382096"/>
              <a:ext cx="85665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 실무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574726D-0185-382B-8858-3584D18DB3FF}"/>
                </a:ext>
              </a:extLst>
            </p:cNvPr>
            <p:cNvSpPr/>
            <p:nvPr/>
          </p:nvSpPr>
          <p:spPr>
            <a:xfrm>
              <a:off x="1065866" y="5000290"/>
              <a:ext cx="265884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경영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기획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147A1BB-E339-1BB8-63A6-FACC2B2CC31D}"/>
                </a:ext>
              </a:extLst>
            </p:cNvPr>
            <p:cNvSpPr/>
            <p:nvPr/>
          </p:nvSpPr>
          <p:spPr>
            <a:xfrm>
              <a:off x="1361250" y="5000290"/>
              <a:ext cx="265884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인사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총무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0E7F770-3791-3127-D8C8-2DC81EC7D758}"/>
                </a:ext>
              </a:extLst>
            </p:cNvPr>
            <p:cNvSpPr/>
            <p:nvPr/>
          </p:nvSpPr>
          <p:spPr>
            <a:xfrm>
              <a:off x="1656635" y="5000290"/>
              <a:ext cx="265884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재무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회계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5AADA073-3E25-60D6-4942-61397CCC96AB}"/>
                </a:ext>
              </a:extLst>
            </p:cNvPr>
            <p:cNvSpPr/>
            <p:nvPr/>
          </p:nvSpPr>
          <p:spPr>
            <a:xfrm>
              <a:off x="1952021" y="5000290"/>
              <a:ext cx="265884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마케팅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60F8D16-9CBD-EB77-B966-50DE5E1D94D1}"/>
                </a:ext>
              </a:extLst>
            </p:cNvPr>
            <p:cNvSpPr/>
            <p:nvPr/>
          </p:nvSpPr>
          <p:spPr>
            <a:xfrm>
              <a:off x="6909016" y="4992497"/>
              <a:ext cx="856652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 운영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관리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77B41D2-7C02-819F-7D04-28718B0BEB1E}"/>
                </a:ext>
              </a:extLst>
            </p:cNvPr>
            <p:cNvSpPr/>
            <p:nvPr/>
          </p:nvSpPr>
          <p:spPr>
            <a:xfrm>
              <a:off x="2290618" y="4992497"/>
              <a:ext cx="856653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프로젝트 영업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8C61290-079C-B40C-AF5F-B0D83DD845C7}"/>
                </a:ext>
              </a:extLst>
            </p:cNvPr>
            <p:cNvSpPr/>
            <p:nvPr/>
          </p:nvSpPr>
          <p:spPr>
            <a:xfrm>
              <a:off x="3219983" y="4992497"/>
              <a:ext cx="856653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판매 영업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0E32723-D01E-BDF8-9875-227D700290AF}"/>
                </a:ext>
              </a:extLst>
            </p:cNvPr>
            <p:cNvSpPr/>
            <p:nvPr/>
          </p:nvSpPr>
          <p:spPr>
            <a:xfrm>
              <a:off x="4141054" y="2710939"/>
              <a:ext cx="2703544" cy="3741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컨설팅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DE76A5F-0632-1712-5CAE-D6B0BC12CCB0}"/>
                </a:ext>
              </a:extLst>
            </p:cNvPr>
            <p:cNvSpPr/>
            <p:nvPr/>
          </p:nvSpPr>
          <p:spPr>
            <a:xfrm>
              <a:off x="4141054" y="3801953"/>
              <a:ext cx="62327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계획 모델링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08D4619-7C73-F50E-D47D-53F7D8338AA1}"/>
                </a:ext>
              </a:extLst>
            </p:cNvPr>
            <p:cNvSpPr/>
            <p:nvPr/>
          </p:nvSpPr>
          <p:spPr>
            <a:xfrm>
              <a:off x="4141054" y="4382098"/>
              <a:ext cx="62327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계획 모델링 실무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B76F636-01EC-631A-907E-3CB6B3A75BA3}"/>
                </a:ext>
              </a:extLst>
            </p:cNvPr>
            <p:cNvSpPr/>
            <p:nvPr/>
          </p:nvSpPr>
          <p:spPr>
            <a:xfrm>
              <a:off x="4141054" y="5000290"/>
              <a:ext cx="623272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계획 모델링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4FDA897-3D4A-6F81-FDBF-FF891B4A54D1}"/>
                </a:ext>
              </a:extLst>
            </p:cNvPr>
            <p:cNvSpPr/>
            <p:nvPr/>
          </p:nvSpPr>
          <p:spPr>
            <a:xfrm>
              <a:off x="6909013" y="2199260"/>
              <a:ext cx="1790295" cy="37412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교육 및 기술지원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C1D3EFB-A068-96A7-3365-154868D4A0C3}"/>
                </a:ext>
              </a:extLst>
            </p:cNvPr>
            <p:cNvSpPr/>
            <p:nvPr/>
          </p:nvSpPr>
          <p:spPr>
            <a:xfrm>
              <a:off x="7842656" y="2703147"/>
              <a:ext cx="856654" cy="3741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D9D86DE-370B-A12A-74E9-1145F72A860D}"/>
                </a:ext>
              </a:extLst>
            </p:cNvPr>
            <p:cNvSpPr/>
            <p:nvPr/>
          </p:nvSpPr>
          <p:spPr>
            <a:xfrm>
              <a:off x="7842656" y="4992497"/>
              <a:ext cx="856652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기술지원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AD1929A-12FD-151E-CE09-2F2A607B9CD7}"/>
                </a:ext>
              </a:extLst>
            </p:cNvPr>
            <p:cNvSpPr/>
            <p:nvPr/>
          </p:nvSpPr>
          <p:spPr>
            <a:xfrm>
              <a:off x="8776297" y="4992497"/>
              <a:ext cx="405813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건설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SW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개발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2FD7899-F097-9FAB-B55B-E8134CA6BB70}"/>
                </a:ext>
              </a:extLst>
            </p:cNvPr>
            <p:cNvSpPr/>
            <p:nvPr/>
          </p:nvSpPr>
          <p:spPr>
            <a:xfrm>
              <a:off x="9227137" y="4992497"/>
              <a:ext cx="405813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국책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연구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과제 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기획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</a:p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수행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4C5BFD0-BB36-D518-B80D-D662A62810B5}"/>
                </a:ext>
              </a:extLst>
            </p:cNvPr>
            <p:cNvSpPr/>
            <p:nvPr/>
          </p:nvSpPr>
          <p:spPr>
            <a:xfrm>
              <a:off x="8768486" y="2199259"/>
              <a:ext cx="864465" cy="37412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연구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&amp;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개발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24E9AED-7024-DA5D-02D9-889BC7B273C6}"/>
                </a:ext>
              </a:extLst>
            </p:cNvPr>
            <p:cNvSpPr/>
            <p:nvPr/>
          </p:nvSpPr>
          <p:spPr>
            <a:xfrm>
              <a:off x="5526322" y="3801952"/>
              <a:ext cx="62327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구조 모델링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4777559B-A585-DBF7-96E3-72B3721EF68A}"/>
                </a:ext>
              </a:extLst>
            </p:cNvPr>
            <p:cNvSpPr/>
            <p:nvPr/>
          </p:nvSpPr>
          <p:spPr>
            <a:xfrm>
              <a:off x="5526323" y="4382097"/>
              <a:ext cx="623274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구조 모델링 실무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8712AE6-3154-9450-E9A7-E5F0F26CADA7}"/>
                </a:ext>
              </a:extLst>
            </p:cNvPr>
            <p:cNvSpPr/>
            <p:nvPr/>
          </p:nvSpPr>
          <p:spPr>
            <a:xfrm>
              <a:off x="5526324" y="5000289"/>
              <a:ext cx="623272" cy="11290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구조 모델링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B3202AA-023F-FC28-86F2-8C4DE2EB8555}"/>
                </a:ext>
              </a:extLst>
            </p:cNvPr>
            <p:cNvSpPr/>
            <p:nvPr/>
          </p:nvSpPr>
          <p:spPr>
            <a:xfrm>
              <a:off x="6212312" y="3801951"/>
              <a:ext cx="623274" cy="4837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상하수도 모델링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AEF6757-3630-1391-163D-D76AE6B24897}"/>
                </a:ext>
              </a:extLst>
            </p:cNvPr>
            <p:cNvSpPr/>
            <p:nvPr/>
          </p:nvSpPr>
          <p:spPr>
            <a:xfrm>
              <a:off x="6212313" y="4382096"/>
              <a:ext cx="623274" cy="4837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상하수도 모델링 실무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E501EC94-6972-E238-8A00-3539CA7EB432}"/>
                </a:ext>
              </a:extLst>
            </p:cNvPr>
            <p:cNvSpPr/>
            <p:nvPr/>
          </p:nvSpPr>
          <p:spPr>
            <a:xfrm>
              <a:off x="6212314" y="5000288"/>
              <a:ext cx="623273" cy="112904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상하수도 모델링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859D61D-CCEC-05EF-C5FB-7BD5BE42A606}"/>
                </a:ext>
              </a:extLst>
            </p:cNvPr>
            <p:cNvSpPr/>
            <p:nvPr/>
          </p:nvSpPr>
          <p:spPr>
            <a:xfrm>
              <a:off x="273051" y="2194560"/>
              <a:ext cx="663219" cy="381919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직군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DF994E9-EDC7-7028-A335-AF40ED9CFC5F}"/>
                </a:ext>
              </a:extLst>
            </p:cNvPr>
            <p:cNvSpPr/>
            <p:nvPr/>
          </p:nvSpPr>
          <p:spPr>
            <a:xfrm>
              <a:off x="281809" y="2703147"/>
              <a:ext cx="663219" cy="381919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직무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22C5A868-F022-9E50-D6C9-9F1BE36E741B}"/>
                </a:ext>
              </a:extLst>
            </p:cNvPr>
            <p:cNvSpPr/>
            <p:nvPr/>
          </p:nvSpPr>
          <p:spPr>
            <a:xfrm>
              <a:off x="277153" y="3221809"/>
              <a:ext cx="663218" cy="1644020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고유직무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F9F8B9DC-D16F-1245-D314-7BBAE8A1824E}"/>
                </a:ext>
              </a:extLst>
            </p:cNvPr>
            <p:cNvSpPr/>
            <p:nvPr/>
          </p:nvSpPr>
          <p:spPr>
            <a:xfrm>
              <a:off x="273051" y="5000290"/>
              <a:ext cx="663219" cy="1129048"/>
            </a:xfrm>
            <a:prstGeom prst="rect">
              <a:avLst/>
            </a:prstGeom>
            <a:solidFill>
              <a:srgbClr val="00206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표준직무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BE93A6C4-9140-8175-01DD-40F7A8A143EF}"/>
                </a:ext>
              </a:extLst>
            </p:cNvPr>
            <p:cNvSpPr/>
            <p:nvPr/>
          </p:nvSpPr>
          <p:spPr>
            <a:xfrm>
              <a:off x="4827451" y="3801952"/>
              <a:ext cx="62327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드론응용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모델링 관리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책임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744C952-5E05-4529-49EF-EB6C820BCED9}"/>
                </a:ext>
              </a:extLst>
            </p:cNvPr>
            <p:cNvSpPr/>
            <p:nvPr/>
          </p:nvSpPr>
          <p:spPr>
            <a:xfrm>
              <a:off x="4827451" y="4382098"/>
              <a:ext cx="62327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드론응용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모델링 실무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CF815AC3-32E4-9581-68F5-7DB05E5A8D9F}"/>
                </a:ext>
              </a:extLst>
            </p:cNvPr>
            <p:cNvSpPr/>
            <p:nvPr/>
          </p:nvSpPr>
          <p:spPr>
            <a:xfrm>
              <a:off x="4827452" y="5000290"/>
              <a:ext cx="623272" cy="11290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드론응용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모델링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54A9E45-DB8C-A4FD-EBCB-F42163B8F760}"/>
                </a:ext>
              </a:extLst>
            </p:cNvPr>
            <p:cNvSpPr/>
            <p:nvPr/>
          </p:nvSpPr>
          <p:spPr>
            <a:xfrm>
              <a:off x="4141054" y="3221809"/>
              <a:ext cx="2690973" cy="4837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BIM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컨설팅 총괄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55865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52590-7C59-F8B3-3A7E-85B120CE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FF669D4-BD98-8789-F87B-A506D06F77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/>
              <a:t>직무 속성과 전문성을 반영한 세분화 체계가 필요하므로</a:t>
            </a:r>
            <a:r>
              <a:rPr lang="en-US" altLang="ko-KR" dirty="0"/>
              <a:t>, </a:t>
            </a:r>
            <a:r>
              <a:rPr lang="ko-KR" altLang="en-US" dirty="0"/>
              <a:t>직무 정의의 정합성과 활용성이 높은 </a:t>
            </a:r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(</a:t>
            </a:r>
            <a:r>
              <a:rPr lang="ko-KR" altLang="en-US" dirty="0"/>
              <a:t>직무 기반</a:t>
            </a:r>
            <a:r>
              <a:rPr lang="en-US" altLang="ko-KR" dirty="0"/>
              <a:t>)</a:t>
            </a:r>
            <a:r>
              <a:rPr lang="ko-KR" altLang="en-US" dirty="0"/>
              <a:t>으로 최종 선정함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1D8EE37-0908-7174-AC05-FAE2FBC26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F4B1D1-0FD1-B709-B5F4-B2A9F47192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71A8111-2DAC-1685-88D8-00408B4C08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5B8EB5B1-644E-4A9B-EA78-925211D345C1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0B29C1F5-DB4F-3D75-6559-C57242257FA6}"/>
                </a:ext>
              </a:extLst>
            </p:cNvPr>
            <p:cNvSpPr/>
            <p:nvPr userDrawn="1"/>
          </p:nvSpPr>
          <p:spPr>
            <a:xfrm>
              <a:off x="2888436" y="1626519"/>
              <a:ext cx="1200425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제도설계 및 개선 요약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AE4717C-A1CB-4C12-5F4E-E07826A4C53B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F8EA944-9F42-EC82-A776-E6D1C357C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296550"/>
              </p:ext>
            </p:extLst>
          </p:nvPr>
        </p:nvGraphicFramePr>
        <p:xfrm>
          <a:off x="281214" y="2060574"/>
          <a:ext cx="6795862" cy="40687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9144">
                  <a:extLst>
                    <a:ext uri="{9D8B030D-6E8A-4147-A177-3AD203B41FA5}">
                      <a16:colId xmlns:a16="http://schemas.microsoft.com/office/drawing/2014/main" val="4290039752"/>
                    </a:ext>
                  </a:extLst>
                </a:gridCol>
                <a:gridCol w="3003359">
                  <a:extLst>
                    <a:ext uri="{9D8B030D-6E8A-4147-A177-3AD203B41FA5}">
                      <a16:colId xmlns:a16="http://schemas.microsoft.com/office/drawing/2014/main" val="609814981"/>
                    </a:ext>
                  </a:extLst>
                </a:gridCol>
                <a:gridCol w="3003359">
                  <a:extLst>
                    <a:ext uri="{9D8B030D-6E8A-4147-A177-3AD203B41FA5}">
                      <a16:colId xmlns:a16="http://schemas.microsoft.com/office/drawing/2014/main" val="1232985313"/>
                    </a:ext>
                  </a:extLst>
                </a:gridCol>
              </a:tblGrid>
              <a:tr h="322890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조직구조 기반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직무 기반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533033"/>
                  </a:ext>
                </a:extLst>
              </a:tr>
              <a:tr h="829158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조직도 기반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직무 속성별 구분 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직무 세분화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 latinLnBrk="0">
                        <a:buNone/>
                      </a:pP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직무 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특성 고려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544027"/>
                  </a:ext>
                </a:extLst>
              </a:tr>
              <a:tr h="829158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직무간 중복성 일부 존재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직무간 중복성 최소화 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</a:p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영역 직무 구체화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910"/>
                  </a:ext>
                </a:extLst>
              </a:tr>
              <a:tr h="1043779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 조직 구조와 동일하여 현업 </a:t>
                      </a:r>
                      <a:r>
                        <a:rPr lang="ko-KR" altLang="en-US" sz="11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적용성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이해도 높음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초기 전환 부담이 적음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부서 책임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권한 체계 유지 용이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분야를 ‘계획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구조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드론응용’으로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세분 → 전문성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난이도 평가 용이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직무별 역할 정의 정밀도 향상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채용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배치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시 구체적 기준 제공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108520"/>
                  </a:ext>
                </a:extLst>
              </a:tr>
              <a:tr h="1043779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직무가 부서별 중복 존재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직무 가치 비교 어려움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부서 변경 시 직무체계 변동 가능성 큼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역할급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기반 임금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설계에 부적합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조직과 명칭 괴리로 초기 혼란 가능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세분화로 인한 유연성 일부 감소 가능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인원 규모가 작으면 세분 직렬 간 경계 모호 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초기 적용 시 더 많은 설명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안내 필요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15499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CE497476-2F2A-5F56-AAD1-1258265FEB14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논의 결과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AE274AD-B24E-330E-8594-B5B281B64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008527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조직구조 기반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적용 용이성이 높으나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 중복성과 임금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연계의 한계가 있음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 기반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설계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 등 전문 분야 세분화로 정합성이 높고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체계와 연계 가능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초기 적용 시 혼란 가능성은 있으나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장기적으로 역할 정의와 보상 체계 정합성을 확보할 수 있음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이에 따라 최종적으로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 기반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직무분류체계를 채택하기로 결정함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sp>
        <p:nvSpPr>
          <p:cNvPr id="11" name="Freeform 61">
            <a:extLst>
              <a:ext uri="{FF2B5EF4-FFF2-40B4-BE49-F238E27FC236}">
                <a16:creationId xmlns:a16="http://schemas.microsoft.com/office/drawing/2014/main" id="{108CA548-7F3E-5FE0-C158-8D141612CE5F}"/>
              </a:ext>
            </a:extLst>
          </p:cNvPr>
          <p:cNvSpPr>
            <a:spLocks/>
          </p:cNvSpPr>
          <p:nvPr/>
        </p:nvSpPr>
        <p:spPr bwMode="auto">
          <a:xfrm>
            <a:off x="7077076" y="2053338"/>
            <a:ext cx="612758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668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8093-D9CE-A24A-CD0A-613A21DA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622F84B-174A-5C3D-C531-AA8E2D60C7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직무분류체계는 최종적으로 </a:t>
            </a:r>
            <a:r>
              <a:rPr lang="en-US" altLang="ko-KR" dirty="0"/>
              <a:t>5</a:t>
            </a:r>
            <a:r>
              <a:rPr lang="ko-KR" altLang="en-US" dirty="0"/>
              <a:t>개 직군</a:t>
            </a:r>
            <a:r>
              <a:rPr lang="en-US" altLang="ko-KR" dirty="0"/>
              <a:t>, 7</a:t>
            </a:r>
            <a:r>
              <a:rPr lang="ko-KR" altLang="en-US" dirty="0"/>
              <a:t>개 직무로 분류하고</a:t>
            </a:r>
            <a:r>
              <a:rPr lang="en-US" altLang="ko-KR" dirty="0"/>
              <a:t>, </a:t>
            </a:r>
            <a:r>
              <a:rPr lang="ko-KR" altLang="en-US" dirty="0"/>
              <a:t>역할에 따른 수준은 크게 실무</a:t>
            </a:r>
            <a:r>
              <a:rPr lang="en-US" altLang="ko-KR" dirty="0"/>
              <a:t> </a:t>
            </a:r>
            <a:r>
              <a:rPr lang="ko-KR" altLang="en-US" dirty="0"/>
              <a:t>단계</a:t>
            </a:r>
            <a:r>
              <a:rPr lang="en-US" altLang="ko-KR" dirty="0"/>
              <a:t>, </a:t>
            </a:r>
            <a:r>
              <a:rPr lang="ko-KR" altLang="en-US" dirty="0"/>
              <a:t>관리</a:t>
            </a:r>
            <a:r>
              <a:rPr lang="en-US" altLang="ko-KR" dirty="0"/>
              <a:t>·</a:t>
            </a:r>
            <a:r>
              <a:rPr lang="ko-KR" altLang="en-US" dirty="0"/>
              <a:t>책임 단계</a:t>
            </a:r>
            <a:r>
              <a:rPr lang="en-US" altLang="ko-KR" dirty="0"/>
              <a:t>, </a:t>
            </a:r>
            <a:r>
              <a:rPr lang="ko-KR" altLang="en-US" dirty="0"/>
              <a:t>총괄 단계로 구분하였음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C4210D0-5FE6-7ACA-C43A-831CAE5A3D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4115A2-82C7-F1C8-425C-E797EC976B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F23557D-A5AE-A8B8-EE9C-6BF17A20E6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8EA8CB87-DC88-5796-900A-90778FDBC2CA}"/>
              </a:ext>
            </a:extLst>
          </p:cNvPr>
          <p:cNvSpPr/>
          <p:nvPr userDrawn="1"/>
        </p:nvSpPr>
        <p:spPr>
          <a:xfrm>
            <a:off x="4020053" y="1626745"/>
            <a:ext cx="1867820" cy="30777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rPr>
              <a:t>직무분류체계 설계 결과</a:t>
            </a: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F981AF71-52E1-A1DE-8FC1-E05A3E34BE40}"/>
              </a:ext>
            </a:extLst>
          </p:cNvPr>
          <p:cNvCxnSpPr/>
          <p:nvPr userDrawn="1"/>
        </p:nvCxnSpPr>
        <p:spPr>
          <a:xfrm>
            <a:off x="273928" y="1952572"/>
            <a:ext cx="936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2E5732-FAE8-832B-FDC7-BCEDA1EB639B}"/>
              </a:ext>
            </a:extLst>
          </p:cNvPr>
          <p:cNvSpPr/>
          <p:nvPr/>
        </p:nvSpPr>
        <p:spPr>
          <a:xfrm>
            <a:off x="1065865" y="2065435"/>
            <a:ext cx="1152042" cy="38686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경영관리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DA4AB2-E44B-99F9-7355-25875061B923}"/>
              </a:ext>
            </a:extLst>
          </p:cNvPr>
          <p:cNvSpPr/>
          <p:nvPr/>
        </p:nvSpPr>
        <p:spPr>
          <a:xfrm>
            <a:off x="2290618" y="2065436"/>
            <a:ext cx="1786019" cy="38686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영업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B3FECD-CC25-0F0A-3776-710E7A2759E5}"/>
              </a:ext>
            </a:extLst>
          </p:cNvPr>
          <p:cNvSpPr/>
          <p:nvPr/>
        </p:nvSpPr>
        <p:spPr>
          <a:xfrm>
            <a:off x="4149347" y="2065435"/>
            <a:ext cx="2695249" cy="38686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설계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A464B4-C1D2-546B-2892-BF6137BD85E9}"/>
              </a:ext>
            </a:extLst>
          </p:cNvPr>
          <p:cNvSpPr/>
          <p:nvPr/>
        </p:nvSpPr>
        <p:spPr>
          <a:xfrm>
            <a:off x="1065865" y="2594536"/>
            <a:ext cx="1152042" cy="3868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경영전략기획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A51109-C3FC-3BE5-F79E-6906B1AD1FB9}"/>
              </a:ext>
            </a:extLst>
          </p:cNvPr>
          <p:cNvSpPr/>
          <p:nvPr/>
        </p:nvSpPr>
        <p:spPr>
          <a:xfrm>
            <a:off x="8776296" y="2594536"/>
            <a:ext cx="856654" cy="3868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연구개발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(R&amp;D)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281FB4-746C-7318-8AE1-9C0765529AC0}"/>
              </a:ext>
            </a:extLst>
          </p:cNvPr>
          <p:cNvSpPr/>
          <p:nvPr/>
        </p:nvSpPr>
        <p:spPr>
          <a:xfrm>
            <a:off x="6909014" y="2586480"/>
            <a:ext cx="856654" cy="3868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교육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C34305-A76C-75D9-D378-178CD3949576}"/>
              </a:ext>
            </a:extLst>
          </p:cNvPr>
          <p:cNvSpPr/>
          <p:nvPr/>
        </p:nvSpPr>
        <p:spPr>
          <a:xfrm>
            <a:off x="2294895" y="2594536"/>
            <a:ext cx="856653" cy="3868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프로젝트 영업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5BF6AD-946F-1F25-FB4E-174D9533B807}"/>
              </a:ext>
            </a:extLst>
          </p:cNvPr>
          <p:cNvSpPr/>
          <p:nvPr/>
        </p:nvSpPr>
        <p:spPr>
          <a:xfrm>
            <a:off x="3219983" y="2594536"/>
            <a:ext cx="856653" cy="3868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SW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판매 영업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987685-F193-385D-0DF1-6CE6FF035654}"/>
              </a:ext>
            </a:extLst>
          </p:cNvPr>
          <p:cNvSpPr/>
          <p:nvPr/>
        </p:nvSpPr>
        <p:spPr>
          <a:xfrm>
            <a:off x="1065865" y="3122803"/>
            <a:ext cx="1152042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경영전략기획 총괄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2BF2AC-35E7-6426-B48E-143E457330B6}"/>
              </a:ext>
            </a:extLst>
          </p:cNvPr>
          <p:cNvSpPr/>
          <p:nvPr/>
        </p:nvSpPr>
        <p:spPr>
          <a:xfrm>
            <a:off x="1065865" y="3722701"/>
            <a:ext cx="1152042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경영전략기획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0C875FF-CDCA-C478-8B17-AAE91D45CE10}"/>
              </a:ext>
            </a:extLst>
          </p:cNvPr>
          <p:cNvSpPr/>
          <p:nvPr/>
        </p:nvSpPr>
        <p:spPr>
          <a:xfrm>
            <a:off x="1065865" y="4322600"/>
            <a:ext cx="1152042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경영전략기획 실무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9B56BA8-2AEC-E148-B899-DD752725DEF7}"/>
              </a:ext>
            </a:extLst>
          </p:cNvPr>
          <p:cNvSpPr/>
          <p:nvPr/>
        </p:nvSpPr>
        <p:spPr>
          <a:xfrm>
            <a:off x="8776296" y="3120443"/>
            <a:ext cx="856654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R&amp;D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총괄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72960B-8496-A462-5D3A-1FBCC8ED87D8}"/>
              </a:ext>
            </a:extLst>
          </p:cNvPr>
          <p:cNvSpPr/>
          <p:nvPr/>
        </p:nvSpPr>
        <p:spPr>
          <a:xfrm>
            <a:off x="8776296" y="3720341"/>
            <a:ext cx="856654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R&amp;D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C0F168-BC69-B425-A75D-72EB73A16B0F}"/>
              </a:ext>
            </a:extLst>
          </p:cNvPr>
          <p:cNvSpPr/>
          <p:nvPr/>
        </p:nvSpPr>
        <p:spPr>
          <a:xfrm>
            <a:off x="8776296" y="4320240"/>
            <a:ext cx="856654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R&amp;D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실무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08B247-99D5-2F6F-6B7C-B372D55FD3ED}"/>
              </a:ext>
            </a:extLst>
          </p:cNvPr>
          <p:cNvSpPr/>
          <p:nvPr/>
        </p:nvSpPr>
        <p:spPr>
          <a:xfrm>
            <a:off x="6909014" y="3112384"/>
            <a:ext cx="856654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교육 총괄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E31C7A5-1CFA-462C-8A52-79556E54841D}"/>
              </a:ext>
            </a:extLst>
          </p:cNvPr>
          <p:cNvSpPr/>
          <p:nvPr/>
        </p:nvSpPr>
        <p:spPr>
          <a:xfrm>
            <a:off x="6909014" y="3712284"/>
            <a:ext cx="856654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교육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B2906E-2255-1637-C0F6-9D6AC969BC73}"/>
              </a:ext>
            </a:extLst>
          </p:cNvPr>
          <p:cNvSpPr/>
          <p:nvPr/>
        </p:nvSpPr>
        <p:spPr>
          <a:xfrm>
            <a:off x="6909014" y="4312182"/>
            <a:ext cx="856654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교육 실무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AA21AC-251F-F327-AB89-A66B03E5F568}"/>
              </a:ext>
            </a:extLst>
          </p:cNvPr>
          <p:cNvSpPr/>
          <p:nvPr/>
        </p:nvSpPr>
        <p:spPr>
          <a:xfrm>
            <a:off x="2294895" y="3122803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프로젝트 영업 총괄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D25BDF3-8079-DD2F-B6C4-49D150891B93}"/>
              </a:ext>
            </a:extLst>
          </p:cNvPr>
          <p:cNvSpPr/>
          <p:nvPr/>
        </p:nvSpPr>
        <p:spPr>
          <a:xfrm>
            <a:off x="2294895" y="3722701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프로젝트 영업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1121F15-0136-D926-556E-1E7A0E33386A}"/>
              </a:ext>
            </a:extLst>
          </p:cNvPr>
          <p:cNvSpPr/>
          <p:nvPr/>
        </p:nvSpPr>
        <p:spPr>
          <a:xfrm>
            <a:off x="2294895" y="4322600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프로젝트 영업 실무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7B19F8C-ED73-0B6D-70ED-F64945CA76F9}"/>
              </a:ext>
            </a:extLst>
          </p:cNvPr>
          <p:cNvSpPr/>
          <p:nvPr/>
        </p:nvSpPr>
        <p:spPr>
          <a:xfrm>
            <a:off x="3219983" y="3122803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SW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판매 영업 총괄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90214C-F5CC-D7F6-2349-940088E2C0C7}"/>
              </a:ext>
            </a:extLst>
          </p:cNvPr>
          <p:cNvSpPr/>
          <p:nvPr/>
        </p:nvSpPr>
        <p:spPr>
          <a:xfrm>
            <a:off x="3219983" y="3722701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SW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판매 영업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394E96-7C32-2B2F-BE26-3F18917B1B90}"/>
              </a:ext>
            </a:extLst>
          </p:cNvPr>
          <p:cNvSpPr/>
          <p:nvPr/>
        </p:nvSpPr>
        <p:spPr>
          <a:xfrm>
            <a:off x="3219983" y="4322600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SW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판매 영업 실무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CFBEA2F-67CB-9F48-33EF-3BEC641A79FC}"/>
              </a:ext>
            </a:extLst>
          </p:cNvPr>
          <p:cNvSpPr/>
          <p:nvPr/>
        </p:nvSpPr>
        <p:spPr>
          <a:xfrm>
            <a:off x="7842656" y="3122803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기술지원 총괄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7B5CB0E-78FD-0F34-23C1-E002730CE62A}"/>
              </a:ext>
            </a:extLst>
          </p:cNvPr>
          <p:cNvSpPr/>
          <p:nvPr/>
        </p:nvSpPr>
        <p:spPr>
          <a:xfrm>
            <a:off x="7842656" y="3722701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기술지원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3276542-9918-95DF-1BA1-B11480DDD6CB}"/>
              </a:ext>
            </a:extLst>
          </p:cNvPr>
          <p:cNvSpPr/>
          <p:nvPr/>
        </p:nvSpPr>
        <p:spPr>
          <a:xfrm>
            <a:off x="7842656" y="4322600"/>
            <a:ext cx="85665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기술지원 실무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25FC0CB-F512-31FA-C173-473B2D4275B7}"/>
              </a:ext>
            </a:extLst>
          </p:cNvPr>
          <p:cNvSpPr/>
          <p:nvPr/>
        </p:nvSpPr>
        <p:spPr>
          <a:xfrm>
            <a:off x="1065866" y="4961844"/>
            <a:ext cx="265884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경영</a:t>
            </a:r>
            <a:endParaRPr lang="en-US" altLang="ko-KR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4" panose="02020600000000000000" pitchFamily="18" charset="-127"/>
              <a:ea typeface="a고딕14" panose="02020600000000000000" pitchFamily="18" charset="-127"/>
            </a:endParaRPr>
          </a:p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기획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0DEAB5-F758-08F9-083E-0E4E8D0D3A09}"/>
              </a:ext>
            </a:extLst>
          </p:cNvPr>
          <p:cNvSpPr/>
          <p:nvPr/>
        </p:nvSpPr>
        <p:spPr>
          <a:xfrm>
            <a:off x="1361250" y="4961844"/>
            <a:ext cx="265884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인사</a:t>
            </a:r>
            <a:endParaRPr lang="en-US" altLang="ko-KR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4" panose="02020600000000000000" pitchFamily="18" charset="-127"/>
              <a:ea typeface="a고딕14" panose="02020600000000000000" pitchFamily="18" charset="-127"/>
            </a:endParaRPr>
          </a:p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총무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7F46C79-86A9-BDDB-E5EB-E4EB876E3B58}"/>
              </a:ext>
            </a:extLst>
          </p:cNvPr>
          <p:cNvSpPr/>
          <p:nvPr/>
        </p:nvSpPr>
        <p:spPr>
          <a:xfrm>
            <a:off x="1656635" y="4961844"/>
            <a:ext cx="265884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재무</a:t>
            </a:r>
            <a:endParaRPr lang="en-US" altLang="ko-KR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4" panose="02020600000000000000" pitchFamily="18" charset="-127"/>
              <a:ea typeface="a고딕14" panose="02020600000000000000" pitchFamily="18" charset="-127"/>
            </a:endParaRPr>
          </a:p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회계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F386F2B-BD7E-A77C-AC97-507D6ABEF560}"/>
              </a:ext>
            </a:extLst>
          </p:cNvPr>
          <p:cNvSpPr/>
          <p:nvPr/>
        </p:nvSpPr>
        <p:spPr>
          <a:xfrm>
            <a:off x="1952021" y="4961844"/>
            <a:ext cx="265884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마케팅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E557E1-2091-833D-2727-BC0F17F1975A}"/>
              </a:ext>
            </a:extLst>
          </p:cNvPr>
          <p:cNvSpPr/>
          <p:nvPr/>
        </p:nvSpPr>
        <p:spPr>
          <a:xfrm>
            <a:off x="6909016" y="4953786"/>
            <a:ext cx="856652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교육 운영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관리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4149B9E-673C-288C-4DE5-FD121B5900B4}"/>
              </a:ext>
            </a:extLst>
          </p:cNvPr>
          <p:cNvSpPr/>
          <p:nvPr/>
        </p:nvSpPr>
        <p:spPr>
          <a:xfrm>
            <a:off x="2290618" y="4953786"/>
            <a:ext cx="856653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프로젝트 영업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CB7DACB-18F7-0270-10B2-7F8EE7C833C4}"/>
              </a:ext>
            </a:extLst>
          </p:cNvPr>
          <p:cNvSpPr/>
          <p:nvPr/>
        </p:nvSpPr>
        <p:spPr>
          <a:xfrm>
            <a:off x="3219983" y="4953786"/>
            <a:ext cx="856653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SW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판매 영업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402B458-7D51-D6DE-5E09-E8698BF4C716}"/>
              </a:ext>
            </a:extLst>
          </p:cNvPr>
          <p:cNvSpPr/>
          <p:nvPr/>
        </p:nvSpPr>
        <p:spPr>
          <a:xfrm>
            <a:off x="4141054" y="2594537"/>
            <a:ext cx="2703544" cy="3868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BIM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컨설팅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3F00A87-D60F-78C5-D36C-43758E6C483A}"/>
              </a:ext>
            </a:extLst>
          </p:cNvPr>
          <p:cNvSpPr/>
          <p:nvPr/>
        </p:nvSpPr>
        <p:spPr>
          <a:xfrm>
            <a:off x="4141054" y="3722702"/>
            <a:ext cx="62327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계획 모델링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46F5252-7E94-5AFF-21F0-F66AF2242D0C}"/>
              </a:ext>
            </a:extLst>
          </p:cNvPr>
          <p:cNvSpPr/>
          <p:nvPr/>
        </p:nvSpPr>
        <p:spPr>
          <a:xfrm>
            <a:off x="4141054" y="4322602"/>
            <a:ext cx="62327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계획 모델링 실무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487EF80-8D9E-EF9F-2178-A59CD4474BF3}"/>
              </a:ext>
            </a:extLst>
          </p:cNvPr>
          <p:cNvSpPr/>
          <p:nvPr/>
        </p:nvSpPr>
        <p:spPr>
          <a:xfrm>
            <a:off x="4141054" y="4961844"/>
            <a:ext cx="623272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계획 모델링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A6CF82E-8EB6-A461-4809-427747AF0876}"/>
              </a:ext>
            </a:extLst>
          </p:cNvPr>
          <p:cNvSpPr/>
          <p:nvPr/>
        </p:nvSpPr>
        <p:spPr>
          <a:xfrm>
            <a:off x="6909013" y="2065435"/>
            <a:ext cx="1790295" cy="38686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교육 및 기술지원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54332AD-527B-DD26-0B85-CB237FAB212C}"/>
              </a:ext>
            </a:extLst>
          </p:cNvPr>
          <p:cNvSpPr/>
          <p:nvPr/>
        </p:nvSpPr>
        <p:spPr>
          <a:xfrm>
            <a:off x="7842656" y="2586480"/>
            <a:ext cx="856654" cy="3868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기술지원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D80408F-772C-601E-37DB-06F437C2D8DC}"/>
              </a:ext>
            </a:extLst>
          </p:cNvPr>
          <p:cNvSpPr/>
          <p:nvPr/>
        </p:nvSpPr>
        <p:spPr>
          <a:xfrm>
            <a:off x="7842656" y="4953786"/>
            <a:ext cx="856652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기술지원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D631150-8671-37AE-5591-CD3F13D68B22}"/>
              </a:ext>
            </a:extLst>
          </p:cNvPr>
          <p:cNvSpPr/>
          <p:nvPr/>
        </p:nvSpPr>
        <p:spPr>
          <a:xfrm>
            <a:off x="8776297" y="4953786"/>
            <a:ext cx="405813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건설 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SW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개발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FE0AB5C-0B28-92D5-E00F-5E6B7E5DE7A5}"/>
              </a:ext>
            </a:extLst>
          </p:cNvPr>
          <p:cNvSpPr/>
          <p:nvPr/>
        </p:nvSpPr>
        <p:spPr>
          <a:xfrm>
            <a:off x="9227137" y="4953786"/>
            <a:ext cx="405813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국책</a:t>
            </a:r>
            <a:endParaRPr lang="en-US" altLang="ko-KR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4" panose="02020600000000000000" pitchFamily="18" charset="-127"/>
              <a:ea typeface="a고딕14" panose="02020600000000000000" pitchFamily="18" charset="-127"/>
            </a:endParaRPr>
          </a:p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연구</a:t>
            </a:r>
            <a:endParaRPr lang="en-US" altLang="ko-KR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4" panose="02020600000000000000" pitchFamily="18" charset="-127"/>
              <a:ea typeface="a고딕14" panose="02020600000000000000" pitchFamily="18" charset="-127"/>
            </a:endParaRPr>
          </a:p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과제 </a:t>
            </a:r>
            <a:endParaRPr lang="en-US" altLang="ko-KR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4" panose="02020600000000000000" pitchFamily="18" charset="-127"/>
              <a:ea typeface="a고딕14" panose="02020600000000000000" pitchFamily="18" charset="-127"/>
            </a:endParaRPr>
          </a:p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기획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</a:p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수행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0D5CB6B-620F-4112-8ED4-13E9D88CDE58}"/>
              </a:ext>
            </a:extLst>
          </p:cNvPr>
          <p:cNvSpPr/>
          <p:nvPr/>
        </p:nvSpPr>
        <p:spPr>
          <a:xfrm>
            <a:off x="8768486" y="2065434"/>
            <a:ext cx="864465" cy="38686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연구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&amp;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개발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D775F26-2877-1F6D-4A1C-DF9E8E4162DF}"/>
              </a:ext>
            </a:extLst>
          </p:cNvPr>
          <p:cNvSpPr/>
          <p:nvPr/>
        </p:nvSpPr>
        <p:spPr>
          <a:xfrm>
            <a:off x="5526322" y="3722701"/>
            <a:ext cx="62327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구조 모델링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7247032-1E94-DDC4-CDD6-F17CF0B5FB9A}"/>
              </a:ext>
            </a:extLst>
          </p:cNvPr>
          <p:cNvSpPr/>
          <p:nvPr/>
        </p:nvSpPr>
        <p:spPr>
          <a:xfrm>
            <a:off x="5526323" y="4322601"/>
            <a:ext cx="623274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구조 모델링 실무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D960999-756B-2F32-372A-4932E00BB589}"/>
              </a:ext>
            </a:extLst>
          </p:cNvPr>
          <p:cNvSpPr/>
          <p:nvPr/>
        </p:nvSpPr>
        <p:spPr>
          <a:xfrm>
            <a:off x="5526324" y="4961843"/>
            <a:ext cx="623272" cy="11674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구조 모델링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C4D3757-89B3-4D8E-6042-D83C9A34A7CF}"/>
              </a:ext>
            </a:extLst>
          </p:cNvPr>
          <p:cNvSpPr/>
          <p:nvPr/>
        </p:nvSpPr>
        <p:spPr>
          <a:xfrm>
            <a:off x="6212312" y="3722700"/>
            <a:ext cx="623274" cy="5002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상하수도 모델링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0C9656A-E7D1-C30B-90C7-7EE84D7D5DE8}"/>
              </a:ext>
            </a:extLst>
          </p:cNvPr>
          <p:cNvSpPr/>
          <p:nvPr/>
        </p:nvSpPr>
        <p:spPr>
          <a:xfrm>
            <a:off x="6212313" y="4322600"/>
            <a:ext cx="623274" cy="5002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상하수도 모델링 실무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99CC785-04CC-7545-9899-018BC3ED8FA2}"/>
              </a:ext>
            </a:extLst>
          </p:cNvPr>
          <p:cNvSpPr/>
          <p:nvPr/>
        </p:nvSpPr>
        <p:spPr>
          <a:xfrm>
            <a:off x="6212314" y="4961842"/>
            <a:ext cx="623273" cy="11674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상하수도 모델링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E22E154-935F-FC24-17FC-01DCB8AC2F1D}"/>
              </a:ext>
            </a:extLst>
          </p:cNvPr>
          <p:cNvSpPr/>
          <p:nvPr/>
        </p:nvSpPr>
        <p:spPr>
          <a:xfrm>
            <a:off x="273051" y="2060575"/>
            <a:ext cx="663219" cy="394924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직군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8214108-6845-E988-7152-D2DC4F75913C}"/>
              </a:ext>
            </a:extLst>
          </p:cNvPr>
          <p:cNvSpPr/>
          <p:nvPr/>
        </p:nvSpPr>
        <p:spPr>
          <a:xfrm>
            <a:off x="281809" y="2586480"/>
            <a:ext cx="663219" cy="394924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직무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3377D2C-5AEC-396A-03B4-2387B4840B6D}"/>
              </a:ext>
            </a:extLst>
          </p:cNvPr>
          <p:cNvSpPr/>
          <p:nvPr/>
        </p:nvSpPr>
        <p:spPr>
          <a:xfrm>
            <a:off x="277153" y="3122803"/>
            <a:ext cx="663218" cy="1700001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고유직무</a:t>
            </a:r>
            <a:endParaRPr lang="en-US" altLang="ko-KR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6852930-D479-642C-F4DE-31AB9CD6AF09}"/>
              </a:ext>
            </a:extLst>
          </p:cNvPr>
          <p:cNvSpPr/>
          <p:nvPr/>
        </p:nvSpPr>
        <p:spPr>
          <a:xfrm>
            <a:off x="273051" y="4961844"/>
            <a:ext cx="663219" cy="1167494"/>
          </a:xfrm>
          <a:prstGeom prst="rect">
            <a:avLst/>
          </a:prstGeom>
          <a:solidFill>
            <a:srgbClr val="00206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표준직무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4400A2D-460A-1ECB-315F-0BD05ED317EC}"/>
              </a:ext>
            </a:extLst>
          </p:cNvPr>
          <p:cNvSpPr/>
          <p:nvPr/>
        </p:nvSpPr>
        <p:spPr>
          <a:xfrm>
            <a:off x="4827451" y="3722701"/>
            <a:ext cx="62327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드론응용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 모델링 관리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·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책임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B85FCFB1-DAD0-A2A4-B233-3E28D94C704D}"/>
              </a:ext>
            </a:extLst>
          </p:cNvPr>
          <p:cNvSpPr/>
          <p:nvPr/>
        </p:nvSpPr>
        <p:spPr>
          <a:xfrm>
            <a:off x="4827451" y="4322602"/>
            <a:ext cx="62327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드론응용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 모델링 실무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3421DA57-A2E1-2B3E-DB14-416CE6C63CE3}"/>
              </a:ext>
            </a:extLst>
          </p:cNvPr>
          <p:cNvSpPr/>
          <p:nvPr/>
        </p:nvSpPr>
        <p:spPr>
          <a:xfrm>
            <a:off x="4827452" y="4961844"/>
            <a:ext cx="623272" cy="11674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드론응용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 모델링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59739D4-E183-2BFF-FA26-73275F561A2E}"/>
              </a:ext>
            </a:extLst>
          </p:cNvPr>
          <p:cNvSpPr/>
          <p:nvPr/>
        </p:nvSpPr>
        <p:spPr>
          <a:xfrm>
            <a:off x="4141054" y="3122803"/>
            <a:ext cx="2690973" cy="5002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BIM </a:t>
            </a:r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컨설팅 총괄</a:t>
            </a:r>
          </a:p>
        </p:txBody>
      </p:sp>
    </p:spTree>
    <p:extLst>
      <p:ext uri="{BB962C8B-B14F-4D97-AF65-F5344CB8AC3E}">
        <p14:creationId xmlns:p14="http://schemas.microsoft.com/office/powerpoint/2010/main" val="7657533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6BFB-0880-47E3-0861-8EC4DC31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C18EA9F-0516-810A-5350-DCACDE8ED1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과거 직급체계는 조직 내 유일한 인력운영의 준거로서 기능하였으나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점차 조직의 대내외 환경변화에 따른 탄력적 인사관리의 필요성이 증대되면서 직급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/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직책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/</a:t>
            </a:r>
            <a:r>
              <a:rPr lang="ko-KR" altLang="en-US" dirty="0">
                <a:solidFill>
                  <a:schemeClr val="dk1"/>
                </a:solidFill>
                <a:latin typeface="+mn-lt"/>
                <a:ea typeface="+mn-ea"/>
              </a:rPr>
              <a:t>직위로 그 기능이 세분화되어 독자적으로 운영되고 있음</a:t>
            </a:r>
            <a:r>
              <a:rPr lang="en-US" altLang="ko-KR" dirty="0">
                <a:solidFill>
                  <a:schemeClr val="dk1"/>
                </a:solidFill>
                <a:latin typeface="+mn-lt"/>
                <a:ea typeface="+mn-ea"/>
              </a:rPr>
              <a:t>.</a:t>
            </a:r>
            <a:endParaRPr lang="ko-KR" altLang="en-US" dirty="0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55" name="텍스트 개체 틀 1">
            <a:extLst>
              <a:ext uri="{FF2B5EF4-FFF2-40B4-BE49-F238E27FC236}">
                <a16:creationId xmlns:a16="http://schemas.microsoft.com/office/drawing/2014/main" id="{92DB3392-9645-63A6-3DC9-EF1122671C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49" y="389514"/>
            <a:ext cx="6196313" cy="324327"/>
          </a:xfrm>
        </p:spPr>
        <p:txBody>
          <a:bodyPr wrap="square" anchor="ctr">
            <a:no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[S1] </a:t>
            </a:r>
            <a:r>
              <a:rPr lang="ko-KR" altLang="en-US">
                <a:latin typeface="+mj-ea"/>
                <a:ea typeface="+mj-ea"/>
              </a:rPr>
              <a:t>직무체계 설계</a:t>
            </a:r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AB9A3C8-9C0F-C706-26B4-019579D5C233}"/>
              </a:ext>
            </a:extLst>
          </p:cNvPr>
          <p:cNvGrpSpPr/>
          <p:nvPr/>
        </p:nvGrpSpPr>
        <p:grpSpPr>
          <a:xfrm>
            <a:off x="273050" y="1643085"/>
            <a:ext cx="9359900" cy="319435"/>
            <a:chOff x="488950" y="1879556"/>
            <a:chExt cx="8928100" cy="300521"/>
          </a:xfrm>
        </p:grpSpPr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66E2514A-EA7D-8568-5AC5-0D472FFC22DA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6CF0C280-D3AB-B31D-4123-0007EB450C08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lvl="0" algn="ctr" fontAlgn="base" latinLnBrk="0">
                <a:lnSpc>
                  <a:spcPct val="95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defRPr/>
              </a:pP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직급체계의 의미와 기능 분화</a:t>
              </a:r>
              <a:endPara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1F7E6F-A15A-E73D-37CE-8979DFEE3F73}"/>
              </a:ext>
            </a:extLst>
          </p:cNvPr>
          <p:cNvGrpSpPr/>
          <p:nvPr/>
        </p:nvGrpSpPr>
        <p:grpSpPr>
          <a:xfrm>
            <a:off x="273049" y="2047804"/>
            <a:ext cx="9248146" cy="4081533"/>
            <a:chOff x="273049" y="2047805"/>
            <a:chExt cx="9248146" cy="3307318"/>
          </a:xfrm>
        </p:grpSpPr>
        <p:sp>
          <p:nvSpPr>
            <p:cNvPr id="2" name="AutoShape 270">
              <a:extLst>
                <a:ext uri="{FF2B5EF4-FFF2-40B4-BE49-F238E27FC236}">
                  <a16:creationId xmlns:a16="http://schemas.microsoft.com/office/drawing/2014/main" id="{29DF9FCE-3630-B7D4-4553-3E46F3FF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49" y="2088068"/>
              <a:ext cx="5670551" cy="3267055"/>
            </a:xfrm>
            <a:prstGeom prst="rightArrow">
              <a:avLst>
                <a:gd name="adj1" fmla="val 100000"/>
                <a:gd name="adj2" fmla="val 29048"/>
              </a:avLst>
            </a:prstGeom>
            <a:solidFill>
              <a:srgbClr val="EDF2F8"/>
            </a:solidFill>
            <a:ln>
              <a:noFill/>
            </a:ln>
            <a:effectLst/>
          </p:spPr>
          <p:txBody>
            <a:bodyPr lIns="36000" tIns="46800" rIns="0" bIns="46800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j-lt"/>
                <a:ea typeface="돋움"/>
                <a:cs typeface="+mn-cs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C1C73EE-BFDF-F32E-5EBE-950ACB1A4E0C}"/>
                </a:ext>
              </a:extLst>
            </p:cNvPr>
            <p:cNvSpPr/>
            <p:nvPr/>
          </p:nvSpPr>
          <p:spPr>
            <a:xfrm>
              <a:off x="396688" y="2313488"/>
              <a:ext cx="241599" cy="1332000"/>
            </a:xfrm>
            <a:prstGeom prst="rect">
              <a:avLst/>
            </a:prstGeom>
            <a:solidFill>
              <a:srgbClr val="595959"/>
            </a:solidFill>
            <a:ln w="158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+mn-ea"/>
                </a:rPr>
                <a:t>조직내부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B6419AF-5E46-F71F-CE23-3A575F5D5224}"/>
                </a:ext>
              </a:extLst>
            </p:cNvPr>
            <p:cNvSpPr/>
            <p:nvPr/>
          </p:nvSpPr>
          <p:spPr>
            <a:xfrm>
              <a:off x="396687" y="3895946"/>
              <a:ext cx="241599" cy="1337662"/>
            </a:xfrm>
            <a:prstGeom prst="rect">
              <a:avLst/>
            </a:prstGeom>
            <a:solidFill>
              <a:srgbClr val="595959"/>
            </a:solidFill>
            <a:ln w="158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 err="1">
                  <a:solidFill>
                    <a:schemeClr val="bg1"/>
                  </a:solidFill>
                  <a:latin typeface="+mn-ea"/>
                </a:rPr>
                <a:t>조직외부</a:t>
              </a:r>
              <a:endParaRPr lang="ko-KR" alt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44D463F-B8E7-F907-B2F5-418EF67D7D02}"/>
                </a:ext>
              </a:extLst>
            </p:cNvPr>
            <p:cNvSpPr/>
            <p:nvPr/>
          </p:nvSpPr>
          <p:spPr>
            <a:xfrm>
              <a:off x="755198" y="2308877"/>
              <a:ext cx="1004278" cy="59728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algn="ctr" fontAlgn="base" latinLnBrk="0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1" lang="ko-KR" altLang="en-US" sz="1200" b="1" kern="0" spc="-100" dirty="0">
                  <a:solidFill>
                    <a:prstClr val="black"/>
                  </a:solidFill>
                  <a:latin typeface="+mn-ea"/>
                </a:rPr>
                <a:t>역할과 책임</a:t>
              </a:r>
              <a:endParaRPr kumimoji="1" lang="en-US" altLang="ko-KR" sz="1200" b="1" kern="0" spc="-100" dirty="0">
                <a:solidFill>
                  <a:prstClr val="black"/>
                </a:solidFill>
                <a:latin typeface="+mn-ea"/>
              </a:endParaRPr>
            </a:p>
            <a:p>
              <a:pPr algn="ctr" fontAlgn="base" latinLnBrk="0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1" lang="en-US" altLang="ko-KR" sz="1200" b="1" kern="0" spc="-100" dirty="0">
                  <a:solidFill>
                    <a:prstClr val="black"/>
                  </a:solidFill>
                  <a:latin typeface="+mn-ea"/>
                </a:rPr>
                <a:t>R&amp;R</a:t>
              </a:r>
              <a:endParaRPr kumimoji="1" lang="ko-KR" altLang="en-US" sz="1200" b="1" kern="0" spc="-10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C2199F7-7595-37D0-6565-023E27E287D9}"/>
                </a:ext>
              </a:extLst>
            </p:cNvPr>
            <p:cNvSpPr/>
            <p:nvPr/>
          </p:nvSpPr>
          <p:spPr>
            <a:xfrm>
              <a:off x="755198" y="3044423"/>
              <a:ext cx="1004278" cy="59728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algn="ctr" fontAlgn="base" latinLnBrk="0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1" lang="ko-KR" altLang="en-US" sz="1200" b="1" kern="0" spc="-100" dirty="0">
                  <a:solidFill>
                    <a:prstClr val="black"/>
                  </a:solidFill>
                  <a:latin typeface="+mn-ea"/>
                </a:rPr>
                <a:t>인사 준거</a:t>
              </a:r>
              <a:endParaRPr kumimoji="1" lang="en-US" altLang="ko-KR" sz="1200" b="1" kern="0" spc="-100" dirty="0">
                <a:solidFill>
                  <a:prstClr val="black"/>
                </a:solidFill>
                <a:latin typeface="+mn-ea"/>
              </a:endParaRPr>
            </a:p>
            <a:p>
              <a:pPr algn="ctr" fontAlgn="base" latinLnBrk="0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1" lang="en-US" altLang="ko-KR" sz="1200" b="1" kern="0" spc="-100" dirty="0">
                  <a:solidFill>
                    <a:prstClr val="black"/>
                  </a:solidFill>
                  <a:latin typeface="+mn-ea"/>
                </a:rPr>
                <a:t>Reference</a:t>
              </a:r>
              <a:endParaRPr kumimoji="1" lang="ko-KR" altLang="en-US" sz="1200" b="1" kern="0" spc="-10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C386645-243C-8332-5CF5-ABEA9BF3EAD3}"/>
                </a:ext>
              </a:extLst>
            </p:cNvPr>
            <p:cNvSpPr/>
            <p:nvPr/>
          </p:nvSpPr>
          <p:spPr>
            <a:xfrm>
              <a:off x="755198" y="3895946"/>
              <a:ext cx="1004278" cy="59728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algn="ctr" fontAlgn="base" latinLnBrk="0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1" lang="ko-KR" altLang="en-US" sz="1200" b="1" kern="0" spc="-100" dirty="0">
                  <a:solidFill>
                    <a:prstClr val="black"/>
                  </a:solidFill>
                  <a:latin typeface="+mn-ea"/>
                </a:rPr>
                <a:t>신호 효과</a:t>
              </a:r>
              <a:endParaRPr kumimoji="1" lang="en-US" altLang="ko-KR" sz="1200" b="1" kern="0" spc="-100" dirty="0">
                <a:solidFill>
                  <a:prstClr val="black"/>
                </a:solidFill>
                <a:latin typeface="+mn-ea"/>
              </a:endParaRPr>
            </a:p>
            <a:p>
              <a:pPr algn="ctr" fontAlgn="base" latinLnBrk="0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1" lang="en-US" altLang="ko-KR" sz="1200" b="1" kern="0" spc="-100" dirty="0">
                  <a:solidFill>
                    <a:prstClr val="black"/>
                  </a:solidFill>
                  <a:latin typeface="+mn-ea"/>
                </a:rPr>
                <a:t>Signaling</a:t>
              </a:r>
              <a:endParaRPr kumimoji="1" lang="ko-KR" altLang="en-US" sz="1200" b="1" kern="0" spc="-10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F02DDD8-31BE-7510-CE58-ACFA7BF97A24}"/>
                </a:ext>
              </a:extLst>
            </p:cNvPr>
            <p:cNvSpPr/>
            <p:nvPr/>
          </p:nvSpPr>
          <p:spPr>
            <a:xfrm>
              <a:off x="755198" y="4636325"/>
              <a:ext cx="1004278" cy="59728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lIns="36000" tIns="36000" rIns="36000" bIns="36000" rtlCol="0" anchor="ctr"/>
            <a:lstStyle/>
            <a:p>
              <a:pPr algn="ctr" fontAlgn="base" latinLnBrk="0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1" lang="ko-KR" altLang="en-US" sz="1200" b="1" kern="0" spc="-100" dirty="0">
                  <a:solidFill>
                    <a:prstClr val="black"/>
                  </a:solidFill>
                  <a:latin typeface="+mn-ea"/>
                </a:rPr>
                <a:t>자기 인식</a:t>
              </a:r>
              <a:endParaRPr kumimoji="1" lang="en-US" altLang="ko-KR" sz="1200" b="1" kern="0" spc="-100" dirty="0">
                <a:solidFill>
                  <a:prstClr val="black"/>
                </a:solidFill>
                <a:latin typeface="+mn-ea"/>
              </a:endParaRPr>
            </a:p>
            <a:p>
              <a:pPr algn="ctr" fontAlgn="base" latinLnBrk="0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1" lang="en-US" altLang="ko-KR" sz="1200" b="1" kern="0" spc="-100" dirty="0">
                  <a:solidFill>
                    <a:prstClr val="black"/>
                  </a:solidFill>
                  <a:latin typeface="+mn-ea"/>
                </a:rPr>
                <a:t>Identification</a:t>
              </a:r>
              <a:endParaRPr kumimoji="1" lang="ko-KR" altLang="en-US" sz="1200" b="1" kern="0" spc="-10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49" name="Text Box 8">
              <a:extLst>
                <a:ext uri="{FF2B5EF4-FFF2-40B4-BE49-F238E27FC236}">
                  <a16:creationId xmlns:a16="http://schemas.microsoft.com/office/drawing/2014/main" id="{F6788D2A-479C-B496-9892-E50920606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267" y="2308877"/>
              <a:ext cx="2840713" cy="65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0A66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85725" indent="-85725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1pPr>
              <a:lvl2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2pPr>
              <a:lvl3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3pPr>
              <a:lvl4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4pPr>
              <a:lvl5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9pPr>
            </a:lstStyle>
            <a:p>
              <a:pPr indent="0" eaLnBrk="1" hangingPunct="1">
                <a:lnSpc>
                  <a:spcPct val="110000"/>
                </a:lnSpc>
                <a:spcBef>
                  <a:spcPct val="40000"/>
                </a:spcBef>
                <a:buClrTx/>
              </a:pP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조직 운영의 </a:t>
              </a:r>
              <a:r>
                <a:rPr lang="ko-KR" altLang="en-US" sz="1100" dirty="0" err="1">
                  <a:solidFill>
                    <a:srgbClr val="000000"/>
                  </a:solidFill>
                  <a:latin typeface="+mn-ea"/>
                  <a:ea typeface="+mn-ea"/>
                </a:rPr>
                <a:t>위계상에서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권한 및 책임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 등을 규정하고 상하 의사소통의 기본 </a:t>
              </a:r>
              <a:r>
                <a:rPr lang="en-US" altLang="ko-KR" sz="1100" dirty="0">
                  <a:solidFill>
                    <a:srgbClr val="000000"/>
                  </a:solidFill>
                  <a:latin typeface="+mn-ea"/>
                  <a:ea typeface="+mn-ea"/>
                </a:rPr>
                <a:t>Frame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으로서 기능함  </a:t>
              </a:r>
            </a:p>
          </p:txBody>
        </p:sp>
        <p:sp>
          <p:nvSpPr>
            <p:cNvPr id="50" name="Text Box 67">
              <a:extLst>
                <a:ext uri="{FF2B5EF4-FFF2-40B4-BE49-F238E27FC236}">
                  <a16:creationId xmlns:a16="http://schemas.microsoft.com/office/drawing/2014/main" id="{B920D201-F56F-660D-781F-3169E4962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267" y="3062240"/>
              <a:ext cx="2840713" cy="65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0A66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85725" indent="-85725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1pPr>
              <a:lvl2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2pPr>
              <a:lvl3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3pPr>
              <a:lvl4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4pPr>
              <a:lvl5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9pPr>
            </a:lstStyle>
            <a:p>
              <a:pPr indent="0" eaLnBrk="1" hangingPunct="1">
                <a:lnSpc>
                  <a:spcPct val="110000"/>
                </a:lnSpc>
                <a:spcBef>
                  <a:spcPct val="40000"/>
                </a:spcBef>
                <a:buClrTx/>
              </a:pP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직급은 회사의 기대수준을 반영하고 있으므로</a:t>
              </a:r>
              <a:r>
                <a:rPr lang="en-US" altLang="ko-KR" sz="1100" dirty="0">
                  <a:solidFill>
                    <a:srgbClr val="000000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채용</a:t>
              </a:r>
              <a:r>
                <a:rPr lang="en-US" altLang="ko-KR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평가</a:t>
              </a:r>
              <a:r>
                <a:rPr lang="en-US" altLang="ko-KR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보상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 등 제반 인력운영의 기본 준거 역할을 함</a:t>
              </a:r>
            </a:p>
          </p:txBody>
        </p:sp>
        <p:sp>
          <p:nvSpPr>
            <p:cNvPr id="51" name="Text Box 95">
              <a:extLst>
                <a:ext uri="{FF2B5EF4-FFF2-40B4-BE49-F238E27FC236}">
                  <a16:creationId xmlns:a16="http://schemas.microsoft.com/office/drawing/2014/main" id="{6B78B20B-9A4C-A16B-89E6-D45262F89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267" y="3895946"/>
              <a:ext cx="2840712" cy="65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0A66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85725" indent="-85725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1pPr>
              <a:lvl2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2pPr>
              <a:lvl3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3pPr>
              <a:lvl4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4pPr>
              <a:lvl5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9pPr>
            </a:lstStyle>
            <a:p>
              <a:pPr indent="0" eaLnBrk="1" hangingPunct="1">
                <a:lnSpc>
                  <a:spcPct val="110000"/>
                </a:lnSpc>
                <a:spcBef>
                  <a:spcPct val="40000"/>
                </a:spcBef>
                <a:buClrTx/>
              </a:pPr>
              <a:r>
                <a:rPr lang="ko-KR" altLang="en-US" sz="1100" dirty="0" err="1">
                  <a:solidFill>
                    <a:srgbClr val="000000"/>
                  </a:solidFill>
                  <a:latin typeface="+mn-ea"/>
                  <a:ea typeface="+mn-ea"/>
                </a:rPr>
                <a:t>직급상승은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 공급자</a:t>
              </a:r>
              <a:r>
                <a:rPr lang="en-US" altLang="ko-KR" sz="1100" dirty="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수요자의 관계에 있어 </a:t>
              </a:r>
              <a:r>
                <a:rPr lang="en-US" altLang="ko-KR" sz="1100" dirty="0">
                  <a:solidFill>
                    <a:srgbClr val="000000"/>
                  </a:solidFill>
                  <a:latin typeface="+mn-ea"/>
                  <a:ea typeface="+mn-ea"/>
                </a:rPr>
                <a:t>Comm. </a:t>
              </a:r>
              <a:r>
                <a:rPr lang="ko-KR" altLang="en-US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신뢰수준 및 </a:t>
              </a:r>
              <a:r>
                <a:rPr lang="ko-KR" altLang="en-US" sz="1100" b="1" u="sng" dirty="0" err="1">
                  <a:solidFill>
                    <a:srgbClr val="000000"/>
                  </a:solidFill>
                  <a:latin typeface="+mn-ea"/>
                  <a:ea typeface="+mn-ea"/>
                </a:rPr>
                <a:t>기대요구</a:t>
              </a:r>
              <a:r>
                <a:rPr lang="ko-KR" altLang="en-US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 수준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의 향상을 </a:t>
              </a:r>
              <a:r>
                <a:rPr lang="ko-KR" altLang="en-US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상징적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으로 나타냄</a:t>
              </a:r>
            </a:p>
          </p:txBody>
        </p:sp>
        <p:sp>
          <p:nvSpPr>
            <p:cNvPr id="52" name="Text Box 71">
              <a:extLst>
                <a:ext uri="{FF2B5EF4-FFF2-40B4-BE49-F238E27FC236}">
                  <a16:creationId xmlns:a16="http://schemas.microsoft.com/office/drawing/2014/main" id="{766FF7B5-D6CF-A09A-FACA-BB343D349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267" y="4596239"/>
              <a:ext cx="2840712" cy="6509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0A660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85725" indent="-85725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1pPr>
              <a:lvl2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2pPr>
              <a:lvl3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3pPr>
              <a:lvl4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4pPr>
              <a:lvl5pPr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맑은 고딕" panose="020B0503020000020004" pitchFamily="50" charset="-127"/>
                </a:defRPr>
              </a:lvl9pPr>
            </a:lstStyle>
            <a:p>
              <a:pPr indent="0" eaLnBrk="1" hangingPunct="1">
                <a:lnSpc>
                  <a:spcPct val="110000"/>
                </a:lnSpc>
                <a:spcBef>
                  <a:spcPct val="40000"/>
                </a:spcBef>
                <a:buClrTx/>
              </a:pP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직급은 다양한 집단들과의 </a:t>
              </a:r>
              <a:r>
                <a:rPr lang="en-US" altLang="ko-KR" sz="1100" dirty="0">
                  <a:solidFill>
                    <a:srgbClr val="000000"/>
                  </a:solidFill>
                  <a:latin typeface="+mn-ea"/>
                  <a:ea typeface="+mn-ea"/>
                </a:rPr>
                <a:t>Network 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속에서 개인의 사회적 지위 및 </a:t>
              </a:r>
              <a:r>
                <a:rPr lang="ko-KR" altLang="en-US" sz="1100" b="1" u="sng" dirty="0" err="1">
                  <a:solidFill>
                    <a:srgbClr val="000000"/>
                  </a:solidFill>
                  <a:latin typeface="+mn-ea"/>
                  <a:ea typeface="+mn-ea"/>
                </a:rPr>
                <a:t>자존감을</a:t>
              </a:r>
              <a:r>
                <a:rPr lang="ko-KR" altLang="en-US" sz="1100" b="1" u="sng" dirty="0">
                  <a:solidFill>
                    <a:srgbClr val="000000"/>
                  </a:solidFill>
                  <a:latin typeface="+mn-ea"/>
                  <a:ea typeface="+mn-ea"/>
                </a:rPr>
                <a:t> 인식</a:t>
              </a:r>
              <a:r>
                <a:rPr lang="ko-KR" altLang="en-US" sz="1100" dirty="0">
                  <a:solidFill>
                    <a:srgbClr val="000000"/>
                  </a:solidFill>
                  <a:latin typeface="+mn-ea"/>
                  <a:ea typeface="+mn-ea"/>
                </a:rPr>
                <a:t>하기 위한 </a:t>
              </a:r>
              <a:r>
                <a:rPr lang="ko-KR" altLang="en-US" sz="1100" dirty="0" err="1">
                  <a:solidFill>
                    <a:srgbClr val="000000"/>
                  </a:solidFill>
                  <a:latin typeface="+mn-ea"/>
                  <a:ea typeface="+mn-ea"/>
                </a:rPr>
                <a:t>수단임</a:t>
              </a:r>
              <a:endParaRPr lang="ko-KR" altLang="en-US" sz="110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BBB2E66-738F-5C30-A978-CBE101DE5DCC}"/>
                </a:ext>
              </a:extLst>
            </p:cNvPr>
            <p:cNvCxnSpPr/>
            <p:nvPr/>
          </p:nvCxnSpPr>
          <p:spPr bwMode="auto">
            <a:xfrm>
              <a:off x="422088" y="3792917"/>
              <a:ext cx="5386007" cy="0"/>
            </a:xfrm>
            <a:prstGeom prst="line">
              <a:avLst/>
            </a:prstGeom>
            <a:noFill/>
            <a:ln w="31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D65C2DF-EA1B-267F-5C5F-828158CD4C70}"/>
                </a:ext>
              </a:extLst>
            </p:cNvPr>
            <p:cNvSpPr/>
            <p:nvPr/>
          </p:nvSpPr>
          <p:spPr>
            <a:xfrm>
              <a:off x="2439732" y="2047805"/>
              <a:ext cx="6976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200" b="1" u="sng" dirty="0">
                  <a:solidFill>
                    <a:prstClr val="black"/>
                  </a:solidFill>
                </a:rPr>
                <a:t>As-was</a:t>
              </a:r>
              <a:endParaRPr kumimoji="1" lang="ko-KR" altLang="en-US" sz="1200" b="1" u="sng" dirty="0">
                <a:solidFill>
                  <a:prstClr val="black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03346AF-39D3-F800-2218-093290384489}"/>
                </a:ext>
              </a:extLst>
            </p:cNvPr>
            <p:cNvSpPr/>
            <p:nvPr/>
          </p:nvSpPr>
          <p:spPr>
            <a:xfrm>
              <a:off x="7472627" y="2047805"/>
              <a:ext cx="57958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1200" b="1" u="sng" dirty="0">
                  <a:solidFill>
                    <a:prstClr val="black"/>
                  </a:solidFill>
                </a:rPr>
                <a:t>To-be</a:t>
              </a:r>
              <a:endParaRPr kumimoji="1" lang="ko-KR" altLang="en-US" sz="1200" b="1" u="sng" dirty="0">
                <a:solidFill>
                  <a:prstClr val="black"/>
                </a:solidFill>
              </a:endParaRPr>
            </a:p>
          </p:txBody>
        </p:sp>
        <p:cxnSp>
          <p:nvCxnSpPr>
            <p:cNvPr id="62" name="연결선: 꺾임 40">
              <a:extLst>
                <a:ext uri="{FF2B5EF4-FFF2-40B4-BE49-F238E27FC236}">
                  <a16:creationId xmlns:a16="http://schemas.microsoft.com/office/drawing/2014/main" id="{4006E0C7-9F9F-4CFD-0CBE-9A0DA7453430}"/>
                </a:ext>
              </a:extLst>
            </p:cNvPr>
            <p:cNvCxnSpPr/>
            <p:nvPr/>
          </p:nvCxnSpPr>
          <p:spPr>
            <a:xfrm>
              <a:off x="4678599" y="2448883"/>
              <a:ext cx="814850" cy="3593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40">
              <a:extLst>
                <a:ext uri="{FF2B5EF4-FFF2-40B4-BE49-F238E27FC236}">
                  <a16:creationId xmlns:a16="http://schemas.microsoft.com/office/drawing/2014/main" id="{B4E3E442-D3B5-EEB3-B29E-0B6B1BCC99EE}"/>
                </a:ext>
              </a:extLst>
            </p:cNvPr>
            <p:cNvCxnSpPr/>
            <p:nvPr/>
          </p:nvCxnSpPr>
          <p:spPr>
            <a:xfrm>
              <a:off x="4678599" y="3328459"/>
              <a:ext cx="814850" cy="3593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연결선: 꺾임 40">
              <a:extLst>
                <a:ext uri="{FF2B5EF4-FFF2-40B4-BE49-F238E27FC236}">
                  <a16:creationId xmlns:a16="http://schemas.microsoft.com/office/drawing/2014/main" id="{82B1A9A0-1CF0-2DC3-9E3B-98B7E479A2D7}"/>
                </a:ext>
              </a:extLst>
            </p:cNvPr>
            <p:cNvCxnSpPr/>
            <p:nvPr/>
          </p:nvCxnSpPr>
          <p:spPr>
            <a:xfrm>
              <a:off x="4678599" y="4160520"/>
              <a:ext cx="814850" cy="52303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연결선: 꺾임 40">
              <a:extLst>
                <a:ext uri="{FF2B5EF4-FFF2-40B4-BE49-F238E27FC236}">
                  <a16:creationId xmlns:a16="http://schemas.microsoft.com/office/drawing/2014/main" id="{FFDB662D-B668-7050-F17A-298E3499DABF}"/>
                </a:ext>
              </a:extLst>
            </p:cNvPr>
            <p:cNvCxnSpPr/>
            <p:nvPr/>
          </p:nvCxnSpPr>
          <p:spPr>
            <a:xfrm flipV="1">
              <a:off x="4678599" y="4683010"/>
              <a:ext cx="814850" cy="27496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BF2A96D4-8DCD-4ECC-49D8-D87F93DA5AA3}"/>
                </a:ext>
              </a:extLst>
            </p:cNvPr>
            <p:cNvGrpSpPr/>
            <p:nvPr/>
          </p:nvGrpSpPr>
          <p:grpSpPr>
            <a:xfrm>
              <a:off x="5526068" y="2473046"/>
              <a:ext cx="3995127" cy="2573068"/>
              <a:chOff x="5849913" y="2293735"/>
              <a:chExt cx="3638928" cy="2573068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399E090E-8DB5-AA18-96CB-1C714B3F44EA}"/>
                  </a:ext>
                </a:extLst>
              </p:cNvPr>
              <p:cNvSpPr/>
              <p:nvPr/>
            </p:nvSpPr>
            <p:spPr>
              <a:xfrm>
                <a:off x="5849913" y="2334063"/>
                <a:ext cx="859192" cy="5972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/>
            </p:spPr>
            <p:txBody>
              <a:bodyPr lIns="36000" tIns="36000" rIns="36000" bIns="36000" rtlCol="0" anchor="ctr"/>
              <a:lstStyle/>
              <a:p>
                <a:pPr algn="ctr" fontAlgn="base" latinLnBrk="0">
                  <a:lnSpc>
                    <a:spcPts val="16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kumimoji="1" lang="ko-KR" altLang="en-US" sz="1400" b="1" kern="0" spc="-100" dirty="0">
                    <a:solidFill>
                      <a:prstClr val="black"/>
                    </a:solidFill>
                    <a:latin typeface="+mn-ea"/>
                  </a:rPr>
                  <a:t>직책</a:t>
                </a:r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4ABC9F46-E0A7-0B66-E104-B74A5F8E7747}"/>
                  </a:ext>
                </a:extLst>
              </p:cNvPr>
              <p:cNvSpPr/>
              <p:nvPr/>
            </p:nvSpPr>
            <p:spPr>
              <a:xfrm>
                <a:off x="5849913" y="3298510"/>
                <a:ext cx="859192" cy="5972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/>
            </p:spPr>
            <p:txBody>
              <a:bodyPr lIns="36000" tIns="36000" rIns="36000" bIns="36000" rtlCol="0" anchor="ctr"/>
              <a:lstStyle/>
              <a:p>
                <a:pPr algn="ctr" fontAlgn="base" latinLnBrk="0">
                  <a:lnSpc>
                    <a:spcPts val="16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kumimoji="1" lang="ko-KR" altLang="en-US" sz="1400" b="1" kern="0" spc="-100" dirty="0">
                    <a:solidFill>
                      <a:prstClr val="black"/>
                    </a:solidFill>
                    <a:latin typeface="+mn-ea"/>
                  </a:rPr>
                  <a:t>직급</a:t>
                </a:r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47925ED6-E5BC-A754-D624-E7C124D8EE7E}"/>
                  </a:ext>
                </a:extLst>
              </p:cNvPr>
              <p:cNvSpPr/>
              <p:nvPr/>
            </p:nvSpPr>
            <p:spPr>
              <a:xfrm>
                <a:off x="5849913" y="4269521"/>
                <a:ext cx="859192" cy="5972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ysClr val="window" lastClr="FFFFFF">
                    <a:lumMod val="50000"/>
                  </a:sysClr>
                </a:solidFill>
                <a:prstDash val="solid"/>
              </a:ln>
              <a:effectLst/>
            </p:spPr>
            <p:txBody>
              <a:bodyPr lIns="36000" tIns="36000" rIns="36000" bIns="36000" rtlCol="0" anchor="ctr"/>
              <a:lstStyle/>
              <a:p>
                <a:pPr algn="ctr" fontAlgn="base" latinLnBrk="0">
                  <a:lnSpc>
                    <a:spcPts val="16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kumimoji="1" lang="ko-KR" altLang="en-US" sz="1400" b="1" kern="0" spc="-100" dirty="0">
                    <a:solidFill>
                      <a:prstClr val="black"/>
                    </a:solidFill>
                    <a:latin typeface="+mn-ea"/>
                  </a:rPr>
                  <a:t>직위</a:t>
                </a:r>
                <a:r>
                  <a:rPr kumimoji="1" lang="en-US" altLang="ko-KR" sz="1400" b="1" kern="0" spc="-100" dirty="0">
                    <a:solidFill>
                      <a:prstClr val="black"/>
                    </a:solidFill>
                    <a:latin typeface="+mn-ea"/>
                  </a:rPr>
                  <a:t>(</a:t>
                </a:r>
                <a:r>
                  <a:rPr kumimoji="1" lang="ko-KR" altLang="en-US" sz="1400" b="1" kern="0" spc="-100" dirty="0">
                    <a:solidFill>
                      <a:prstClr val="black"/>
                    </a:solidFill>
                    <a:latin typeface="+mn-ea"/>
                  </a:rPr>
                  <a:t>호칭</a:t>
                </a:r>
                <a:r>
                  <a:rPr kumimoji="1" lang="en-US" altLang="ko-KR" sz="1400" b="1" kern="0" spc="-100" dirty="0">
                    <a:solidFill>
                      <a:prstClr val="black"/>
                    </a:solidFill>
                    <a:latin typeface="+mn-ea"/>
                  </a:rPr>
                  <a:t>)</a:t>
                </a:r>
                <a:endParaRPr kumimoji="1" lang="ko-KR" altLang="en-US" sz="1400" b="1" kern="0" spc="-10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70" name="Text Box 8">
                <a:extLst>
                  <a:ext uri="{FF2B5EF4-FFF2-40B4-BE49-F238E27FC236}">
                    <a16:creationId xmlns:a16="http://schemas.microsoft.com/office/drawing/2014/main" id="{BE58B2AD-9CA0-289C-529B-12AB38AE3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0794" y="2293735"/>
                <a:ext cx="2648047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0A660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85725" indent="-85725"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1pPr>
                <a:lvl2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2pPr>
                <a:lvl3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3pPr>
                <a:lvl4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4pPr>
                <a:lvl5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9pPr>
              </a:lstStyle>
              <a:p>
                <a:pPr marL="108000" indent="-108000" eaLnBrk="1" latinLnBrk="0" hangingPunct="1">
                  <a:spcBef>
                    <a:spcPct val="40000"/>
                  </a:spcBef>
                  <a:buClrTx/>
                  <a:buFont typeface="Wingdings" panose="05000000000000000000" pitchFamily="2" charset="2"/>
                  <a:buChar char="§"/>
                </a:pP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조직 내에서 </a:t>
                </a:r>
                <a:r>
                  <a:rPr lang="ko-KR" altLang="en-US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직무수행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과 관련하여 </a:t>
                </a:r>
                <a:b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</a:b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한 개인에게 할당된 </a:t>
                </a:r>
                <a:r>
                  <a:rPr lang="ko-KR" altLang="en-US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권한과 책임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의 정도</a:t>
                </a:r>
                <a:endParaRPr lang="en-US" altLang="ko-KR" sz="110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marL="108000" indent="-108000" eaLnBrk="1" latinLnBrk="0" hangingPunct="1">
                  <a:spcBef>
                    <a:spcPct val="40000"/>
                  </a:spcBef>
                  <a:buClrTx/>
                  <a:buFont typeface="Wingdings" panose="05000000000000000000" pitchFamily="2" charset="2"/>
                  <a:buChar char="§"/>
                </a:pP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조직 운영상 부여된 보직과 그 명칭</a:t>
                </a:r>
                <a:b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</a:b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(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예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: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본부장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팀장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, Project Manager)</a:t>
                </a:r>
              </a:p>
            </p:txBody>
          </p:sp>
          <p:sp>
            <p:nvSpPr>
              <p:cNvPr id="71" name="Text Box 8">
                <a:extLst>
                  <a:ext uri="{FF2B5EF4-FFF2-40B4-BE49-F238E27FC236}">
                    <a16:creationId xmlns:a16="http://schemas.microsoft.com/office/drawing/2014/main" id="{B5C0CE7D-D3C4-E41A-8009-92158218F3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0793" y="3293706"/>
                <a:ext cx="2648047" cy="8371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0A660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85725" indent="-85725"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1pPr>
                <a:lvl2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2pPr>
                <a:lvl3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3pPr>
                <a:lvl4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4pPr>
                <a:lvl5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9pPr>
              </a:lstStyle>
              <a:p>
                <a:pPr marL="108000" indent="-108000" latinLnBrk="0">
                  <a:spcBef>
                    <a:spcPct val="4000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보상과 각종 처우의 기준</a:t>
                </a:r>
                <a:b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</a:b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(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예 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: 1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급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, 2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급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, 3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급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, 4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급 등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나눔고딕" panose="020D0604000000000000" pitchFamily="50" charset="-127"/>
                  </a:rPr>
                  <a:t>)</a:t>
                </a:r>
                <a:endParaRPr lang="en-US" altLang="ko-KR" sz="110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marL="108000" indent="-108000" eaLnBrk="1" latinLnBrk="0" hangingPunct="1">
                  <a:spcBef>
                    <a:spcPct val="40000"/>
                  </a:spcBef>
                  <a:buClrTx/>
                  <a:buFont typeface="Wingdings" panose="05000000000000000000" pitchFamily="2" charset="2"/>
                  <a:buChar char="§"/>
                </a:pP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연공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직무가치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수행 역할 또는 역량에 따라 다양하게 운영할 수 있음</a:t>
                </a:r>
                <a:endParaRPr lang="en-US" altLang="ko-KR" sz="110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2" name="Text Box 8">
                <a:extLst>
                  <a:ext uri="{FF2B5EF4-FFF2-40B4-BE49-F238E27FC236}">
                    <a16:creationId xmlns:a16="http://schemas.microsoft.com/office/drawing/2014/main" id="{A131566D-89DA-C11E-54FC-29C43E698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0793" y="4339317"/>
                <a:ext cx="2648047" cy="4647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D0A660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85725" indent="-85725"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1pPr>
                <a:lvl2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2pPr>
                <a:lvl3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3pPr>
                <a:lvl4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4pPr>
                <a:lvl5pPr latinLnBrk="1">
                  <a:spcBef>
                    <a:spcPct val="0"/>
                  </a:spcBef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맑은 고딕" panose="020B0503020000020004" pitchFamily="50" charset="-127"/>
                  </a:defRPr>
                </a:lvl9pPr>
              </a:lstStyle>
              <a:p>
                <a:pPr marL="108000" indent="-108000" eaLnBrk="1" latinLnBrk="0" hangingPunct="1">
                  <a:lnSpc>
                    <a:spcPct val="110000"/>
                  </a:lnSpc>
                  <a:spcBef>
                    <a:spcPct val="40000"/>
                  </a:spcBef>
                  <a:buClrTx/>
                  <a:buFont typeface="Wingdings" panose="05000000000000000000" pitchFamily="2" charset="2"/>
                  <a:buChar char="§"/>
                </a:pP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조직 대내외 </a:t>
                </a:r>
                <a:r>
                  <a:rPr lang="en-US" altLang="ko-KR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Comm.</a:t>
                </a:r>
                <a:r>
                  <a:rPr lang="ko-KR" altLang="en-US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을</a:t>
                </a:r>
                <a:r>
                  <a:rPr lang="en-US" altLang="ko-KR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위한 지위</a:t>
                </a:r>
                <a:r>
                  <a:rPr lang="en-US" altLang="ko-KR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/</a:t>
                </a:r>
                <a:r>
                  <a:rPr lang="ko-KR" altLang="en-US" sz="1100" b="1" u="sng" dirty="0">
                    <a:solidFill>
                      <a:srgbClr val="000000"/>
                    </a:solidFill>
                    <a:latin typeface="+mn-ea"/>
                    <a:ea typeface="+mn-ea"/>
                  </a:rPr>
                  <a:t>호칭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 개념</a:t>
                </a:r>
                <a:b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</a:b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(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예 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: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부장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차장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과장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대리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사원 등</a:t>
                </a:r>
                <a:r>
                  <a:rPr lang="en-US" altLang="ko-KR" sz="1100" dirty="0">
                    <a:solidFill>
                      <a:srgbClr val="000000"/>
                    </a:solidFill>
                    <a:latin typeface="+mn-ea"/>
                    <a:ea typeface="+mn-ea"/>
                  </a:rPr>
                  <a:t>)</a:t>
                </a:r>
              </a:p>
            </p:txBody>
          </p:sp>
        </p:grpSp>
      </p:grpSp>
      <p:sp>
        <p:nvSpPr>
          <p:cNvPr id="4" name="텍스트 개체 틀 5">
            <a:extLst>
              <a:ext uri="{FF2B5EF4-FFF2-40B4-BE49-F238E27FC236}">
                <a16:creationId xmlns:a16="http://schemas.microsoft.com/office/drawing/2014/main" id="{E9DC00BC-4DA1-6944-4039-22F1FED75F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</p:spTree>
    <p:extLst>
      <p:ext uri="{BB962C8B-B14F-4D97-AF65-F5344CB8AC3E}">
        <p14:creationId xmlns:p14="http://schemas.microsoft.com/office/powerpoint/2010/main" val="34768472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361F-92AF-EC17-93EB-4FFDD510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930CB0A-2969-DCDD-20E2-33541489F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/>
              <a:t>조직 특성과 성장 단계에 맞는 적정 직급 체계 안을 검토하여</a:t>
            </a:r>
            <a:r>
              <a:rPr lang="en-US" altLang="ko-KR" dirty="0"/>
              <a:t>, </a:t>
            </a:r>
            <a:r>
              <a:rPr lang="ko-KR" altLang="en-US" dirty="0"/>
              <a:t>역할</a:t>
            </a:r>
            <a:r>
              <a:rPr lang="en-US" altLang="ko-KR" dirty="0"/>
              <a:t>·</a:t>
            </a:r>
            <a:r>
              <a:rPr lang="ko-KR" altLang="en-US" dirty="0"/>
              <a:t>직책</a:t>
            </a:r>
            <a:r>
              <a:rPr lang="en-US" altLang="ko-KR" dirty="0"/>
              <a:t>·</a:t>
            </a:r>
            <a:r>
              <a:rPr lang="ko-KR" altLang="en-US" dirty="0"/>
              <a:t>호칭의 정합성과 활용성을 높일 수 있는 방안을 모색함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496984C-5858-66CC-9AB4-CFA284AA4B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D5F92A-DB94-4C8F-753D-86C4F806A2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D3A29C5-FD4B-807C-DD4E-9C491B7BB4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785FA5F9-CE55-092A-5230-D99DF79370B9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F8A7A38F-C12C-2E7C-3F6F-5148D102A18C}"/>
                </a:ext>
              </a:extLst>
            </p:cNvPr>
            <p:cNvSpPr/>
            <p:nvPr userDrawn="1"/>
          </p:nvSpPr>
          <p:spPr>
            <a:xfrm>
              <a:off x="2720522" y="1626519"/>
              <a:ext cx="1536262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직급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-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직책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-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직위 체계 </a:t>
              </a:r>
              <a:r>
                <a:rPr lang="ko-KR" altLang="en-US" sz="1400" dirty="0" err="1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설계안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75EF224F-0642-FD25-D5F6-3E447E447767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F2379760-D1D5-144C-0EAE-97101FB6C6A8}"/>
              </a:ext>
            </a:extLst>
          </p:cNvPr>
          <p:cNvGrpSpPr/>
          <p:nvPr/>
        </p:nvGrpSpPr>
        <p:grpSpPr>
          <a:xfrm>
            <a:off x="273051" y="2060575"/>
            <a:ext cx="9359900" cy="4108450"/>
            <a:chOff x="180640" y="1428610"/>
            <a:chExt cx="9544721" cy="474041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F222924-C7F4-5186-9BB3-1E0A66EBD3B3}"/>
                </a:ext>
              </a:extLst>
            </p:cNvPr>
            <p:cNvSpPr/>
            <p:nvPr/>
          </p:nvSpPr>
          <p:spPr>
            <a:xfrm>
              <a:off x="180640" y="1428610"/>
              <a:ext cx="3069078" cy="417033"/>
            </a:xfrm>
            <a:prstGeom prst="rect">
              <a:avLst/>
            </a:prstGeom>
            <a:solidFill>
              <a:srgbClr val="A3B8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</a:t>
              </a:r>
              <a:r>
                <a:rPr lang="ko-KR" altLang="en-US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안</a:t>
              </a:r>
              <a:r>
                <a:rPr lang="en-US" altLang="ko-KR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_1G ~ 5G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E673CAB-06CC-8CFC-B7A1-5B09CEF1DADA}"/>
                </a:ext>
              </a:extLst>
            </p:cNvPr>
            <p:cNvSpPr/>
            <p:nvPr/>
          </p:nvSpPr>
          <p:spPr>
            <a:xfrm>
              <a:off x="180640" y="1953212"/>
              <a:ext cx="737894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직급</a:t>
              </a:r>
              <a:endParaRPr lang="en-US" altLang="ko-KR" sz="1100" dirty="0"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800" dirty="0">
                  <a:latin typeface="+mj-ea"/>
                  <a:ea typeface="+mj-ea"/>
                </a:rPr>
                <a:t>(</a:t>
              </a:r>
              <a:r>
                <a:rPr lang="ko-KR" altLang="en-US" sz="800" dirty="0">
                  <a:latin typeface="+mj-ea"/>
                  <a:ea typeface="+mj-ea"/>
                </a:rPr>
                <a:t>역할 등급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477C69B-7F65-0C0E-C892-9FF4F5764D23}"/>
                </a:ext>
              </a:extLst>
            </p:cNvPr>
            <p:cNvSpPr/>
            <p:nvPr/>
          </p:nvSpPr>
          <p:spPr>
            <a:xfrm>
              <a:off x="999239" y="1953212"/>
              <a:ext cx="1070067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직책</a:t>
              </a:r>
              <a:endParaRPr lang="en-US" altLang="ko-KR" sz="800" dirty="0">
                <a:latin typeface="+mj-ea"/>
                <a:ea typeface="+mj-ea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F0B0D54-0636-4C20-558F-EA89A30F53B2}"/>
                </a:ext>
              </a:extLst>
            </p:cNvPr>
            <p:cNvSpPr/>
            <p:nvPr/>
          </p:nvSpPr>
          <p:spPr>
            <a:xfrm>
              <a:off x="2177863" y="1953212"/>
              <a:ext cx="1070067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직위</a:t>
              </a:r>
              <a:r>
                <a:rPr lang="en-US" altLang="ko-KR" sz="1100" dirty="0">
                  <a:latin typeface="+mj-ea"/>
                  <a:ea typeface="+mj-ea"/>
                </a:rPr>
                <a:t>(</a:t>
              </a:r>
              <a:r>
                <a:rPr lang="ko-KR" altLang="en-US" sz="1100" dirty="0">
                  <a:latin typeface="+mj-ea"/>
                  <a:ea typeface="+mj-ea"/>
                </a:rPr>
                <a:t>호칭</a:t>
              </a:r>
              <a:r>
                <a:rPr lang="en-US" altLang="ko-KR" sz="1100" dirty="0">
                  <a:latin typeface="+mj-ea"/>
                  <a:ea typeface="+mj-ea"/>
                </a:rPr>
                <a:t>)</a:t>
              </a:r>
              <a:endParaRPr lang="en-US" altLang="ko-KR" sz="800" dirty="0">
                <a:latin typeface="+mj-ea"/>
                <a:ea typeface="+mj-ea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833E933-852A-2F23-6062-CE7942343FC5}"/>
                </a:ext>
              </a:extLst>
            </p:cNvPr>
            <p:cNvSpPr/>
            <p:nvPr/>
          </p:nvSpPr>
          <p:spPr>
            <a:xfrm>
              <a:off x="180640" y="2502792"/>
              <a:ext cx="7378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G5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BE9ACE8-83D3-98B4-F8EE-C6301E60239E}"/>
                </a:ext>
              </a:extLst>
            </p:cNvPr>
            <p:cNvSpPr/>
            <p:nvPr/>
          </p:nvSpPr>
          <p:spPr>
            <a:xfrm>
              <a:off x="180640" y="3040091"/>
              <a:ext cx="308310" cy="979731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G4</a:t>
              </a:r>
            </a:p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(M)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E187862-0479-BB02-8B83-721192C2D7A2}"/>
                </a:ext>
              </a:extLst>
            </p:cNvPr>
            <p:cNvSpPr/>
            <p:nvPr/>
          </p:nvSpPr>
          <p:spPr>
            <a:xfrm>
              <a:off x="180640" y="4114692"/>
              <a:ext cx="737894" cy="979730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G3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D1499DF-D7A0-01E0-E9FF-EDA018D4A9CF}"/>
                </a:ext>
              </a:extLst>
            </p:cNvPr>
            <p:cNvSpPr/>
            <p:nvPr/>
          </p:nvSpPr>
          <p:spPr>
            <a:xfrm>
              <a:off x="180640" y="5726593"/>
              <a:ext cx="7378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G1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2D7BDB6-5B2D-DC07-550B-4A0F914751F2}"/>
                </a:ext>
              </a:extLst>
            </p:cNvPr>
            <p:cNvSpPr/>
            <p:nvPr/>
          </p:nvSpPr>
          <p:spPr>
            <a:xfrm>
              <a:off x="180640" y="5189292"/>
              <a:ext cx="7378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G2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A274865-E99F-830F-AB37-FEFB8D0E675A}"/>
                </a:ext>
              </a:extLst>
            </p:cNvPr>
            <p:cNvSpPr/>
            <p:nvPr/>
          </p:nvSpPr>
          <p:spPr>
            <a:xfrm>
              <a:off x="999239" y="3040092"/>
              <a:ext cx="427767" cy="979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본부장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/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팀장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D7691E4-4029-C7A2-28BB-B068A80158F8}"/>
                </a:ext>
              </a:extLst>
            </p:cNvPr>
            <p:cNvSpPr/>
            <p:nvPr/>
          </p:nvSpPr>
          <p:spPr>
            <a:xfrm>
              <a:off x="999192" y="5189292"/>
              <a:ext cx="1070067" cy="979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팀원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5BB7DDD-3D57-C195-4532-31AE7DC6C7DF}"/>
                </a:ext>
              </a:extLst>
            </p:cNvPr>
            <p:cNvSpPr/>
            <p:nvPr/>
          </p:nvSpPr>
          <p:spPr>
            <a:xfrm>
              <a:off x="1527542" y="3027500"/>
              <a:ext cx="541717" cy="216179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886B109-5010-3D4C-34A7-032C161664B2}"/>
                </a:ext>
              </a:extLst>
            </p:cNvPr>
            <p:cNvSpPr/>
            <p:nvPr/>
          </p:nvSpPr>
          <p:spPr>
            <a:xfrm>
              <a:off x="1533892" y="4855139"/>
              <a:ext cx="521476" cy="573438"/>
            </a:xfrm>
            <a:prstGeom prst="rect">
              <a:avLst/>
            </a:prstGeom>
            <a:solidFill>
              <a:srgbClr val="F3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AB99A33-096C-4432-6F5B-318D4DC3CF01}"/>
                </a:ext>
              </a:extLst>
            </p:cNvPr>
            <p:cNvSpPr/>
            <p:nvPr/>
          </p:nvSpPr>
          <p:spPr>
            <a:xfrm>
              <a:off x="999239" y="2509038"/>
              <a:ext cx="1070020" cy="436186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임원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FA534B-9277-9AEA-87F9-5AB7C7117725}"/>
                </a:ext>
              </a:extLst>
            </p:cNvPr>
            <p:cNvSpPr/>
            <p:nvPr/>
          </p:nvSpPr>
          <p:spPr>
            <a:xfrm>
              <a:off x="2177863" y="2502792"/>
              <a:ext cx="1070067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이사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B7C954B-BC5E-19CA-ACE5-CF45D0D0AF75}"/>
                </a:ext>
              </a:extLst>
            </p:cNvPr>
            <p:cNvSpPr/>
            <p:nvPr/>
          </p:nvSpPr>
          <p:spPr>
            <a:xfrm>
              <a:off x="2177863" y="4114692"/>
              <a:ext cx="1070067" cy="979730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과장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F2DEF18-13DB-7155-D029-36E10F7F4E78}"/>
                </a:ext>
              </a:extLst>
            </p:cNvPr>
            <p:cNvSpPr/>
            <p:nvPr/>
          </p:nvSpPr>
          <p:spPr>
            <a:xfrm>
              <a:off x="2177863" y="5726593"/>
              <a:ext cx="1070067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사원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5C1793B-A2AB-4017-2038-12A8543899DD}"/>
                </a:ext>
              </a:extLst>
            </p:cNvPr>
            <p:cNvSpPr/>
            <p:nvPr/>
          </p:nvSpPr>
          <p:spPr>
            <a:xfrm>
              <a:off x="2177863" y="5189292"/>
              <a:ext cx="1070067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대리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277E9A5-375A-A64D-FA00-B84C1A975D36}"/>
                </a:ext>
              </a:extLst>
            </p:cNvPr>
            <p:cNvSpPr/>
            <p:nvPr/>
          </p:nvSpPr>
          <p:spPr>
            <a:xfrm>
              <a:off x="2734237" y="3033746"/>
              <a:ext cx="5136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부장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BC6479B-5242-83CA-683D-BB852D314A5D}"/>
                </a:ext>
              </a:extLst>
            </p:cNvPr>
            <p:cNvSpPr/>
            <p:nvPr/>
          </p:nvSpPr>
          <p:spPr>
            <a:xfrm>
              <a:off x="2734237" y="3577392"/>
              <a:ext cx="5136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차장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E6D78E9-3928-AECF-EA7C-76F00752A608}"/>
                </a:ext>
              </a:extLst>
            </p:cNvPr>
            <p:cNvSpPr/>
            <p:nvPr/>
          </p:nvSpPr>
          <p:spPr>
            <a:xfrm>
              <a:off x="2177863" y="3040092"/>
              <a:ext cx="5136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직책명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B389E9B-8ED0-97C3-2D0C-69967A4AF720}"/>
                </a:ext>
              </a:extLst>
            </p:cNvPr>
            <p:cNvSpPr/>
            <p:nvPr/>
          </p:nvSpPr>
          <p:spPr>
            <a:xfrm>
              <a:off x="2177863" y="3577392"/>
              <a:ext cx="5136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직책명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1D6E77F-8D5F-F21D-98D0-EF802756590F}"/>
                </a:ext>
              </a:extLst>
            </p:cNvPr>
            <p:cNvSpPr/>
            <p:nvPr/>
          </p:nvSpPr>
          <p:spPr>
            <a:xfrm>
              <a:off x="3418461" y="1428610"/>
              <a:ext cx="3069078" cy="417033"/>
            </a:xfrm>
            <a:prstGeom prst="rect">
              <a:avLst/>
            </a:prstGeom>
            <a:solidFill>
              <a:srgbClr val="A3B8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</a:t>
              </a:r>
              <a:r>
                <a:rPr lang="ko-KR" altLang="en-US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안</a:t>
              </a:r>
              <a:r>
                <a:rPr lang="en-US" altLang="ko-KR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_1G ~ 6G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E00AFAB-38A3-3A0D-713D-D2F7BD35CF48}"/>
                </a:ext>
              </a:extLst>
            </p:cNvPr>
            <p:cNvSpPr/>
            <p:nvPr/>
          </p:nvSpPr>
          <p:spPr>
            <a:xfrm>
              <a:off x="3418461" y="1953212"/>
              <a:ext cx="737894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직급</a:t>
              </a:r>
              <a:endParaRPr lang="en-US" altLang="ko-KR" sz="1100" dirty="0"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800" dirty="0">
                  <a:latin typeface="+mj-ea"/>
                  <a:ea typeface="+mj-ea"/>
                </a:rPr>
                <a:t>(</a:t>
              </a:r>
              <a:r>
                <a:rPr lang="ko-KR" altLang="en-US" sz="800" dirty="0">
                  <a:latin typeface="+mj-ea"/>
                  <a:ea typeface="+mj-ea"/>
                </a:rPr>
                <a:t>역할 등급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66591CE-ED73-2BA9-210D-5BD07495E685}"/>
                </a:ext>
              </a:extLst>
            </p:cNvPr>
            <p:cNvSpPr/>
            <p:nvPr/>
          </p:nvSpPr>
          <p:spPr>
            <a:xfrm>
              <a:off x="4237060" y="1953212"/>
              <a:ext cx="1070067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직책</a:t>
              </a:r>
              <a:endParaRPr lang="en-US" altLang="ko-KR" sz="800" dirty="0">
                <a:latin typeface="+mj-ea"/>
                <a:ea typeface="+mj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F03C4C4-690A-E998-1108-063979337B75}"/>
                </a:ext>
              </a:extLst>
            </p:cNvPr>
            <p:cNvSpPr/>
            <p:nvPr/>
          </p:nvSpPr>
          <p:spPr>
            <a:xfrm>
              <a:off x="5415684" y="1953212"/>
              <a:ext cx="1070067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직위</a:t>
              </a:r>
              <a:r>
                <a:rPr lang="en-US" altLang="ko-KR" sz="1100" dirty="0">
                  <a:latin typeface="+mj-ea"/>
                  <a:ea typeface="+mj-ea"/>
                </a:rPr>
                <a:t>(</a:t>
              </a:r>
              <a:r>
                <a:rPr lang="ko-KR" altLang="en-US" sz="1100" dirty="0">
                  <a:latin typeface="+mj-ea"/>
                  <a:ea typeface="+mj-ea"/>
                </a:rPr>
                <a:t>호칭</a:t>
              </a:r>
              <a:r>
                <a:rPr lang="en-US" altLang="ko-KR" sz="1100" dirty="0">
                  <a:latin typeface="+mj-ea"/>
                  <a:ea typeface="+mj-ea"/>
                </a:rPr>
                <a:t>)</a:t>
              </a:r>
              <a:endParaRPr lang="en-US" altLang="ko-KR" sz="800" dirty="0">
                <a:latin typeface="+mj-ea"/>
                <a:ea typeface="+mj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F71EDAD-1E7A-6753-0EE0-67DEAB7B2113}"/>
                </a:ext>
              </a:extLst>
            </p:cNvPr>
            <p:cNvSpPr/>
            <p:nvPr/>
          </p:nvSpPr>
          <p:spPr>
            <a:xfrm>
              <a:off x="6656282" y="1428610"/>
              <a:ext cx="3069079" cy="417033"/>
            </a:xfrm>
            <a:prstGeom prst="rect">
              <a:avLst/>
            </a:prstGeom>
            <a:solidFill>
              <a:srgbClr val="A3B8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</a:t>
              </a:r>
              <a:r>
                <a:rPr lang="ko-KR" altLang="en-US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안</a:t>
              </a:r>
              <a:r>
                <a:rPr lang="en-US" altLang="ko-KR" sz="1200" b="1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_1G ~ 7G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1AD87E9-75C3-5396-8A71-1F55AA640EEB}"/>
                </a:ext>
              </a:extLst>
            </p:cNvPr>
            <p:cNvSpPr/>
            <p:nvPr/>
          </p:nvSpPr>
          <p:spPr>
            <a:xfrm>
              <a:off x="6656283" y="1953212"/>
              <a:ext cx="737894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직급</a:t>
              </a:r>
              <a:endParaRPr lang="en-US" altLang="ko-KR" sz="1100" dirty="0"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800" dirty="0">
                  <a:latin typeface="+mj-ea"/>
                  <a:ea typeface="+mj-ea"/>
                </a:rPr>
                <a:t>(</a:t>
              </a:r>
              <a:r>
                <a:rPr lang="ko-KR" altLang="en-US" sz="800" dirty="0">
                  <a:latin typeface="+mj-ea"/>
                  <a:ea typeface="+mj-ea"/>
                </a:rPr>
                <a:t>역할 등급</a:t>
              </a:r>
              <a:r>
                <a:rPr lang="en-US" altLang="ko-KR" sz="800" dirty="0"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5E13322-329F-13FE-39D7-18F9F135F4CA}"/>
                </a:ext>
              </a:extLst>
            </p:cNvPr>
            <p:cNvSpPr/>
            <p:nvPr/>
          </p:nvSpPr>
          <p:spPr>
            <a:xfrm>
              <a:off x="7474882" y="1953212"/>
              <a:ext cx="1070067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직책</a:t>
              </a:r>
              <a:endParaRPr lang="en-US" altLang="ko-KR" sz="800" dirty="0">
                <a:latin typeface="+mj-ea"/>
                <a:ea typeface="+mj-ea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EAE4F81-BA8C-646A-2001-FA8FCE7F419B}"/>
                </a:ext>
              </a:extLst>
            </p:cNvPr>
            <p:cNvSpPr/>
            <p:nvPr/>
          </p:nvSpPr>
          <p:spPr>
            <a:xfrm>
              <a:off x="8653506" y="1953212"/>
              <a:ext cx="1070067" cy="36968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dirty="0">
                  <a:latin typeface="+mj-ea"/>
                  <a:ea typeface="+mj-ea"/>
                </a:rPr>
                <a:t>직위</a:t>
              </a:r>
              <a:r>
                <a:rPr lang="en-US" altLang="ko-KR" sz="1100" dirty="0">
                  <a:latin typeface="+mj-ea"/>
                  <a:ea typeface="+mj-ea"/>
                </a:rPr>
                <a:t>(</a:t>
              </a:r>
              <a:r>
                <a:rPr lang="ko-KR" altLang="en-US" sz="1100" dirty="0">
                  <a:latin typeface="+mj-ea"/>
                  <a:ea typeface="+mj-ea"/>
                </a:rPr>
                <a:t>호칭</a:t>
              </a:r>
              <a:r>
                <a:rPr lang="en-US" altLang="ko-KR" sz="1100" dirty="0">
                  <a:latin typeface="+mj-ea"/>
                  <a:ea typeface="+mj-ea"/>
                </a:rPr>
                <a:t>)</a:t>
              </a:r>
              <a:endParaRPr lang="en-US" altLang="ko-KR" sz="800" dirty="0">
                <a:latin typeface="+mj-ea"/>
                <a:ea typeface="+mj-ea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61FD8B7-DF42-C7CB-2D6C-D6F54E1AD35B}"/>
                </a:ext>
              </a:extLst>
            </p:cNvPr>
            <p:cNvSpPr/>
            <p:nvPr/>
          </p:nvSpPr>
          <p:spPr>
            <a:xfrm>
              <a:off x="605664" y="3040091"/>
              <a:ext cx="308310" cy="979731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G4</a:t>
              </a:r>
            </a:p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(S)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205E298-677A-1067-5433-C410D4236C15}"/>
                </a:ext>
              </a:extLst>
            </p:cNvPr>
            <p:cNvSpPr/>
            <p:nvPr/>
          </p:nvSpPr>
          <p:spPr>
            <a:xfrm>
              <a:off x="3418461" y="2502792"/>
              <a:ext cx="7378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G6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D6419315-D82F-0FC9-FD18-006E5E09AB1A}"/>
                </a:ext>
              </a:extLst>
            </p:cNvPr>
            <p:cNvSpPr/>
            <p:nvPr/>
          </p:nvSpPr>
          <p:spPr>
            <a:xfrm>
              <a:off x="3418461" y="5726593"/>
              <a:ext cx="7378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G1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DE51CB9-D40C-3146-ADFB-2954263CBF0A}"/>
                </a:ext>
              </a:extLst>
            </p:cNvPr>
            <p:cNvSpPr/>
            <p:nvPr/>
          </p:nvSpPr>
          <p:spPr>
            <a:xfrm>
              <a:off x="3418461" y="5189292"/>
              <a:ext cx="7378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G2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AF5689D-5321-051F-D994-DDEBDFB32F2F}"/>
                </a:ext>
              </a:extLst>
            </p:cNvPr>
            <p:cNvSpPr/>
            <p:nvPr/>
          </p:nvSpPr>
          <p:spPr>
            <a:xfrm>
              <a:off x="4237060" y="3040092"/>
              <a:ext cx="427767" cy="1517028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본부장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/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팀장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68D7DAB-6AA3-2CA4-00BE-75B442F68BBB}"/>
                </a:ext>
              </a:extLst>
            </p:cNvPr>
            <p:cNvSpPr/>
            <p:nvPr/>
          </p:nvSpPr>
          <p:spPr>
            <a:xfrm>
              <a:off x="4237013" y="5189291"/>
              <a:ext cx="1070067" cy="979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팀원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D24D5F9-905A-CC06-3976-0ADA6E78B136}"/>
                </a:ext>
              </a:extLst>
            </p:cNvPr>
            <p:cNvSpPr/>
            <p:nvPr/>
          </p:nvSpPr>
          <p:spPr>
            <a:xfrm>
              <a:off x="4765363" y="3027500"/>
              <a:ext cx="541717" cy="2161791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0B49E84-0560-D730-2880-ED264D7F3433}"/>
                </a:ext>
              </a:extLst>
            </p:cNvPr>
            <p:cNvSpPr/>
            <p:nvPr/>
          </p:nvSpPr>
          <p:spPr>
            <a:xfrm>
              <a:off x="4784412" y="4855139"/>
              <a:ext cx="504000" cy="573438"/>
            </a:xfrm>
            <a:prstGeom prst="rect">
              <a:avLst/>
            </a:prstGeom>
            <a:solidFill>
              <a:srgbClr val="F3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10F8086-DA3A-D7C0-3687-C87413FBECA6}"/>
                </a:ext>
              </a:extLst>
            </p:cNvPr>
            <p:cNvSpPr/>
            <p:nvPr/>
          </p:nvSpPr>
          <p:spPr>
            <a:xfrm>
              <a:off x="4237060" y="2509038"/>
              <a:ext cx="1070020" cy="436186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임원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5EFCBF3-C621-7A5D-19FB-AEBBC500746E}"/>
                </a:ext>
              </a:extLst>
            </p:cNvPr>
            <p:cNvSpPr/>
            <p:nvPr/>
          </p:nvSpPr>
          <p:spPr>
            <a:xfrm>
              <a:off x="5415684" y="2502792"/>
              <a:ext cx="1070067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이사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4FDB929-6FC1-B952-1CAC-7DBFB95A7033}"/>
                </a:ext>
              </a:extLst>
            </p:cNvPr>
            <p:cNvSpPr/>
            <p:nvPr/>
          </p:nvSpPr>
          <p:spPr>
            <a:xfrm>
              <a:off x="5415684" y="4658338"/>
              <a:ext cx="1070067" cy="436084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과장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02B40440-04A6-F1DB-FCFC-EA729E8191C8}"/>
                </a:ext>
              </a:extLst>
            </p:cNvPr>
            <p:cNvSpPr/>
            <p:nvPr/>
          </p:nvSpPr>
          <p:spPr>
            <a:xfrm>
              <a:off x="5415684" y="5726593"/>
              <a:ext cx="1070067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사원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67CACF8-CCEF-6C22-FD48-CBC28C769717}"/>
                </a:ext>
              </a:extLst>
            </p:cNvPr>
            <p:cNvSpPr/>
            <p:nvPr/>
          </p:nvSpPr>
          <p:spPr>
            <a:xfrm>
              <a:off x="5415684" y="5189292"/>
              <a:ext cx="1070067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09C7C96-6ACB-5F10-3F4E-9CFE92BCFDE4}"/>
                </a:ext>
              </a:extLst>
            </p:cNvPr>
            <p:cNvSpPr/>
            <p:nvPr/>
          </p:nvSpPr>
          <p:spPr>
            <a:xfrm>
              <a:off x="5972058" y="3033746"/>
              <a:ext cx="513694" cy="731804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부장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39BB90D-A47B-FA8C-49BE-B6826381A5D2}"/>
                </a:ext>
              </a:extLst>
            </p:cNvPr>
            <p:cNvSpPr/>
            <p:nvPr/>
          </p:nvSpPr>
          <p:spPr>
            <a:xfrm>
              <a:off x="5972058" y="3831661"/>
              <a:ext cx="513694" cy="722290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차장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ABC0746-7650-5E32-9544-47587A14E808}"/>
                </a:ext>
              </a:extLst>
            </p:cNvPr>
            <p:cNvSpPr/>
            <p:nvPr/>
          </p:nvSpPr>
          <p:spPr>
            <a:xfrm>
              <a:off x="5415684" y="3040092"/>
              <a:ext cx="513694" cy="731804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직책명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7258E9CB-9051-A203-EC0B-844850422AEB}"/>
                </a:ext>
              </a:extLst>
            </p:cNvPr>
            <p:cNvSpPr/>
            <p:nvPr/>
          </p:nvSpPr>
          <p:spPr>
            <a:xfrm>
              <a:off x="5415684" y="3831661"/>
              <a:ext cx="513694" cy="722290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직책명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D0AD1FA8-0444-B350-449F-B63A975B0031}"/>
                </a:ext>
              </a:extLst>
            </p:cNvPr>
            <p:cNvSpPr/>
            <p:nvPr/>
          </p:nvSpPr>
          <p:spPr>
            <a:xfrm>
              <a:off x="3416160" y="3040091"/>
              <a:ext cx="308310" cy="725459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G5</a:t>
              </a:r>
            </a:p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(M)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8463FAF-EB51-7909-B3B4-2187EEDCE02C}"/>
                </a:ext>
              </a:extLst>
            </p:cNvPr>
            <p:cNvSpPr/>
            <p:nvPr/>
          </p:nvSpPr>
          <p:spPr>
            <a:xfrm>
              <a:off x="3841184" y="3040091"/>
              <a:ext cx="308310" cy="725459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G5</a:t>
              </a:r>
            </a:p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(S)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8E4455C-8E07-DD4E-57E6-6E5628C725B8}"/>
                </a:ext>
              </a:extLst>
            </p:cNvPr>
            <p:cNvSpPr/>
            <p:nvPr/>
          </p:nvSpPr>
          <p:spPr>
            <a:xfrm>
              <a:off x="999239" y="4114691"/>
              <a:ext cx="427767" cy="979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부팀장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85BC3C1-4674-1BA1-972D-6B1CDB2D7D93}"/>
                </a:ext>
              </a:extLst>
            </p:cNvPr>
            <p:cNvSpPr/>
            <p:nvPr/>
          </p:nvSpPr>
          <p:spPr>
            <a:xfrm>
              <a:off x="3418461" y="4651990"/>
              <a:ext cx="7378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G3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6113BD7-9A9D-43C0-A83F-670C42109F69}"/>
                </a:ext>
              </a:extLst>
            </p:cNvPr>
            <p:cNvSpPr/>
            <p:nvPr/>
          </p:nvSpPr>
          <p:spPr>
            <a:xfrm>
              <a:off x="3416160" y="3831661"/>
              <a:ext cx="741188" cy="725459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G4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99642857-E49B-845D-64BA-9A5A96BEDD0B}"/>
                </a:ext>
              </a:extLst>
            </p:cNvPr>
            <p:cNvSpPr/>
            <p:nvPr/>
          </p:nvSpPr>
          <p:spPr>
            <a:xfrm>
              <a:off x="4237060" y="4651988"/>
              <a:ext cx="427767" cy="442434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부팀장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3510468-A207-2AFD-CA07-004214F2A38F}"/>
                </a:ext>
              </a:extLst>
            </p:cNvPr>
            <p:cNvSpPr/>
            <p:nvPr/>
          </p:nvSpPr>
          <p:spPr>
            <a:xfrm>
              <a:off x="6656283" y="2502792"/>
              <a:ext cx="737894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G7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D7BB7F7-180F-5050-40C8-DB1F3A14E460}"/>
                </a:ext>
              </a:extLst>
            </p:cNvPr>
            <p:cNvSpPr/>
            <p:nvPr/>
          </p:nvSpPr>
          <p:spPr>
            <a:xfrm>
              <a:off x="7474882" y="3040092"/>
              <a:ext cx="427767" cy="1517028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본부장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/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팀장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594742A5-36B3-7F54-C7AA-5AD7341DF6DA}"/>
                </a:ext>
              </a:extLst>
            </p:cNvPr>
            <p:cNvSpPr/>
            <p:nvPr/>
          </p:nvSpPr>
          <p:spPr>
            <a:xfrm>
              <a:off x="7474835" y="5189291"/>
              <a:ext cx="1070067" cy="979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팀원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8A52D9D-ED7F-B8C4-2911-29AD5CD26685}"/>
                </a:ext>
              </a:extLst>
            </p:cNvPr>
            <p:cNvSpPr/>
            <p:nvPr/>
          </p:nvSpPr>
          <p:spPr>
            <a:xfrm>
              <a:off x="8003185" y="3027500"/>
              <a:ext cx="541717" cy="2161791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C90B879A-00EF-C279-C4D7-B2B965E7E77C}"/>
                </a:ext>
              </a:extLst>
            </p:cNvPr>
            <p:cNvSpPr/>
            <p:nvPr/>
          </p:nvSpPr>
          <p:spPr>
            <a:xfrm>
              <a:off x="8022234" y="4855139"/>
              <a:ext cx="504000" cy="573438"/>
            </a:xfrm>
            <a:prstGeom prst="rect">
              <a:avLst/>
            </a:prstGeom>
            <a:solidFill>
              <a:srgbClr val="F3F2F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ABDE3A7C-69E5-23B3-5CBC-3A2A0AAC49C0}"/>
                </a:ext>
              </a:extLst>
            </p:cNvPr>
            <p:cNvSpPr/>
            <p:nvPr/>
          </p:nvSpPr>
          <p:spPr>
            <a:xfrm>
              <a:off x="7474882" y="2509038"/>
              <a:ext cx="1070020" cy="436186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임원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9FE30BD6-6C90-F9B5-F0B1-EB7C7739408C}"/>
                </a:ext>
              </a:extLst>
            </p:cNvPr>
            <p:cNvSpPr/>
            <p:nvPr/>
          </p:nvSpPr>
          <p:spPr>
            <a:xfrm>
              <a:off x="8653506" y="2502792"/>
              <a:ext cx="1070067" cy="4424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이사</a:t>
              </a: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68383AD1-297C-EAE8-42EC-844D68DF4967}"/>
                </a:ext>
              </a:extLst>
            </p:cNvPr>
            <p:cNvSpPr/>
            <p:nvPr/>
          </p:nvSpPr>
          <p:spPr>
            <a:xfrm>
              <a:off x="9209880" y="3033746"/>
              <a:ext cx="513694" cy="731804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부장</a:t>
              </a: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3C9A175-8D52-0A77-E7BC-8B5747537688}"/>
                </a:ext>
              </a:extLst>
            </p:cNvPr>
            <p:cNvSpPr/>
            <p:nvPr/>
          </p:nvSpPr>
          <p:spPr>
            <a:xfrm>
              <a:off x="9209880" y="3831661"/>
              <a:ext cx="513694" cy="722290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차장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AE80B625-7A85-BF67-EB7F-FCDE5787390B}"/>
                </a:ext>
              </a:extLst>
            </p:cNvPr>
            <p:cNvSpPr/>
            <p:nvPr/>
          </p:nvSpPr>
          <p:spPr>
            <a:xfrm>
              <a:off x="8653506" y="3040092"/>
              <a:ext cx="513694" cy="731804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직책명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2BDB899E-C0DB-1E30-8D5F-9BE5126FA967}"/>
                </a:ext>
              </a:extLst>
            </p:cNvPr>
            <p:cNvSpPr/>
            <p:nvPr/>
          </p:nvSpPr>
          <p:spPr>
            <a:xfrm>
              <a:off x="8653506" y="3831661"/>
              <a:ext cx="513694" cy="722290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직책명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C5548E2D-A08C-5037-46ED-5929354F1872}"/>
                </a:ext>
              </a:extLst>
            </p:cNvPr>
            <p:cNvSpPr/>
            <p:nvPr/>
          </p:nvSpPr>
          <p:spPr>
            <a:xfrm>
              <a:off x="6653982" y="3040091"/>
              <a:ext cx="308310" cy="725459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G5</a:t>
              </a:r>
            </a:p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(M)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1ED71DD-4FD9-2FD7-28B0-545FB395EC2F}"/>
                </a:ext>
              </a:extLst>
            </p:cNvPr>
            <p:cNvSpPr/>
            <p:nvPr/>
          </p:nvSpPr>
          <p:spPr>
            <a:xfrm>
              <a:off x="7079006" y="3040091"/>
              <a:ext cx="308310" cy="725459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G5</a:t>
              </a:r>
            </a:p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(S)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22602F17-2E2E-FFD8-F243-D63FBD047356}"/>
                </a:ext>
              </a:extLst>
            </p:cNvPr>
            <p:cNvSpPr/>
            <p:nvPr/>
          </p:nvSpPr>
          <p:spPr>
            <a:xfrm>
              <a:off x="6656283" y="5883293"/>
              <a:ext cx="737894" cy="285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G1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E6B0E6E3-8385-6FE2-7040-EC007E1281D7}"/>
                </a:ext>
              </a:extLst>
            </p:cNvPr>
            <p:cNvSpPr/>
            <p:nvPr/>
          </p:nvSpPr>
          <p:spPr>
            <a:xfrm>
              <a:off x="6656283" y="5536292"/>
              <a:ext cx="737894" cy="285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G2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628B00F3-3D99-007E-63C1-D2C457DE15E7}"/>
                </a:ext>
              </a:extLst>
            </p:cNvPr>
            <p:cNvSpPr/>
            <p:nvPr/>
          </p:nvSpPr>
          <p:spPr>
            <a:xfrm>
              <a:off x="8653506" y="4658338"/>
              <a:ext cx="1070067" cy="816685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과장</a:t>
              </a: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D3AA6B5E-1F61-B01D-ACB9-E9DCAED627C8}"/>
                </a:ext>
              </a:extLst>
            </p:cNvPr>
            <p:cNvSpPr/>
            <p:nvPr/>
          </p:nvSpPr>
          <p:spPr>
            <a:xfrm>
              <a:off x="8653506" y="5883293"/>
              <a:ext cx="1070067" cy="285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사원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DC978EB7-C475-F021-89C4-21997FF7EF78}"/>
                </a:ext>
              </a:extLst>
            </p:cNvPr>
            <p:cNvSpPr/>
            <p:nvPr/>
          </p:nvSpPr>
          <p:spPr>
            <a:xfrm>
              <a:off x="8653506" y="5536292"/>
              <a:ext cx="1070067" cy="285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대리</a:t>
              </a: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EFBE7753-7587-190A-E9BB-489D0C849DF1}"/>
                </a:ext>
              </a:extLst>
            </p:cNvPr>
            <p:cNvSpPr/>
            <p:nvPr/>
          </p:nvSpPr>
          <p:spPr>
            <a:xfrm>
              <a:off x="6656283" y="5189290"/>
              <a:ext cx="737894" cy="285732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G3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0F666CB4-5C38-C173-4B8B-68C8169932C3}"/>
                </a:ext>
              </a:extLst>
            </p:cNvPr>
            <p:cNvSpPr/>
            <p:nvPr/>
          </p:nvSpPr>
          <p:spPr>
            <a:xfrm>
              <a:off x="6653982" y="3831661"/>
              <a:ext cx="308310" cy="725459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G4</a:t>
              </a:r>
            </a:p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(M)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F38F71AD-AD6F-5B4B-718D-D86753B23B3B}"/>
                </a:ext>
              </a:extLst>
            </p:cNvPr>
            <p:cNvSpPr/>
            <p:nvPr/>
          </p:nvSpPr>
          <p:spPr>
            <a:xfrm>
              <a:off x="7079006" y="3831661"/>
              <a:ext cx="308310" cy="725459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G4</a:t>
              </a:r>
            </a:p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(S)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D857E1D5-6D73-BD5E-EAFC-C13CE61D34B7}"/>
                </a:ext>
              </a:extLst>
            </p:cNvPr>
            <p:cNvSpPr/>
            <p:nvPr/>
          </p:nvSpPr>
          <p:spPr>
            <a:xfrm>
              <a:off x="7474882" y="4651988"/>
              <a:ext cx="427767" cy="442434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부팀장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649F8803-4D25-55ED-08DB-FBCB57E3A8FE}"/>
                </a:ext>
              </a:extLst>
            </p:cNvPr>
            <p:cNvSpPr/>
            <p:nvPr/>
          </p:nvSpPr>
          <p:spPr>
            <a:xfrm>
              <a:off x="6656283" y="4659678"/>
              <a:ext cx="737894" cy="434744"/>
            </a:xfrm>
            <a:prstGeom prst="rect">
              <a:avLst/>
            </a:prstGeom>
            <a:solidFill>
              <a:srgbClr val="F3F2F2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G4</a:t>
              </a:r>
              <a:endPara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41215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1E27-A2B0-99E4-6B36-C7416385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A5949BE-549D-9EC2-184C-C4D2EACBC5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승진</a:t>
            </a:r>
            <a:r>
              <a:rPr lang="en-US" altLang="ko-KR" dirty="0"/>
              <a:t>·</a:t>
            </a:r>
            <a:r>
              <a:rPr lang="ko-KR" altLang="en-US" dirty="0"/>
              <a:t>보상 단계의 균형성과 성장경로 명확화를 위해 </a:t>
            </a:r>
            <a:r>
              <a:rPr lang="en-US" altLang="ko-KR" dirty="0"/>
              <a:t>6</a:t>
            </a:r>
            <a:r>
              <a:rPr lang="ko-KR" altLang="en-US" dirty="0"/>
              <a:t>등급 체계</a:t>
            </a:r>
            <a:r>
              <a:rPr lang="en-US" altLang="ko-KR" dirty="0"/>
              <a:t>(</a:t>
            </a:r>
            <a:r>
              <a:rPr lang="ko-KR" altLang="en-US" dirty="0"/>
              <a:t>안 </a:t>
            </a:r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r>
              <a:rPr lang="ko-KR" altLang="en-US" dirty="0"/>
              <a:t>를 확정하여</a:t>
            </a:r>
            <a:r>
              <a:rPr lang="en-US" altLang="ko-KR" dirty="0"/>
              <a:t>, </a:t>
            </a:r>
            <a:r>
              <a:rPr lang="ko-KR" altLang="en-US" dirty="0"/>
              <a:t>조직 확장성과 구성원 동기부여를 동시에 반영하는 직급체계를 마련함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00D9A4E-F8F1-6EEF-19B4-C43DD07F8F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92E0CB-2B07-845B-1D9A-E9EBD1FAA6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C3CF98D-28A1-19E7-ED02-F74BCC7775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A66E993B-6D22-2124-D939-E521FAA2FBC0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B927CC1A-C14D-4D52-3E26-728B428EC169}"/>
                </a:ext>
              </a:extLst>
            </p:cNvPr>
            <p:cNvSpPr/>
            <p:nvPr userDrawn="1"/>
          </p:nvSpPr>
          <p:spPr>
            <a:xfrm>
              <a:off x="2720518" y="1626519"/>
              <a:ext cx="1536262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직급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-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직책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-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직위 체계 </a:t>
              </a:r>
              <a:r>
                <a:rPr lang="ko-KR" altLang="en-US" sz="1400" dirty="0" err="1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설계안</a:t>
              </a:r>
              <a:endParaRPr lang="ko-KR" altLang="en-US" sz="140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</a:endParaRP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72C803AE-16DC-9656-7C11-842C37974B3A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125CC0A-B242-1C4B-2091-19DFAF42E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449123"/>
              </p:ext>
            </p:extLst>
          </p:nvPr>
        </p:nvGraphicFramePr>
        <p:xfrm>
          <a:off x="281213" y="2060574"/>
          <a:ext cx="6789513" cy="4075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5335">
                  <a:extLst>
                    <a:ext uri="{9D8B030D-6E8A-4147-A177-3AD203B41FA5}">
                      <a16:colId xmlns:a16="http://schemas.microsoft.com/office/drawing/2014/main" val="4290039752"/>
                    </a:ext>
                  </a:extLst>
                </a:gridCol>
                <a:gridCol w="1954726">
                  <a:extLst>
                    <a:ext uri="{9D8B030D-6E8A-4147-A177-3AD203B41FA5}">
                      <a16:colId xmlns:a16="http://schemas.microsoft.com/office/drawing/2014/main" val="609814981"/>
                    </a:ext>
                  </a:extLst>
                </a:gridCol>
                <a:gridCol w="1954726">
                  <a:extLst>
                    <a:ext uri="{9D8B030D-6E8A-4147-A177-3AD203B41FA5}">
                      <a16:colId xmlns:a16="http://schemas.microsoft.com/office/drawing/2014/main" val="552624324"/>
                    </a:ext>
                  </a:extLst>
                </a:gridCol>
                <a:gridCol w="1954726">
                  <a:extLst>
                    <a:ext uri="{9D8B030D-6E8A-4147-A177-3AD203B41FA5}">
                      <a16:colId xmlns:a16="http://schemas.microsoft.com/office/drawing/2014/main" val="1232985313"/>
                    </a:ext>
                  </a:extLst>
                </a:gridCol>
              </a:tblGrid>
              <a:tr h="340043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_5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등급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(G1 – G5)</a:t>
                      </a:r>
                      <a:endParaRPr lang="ko-KR" altLang="en-US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_6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등급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(G1 – G6)</a:t>
                      </a:r>
                      <a:endParaRPr lang="ko-KR" altLang="en-US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_(G1 – G7)</a:t>
                      </a:r>
                      <a:endParaRPr lang="ko-KR" altLang="en-US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533033"/>
                  </a:ext>
                </a:extLst>
              </a:tr>
              <a:tr h="873209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직급 구조 단순화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최소 관리단계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승진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보상 단계 적정화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성장경로 명확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세분화된 승진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전문성 단계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장기 경력설계 반영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544027"/>
                  </a:ext>
                </a:extLst>
              </a:tr>
              <a:tr h="873209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관리효율성↑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구조 단순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역할 경계 모호 가능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승진 간격 </a:t>
                      </a:r>
                      <a:r>
                        <a:rPr lang="ko-KR" altLang="en-US" sz="11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길어짐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책임 구분 비교적 명확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전문성 트랙 모두 반영 가능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성장경로 균형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전문가 트랙 세분화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미세 승진 가능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경력 전 단계 구체적 정의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910"/>
                  </a:ext>
                </a:extLst>
              </a:tr>
              <a:tr h="1093350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운영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 간단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직급 간 이동 유연성 높음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수평조직 문화에 적합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승진 주기 단축으로 동기부여↑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보상 설계 용이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조직 규모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사업 확장에 대응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승진 기회 많아 단기 성취감↑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전문역량 유지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발전 유리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인재유지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동기부여 극대화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108520"/>
                  </a:ext>
                </a:extLst>
              </a:tr>
              <a:tr h="896188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승진 기회 제한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장기 근속 동기↓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보상 체계 단순화로 불만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추가로 관리 복잡성↑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체계 정착까지 조정 필요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직무경계 과도 세분화 가능성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복잡성 증가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1549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3B3447C3-D73E-CCCA-BBF4-50B079BD8CEE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논의 결과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34A1B57-24D3-C98A-3AEF-76EA5CE5D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537390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(5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단순성과 효율성은 높으나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성장 기회 부족 및 장기 근속 동기 저하 우려 존재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세분화로 전문성 유지에는 유리하나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 복잡성과 과도한 직무경계 세분화 위험이 있음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(6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역할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책임 구분이 명확하고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전문성 트랙을 모두 반영할 수 있으며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b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 주기 단축을 통한 동기부여 효과와 평가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보상 연계가 용이해 최종안으로 선정함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sp>
        <p:nvSpPr>
          <p:cNvPr id="9" name="Freeform 61">
            <a:extLst>
              <a:ext uri="{FF2B5EF4-FFF2-40B4-BE49-F238E27FC236}">
                <a16:creationId xmlns:a16="http://schemas.microsoft.com/office/drawing/2014/main" id="{595CF7F6-B308-1ADD-3855-CA9770EBB917}"/>
              </a:ext>
            </a:extLst>
          </p:cNvPr>
          <p:cNvSpPr>
            <a:spLocks/>
          </p:cNvSpPr>
          <p:nvPr/>
        </p:nvSpPr>
        <p:spPr bwMode="auto">
          <a:xfrm>
            <a:off x="7077076" y="2053338"/>
            <a:ext cx="612758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00406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C613-9B69-A0A8-F760-047F77CA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D33A501-74DF-041D-C500-7D433AC6CD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조직의 성장 단계와 역할 분화 수준을 고려해 </a:t>
            </a:r>
            <a:r>
              <a:rPr lang="en-US" altLang="ko-KR" dirty="0"/>
              <a:t>1G~6G </a:t>
            </a:r>
            <a:r>
              <a:rPr lang="ko-KR" altLang="en-US" dirty="0"/>
              <a:t>직급체계를 확정하고</a:t>
            </a:r>
            <a:r>
              <a:rPr lang="en-US" altLang="ko-KR" dirty="0"/>
              <a:t>, </a:t>
            </a:r>
            <a:r>
              <a:rPr lang="ko-KR" altLang="en-US" dirty="0"/>
              <a:t>직급</a:t>
            </a:r>
            <a:r>
              <a:rPr lang="en-US" altLang="ko-KR" dirty="0"/>
              <a:t>·</a:t>
            </a:r>
            <a:r>
              <a:rPr lang="ko-KR" altLang="en-US" dirty="0"/>
              <a:t>직책</a:t>
            </a:r>
            <a:r>
              <a:rPr lang="en-US" altLang="ko-KR" dirty="0"/>
              <a:t>·</a:t>
            </a:r>
            <a:r>
              <a:rPr lang="ko-KR" altLang="en-US" dirty="0"/>
              <a:t>호칭 간 일관성과 활용성을 확보할 수 있는 기준을 마련함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90364EB-B8AB-AE22-80B2-051F6EBCF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0E541D-2213-5B54-0130-DF449F3F6A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[S1] </a:t>
            </a:r>
            <a:r>
              <a:rPr lang="ko-KR" altLang="en-US" dirty="0"/>
              <a:t>직무체계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8D3BB18-FFA5-A51C-2C2F-398281AE9E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706E0400-C09C-E428-1049-FD1F52E01BD2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DD096631-9AF5-BD0C-A277-3DA08283F3BE}"/>
                </a:ext>
              </a:extLst>
            </p:cNvPr>
            <p:cNvSpPr/>
            <p:nvPr userDrawn="1"/>
          </p:nvSpPr>
          <p:spPr>
            <a:xfrm>
              <a:off x="2651701" y="1626519"/>
              <a:ext cx="1673900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직급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-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직책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-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직위 체계 설계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B7222DBD-1D5C-B252-D5DF-98096FBC6C29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E2F47D-267E-02BA-2522-057F32334E4A}"/>
              </a:ext>
            </a:extLst>
          </p:cNvPr>
          <p:cNvSpPr/>
          <p:nvPr/>
        </p:nvSpPr>
        <p:spPr>
          <a:xfrm>
            <a:off x="2202911" y="2137384"/>
            <a:ext cx="7430039" cy="354679"/>
          </a:xfrm>
          <a:prstGeom prst="rect">
            <a:avLst/>
          </a:prstGeom>
          <a:solidFill>
            <a:srgbClr val="A3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To-be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18A515-85F0-21E1-3380-59722354FF7D}"/>
              </a:ext>
            </a:extLst>
          </p:cNvPr>
          <p:cNvSpPr/>
          <p:nvPr/>
        </p:nvSpPr>
        <p:spPr>
          <a:xfrm>
            <a:off x="2202911" y="2583549"/>
            <a:ext cx="1786394" cy="314406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직급</a:t>
            </a:r>
            <a:endParaRPr lang="en-US" altLang="ko-KR" sz="1100" dirty="0">
              <a:latin typeface="+mj-ea"/>
              <a:ea typeface="+mj-ea"/>
            </a:endParaRPr>
          </a:p>
          <a:p>
            <a:pPr algn="ctr" latinLnBrk="0"/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ko-KR" altLang="en-US" sz="800" dirty="0">
                <a:latin typeface="+mj-ea"/>
                <a:ea typeface="+mj-ea"/>
              </a:rPr>
              <a:t>역할 등급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FBFC0D-1D6E-3E03-25EF-3D960CEF8D88}"/>
              </a:ext>
            </a:extLst>
          </p:cNvPr>
          <p:cNvSpPr/>
          <p:nvPr/>
        </p:nvSpPr>
        <p:spPr>
          <a:xfrm>
            <a:off x="4184686" y="2583549"/>
            <a:ext cx="2590563" cy="314406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직책</a:t>
            </a:r>
            <a:endParaRPr lang="en-US" altLang="ko-KR" sz="800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F898CF-E295-AC02-69F3-BA6EA758BFE0}"/>
              </a:ext>
            </a:extLst>
          </p:cNvPr>
          <p:cNvSpPr/>
          <p:nvPr/>
        </p:nvSpPr>
        <p:spPr>
          <a:xfrm>
            <a:off x="7038058" y="2583549"/>
            <a:ext cx="2590563" cy="314406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직위</a:t>
            </a:r>
            <a:r>
              <a:rPr lang="en-US" altLang="ko-KR" sz="1100" dirty="0">
                <a:latin typeface="+mj-ea"/>
                <a:ea typeface="+mj-ea"/>
              </a:rPr>
              <a:t>(</a:t>
            </a:r>
            <a:r>
              <a:rPr lang="ko-KR" altLang="en-US" sz="1100" dirty="0">
                <a:latin typeface="+mj-ea"/>
                <a:ea typeface="+mj-ea"/>
              </a:rPr>
              <a:t>호칭</a:t>
            </a:r>
            <a:r>
              <a:rPr lang="en-US" altLang="ko-KR" sz="1100" dirty="0">
                <a:latin typeface="+mj-ea"/>
                <a:ea typeface="+mj-ea"/>
              </a:rPr>
              <a:t>)</a:t>
            </a:r>
            <a:endParaRPr lang="en-US" altLang="ko-KR" sz="80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C7498B-B060-7F63-167E-67B74803D962}"/>
              </a:ext>
            </a:extLst>
          </p:cNvPr>
          <p:cNvSpPr/>
          <p:nvPr/>
        </p:nvSpPr>
        <p:spPr>
          <a:xfrm>
            <a:off x="2202911" y="3050957"/>
            <a:ext cx="1786394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G6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97AC31-C0AD-E03F-02F0-49FA188AD5CB}"/>
              </a:ext>
            </a:extLst>
          </p:cNvPr>
          <p:cNvSpPr/>
          <p:nvPr/>
        </p:nvSpPr>
        <p:spPr>
          <a:xfrm>
            <a:off x="2202911" y="5792744"/>
            <a:ext cx="1786394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G1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524B23-8EB9-082C-FD41-F11D2506521C}"/>
              </a:ext>
            </a:extLst>
          </p:cNvPr>
          <p:cNvSpPr/>
          <p:nvPr/>
        </p:nvSpPr>
        <p:spPr>
          <a:xfrm>
            <a:off x="2202911" y="5335779"/>
            <a:ext cx="1786394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G2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122855-79C9-64F7-B4DE-8165B1B07259}"/>
              </a:ext>
            </a:extLst>
          </p:cNvPr>
          <p:cNvSpPr/>
          <p:nvPr/>
        </p:nvSpPr>
        <p:spPr>
          <a:xfrm>
            <a:off x="4184686" y="3507922"/>
            <a:ext cx="1035596" cy="1290206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팀장</a:t>
            </a:r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/</a:t>
            </a:r>
          </a:p>
          <a:p>
            <a:pPr algn="ctr" latinLnBrk="0"/>
            <a:r>
              <a:rPr lang="ko-KR" altLang="en-US" sz="100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부팀장</a:t>
            </a:r>
            <a:endParaRPr lang="en-US" altLang="ko-KR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B71BF74-9A23-7BF5-4D24-5D56D700BE50}"/>
              </a:ext>
            </a:extLst>
          </p:cNvPr>
          <p:cNvSpPr/>
          <p:nvPr/>
        </p:nvSpPr>
        <p:spPr>
          <a:xfrm>
            <a:off x="5463673" y="3497212"/>
            <a:ext cx="1311462" cy="1488549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BA6B4B-F749-4FE2-B951-8AFC5951450D}"/>
              </a:ext>
            </a:extLst>
          </p:cNvPr>
          <p:cNvSpPr/>
          <p:nvPr/>
        </p:nvSpPr>
        <p:spPr>
          <a:xfrm>
            <a:off x="4184686" y="3056269"/>
            <a:ext cx="2590449" cy="370969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임원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C381D3-19C0-2772-628E-630CCE97C37C}"/>
              </a:ext>
            </a:extLst>
          </p:cNvPr>
          <p:cNvSpPr/>
          <p:nvPr/>
        </p:nvSpPr>
        <p:spPr>
          <a:xfrm>
            <a:off x="7038058" y="3050957"/>
            <a:ext cx="2590563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C2958B-B474-8DC5-F2D9-A01E9E133C6D}"/>
              </a:ext>
            </a:extLst>
          </p:cNvPr>
          <p:cNvSpPr/>
          <p:nvPr/>
        </p:nvSpPr>
        <p:spPr>
          <a:xfrm>
            <a:off x="7038058" y="4884212"/>
            <a:ext cx="2590563" cy="370882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090FF4-A7CA-1807-FE53-6A42FC9719B6}"/>
              </a:ext>
            </a:extLst>
          </p:cNvPr>
          <p:cNvSpPr/>
          <p:nvPr/>
        </p:nvSpPr>
        <p:spPr>
          <a:xfrm>
            <a:off x="7038058" y="5792744"/>
            <a:ext cx="2590563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사원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1249230-A77F-7535-474C-6ED767461EAF}"/>
              </a:ext>
            </a:extLst>
          </p:cNvPr>
          <p:cNvSpPr/>
          <p:nvPr/>
        </p:nvSpPr>
        <p:spPr>
          <a:xfrm>
            <a:off x="7038058" y="5335779"/>
            <a:ext cx="2590563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대리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5647B1-8968-D63D-6D87-C8FB1ACC7597}"/>
              </a:ext>
            </a:extLst>
          </p:cNvPr>
          <p:cNvSpPr/>
          <p:nvPr/>
        </p:nvSpPr>
        <p:spPr>
          <a:xfrm>
            <a:off x="8385004" y="3502524"/>
            <a:ext cx="1243620" cy="622387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부장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BD116A-1C13-D0B8-A6C5-689620E8AECC}"/>
              </a:ext>
            </a:extLst>
          </p:cNvPr>
          <p:cNvSpPr/>
          <p:nvPr/>
        </p:nvSpPr>
        <p:spPr>
          <a:xfrm>
            <a:off x="8385004" y="4181137"/>
            <a:ext cx="1243620" cy="614295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차장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E5B2B52-C401-9F72-9836-0AD730F72184}"/>
              </a:ext>
            </a:extLst>
          </p:cNvPr>
          <p:cNvSpPr/>
          <p:nvPr/>
        </p:nvSpPr>
        <p:spPr>
          <a:xfrm>
            <a:off x="7038058" y="3507922"/>
            <a:ext cx="1243620" cy="622387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직책명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F5F9FA0-BCCF-BE9B-133E-75ECC43A453C}"/>
              </a:ext>
            </a:extLst>
          </p:cNvPr>
          <p:cNvSpPr/>
          <p:nvPr/>
        </p:nvSpPr>
        <p:spPr>
          <a:xfrm>
            <a:off x="7038058" y="4181137"/>
            <a:ext cx="1243620" cy="614295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직책명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421DA5-7BAA-2D1F-3695-BF5ED4AF4086}"/>
              </a:ext>
            </a:extLst>
          </p:cNvPr>
          <p:cNvSpPr/>
          <p:nvPr/>
        </p:nvSpPr>
        <p:spPr>
          <a:xfrm>
            <a:off x="2197340" y="3507921"/>
            <a:ext cx="746399" cy="616990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G5</a:t>
            </a:r>
          </a:p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(M)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CE6B8C6-50D4-FAEB-549D-9A97220D4F22}"/>
              </a:ext>
            </a:extLst>
          </p:cNvPr>
          <p:cNvSpPr/>
          <p:nvPr/>
        </p:nvSpPr>
        <p:spPr>
          <a:xfrm>
            <a:off x="3226296" y="3507921"/>
            <a:ext cx="746399" cy="616990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G5</a:t>
            </a:r>
          </a:p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(S)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A9425F-CE6A-7CD6-9C00-D769DA69950A}"/>
              </a:ext>
            </a:extLst>
          </p:cNvPr>
          <p:cNvSpPr/>
          <p:nvPr/>
        </p:nvSpPr>
        <p:spPr>
          <a:xfrm>
            <a:off x="2202911" y="4878813"/>
            <a:ext cx="1786394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G3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35D486-1EFE-2232-480A-0C8B3276E92B}"/>
              </a:ext>
            </a:extLst>
          </p:cNvPr>
          <p:cNvSpPr/>
          <p:nvPr/>
        </p:nvSpPr>
        <p:spPr>
          <a:xfrm>
            <a:off x="2197340" y="4181137"/>
            <a:ext cx="1786394" cy="616990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G4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1EB8B9-D614-BBAE-B738-6D0EA482ECD8}"/>
              </a:ext>
            </a:extLst>
          </p:cNvPr>
          <p:cNvSpPr/>
          <p:nvPr/>
        </p:nvSpPr>
        <p:spPr>
          <a:xfrm>
            <a:off x="4184572" y="4884212"/>
            <a:ext cx="2590563" cy="12848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팀원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808DBA-8B5A-EFC1-E791-ADBEE0F3B624}"/>
              </a:ext>
            </a:extLst>
          </p:cNvPr>
          <p:cNvSpPr/>
          <p:nvPr/>
        </p:nvSpPr>
        <p:spPr>
          <a:xfrm>
            <a:off x="5480283" y="4551583"/>
            <a:ext cx="1294852" cy="487699"/>
          </a:xfrm>
          <a:prstGeom prst="rect">
            <a:avLst/>
          </a:prstGeom>
          <a:solidFill>
            <a:srgbClr val="F3F2F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0EF39E6-D4AA-E688-F805-5451AD16F39D}"/>
              </a:ext>
            </a:extLst>
          </p:cNvPr>
          <p:cNvSpPr/>
          <p:nvPr/>
        </p:nvSpPr>
        <p:spPr>
          <a:xfrm>
            <a:off x="278697" y="3050957"/>
            <a:ext cx="1079237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161359-C4DF-D6EE-BFC2-6C29D84D68B5}"/>
              </a:ext>
            </a:extLst>
          </p:cNvPr>
          <p:cNvSpPr/>
          <p:nvPr/>
        </p:nvSpPr>
        <p:spPr>
          <a:xfrm>
            <a:off x="273050" y="2583549"/>
            <a:ext cx="1084885" cy="314406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</a:rPr>
              <a:t>직급 </a:t>
            </a:r>
            <a:r>
              <a:rPr lang="en-US" altLang="ko-KR" sz="1100" dirty="0">
                <a:latin typeface="+mj-ea"/>
              </a:rPr>
              <a:t>+ </a:t>
            </a:r>
            <a:r>
              <a:rPr lang="ko-KR" altLang="en-US" sz="1100" dirty="0">
                <a:latin typeface="+mj-ea"/>
              </a:rPr>
              <a:t>직책 </a:t>
            </a:r>
            <a:r>
              <a:rPr lang="en-US" altLang="ko-KR" sz="1100" dirty="0">
                <a:latin typeface="+mj-ea"/>
              </a:rPr>
              <a:t>+ </a:t>
            </a:r>
            <a:r>
              <a:rPr lang="ko-KR" altLang="en-US" sz="1100" dirty="0">
                <a:latin typeface="+mj-ea"/>
              </a:rPr>
              <a:t>직위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F1B6EF7-F2EA-9DE1-7B92-51164FEC9B5A}"/>
              </a:ext>
            </a:extLst>
          </p:cNvPr>
          <p:cNvSpPr/>
          <p:nvPr/>
        </p:nvSpPr>
        <p:spPr>
          <a:xfrm>
            <a:off x="278697" y="3690087"/>
            <a:ext cx="1079237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부장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5D2DE69-4AFE-BDC7-F565-BC006A11A5BE}"/>
              </a:ext>
            </a:extLst>
          </p:cNvPr>
          <p:cNvSpPr/>
          <p:nvPr/>
        </p:nvSpPr>
        <p:spPr>
          <a:xfrm>
            <a:off x="278697" y="4171211"/>
            <a:ext cx="1079237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차장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9F33AB1-854E-47A9-94EB-D08F9F925475}"/>
              </a:ext>
            </a:extLst>
          </p:cNvPr>
          <p:cNvSpPr/>
          <p:nvPr/>
        </p:nvSpPr>
        <p:spPr>
          <a:xfrm>
            <a:off x="278697" y="4797023"/>
            <a:ext cx="1079237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과장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1A673BC-441E-2CD7-D017-FDE382EBE251}"/>
              </a:ext>
            </a:extLst>
          </p:cNvPr>
          <p:cNvSpPr/>
          <p:nvPr/>
        </p:nvSpPr>
        <p:spPr>
          <a:xfrm>
            <a:off x="278697" y="5294884"/>
            <a:ext cx="1079237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대리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16F97F1-9A13-DA98-BEAD-DC684052C510}"/>
              </a:ext>
            </a:extLst>
          </p:cNvPr>
          <p:cNvSpPr/>
          <p:nvPr/>
        </p:nvSpPr>
        <p:spPr>
          <a:xfrm>
            <a:off x="278697" y="5792744"/>
            <a:ext cx="1079237" cy="37628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사원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85BAB5E-7154-0A59-7FF4-A8B9FDEF3747}"/>
              </a:ext>
            </a:extLst>
          </p:cNvPr>
          <p:cNvSpPr/>
          <p:nvPr/>
        </p:nvSpPr>
        <p:spPr>
          <a:xfrm>
            <a:off x="274943" y="2060575"/>
            <a:ext cx="1082991" cy="3546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As-is</a:t>
            </a:r>
          </a:p>
        </p:txBody>
      </p:sp>
      <p:sp>
        <p:nvSpPr>
          <p:cNvPr id="39" name="갈매기형 수장 17">
            <a:extLst>
              <a:ext uri="{FF2B5EF4-FFF2-40B4-BE49-F238E27FC236}">
                <a16:creationId xmlns:a16="http://schemas.microsoft.com/office/drawing/2014/main" id="{B15ED87E-599C-74A8-C004-C614F4D14C53}"/>
              </a:ext>
            </a:extLst>
          </p:cNvPr>
          <p:cNvSpPr/>
          <p:nvPr/>
        </p:nvSpPr>
        <p:spPr>
          <a:xfrm>
            <a:off x="1643795" y="4005344"/>
            <a:ext cx="267684" cy="433552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78075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987D-5ED5-761F-30A2-025403E1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298B3A1-DCE9-7E53-492D-B5CA35F1B4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역할 구분</a:t>
            </a:r>
            <a:r>
              <a:rPr lang="en-US" altLang="ko-KR" dirty="0"/>
              <a:t>(</a:t>
            </a:r>
            <a:r>
              <a:rPr lang="ko-KR" altLang="en-US" dirty="0"/>
              <a:t>실무</a:t>
            </a:r>
            <a:r>
              <a:rPr lang="en-US" altLang="ko-KR" dirty="0"/>
              <a:t> </a:t>
            </a:r>
            <a:r>
              <a:rPr lang="ko-KR" altLang="en-US" dirty="0"/>
              <a:t>단계</a:t>
            </a:r>
            <a:r>
              <a:rPr lang="en-US" altLang="ko-KR" dirty="0"/>
              <a:t>, </a:t>
            </a:r>
            <a:r>
              <a:rPr lang="ko-KR" altLang="en-US" dirty="0"/>
              <a:t>관리</a:t>
            </a:r>
            <a:r>
              <a:rPr lang="en-US" altLang="ko-KR" dirty="0"/>
              <a:t>·</a:t>
            </a:r>
            <a:r>
              <a:rPr lang="ko-KR" altLang="en-US" dirty="0"/>
              <a:t>책임 단계</a:t>
            </a:r>
            <a:r>
              <a:rPr lang="en-US" altLang="ko-KR" dirty="0"/>
              <a:t>, </a:t>
            </a:r>
            <a:r>
              <a:rPr lang="ko-KR" altLang="en-US" dirty="0"/>
              <a:t>총괄 단계</a:t>
            </a:r>
            <a:r>
              <a:rPr lang="en-US" altLang="ko-KR" dirty="0"/>
              <a:t>)</a:t>
            </a:r>
            <a:r>
              <a:rPr lang="ko-KR" altLang="en-US" dirty="0"/>
              <a:t>별 역할 등급을 설계하고</a:t>
            </a:r>
            <a:r>
              <a:rPr lang="en-US" altLang="ko-KR" dirty="0"/>
              <a:t>, </a:t>
            </a:r>
            <a:r>
              <a:rPr lang="ko-KR" altLang="en-US" dirty="0"/>
              <a:t>관리자 </a:t>
            </a:r>
            <a:r>
              <a:rPr lang="en-US" altLang="ko-KR" dirty="0"/>
              <a:t>– </a:t>
            </a:r>
            <a:r>
              <a:rPr lang="ko-KR" altLang="en-US" dirty="0"/>
              <a:t>실무전문가 로의 경력개발을 고려할 수 있도록 두가지 역할 분류 설계안을 제시하였음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852D344-9705-1858-D959-8F7CD738B7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48472E-7159-70BC-FD1C-7338C91816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[S2] </a:t>
            </a:r>
            <a:r>
              <a:rPr lang="ko-KR" altLang="en-US" dirty="0"/>
              <a:t>역할체계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A5EDDD9-A56E-B22A-ADC0-FAEF3D8345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241CE9DE-5FAF-1B9E-0FDA-DE9412E89FFF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71C9AD90-D844-7AF0-3FA9-DCF00CF59217}"/>
                </a:ext>
              </a:extLst>
            </p:cNvPr>
            <p:cNvSpPr/>
            <p:nvPr userDrawn="1"/>
          </p:nvSpPr>
          <p:spPr>
            <a:xfrm>
              <a:off x="3012312" y="1626519"/>
              <a:ext cx="952676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역할 분류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 </a:t>
              </a:r>
              <a:r>
                <a:rPr lang="ko-KR" altLang="en-US" sz="1400" dirty="0" err="1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설계안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D96009B5-64A6-104F-76A0-8364E7CC6B53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54319D9F-329A-FDEC-3A83-70DA56663DAB}"/>
              </a:ext>
            </a:extLst>
          </p:cNvPr>
          <p:cNvSpPr/>
          <p:nvPr/>
        </p:nvSpPr>
        <p:spPr>
          <a:xfrm>
            <a:off x="278625" y="3054251"/>
            <a:ext cx="1065343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이사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CE0A51D7-A170-E7B4-03D0-BF7D9C2B2239}"/>
              </a:ext>
            </a:extLst>
          </p:cNvPr>
          <p:cNvSpPr/>
          <p:nvPr/>
        </p:nvSpPr>
        <p:spPr>
          <a:xfrm>
            <a:off x="2188347" y="2595500"/>
            <a:ext cx="1070919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구분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FA961D7A-F348-49AE-9794-1771459DB98F}"/>
              </a:ext>
            </a:extLst>
          </p:cNvPr>
          <p:cNvSpPr/>
          <p:nvPr/>
        </p:nvSpPr>
        <p:spPr>
          <a:xfrm>
            <a:off x="4523389" y="2595500"/>
            <a:ext cx="1186512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85DC7E1-C839-7941-B2ED-F55D7528349D}"/>
              </a:ext>
            </a:extLst>
          </p:cNvPr>
          <p:cNvSpPr/>
          <p:nvPr/>
        </p:nvSpPr>
        <p:spPr>
          <a:xfrm>
            <a:off x="3503127" y="2595500"/>
            <a:ext cx="849939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직급</a:t>
            </a:r>
            <a:endParaRPr lang="en-US" altLang="ko-KR" sz="1100" dirty="0">
              <a:latin typeface="+mj-ea"/>
              <a:ea typeface="+mj-ea"/>
            </a:endParaRPr>
          </a:p>
          <a:p>
            <a:pPr algn="ctr" latinLnBrk="0"/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ko-KR" altLang="en-US" sz="800" dirty="0">
                <a:latin typeface="+mj-ea"/>
                <a:ea typeface="+mj-ea"/>
              </a:rPr>
              <a:t>역할 등급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2D96486-B739-A903-68DE-2D6D51D94B51}"/>
              </a:ext>
            </a:extLst>
          </p:cNvPr>
          <p:cNvSpPr/>
          <p:nvPr/>
        </p:nvSpPr>
        <p:spPr>
          <a:xfrm>
            <a:off x="273050" y="2595500"/>
            <a:ext cx="1070919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직급 </a:t>
            </a:r>
            <a:r>
              <a:rPr lang="en-US" altLang="ko-KR" sz="1100" dirty="0">
                <a:latin typeface="+mj-ea"/>
                <a:ea typeface="+mj-ea"/>
              </a:rPr>
              <a:t>+ </a:t>
            </a:r>
            <a:r>
              <a:rPr lang="ko-KR" altLang="en-US" sz="1100" dirty="0">
                <a:latin typeface="+mj-ea"/>
                <a:ea typeface="+mj-ea"/>
              </a:rPr>
              <a:t>직책 </a:t>
            </a:r>
            <a:r>
              <a:rPr lang="en-US" altLang="ko-KR" sz="1100" dirty="0">
                <a:latin typeface="+mj-ea"/>
                <a:ea typeface="+mj-ea"/>
              </a:rPr>
              <a:t>+ </a:t>
            </a:r>
            <a:r>
              <a:rPr lang="ko-KR" altLang="en-US" sz="1100" dirty="0">
                <a:latin typeface="+mj-ea"/>
                <a:ea typeface="+mj-ea"/>
              </a:rPr>
              <a:t>직위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258E7426-A037-39F8-D786-27C639D19E2D}"/>
              </a:ext>
            </a:extLst>
          </p:cNvPr>
          <p:cNvSpPr/>
          <p:nvPr/>
        </p:nvSpPr>
        <p:spPr>
          <a:xfrm>
            <a:off x="278625" y="3681543"/>
            <a:ext cx="1065343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부장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464F7159-B987-BB69-939A-D5040A60F75C}"/>
              </a:ext>
            </a:extLst>
          </p:cNvPr>
          <p:cNvSpPr/>
          <p:nvPr/>
        </p:nvSpPr>
        <p:spPr>
          <a:xfrm>
            <a:off x="278625" y="4153756"/>
            <a:ext cx="1065343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차장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E8E273F6-DAA5-D329-7574-6B9215DF7F0F}"/>
              </a:ext>
            </a:extLst>
          </p:cNvPr>
          <p:cNvSpPr/>
          <p:nvPr/>
        </p:nvSpPr>
        <p:spPr>
          <a:xfrm>
            <a:off x="278625" y="4767976"/>
            <a:ext cx="1065343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과장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C54A4E0C-4F40-671A-AC54-6FD0B99B00C4}"/>
              </a:ext>
            </a:extLst>
          </p:cNvPr>
          <p:cNvSpPr/>
          <p:nvPr/>
        </p:nvSpPr>
        <p:spPr>
          <a:xfrm>
            <a:off x="278625" y="5256615"/>
            <a:ext cx="1065343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대리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B91D7F8-39BB-F95F-D060-02DBEB309AD1}"/>
              </a:ext>
            </a:extLst>
          </p:cNvPr>
          <p:cNvSpPr/>
          <p:nvPr/>
        </p:nvSpPr>
        <p:spPr>
          <a:xfrm>
            <a:off x="278625" y="5745255"/>
            <a:ext cx="1065343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사원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FD143CD6-6C5E-C001-F303-1C3D622BFC97}"/>
              </a:ext>
            </a:extLst>
          </p:cNvPr>
          <p:cNvSpPr/>
          <p:nvPr/>
        </p:nvSpPr>
        <p:spPr>
          <a:xfrm>
            <a:off x="2188348" y="2060576"/>
            <a:ext cx="3521554" cy="348110"/>
          </a:xfrm>
          <a:prstGeom prst="rect">
            <a:avLst/>
          </a:prstGeom>
          <a:solidFill>
            <a:srgbClr val="A3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관리자 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실무전문가 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Track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구분</a:t>
            </a:r>
            <a:endParaRPr lang="en-US" altLang="ko-KR" sz="12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C11B3361-F9B7-8676-4BCA-52F38807D064}"/>
              </a:ext>
            </a:extLst>
          </p:cNvPr>
          <p:cNvSpPr/>
          <p:nvPr/>
        </p:nvSpPr>
        <p:spPr>
          <a:xfrm>
            <a:off x="274919" y="2082213"/>
            <a:ext cx="1069049" cy="348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As-is</a:t>
            </a:r>
          </a:p>
        </p:txBody>
      </p:sp>
      <p:sp>
        <p:nvSpPr>
          <p:cNvPr id="165" name="갈매기형 수장 17">
            <a:extLst>
              <a:ext uri="{FF2B5EF4-FFF2-40B4-BE49-F238E27FC236}">
                <a16:creationId xmlns:a16="http://schemas.microsoft.com/office/drawing/2014/main" id="{2D39F33C-6D48-1F77-7D07-D54C72506401}"/>
              </a:ext>
            </a:extLst>
          </p:cNvPr>
          <p:cNvSpPr/>
          <p:nvPr/>
        </p:nvSpPr>
        <p:spPr>
          <a:xfrm>
            <a:off x="1626149" y="3990961"/>
            <a:ext cx="264237" cy="425522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5901FC2D-E880-87BA-D4BA-7E51A5D4DEB7}"/>
              </a:ext>
            </a:extLst>
          </p:cNvPr>
          <p:cNvSpPr/>
          <p:nvPr/>
        </p:nvSpPr>
        <p:spPr>
          <a:xfrm>
            <a:off x="6108283" y="2595500"/>
            <a:ext cx="1070919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구분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263F75D8-9EDC-403B-7870-9906C8071AFC}"/>
              </a:ext>
            </a:extLst>
          </p:cNvPr>
          <p:cNvSpPr/>
          <p:nvPr/>
        </p:nvSpPr>
        <p:spPr>
          <a:xfrm>
            <a:off x="8443325" y="2595500"/>
            <a:ext cx="1186512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28EE88EE-8E09-30B9-C7B3-1B5258AD8406}"/>
              </a:ext>
            </a:extLst>
          </p:cNvPr>
          <p:cNvSpPr/>
          <p:nvPr/>
        </p:nvSpPr>
        <p:spPr>
          <a:xfrm>
            <a:off x="7423063" y="2595500"/>
            <a:ext cx="849939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직급</a:t>
            </a:r>
            <a:endParaRPr lang="en-US" altLang="ko-KR" sz="1100" dirty="0">
              <a:latin typeface="+mj-ea"/>
              <a:ea typeface="+mj-ea"/>
            </a:endParaRPr>
          </a:p>
          <a:p>
            <a:pPr algn="ctr" latinLnBrk="0"/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ko-KR" altLang="en-US" sz="800" dirty="0">
                <a:latin typeface="+mj-ea"/>
                <a:ea typeface="+mj-ea"/>
              </a:rPr>
              <a:t>역할 등급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95BF805E-2BA0-CBF5-28A7-451EF115DFFC}"/>
              </a:ext>
            </a:extLst>
          </p:cNvPr>
          <p:cNvSpPr/>
          <p:nvPr/>
        </p:nvSpPr>
        <p:spPr>
          <a:xfrm>
            <a:off x="6108284" y="2060576"/>
            <a:ext cx="3521554" cy="348110"/>
          </a:xfrm>
          <a:prstGeom prst="rect">
            <a:avLst/>
          </a:prstGeom>
          <a:solidFill>
            <a:srgbClr val="A3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안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관리자 </a:t>
            </a:r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– </a:t>
            </a:r>
            <a:r>
              <a:rPr lang="ko-KR" altLang="en-US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실무전문가 통합</a:t>
            </a:r>
            <a:endParaRPr lang="en-US" altLang="ko-KR" sz="12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D4F44EDC-BD79-2BBF-9F76-65DA35C61CF8}"/>
              </a:ext>
            </a:extLst>
          </p:cNvPr>
          <p:cNvGrpSpPr/>
          <p:nvPr/>
        </p:nvGrpSpPr>
        <p:grpSpPr>
          <a:xfrm>
            <a:off x="2172568" y="3031941"/>
            <a:ext cx="3537333" cy="3097397"/>
            <a:chOff x="2172568" y="3031941"/>
            <a:chExt cx="3537333" cy="3097397"/>
          </a:xfrm>
        </p:grpSpPr>
        <p:sp>
          <p:nvSpPr>
            <p:cNvPr id="133" name="사각형: 둥근 모서리 132">
              <a:extLst>
                <a:ext uri="{FF2B5EF4-FFF2-40B4-BE49-F238E27FC236}">
                  <a16:creationId xmlns:a16="http://schemas.microsoft.com/office/drawing/2014/main" id="{8A17EA3A-33A8-4C4A-1969-DA188C36C99A}"/>
                </a:ext>
              </a:extLst>
            </p:cNvPr>
            <p:cNvSpPr/>
            <p:nvPr/>
          </p:nvSpPr>
          <p:spPr>
            <a:xfrm>
              <a:off x="2172568" y="3661397"/>
              <a:ext cx="1086698" cy="862846"/>
            </a:xfrm>
            <a:prstGeom prst="roundRect">
              <a:avLst/>
            </a:prstGeom>
            <a:solidFill>
              <a:srgbClr val="A9B7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200" b="1" dirty="0">
                  <a:latin typeface="+mj-ea"/>
                  <a:ea typeface="+mj-ea"/>
                </a:rPr>
                <a:t>직무 관리</a:t>
              </a:r>
              <a:r>
                <a:rPr lang="en-US" altLang="ko-KR" sz="1200" b="1" dirty="0">
                  <a:latin typeface="+mj-ea"/>
                  <a:ea typeface="+mj-ea"/>
                </a:rPr>
                <a:t>/</a:t>
              </a:r>
            </a:p>
            <a:p>
              <a:pPr algn="ctr" latinLnBrk="0"/>
              <a:r>
                <a:rPr lang="ko-KR" altLang="en-US" sz="1200" b="1" dirty="0">
                  <a:latin typeface="+mj-ea"/>
                  <a:ea typeface="+mj-ea"/>
                </a:rPr>
                <a:t>직무 책임</a:t>
              </a:r>
              <a:endParaRPr lang="en-US" altLang="ko-KR" sz="1200" b="1" dirty="0">
                <a:latin typeface="+mj-ea"/>
                <a:ea typeface="+mj-ea"/>
              </a:endParaRPr>
            </a:p>
          </p:txBody>
        </p:sp>
        <p:cxnSp>
          <p:nvCxnSpPr>
            <p:cNvPr id="134" name="연결선: 꺾임 40">
              <a:extLst>
                <a:ext uri="{FF2B5EF4-FFF2-40B4-BE49-F238E27FC236}">
                  <a16:creationId xmlns:a16="http://schemas.microsoft.com/office/drawing/2014/main" id="{ECFD06E2-FE73-0279-CEA6-2E1C2391C70A}"/>
                </a:ext>
              </a:extLst>
            </p:cNvPr>
            <p:cNvCxnSpPr>
              <a:cxnSpLocks/>
              <a:stCxn id="133" idx="3"/>
              <a:endCxn id="142" idx="1"/>
            </p:cNvCxnSpPr>
            <p:nvPr/>
          </p:nvCxnSpPr>
          <p:spPr>
            <a:xfrm flipV="1">
              <a:off x="3259266" y="3934909"/>
              <a:ext cx="243861" cy="157911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1A095568-95DB-8D0A-8354-18F05D05EF64}"/>
                </a:ext>
              </a:extLst>
            </p:cNvPr>
            <p:cNvSpPr/>
            <p:nvPr/>
          </p:nvSpPr>
          <p:spPr>
            <a:xfrm>
              <a:off x="4523389" y="4152580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실무 책임</a:t>
              </a:r>
              <a:endParaRPr lang="en-US" altLang="ko-KR" sz="11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(PM)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36" name="사각형: 둥근 모서리 135">
              <a:extLst>
                <a:ext uri="{FF2B5EF4-FFF2-40B4-BE49-F238E27FC236}">
                  <a16:creationId xmlns:a16="http://schemas.microsoft.com/office/drawing/2014/main" id="{E1B464C1-896C-60FE-567F-EC0230A43745}"/>
                </a:ext>
              </a:extLst>
            </p:cNvPr>
            <p:cNvSpPr/>
            <p:nvPr/>
          </p:nvSpPr>
          <p:spPr>
            <a:xfrm>
              <a:off x="4523389" y="4767976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핵심 실무</a:t>
              </a:r>
            </a:p>
          </p:txBody>
        </p:sp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0CF521D8-DDA8-12ED-CF54-6C8B143DFB74}"/>
                </a:ext>
              </a:extLst>
            </p:cNvPr>
            <p:cNvSpPr/>
            <p:nvPr/>
          </p:nvSpPr>
          <p:spPr>
            <a:xfrm>
              <a:off x="3503127" y="4152580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G4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35F4D391-10A7-276E-E570-FB53F0896BFB}"/>
                </a:ext>
              </a:extLst>
            </p:cNvPr>
            <p:cNvSpPr/>
            <p:nvPr/>
          </p:nvSpPr>
          <p:spPr>
            <a:xfrm>
              <a:off x="3503127" y="4767976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G3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139" name="연결선: 꺾임 40">
              <a:extLst>
                <a:ext uri="{FF2B5EF4-FFF2-40B4-BE49-F238E27FC236}">
                  <a16:creationId xmlns:a16="http://schemas.microsoft.com/office/drawing/2014/main" id="{E01187B6-D056-A35C-D3AF-66C9FC8AFA96}"/>
                </a:ext>
              </a:extLst>
            </p:cNvPr>
            <p:cNvCxnSpPr>
              <a:cxnSpLocks/>
              <a:stCxn id="133" idx="3"/>
              <a:endCxn id="137" idx="1"/>
            </p:cNvCxnSpPr>
            <p:nvPr/>
          </p:nvCxnSpPr>
          <p:spPr>
            <a:xfrm>
              <a:off x="3259266" y="4092820"/>
              <a:ext cx="243861" cy="245592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cxnSp>
          <p:nvCxnSpPr>
            <p:cNvPr id="140" name="연결선: 꺾임 40">
              <a:extLst>
                <a:ext uri="{FF2B5EF4-FFF2-40B4-BE49-F238E27FC236}">
                  <a16:creationId xmlns:a16="http://schemas.microsoft.com/office/drawing/2014/main" id="{0E897341-3B75-D3EF-1322-06BE4B7755B0}"/>
                </a:ext>
              </a:extLst>
            </p:cNvPr>
            <p:cNvCxnSpPr>
              <a:cxnSpLocks/>
              <a:stCxn id="146" idx="3"/>
              <a:endCxn id="138" idx="1"/>
            </p:cNvCxnSpPr>
            <p:nvPr/>
          </p:nvCxnSpPr>
          <p:spPr>
            <a:xfrm flipV="1">
              <a:off x="3259266" y="4953809"/>
              <a:ext cx="243861" cy="498325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35E6AA5E-0BD3-9A13-4B34-5FD2799696BD}"/>
                </a:ext>
              </a:extLst>
            </p:cNvPr>
            <p:cNvSpPr/>
            <p:nvPr/>
          </p:nvSpPr>
          <p:spPr>
            <a:xfrm>
              <a:off x="4523389" y="3661396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직무 관리</a:t>
              </a:r>
              <a:endParaRPr lang="en-US" altLang="ko-KR" sz="11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부서</a:t>
              </a:r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/</a:t>
              </a:r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팀</a:t>
              </a:r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)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B8734FBB-0705-A520-036B-2F16B58ADE26}"/>
                </a:ext>
              </a:extLst>
            </p:cNvPr>
            <p:cNvSpPr/>
            <p:nvPr/>
          </p:nvSpPr>
          <p:spPr>
            <a:xfrm>
              <a:off x="3503127" y="3843738"/>
              <a:ext cx="849939" cy="1823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</a:rPr>
                <a:t>G5-M</a:t>
              </a:r>
              <a:endParaRPr lang="ko-KR" altLang="en-US" sz="1100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9E122320-F220-7D44-F61C-CEB8FDA04667}"/>
                </a:ext>
              </a:extLst>
            </p:cNvPr>
            <p:cNvSpPr/>
            <p:nvPr/>
          </p:nvSpPr>
          <p:spPr>
            <a:xfrm>
              <a:off x="2172568" y="3031941"/>
              <a:ext cx="1086698" cy="379145"/>
            </a:xfrm>
            <a:prstGeom prst="roundRect">
              <a:avLst/>
            </a:prstGeom>
            <a:solidFill>
              <a:srgbClr val="A9B7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200" b="1" dirty="0">
                  <a:latin typeface="+mj-ea"/>
                  <a:ea typeface="+mj-ea"/>
                </a:rPr>
                <a:t>총괄관리</a:t>
              </a:r>
            </a:p>
          </p:txBody>
        </p:sp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9C137B98-5176-DB50-93FA-C121ADD707FE}"/>
                </a:ext>
              </a:extLst>
            </p:cNvPr>
            <p:cNvSpPr/>
            <p:nvPr/>
          </p:nvSpPr>
          <p:spPr>
            <a:xfrm>
              <a:off x="4523389" y="3037824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사업</a:t>
              </a:r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조직 관리</a:t>
              </a: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AFB31FB0-4B96-1454-B208-72E1A219821B}"/>
                </a:ext>
              </a:extLst>
            </p:cNvPr>
            <p:cNvSpPr/>
            <p:nvPr/>
          </p:nvSpPr>
          <p:spPr>
            <a:xfrm>
              <a:off x="3503127" y="3035471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G6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6149C8FF-863F-B0AF-C3C4-32C0E3D1CCF4}"/>
                </a:ext>
              </a:extLst>
            </p:cNvPr>
            <p:cNvSpPr/>
            <p:nvPr/>
          </p:nvSpPr>
          <p:spPr>
            <a:xfrm>
              <a:off x="2172568" y="4774930"/>
              <a:ext cx="1086698" cy="1354408"/>
            </a:xfrm>
            <a:prstGeom prst="roundRect">
              <a:avLst/>
            </a:prstGeom>
            <a:solidFill>
              <a:srgbClr val="A9B7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200" b="1" dirty="0">
                  <a:latin typeface="+mj-ea"/>
                </a:rPr>
                <a:t>직무 실무</a:t>
              </a:r>
            </a:p>
          </p:txBody>
        </p:sp>
        <p:cxnSp>
          <p:nvCxnSpPr>
            <p:cNvPr id="147" name="연결선: 꺾임 40">
              <a:extLst>
                <a:ext uri="{FF2B5EF4-FFF2-40B4-BE49-F238E27FC236}">
                  <a16:creationId xmlns:a16="http://schemas.microsoft.com/office/drawing/2014/main" id="{F178850E-F88D-47B5-9FE9-7C116DB3BE96}"/>
                </a:ext>
              </a:extLst>
            </p:cNvPr>
            <p:cNvCxnSpPr>
              <a:cxnSpLocks/>
              <a:stCxn id="146" idx="3"/>
              <a:endCxn id="149" idx="1"/>
            </p:cNvCxnSpPr>
            <p:nvPr/>
          </p:nvCxnSpPr>
          <p:spPr>
            <a:xfrm>
              <a:off x="3259266" y="5452134"/>
              <a:ext cx="243861" cy="491373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F56F0902-6BF5-2680-B9F5-E61822ACBD66}"/>
                </a:ext>
              </a:extLst>
            </p:cNvPr>
            <p:cNvSpPr/>
            <p:nvPr/>
          </p:nvSpPr>
          <p:spPr>
            <a:xfrm>
              <a:off x="4523389" y="5757674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실무 보조</a:t>
              </a:r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8981BAEF-3264-1C98-EB6D-568ED7D5EC64}"/>
                </a:ext>
              </a:extLst>
            </p:cNvPr>
            <p:cNvSpPr/>
            <p:nvPr/>
          </p:nvSpPr>
          <p:spPr>
            <a:xfrm>
              <a:off x="3503127" y="5757674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G1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150" name="연결선: 꺾임 40">
              <a:extLst>
                <a:ext uri="{FF2B5EF4-FFF2-40B4-BE49-F238E27FC236}">
                  <a16:creationId xmlns:a16="http://schemas.microsoft.com/office/drawing/2014/main" id="{488CBF83-E4FC-339D-128D-103529A8DED0}"/>
                </a:ext>
              </a:extLst>
            </p:cNvPr>
            <p:cNvCxnSpPr>
              <a:cxnSpLocks/>
              <a:stCxn id="146" idx="3"/>
              <a:endCxn id="152" idx="1"/>
            </p:cNvCxnSpPr>
            <p:nvPr/>
          </p:nvCxnSpPr>
          <p:spPr>
            <a:xfrm>
              <a:off x="3259266" y="5452134"/>
              <a:ext cx="243861" cy="189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25BCFCCB-D450-B6DD-1E66-13FD490E16BE}"/>
                </a:ext>
              </a:extLst>
            </p:cNvPr>
            <p:cNvSpPr/>
            <p:nvPr/>
          </p:nvSpPr>
          <p:spPr>
            <a:xfrm>
              <a:off x="4523389" y="5266490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실무</a:t>
              </a:r>
            </a:p>
          </p:txBody>
        </p:sp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F3B581E5-FD75-7641-1B3E-5E230E0EA5A1}"/>
                </a:ext>
              </a:extLst>
            </p:cNvPr>
            <p:cNvSpPr/>
            <p:nvPr/>
          </p:nvSpPr>
          <p:spPr>
            <a:xfrm>
              <a:off x="3503127" y="5266490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G2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153" name="연결선: 꺾임 40">
              <a:extLst>
                <a:ext uri="{FF2B5EF4-FFF2-40B4-BE49-F238E27FC236}">
                  <a16:creationId xmlns:a16="http://schemas.microsoft.com/office/drawing/2014/main" id="{A61C8992-1304-9C06-A35C-8EA5404C5610}"/>
                </a:ext>
              </a:extLst>
            </p:cNvPr>
            <p:cNvCxnSpPr>
              <a:cxnSpLocks/>
              <a:stCxn id="143" idx="3"/>
              <a:endCxn id="145" idx="1"/>
            </p:cNvCxnSpPr>
            <p:nvPr/>
          </p:nvCxnSpPr>
          <p:spPr>
            <a:xfrm flipV="1">
              <a:off x="3259266" y="3221304"/>
              <a:ext cx="243861" cy="210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D976D000-A869-B851-3B04-1F48725AC4F8}"/>
                </a:ext>
              </a:extLst>
            </p:cNvPr>
            <p:cNvSpPr/>
            <p:nvPr/>
          </p:nvSpPr>
          <p:spPr>
            <a:xfrm>
              <a:off x="3503127" y="3616496"/>
              <a:ext cx="849939" cy="1823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</a:rPr>
                <a:t>G5-M</a:t>
              </a:r>
              <a:endParaRPr lang="ko-KR" altLang="en-US" sz="1100" dirty="0">
                <a:solidFill>
                  <a:schemeClr val="tx1"/>
                </a:solidFill>
                <a:latin typeface="+mj-ea"/>
              </a:endParaRPr>
            </a:p>
          </p:txBody>
        </p:sp>
        <p:cxnSp>
          <p:nvCxnSpPr>
            <p:cNvPr id="255" name="연결선: 꺾임 40">
              <a:extLst>
                <a:ext uri="{FF2B5EF4-FFF2-40B4-BE49-F238E27FC236}">
                  <a16:creationId xmlns:a16="http://schemas.microsoft.com/office/drawing/2014/main" id="{4B83BB48-1091-2873-4C41-4F42BB0A367F}"/>
                </a:ext>
              </a:extLst>
            </p:cNvPr>
            <p:cNvCxnSpPr>
              <a:cxnSpLocks/>
              <a:stCxn id="133" idx="3"/>
              <a:endCxn id="194" idx="1"/>
            </p:cNvCxnSpPr>
            <p:nvPr/>
          </p:nvCxnSpPr>
          <p:spPr>
            <a:xfrm flipV="1">
              <a:off x="3259266" y="3707667"/>
              <a:ext cx="243861" cy="385153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</p:grp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70A7F247-8B68-8F8D-6997-220D4E039B9E}"/>
              </a:ext>
            </a:extLst>
          </p:cNvPr>
          <p:cNvGrpSpPr/>
          <p:nvPr/>
        </p:nvGrpSpPr>
        <p:grpSpPr>
          <a:xfrm>
            <a:off x="6095617" y="3031941"/>
            <a:ext cx="3537333" cy="3097397"/>
            <a:chOff x="2172568" y="3031941"/>
            <a:chExt cx="3537333" cy="3097397"/>
          </a:xfrm>
        </p:grpSpPr>
        <p:sp>
          <p:nvSpPr>
            <p:cNvPr id="293" name="사각형: 둥근 모서리 292">
              <a:extLst>
                <a:ext uri="{FF2B5EF4-FFF2-40B4-BE49-F238E27FC236}">
                  <a16:creationId xmlns:a16="http://schemas.microsoft.com/office/drawing/2014/main" id="{2666DB12-EEDF-2C82-A370-F2279DEA6171}"/>
                </a:ext>
              </a:extLst>
            </p:cNvPr>
            <p:cNvSpPr/>
            <p:nvPr/>
          </p:nvSpPr>
          <p:spPr>
            <a:xfrm>
              <a:off x="2172568" y="3661397"/>
              <a:ext cx="1086698" cy="862846"/>
            </a:xfrm>
            <a:prstGeom prst="roundRect">
              <a:avLst/>
            </a:prstGeom>
            <a:solidFill>
              <a:srgbClr val="A9B7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200" b="1" dirty="0">
                  <a:latin typeface="+mj-ea"/>
                  <a:ea typeface="+mj-ea"/>
                </a:rPr>
                <a:t>직무 관리</a:t>
              </a:r>
              <a:r>
                <a:rPr lang="en-US" altLang="ko-KR" sz="1200" b="1" dirty="0">
                  <a:latin typeface="+mj-ea"/>
                  <a:ea typeface="+mj-ea"/>
                </a:rPr>
                <a:t>/</a:t>
              </a:r>
            </a:p>
            <a:p>
              <a:pPr algn="ctr" latinLnBrk="0"/>
              <a:r>
                <a:rPr lang="ko-KR" altLang="en-US" sz="1200" b="1" dirty="0">
                  <a:latin typeface="+mj-ea"/>
                  <a:ea typeface="+mj-ea"/>
                </a:rPr>
                <a:t>직무 책임</a:t>
              </a:r>
              <a:endParaRPr lang="en-US" altLang="ko-KR" sz="1200" b="1" dirty="0">
                <a:latin typeface="+mj-ea"/>
                <a:ea typeface="+mj-ea"/>
              </a:endParaRPr>
            </a:p>
          </p:txBody>
        </p:sp>
        <p:cxnSp>
          <p:nvCxnSpPr>
            <p:cNvPr id="294" name="연결선: 꺾임 40">
              <a:extLst>
                <a:ext uri="{FF2B5EF4-FFF2-40B4-BE49-F238E27FC236}">
                  <a16:creationId xmlns:a16="http://schemas.microsoft.com/office/drawing/2014/main" id="{8C2749B9-F429-80A1-C9FA-855D654DE8F4}"/>
                </a:ext>
              </a:extLst>
            </p:cNvPr>
            <p:cNvCxnSpPr>
              <a:cxnSpLocks/>
              <a:stCxn id="293" idx="3"/>
              <a:endCxn id="314" idx="1"/>
            </p:cNvCxnSpPr>
            <p:nvPr/>
          </p:nvCxnSpPr>
          <p:spPr>
            <a:xfrm flipV="1">
              <a:off x="3259266" y="3829256"/>
              <a:ext cx="243861" cy="263564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295" name="사각형: 둥근 모서리 294">
              <a:extLst>
                <a:ext uri="{FF2B5EF4-FFF2-40B4-BE49-F238E27FC236}">
                  <a16:creationId xmlns:a16="http://schemas.microsoft.com/office/drawing/2014/main" id="{BB2DBC27-D080-0B31-367D-E2BE8AAEE204}"/>
                </a:ext>
              </a:extLst>
            </p:cNvPr>
            <p:cNvSpPr/>
            <p:nvPr/>
          </p:nvSpPr>
          <p:spPr>
            <a:xfrm>
              <a:off x="4523389" y="4152580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실무 책임</a:t>
              </a:r>
              <a:endParaRPr lang="en-US" altLang="ko-KR" sz="11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(PM)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96" name="사각형: 둥근 모서리 295">
              <a:extLst>
                <a:ext uri="{FF2B5EF4-FFF2-40B4-BE49-F238E27FC236}">
                  <a16:creationId xmlns:a16="http://schemas.microsoft.com/office/drawing/2014/main" id="{5B318AE5-57EE-0B01-A7EA-6D864B9A4D51}"/>
                </a:ext>
              </a:extLst>
            </p:cNvPr>
            <p:cNvSpPr/>
            <p:nvPr/>
          </p:nvSpPr>
          <p:spPr>
            <a:xfrm>
              <a:off x="4523389" y="4767976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핵심 실무</a:t>
              </a:r>
            </a:p>
          </p:txBody>
        </p:sp>
        <p:sp>
          <p:nvSpPr>
            <p:cNvPr id="297" name="사각형: 둥근 모서리 296">
              <a:extLst>
                <a:ext uri="{FF2B5EF4-FFF2-40B4-BE49-F238E27FC236}">
                  <a16:creationId xmlns:a16="http://schemas.microsoft.com/office/drawing/2014/main" id="{B1F9BDF2-C154-B440-492E-5BB7B8AD6EE3}"/>
                </a:ext>
              </a:extLst>
            </p:cNvPr>
            <p:cNvSpPr/>
            <p:nvPr/>
          </p:nvSpPr>
          <p:spPr>
            <a:xfrm>
              <a:off x="3503127" y="4152580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G4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98" name="사각형: 둥근 모서리 297">
              <a:extLst>
                <a:ext uri="{FF2B5EF4-FFF2-40B4-BE49-F238E27FC236}">
                  <a16:creationId xmlns:a16="http://schemas.microsoft.com/office/drawing/2014/main" id="{E2468078-7DBC-B06F-9E15-C58472466F59}"/>
                </a:ext>
              </a:extLst>
            </p:cNvPr>
            <p:cNvSpPr/>
            <p:nvPr/>
          </p:nvSpPr>
          <p:spPr>
            <a:xfrm>
              <a:off x="3503127" y="4767976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G3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299" name="연결선: 꺾임 40">
              <a:extLst>
                <a:ext uri="{FF2B5EF4-FFF2-40B4-BE49-F238E27FC236}">
                  <a16:creationId xmlns:a16="http://schemas.microsoft.com/office/drawing/2014/main" id="{55EAFACA-B1B8-D48E-638F-C7106B4A46E9}"/>
                </a:ext>
              </a:extLst>
            </p:cNvPr>
            <p:cNvCxnSpPr>
              <a:cxnSpLocks/>
              <a:stCxn id="293" idx="3"/>
              <a:endCxn id="297" idx="1"/>
            </p:cNvCxnSpPr>
            <p:nvPr/>
          </p:nvCxnSpPr>
          <p:spPr>
            <a:xfrm>
              <a:off x="3259266" y="4092820"/>
              <a:ext cx="243861" cy="245592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cxnSp>
          <p:nvCxnSpPr>
            <p:cNvPr id="300" name="연결선: 꺾임 40">
              <a:extLst>
                <a:ext uri="{FF2B5EF4-FFF2-40B4-BE49-F238E27FC236}">
                  <a16:creationId xmlns:a16="http://schemas.microsoft.com/office/drawing/2014/main" id="{8BF680B2-9B0E-3B6F-9B94-66E8D40FC432}"/>
                </a:ext>
              </a:extLst>
            </p:cNvPr>
            <p:cNvCxnSpPr>
              <a:cxnSpLocks/>
              <a:stCxn id="306" idx="3"/>
              <a:endCxn id="298" idx="1"/>
            </p:cNvCxnSpPr>
            <p:nvPr/>
          </p:nvCxnSpPr>
          <p:spPr>
            <a:xfrm flipV="1">
              <a:off x="3259266" y="4953809"/>
              <a:ext cx="243861" cy="498325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301" name="사각형: 둥근 모서리 300">
              <a:extLst>
                <a:ext uri="{FF2B5EF4-FFF2-40B4-BE49-F238E27FC236}">
                  <a16:creationId xmlns:a16="http://schemas.microsoft.com/office/drawing/2014/main" id="{BB01E097-2B8F-DC5A-361C-BC4255D3FB30}"/>
                </a:ext>
              </a:extLst>
            </p:cNvPr>
            <p:cNvSpPr/>
            <p:nvPr/>
          </p:nvSpPr>
          <p:spPr>
            <a:xfrm>
              <a:off x="4523389" y="3661396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직무 관리</a:t>
              </a:r>
              <a:endParaRPr lang="en-US" altLang="ko-KR" sz="11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부서</a:t>
              </a:r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/</a:t>
              </a:r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팀</a:t>
              </a:r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)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303" name="사각형: 둥근 모서리 302">
              <a:extLst>
                <a:ext uri="{FF2B5EF4-FFF2-40B4-BE49-F238E27FC236}">
                  <a16:creationId xmlns:a16="http://schemas.microsoft.com/office/drawing/2014/main" id="{96D9D512-ABBE-F461-4B67-9680742FC58E}"/>
                </a:ext>
              </a:extLst>
            </p:cNvPr>
            <p:cNvSpPr/>
            <p:nvPr/>
          </p:nvSpPr>
          <p:spPr>
            <a:xfrm>
              <a:off x="2172568" y="3031941"/>
              <a:ext cx="1086698" cy="379145"/>
            </a:xfrm>
            <a:prstGeom prst="roundRect">
              <a:avLst/>
            </a:prstGeom>
            <a:solidFill>
              <a:srgbClr val="A9B7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200" b="1" dirty="0">
                  <a:latin typeface="+mj-ea"/>
                  <a:ea typeface="+mj-ea"/>
                </a:rPr>
                <a:t>총괄관리</a:t>
              </a:r>
            </a:p>
          </p:txBody>
        </p:sp>
        <p:sp>
          <p:nvSpPr>
            <p:cNvPr id="304" name="사각형: 둥근 모서리 303">
              <a:extLst>
                <a:ext uri="{FF2B5EF4-FFF2-40B4-BE49-F238E27FC236}">
                  <a16:creationId xmlns:a16="http://schemas.microsoft.com/office/drawing/2014/main" id="{CABD192B-6306-7F10-4480-6A8C70848EF1}"/>
                </a:ext>
              </a:extLst>
            </p:cNvPr>
            <p:cNvSpPr/>
            <p:nvPr/>
          </p:nvSpPr>
          <p:spPr>
            <a:xfrm>
              <a:off x="4523389" y="3037824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사업</a:t>
              </a:r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조직 관리</a:t>
              </a:r>
            </a:p>
          </p:txBody>
        </p:sp>
        <p:sp>
          <p:nvSpPr>
            <p:cNvPr id="305" name="사각형: 둥근 모서리 304">
              <a:extLst>
                <a:ext uri="{FF2B5EF4-FFF2-40B4-BE49-F238E27FC236}">
                  <a16:creationId xmlns:a16="http://schemas.microsoft.com/office/drawing/2014/main" id="{12FE7601-0B73-686F-2117-89890B4561A6}"/>
                </a:ext>
              </a:extLst>
            </p:cNvPr>
            <p:cNvSpPr/>
            <p:nvPr/>
          </p:nvSpPr>
          <p:spPr>
            <a:xfrm>
              <a:off x="3503127" y="3035471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G6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306" name="사각형: 둥근 모서리 305">
              <a:extLst>
                <a:ext uri="{FF2B5EF4-FFF2-40B4-BE49-F238E27FC236}">
                  <a16:creationId xmlns:a16="http://schemas.microsoft.com/office/drawing/2014/main" id="{669F2110-D8EB-99D6-2F17-5FC8EF22DD36}"/>
                </a:ext>
              </a:extLst>
            </p:cNvPr>
            <p:cNvSpPr/>
            <p:nvPr/>
          </p:nvSpPr>
          <p:spPr>
            <a:xfrm>
              <a:off x="2172568" y="4774930"/>
              <a:ext cx="1086698" cy="1354408"/>
            </a:xfrm>
            <a:prstGeom prst="roundRect">
              <a:avLst/>
            </a:prstGeom>
            <a:solidFill>
              <a:srgbClr val="A9B7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200" b="1" dirty="0">
                  <a:latin typeface="+mj-ea"/>
                </a:rPr>
                <a:t>직무 실무</a:t>
              </a:r>
            </a:p>
          </p:txBody>
        </p:sp>
        <p:cxnSp>
          <p:nvCxnSpPr>
            <p:cNvPr id="307" name="연결선: 꺾임 40">
              <a:extLst>
                <a:ext uri="{FF2B5EF4-FFF2-40B4-BE49-F238E27FC236}">
                  <a16:creationId xmlns:a16="http://schemas.microsoft.com/office/drawing/2014/main" id="{724BA052-E423-B730-053E-A0C6B016348B}"/>
                </a:ext>
              </a:extLst>
            </p:cNvPr>
            <p:cNvCxnSpPr>
              <a:cxnSpLocks/>
              <a:stCxn id="306" idx="3"/>
              <a:endCxn id="309" idx="1"/>
            </p:cNvCxnSpPr>
            <p:nvPr/>
          </p:nvCxnSpPr>
          <p:spPr>
            <a:xfrm>
              <a:off x="3259266" y="5452134"/>
              <a:ext cx="243861" cy="491373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308" name="사각형: 둥근 모서리 307">
              <a:extLst>
                <a:ext uri="{FF2B5EF4-FFF2-40B4-BE49-F238E27FC236}">
                  <a16:creationId xmlns:a16="http://schemas.microsoft.com/office/drawing/2014/main" id="{2D8E1335-5D84-155E-84F1-2863E9A3C1D0}"/>
                </a:ext>
              </a:extLst>
            </p:cNvPr>
            <p:cNvSpPr/>
            <p:nvPr/>
          </p:nvSpPr>
          <p:spPr>
            <a:xfrm>
              <a:off x="4523389" y="5757674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실무 보조</a:t>
              </a:r>
            </a:p>
          </p:txBody>
        </p:sp>
        <p:sp>
          <p:nvSpPr>
            <p:cNvPr id="309" name="사각형: 둥근 모서리 308">
              <a:extLst>
                <a:ext uri="{FF2B5EF4-FFF2-40B4-BE49-F238E27FC236}">
                  <a16:creationId xmlns:a16="http://schemas.microsoft.com/office/drawing/2014/main" id="{AEB0DF4F-3F7F-BA7D-EB1E-A3FF1B837E03}"/>
                </a:ext>
              </a:extLst>
            </p:cNvPr>
            <p:cNvSpPr/>
            <p:nvPr/>
          </p:nvSpPr>
          <p:spPr>
            <a:xfrm>
              <a:off x="3503127" y="5757674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G1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310" name="연결선: 꺾임 40">
              <a:extLst>
                <a:ext uri="{FF2B5EF4-FFF2-40B4-BE49-F238E27FC236}">
                  <a16:creationId xmlns:a16="http://schemas.microsoft.com/office/drawing/2014/main" id="{E0CCCAAA-A004-43D1-4B16-916360F06962}"/>
                </a:ext>
              </a:extLst>
            </p:cNvPr>
            <p:cNvCxnSpPr>
              <a:cxnSpLocks/>
              <a:stCxn id="306" idx="3"/>
              <a:endCxn id="312" idx="1"/>
            </p:cNvCxnSpPr>
            <p:nvPr/>
          </p:nvCxnSpPr>
          <p:spPr>
            <a:xfrm>
              <a:off x="3259266" y="5452134"/>
              <a:ext cx="243861" cy="189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311" name="사각형: 둥근 모서리 310">
              <a:extLst>
                <a:ext uri="{FF2B5EF4-FFF2-40B4-BE49-F238E27FC236}">
                  <a16:creationId xmlns:a16="http://schemas.microsoft.com/office/drawing/2014/main" id="{C530AB38-D26E-1C8F-5B84-B03E7E0F5FFA}"/>
                </a:ext>
              </a:extLst>
            </p:cNvPr>
            <p:cNvSpPr/>
            <p:nvPr/>
          </p:nvSpPr>
          <p:spPr>
            <a:xfrm>
              <a:off x="4523389" y="5266490"/>
              <a:ext cx="1186512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100" dirty="0">
                  <a:solidFill>
                    <a:schemeClr val="tx1"/>
                  </a:solidFill>
                  <a:latin typeface="+mj-ea"/>
                  <a:ea typeface="+mj-ea"/>
                </a:rPr>
                <a:t>실무</a:t>
              </a:r>
            </a:p>
          </p:txBody>
        </p:sp>
        <p:sp>
          <p:nvSpPr>
            <p:cNvPr id="312" name="사각형: 둥근 모서리 311">
              <a:extLst>
                <a:ext uri="{FF2B5EF4-FFF2-40B4-BE49-F238E27FC236}">
                  <a16:creationId xmlns:a16="http://schemas.microsoft.com/office/drawing/2014/main" id="{73D77EE9-E61F-244C-427E-90062125794D}"/>
                </a:ext>
              </a:extLst>
            </p:cNvPr>
            <p:cNvSpPr/>
            <p:nvPr/>
          </p:nvSpPr>
          <p:spPr>
            <a:xfrm>
              <a:off x="3503127" y="5266490"/>
              <a:ext cx="849939" cy="371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  <a:ea typeface="+mj-ea"/>
                </a:rPr>
                <a:t>G2</a:t>
              </a:r>
              <a:endParaRPr lang="ko-KR" altLang="en-US" sz="11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cxnSp>
          <p:nvCxnSpPr>
            <p:cNvPr id="313" name="연결선: 꺾임 40">
              <a:extLst>
                <a:ext uri="{FF2B5EF4-FFF2-40B4-BE49-F238E27FC236}">
                  <a16:creationId xmlns:a16="http://schemas.microsoft.com/office/drawing/2014/main" id="{831DE149-0490-585E-4397-3F7B8D080936}"/>
                </a:ext>
              </a:extLst>
            </p:cNvPr>
            <p:cNvCxnSpPr>
              <a:cxnSpLocks/>
              <a:stCxn id="303" idx="3"/>
              <a:endCxn id="305" idx="1"/>
            </p:cNvCxnSpPr>
            <p:nvPr/>
          </p:nvCxnSpPr>
          <p:spPr>
            <a:xfrm flipV="1">
              <a:off x="3259266" y="3221304"/>
              <a:ext cx="243861" cy="210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ysDot"/>
              <a:miter lim="800000"/>
              <a:headEnd type="none"/>
              <a:tailEnd type="triangle"/>
            </a:ln>
            <a:effectLst/>
          </p:spPr>
        </p:cxnSp>
        <p:sp>
          <p:nvSpPr>
            <p:cNvPr id="314" name="사각형: 둥근 모서리 313">
              <a:extLst>
                <a:ext uri="{FF2B5EF4-FFF2-40B4-BE49-F238E27FC236}">
                  <a16:creationId xmlns:a16="http://schemas.microsoft.com/office/drawing/2014/main" id="{2D905EC3-FD8E-3F20-1D92-EA4464B22A56}"/>
                </a:ext>
              </a:extLst>
            </p:cNvPr>
            <p:cNvSpPr/>
            <p:nvPr/>
          </p:nvSpPr>
          <p:spPr>
            <a:xfrm>
              <a:off x="3503127" y="3616495"/>
              <a:ext cx="849939" cy="4255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100" dirty="0">
                  <a:solidFill>
                    <a:schemeClr val="tx1"/>
                  </a:solidFill>
                  <a:latin typeface="+mj-ea"/>
                </a:rPr>
                <a:t>G5</a:t>
              </a:r>
              <a:endParaRPr lang="ko-KR" altLang="en-US" sz="1100" dirty="0">
                <a:solidFill>
                  <a:schemeClr val="tx1"/>
                </a:solidFill>
                <a:latin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49803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5A2B-92B3-DC73-856F-961E5131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852C030-284F-668E-9785-7E059809A8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기존 직급</a:t>
            </a:r>
            <a:r>
              <a:rPr lang="en-US" altLang="ko-KR" dirty="0"/>
              <a:t>·</a:t>
            </a:r>
            <a:r>
              <a:rPr lang="ko-KR" altLang="en-US" dirty="0"/>
              <a:t>직책 혼재 구조를 개선하고</a:t>
            </a:r>
            <a:r>
              <a:rPr lang="en-US" altLang="ko-KR" dirty="0"/>
              <a:t>, </a:t>
            </a:r>
            <a:r>
              <a:rPr lang="ko-KR" altLang="en-US" b="1" dirty="0"/>
              <a:t>관리자</a:t>
            </a:r>
            <a:r>
              <a:rPr lang="en-US" altLang="ko-KR" b="1" dirty="0"/>
              <a:t>(M)</a:t>
            </a:r>
            <a:r>
              <a:rPr lang="ko-KR" altLang="en-US" b="1" dirty="0"/>
              <a:t>와 실무전문가</a:t>
            </a:r>
            <a:r>
              <a:rPr lang="en-US" altLang="ko-KR" b="1" dirty="0"/>
              <a:t>(S) </a:t>
            </a:r>
            <a:r>
              <a:rPr lang="ko-KR" altLang="en-US" b="1" dirty="0"/>
              <a:t>트랙을 구분하여 역할</a:t>
            </a:r>
            <a:r>
              <a:rPr lang="en-US" altLang="ko-KR" b="1" dirty="0"/>
              <a:t>·</a:t>
            </a:r>
            <a:r>
              <a:rPr lang="ko-KR" altLang="en-US" b="1" dirty="0"/>
              <a:t>책임을 명확히 하는 체계로 확정함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1137F25-BB7F-5A5C-2EEB-CB9341F621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44E740-50EF-7945-EFC4-A8CCF7F950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[S2] </a:t>
            </a:r>
            <a:r>
              <a:rPr lang="ko-KR" altLang="en-US" dirty="0"/>
              <a:t>역할체계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C7EFCFD-C0CA-8A18-839C-7FCBCFD4D0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F812E03D-1E77-8D2B-EC87-34098FC88007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84713471-89D0-F65B-2203-14181B73D4CE}"/>
                </a:ext>
              </a:extLst>
            </p:cNvPr>
            <p:cNvSpPr/>
            <p:nvPr userDrawn="1"/>
          </p:nvSpPr>
          <p:spPr>
            <a:xfrm>
              <a:off x="3012310" y="1626519"/>
              <a:ext cx="952676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역할 분류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 </a:t>
              </a:r>
              <a:r>
                <a:rPr lang="ko-KR" altLang="en-US" sz="1400" dirty="0" err="1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설계안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3C528FAB-1268-D42B-BB23-5552F9233901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AD2E434-7749-F1A3-6B1D-E7F47582F789}"/>
              </a:ext>
            </a:extLst>
          </p:cNvPr>
          <p:cNvGraphicFramePr>
            <a:graphicFrameLocks noGrp="1"/>
          </p:cNvGraphicFramePr>
          <p:nvPr/>
        </p:nvGraphicFramePr>
        <p:xfrm>
          <a:off x="281213" y="2060574"/>
          <a:ext cx="6795861" cy="40687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199">
                  <a:extLst>
                    <a:ext uri="{9D8B030D-6E8A-4147-A177-3AD203B41FA5}">
                      <a16:colId xmlns:a16="http://schemas.microsoft.com/office/drawing/2014/main" val="4290039752"/>
                    </a:ext>
                  </a:extLst>
                </a:gridCol>
                <a:gridCol w="2934831">
                  <a:extLst>
                    <a:ext uri="{9D8B030D-6E8A-4147-A177-3AD203B41FA5}">
                      <a16:colId xmlns:a16="http://schemas.microsoft.com/office/drawing/2014/main" val="609814981"/>
                    </a:ext>
                  </a:extLst>
                </a:gridCol>
                <a:gridCol w="2934831">
                  <a:extLst>
                    <a:ext uri="{9D8B030D-6E8A-4147-A177-3AD203B41FA5}">
                      <a16:colId xmlns:a16="http://schemas.microsoft.com/office/drawing/2014/main" val="1232985313"/>
                    </a:ext>
                  </a:extLst>
                </a:gridCol>
              </a:tblGrid>
              <a:tr h="296135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실무전문가 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Track 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안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실무전문가 통합</a:t>
                      </a:r>
                      <a:endParaRPr lang="en-US" altLang="ko-KR" sz="1200" b="0" u="none" strike="noStrike" kern="12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533033"/>
                  </a:ext>
                </a:extLst>
              </a:tr>
              <a:tr h="750967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역할 중심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 분리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경력체계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직급 중심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 통합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경력체계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544027"/>
                  </a:ext>
                </a:extLst>
              </a:tr>
              <a:tr h="785632">
                <a:tc>
                  <a:txBody>
                    <a:bodyPr/>
                    <a:lstStyle/>
                    <a:p>
                      <a:pPr algn="ctr" font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직급 내 관리자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(M)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실무전문가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구분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경력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보상 경로 별도 운영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직급 내 역할 통합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 관리자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실무 역할 병행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9910"/>
                  </a:ext>
                </a:extLst>
              </a:tr>
              <a:tr h="1007220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관리자와 전문가의 경력 방향 명확화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전문직 승진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보상 구조 보장 → 전문성 유지 용이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복잡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고난이도 과제 수행 시 적합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조직 체계 단순화로 운영 효율성 높음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전문가 간 역할 전환 유연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인력 부족 시 배치 전환 용이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108520"/>
                  </a:ext>
                </a:extLst>
              </a:tr>
              <a:tr h="1228809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인력 풀 한정 시 배치 유연성 저하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운영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보상 구조 복잡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경로 변경 시 절차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적응 부담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전문직 보상</a:t>
                      </a:r>
                      <a:r>
                        <a:rPr lang="en-US" altLang="ko-KR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승진 체계 미흡 시 전문성 약화 우려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 업무와 실무 병행 시 업무 과중 위험</a:t>
                      </a:r>
                      <a:endParaRPr lang="en-US" altLang="ko-KR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 업무로 인한 업무 스트레스 우려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1549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428B2457-0C55-1526-73A4-430FF0FAB838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논의 결과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8D5B563-5BAE-F904-5515-43A4BBBD6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382959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관리자</a:t>
                      </a:r>
                      <a:r>
                        <a:rPr lang="en-US" altLang="ko-KR" sz="1100" dirty="0"/>
                        <a:t>(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G4-M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와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실무전문가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(G4-S)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분리하여 역할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책임을 명확화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 관리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(G5),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 책임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(PM),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핵심 실무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(G3)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 단계별 정의 강화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전문성 축적과 관리역량 개발 모두 지원 가능한 체계로 설계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따라서 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관리자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실무전문가 트랙 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구분안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최종 채택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sp>
        <p:nvSpPr>
          <p:cNvPr id="9" name="Freeform 61">
            <a:extLst>
              <a:ext uri="{FF2B5EF4-FFF2-40B4-BE49-F238E27FC236}">
                <a16:creationId xmlns:a16="http://schemas.microsoft.com/office/drawing/2014/main" id="{5A00C5F4-819E-322A-99B2-73CE42DE7C85}"/>
              </a:ext>
            </a:extLst>
          </p:cNvPr>
          <p:cNvSpPr>
            <a:spLocks/>
          </p:cNvSpPr>
          <p:nvPr/>
        </p:nvSpPr>
        <p:spPr bwMode="auto">
          <a:xfrm>
            <a:off x="7077076" y="2053338"/>
            <a:ext cx="612758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41157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8507-DBAB-03FD-B0E3-3DBAA354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AD0CEC-566D-BCCE-837E-90AE657F0C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기존 직급</a:t>
            </a:r>
            <a:r>
              <a:rPr lang="en-US" altLang="ko-KR" dirty="0"/>
              <a:t>·</a:t>
            </a:r>
            <a:r>
              <a:rPr lang="ko-KR" altLang="en-US" dirty="0"/>
              <a:t>직책 혼재 구조를 개선하고</a:t>
            </a:r>
            <a:r>
              <a:rPr lang="en-US" altLang="ko-KR" dirty="0"/>
              <a:t>, </a:t>
            </a:r>
            <a:r>
              <a:rPr lang="ko-KR" altLang="en-US" b="1" dirty="0"/>
              <a:t>관리자</a:t>
            </a:r>
            <a:r>
              <a:rPr lang="en-US" altLang="ko-KR" b="1" dirty="0"/>
              <a:t>(M)</a:t>
            </a:r>
            <a:r>
              <a:rPr lang="ko-KR" altLang="en-US" b="1" dirty="0"/>
              <a:t>와 실무전문가</a:t>
            </a:r>
            <a:r>
              <a:rPr lang="en-US" altLang="ko-KR" b="1" dirty="0"/>
              <a:t>(S) </a:t>
            </a:r>
            <a:r>
              <a:rPr lang="ko-KR" altLang="en-US" b="1" dirty="0"/>
              <a:t>트랙을 구분하여 역할</a:t>
            </a:r>
            <a:r>
              <a:rPr lang="en-US" altLang="ko-KR" b="1" dirty="0"/>
              <a:t>·</a:t>
            </a:r>
            <a:r>
              <a:rPr lang="ko-KR" altLang="en-US" b="1" dirty="0"/>
              <a:t>책임을 명확히 하는 체계로 확정함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19F4AAE-87F8-1D61-95AB-4B33F9A7FF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93AC8C-E066-2A70-76D2-DD5F34171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[S2] </a:t>
            </a:r>
            <a:r>
              <a:rPr lang="ko-KR" altLang="en-US" dirty="0"/>
              <a:t>역할체계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DC7AB59-5FC4-8F04-6093-7663EA79A3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DE57B5F9-4402-20F6-DCC4-F50E64DEADDC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3749B446-AC28-6FBF-8C96-121CD6CA3AC9}"/>
                </a:ext>
              </a:extLst>
            </p:cNvPr>
            <p:cNvSpPr/>
            <p:nvPr userDrawn="1"/>
          </p:nvSpPr>
          <p:spPr>
            <a:xfrm>
              <a:off x="2943493" y="1626519"/>
              <a:ext cx="1090314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역할 분류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 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설계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8D1BAA25-2F0C-748A-5205-F037D72E0C88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B1BA8E-FB16-A051-92F3-D1C121013955}"/>
              </a:ext>
            </a:extLst>
          </p:cNvPr>
          <p:cNvSpPr/>
          <p:nvPr/>
        </p:nvSpPr>
        <p:spPr>
          <a:xfrm>
            <a:off x="278762" y="3054251"/>
            <a:ext cx="1091534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1657A9-5B9A-C0D0-CACA-2C127EA52BFF}"/>
              </a:ext>
            </a:extLst>
          </p:cNvPr>
          <p:cNvSpPr/>
          <p:nvPr/>
        </p:nvSpPr>
        <p:spPr>
          <a:xfrm>
            <a:off x="273050" y="2595500"/>
            <a:ext cx="1097247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</a:rPr>
              <a:t>직급 </a:t>
            </a:r>
            <a:r>
              <a:rPr lang="en-US" altLang="ko-KR" sz="1100" dirty="0">
                <a:latin typeface="+mj-ea"/>
              </a:rPr>
              <a:t>+ </a:t>
            </a:r>
            <a:r>
              <a:rPr lang="ko-KR" altLang="en-US" sz="1100" dirty="0">
                <a:latin typeface="+mj-ea"/>
              </a:rPr>
              <a:t>직책 </a:t>
            </a:r>
            <a:r>
              <a:rPr lang="en-US" altLang="ko-KR" sz="1100" dirty="0">
                <a:latin typeface="+mj-ea"/>
              </a:rPr>
              <a:t>+ </a:t>
            </a:r>
            <a:r>
              <a:rPr lang="ko-KR" altLang="en-US" sz="1100" dirty="0">
                <a:latin typeface="+mj-ea"/>
              </a:rPr>
              <a:t>직위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9E6083-1E1C-A1F9-9875-EED4FBA2337F}"/>
              </a:ext>
            </a:extLst>
          </p:cNvPr>
          <p:cNvSpPr/>
          <p:nvPr/>
        </p:nvSpPr>
        <p:spPr>
          <a:xfrm>
            <a:off x="278762" y="3681543"/>
            <a:ext cx="1091534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부장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475FB9-308F-CA57-2265-5AAA6AA2C578}"/>
              </a:ext>
            </a:extLst>
          </p:cNvPr>
          <p:cNvSpPr/>
          <p:nvPr/>
        </p:nvSpPr>
        <p:spPr>
          <a:xfrm>
            <a:off x="278762" y="4153756"/>
            <a:ext cx="1091534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차장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FB8904-5DA2-E07C-C467-85D0AF9FFC0E}"/>
              </a:ext>
            </a:extLst>
          </p:cNvPr>
          <p:cNvSpPr/>
          <p:nvPr/>
        </p:nvSpPr>
        <p:spPr>
          <a:xfrm>
            <a:off x="278762" y="4767976"/>
            <a:ext cx="1091534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D9368F-038C-E783-A58A-756949300436}"/>
              </a:ext>
            </a:extLst>
          </p:cNvPr>
          <p:cNvSpPr/>
          <p:nvPr/>
        </p:nvSpPr>
        <p:spPr>
          <a:xfrm>
            <a:off x="278762" y="5256615"/>
            <a:ext cx="1091534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대리</a:t>
            </a:r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21EC84-FDBE-8DA6-3A12-C6F3CFC2E868}"/>
              </a:ext>
            </a:extLst>
          </p:cNvPr>
          <p:cNvSpPr/>
          <p:nvPr/>
        </p:nvSpPr>
        <p:spPr>
          <a:xfrm>
            <a:off x="278762" y="5745255"/>
            <a:ext cx="1091534" cy="369311"/>
          </a:xfrm>
          <a:prstGeom prst="rect">
            <a:avLst/>
          </a:prstGeom>
          <a:solidFill>
            <a:srgbClr val="F3F2F2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사원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9A1542-62BF-5A3D-A9DE-CE73B675DAD6}"/>
              </a:ext>
            </a:extLst>
          </p:cNvPr>
          <p:cNvSpPr/>
          <p:nvPr/>
        </p:nvSpPr>
        <p:spPr>
          <a:xfrm>
            <a:off x="2252337" y="2595500"/>
            <a:ext cx="2244474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구분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78D71B-8805-6369-04A9-090F41AE056F}"/>
              </a:ext>
            </a:extLst>
          </p:cNvPr>
          <p:cNvSpPr/>
          <p:nvPr/>
        </p:nvSpPr>
        <p:spPr>
          <a:xfrm>
            <a:off x="7146209" y="2595500"/>
            <a:ext cx="2486739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8600370-43AB-A275-1BAD-F78DF18BBD0B}"/>
              </a:ext>
            </a:extLst>
          </p:cNvPr>
          <p:cNvSpPr/>
          <p:nvPr/>
        </p:nvSpPr>
        <p:spPr>
          <a:xfrm>
            <a:off x="5007905" y="2595500"/>
            <a:ext cx="1781335" cy="308583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직급</a:t>
            </a:r>
            <a:endParaRPr lang="en-US" altLang="ko-KR" sz="1100" dirty="0">
              <a:latin typeface="+mj-ea"/>
              <a:ea typeface="+mj-ea"/>
            </a:endParaRPr>
          </a:p>
          <a:p>
            <a:pPr algn="ctr" latinLnBrk="0"/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ko-KR" altLang="en-US" sz="800" dirty="0">
                <a:latin typeface="+mj-ea"/>
                <a:ea typeface="+mj-ea"/>
              </a:rPr>
              <a:t>역할 등급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0400C7D-BC7D-EC06-80CE-846A64CEDA7A}"/>
              </a:ext>
            </a:extLst>
          </p:cNvPr>
          <p:cNvSpPr/>
          <p:nvPr/>
        </p:nvSpPr>
        <p:spPr>
          <a:xfrm>
            <a:off x="2219267" y="3661397"/>
            <a:ext cx="2277544" cy="862846"/>
          </a:xfrm>
          <a:prstGeom prst="roundRect">
            <a:avLst/>
          </a:prstGeom>
          <a:solidFill>
            <a:srgbClr val="A9B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200" b="1" dirty="0">
                <a:latin typeface="+mj-ea"/>
                <a:ea typeface="+mj-ea"/>
              </a:rPr>
              <a:t>직무 관리</a:t>
            </a:r>
            <a:r>
              <a:rPr lang="en-US" altLang="ko-KR" sz="1200" b="1" dirty="0">
                <a:latin typeface="+mj-ea"/>
                <a:ea typeface="+mj-ea"/>
              </a:rPr>
              <a:t>/</a:t>
            </a:r>
          </a:p>
          <a:p>
            <a:pPr algn="ctr" latinLnBrk="0"/>
            <a:r>
              <a:rPr lang="ko-KR" altLang="en-US" sz="1200" b="1" dirty="0">
                <a:latin typeface="+mj-ea"/>
                <a:ea typeface="+mj-ea"/>
              </a:rPr>
              <a:t>직무 책임</a:t>
            </a:r>
            <a:endParaRPr lang="en-US" altLang="ko-KR" sz="1200" b="1" dirty="0">
              <a:latin typeface="+mj-ea"/>
              <a:ea typeface="+mj-ea"/>
            </a:endParaRPr>
          </a:p>
        </p:txBody>
      </p:sp>
      <p:cxnSp>
        <p:nvCxnSpPr>
          <p:cNvPr id="17" name="연결선: 꺾임 40">
            <a:extLst>
              <a:ext uri="{FF2B5EF4-FFF2-40B4-BE49-F238E27FC236}">
                <a16:creationId xmlns:a16="http://schemas.microsoft.com/office/drawing/2014/main" id="{7752B0AE-FBDA-AAEE-9372-F906B503EA2B}"/>
              </a:ext>
            </a:extLst>
          </p:cNvPr>
          <p:cNvCxnSpPr>
            <a:cxnSpLocks/>
            <a:stCxn id="16" idx="3"/>
            <a:endCxn id="43" idx="1"/>
          </p:cNvCxnSpPr>
          <p:nvPr/>
        </p:nvCxnSpPr>
        <p:spPr>
          <a:xfrm>
            <a:off x="4496811" y="4092821"/>
            <a:ext cx="511094" cy="408994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09082EA-E02F-8731-7233-142D06196590}"/>
              </a:ext>
            </a:extLst>
          </p:cNvPr>
          <p:cNvSpPr/>
          <p:nvPr/>
        </p:nvSpPr>
        <p:spPr>
          <a:xfrm>
            <a:off x="7146209" y="4767976"/>
            <a:ext cx="2486739" cy="371664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100" dirty="0">
                <a:solidFill>
                  <a:schemeClr val="tx1"/>
                </a:solidFill>
                <a:latin typeface="+mj-ea"/>
                <a:ea typeface="+mj-ea"/>
              </a:rPr>
              <a:t>핵심 실무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D5E8ED9-DA93-3113-E725-AA4FA557C986}"/>
              </a:ext>
            </a:extLst>
          </p:cNvPr>
          <p:cNvSpPr/>
          <p:nvPr/>
        </p:nvSpPr>
        <p:spPr>
          <a:xfrm>
            <a:off x="5007905" y="4767976"/>
            <a:ext cx="1781335" cy="371664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G3</a:t>
            </a:r>
            <a:endParaRPr lang="ko-KR" altLang="en-US" sz="1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20" name="연결선: 꺾임 40">
            <a:extLst>
              <a:ext uri="{FF2B5EF4-FFF2-40B4-BE49-F238E27FC236}">
                <a16:creationId xmlns:a16="http://schemas.microsoft.com/office/drawing/2014/main" id="{F8D762C7-CF2B-2003-1459-0FEDB5AC3F90}"/>
              </a:ext>
            </a:extLst>
          </p:cNvPr>
          <p:cNvCxnSpPr>
            <a:cxnSpLocks/>
            <a:stCxn id="24" idx="3"/>
            <a:endCxn id="19" idx="1"/>
          </p:cNvCxnSpPr>
          <p:nvPr/>
        </p:nvCxnSpPr>
        <p:spPr>
          <a:xfrm flipV="1">
            <a:off x="4496811" y="4953809"/>
            <a:ext cx="511094" cy="498325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CDDB813-D7AC-DC4F-D6B9-2CBD8AF8DA38}"/>
              </a:ext>
            </a:extLst>
          </p:cNvPr>
          <p:cNvSpPr/>
          <p:nvPr/>
        </p:nvSpPr>
        <p:spPr>
          <a:xfrm>
            <a:off x="2219267" y="3031941"/>
            <a:ext cx="2277544" cy="379145"/>
          </a:xfrm>
          <a:prstGeom prst="roundRect">
            <a:avLst/>
          </a:prstGeom>
          <a:solidFill>
            <a:srgbClr val="A9B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200" b="1" dirty="0">
                <a:latin typeface="+mj-ea"/>
                <a:ea typeface="+mj-ea"/>
              </a:rPr>
              <a:t>총괄관리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1E3F911-DF04-D64E-5704-74A6E4E5F345}"/>
              </a:ext>
            </a:extLst>
          </p:cNvPr>
          <p:cNvSpPr/>
          <p:nvPr/>
        </p:nvSpPr>
        <p:spPr>
          <a:xfrm>
            <a:off x="7146209" y="3037824"/>
            <a:ext cx="2486739" cy="371664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100" dirty="0">
                <a:solidFill>
                  <a:schemeClr val="tx1"/>
                </a:solidFill>
                <a:latin typeface="+mj-ea"/>
                <a:ea typeface="+mj-ea"/>
              </a:rPr>
              <a:t>사업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j-ea"/>
                <a:ea typeface="+mj-ea"/>
              </a:rPr>
              <a:t>조직 관리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703534E-004B-4BFC-0828-D1DD1D2C0AB3}"/>
              </a:ext>
            </a:extLst>
          </p:cNvPr>
          <p:cNvSpPr/>
          <p:nvPr/>
        </p:nvSpPr>
        <p:spPr>
          <a:xfrm>
            <a:off x="5007905" y="3035471"/>
            <a:ext cx="1781335" cy="371664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G6</a:t>
            </a:r>
            <a:endParaRPr lang="ko-KR" altLang="en-US" sz="1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FCBA121-5AC3-D920-8F72-ECE418D20F92}"/>
              </a:ext>
            </a:extLst>
          </p:cNvPr>
          <p:cNvSpPr/>
          <p:nvPr/>
        </p:nvSpPr>
        <p:spPr>
          <a:xfrm>
            <a:off x="2219267" y="4774930"/>
            <a:ext cx="2277544" cy="1354408"/>
          </a:xfrm>
          <a:prstGeom prst="roundRect">
            <a:avLst/>
          </a:prstGeom>
          <a:solidFill>
            <a:srgbClr val="A9B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200" b="1" dirty="0">
                <a:latin typeface="+mj-ea"/>
              </a:rPr>
              <a:t>직무 실무</a:t>
            </a:r>
          </a:p>
        </p:txBody>
      </p:sp>
      <p:cxnSp>
        <p:nvCxnSpPr>
          <p:cNvPr id="25" name="연결선: 꺾임 40">
            <a:extLst>
              <a:ext uri="{FF2B5EF4-FFF2-40B4-BE49-F238E27FC236}">
                <a16:creationId xmlns:a16="http://schemas.microsoft.com/office/drawing/2014/main" id="{6E8DC89C-9BC5-DF88-A867-71B60353697B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>
            <a:off x="4496811" y="5452134"/>
            <a:ext cx="511094" cy="491373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EA66020-76F6-5AA4-2733-BD0466DA774E}"/>
              </a:ext>
            </a:extLst>
          </p:cNvPr>
          <p:cNvSpPr/>
          <p:nvPr/>
        </p:nvSpPr>
        <p:spPr>
          <a:xfrm>
            <a:off x="7146209" y="5757674"/>
            <a:ext cx="2486739" cy="371664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100" dirty="0">
                <a:solidFill>
                  <a:schemeClr val="tx1"/>
                </a:solidFill>
                <a:latin typeface="+mj-ea"/>
                <a:ea typeface="+mj-ea"/>
              </a:rPr>
              <a:t>실무 보조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6AEF4DB-1555-0F9C-9A51-5B3360E41462}"/>
              </a:ext>
            </a:extLst>
          </p:cNvPr>
          <p:cNvSpPr/>
          <p:nvPr/>
        </p:nvSpPr>
        <p:spPr>
          <a:xfrm>
            <a:off x="5007905" y="5757674"/>
            <a:ext cx="1781335" cy="371664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G1</a:t>
            </a:r>
            <a:endParaRPr lang="ko-KR" altLang="en-US" sz="1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28" name="연결선: 꺾임 40">
            <a:extLst>
              <a:ext uri="{FF2B5EF4-FFF2-40B4-BE49-F238E27FC236}">
                <a16:creationId xmlns:a16="http://schemas.microsoft.com/office/drawing/2014/main" id="{5D623955-63C4-D36F-A1B9-244543666547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>
            <a:off x="4496811" y="5452134"/>
            <a:ext cx="511094" cy="189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D76F9D3-F21D-EC20-34E3-2ADEF5437DA5}"/>
              </a:ext>
            </a:extLst>
          </p:cNvPr>
          <p:cNvSpPr/>
          <p:nvPr/>
        </p:nvSpPr>
        <p:spPr>
          <a:xfrm>
            <a:off x="7146209" y="5266490"/>
            <a:ext cx="2486739" cy="371664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100" dirty="0">
                <a:solidFill>
                  <a:schemeClr val="tx1"/>
                </a:solidFill>
                <a:latin typeface="+mj-ea"/>
                <a:ea typeface="+mj-ea"/>
              </a:rPr>
              <a:t>실무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C9D7EC-7848-EECB-7A81-FC4C9C5FEEA0}"/>
              </a:ext>
            </a:extLst>
          </p:cNvPr>
          <p:cNvSpPr/>
          <p:nvPr/>
        </p:nvSpPr>
        <p:spPr>
          <a:xfrm>
            <a:off x="5007905" y="5266490"/>
            <a:ext cx="1781335" cy="371664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G2</a:t>
            </a:r>
            <a:endParaRPr lang="ko-KR" altLang="en-US" sz="1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31" name="연결선: 꺾임 40">
            <a:extLst>
              <a:ext uri="{FF2B5EF4-FFF2-40B4-BE49-F238E27FC236}">
                <a16:creationId xmlns:a16="http://schemas.microsoft.com/office/drawing/2014/main" id="{B81FE1DD-FA67-B9AD-2868-DB2CE60574BF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4496811" y="3221304"/>
            <a:ext cx="511094" cy="210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206D182-5AF2-0B34-4247-AE1BDC4406DD}"/>
              </a:ext>
            </a:extLst>
          </p:cNvPr>
          <p:cNvSpPr/>
          <p:nvPr/>
        </p:nvSpPr>
        <p:spPr>
          <a:xfrm>
            <a:off x="2252339" y="2060576"/>
            <a:ext cx="7380611" cy="348110"/>
          </a:xfrm>
          <a:prstGeom prst="rect">
            <a:avLst/>
          </a:prstGeom>
          <a:solidFill>
            <a:srgbClr val="A3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To-be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5655BCC-B301-A4DC-82BE-CB3E79CF0E0F}"/>
              </a:ext>
            </a:extLst>
          </p:cNvPr>
          <p:cNvSpPr/>
          <p:nvPr/>
        </p:nvSpPr>
        <p:spPr>
          <a:xfrm>
            <a:off x="274965" y="2082213"/>
            <a:ext cx="1095331" cy="348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2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As-is</a:t>
            </a:r>
          </a:p>
        </p:txBody>
      </p:sp>
      <p:sp>
        <p:nvSpPr>
          <p:cNvPr id="34" name="갈매기형 수장 17">
            <a:extLst>
              <a:ext uri="{FF2B5EF4-FFF2-40B4-BE49-F238E27FC236}">
                <a16:creationId xmlns:a16="http://schemas.microsoft.com/office/drawing/2014/main" id="{BA26F656-FD47-B177-36A4-3004594A3077}"/>
              </a:ext>
            </a:extLst>
          </p:cNvPr>
          <p:cNvSpPr/>
          <p:nvPr/>
        </p:nvSpPr>
        <p:spPr>
          <a:xfrm>
            <a:off x="1659414" y="3990961"/>
            <a:ext cx="270734" cy="425522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5674DFD-AC65-CFED-0016-BED6DCC30D69}"/>
              </a:ext>
            </a:extLst>
          </p:cNvPr>
          <p:cNvGrpSpPr/>
          <p:nvPr/>
        </p:nvGrpSpPr>
        <p:grpSpPr>
          <a:xfrm>
            <a:off x="5007905" y="3518752"/>
            <a:ext cx="4625043" cy="1140530"/>
            <a:chOff x="5002638" y="3046290"/>
            <a:chExt cx="4410789" cy="1000942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EFBA7B0B-10E6-3777-1B8F-B04E1BA3A648}"/>
                </a:ext>
              </a:extLst>
            </p:cNvPr>
            <p:cNvGrpSpPr/>
            <p:nvPr/>
          </p:nvGrpSpPr>
          <p:grpSpPr>
            <a:xfrm>
              <a:off x="5002638" y="3770842"/>
              <a:ext cx="4410789" cy="276390"/>
              <a:chOff x="5002638" y="3230147"/>
              <a:chExt cx="4410789" cy="445250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EC1DE7D3-2114-1929-76B8-506B4BB47DAF}"/>
                  </a:ext>
                </a:extLst>
              </p:cNvPr>
              <p:cNvSpPr/>
              <p:nvPr/>
            </p:nvSpPr>
            <p:spPr>
              <a:xfrm>
                <a:off x="7041886" y="3230147"/>
                <a:ext cx="2371541" cy="44525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r>
                  <a:rPr lang="ko-KR" altLang="en-US" sz="1100" dirty="0">
                    <a:solidFill>
                      <a:schemeClr val="tx1"/>
                    </a:solidFill>
                    <a:latin typeface="+mj-ea"/>
                  </a:rPr>
                  <a:t>실무 책임</a:t>
                </a:r>
                <a:endParaRPr lang="en-US" altLang="ko-KR" sz="1100" dirty="0">
                  <a:solidFill>
                    <a:schemeClr val="tx1"/>
                  </a:solidFill>
                  <a:latin typeface="+mj-ea"/>
                </a:endParaRPr>
              </a:p>
              <a:p>
                <a:pPr algn="ctr" latinLnBrk="0"/>
                <a:r>
                  <a:rPr lang="en-US" altLang="ko-KR" sz="1100" dirty="0">
                    <a:solidFill>
                      <a:schemeClr val="tx1"/>
                    </a:solidFill>
                    <a:latin typeface="+mj-ea"/>
                  </a:rPr>
                  <a:t>(PM)</a:t>
                </a:r>
                <a:endParaRPr lang="ko-KR" altLang="en-US" sz="1100" dirty="0">
                  <a:solidFill>
                    <a:schemeClr val="tx1"/>
                  </a:solidFill>
                  <a:latin typeface="+mj-ea"/>
                </a:endParaRPr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E79521EC-53BD-8D09-B9FE-03269E84F4A8}"/>
                  </a:ext>
                </a:extLst>
              </p:cNvPr>
              <p:cNvSpPr/>
              <p:nvPr/>
            </p:nvSpPr>
            <p:spPr>
              <a:xfrm>
                <a:off x="5002638" y="3230147"/>
                <a:ext cx="1698815" cy="44525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r>
                  <a:rPr lang="en-US" altLang="ko-KR" sz="1100" dirty="0">
                    <a:solidFill>
                      <a:schemeClr val="tx1"/>
                    </a:solidFill>
                    <a:latin typeface="+mj-ea"/>
                  </a:rPr>
                  <a:t>G4</a:t>
                </a:r>
                <a:endParaRPr lang="ko-KR" altLang="en-US" sz="1100" dirty="0">
                  <a:solidFill>
                    <a:schemeClr val="tx1"/>
                  </a:solidFill>
                  <a:latin typeface="+mj-ea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6EC4EDD8-4468-00CF-CC31-BF9446BB14A6}"/>
                </a:ext>
              </a:extLst>
            </p:cNvPr>
            <p:cNvGrpSpPr/>
            <p:nvPr/>
          </p:nvGrpSpPr>
          <p:grpSpPr>
            <a:xfrm>
              <a:off x="5002638" y="3046290"/>
              <a:ext cx="4410789" cy="641663"/>
              <a:chOff x="5002638" y="3230147"/>
              <a:chExt cx="4410789" cy="1033685"/>
            </a:xfrm>
          </p:grpSpPr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4F802F8A-8527-A8C0-31DC-741C77EFD55C}"/>
                  </a:ext>
                </a:extLst>
              </p:cNvPr>
              <p:cNvSpPr/>
              <p:nvPr/>
            </p:nvSpPr>
            <p:spPr>
              <a:xfrm>
                <a:off x="7041886" y="3818582"/>
                <a:ext cx="2371541" cy="44525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r>
                  <a:rPr lang="ko-KR" altLang="en-US" sz="1100" dirty="0">
                    <a:solidFill>
                      <a:schemeClr val="tx1"/>
                    </a:solidFill>
                    <a:latin typeface="+mj-ea"/>
                    <a:ea typeface="+mj-ea"/>
                  </a:rPr>
                  <a:t>실무 스페셜리스트</a:t>
                </a:r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D45F1B8A-2810-F469-A8CB-1CC1FCA6EBB3}"/>
                  </a:ext>
                </a:extLst>
              </p:cNvPr>
              <p:cNvSpPr/>
              <p:nvPr/>
            </p:nvSpPr>
            <p:spPr>
              <a:xfrm>
                <a:off x="5002638" y="3818582"/>
                <a:ext cx="1698815" cy="44525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r>
                  <a:rPr lang="en-US" altLang="ko-KR" sz="1100" dirty="0">
                    <a:solidFill>
                      <a:schemeClr val="tx1"/>
                    </a:solidFill>
                    <a:latin typeface="+mj-ea"/>
                    <a:ea typeface="+mj-ea"/>
                  </a:rPr>
                  <a:t>G5-S</a:t>
                </a:r>
                <a:endParaRPr lang="ko-KR" altLang="en-US" sz="1100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BA1B4B38-560D-C5D6-6511-E7942E3F99E3}"/>
                  </a:ext>
                </a:extLst>
              </p:cNvPr>
              <p:cNvSpPr/>
              <p:nvPr/>
            </p:nvSpPr>
            <p:spPr>
              <a:xfrm>
                <a:off x="7041886" y="3230147"/>
                <a:ext cx="2371541" cy="44525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r>
                  <a:rPr lang="ko-KR" altLang="en-US" sz="1100" dirty="0">
                    <a:solidFill>
                      <a:schemeClr val="tx1"/>
                    </a:solidFill>
                    <a:latin typeface="+mj-ea"/>
                    <a:ea typeface="+mj-ea"/>
                  </a:rPr>
                  <a:t>직무 관리</a:t>
                </a:r>
                <a:endParaRPr lang="en-US" altLang="ko-KR" sz="1100" dirty="0">
                  <a:solidFill>
                    <a:schemeClr val="tx1"/>
                  </a:solidFill>
                  <a:latin typeface="+mj-ea"/>
                  <a:ea typeface="+mj-ea"/>
                </a:endParaRPr>
              </a:p>
              <a:p>
                <a:pPr algn="ctr" latinLnBrk="0"/>
                <a:r>
                  <a:rPr lang="en-US" altLang="ko-KR" sz="1100" dirty="0">
                    <a:solidFill>
                      <a:schemeClr val="tx1"/>
                    </a:solidFill>
                    <a:latin typeface="+mj-ea"/>
                    <a:ea typeface="+mj-ea"/>
                  </a:rPr>
                  <a:t>(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j-ea"/>
                    <a:ea typeface="+mj-ea"/>
                  </a:rPr>
                  <a:t>부서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z="1100" dirty="0">
                    <a:solidFill>
                      <a:schemeClr val="tx1"/>
                    </a:solidFill>
                    <a:latin typeface="+mj-ea"/>
                    <a:ea typeface="+mj-ea"/>
                  </a:rPr>
                  <a:t>팀</a:t>
                </a:r>
                <a:r>
                  <a:rPr lang="en-US" altLang="ko-KR" sz="1100" dirty="0">
                    <a:solidFill>
                      <a:schemeClr val="tx1"/>
                    </a:solidFill>
                    <a:latin typeface="+mj-ea"/>
                    <a:ea typeface="+mj-ea"/>
                  </a:rPr>
                  <a:t>)</a:t>
                </a:r>
                <a:endParaRPr lang="ko-KR" altLang="en-US" sz="1100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753E2C6D-8BDA-2EB1-2279-EBFD41A9E77B}"/>
                  </a:ext>
                </a:extLst>
              </p:cNvPr>
              <p:cNvSpPr/>
              <p:nvPr/>
            </p:nvSpPr>
            <p:spPr>
              <a:xfrm>
                <a:off x="5002638" y="3230147"/>
                <a:ext cx="1698815" cy="44525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r>
                  <a:rPr lang="en-US" altLang="ko-KR" sz="1100" dirty="0">
                    <a:solidFill>
                      <a:schemeClr val="tx1"/>
                    </a:solidFill>
                    <a:latin typeface="+mj-ea"/>
                  </a:rPr>
                  <a:t>G5-M</a:t>
                </a:r>
                <a:endParaRPr lang="ko-KR" altLang="en-US" sz="1100" dirty="0">
                  <a:solidFill>
                    <a:schemeClr val="tx1"/>
                  </a:solidFill>
                  <a:latin typeface="+mj-ea"/>
                </a:endParaRPr>
              </a:p>
            </p:txBody>
          </p:sp>
        </p:grpSp>
      </p:grpSp>
      <p:cxnSp>
        <p:nvCxnSpPr>
          <p:cNvPr id="44" name="연결선: 꺾임 40">
            <a:extLst>
              <a:ext uri="{FF2B5EF4-FFF2-40B4-BE49-F238E27FC236}">
                <a16:creationId xmlns:a16="http://schemas.microsoft.com/office/drawing/2014/main" id="{CA7E7E76-D8E6-D775-1BC6-2C114A2D03C3}"/>
              </a:ext>
            </a:extLst>
          </p:cNvPr>
          <p:cNvCxnSpPr>
            <a:cxnSpLocks/>
            <a:stCxn id="16" idx="3"/>
            <a:endCxn id="39" idx="1"/>
          </p:cNvCxnSpPr>
          <p:nvPr/>
        </p:nvCxnSpPr>
        <p:spPr>
          <a:xfrm flipV="1">
            <a:off x="4496811" y="4092432"/>
            <a:ext cx="511094" cy="388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cxnSp>
        <p:nvCxnSpPr>
          <p:cNvPr id="45" name="연결선: 꺾임 40">
            <a:extLst>
              <a:ext uri="{FF2B5EF4-FFF2-40B4-BE49-F238E27FC236}">
                <a16:creationId xmlns:a16="http://schemas.microsoft.com/office/drawing/2014/main" id="{16528EE4-38F6-EDE3-AE59-1011AD03E984}"/>
              </a:ext>
            </a:extLst>
          </p:cNvPr>
          <p:cNvCxnSpPr>
            <a:cxnSpLocks/>
            <a:stCxn id="16" idx="3"/>
            <a:endCxn id="41" idx="1"/>
          </p:cNvCxnSpPr>
          <p:nvPr/>
        </p:nvCxnSpPr>
        <p:spPr>
          <a:xfrm flipV="1">
            <a:off x="4496811" y="3676219"/>
            <a:ext cx="511094" cy="416601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810851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BC28-566B-CD0F-C9DE-8881430F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D2E6C5-853E-A9B0-A6E1-B8EE13C7D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직무분류체계</a:t>
            </a:r>
            <a:r>
              <a:rPr lang="en-US" altLang="ko-KR" dirty="0"/>
              <a:t>, </a:t>
            </a:r>
            <a:r>
              <a:rPr lang="ko-KR" altLang="en-US" dirty="0"/>
              <a:t>직급체계</a:t>
            </a:r>
            <a:r>
              <a:rPr lang="en-US" altLang="ko-KR" dirty="0"/>
              <a:t>, </a:t>
            </a:r>
            <a:r>
              <a:rPr lang="ko-KR" altLang="en-US" dirty="0"/>
              <a:t>역할 분류 체계 설계 결과를 기반으로 ㈜</a:t>
            </a:r>
            <a:r>
              <a:rPr lang="ko-KR" altLang="en-US" dirty="0" err="1"/>
              <a:t>베이시스소프트</a:t>
            </a:r>
            <a:r>
              <a:rPr lang="ko-KR" altLang="en-US" dirty="0"/>
              <a:t> 전사적 차원에서 직급</a:t>
            </a:r>
            <a:r>
              <a:rPr lang="en-US" altLang="ko-KR" dirty="0"/>
              <a:t>(</a:t>
            </a:r>
            <a:r>
              <a:rPr lang="ko-KR" altLang="en-US" dirty="0"/>
              <a:t>역할등급</a:t>
            </a:r>
            <a:r>
              <a:rPr lang="en-US" altLang="ko-KR" dirty="0"/>
              <a:t>)</a:t>
            </a:r>
            <a:r>
              <a:rPr lang="ko-KR" altLang="en-US" dirty="0"/>
              <a:t>과</a:t>
            </a:r>
            <a:r>
              <a:rPr lang="en-US" altLang="ko-KR" dirty="0"/>
              <a:t>, </a:t>
            </a:r>
            <a:r>
              <a:rPr lang="ko-KR" altLang="en-US" dirty="0"/>
              <a:t>역할</a:t>
            </a:r>
            <a:r>
              <a:rPr lang="en-US" altLang="ko-KR" dirty="0"/>
              <a:t>, </a:t>
            </a:r>
            <a:r>
              <a:rPr lang="ko-KR" altLang="en-US" dirty="0"/>
              <a:t>역할 등급에 따른 정의</a:t>
            </a:r>
            <a:r>
              <a:rPr lang="en-US" altLang="ko-KR" dirty="0"/>
              <a:t>, </a:t>
            </a:r>
            <a:r>
              <a:rPr lang="ko-KR" altLang="en-US" dirty="0"/>
              <a:t>책임 및 권한을 다음과 같이 설계하였음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EC60C93-35DA-7CA3-6E85-3FFF4A0495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9BB0A8-A6E4-148D-9268-B11BEF5879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[S2] </a:t>
            </a:r>
            <a:r>
              <a:rPr lang="ko-KR" altLang="en-US" dirty="0"/>
              <a:t>역할체계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E3CD597-65EB-9010-6B38-6496678AAC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1B0F6FC6-2DCF-9E43-A253-5550A371ABAC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C1ADC74C-BDD1-37E3-2E61-77B6CE714807}"/>
                </a:ext>
              </a:extLst>
            </p:cNvPr>
            <p:cNvSpPr/>
            <p:nvPr userDrawn="1"/>
          </p:nvSpPr>
          <p:spPr>
            <a:xfrm>
              <a:off x="2503058" y="1626519"/>
              <a:ext cx="1971198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역할 등급 및 역할 등급 정의 설계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93EE6DD2-83B8-C8E2-7329-AE6AF2118676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96414F6-2ED4-0DC1-C6B2-13624B027B48}"/>
              </a:ext>
            </a:extLst>
          </p:cNvPr>
          <p:cNvSpPr/>
          <p:nvPr/>
        </p:nvSpPr>
        <p:spPr>
          <a:xfrm>
            <a:off x="284340" y="2060576"/>
            <a:ext cx="772996" cy="355621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구분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D1D44554-69A7-978F-1808-22E23886A440}"/>
              </a:ext>
            </a:extLst>
          </p:cNvPr>
          <p:cNvSpPr/>
          <p:nvPr/>
        </p:nvSpPr>
        <p:spPr>
          <a:xfrm>
            <a:off x="1927907" y="2060576"/>
            <a:ext cx="906121" cy="355621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759BBF3-CC73-C34F-1185-17E630074A6E}"/>
              </a:ext>
            </a:extLst>
          </p:cNvPr>
          <p:cNvSpPr/>
          <p:nvPr/>
        </p:nvSpPr>
        <p:spPr>
          <a:xfrm>
            <a:off x="1233356" y="2060576"/>
            <a:ext cx="613491" cy="355621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직급</a:t>
            </a:r>
            <a:endParaRPr lang="en-US" altLang="ko-KR" sz="1100" dirty="0">
              <a:latin typeface="+mj-ea"/>
              <a:ea typeface="+mj-ea"/>
            </a:endParaRPr>
          </a:p>
          <a:p>
            <a:pPr algn="ctr" latinLnBrk="0"/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ko-KR" altLang="en-US" sz="800" dirty="0">
                <a:latin typeface="+mj-ea"/>
                <a:ea typeface="+mj-ea"/>
              </a:rPr>
              <a:t>역할 등급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4548C23B-E1F1-C2AF-4D65-B873E9D30F9D}"/>
              </a:ext>
            </a:extLst>
          </p:cNvPr>
          <p:cNvSpPr/>
          <p:nvPr/>
        </p:nvSpPr>
        <p:spPr>
          <a:xfrm>
            <a:off x="272951" y="2490919"/>
            <a:ext cx="784384" cy="468000"/>
          </a:xfrm>
          <a:prstGeom prst="roundRect">
            <a:avLst/>
          </a:prstGeom>
          <a:solidFill>
            <a:srgbClr val="A9B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000" b="1" dirty="0">
                <a:latin typeface="+mj-ea"/>
                <a:ea typeface="+mj-ea"/>
              </a:rPr>
              <a:t>조직관리</a:t>
            </a:r>
          </a:p>
        </p:txBody>
      </p:sp>
      <p:cxnSp>
        <p:nvCxnSpPr>
          <p:cNvPr id="145" name="연결선: 꺾임 40">
            <a:extLst>
              <a:ext uri="{FF2B5EF4-FFF2-40B4-BE49-F238E27FC236}">
                <a16:creationId xmlns:a16="http://schemas.microsoft.com/office/drawing/2014/main" id="{C7E43F37-A620-BB73-328C-096D9D3B6071}"/>
              </a:ext>
            </a:extLst>
          </p:cNvPr>
          <p:cNvCxnSpPr>
            <a:cxnSpLocks/>
            <a:stCxn id="148" idx="3"/>
            <a:endCxn id="143" idx="1"/>
          </p:cNvCxnSpPr>
          <p:nvPr/>
        </p:nvCxnSpPr>
        <p:spPr>
          <a:xfrm flipV="1">
            <a:off x="1057335" y="4839374"/>
            <a:ext cx="176021" cy="527982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889E451D-F60B-7961-E32B-1E252FEFF8A9}"/>
              </a:ext>
            </a:extLst>
          </p:cNvPr>
          <p:cNvSpPr/>
          <p:nvPr/>
        </p:nvSpPr>
        <p:spPr>
          <a:xfrm>
            <a:off x="272951" y="4605375"/>
            <a:ext cx="784384" cy="1523961"/>
          </a:xfrm>
          <a:prstGeom prst="roundRect">
            <a:avLst/>
          </a:prstGeom>
          <a:solidFill>
            <a:srgbClr val="A9B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000" b="1" dirty="0">
                <a:latin typeface="+mj-ea"/>
              </a:rPr>
              <a:t>직무 실무</a:t>
            </a:r>
          </a:p>
        </p:txBody>
      </p:sp>
      <p:cxnSp>
        <p:nvCxnSpPr>
          <p:cNvPr id="149" name="연결선: 꺾임 40">
            <a:extLst>
              <a:ext uri="{FF2B5EF4-FFF2-40B4-BE49-F238E27FC236}">
                <a16:creationId xmlns:a16="http://schemas.microsoft.com/office/drawing/2014/main" id="{D403DEE1-20B3-2E4B-002E-6E4F750A441E}"/>
              </a:ext>
            </a:extLst>
          </p:cNvPr>
          <p:cNvCxnSpPr>
            <a:cxnSpLocks/>
            <a:stCxn id="148" idx="3"/>
            <a:endCxn id="151" idx="1"/>
          </p:cNvCxnSpPr>
          <p:nvPr/>
        </p:nvCxnSpPr>
        <p:spPr>
          <a:xfrm>
            <a:off x="1057335" y="5367356"/>
            <a:ext cx="176021" cy="527982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cxnSp>
        <p:nvCxnSpPr>
          <p:cNvPr id="152" name="연결선: 꺾임 40">
            <a:extLst>
              <a:ext uri="{FF2B5EF4-FFF2-40B4-BE49-F238E27FC236}">
                <a16:creationId xmlns:a16="http://schemas.microsoft.com/office/drawing/2014/main" id="{CB01ACDA-8E4F-0110-F615-CD9AB742A84D}"/>
              </a:ext>
            </a:extLst>
          </p:cNvPr>
          <p:cNvCxnSpPr>
            <a:cxnSpLocks/>
            <a:stCxn id="148" idx="3"/>
            <a:endCxn id="154" idx="1"/>
          </p:cNvCxnSpPr>
          <p:nvPr/>
        </p:nvCxnSpPr>
        <p:spPr>
          <a:xfrm flipV="1">
            <a:off x="1057335" y="5367355"/>
            <a:ext cx="176021" cy="1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cxnSp>
        <p:nvCxnSpPr>
          <p:cNvPr id="155" name="연결선: 꺾임 40">
            <a:extLst>
              <a:ext uri="{FF2B5EF4-FFF2-40B4-BE49-F238E27FC236}">
                <a16:creationId xmlns:a16="http://schemas.microsoft.com/office/drawing/2014/main" id="{4FC6E212-0E6F-5A71-28DF-DA774B2E82FC}"/>
              </a:ext>
            </a:extLst>
          </p:cNvPr>
          <p:cNvCxnSpPr>
            <a:cxnSpLocks/>
            <a:stCxn id="135" idx="3"/>
            <a:endCxn id="137" idx="1"/>
          </p:cNvCxnSpPr>
          <p:nvPr/>
        </p:nvCxnSpPr>
        <p:spPr>
          <a:xfrm flipV="1">
            <a:off x="1057335" y="2724918"/>
            <a:ext cx="176021" cy="1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AA3ED342-D0A9-D423-8527-D47660005281}"/>
              </a:ext>
            </a:extLst>
          </p:cNvPr>
          <p:cNvGrpSpPr/>
          <p:nvPr/>
        </p:nvGrpSpPr>
        <p:grpSpPr>
          <a:xfrm>
            <a:off x="1233356" y="2490918"/>
            <a:ext cx="6398172" cy="470532"/>
            <a:chOff x="1233356" y="2567345"/>
            <a:chExt cx="6398172" cy="470532"/>
          </a:xfrm>
        </p:grpSpPr>
        <p:sp>
          <p:nvSpPr>
            <p:cNvPr id="136" name="사각형: 둥근 모서리 135">
              <a:extLst>
                <a:ext uri="{FF2B5EF4-FFF2-40B4-BE49-F238E27FC236}">
                  <a16:creationId xmlns:a16="http://schemas.microsoft.com/office/drawing/2014/main" id="{B65FAF23-56D9-5B2E-ED0D-59B25C3FB515}"/>
                </a:ext>
              </a:extLst>
            </p:cNvPr>
            <p:cNvSpPr/>
            <p:nvPr/>
          </p:nvSpPr>
          <p:spPr>
            <a:xfrm>
              <a:off x="1927907" y="2569877"/>
              <a:ext cx="90612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사업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조직 관리</a:t>
              </a:r>
            </a:p>
          </p:txBody>
        </p:sp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08D364A0-D689-BB47-8A00-119B21FC84D5}"/>
                </a:ext>
              </a:extLst>
            </p:cNvPr>
            <p:cNvSpPr/>
            <p:nvPr/>
          </p:nvSpPr>
          <p:spPr>
            <a:xfrm>
              <a:off x="1233356" y="2567345"/>
              <a:ext cx="61349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G6</a:t>
              </a:r>
              <a:endParaRPr lang="ko-KR" altLang="en-US" sz="1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F319010F-7EFD-AD57-8890-3C98D79CCFD9}"/>
                </a:ext>
              </a:extLst>
            </p:cNvPr>
            <p:cNvSpPr/>
            <p:nvPr/>
          </p:nvSpPr>
          <p:spPr>
            <a:xfrm>
              <a:off x="2915090" y="2567345"/>
              <a:ext cx="4716438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회사의 비전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경영전략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수립과 성과목표 달성을 총괄하며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, </a:t>
              </a:r>
            </a:p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부서 간 의사결정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조정 및 대외 파트너십을 관리하는 역할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CCC15455-B399-B9AF-F5F1-06FF0502FDA0}"/>
              </a:ext>
            </a:extLst>
          </p:cNvPr>
          <p:cNvGrpSpPr/>
          <p:nvPr/>
        </p:nvGrpSpPr>
        <p:grpSpPr>
          <a:xfrm>
            <a:off x="1233356" y="4605374"/>
            <a:ext cx="6398172" cy="468000"/>
            <a:chOff x="1233356" y="4795461"/>
            <a:chExt cx="6398172" cy="468000"/>
          </a:xfrm>
        </p:grpSpPr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5F0AC849-69AB-5AA6-C865-F30D4F6C3FE3}"/>
                </a:ext>
              </a:extLst>
            </p:cNvPr>
            <p:cNvSpPr/>
            <p:nvPr/>
          </p:nvSpPr>
          <p:spPr>
            <a:xfrm>
              <a:off x="1927907" y="4795461"/>
              <a:ext cx="90612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핵심 실무</a:t>
              </a:r>
            </a:p>
          </p:txBody>
        </p:sp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89650877-6348-ACA5-2BFF-5EC5BD4C7AE6}"/>
                </a:ext>
              </a:extLst>
            </p:cNvPr>
            <p:cNvSpPr/>
            <p:nvPr/>
          </p:nvSpPr>
          <p:spPr>
            <a:xfrm>
              <a:off x="1233356" y="4795461"/>
              <a:ext cx="61349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G3</a:t>
              </a:r>
              <a:endParaRPr lang="ko-KR" altLang="en-US" sz="1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009C3C48-B667-8CB6-1AA0-65C5ED6CF00A}"/>
                </a:ext>
              </a:extLst>
            </p:cNvPr>
            <p:cNvSpPr/>
            <p:nvPr/>
          </p:nvSpPr>
          <p:spPr>
            <a:xfrm>
              <a:off x="2915090" y="4795461"/>
              <a:ext cx="4716438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전문 지식과 기술을 활용해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프로젝트 핵심 과업을 기획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수행하며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, </a:t>
              </a:r>
            </a:p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산출물 품질과 일정 준수를 책임지는 중추적인 역할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8F9AC292-FBE5-710C-F080-F2536521C5F8}"/>
              </a:ext>
            </a:extLst>
          </p:cNvPr>
          <p:cNvGrpSpPr/>
          <p:nvPr/>
        </p:nvGrpSpPr>
        <p:grpSpPr>
          <a:xfrm>
            <a:off x="1233356" y="5661338"/>
            <a:ext cx="6398172" cy="468000"/>
            <a:chOff x="1233356" y="5661338"/>
            <a:chExt cx="6398172" cy="468000"/>
          </a:xfrm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F0C386BD-4B04-817A-87AE-A82F68039C32}"/>
                </a:ext>
              </a:extLst>
            </p:cNvPr>
            <p:cNvSpPr/>
            <p:nvPr/>
          </p:nvSpPr>
          <p:spPr>
            <a:xfrm>
              <a:off x="1927907" y="5661338"/>
              <a:ext cx="90612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실무 보조</a:t>
              </a:r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516E6E31-3735-7D0A-C461-5B2063CD2213}"/>
                </a:ext>
              </a:extLst>
            </p:cNvPr>
            <p:cNvSpPr/>
            <p:nvPr/>
          </p:nvSpPr>
          <p:spPr>
            <a:xfrm>
              <a:off x="1233356" y="5661338"/>
              <a:ext cx="61349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G1</a:t>
              </a:r>
              <a:endParaRPr lang="ko-KR" altLang="en-US" sz="1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551BD7A4-C424-7BBB-D075-7DC6AF6390D5}"/>
                </a:ext>
              </a:extLst>
            </p:cNvPr>
            <p:cNvSpPr/>
            <p:nvPr/>
          </p:nvSpPr>
          <p:spPr>
            <a:xfrm>
              <a:off x="2915090" y="5661338"/>
              <a:ext cx="4716438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실무에 대한 이해와 과업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수행에 필요한 기술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지식을 습득하며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,</a:t>
              </a:r>
            </a:p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프로젝트 진행 과정에서 기본적인 과업을 보조하는 역할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2CE20530-E5D1-D511-6EC5-0C2B1D0C015D}"/>
              </a:ext>
            </a:extLst>
          </p:cNvPr>
          <p:cNvGrpSpPr/>
          <p:nvPr/>
        </p:nvGrpSpPr>
        <p:grpSpPr>
          <a:xfrm>
            <a:off x="1233356" y="5133355"/>
            <a:ext cx="6398172" cy="468000"/>
            <a:chOff x="1233356" y="5351856"/>
            <a:chExt cx="6398172" cy="468000"/>
          </a:xfrm>
        </p:grpSpPr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86208009-5535-D70B-432E-B8D11E205E01}"/>
                </a:ext>
              </a:extLst>
            </p:cNvPr>
            <p:cNvSpPr/>
            <p:nvPr/>
          </p:nvSpPr>
          <p:spPr>
            <a:xfrm>
              <a:off x="1927907" y="5351856"/>
              <a:ext cx="90612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실무</a:t>
              </a:r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6EB39223-9FA9-0B80-A4BA-317E34E55337}"/>
                </a:ext>
              </a:extLst>
            </p:cNvPr>
            <p:cNvSpPr/>
            <p:nvPr/>
          </p:nvSpPr>
          <p:spPr>
            <a:xfrm>
              <a:off x="1233356" y="5351856"/>
              <a:ext cx="61349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G2</a:t>
              </a:r>
              <a:endParaRPr lang="ko-KR" altLang="en-US" sz="1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38D73F95-58E1-D076-4045-2C7F88864D5C}"/>
                </a:ext>
              </a:extLst>
            </p:cNvPr>
            <p:cNvSpPr/>
            <p:nvPr/>
          </p:nvSpPr>
          <p:spPr>
            <a:xfrm>
              <a:off x="2915090" y="5351856"/>
              <a:ext cx="4716438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프로젝트 계획에 따라 독립적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자율적으로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세부 과업을 계획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수행하며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, </a:t>
              </a:r>
            </a:p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완성도 있는 산출물을 도출하고 품질을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관리하는 역할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.</a:t>
              </a:r>
            </a:p>
          </p:txBody>
        </p:sp>
      </p:grp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55004393-737E-976A-980F-48907D9D191F}"/>
              </a:ext>
            </a:extLst>
          </p:cNvPr>
          <p:cNvSpPr/>
          <p:nvPr/>
        </p:nvSpPr>
        <p:spPr>
          <a:xfrm>
            <a:off x="2915088" y="2060576"/>
            <a:ext cx="4716438" cy="355621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200" dirty="0">
                <a:latin typeface="+mj-ea"/>
                <a:ea typeface="+mj-ea"/>
              </a:rPr>
              <a:t>역할 등급 정의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3A45F1E8-053D-C810-E873-11A6C4BA9CD0}"/>
              </a:ext>
            </a:extLst>
          </p:cNvPr>
          <p:cNvSpPr/>
          <p:nvPr/>
        </p:nvSpPr>
        <p:spPr>
          <a:xfrm>
            <a:off x="272951" y="3021431"/>
            <a:ext cx="784384" cy="1523961"/>
          </a:xfrm>
          <a:prstGeom prst="roundRect">
            <a:avLst/>
          </a:prstGeom>
          <a:solidFill>
            <a:srgbClr val="A9B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000" b="1" dirty="0">
                <a:latin typeface="+mj-ea"/>
                <a:ea typeface="+mj-ea"/>
              </a:rPr>
              <a:t>직무 관리</a:t>
            </a:r>
            <a:r>
              <a:rPr lang="en-US" altLang="ko-KR" sz="1000" b="1" dirty="0">
                <a:latin typeface="+mj-ea"/>
                <a:ea typeface="+mj-ea"/>
              </a:rPr>
              <a:t>/</a:t>
            </a:r>
          </a:p>
          <a:p>
            <a:pPr algn="ctr" latinLnBrk="0"/>
            <a:r>
              <a:rPr lang="ko-KR" altLang="en-US" sz="1000" b="1" dirty="0">
                <a:latin typeface="+mj-ea"/>
                <a:ea typeface="+mj-ea"/>
              </a:rPr>
              <a:t>직무 책임</a:t>
            </a:r>
            <a:endParaRPr lang="en-US" altLang="ko-KR" sz="1000" b="1" dirty="0">
              <a:latin typeface="+mj-ea"/>
              <a:ea typeface="+mj-ea"/>
            </a:endParaRPr>
          </a:p>
        </p:txBody>
      </p:sp>
      <p:cxnSp>
        <p:nvCxnSpPr>
          <p:cNvPr id="139" name="연결선: 꺾임 40">
            <a:extLst>
              <a:ext uri="{FF2B5EF4-FFF2-40B4-BE49-F238E27FC236}">
                <a16:creationId xmlns:a16="http://schemas.microsoft.com/office/drawing/2014/main" id="{3427C914-8950-21D0-3E6D-0C698608449C}"/>
              </a:ext>
            </a:extLst>
          </p:cNvPr>
          <p:cNvCxnSpPr>
            <a:cxnSpLocks/>
            <a:stCxn id="138" idx="3"/>
            <a:endCxn id="147" idx="1"/>
          </p:cNvCxnSpPr>
          <p:nvPr/>
        </p:nvCxnSpPr>
        <p:spPr>
          <a:xfrm flipV="1">
            <a:off x="1057335" y="3255431"/>
            <a:ext cx="176021" cy="527981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cxnSp>
        <p:nvCxnSpPr>
          <p:cNvPr id="144" name="연결선: 꺾임 40">
            <a:extLst>
              <a:ext uri="{FF2B5EF4-FFF2-40B4-BE49-F238E27FC236}">
                <a16:creationId xmlns:a16="http://schemas.microsoft.com/office/drawing/2014/main" id="{A1DE725B-5A98-6C7E-3B3A-769DDF88B850}"/>
              </a:ext>
            </a:extLst>
          </p:cNvPr>
          <p:cNvCxnSpPr>
            <a:cxnSpLocks/>
            <a:stCxn id="138" idx="3"/>
            <a:endCxn id="142" idx="1"/>
          </p:cNvCxnSpPr>
          <p:nvPr/>
        </p:nvCxnSpPr>
        <p:spPr>
          <a:xfrm>
            <a:off x="1057335" y="3783412"/>
            <a:ext cx="176021" cy="12700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cxnSp>
        <p:nvCxnSpPr>
          <p:cNvPr id="158" name="연결선: 꺾임 40">
            <a:extLst>
              <a:ext uri="{FF2B5EF4-FFF2-40B4-BE49-F238E27FC236}">
                <a16:creationId xmlns:a16="http://schemas.microsoft.com/office/drawing/2014/main" id="{065B47EC-CB35-8E02-A275-D912B5077229}"/>
              </a:ext>
            </a:extLst>
          </p:cNvPr>
          <p:cNvCxnSpPr>
            <a:cxnSpLocks/>
            <a:stCxn id="138" idx="3"/>
            <a:endCxn id="157" idx="1"/>
          </p:cNvCxnSpPr>
          <p:nvPr/>
        </p:nvCxnSpPr>
        <p:spPr>
          <a:xfrm>
            <a:off x="1057335" y="3783412"/>
            <a:ext cx="176021" cy="527981"/>
          </a:xfrm>
          <a:prstGeom prst="bentConnector3">
            <a:avLst>
              <a:gd name="adj1" fmla="val 50000"/>
            </a:avLst>
          </a:prstGeom>
          <a:noFill/>
          <a:ln w="158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ysDot"/>
            <a:miter lim="800000"/>
            <a:headEnd type="none"/>
            <a:tailEnd type="triangle"/>
          </a:ln>
          <a:effectLst/>
        </p:spPr>
      </p:cxn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054FAF7D-40CF-E045-EB45-EA190313ED1C}"/>
              </a:ext>
            </a:extLst>
          </p:cNvPr>
          <p:cNvGrpSpPr/>
          <p:nvPr/>
        </p:nvGrpSpPr>
        <p:grpSpPr>
          <a:xfrm>
            <a:off x="1233356" y="3549412"/>
            <a:ext cx="6398172" cy="468000"/>
            <a:chOff x="1233356" y="3682669"/>
            <a:chExt cx="6398172" cy="468000"/>
          </a:xfrm>
        </p:grpSpPr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EF3A7BC9-E1CB-C3E8-7E67-B435214E1604}"/>
                </a:ext>
              </a:extLst>
            </p:cNvPr>
            <p:cNvSpPr/>
            <p:nvPr/>
          </p:nvSpPr>
          <p:spPr>
            <a:xfrm>
              <a:off x="1927907" y="3682669"/>
              <a:ext cx="906121" cy="4680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실무</a:t>
              </a:r>
              <a:endParaRPr lang="en-US" altLang="ko-KR" sz="1000" dirty="0">
                <a:solidFill>
                  <a:schemeClr val="tx1"/>
                </a:solidFill>
                <a:latin typeface="+mj-ea"/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스페셜리스트</a:t>
              </a: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43D60F05-345C-1C5E-1734-6FF74EA2D5F9}"/>
                </a:ext>
              </a:extLst>
            </p:cNvPr>
            <p:cNvSpPr/>
            <p:nvPr/>
          </p:nvSpPr>
          <p:spPr>
            <a:xfrm>
              <a:off x="1233356" y="3682669"/>
              <a:ext cx="613491" cy="4680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G5-S</a:t>
              </a:r>
              <a:endParaRPr lang="ko-KR" altLang="en-US" sz="1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60" name="사각형: 둥근 모서리 159">
              <a:extLst>
                <a:ext uri="{FF2B5EF4-FFF2-40B4-BE49-F238E27FC236}">
                  <a16:creationId xmlns:a16="http://schemas.microsoft.com/office/drawing/2014/main" id="{32E92F50-5086-288B-1AC5-8EB136BB3BF5}"/>
                </a:ext>
              </a:extLst>
            </p:cNvPr>
            <p:cNvSpPr/>
            <p:nvPr/>
          </p:nvSpPr>
          <p:spPr>
            <a:xfrm>
              <a:off x="2915090" y="3682669"/>
              <a:ext cx="4716438" cy="4680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직무 최고 수준의 전문성과 현장 경험을 기반으로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복잡하고 고난이도의 프로젝트를 성공적으로 수행하며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내부 기술 자산화 및 기술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노하우 전파를 주도하는 실무 전문가 역할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034D8380-0BBE-DCE2-7407-51A3050D7EF8}"/>
              </a:ext>
            </a:extLst>
          </p:cNvPr>
          <p:cNvGrpSpPr/>
          <p:nvPr/>
        </p:nvGrpSpPr>
        <p:grpSpPr>
          <a:xfrm>
            <a:off x="1233356" y="3021431"/>
            <a:ext cx="6398172" cy="468000"/>
            <a:chOff x="1233356" y="3126273"/>
            <a:chExt cx="6398172" cy="468000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B13A2485-CDC8-8222-6721-3BB5B6018744}"/>
                </a:ext>
              </a:extLst>
            </p:cNvPr>
            <p:cNvSpPr/>
            <p:nvPr/>
          </p:nvSpPr>
          <p:spPr>
            <a:xfrm>
              <a:off x="1927907" y="3126273"/>
              <a:ext cx="906121" cy="468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직무 관리</a:t>
              </a:r>
              <a:endParaRPr lang="en-US" altLang="ko-KR" sz="10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부서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)</a:t>
              </a:r>
              <a:endParaRPr lang="ko-KR" altLang="en-US" sz="1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C92D0754-C4F9-8502-BA10-2ED6ED905180}"/>
                </a:ext>
              </a:extLst>
            </p:cNvPr>
            <p:cNvSpPr/>
            <p:nvPr/>
          </p:nvSpPr>
          <p:spPr>
            <a:xfrm>
              <a:off x="1233356" y="3126273"/>
              <a:ext cx="613491" cy="468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G5-M</a:t>
              </a:r>
              <a:endParaRPr lang="ko-KR" altLang="en-US" sz="1000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9084DFC-8E83-BD06-CEA4-63CC473B8612}"/>
                </a:ext>
              </a:extLst>
            </p:cNvPr>
            <p:cNvSpPr/>
            <p:nvPr/>
          </p:nvSpPr>
          <p:spPr>
            <a:xfrm>
              <a:off x="2915090" y="3126273"/>
              <a:ext cx="4716438" cy="468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팀의 성과목표를 수립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관리하고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조직 전략과 연계된 프로젝트 포트폴리오를 운영하며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인력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  <a:ea typeface="+mj-ea"/>
                </a:rPr>
                <a:t>자원 배분 및 성과 달성을 총괄하는 역할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62026F07-D390-77D1-B173-1F26B3EEDCC3}"/>
              </a:ext>
            </a:extLst>
          </p:cNvPr>
          <p:cNvGrpSpPr/>
          <p:nvPr/>
        </p:nvGrpSpPr>
        <p:grpSpPr>
          <a:xfrm>
            <a:off x="1233356" y="4077393"/>
            <a:ext cx="6398172" cy="468000"/>
            <a:chOff x="1233356" y="4239065"/>
            <a:chExt cx="6398172" cy="468000"/>
          </a:xfrm>
        </p:grpSpPr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C364F4DD-0143-BC0A-D7C5-71407219DB97}"/>
                </a:ext>
              </a:extLst>
            </p:cNvPr>
            <p:cNvSpPr/>
            <p:nvPr/>
          </p:nvSpPr>
          <p:spPr>
            <a:xfrm>
              <a:off x="1927907" y="4239065"/>
              <a:ext cx="90612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1000">
                  <a:solidFill>
                    <a:schemeClr val="tx1"/>
                  </a:solidFill>
                  <a:latin typeface="+mj-ea"/>
                  <a:ea typeface="+mj-ea"/>
                </a:rPr>
                <a:t>실무 책임</a:t>
              </a:r>
              <a:endParaRPr lang="en-US" altLang="ko-KR" sz="10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(PM)</a:t>
              </a:r>
              <a:endParaRPr lang="ko-KR" altLang="en-US" sz="1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9496218F-A006-6489-B2F0-79D1BC9044FD}"/>
                </a:ext>
              </a:extLst>
            </p:cNvPr>
            <p:cNvSpPr/>
            <p:nvPr/>
          </p:nvSpPr>
          <p:spPr>
            <a:xfrm>
              <a:off x="1233356" y="4239065"/>
              <a:ext cx="613491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000" dirty="0">
                  <a:solidFill>
                    <a:schemeClr val="tx1"/>
                  </a:solidFill>
                  <a:latin typeface="+mj-ea"/>
                  <a:ea typeface="+mj-ea"/>
                </a:rPr>
                <a:t>G4</a:t>
              </a:r>
              <a:endParaRPr lang="ko-KR" altLang="en-US" sz="1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69" name="사각형: 둥근 모서리 168">
              <a:extLst>
                <a:ext uri="{FF2B5EF4-FFF2-40B4-BE49-F238E27FC236}">
                  <a16:creationId xmlns:a16="http://schemas.microsoft.com/office/drawing/2014/main" id="{C3DE6053-8B81-2A6D-451E-EF39DD091C34}"/>
                </a:ext>
              </a:extLst>
            </p:cNvPr>
            <p:cNvSpPr/>
            <p:nvPr/>
          </p:nvSpPr>
          <p:spPr>
            <a:xfrm>
              <a:off x="2915090" y="4239065"/>
              <a:ext cx="4716438" cy="468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단위 프로젝트의 전략 수립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추진을 주도하며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예산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일정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+mj-ea"/>
                </a:rPr>
                <a:t>품질 등 목표 달성을 책임지고 성과를 보고하는 역할</a:t>
              </a:r>
              <a:r>
                <a:rPr lang="en-US" altLang="ko-KR" sz="1000" dirty="0">
                  <a:solidFill>
                    <a:schemeClr val="tx1"/>
                  </a:solidFill>
                  <a:latin typeface="+mj-ea"/>
                </a:rPr>
                <a:t>.</a:t>
              </a:r>
            </a:p>
          </p:txBody>
        </p:sp>
      </p:grp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39D1A931-29A4-8934-FA7F-3475C3EA3296}"/>
              </a:ext>
            </a:extLst>
          </p:cNvPr>
          <p:cNvSpPr/>
          <p:nvPr/>
        </p:nvSpPr>
        <p:spPr>
          <a:xfrm>
            <a:off x="8672468" y="1732558"/>
            <a:ext cx="960481" cy="1680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100" dirty="0">
                <a:solidFill>
                  <a:schemeClr val="tx1"/>
                </a:solidFill>
                <a:latin typeface="+mj-ea"/>
                <a:ea typeface="+mj-ea"/>
              </a:rPr>
              <a:t>실무전문가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7C3F4F1A-A301-A788-0710-C73A4469408C}"/>
              </a:ext>
            </a:extLst>
          </p:cNvPr>
          <p:cNvSpPr/>
          <p:nvPr/>
        </p:nvSpPr>
        <p:spPr>
          <a:xfrm>
            <a:off x="7631528" y="1732558"/>
            <a:ext cx="960481" cy="1680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100" dirty="0">
                <a:solidFill>
                  <a:schemeClr val="tx1"/>
                </a:solidFill>
                <a:latin typeface="+mj-ea"/>
              </a:rPr>
              <a:t>관리자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CF0F1057-000C-64BD-D488-A69909343745}"/>
              </a:ext>
            </a:extLst>
          </p:cNvPr>
          <p:cNvSpPr/>
          <p:nvPr/>
        </p:nvSpPr>
        <p:spPr>
          <a:xfrm>
            <a:off x="7712586" y="2060576"/>
            <a:ext cx="1909074" cy="355621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100" dirty="0">
                <a:latin typeface="+mj-ea"/>
                <a:ea typeface="+mj-ea"/>
              </a:rPr>
              <a:t>책임 및 권한</a:t>
            </a: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4F17389B-559E-3197-B8E8-76EB5B89DA68}"/>
              </a:ext>
            </a:extLst>
          </p:cNvPr>
          <p:cNvSpPr/>
          <p:nvPr/>
        </p:nvSpPr>
        <p:spPr>
          <a:xfrm>
            <a:off x="7712586" y="2490919"/>
            <a:ext cx="1920364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전사 수준</a:t>
            </a:r>
            <a:endParaRPr lang="en-US" altLang="ko-KR" sz="9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900" dirty="0">
                <a:solidFill>
                  <a:schemeClr val="tx1"/>
                </a:solidFill>
                <a:latin typeface="+mj-ea"/>
                <a:ea typeface="+mj-ea"/>
              </a:rPr>
              <a:t>KPI, </a:t>
            </a:r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의사결정</a:t>
            </a:r>
            <a:r>
              <a:rPr lang="en-US" altLang="ko-KR" sz="9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예산편성</a:t>
            </a:r>
            <a:r>
              <a:rPr lang="en-US" altLang="ko-KR" sz="9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인력 승인</a:t>
            </a:r>
            <a:endParaRPr lang="en-US" altLang="ko-KR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D8E13124-B3FC-8ADF-35A0-4BB044BBDF1D}"/>
              </a:ext>
            </a:extLst>
          </p:cNvPr>
          <p:cNvSpPr/>
          <p:nvPr/>
        </p:nvSpPr>
        <p:spPr>
          <a:xfrm>
            <a:off x="7712586" y="3021431"/>
            <a:ext cx="1920364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900" dirty="0">
                <a:solidFill>
                  <a:schemeClr val="tx1"/>
                </a:solidFill>
                <a:latin typeface="+mj-ea"/>
              </a:rPr>
              <a:t>부서 수준</a:t>
            </a:r>
            <a:endParaRPr lang="en-US" altLang="ko-KR" sz="900" dirty="0">
              <a:solidFill>
                <a:schemeClr val="tx1"/>
              </a:solidFill>
              <a:latin typeface="+mj-ea"/>
            </a:endParaRPr>
          </a:p>
          <a:p>
            <a:pPr algn="ctr" latinLnBrk="0"/>
            <a:r>
              <a:rPr lang="en-US" altLang="ko-KR" sz="900" dirty="0">
                <a:solidFill>
                  <a:schemeClr val="tx1"/>
                </a:solidFill>
                <a:latin typeface="+mj-ea"/>
              </a:rPr>
              <a:t>KPI, </a:t>
            </a:r>
            <a:r>
              <a:rPr lang="ko-KR" altLang="en-US" sz="900" dirty="0">
                <a:solidFill>
                  <a:schemeClr val="tx1"/>
                </a:solidFill>
                <a:latin typeface="+mj-ea"/>
              </a:rPr>
              <a:t>의사결정</a:t>
            </a:r>
            <a:r>
              <a:rPr lang="en-US" altLang="ko-KR" sz="900" dirty="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j-ea"/>
              </a:rPr>
              <a:t>예산편성</a:t>
            </a:r>
            <a:r>
              <a:rPr lang="en-US" altLang="ko-KR" sz="900" dirty="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j-ea"/>
              </a:rPr>
              <a:t>인력 승인</a:t>
            </a:r>
            <a:endParaRPr lang="en-US" altLang="ko-KR" sz="9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E12A53DC-4EC2-DCC9-AFD2-9BD9EBD94DEC}"/>
              </a:ext>
            </a:extLst>
          </p:cNvPr>
          <p:cNvSpPr/>
          <p:nvPr/>
        </p:nvSpPr>
        <p:spPr>
          <a:xfrm>
            <a:off x="7712586" y="3545121"/>
            <a:ext cx="1920364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900" dirty="0">
                <a:solidFill>
                  <a:schemeClr val="tx1"/>
                </a:solidFill>
                <a:latin typeface="+mj-ea"/>
              </a:rPr>
              <a:t>전문 영역 의사결정</a:t>
            </a:r>
            <a:endParaRPr lang="en-US" altLang="ko-KR" sz="9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5B102F21-326A-BDDC-8CC9-C8C218E9184B}"/>
              </a:ext>
            </a:extLst>
          </p:cNvPr>
          <p:cNvSpPr/>
          <p:nvPr/>
        </p:nvSpPr>
        <p:spPr>
          <a:xfrm>
            <a:off x="7712586" y="4077393"/>
            <a:ext cx="1920364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프로젝트 의사결정</a:t>
            </a:r>
            <a:r>
              <a:rPr lang="en-US" altLang="ko-KR" sz="9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예산 집행</a:t>
            </a:r>
            <a:endParaRPr lang="en-US" altLang="ko-KR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A162E2F9-039F-0D13-C4E2-6576B431CE19}"/>
              </a:ext>
            </a:extLst>
          </p:cNvPr>
          <p:cNvSpPr/>
          <p:nvPr/>
        </p:nvSpPr>
        <p:spPr>
          <a:xfrm>
            <a:off x="7712586" y="4605374"/>
            <a:ext cx="1920364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프로젝트 내 핵심 책무 범위 자율</a:t>
            </a:r>
            <a:endParaRPr lang="en-US" altLang="ko-KR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CA0B6C19-04D4-0399-D1E6-A0E6A0D61B16}"/>
              </a:ext>
            </a:extLst>
          </p:cNvPr>
          <p:cNvSpPr/>
          <p:nvPr/>
        </p:nvSpPr>
        <p:spPr>
          <a:xfrm>
            <a:off x="7712586" y="5133355"/>
            <a:ext cx="1920364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900" dirty="0">
                <a:solidFill>
                  <a:schemeClr val="tx1"/>
                </a:solidFill>
                <a:latin typeface="+mj-ea"/>
              </a:rPr>
              <a:t>프로젝트 내 핵심 과업 범위 자율</a:t>
            </a:r>
            <a:endParaRPr lang="en-US" altLang="ko-KR" sz="9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EF655560-0231-56B9-015B-4589AB6A9DEA}"/>
              </a:ext>
            </a:extLst>
          </p:cNvPr>
          <p:cNvSpPr/>
          <p:nvPr/>
        </p:nvSpPr>
        <p:spPr>
          <a:xfrm>
            <a:off x="7712586" y="5661336"/>
            <a:ext cx="1920364" cy="468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제한적 권한</a:t>
            </a:r>
            <a:endParaRPr lang="en-US" altLang="ko-KR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344803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B451-CA33-9CB1-2403-C4640E52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51ED57F-156A-F08E-4BCE-59CD473373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</a:t>
            </a:r>
            <a:r>
              <a:rPr lang="ko-KR" altLang="en-US" dirty="0"/>
              <a:t> 전사 역할 등급 체계를 기반으로</a:t>
            </a:r>
            <a:r>
              <a:rPr lang="en-US" altLang="ko-KR" dirty="0"/>
              <a:t>, </a:t>
            </a:r>
            <a:r>
              <a:rPr lang="ko-KR" altLang="en-US" dirty="0"/>
              <a:t>직무별 특성을 반영하여 각 등급별 역할과 책임을 명확히 정의하였음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46A5A3E-BF18-375D-8B01-DDAF521DFF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atinLnBrk="0"/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0EC19E-2C3A-0058-1138-940BD3DE26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역할체계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97915F6-AE9B-BA25-67C4-F41309675D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atinLnBrk="0"/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8420DB9D-5FCE-7948-7EE9-E37C985148CC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0E08EEC4-CD3D-8178-7B0B-D7E69AFC41FD}"/>
                </a:ext>
              </a:extLst>
            </p:cNvPr>
            <p:cNvSpPr/>
            <p:nvPr userDrawn="1"/>
          </p:nvSpPr>
          <p:spPr>
            <a:xfrm>
              <a:off x="2764568" y="1626519"/>
              <a:ext cx="1448173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직무별 역할 정의 구축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6F601466-DE59-E4A2-D856-93D762F2DF34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F006B6A-D9C5-CC5B-A936-AB41947C3CB6}"/>
              </a:ext>
            </a:extLst>
          </p:cNvPr>
          <p:cNvSpPr/>
          <p:nvPr/>
        </p:nvSpPr>
        <p:spPr>
          <a:xfrm>
            <a:off x="1302743" y="2071552"/>
            <a:ext cx="3505796" cy="297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경영전략기획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C7CA08-F76F-0098-8EA7-7D8F122DA16C}"/>
              </a:ext>
            </a:extLst>
          </p:cNvPr>
          <p:cNvSpPr/>
          <p:nvPr/>
        </p:nvSpPr>
        <p:spPr>
          <a:xfrm>
            <a:off x="723952" y="2472243"/>
            <a:ext cx="52437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A1F2C3-E7C1-6E0B-6D04-8B0E30406683}"/>
              </a:ext>
            </a:extLst>
          </p:cNvPr>
          <p:cNvSpPr/>
          <p:nvPr/>
        </p:nvSpPr>
        <p:spPr>
          <a:xfrm>
            <a:off x="273051" y="2472243"/>
            <a:ext cx="375628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직급</a:t>
            </a:r>
            <a:endParaRPr lang="en-US" altLang="ko-KR" sz="800">
              <a:latin typeface="+mj-ea"/>
              <a:ea typeface="+mj-ea"/>
            </a:endParaRPr>
          </a:p>
          <a:p>
            <a:pPr algn="ctr" latinLnBrk="0"/>
            <a:r>
              <a:rPr lang="en-US" altLang="ko-KR" sz="400">
                <a:latin typeface="+mj-ea"/>
                <a:ea typeface="+mj-ea"/>
              </a:rPr>
              <a:t>(</a:t>
            </a:r>
            <a:r>
              <a:rPr lang="ko-KR" altLang="en-US" sz="400">
                <a:latin typeface="+mj-ea"/>
                <a:ea typeface="+mj-ea"/>
              </a:rPr>
              <a:t>역할 </a:t>
            </a:r>
            <a:r>
              <a:rPr lang="ko-KR" altLang="en-US" sz="400" dirty="0">
                <a:latin typeface="+mj-ea"/>
                <a:ea typeface="+mj-ea"/>
              </a:rPr>
              <a:t>등급</a:t>
            </a:r>
            <a:r>
              <a:rPr lang="en-US" altLang="ko-KR" sz="400">
                <a:latin typeface="+mj-ea"/>
                <a:ea typeface="+mj-ea"/>
              </a:rPr>
              <a:t>)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5005127-D8D7-1F2A-A13F-1C1C79641C2C}"/>
              </a:ext>
            </a:extLst>
          </p:cNvPr>
          <p:cNvSpPr/>
          <p:nvPr/>
        </p:nvSpPr>
        <p:spPr>
          <a:xfrm>
            <a:off x="1302742" y="2472243"/>
            <a:ext cx="350579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dirty="0">
                <a:latin typeface="+mj-ea"/>
                <a:ea typeface="+mj-ea"/>
              </a:rPr>
              <a:t>역할 등급 정의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710C3F8-21AE-DE21-C7A1-C5120694CD33}"/>
              </a:ext>
            </a:extLst>
          </p:cNvPr>
          <p:cNvSpPr/>
          <p:nvPr/>
        </p:nvSpPr>
        <p:spPr>
          <a:xfrm>
            <a:off x="723952" y="2846645"/>
            <a:ext cx="52437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사업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조직 </a:t>
            </a:r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38FEAD-EBF3-9161-75E8-B57B95DE3463}"/>
              </a:ext>
            </a:extLst>
          </p:cNvPr>
          <p:cNvSpPr/>
          <p:nvPr/>
        </p:nvSpPr>
        <p:spPr>
          <a:xfrm>
            <a:off x="273051" y="2843804"/>
            <a:ext cx="375628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G6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67F192-DFA4-0C96-443D-194EB1C3E82B}"/>
              </a:ext>
            </a:extLst>
          </p:cNvPr>
          <p:cNvSpPr/>
          <p:nvPr/>
        </p:nvSpPr>
        <p:spPr>
          <a:xfrm>
            <a:off x="1302743" y="2843804"/>
            <a:ext cx="350579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경영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인사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재무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마케팅 등 핵심 기능을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통합 관리하고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전사 의사결정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대외 협력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리스크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관리를 주도함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A9CF1F6-F91D-6A41-4D18-73EE41F3CD3F}"/>
              </a:ext>
            </a:extLst>
          </p:cNvPr>
          <p:cNvSpPr/>
          <p:nvPr/>
        </p:nvSpPr>
        <p:spPr>
          <a:xfrm>
            <a:off x="723952" y="3864481"/>
            <a:ext cx="52437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</a:rPr>
              <a:t>실무</a:t>
            </a:r>
            <a:endParaRPr lang="en-US" altLang="ko-KR" sz="700">
              <a:solidFill>
                <a:schemeClr val="tx1"/>
              </a:solidFill>
              <a:latin typeface="+mj-ea"/>
            </a:endParaRPr>
          </a:p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</a:rPr>
              <a:t>스페셜리스트</a:t>
            </a:r>
            <a:endParaRPr lang="ko-KR" altLang="en-US" sz="7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A27A513-0D1A-27E7-6018-3CEFBE012650}"/>
              </a:ext>
            </a:extLst>
          </p:cNvPr>
          <p:cNvSpPr/>
          <p:nvPr/>
        </p:nvSpPr>
        <p:spPr>
          <a:xfrm>
            <a:off x="273051" y="3864481"/>
            <a:ext cx="375628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G5-S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A269E93-BB5F-CB55-5FD9-605E6DE209C4}"/>
              </a:ext>
            </a:extLst>
          </p:cNvPr>
          <p:cNvSpPr/>
          <p:nvPr/>
        </p:nvSpPr>
        <p:spPr>
          <a:xfrm>
            <a:off x="1302743" y="3864481"/>
            <a:ext cx="350579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전략기획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인사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재무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마케팅 등 각 분야에서 전문적 분석 및 고난이도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과제 수행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F89B6F0-66DF-F06A-4C06-05187C22FC06}"/>
              </a:ext>
            </a:extLst>
          </p:cNvPr>
          <p:cNvSpPr/>
          <p:nvPr/>
        </p:nvSpPr>
        <p:spPr>
          <a:xfrm>
            <a:off x="723952" y="4809029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핵심 실무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C5679F2-AB11-7C76-E42B-5DFE0846C0B0}"/>
              </a:ext>
            </a:extLst>
          </p:cNvPr>
          <p:cNvSpPr/>
          <p:nvPr/>
        </p:nvSpPr>
        <p:spPr>
          <a:xfrm>
            <a:off x="273051" y="4809029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G3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E6FA294-79E9-D1C1-CEB6-AEE4870B59BB}"/>
              </a:ext>
            </a:extLst>
          </p:cNvPr>
          <p:cNvSpPr/>
          <p:nvPr/>
        </p:nvSpPr>
        <p:spPr>
          <a:xfrm>
            <a:off x="1302743" y="4809029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전문 지식과 기술을 활용하여 핵심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과제 기획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수행 및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성과물을 도출함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272AC66-05C3-F8E0-BF1F-CA68D39EDC51}"/>
              </a:ext>
            </a:extLst>
          </p:cNvPr>
          <p:cNvSpPr/>
          <p:nvPr/>
        </p:nvSpPr>
        <p:spPr>
          <a:xfrm>
            <a:off x="723952" y="3392208"/>
            <a:ext cx="52437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직무 관리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부서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54590D4-6184-094B-6926-5D73C9AA3987}"/>
              </a:ext>
            </a:extLst>
          </p:cNvPr>
          <p:cNvSpPr/>
          <p:nvPr/>
        </p:nvSpPr>
        <p:spPr>
          <a:xfrm>
            <a:off x="273051" y="3392208"/>
            <a:ext cx="375628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</a:rPr>
              <a:t>G5-M</a:t>
            </a:r>
            <a:endParaRPr lang="ko-KR" altLang="en-US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71EE52F-9CA1-20E4-A309-8C357E88FA8D}"/>
              </a:ext>
            </a:extLst>
          </p:cNvPr>
          <p:cNvSpPr/>
          <p:nvPr/>
        </p:nvSpPr>
        <p:spPr>
          <a:xfrm>
            <a:off x="1302743" y="3392208"/>
            <a:ext cx="350579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자원 배분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예산 관리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성과 관리를 통해 조직 성과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달성을 책임지고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부서 내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의사결정을 주도함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4C56656-EFED-41BB-C5E1-5D3749EF9328}"/>
              </a:ext>
            </a:extLst>
          </p:cNvPr>
          <p:cNvSpPr/>
          <p:nvPr/>
        </p:nvSpPr>
        <p:spPr>
          <a:xfrm>
            <a:off x="723952" y="5753578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 보조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6451B47-4744-D757-2ADB-468131FB6776}"/>
              </a:ext>
            </a:extLst>
          </p:cNvPr>
          <p:cNvSpPr/>
          <p:nvPr/>
        </p:nvSpPr>
        <p:spPr>
          <a:xfrm>
            <a:off x="273051" y="5753578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G1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A1D207C-8AC7-5745-8556-A87626DCB92F}"/>
              </a:ext>
            </a:extLst>
          </p:cNvPr>
          <p:cNvSpPr/>
          <p:nvPr/>
        </p:nvSpPr>
        <p:spPr>
          <a:xfrm>
            <a:off x="1302743" y="5753578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실무 수행에 필요한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기초 지식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기술 습득 및 단순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과업 수행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2FB84DB-7315-3B18-056C-1C17FF065439}"/>
              </a:ext>
            </a:extLst>
          </p:cNvPr>
          <p:cNvSpPr/>
          <p:nvPr/>
        </p:nvSpPr>
        <p:spPr>
          <a:xfrm>
            <a:off x="723952" y="5281302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7D06934-ECA8-E576-D48D-6829F29C9A4E}"/>
              </a:ext>
            </a:extLst>
          </p:cNvPr>
          <p:cNvSpPr/>
          <p:nvPr/>
        </p:nvSpPr>
        <p:spPr>
          <a:xfrm>
            <a:off x="273051" y="5281302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G2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43EE718-C281-FB41-C7C8-F3C73FF1FE0E}"/>
              </a:ext>
            </a:extLst>
          </p:cNvPr>
          <p:cNvSpPr/>
          <p:nvPr/>
        </p:nvSpPr>
        <p:spPr>
          <a:xfrm>
            <a:off x="1302743" y="5281302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프로젝트 계획에 따라 세부 과업을 독립적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자율적으로 수행하고 결과물을 도출함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879F021-BB60-6BB1-59E2-A27FE94142C3}"/>
              </a:ext>
            </a:extLst>
          </p:cNvPr>
          <p:cNvSpPr/>
          <p:nvPr/>
        </p:nvSpPr>
        <p:spPr>
          <a:xfrm>
            <a:off x="723952" y="4336754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실무 책임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(PM)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B0A4606-8049-8D30-BA58-646FCC7D2EB5}"/>
              </a:ext>
            </a:extLst>
          </p:cNvPr>
          <p:cNvSpPr/>
          <p:nvPr/>
        </p:nvSpPr>
        <p:spPr>
          <a:xfrm>
            <a:off x="273051" y="4336754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G4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82EB956-93D4-24D4-89A3-248DCC00CB26}"/>
              </a:ext>
            </a:extLst>
          </p:cNvPr>
          <p:cNvSpPr/>
          <p:nvPr/>
        </p:nvSpPr>
        <p:spPr>
          <a:xfrm>
            <a:off x="1302743" y="4336754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단위 프로젝트 또는 핵심 과제의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전략 수립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추진을 주도하며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일정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예산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품질을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종합적으로 관리함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FD1F3D5-9DD3-7945-F113-FB8E775C4563}"/>
              </a:ext>
            </a:extLst>
          </p:cNvPr>
          <p:cNvSpPr/>
          <p:nvPr/>
        </p:nvSpPr>
        <p:spPr>
          <a:xfrm>
            <a:off x="273050" y="2062872"/>
            <a:ext cx="975277" cy="306614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직무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3B268B7-68CC-D8B2-2C69-E910ED00BD21}"/>
              </a:ext>
            </a:extLst>
          </p:cNvPr>
          <p:cNvSpPr/>
          <p:nvPr/>
        </p:nvSpPr>
        <p:spPr>
          <a:xfrm>
            <a:off x="6127154" y="2071552"/>
            <a:ext cx="3505796" cy="297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프로젝트영업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03617E2-AC80-ACDF-AC6B-4A3BF9E00350}"/>
              </a:ext>
            </a:extLst>
          </p:cNvPr>
          <p:cNvSpPr/>
          <p:nvPr/>
        </p:nvSpPr>
        <p:spPr>
          <a:xfrm>
            <a:off x="5548363" y="2472243"/>
            <a:ext cx="52437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D36255D-2462-9D1C-5763-E6CC76B62707}"/>
              </a:ext>
            </a:extLst>
          </p:cNvPr>
          <p:cNvSpPr/>
          <p:nvPr/>
        </p:nvSpPr>
        <p:spPr>
          <a:xfrm>
            <a:off x="5097462" y="2472243"/>
            <a:ext cx="375628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직급</a:t>
            </a:r>
            <a:endParaRPr lang="en-US" altLang="ko-KR" sz="800">
              <a:latin typeface="+mj-ea"/>
              <a:ea typeface="+mj-ea"/>
            </a:endParaRPr>
          </a:p>
          <a:p>
            <a:pPr algn="ctr" latinLnBrk="0"/>
            <a:r>
              <a:rPr lang="en-US" altLang="ko-KR" sz="400">
                <a:latin typeface="+mj-ea"/>
                <a:ea typeface="+mj-ea"/>
              </a:rPr>
              <a:t>(</a:t>
            </a:r>
            <a:r>
              <a:rPr lang="ko-KR" altLang="en-US" sz="400">
                <a:latin typeface="+mj-ea"/>
                <a:ea typeface="+mj-ea"/>
              </a:rPr>
              <a:t>역할 </a:t>
            </a:r>
            <a:r>
              <a:rPr lang="ko-KR" altLang="en-US" sz="400" dirty="0">
                <a:latin typeface="+mj-ea"/>
                <a:ea typeface="+mj-ea"/>
              </a:rPr>
              <a:t>등급</a:t>
            </a:r>
            <a:r>
              <a:rPr lang="en-US" altLang="ko-KR" sz="400">
                <a:latin typeface="+mj-ea"/>
                <a:ea typeface="+mj-ea"/>
              </a:rPr>
              <a:t>)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27CEC6A-1ED8-6FC9-62B1-B10DEED6C3BE}"/>
              </a:ext>
            </a:extLst>
          </p:cNvPr>
          <p:cNvSpPr/>
          <p:nvPr/>
        </p:nvSpPr>
        <p:spPr>
          <a:xfrm>
            <a:off x="6127153" y="2472243"/>
            <a:ext cx="350579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dirty="0">
                <a:latin typeface="+mj-ea"/>
                <a:ea typeface="+mj-ea"/>
              </a:rPr>
              <a:t>역할 등급 정의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DE6FA250-2775-8491-43BF-E44F8D3C8C48}"/>
              </a:ext>
            </a:extLst>
          </p:cNvPr>
          <p:cNvSpPr/>
          <p:nvPr/>
        </p:nvSpPr>
        <p:spPr>
          <a:xfrm>
            <a:off x="5548363" y="2846645"/>
            <a:ext cx="52437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사업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조직 </a:t>
            </a:r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관리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E59CF39-559D-163D-ECFE-F1D295238230}"/>
              </a:ext>
            </a:extLst>
          </p:cNvPr>
          <p:cNvSpPr/>
          <p:nvPr/>
        </p:nvSpPr>
        <p:spPr>
          <a:xfrm>
            <a:off x="5097462" y="2843804"/>
            <a:ext cx="375628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G6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EA281CF0-54E1-5DD6-58E9-C667FD3013D4}"/>
              </a:ext>
            </a:extLst>
          </p:cNvPr>
          <p:cNvSpPr/>
          <p:nvPr/>
        </p:nvSpPr>
        <p:spPr>
          <a:xfrm>
            <a:off x="6127154" y="2843804"/>
            <a:ext cx="350579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회사의 영업전략 수립과 목표 달성을 총괄하며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주요 고객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파트너십 관리 및 사업 기회를 확대하는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8D0960D6-2A4E-A104-AB9A-953A804C98A1}"/>
              </a:ext>
            </a:extLst>
          </p:cNvPr>
          <p:cNvSpPr/>
          <p:nvPr/>
        </p:nvSpPr>
        <p:spPr>
          <a:xfrm>
            <a:off x="5548363" y="3864481"/>
            <a:ext cx="52437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</a:rPr>
              <a:t>실무</a:t>
            </a:r>
            <a:endParaRPr lang="en-US" altLang="ko-KR" sz="700">
              <a:solidFill>
                <a:schemeClr val="tx1"/>
              </a:solidFill>
              <a:latin typeface="+mj-ea"/>
            </a:endParaRPr>
          </a:p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</a:rPr>
              <a:t>스페셜리스트</a:t>
            </a:r>
            <a:endParaRPr lang="ko-KR" altLang="en-US" sz="7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1CC99450-7026-57D0-5E61-870B3CD786EA}"/>
              </a:ext>
            </a:extLst>
          </p:cNvPr>
          <p:cNvSpPr/>
          <p:nvPr/>
        </p:nvSpPr>
        <p:spPr>
          <a:xfrm>
            <a:off x="5097462" y="3864481"/>
            <a:ext cx="375628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G5-S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A416A923-C585-1138-8769-856DF261D02C}"/>
              </a:ext>
            </a:extLst>
          </p:cNvPr>
          <p:cNvSpPr/>
          <p:nvPr/>
        </p:nvSpPr>
        <p:spPr>
          <a:xfrm>
            <a:off x="6127154" y="3864481"/>
            <a:ext cx="350579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전문 영업 지식과 경험을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기반으로 대형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복잡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영업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프로젝트를 수행하며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신규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시장 개척 및 고객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관계 강화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7A5BD711-A601-393C-8E6D-743FEAFE8902}"/>
              </a:ext>
            </a:extLst>
          </p:cNvPr>
          <p:cNvSpPr/>
          <p:nvPr/>
        </p:nvSpPr>
        <p:spPr>
          <a:xfrm>
            <a:off x="5548363" y="4809029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핵심 실무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5450C01E-1016-6D27-AA69-4D8784AEBBFF}"/>
              </a:ext>
            </a:extLst>
          </p:cNvPr>
          <p:cNvSpPr/>
          <p:nvPr/>
        </p:nvSpPr>
        <p:spPr>
          <a:xfrm>
            <a:off x="5097462" y="4809029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G3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7AF48CF1-E8CB-95A8-E4BC-F14DD9C14A2D}"/>
              </a:ext>
            </a:extLst>
          </p:cNvPr>
          <p:cNvSpPr/>
          <p:nvPr/>
        </p:nvSpPr>
        <p:spPr>
          <a:xfrm>
            <a:off x="6127154" y="4809029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핵심 영업 과업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제안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계약 관리 등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을 수행하고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고객 요구 충족 및 프로젝트 진행을 지원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81AA0F05-220B-9837-3A8E-0FC37C152840}"/>
              </a:ext>
            </a:extLst>
          </p:cNvPr>
          <p:cNvSpPr/>
          <p:nvPr/>
        </p:nvSpPr>
        <p:spPr>
          <a:xfrm>
            <a:off x="5548363" y="3392208"/>
            <a:ext cx="52437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직무 관리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부서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B7D0C7AD-D1D3-82DB-6C18-AA226CC0B1DF}"/>
              </a:ext>
            </a:extLst>
          </p:cNvPr>
          <p:cNvSpPr/>
          <p:nvPr/>
        </p:nvSpPr>
        <p:spPr>
          <a:xfrm>
            <a:off x="5097462" y="3392208"/>
            <a:ext cx="375628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</a:rPr>
              <a:t>G5-M</a:t>
            </a:r>
            <a:endParaRPr lang="ko-KR" altLang="en-US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7F0D7E61-A3DB-E889-412F-12F40D86EF64}"/>
              </a:ext>
            </a:extLst>
          </p:cNvPr>
          <p:cNvSpPr/>
          <p:nvPr/>
        </p:nvSpPr>
        <p:spPr>
          <a:xfrm>
            <a:off x="6127154" y="3392208"/>
            <a:ext cx="350579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영업 성과목표 수립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관리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프로젝트 포트폴리오 운영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자원 배분 및 매출 목표 달성 총괄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E7A23AC3-0558-2873-894E-D4108A538833}"/>
              </a:ext>
            </a:extLst>
          </p:cNvPr>
          <p:cNvSpPr/>
          <p:nvPr/>
        </p:nvSpPr>
        <p:spPr>
          <a:xfrm>
            <a:off x="5548363" y="5753578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 보조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4A080F8E-D8A4-A6DC-A123-6C4DEC4BFC4A}"/>
              </a:ext>
            </a:extLst>
          </p:cNvPr>
          <p:cNvSpPr/>
          <p:nvPr/>
        </p:nvSpPr>
        <p:spPr>
          <a:xfrm>
            <a:off x="5097462" y="5753578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G1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CAA177A8-A7E5-F3DD-7C59-11CD14518F84}"/>
              </a:ext>
            </a:extLst>
          </p:cNvPr>
          <p:cNvSpPr/>
          <p:nvPr/>
        </p:nvSpPr>
        <p:spPr>
          <a:xfrm>
            <a:off x="6127154" y="5753578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영업팀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활동 지원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자료 정리 및 기본적 고객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응대 보조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9E033E5A-B0BC-DACE-8500-651DDD4E0ACA}"/>
              </a:ext>
            </a:extLst>
          </p:cNvPr>
          <p:cNvSpPr/>
          <p:nvPr/>
        </p:nvSpPr>
        <p:spPr>
          <a:xfrm>
            <a:off x="5548363" y="5281302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FF2EC2D8-3D2A-1CA4-D08D-6FE4C7CD3CDC}"/>
              </a:ext>
            </a:extLst>
          </p:cNvPr>
          <p:cNvSpPr/>
          <p:nvPr/>
        </p:nvSpPr>
        <p:spPr>
          <a:xfrm>
            <a:off x="5097462" y="5281302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G2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6247CF16-FBB7-18D2-5CA2-626D360DC28D}"/>
              </a:ext>
            </a:extLst>
          </p:cNvPr>
          <p:cNvSpPr/>
          <p:nvPr/>
        </p:nvSpPr>
        <p:spPr>
          <a:xfrm>
            <a:off x="6127154" y="5281302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영업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기회 발굴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제안 자료 작성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고객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커뮤니케이션 지원 등 실무적 영업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활동 담당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95E82CE-54CF-9AAB-F484-87253837A565}"/>
              </a:ext>
            </a:extLst>
          </p:cNvPr>
          <p:cNvSpPr/>
          <p:nvPr/>
        </p:nvSpPr>
        <p:spPr>
          <a:xfrm>
            <a:off x="5548363" y="4336754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실무 책임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(PM)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11A644C-0AEA-4F89-F389-6A2BC8BAF5A6}"/>
              </a:ext>
            </a:extLst>
          </p:cNvPr>
          <p:cNvSpPr/>
          <p:nvPr/>
        </p:nvSpPr>
        <p:spPr>
          <a:xfrm>
            <a:off x="5097462" y="4336754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G4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9F2FF0B3-DF96-D535-6A71-D981F44B4BA2}"/>
              </a:ext>
            </a:extLst>
          </p:cNvPr>
          <p:cNvSpPr/>
          <p:nvPr/>
        </p:nvSpPr>
        <p:spPr>
          <a:xfrm>
            <a:off x="6127154" y="4336754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프로젝트 영업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활동을 주도하며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매출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수익성 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목표 달성과 주요 고객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관리 책임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968AE06-D752-754E-0E1C-C544FAD32B59}"/>
              </a:ext>
            </a:extLst>
          </p:cNvPr>
          <p:cNvSpPr/>
          <p:nvPr/>
        </p:nvSpPr>
        <p:spPr>
          <a:xfrm>
            <a:off x="5097461" y="2062872"/>
            <a:ext cx="975277" cy="306614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직무</a:t>
            </a:r>
            <a:endParaRPr lang="en-US" altLang="ko-KR" sz="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448296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61BB6-0977-88A5-6E26-727AB18B4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36C4CD3-7F6F-1B81-336F-EE53AC979F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</a:t>
            </a:r>
            <a:r>
              <a:rPr lang="ko-KR" altLang="en-US" dirty="0"/>
              <a:t> 전사 역할 등급 체계를 기반으로</a:t>
            </a:r>
            <a:r>
              <a:rPr lang="en-US" altLang="ko-KR" dirty="0"/>
              <a:t>, </a:t>
            </a:r>
            <a:r>
              <a:rPr lang="ko-KR" altLang="en-US" dirty="0"/>
              <a:t>직무별 특성을 반영하여 각 등급별 역할과 책임을 명확히 정의하였음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357B5F5-72FD-57FD-DF55-735B47F3A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atinLnBrk="0"/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256AF3-6BDF-80C1-5321-C3370534E3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역할체계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0FCD661-3D33-A79E-332C-C553EF2CB4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atinLnBrk="0"/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EF4CC532-2AB9-35B3-11C9-77126960C908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FE8B4C08-BAA8-0CF5-7BFB-D306C80C1C10}"/>
                </a:ext>
              </a:extLst>
            </p:cNvPr>
            <p:cNvSpPr/>
            <p:nvPr userDrawn="1"/>
          </p:nvSpPr>
          <p:spPr>
            <a:xfrm>
              <a:off x="2764562" y="1626519"/>
              <a:ext cx="1448173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 latinLnBrk="0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직무별 역할 정의 구축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4F18DAF7-1C98-DD2C-C43C-BBB7B745416D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2A3AE87-E25C-FE9E-DC4C-E6E392098997}"/>
              </a:ext>
            </a:extLst>
          </p:cNvPr>
          <p:cNvSpPr/>
          <p:nvPr/>
        </p:nvSpPr>
        <p:spPr>
          <a:xfrm>
            <a:off x="1302743" y="2071552"/>
            <a:ext cx="3505796" cy="297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SW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판매영업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215EE1-3F73-DD52-B3B4-476D9F04BC17}"/>
              </a:ext>
            </a:extLst>
          </p:cNvPr>
          <p:cNvSpPr/>
          <p:nvPr/>
        </p:nvSpPr>
        <p:spPr>
          <a:xfrm>
            <a:off x="723952" y="2472243"/>
            <a:ext cx="52437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E5E9D3-3927-D624-D88E-2961E1AB0D1C}"/>
              </a:ext>
            </a:extLst>
          </p:cNvPr>
          <p:cNvSpPr/>
          <p:nvPr/>
        </p:nvSpPr>
        <p:spPr>
          <a:xfrm>
            <a:off x="273051" y="2472243"/>
            <a:ext cx="375628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직급</a:t>
            </a:r>
            <a:endParaRPr lang="en-US" altLang="ko-KR" sz="800">
              <a:latin typeface="+mj-ea"/>
              <a:ea typeface="+mj-ea"/>
            </a:endParaRPr>
          </a:p>
          <a:p>
            <a:pPr algn="ctr" latinLnBrk="0"/>
            <a:r>
              <a:rPr lang="en-US" altLang="ko-KR" sz="400">
                <a:latin typeface="+mj-ea"/>
                <a:ea typeface="+mj-ea"/>
              </a:rPr>
              <a:t>(</a:t>
            </a:r>
            <a:r>
              <a:rPr lang="ko-KR" altLang="en-US" sz="400">
                <a:latin typeface="+mj-ea"/>
                <a:ea typeface="+mj-ea"/>
              </a:rPr>
              <a:t>역할 </a:t>
            </a:r>
            <a:r>
              <a:rPr lang="ko-KR" altLang="en-US" sz="400" dirty="0">
                <a:latin typeface="+mj-ea"/>
                <a:ea typeface="+mj-ea"/>
              </a:rPr>
              <a:t>등급</a:t>
            </a:r>
            <a:r>
              <a:rPr lang="en-US" altLang="ko-KR" sz="400">
                <a:latin typeface="+mj-ea"/>
                <a:ea typeface="+mj-ea"/>
              </a:rPr>
              <a:t>)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71FD755-19A1-891D-B133-E0FB6D84ACE4}"/>
              </a:ext>
            </a:extLst>
          </p:cNvPr>
          <p:cNvSpPr/>
          <p:nvPr/>
        </p:nvSpPr>
        <p:spPr>
          <a:xfrm>
            <a:off x="1302742" y="2472243"/>
            <a:ext cx="350579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dirty="0">
                <a:latin typeface="+mj-ea"/>
                <a:ea typeface="+mj-ea"/>
              </a:rPr>
              <a:t>역할 등급 정의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3FD8154-46E8-EAD7-6462-C28E2D70FE20}"/>
              </a:ext>
            </a:extLst>
          </p:cNvPr>
          <p:cNvSpPr/>
          <p:nvPr/>
        </p:nvSpPr>
        <p:spPr>
          <a:xfrm>
            <a:off x="723952" y="2846645"/>
            <a:ext cx="52437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사업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조직 </a:t>
            </a:r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426A61A-F199-86A8-F968-513FD43AEAEF}"/>
              </a:ext>
            </a:extLst>
          </p:cNvPr>
          <p:cNvSpPr/>
          <p:nvPr/>
        </p:nvSpPr>
        <p:spPr>
          <a:xfrm>
            <a:off x="273051" y="2843804"/>
            <a:ext cx="375628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G6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F472FD7-2CCB-0BD5-8ABB-EA5D332D1D32}"/>
              </a:ext>
            </a:extLst>
          </p:cNvPr>
          <p:cNvSpPr/>
          <p:nvPr/>
        </p:nvSpPr>
        <p:spPr>
          <a:xfrm>
            <a:off x="1302743" y="2843804"/>
            <a:ext cx="350579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회사의 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SW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판매 전략과 영업 목표를 총괄하며 주요 파트너십과 대외 협력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성과 달성을 책임지는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9374BA-7249-C018-3A9A-49981E303003}"/>
              </a:ext>
            </a:extLst>
          </p:cNvPr>
          <p:cNvSpPr/>
          <p:nvPr/>
        </p:nvSpPr>
        <p:spPr>
          <a:xfrm>
            <a:off x="723952" y="3864481"/>
            <a:ext cx="52437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</a:rPr>
              <a:t>실무</a:t>
            </a:r>
            <a:endParaRPr lang="en-US" altLang="ko-KR" sz="700">
              <a:solidFill>
                <a:schemeClr val="tx1"/>
              </a:solidFill>
              <a:latin typeface="+mj-ea"/>
            </a:endParaRPr>
          </a:p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</a:rPr>
              <a:t>스페셜리스트</a:t>
            </a:r>
            <a:endParaRPr lang="ko-KR" altLang="en-US" sz="7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CEB4D39-6F74-C7D3-941C-3D034E3090F6}"/>
              </a:ext>
            </a:extLst>
          </p:cNvPr>
          <p:cNvSpPr/>
          <p:nvPr/>
        </p:nvSpPr>
        <p:spPr>
          <a:xfrm>
            <a:off x="273051" y="3864481"/>
            <a:ext cx="375628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G5-S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89EB36F-F5C7-343B-D4EE-A9EAAC89ABDB}"/>
              </a:ext>
            </a:extLst>
          </p:cNvPr>
          <p:cNvSpPr/>
          <p:nvPr/>
        </p:nvSpPr>
        <p:spPr>
          <a:xfrm>
            <a:off x="1302743" y="3864481"/>
            <a:ext cx="350579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주요 고객사 영업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대규모 계약 협상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기술 제안 등 복잡하고 고난이도의 영업 과제를 수행하며 전문성을 발휘하는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D473B9D-65D1-4739-2383-EA91217AD3E1}"/>
              </a:ext>
            </a:extLst>
          </p:cNvPr>
          <p:cNvSpPr/>
          <p:nvPr/>
        </p:nvSpPr>
        <p:spPr>
          <a:xfrm>
            <a:off x="723952" y="4809029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핵심 실무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85A73E7-B1F2-3D3B-7BFE-38B2408FBE88}"/>
              </a:ext>
            </a:extLst>
          </p:cNvPr>
          <p:cNvSpPr/>
          <p:nvPr/>
        </p:nvSpPr>
        <p:spPr>
          <a:xfrm>
            <a:off x="273051" y="4809029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G3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824B202-DAEE-AB9C-DCFF-07F1C6A11F3D}"/>
              </a:ext>
            </a:extLst>
          </p:cNvPr>
          <p:cNvSpPr/>
          <p:nvPr/>
        </p:nvSpPr>
        <p:spPr>
          <a:xfrm>
            <a:off x="1302743" y="4809029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고객 발굴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관계 관리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제안서 작성 등 핵심 영업 활동을 수행하고 매출 목표 달성에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기여하는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F876BBC-44FF-FC11-C48A-15A0B360DA2E}"/>
              </a:ext>
            </a:extLst>
          </p:cNvPr>
          <p:cNvSpPr/>
          <p:nvPr/>
        </p:nvSpPr>
        <p:spPr>
          <a:xfrm>
            <a:off x="723952" y="3392208"/>
            <a:ext cx="52437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직무 관리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부서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839CF6D-4FC6-2BC9-6264-9ACDCD61F1B3}"/>
              </a:ext>
            </a:extLst>
          </p:cNvPr>
          <p:cNvSpPr/>
          <p:nvPr/>
        </p:nvSpPr>
        <p:spPr>
          <a:xfrm>
            <a:off x="273051" y="3392208"/>
            <a:ext cx="375628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</a:rPr>
              <a:t>G5-M</a:t>
            </a:r>
            <a:endParaRPr lang="ko-KR" altLang="en-US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E87B4E4-7578-9F30-0DAB-15E003DB1D0B}"/>
              </a:ext>
            </a:extLst>
          </p:cNvPr>
          <p:cNvSpPr/>
          <p:nvPr/>
        </p:nvSpPr>
        <p:spPr>
          <a:xfrm>
            <a:off x="1302743" y="3392208"/>
            <a:ext cx="350579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SW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영업팀의 목표를 설정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관리하고 영업 전략 실행을 총괄하며 인력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자원 배분과 성과 달성을 책임지는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5E5FAD8-E310-66AE-CBF4-5BC13DA71B0F}"/>
              </a:ext>
            </a:extLst>
          </p:cNvPr>
          <p:cNvSpPr/>
          <p:nvPr/>
        </p:nvSpPr>
        <p:spPr>
          <a:xfrm>
            <a:off x="723952" y="5753578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 보조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B540346-29BD-1B91-2952-57DCE2E3CED6}"/>
              </a:ext>
            </a:extLst>
          </p:cNvPr>
          <p:cNvSpPr/>
          <p:nvPr/>
        </p:nvSpPr>
        <p:spPr>
          <a:xfrm>
            <a:off x="273051" y="5753578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G1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BD785B6-4870-FF71-C14C-19F064995A4D}"/>
              </a:ext>
            </a:extLst>
          </p:cNvPr>
          <p:cNvSpPr/>
          <p:nvPr/>
        </p:nvSpPr>
        <p:spPr>
          <a:xfrm>
            <a:off x="1302743" y="5753578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영업 활동에 필요한 기초 업무를 보조하며 고객 응대 및 기본적 문서 작업을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수행하는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4FAFDBB-68C6-AE30-E87B-C235AF7C71D5}"/>
              </a:ext>
            </a:extLst>
          </p:cNvPr>
          <p:cNvSpPr/>
          <p:nvPr/>
        </p:nvSpPr>
        <p:spPr>
          <a:xfrm>
            <a:off x="723952" y="5281302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1245790-B08F-FD24-4014-DF1E00C674CC}"/>
              </a:ext>
            </a:extLst>
          </p:cNvPr>
          <p:cNvSpPr/>
          <p:nvPr/>
        </p:nvSpPr>
        <p:spPr>
          <a:xfrm>
            <a:off x="273051" y="5281302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G2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4BFDCCC-9FFF-7081-CBD6-0103AC3DB61B}"/>
              </a:ext>
            </a:extLst>
          </p:cNvPr>
          <p:cNvSpPr/>
          <p:nvPr/>
        </p:nvSpPr>
        <p:spPr>
          <a:xfrm>
            <a:off x="1302743" y="5281302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정해진 절차에 따라 영업 활동을 지원하며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고객 관리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계약 진행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자료 준비 등을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담당하는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630D5DA-B8D7-DDD6-ACFE-77AF8FE34D40}"/>
              </a:ext>
            </a:extLst>
          </p:cNvPr>
          <p:cNvSpPr/>
          <p:nvPr/>
        </p:nvSpPr>
        <p:spPr>
          <a:xfrm>
            <a:off x="723952" y="4336754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실무 책임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(PM)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A5C3841-ED8E-C66B-666E-D2C9CC572074}"/>
              </a:ext>
            </a:extLst>
          </p:cNvPr>
          <p:cNvSpPr/>
          <p:nvPr/>
        </p:nvSpPr>
        <p:spPr>
          <a:xfrm>
            <a:off x="273051" y="4336754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G4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FF16BFE-4457-2569-317B-DA788B847D09}"/>
              </a:ext>
            </a:extLst>
          </p:cNvPr>
          <p:cNvSpPr/>
          <p:nvPr/>
        </p:nvSpPr>
        <p:spPr>
          <a:xfrm>
            <a:off x="1302743" y="4336754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영업 프로젝트를 주도적으로 관리하며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매출 성과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고객 대응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계약 체결을 책임지고 성과를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보고하는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8397104-8B5F-7036-08E3-FA9AC5D6825C}"/>
              </a:ext>
            </a:extLst>
          </p:cNvPr>
          <p:cNvSpPr/>
          <p:nvPr/>
        </p:nvSpPr>
        <p:spPr>
          <a:xfrm>
            <a:off x="273050" y="2062872"/>
            <a:ext cx="975277" cy="306614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직무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D71FC45-F6AE-F012-B425-C4573CE16AFA}"/>
              </a:ext>
            </a:extLst>
          </p:cNvPr>
          <p:cNvSpPr/>
          <p:nvPr/>
        </p:nvSpPr>
        <p:spPr>
          <a:xfrm>
            <a:off x="6127154" y="2071552"/>
            <a:ext cx="3505796" cy="297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BIM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컨설팅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FA16C96-BDD7-F790-62E2-0D17F5E65F6B}"/>
              </a:ext>
            </a:extLst>
          </p:cNvPr>
          <p:cNvSpPr/>
          <p:nvPr/>
        </p:nvSpPr>
        <p:spPr>
          <a:xfrm>
            <a:off x="5548363" y="2472243"/>
            <a:ext cx="52437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06A164A-64EE-80B3-43B0-386B59AA23BF}"/>
              </a:ext>
            </a:extLst>
          </p:cNvPr>
          <p:cNvSpPr/>
          <p:nvPr/>
        </p:nvSpPr>
        <p:spPr>
          <a:xfrm>
            <a:off x="5097462" y="2472243"/>
            <a:ext cx="375628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직급</a:t>
            </a:r>
            <a:endParaRPr lang="en-US" altLang="ko-KR" sz="800">
              <a:latin typeface="+mj-ea"/>
              <a:ea typeface="+mj-ea"/>
            </a:endParaRPr>
          </a:p>
          <a:p>
            <a:pPr algn="ctr" latinLnBrk="0"/>
            <a:r>
              <a:rPr lang="en-US" altLang="ko-KR" sz="400">
                <a:latin typeface="+mj-ea"/>
                <a:ea typeface="+mj-ea"/>
              </a:rPr>
              <a:t>(</a:t>
            </a:r>
            <a:r>
              <a:rPr lang="ko-KR" altLang="en-US" sz="400">
                <a:latin typeface="+mj-ea"/>
                <a:ea typeface="+mj-ea"/>
              </a:rPr>
              <a:t>역할 </a:t>
            </a:r>
            <a:r>
              <a:rPr lang="ko-KR" altLang="en-US" sz="400" dirty="0">
                <a:latin typeface="+mj-ea"/>
                <a:ea typeface="+mj-ea"/>
              </a:rPr>
              <a:t>등급</a:t>
            </a:r>
            <a:r>
              <a:rPr lang="en-US" altLang="ko-KR" sz="400">
                <a:latin typeface="+mj-ea"/>
                <a:ea typeface="+mj-ea"/>
              </a:rPr>
              <a:t>)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D45A60B-3B29-2632-3139-C53F625083F7}"/>
              </a:ext>
            </a:extLst>
          </p:cNvPr>
          <p:cNvSpPr/>
          <p:nvPr/>
        </p:nvSpPr>
        <p:spPr>
          <a:xfrm>
            <a:off x="6127153" y="2472243"/>
            <a:ext cx="350579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dirty="0">
                <a:latin typeface="+mj-ea"/>
                <a:ea typeface="+mj-ea"/>
              </a:rPr>
              <a:t>역할 등급 정의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C1E4302-CE4F-B3FC-D462-77FF69CF7344}"/>
              </a:ext>
            </a:extLst>
          </p:cNvPr>
          <p:cNvSpPr/>
          <p:nvPr/>
        </p:nvSpPr>
        <p:spPr>
          <a:xfrm>
            <a:off x="5548363" y="2846645"/>
            <a:ext cx="52437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사업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조직 </a:t>
            </a:r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관리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96BAB24-37AE-13CB-4489-42E0332ADD08}"/>
              </a:ext>
            </a:extLst>
          </p:cNvPr>
          <p:cNvSpPr/>
          <p:nvPr/>
        </p:nvSpPr>
        <p:spPr>
          <a:xfrm>
            <a:off x="5097462" y="2843804"/>
            <a:ext cx="375628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G6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76A57873-0D35-D4D7-954A-ACB425570AA6}"/>
              </a:ext>
            </a:extLst>
          </p:cNvPr>
          <p:cNvSpPr/>
          <p:nvPr/>
        </p:nvSpPr>
        <p:spPr>
          <a:xfrm>
            <a:off x="6127154" y="2843804"/>
            <a:ext cx="350579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BIM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컨설팅 전략과 서비스 체계를 총괄하며 대외 협력과 사업 확장을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책임지는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61D84376-262A-D51C-295A-2F1D30E491B9}"/>
              </a:ext>
            </a:extLst>
          </p:cNvPr>
          <p:cNvSpPr/>
          <p:nvPr/>
        </p:nvSpPr>
        <p:spPr>
          <a:xfrm>
            <a:off x="5548363" y="3864481"/>
            <a:ext cx="52437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</a:rPr>
              <a:t>실무</a:t>
            </a:r>
            <a:endParaRPr lang="en-US" altLang="ko-KR" sz="700">
              <a:solidFill>
                <a:schemeClr val="tx1"/>
              </a:solidFill>
              <a:latin typeface="+mj-ea"/>
            </a:endParaRPr>
          </a:p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</a:rPr>
              <a:t>스페셜리스트</a:t>
            </a:r>
            <a:endParaRPr lang="ko-KR" altLang="en-US" sz="7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8B0C76A8-4533-B132-3DB9-9EEC6EC4F9B5}"/>
              </a:ext>
            </a:extLst>
          </p:cNvPr>
          <p:cNvSpPr/>
          <p:nvPr/>
        </p:nvSpPr>
        <p:spPr>
          <a:xfrm>
            <a:off x="5097462" y="3864481"/>
            <a:ext cx="375628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G5-S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CD735ADE-2397-1FF8-A2A3-72DD283BDE0C}"/>
              </a:ext>
            </a:extLst>
          </p:cNvPr>
          <p:cNvSpPr/>
          <p:nvPr/>
        </p:nvSpPr>
        <p:spPr>
          <a:xfrm>
            <a:off x="6127154" y="3864481"/>
            <a:ext cx="350579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BIM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설계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시뮬레이션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검증 등 고난이도 과제를 전문적으로 수행하며 기술 자산화와 표준화를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주도하는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CEDBAA6A-3AEC-9219-6823-7062994036DA}"/>
              </a:ext>
            </a:extLst>
          </p:cNvPr>
          <p:cNvSpPr/>
          <p:nvPr/>
        </p:nvSpPr>
        <p:spPr>
          <a:xfrm>
            <a:off x="5548363" y="4809029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핵심 실무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E26E33C8-845E-C6CD-0E1A-6DD0C1EF4CF1}"/>
              </a:ext>
            </a:extLst>
          </p:cNvPr>
          <p:cNvSpPr/>
          <p:nvPr/>
        </p:nvSpPr>
        <p:spPr>
          <a:xfrm>
            <a:off x="5097462" y="4809029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G3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841F710-DA24-3F4C-6732-96ADEE4CFD6F}"/>
              </a:ext>
            </a:extLst>
          </p:cNvPr>
          <p:cNvSpPr/>
          <p:nvPr/>
        </p:nvSpPr>
        <p:spPr>
          <a:xfrm>
            <a:off x="6127154" y="4809029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BIM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모델링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구조 검토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시뮬레이션 등 주요 과제를 수행하고 산출물 품질과 납기를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책임지는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0026A7DF-CCE0-8AA9-BF94-B8EF18FDF6DA}"/>
              </a:ext>
            </a:extLst>
          </p:cNvPr>
          <p:cNvSpPr/>
          <p:nvPr/>
        </p:nvSpPr>
        <p:spPr>
          <a:xfrm>
            <a:off x="5548363" y="3392208"/>
            <a:ext cx="52437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직무 관리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부서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16E6F149-1C04-DCE8-CFE9-F26B65456CED}"/>
              </a:ext>
            </a:extLst>
          </p:cNvPr>
          <p:cNvSpPr/>
          <p:nvPr/>
        </p:nvSpPr>
        <p:spPr>
          <a:xfrm>
            <a:off x="5097462" y="3392208"/>
            <a:ext cx="375628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</a:rPr>
              <a:t>G5-M</a:t>
            </a:r>
            <a:endParaRPr lang="ko-KR" altLang="en-US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426DD7CB-9C47-7D07-BC98-B0E42B15189A}"/>
              </a:ext>
            </a:extLst>
          </p:cNvPr>
          <p:cNvSpPr/>
          <p:nvPr/>
        </p:nvSpPr>
        <p:spPr>
          <a:xfrm>
            <a:off x="6127154" y="3392208"/>
            <a:ext cx="350579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BIM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컨설팅 조직의 목표와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방향을 설정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관리하고 프로젝트 포트폴리오 운영 및 성과 달성을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총괄하는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9CE46CD2-F7F0-7F00-96E6-9721521A4D7B}"/>
              </a:ext>
            </a:extLst>
          </p:cNvPr>
          <p:cNvSpPr/>
          <p:nvPr/>
        </p:nvSpPr>
        <p:spPr>
          <a:xfrm>
            <a:off x="5548363" y="5753578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 보조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6A6CD55D-F14A-94DA-7161-CC03E0B6EF95}"/>
              </a:ext>
            </a:extLst>
          </p:cNvPr>
          <p:cNvSpPr/>
          <p:nvPr/>
        </p:nvSpPr>
        <p:spPr>
          <a:xfrm>
            <a:off x="5097462" y="5753578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G1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163A49E8-1C4A-AF81-1D16-0A6C41113C3A}"/>
              </a:ext>
            </a:extLst>
          </p:cNvPr>
          <p:cNvSpPr/>
          <p:nvPr/>
        </p:nvSpPr>
        <p:spPr>
          <a:xfrm>
            <a:off x="6127154" y="5753578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BIM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모델링 기초 작업과 자료 정리를 담당하며 실무 진행을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보조하는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565D3A30-3111-F37C-DDA1-7A843CD55D39}"/>
              </a:ext>
            </a:extLst>
          </p:cNvPr>
          <p:cNvSpPr/>
          <p:nvPr/>
        </p:nvSpPr>
        <p:spPr>
          <a:xfrm>
            <a:off x="5548363" y="5281302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B6591F38-4DD4-2EC7-C63F-24792B8C2F29}"/>
              </a:ext>
            </a:extLst>
          </p:cNvPr>
          <p:cNvSpPr/>
          <p:nvPr/>
        </p:nvSpPr>
        <p:spPr>
          <a:xfrm>
            <a:off x="5097462" y="5281302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G2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1FB87C95-4614-BDD2-AEDB-2BFBD8F4CCB7}"/>
              </a:ext>
            </a:extLst>
          </p:cNvPr>
          <p:cNvSpPr/>
          <p:nvPr/>
        </p:nvSpPr>
        <p:spPr>
          <a:xfrm>
            <a:off x="6127154" y="5281302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BIM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모델링과 도면 작성 등 세부 실무를 독립적으로 수행하며 프로젝트 품질 확보를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지원하는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8719FF2-6BB1-307B-F216-02B985B1FF9E}"/>
              </a:ext>
            </a:extLst>
          </p:cNvPr>
          <p:cNvSpPr/>
          <p:nvPr/>
        </p:nvSpPr>
        <p:spPr>
          <a:xfrm>
            <a:off x="5548363" y="4336754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실무 책임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(PM)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7FCCCDE-7DF6-274F-ACDB-3782DC95F467}"/>
              </a:ext>
            </a:extLst>
          </p:cNvPr>
          <p:cNvSpPr/>
          <p:nvPr/>
        </p:nvSpPr>
        <p:spPr>
          <a:xfrm>
            <a:off x="5097462" y="4336754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G4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A774474F-2B5F-3F9E-0F77-678E7A00065D}"/>
              </a:ext>
            </a:extLst>
          </p:cNvPr>
          <p:cNvSpPr/>
          <p:nvPr/>
        </p:nvSpPr>
        <p:spPr>
          <a:xfrm>
            <a:off x="6127154" y="4336754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BIM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프로젝트를 기획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운영하며 일정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품질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비용 관리와 산출물 보고를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책임지는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3B38B5B-C02D-8053-0F62-59FA721C1780}"/>
              </a:ext>
            </a:extLst>
          </p:cNvPr>
          <p:cNvSpPr/>
          <p:nvPr/>
        </p:nvSpPr>
        <p:spPr>
          <a:xfrm>
            <a:off x="5097461" y="2062872"/>
            <a:ext cx="975277" cy="306614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직무</a:t>
            </a:r>
            <a:endParaRPr lang="en-US" altLang="ko-KR" sz="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055585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9C853-992E-48C8-A07E-0F13AC95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8F93C07-5DB5-6212-6060-272A34F092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</a:t>
            </a:r>
            <a:r>
              <a:rPr lang="ko-KR" altLang="en-US" dirty="0"/>
              <a:t> 전사 역할 등급 체계를 기반으로</a:t>
            </a:r>
            <a:r>
              <a:rPr lang="en-US" altLang="ko-KR" dirty="0"/>
              <a:t>, </a:t>
            </a:r>
            <a:r>
              <a:rPr lang="ko-KR" altLang="en-US" dirty="0"/>
              <a:t>직무별 특성을 반영하여 각 등급별 역할과 책임을 명확히 정의하였음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B1D6763-921E-DD83-EBC6-AC33F8F21C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atinLnBrk="0"/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21EE63-A7D8-A7B9-23FA-7B13A0457D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역할체계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B16620-92DB-8360-0103-5578018D35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atinLnBrk="0"/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D0232948-EF46-DB1E-7249-1B8B32549C6F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35F2181B-C7B8-78EE-6803-1837D850CADC}"/>
                </a:ext>
              </a:extLst>
            </p:cNvPr>
            <p:cNvSpPr/>
            <p:nvPr userDrawn="1"/>
          </p:nvSpPr>
          <p:spPr>
            <a:xfrm>
              <a:off x="2764562" y="1626519"/>
              <a:ext cx="1448173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 latinLnBrk="0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직무별 역할 정의 구축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24004FF7-E3F4-DD81-B2F9-19DB00F7CEA8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03722C0-539F-BFBE-A328-E1989617DA3F}"/>
              </a:ext>
            </a:extLst>
          </p:cNvPr>
          <p:cNvSpPr/>
          <p:nvPr/>
        </p:nvSpPr>
        <p:spPr>
          <a:xfrm>
            <a:off x="1302743" y="2071552"/>
            <a:ext cx="3505796" cy="297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교육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FF66CD-3608-BCC7-3B72-018E9F69F54B}"/>
              </a:ext>
            </a:extLst>
          </p:cNvPr>
          <p:cNvSpPr/>
          <p:nvPr/>
        </p:nvSpPr>
        <p:spPr>
          <a:xfrm>
            <a:off x="723952" y="2472243"/>
            <a:ext cx="52437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224887-55A1-C7AE-E6D0-396CE05BE6C1}"/>
              </a:ext>
            </a:extLst>
          </p:cNvPr>
          <p:cNvSpPr/>
          <p:nvPr/>
        </p:nvSpPr>
        <p:spPr>
          <a:xfrm>
            <a:off x="273051" y="2472243"/>
            <a:ext cx="375628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직급</a:t>
            </a:r>
            <a:endParaRPr lang="en-US" altLang="ko-KR" sz="800">
              <a:latin typeface="+mj-ea"/>
              <a:ea typeface="+mj-ea"/>
            </a:endParaRPr>
          </a:p>
          <a:p>
            <a:pPr algn="ctr" latinLnBrk="0"/>
            <a:r>
              <a:rPr lang="en-US" altLang="ko-KR" sz="400">
                <a:latin typeface="+mj-ea"/>
                <a:ea typeface="+mj-ea"/>
              </a:rPr>
              <a:t>(</a:t>
            </a:r>
            <a:r>
              <a:rPr lang="ko-KR" altLang="en-US" sz="400">
                <a:latin typeface="+mj-ea"/>
                <a:ea typeface="+mj-ea"/>
              </a:rPr>
              <a:t>역할 </a:t>
            </a:r>
            <a:r>
              <a:rPr lang="ko-KR" altLang="en-US" sz="400" dirty="0">
                <a:latin typeface="+mj-ea"/>
                <a:ea typeface="+mj-ea"/>
              </a:rPr>
              <a:t>등급</a:t>
            </a:r>
            <a:r>
              <a:rPr lang="en-US" altLang="ko-KR" sz="400">
                <a:latin typeface="+mj-ea"/>
                <a:ea typeface="+mj-ea"/>
              </a:rPr>
              <a:t>)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91F8A7C-9A5A-199D-8724-F39148C1B5CF}"/>
              </a:ext>
            </a:extLst>
          </p:cNvPr>
          <p:cNvSpPr/>
          <p:nvPr/>
        </p:nvSpPr>
        <p:spPr>
          <a:xfrm>
            <a:off x="1302742" y="2472243"/>
            <a:ext cx="350579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dirty="0">
                <a:latin typeface="+mj-ea"/>
                <a:ea typeface="+mj-ea"/>
              </a:rPr>
              <a:t>역할 등급 정의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4701CD6-8E85-9F92-3FFF-CBB9A7FBE4C4}"/>
              </a:ext>
            </a:extLst>
          </p:cNvPr>
          <p:cNvSpPr/>
          <p:nvPr/>
        </p:nvSpPr>
        <p:spPr>
          <a:xfrm>
            <a:off x="723952" y="2846645"/>
            <a:ext cx="52437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사업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조직 </a:t>
            </a:r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3C0A1B4-E941-FA89-3E2C-8F1A576BE04E}"/>
              </a:ext>
            </a:extLst>
          </p:cNvPr>
          <p:cNvSpPr/>
          <p:nvPr/>
        </p:nvSpPr>
        <p:spPr>
          <a:xfrm>
            <a:off x="273051" y="2843804"/>
            <a:ext cx="375628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G6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BC8E7F-0B13-A897-DEB4-7603D4415FF2}"/>
              </a:ext>
            </a:extLst>
          </p:cNvPr>
          <p:cNvSpPr/>
          <p:nvPr/>
        </p:nvSpPr>
        <p:spPr>
          <a:xfrm>
            <a:off x="1302743" y="2843804"/>
            <a:ext cx="350579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회사의 교육 전략과 포트폴리오를 총괄하며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외부 파트너십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자격체계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수익모델을 통해 교육 사업의 확장과 성과를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책임지는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723074F-2E70-2568-65B4-F77D00134F1F}"/>
              </a:ext>
            </a:extLst>
          </p:cNvPr>
          <p:cNvSpPr/>
          <p:nvPr/>
        </p:nvSpPr>
        <p:spPr>
          <a:xfrm>
            <a:off x="723952" y="3864481"/>
            <a:ext cx="52437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</a:rPr>
              <a:t>실무</a:t>
            </a:r>
            <a:endParaRPr lang="en-US" altLang="ko-KR" sz="700">
              <a:solidFill>
                <a:schemeClr val="tx1"/>
              </a:solidFill>
              <a:latin typeface="+mj-ea"/>
            </a:endParaRPr>
          </a:p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</a:rPr>
              <a:t>스페셜리스트</a:t>
            </a:r>
            <a:endParaRPr lang="ko-KR" altLang="en-US" sz="7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4097AE-A658-DDAF-2384-280CD377C863}"/>
              </a:ext>
            </a:extLst>
          </p:cNvPr>
          <p:cNvSpPr/>
          <p:nvPr/>
        </p:nvSpPr>
        <p:spPr>
          <a:xfrm>
            <a:off x="273051" y="3864481"/>
            <a:ext cx="375628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G5-S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240B1E8-0174-36F8-8871-D47D6F88E0F2}"/>
              </a:ext>
            </a:extLst>
          </p:cNvPr>
          <p:cNvSpPr/>
          <p:nvPr/>
        </p:nvSpPr>
        <p:spPr>
          <a:xfrm>
            <a:off x="1302743" y="3864481"/>
            <a:ext cx="350579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고난도 전문과정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예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: BIM/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솔루션 심화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설계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교안 개발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강사 코칭을 수행하고 커리큘럼 표준화와 콘텐츠 자산화를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주도하는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ED1927A-05C3-DCC9-F26C-91C1BCABF1C5}"/>
              </a:ext>
            </a:extLst>
          </p:cNvPr>
          <p:cNvSpPr/>
          <p:nvPr/>
        </p:nvSpPr>
        <p:spPr>
          <a:xfrm>
            <a:off x="723952" y="4809029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핵심 실무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4D141FE-C060-530C-61B1-307639E8153E}"/>
              </a:ext>
            </a:extLst>
          </p:cNvPr>
          <p:cNvSpPr/>
          <p:nvPr/>
        </p:nvSpPr>
        <p:spPr>
          <a:xfrm>
            <a:off x="273051" y="4809029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G3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B083E30-9EEF-27AD-9082-AD2DD7EAE390}"/>
              </a:ext>
            </a:extLst>
          </p:cNvPr>
          <p:cNvSpPr/>
          <p:nvPr/>
        </p:nvSpPr>
        <p:spPr>
          <a:xfrm>
            <a:off x="1302743" y="4809029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주력 과정을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독립적으로 강의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실습 운영하고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교안 개선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평가 채점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학습 성과 피드백을 통해 품질과 만족도를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확보하는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4D57D68-23BA-0856-A892-1FB935472CD0}"/>
              </a:ext>
            </a:extLst>
          </p:cNvPr>
          <p:cNvSpPr/>
          <p:nvPr/>
        </p:nvSpPr>
        <p:spPr>
          <a:xfrm>
            <a:off x="723952" y="3392208"/>
            <a:ext cx="52437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직무 관리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부서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A31533F-3719-C1CB-E0A3-7E37079E32D8}"/>
              </a:ext>
            </a:extLst>
          </p:cNvPr>
          <p:cNvSpPr/>
          <p:nvPr/>
        </p:nvSpPr>
        <p:spPr>
          <a:xfrm>
            <a:off x="273051" y="3392208"/>
            <a:ext cx="375628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</a:rPr>
              <a:t>G5-M</a:t>
            </a:r>
            <a:endParaRPr lang="ko-KR" altLang="en-US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A99DE1A-B13D-0EEE-108D-552F5909808F}"/>
              </a:ext>
            </a:extLst>
          </p:cNvPr>
          <p:cNvSpPr/>
          <p:nvPr/>
        </p:nvSpPr>
        <p:spPr>
          <a:xfrm>
            <a:off x="1302743" y="3392208"/>
            <a:ext cx="350579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교육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조직의 목표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예산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인력을 관리하고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과정 기획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운영 품질을 총괄하며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대외 인증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평가 대응을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주도하는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D2FA5CB-B1F1-8A6E-CC54-2344C8CC00AE}"/>
              </a:ext>
            </a:extLst>
          </p:cNvPr>
          <p:cNvSpPr/>
          <p:nvPr/>
        </p:nvSpPr>
        <p:spPr>
          <a:xfrm>
            <a:off x="723952" y="5753578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 보조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659FF92-9EB0-BF16-DB08-C6DE24DC00E2}"/>
              </a:ext>
            </a:extLst>
          </p:cNvPr>
          <p:cNvSpPr/>
          <p:nvPr/>
        </p:nvSpPr>
        <p:spPr>
          <a:xfrm>
            <a:off x="273051" y="5753578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G1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25B609C-5CCF-169E-D452-9B253C774C8B}"/>
              </a:ext>
            </a:extLst>
          </p:cNvPr>
          <p:cNvSpPr/>
          <p:nvPr/>
        </p:nvSpPr>
        <p:spPr>
          <a:xfrm>
            <a:off x="1302743" y="5753578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교육 운영에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필요한 준비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등록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실습 환경 세팅과 기본 자료 정리 등 기초 업무를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보조하는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10B352C-8CF1-EA06-9BEE-568293826C3A}"/>
              </a:ext>
            </a:extLst>
          </p:cNvPr>
          <p:cNvSpPr/>
          <p:nvPr/>
        </p:nvSpPr>
        <p:spPr>
          <a:xfrm>
            <a:off x="723952" y="5281302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611FEFA-0A24-A43D-C078-6D0C4C462BDF}"/>
              </a:ext>
            </a:extLst>
          </p:cNvPr>
          <p:cNvSpPr/>
          <p:nvPr/>
        </p:nvSpPr>
        <p:spPr>
          <a:xfrm>
            <a:off x="273051" y="5281302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G2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96A8E1A-564B-C21D-F7B9-A5730C38288A}"/>
              </a:ext>
            </a:extLst>
          </p:cNvPr>
          <p:cNvSpPr/>
          <p:nvPr/>
        </p:nvSpPr>
        <p:spPr>
          <a:xfrm>
            <a:off x="1302743" y="5281302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표준 과정을 보조 또는 공동 진행하며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실습 관리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수강생 질의응답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교재 업데이트 등 운영 지원을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수행하는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5893DF-1567-23AC-BDCE-4D9C55FFB347}"/>
              </a:ext>
            </a:extLst>
          </p:cNvPr>
          <p:cNvSpPr/>
          <p:nvPr/>
        </p:nvSpPr>
        <p:spPr>
          <a:xfrm>
            <a:off x="723952" y="4336754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실무 책임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(PM)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C72F93A-D077-83A5-6AD3-E1C84EF98CA4}"/>
              </a:ext>
            </a:extLst>
          </p:cNvPr>
          <p:cNvSpPr/>
          <p:nvPr/>
        </p:nvSpPr>
        <p:spPr>
          <a:xfrm>
            <a:off x="273051" y="4336754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G4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DF1036A-FCE4-68CF-532D-E41F13F5EB54}"/>
              </a:ext>
            </a:extLst>
          </p:cNvPr>
          <p:cNvSpPr/>
          <p:nvPr/>
        </p:nvSpPr>
        <p:spPr>
          <a:xfrm>
            <a:off x="1302743" y="4336754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핵심 교육과정의 운영 총괄과 강의 품질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수강생 성과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·NPS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를 관리하며 프로젝트형 교육과 기업 맞춤 과제를 리드하는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4B67B54-BDF3-B047-D272-9201F734F303}"/>
              </a:ext>
            </a:extLst>
          </p:cNvPr>
          <p:cNvSpPr/>
          <p:nvPr/>
        </p:nvSpPr>
        <p:spPr>
          <a:xfrm>
            <a:off x="273050" y="2062872"/>
            <a:ext cx="975277" cy="306614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직무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A04108D-0B57-FFE4-CCE6-A95FD32B4460}"/>
              </a:ext>
            </a:extLst>
          </p:cNvPr>
          <p:cNvSpPr/>
          <p:nvPr/>
        </p:nvSpPr>
        <p:spPr>
          <a:xfrm>
            <a:off x="6127154" y="2071552"/>
            <a:ext cx="3505796" cy="297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기술지원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3B56CD8-B580-B424-69C2-6BDFDAC46BA7}"/>
              </a:ext>
            </a:extLst>
          </p:cNvPr>
          <p:cNvSpPr/>
          <p:nvPr/>
        </p:nvSpPr>
        <p:spPr>
          <a:xfrm>
            <a:off x="5548363" y="2472243"/>
            <a:ext cx="52437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229F8CA-9F83-0805-3819-3E64AE4EE794}"/>
              </a:ext>
            </a:extLst>
          </p:cNvPr>
          <p:cNvSpPr/>
          <p:nvPr/>
        </p:nvSpPr>
        <p:spPr>
          <a:xfrm>
            <a:off x="5097462" y="2472243"/>
            <a:ext cx="375628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직급</a:t>
            </a:r>
            <a:endParaRPr lang="en-US" altLang="ko-KR" sz="800">
              <a:latin typeface="+mj-ea"/>
              <a:ea typeface="+mj-ea"/>
            </a:endParaRPr>
          </a:p>
          <a:p>
            <a:pPr algn="ctr" latinLnBrk="0"/>
            <a:r>
              <a:rPr lang="en-US" altLang="ko-KR" sz="400">
                <a:latin typeface="+mj-ea"/>
                <a:ea typeface="+mj-ea"/>
              </a:rPr>
              <a:t>(</a:t>
            </a:r>
            <a:r>
              <a:rPr lang="ko-KR" altLang="en-US" sz="400">
                <a:latin typeface="+mj-ea"/>
                <a:ea typeface="+mj-ea"/>
              </a:rPr>
              <a:t>역할 </a:t>
            </a:r>
            <a:r>
              <a:rPr lang="ko-KR" altLang="en-US" sz="400" dirty="0">
                <a:latin typeface="+mj-ea"/>
                <a:ea typeface="+mj-ea"/>
              </a:rPr>
              <a:t>등급</a:t>
            </a:r>
            <a:r>
              <a:rPr lang="en-US" altLang="ko-KR" sz="400">
                <a:latin typeface="+mj-ea"/>
                <a:ea typeface="+mj-ea"/>
              </a:rPr>
              <a:t>)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B3663CD-92BE-CE61-5EAB-30A817A63ADC}"/>
              </a:ext>
            </a:extLst>
          </p:cNvPr>
          <p:cNvSpPr/>
          <p:nvPr/>
        </p:nvSpPr>
        <p:spPr>
          <a:xfrm>
            <a:off x="6127153" y="2472243"/>
            <a:ext cx="350579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dirty="0">
                <a:latin typeface="+mj-ea"/>
                <a:ea typeface="+mj-ea"/>
              </a:rPr>
              <a:t>역할 등급 정의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309340B-CBA7-024B-18FB-395885557656}"/>
              </a:ext>
            </a:extLst>
          </p:cNvPr>
          <p:cNvSpPr/>
          <p:nvPr/>
        </p:nvSpPr>
        <p:spPr>
          <a:xfrm>
            <a:off x="5548363" y="2846645"/>
            <a:ext cx="52437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사업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조직 </a:t>
            </a:r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관리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F166B15-C9A1-0EF5-374B-76C8654C8D3F}"/>
              </a:ext>
            </a:extLst>
          </p:cNvPr>
          <p:cNvSpPr/>
          <p:nvPr/>
        </p:nvSpPr>
        <p:spPr>
          <a:xfrm>
            <a:off x="5097462" y="2843804"/>
            <a:ext cx="375628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G6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BDDA16B-FE41-EBFC-92C4-1C92BCB00B0D}"/>
              </a:ext>
            </a:extLst>
          </p:cNvPr>
          <p:cNvSpPr/>
          <p:nvPr/>
        </p:nvSpPr>
        <p:spPr>
          <a:xfrm>
            <a:off x="6127154" y="2843804"/>
            <a:ext cx="350579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고객 기술지원 전략과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체계를 총괄하며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,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주요 파트너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대형 고객의 기술 과제를 해결하고 서비스 품질을 통한 기업 신뢰도 제고와 매출 확대를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주도하는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7FA0187D-BD30-C5FD-086E-633A2D5A7814}"/>
              </a:ext>
            </a:extLst>
          </p:cNvPr>
          <p:cNvSpPr/>
          <p:nvPr/>
        </p:nvSpPr>
        <p:spPr>
          <a:xfrm>
            <a:off x="5548363" y="3864481"/>
            <a:ext cx="52437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</a:rPr>
              <a:t>실무</a:t>
            </a:r>
            <a:endParaRPr lang="en-US" altLang="ko-KR" sz="700">
              <a:solidFill>
                <a:schemeClr val="tx1"/>
              </a:solidFill>
              <a:latin typeface="+mj-ea"/>
            </a:endParaRPr>
          </a:p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</a:rPr>
              <a:t>스페셜리스트</a:t>
            </a:r>
            <a:endParaRPr lang="ko-KR" altLang="en-US" sz="7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6A0274D-E866-94E1-7DA4-ABA15DEA1D20}"/>
              </a:ext>
            </a:extLst>
          </p:cNvPr>
          <p:cNvSpPr/>
          <p:nvPr/>
        </p:nvSpPr>
        <p:spPr>
          <a:xfrm>
            <a:off x="5097462" y="3864481"/>
            <a:ext cx="375628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G5-S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D6C67A85-697E-8694-0CDC-99F737DEFC96}"/>
              </a:ext>
            </a:extLst>
          </p:cNvPr>
          <p:cNvSpPr/>
          <p:nvPr/>
        </p:nvSpPr>
        <p:spPr>
          <a:xfrm>
            <a:off x="6127154" y="3864481"/>
            <a:ext cx="350579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고난도의 고객 기술문제를 직접 해결하고 솔루션 개선안을 제시하며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내부 교육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기술자료 표준화를 통해 조직 역량을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강화하는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4244A1C8-83F6-F80A-7AA4-88101310C530}"/>
              </a:ext>
            </a:extLst>
          </p:cNvPr>
          <p:cNvSpPr/>
          <p:nvPr/>
        </p:nvSpPr>
        <p:spPr>
          <a:xfrm>
            <a:off x="5548363" y="4809029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핵심 실무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81527763-1927-FF46-A56E-5827A5D48BF0}"/>
              </a:ext>
            </a:extLst>
          </p:cNvPr>
          <p:cNvSpPr/>
          <p:nvPr/>
        </p:nvSpPr>
        <p:spPr>
          <a:xfrm>
            <a:off x="5097462" y="4809029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G3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925F5CF-9676-EB98-7051-238B2C3D7A17}"/>
              </a:ext>
            </a:extLst>
          </p:cNvPr>
          <p:cNvSpPr/>
          <p:nvPr/>
        </p:nvSpPr>
        <p:spPr>
          <a:xfrm>
            <a:off x="6127154" y="4809029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표준화된 절차에 따라 고객의 일반적 기술 요청을 처리하고 설치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업데이트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간단한 문제 해결을 지원하며 품질 데이터를 축적하는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.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0150A11A-3121-5F7D-5684-6B1E26FF5352}"/>
              </a:ext>
            </a:extLst>
          </p:cNvPr>
          <p:cNvSpPr/>
          <p:nvPr/>
        </p:nvSpPr>
        <p:spPr>
          <a:xfrm>
            <a:off x="5548363" y="3392208"/>
            <a:ext cx="52437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직무 관리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부서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FB59D5CC-A018-C684-2329-1CD9F7E671DC}"/>
              </a:ext>
            </a:extLst>
          </p:cNvPr>
          <p:cNvSpPr/>
          <p:nvPr/>
        </p:nvSpPr>
        <p:spPr>
          <a:xfrm>
            <a:off x="5097462" y="3392208"/>
            <a:ext cx="375628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</a:rPr>
              <a:t>G5-M</a:t>
            </a:r>
            <a:endParaRPr lang="ko-KR" altLang="en-US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F0E180CC-B49D-A1D3-375F-D6BD76EBE9B0}"/>
              </a:ext>
            </a:extLst>
          </p:cNvPr>
          <p:cNvSpPr/>
          <p:nvPr/>
        </p:nvSpPr>
        <p:spPr>
          <a:xfrm>
            <a:off x="6127154" y="3392208"/>
            <a:ext cx="350579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기술지원 조직의 목표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성과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인력을 관리하고 고객 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SLA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준수를 책임지며 복잡한 기술이슈 해결과 대응 프로세스를 총괄하는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D2ADCF55-58CE-857A-6C61-50506DBB62BC}"/>
              </a:ext>
            </a:extLst>
          </p:cNvPr>
          <p:cNvSpPr/>
          <p:nvPr/>
        </p:nvSpPr>
        <p:spPr>
          <a:xfrm>
            <a:off x="5548363" y="5753578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 보조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B8559EDD-52FD-C7AB-21D6-C0A24560446D}"/>
              </a:ext>
            </a:extLst>
          </p:cNvPr>
          <p:cNvSpPr/>
          <p:nvPr/>
        </p:nvSpPr>
        <p:spPr>
          <a:xfrm>
            <a:off x="5097462" y="5753578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G1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DF12F6A7-C7C4-58C1-C887-8842FB92ABFC}"/>
              </a:ext>
            </a:extLst>
          </p:cNvPr>
          <p:cNvSpPr/>
          <p:nvPr/>
        </p:nvSpPr>
        <p:spPr>
          <a:xfrm>
            <a:off x="6127154" y="5753578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고객지원 시스템에 기본 데이터를 입력하고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기술 문서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자료 관리 및 단순 업무를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보조하는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C765A7B4-4F6A-57A4-8B98-E4FE87DCFF7F}"/>
              </a:ext>
            </a:extLst>
          </p:cNvPr>
          <p:cNvSpPr/>
          <p:nvPr/>
        </p:nvSpPr>
        <p:spPr>
          <a:xfrm>
            <a:off x="5548363" y="5281302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4356C28D-56D2-D31C-0BFE-E8364D9A59B0}"/>
              </a:ext>
            </a:extLst>
          </p:cNvPr>
          <p:cNvSpPr/>
          <p:nvPr/>
        </p:nvSpPr>
        <p:spPr>
          <a:xfrm>
            <a:off x="5097462" y="5281302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G2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F7091A99-C042-2D8A-1CA8-881DDB7A87C1}"/>
              </a:ext>
            </a:extLst>
          </p:cNvPr>
          <p:cNvSpPr/>
          <p:nvPr/>
        </p:nvSpPr>
        <p:spPr>
          <a:xfrm>
            <a:off x="6127154" y="5281302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선임의 지도하에 고객 질의 응대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문서화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기초 점검을 수행하며 표준 매뉴얼에 따른 기술지원 활동을 지원하는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.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A2740A94-8001-4030-3D01-4ED9087868D2}"/>
              </a:ext>
            </a:extLst>
          </p:cNvPr>
          <p:cNvSpPr/>
          <p:nvPr/>
        </p:nvSpPr>
        <p:spPr>
          <a:xfrm>
            <a:off x="5548363" y="4336754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실무 책임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(PM)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6D3D9A9-B314-C421-6104-A72D5C2EE324}"/>
              </a:ext>
            </a:extLst>
          </p:cNvPr>
          <p:cNvSpPr/>
          <p:nvPr/>
        </p:nvSpPr>
        <p:spPr>
          <a:xfrm>
            <a:off x="5097462" y="4336754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G4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633BD66A-8ABC-D264-6B24-3A875B6A0DF3}"/>
              </a:ext>
            </a:extLst>
          </p:cNvPr>
          <p:cNvSpPr/>
          <p:nvPr/>
        </p:nvSpPr>
        <p:spPr>
          <a:xfrm>
            <a:off x="6127154" y="4336754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주요 고객사의 시스템 이슈를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독립적으로 진단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해결하고 고객 피드백을 분석해 제품 개선과 서비스 향상에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기여하는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B9DE92B-C355-3790-FD80-4A8BEA2A0ED5}"/>
              </a:ext>
            </a:extLst>
          </p:cNvPr>
          <p:cNvSpPr/>
          <p:nvPr/>
        </p:nvSpPr>
        <p:spPr>
          <a:xfrm>
            <a:off x="5097461" y="2062872"/>
            <a:ext cx="975277" cy="306614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직무</a:t>
            </a:r>
            <a:endParaRPr lang="en-US" altLang="ko-KR" sz="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30386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98B29-2AD3-F156-BD9F-896FCEE2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990614F-1AB3-E141-5A90-F299FDF6AA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</a:t>
            </a:r>
            <a:r>
              <a:rPr lang="ko-KR" altLang="en-US" dirty="0"/>
              <a:t> 전사 역할 등급 체계를 기반으로</a:t>
            </a:r>
            <a:r>
              <a:rPr lang="en-US" altLang="ko-KR" dirty="0"/>
              <a:t>, </a:t>
            </a:r>
            <a:r>
              <a:rPr lang="ko-KR" altLang="en-US" dirty="0"/>
              <a:t>직무별 특성을 반영하여 각 등급별 역할과 책임을 명확히 정의하였음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B9C3628-1EB8-A079-2E67-61B533B00D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atinLnBrk="0"/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F72291-9506-0E42-7F6C-F07BFF3571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역할체계 설계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A5C698E-89E2-C1A5-11F4-9B01AF7B02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atinLnBrk="0"/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989EDFFD-CABC-CDE3-1B8F-B0E150710236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C866127D-E01B-E947-184F-300AE2E857DB}"/>
                </a:ext>
              </a:extLst>
            </p:cNvPr>
            <p:cNvSpPr/>
            <p:nvPr userDrawn="1"/>
          </p:nvSpPr>
          <p:spPr>
            <a:xfrm>
              <a:off x="2764562" y="1626519"/>
              <a:ext cx="1448173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 latinLnBrk="0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직무별 역할 정의 구축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C4F34D64-9C3A-2B92-8715-3D5452EB1833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BA54A80-2703-641E-CA5D-1EFA55465759}"/>
              </a:ext>
            </a:extLst>
          </p:cNvPr>
          <p:cNvSpPr/>
          <p:nvPr/>
        </p:nvSpPr>
        <p:spPr>
          <a:xfrm>
            <a:off x="1302743" y="2071552"/>
            <a:ext cx="3505796" cy="297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연구개발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(R&amp;D)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2F6A29-84CB-F1E8-BBA2-6B19FD53787D}"/>
              </a:ext>
            </a:extLst>
          </p:cNvPr>
          <p:cNvSpPr/>
          <p:nvPr/>
        </p:nvSpPr>
        <p:spPr>
          <a:xfrm>
            <a:off x="723952" y="2472243"/>
            <a:ext cx="52437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역할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A60D79-90DF-5694-A7C8-7419B6FF99B2}"/>
              </a:ext>
            </a:extLst>
          </p:cNvPr>
          <p:cNvSpPr/>
          <p:nvPr/>
        </p:nvSpPr>
        <p:spPr>
          <a:xfrm>
            <a:off x="273051" y="2472243"/>
            <a:ext cx="375628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직급</a:t>
            </a:r>
            <a:endParaRPr lang="en-US" altLang="ko-KR" sz="800">
              <a:latin typeface="+mj-ea"/>
              <a:ea typeface="+mj-ea"/>
            </a:endParaRPr>
          </a:p>
          <a:p>
            <a:pPr algn="ctr" latinLnBrk="0"/>
            <a:r>
              <a:rPr lang="en-US" altLang="ko-KR" sz="400">
                <a:latin typeface="+mj-ea"/>
                <a:ea typeface="+mj-ea"/>
              </a:rPr>
              <a:t>(</a:t>
            </a:r>
            <a:r>
              <a:rPr lang="ko-KR" altLang="en-US" sz="400">
                <a:latin typeface="+mj-ea"/>
                <a:ea typeface="+mj-ea"/>
              </a:rPr>
              <a:t>역할 </a:t>
            </a:r>
            <a:r>
              <a:rPr lang="ko-KR" altLang="en-US" sz="400" dirty="0">
                <a:latin typeface="+mj-ea"/>
                <a:ea typeface="+mj-ea"/>
              </a:rPr>
              <a:t>등급</a:t>
            </a:r>
            <a:r>
              <a:rPr lang="en-US" altLang="ko-KR" sz="400">
                <a:latin typeface="+mj-ea"/>
                <a:ea typeface="+mj-ea"/>
              </a:rPr>
              <a:t>)</a:t>
            </a:r>
            <a:endParaRPr lang="en-US" altLang="ko-KR" sz="4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80E967F-6747-19F3-E8A9-AF3869587246}"/>
              </a:ext>
            </a:extLst>
          </p:cNvPr>
          <p:cNvSpPr/>
          <p:nvPr/>
        </p:nvSpPr>
        <p:spPr>
          <a:xfrm>
            <a:off x="1302742" y="2472243"/>
            <a:ext cx="3505796" cy="319640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dirty="0">
                <a:latin typeface="+mj-ea"/>
                <a:ea typeface="+mj-ea"/>
              </a:rPr>
              <a:t>역할 등급 정의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46842BA-A4ED-B0CE-0D1D-0AFCFA471866}"/>
              </a:ext>
            </a:extLst>
          </p:cNvPr>
          <p:cNvSpPr/>
          <p:nvPr/>
        </p:nvSpPr>
        <p:spPr>
          <a:xfrm>
            <a:off x="723952" y="2846645"/>
            <a:ext cx="52437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사업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조직 </a:t>
            </a:r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관리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E70247-1169-27BC-C8C5-65BAE4AD02E4}"/>
              </a:ext>
            </a:extLst>
          </p:cNvPr>
          <p:cNvSpPr/>
          <p:nvPr/>
        </p:nvSpPr>
        <p:spPr>
          <a:xfrm>
            <a:off x="273051" y="2843804"/>
            <a:ext cx="375628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G6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6565D1E-0256-46AF-7E16-5384556FD65E}"/>
              </a:ext>
            </a:extLst>
          </p:cNvPr>
          <p:cNvSpPr/>
          <p:nvPr/>
        </p:nvSpPr>
        <p:spPr>
          <a:xfrm>
            <a:off x="1302743" y="2843804"/>
            <a:ext cx="3505796" cy="44904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전사 기술 로드맵과 제품 포트폴리오 전략을 총괄하며 핵심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기술 투자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외부 협력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·IP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전략을 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통해 사업 경쟁력을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창출하는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0A8D204-D8FE-A50E-5DFC-31C8ADB10BB5}"/>
              </a:ext>
            </a:extLst>
          </p:cNvPr>
          <p:cNvSpPr/>
          <p:nvPr/>
        </p:nvSpPr>
        <p:spPr>
          <a:xfrm>
            <a:off x="723952" y="3864481"/>
            <a:ext cx="52437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</a:rPr>
              <a:t>실무</a:t>
            </a:r>
            <a:endParaRPr lang="en-US" altLang="ko-KR" sz="700">
              <a:solidFill>
                <a:schemeClr val="tx1"/>
              </a:solidFill>
              <a:latin typeface="+mj-ea"/>
            </a:endParaRPr>
          </a:p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</a:rPr>
              <a:t>스페셜리스트</a:t>
            </a:r>
            <a:endParaRPr lang="ko-KR" altLang="en-US" sz="7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97615B2-BC9D-833A-3000-95FEC072ED8D}"/>
              </a:ext>
            </a:extLst>
          </p:cNvPr>
          <p:cNvSpPr/>
          <p:nvPr/>
        </p:nvSpPr>
        <p:spPr>
          <a:xfrm>
            <a:off x="273051" y="3864481"/>
            <a:ext cx="375628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G5-S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406E206-1AB9-30FC-F230-2F5810944DC5}"/>
              </a:ext>
            </a:extLst>
          </p:cNvPr>
          <p:cNvSpPr/>
          <p:nvPr/>
        </p:nvSpPr>
        <p:spPr>
          <a:xfrm>
            <a:off x="1302743" y="3864481"/>
            <a:ext cx="3505796" cy="3757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핵심 알고리즘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엔진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플랫폼 아키텍처를 설계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검증하고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난도 높은 기술 과제를 해결하며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기술 자산화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특허화를 주도하는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970F92B-485F-C5E8-124D-6B1F4A7CF18D}"/>
              </a:ext>
            </a:extLst>
          </p:cNvPr>
          <p:cNvSpPr/>
          <p:nvPr/>
        </p:nvSpPr>
        <p:spPr>
          <a:xfrm>
            <a:off x="723952" y="4809029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핵심 실무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A7530C8-F177-A572-528D-00F77B6D1D9C}"/>
              </a:ext>
            </a:extLst>
          </p:cNvPr>
          <p:cNvSpPr/>
          <p:nvPr/>
        </p:nvSpPr>
        <p:spPr>
          <a:xfrm>
            <a:off x="273051" y="4809029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G3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9C5165E-7300-13DF-CC62-3D23574F9DBA}"/>
              </a:ext>
            </a:extLst>
          </p:cNvPr>
          <p:cNvSpPr/>
          <p:nvPr/>
        </p:nvSpPr>
        <p:spPr>
          <a:xfrm>
            <a:off x="1302743" y="4809029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주요 기능을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독립적으로 설계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구현하고 단위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/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통합 테스트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결함 개선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문서화를 통해 품질과 일정 준수를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확보하는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EEA1332-C72F-FF0D-EE11-B272FA51E769}"/>
              </a:ext>
            </a:extLst>
          </p:cNvPr>
          <p:cNvSpPr/>
          <p:nvPr/>
        </p:nvSpPr>
        <p:spPr>
          <a:xfrm>
            <a:off x="723952" y="3392208"/>
            <a:ext cx="52437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직무 관리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부서</a:t>
            </a:r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8BC2C22-606E-3174-B77C-1BC6F224AAEF}"/>
              </a:ext>
            </a:extLst>
          </p:cNvPr>
          <p:cNvSpPr/>
          <p:nvPr/>
        </p:nvSpPr>
        <p:spPr>
          <a:xfrm>
            <a:off x="273051" y="3392208"/>
            <a:ext cx="375628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</a:rPr>
              <a:t>G5-M</a:t>
            </a:r>
            <a:endParaRPr lang="ko-KR" altLang="en-US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8180136-4215-D696-2143-0C1DB1B7BAB5}"/>
              </a:ext>
            </a:extLst>
          </p:cNvPr>
          <p:cNvSpPr/>
          <p:nvPr/>
        </p:nvSpPr>
        <p:spPr>
          <a:xfrm>
            <a:off x="1302743" y="3392208"/>
            <a:ext cx="3505796" cy="37575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R&amp;D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조직의 목표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예산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인력을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관리하고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아키텍처 표준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개발 프로세스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품질 </a:t>
            </a:r>
            <a:r>
              <a:rPr lang="ko-KR" altLang="en-US" sz="800" dirty="0">
                <a:solidFill>
                  <a:schemeClr val="tx1"/>
                </a:solidFill>
                <a:latin typeface="+mj-ea"/>
                <a:ea typeface="+mj-ea"/>
              </a:rPr>
              <a:t>지표를 체계화하여 제품 출시 성과를 </a:t>
            </a:r>
            <a:r>
              <a:rPr lang="ko-KR" altLang="en-US" sz="800">
                <a:solidFill>
                  <a:schemeClr val="tx1"/>
                </a:solidFill>
                <a:latin typeface="+mj-ea"/>
                <a:ea typeface="+mj-ea"/>
              </a:rPr>
              <a:t>책임지는 역할</a:t>
            </a:r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62A6095-C8BD-9DC3-30CF-DBCD87337E03}"/>
              </a:ext>
            </a:extLst>
          </p:cNvPr>
          <p:cNvSpPr/>
          <p:nvPr/>
        </p:nvSpPr>
        <p:spPr>
          <a:xfrm>
            <a:off x="723952" y="5753578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 보조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99C0F69-8A77-B577-56FA-2F554B49636E}"/>
              </a:ext>
            </a:extLst>
          </p:cNvPr>
          <p:cNvSpPr/>
          <p:nvPr/>
        </p:nvSpPr>
        <p:spPr>
          <a:xfrm>
            <a:off x="273051" y="5753578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G1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DA2EB7-A642-2C46-F817-107A5F6CC109}"/>
              </a:ext>
            </a:extLst>
          </p:cNvPr>
          <p:cNvSpPr/>
          <p:nvPr/>
        </p:nvSpPr>
        <p:spPr>
          <a:xfrm>
            <a:off x="1302743" y="5753578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개발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환경 설정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기초 구현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테스트 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데이터 준비 등 기본 업무를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수행하며 제품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/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도메인 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지식을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학습하는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B7082DD-88FF-E8FE-100A-47DE634DE603}"/>
              </a:ext>
            </a:extLst>
          </p:cNvPr>
          <p:cNvSpPr/>
          <p:nvPr/>
        </p:nvSpPr>
        <p:spPr>
          <a:xfrm>
            <a:off x="723952" y="5281302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 dirty="0">
                <a:solidFill>
                  <a:schemeClr val="tx1"/>
                </a:solidFill>
                <a:latin typeface="+mj-ea"/>
                <a:ea typeface="+mj-ea"/>
              </a:rPr>
              <a:t>실무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940B221-9555-48FD-D24B-5733865D6577}"/>
              </a:ext>
            </a:extLst>
          </p:cNvPr>
          <p:cNvSpPr/>
          <p:nvPr/>
        </p:nvSpPr>
        <p:spPr>
          <a:xfrm>
            <a:off x="273051" y="5281302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G2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15B2AA-93EF-B11B-555D-BD3C0E100F3A}"/>
              </a:ext>
            </a:extLst>
          </p:cNvPr>
          <p:cNvSpPr/>
          <p:nvPr/>
        </p:nvSpPr>
        <p:spPr>
          <a:xfrm>
            <a:off x="1302743" y="5281302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명세에 따라 기능 개발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버그 수정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 err="1">
                <a:solidFill>
                  <a:schemeClr val="tx1"/>
                </a:solidFill>
                <a:latin typeface="+mj-ea"/>
              </a:rPr>
              <a:t>리팩터링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테스트 보조를 수행하고 코드 품질 기준과 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CI/CD 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절차를 준수하는 역할</a:t>
            </a:r>
            <a:r>
              <a:rPr lang="en-US" altLang="ko-KR" sz="800" dirty="0">
                <a:solidFill>
                  <a:schemeClr val="tx1"/>
                </a:solidFill>
                <a:latin typeface="+mj-ea"/>
              </a:rPr>
              <a:t>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85E34D6-594E-938E-3456-DFF4CEAD4708}"/>
              </a:ext>
            </a:extLst>
          </p:cNvPr>
          <p:cNvSpPr/>
          <p:nvPr/>
        </p:nvSpPr>
        <p:spPr>
          <a:xfrm>
            <a:off x="723952" y="4336754"/>
            <a:ext cx="52437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700">
                <a:solidFill>
                  <a:schemeClr val="tx1"/>
                </a:solidFill>
                <a:latin typeface="+mj-ea"/>
                <a:ea typeface="+mj-ea"/>
              </a:rPr>
              <a:t>실무 책임</a:t>
            </a:r>
            <a:endParaRPr lang="en-US" altLang="ko-KR" sz="700">
              <a:solidFill>
                <a:schemeClr val="tx1"/>
              </a:solidFill>
              <a:latin typeface="+mj-ea"/>
              <a:ea typeface="+mj-ea"/>
            </a:endParaRPr>
          </a:p>
          <a:p>
            <a:pPr algn="ctr" latinLnBrk="0"/>
            <a:r>
              <a:rPr lang="en-US" altLang="ko-KR" sz="700">
                <a:solidFill>
                  <a:schemeClr val="tx1"/>
                </a:solidFill>
                <a:latin typeface="+mj-ea"/>
                <a:ea typeface="+mj-ea"/>
              </a:rPr>
              <a:t>(PM)</a:t>
            </a:r>
            <a:endParaRPr lang="ko-KR" altLang="en-US" sz="7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E3867A9-A098-FE7F-80E7-ECC16E3C9D6C}"/>
              </a:ext>
            </a:extLst>
          </p:cNvPr>
          <p:cNvSpPr/>
          <p:nvPr/>
        </p:nvSpPr>
        <p:spPr>
          <a:xfrm>
            <a:off x="273051" y="4336754"/>
            <a:ext cx="375628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800">
                <a:solidFill>
                  <a:schemeClr val="tx1"/>
                </a:solidFill>
                <a:latin typeface="+mj-ea"/>
                <a:ea typeface="+mj-ea"/>
              </a:rPr>
              <a:t>G4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875B22C-1362-C6B9-C645-E336A611FDCE}"/>
              </a:ext>
            </a:extLst>
          </p:cNvPr>
          <p:cNvSpPr/>
          <p:nvPr/>
        </p:nvSpPr>
        <p:spPr>
          <a:xfrm>
            <a:off x="1302743" y="4336754"/>
            <a:ext cx="3505796" cy="375759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ko-KR" altLang="en-US" sz="800">
                <a:solidFill>
                  <a:schemeClr val="tx1"/>
                </a:solidFill>
                <a:latin typeface="+mj-ea"/>
              </a:rPr>
              <a:t>모듈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/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서브시스템 수준의 설계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구현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성능 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최적화를 리드하고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코드 리뷰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테스트 전략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·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릴리스 </a:t>
            </a:r>
            <a:r>
              <a:rPr lang="ko-KR" altLang="en-US" sz="800" dirty="0">
                <a:solidFill>
                  <a:schemeClr val="tx1"/>
                </a:solidFill>
                <a:latin typeface="+mj-ea"/>
              </a:rPr>
              <a:t>계획을 </a:t>
            </a:r>
            <a:r>
              <a:rPr lang="ko-KR" altLang="en-US" sz="800">
                <a:solidFill>
                  <a:schemeClr val="tx1"/>
                </a:solidFill>
                <a:latin typeface="+mj-ea"/>
              </a:rPr>
              <a:t>주도하는 역할</a:t>
            </a:r>
            <a:r>
              <a:rPr lang="en-US" altLang="ko-KR" sz="800">
                <a:solidFill>
                  <a:schemeClr val="tx1"/>
                </a:solidFill>
                <a:latin typeface="+mj-ea"/>
              </a:rPr>
              <a:t>.</a:t>
            </a:r>
            <a:endParaRPr lang="en-US" altLang="ko-KR" sz="8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17060DF-2A25-2909-0AA5-6FC68E647A94}"/>
              </a:ext>
            </a:extLst>
          </p:cNvPr>
          <p:cNvSpPr/>
          <p:nvPr/>
        </p:nvSpPr>
        <p:spPr>
          <a:xfrm>
            <a:off x="273050" y="2062872"/>
            <a:ext cx="975277" cy="306614"/>
          </a:xfrm>
          <a:prstGeom prst="rect">
            <a:avLst/>
          </a:prstGeom>
          <a:solidFill>
            <a:srgbClr val="555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800" dirty="0">
                <a:latin typeface="+mj-ea"/>
                <a:ea typeface="+mj-ea"/>
              </a:rPr>
              <a:t>직무</a:t>
            </a:r>
            <a:endParaRPr lang="en-US" altLang="ko-KR" sz="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390223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C5D2-61FE-EECE-8E03-4BA61F2AA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4">
            <a:extLst>
              <a:ext uri="{FF2B5EF4-FFF2-40B4-BE49-F238E27FC236}">
                <a16:creationId xmlns:a16="http://schemas.microsoft.com/office/drawing/2014/main" id="{ED379807-C828-8615-57E9-AF3DD8B2E5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7462" y="2060574"/>
            <a:ext cx="4535487" cy="4073561"/>
          </a:xfrm>
          <a:prstGeom prst="rect">
            <a:avLst/>
          </a:prstGeom>
          <a:solidFill>
            <a:srgbClr val="EDF2F9"/>
          </a:solidFill>
          <a:ln>
            <a:noFill/>
          </a:ln>
          <a:effectLst/>
        </p:spPr>
        <p:txBody>
          <a:bodyPr lIns="36000" tIns="46800" rIns="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1D8E2F1-EDDD-C0D1-088B-1E2F5C0873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Pay Band</a:t>
            </a:r>
            <a:r>
              <a:rPr lang="ko-KR" altLang="en-US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란 해당 직급의 기본 연봉이 분포할 수 있는 구간을 나타내며</a:t>
            </a:r>
            <a:r>
              <a:rPr lang="en-US" altLang="ko-KR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, </a:t>
            </a:r>
            <a:r>
              <a:rPr lang="ko-KR" altLang="en-US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㈜</a:t>
            </a:r>
            <a:r>
              <a:rPr lang="ko-KR" altLang="en-US" dirty="0" err="1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베이시스소프트는</a:t>
            </a:r>
            <a:r>
              <a:rPr lang="ko-KR" altLang="en-US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 재무 상태 상황 및 </a:t>
            </a:r>
            <a:r>
              <a:rPr lang="en-US" altLang="ko-KR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HR </a:t>
            </a:r>
            <a:r>
              <a:rPr lang="ko-KR" altLang="en-US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이슈를 고려하여 시장 평균  수준으로 보상전략을 설정하였음</a:t>
            </a:r>
            <a:r>
              <a:rPr lang="en-US" altLang="ko-KR" dirty="0">
                <a:ln>
                  <a:solidFill>
                    <a:schemeClr val="tx1">
                      <a:alpha val="5000"/>
                    </a:schemeClr>
                  </a:solidFill>
                </a:ln>
              </a:rPr>
              <a:t>.</a:t>
            </a:r>
            <a:endParaRPr lang="ko-KR" altLang="en-US" dirty="0">
              <a:ln>
                <a:solidFill>
                  <a:schemeClr val="tx1">
                    <a:alpha val="5000"/>
                  </a:schemeClr>
                </a:solidFill>
              </a:ln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A4A5880-BD5F-C1B0-EB85-86EFB274A4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B5BC3A-3B38-8128-583D-ACADE6676A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27270BB-63D8-31C0-B1CC-CAB3B4A12F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590F01-3E20-3EA9-BD31-E7C9D985F200}"/>
              </a:ext>
            </a:extLst>
          </p:cNvPr>
          <p:cNvCxnSpPr/>
          <p:nvPr/>
        </p:nvCxnSpPr>
        <p:spPr>
          <a:xfrm>
            <a:off x="4944219" y="2147157"/>
            <a:ext cx="0" cy="4134581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EE564315-C4E7-1777-0CC9-4E85E071FDC0}"/>
              </a:ext>
            </a:extLst>
          </p:cNvPr>
          <p:cNvGrpSpPr/>
          <p:nvPr/>
        </p:nvGrpSpPr>
        <p:grpSpPr>
          <a:xfrm>
            <a:off x="273050" y="1631187"/>
            <a:ext cx="4535488" cy="4502948"/>
            <a:chOff x="273050" y="1631187"/>
            <a:chExt cx="4397790" cy="45029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5705F19-FEFA-7364-04D9-30D6F77F36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701" y="2060574"/>
              <a:ext cx="4348974" cy="4073561"/>
            </a:xfrm>
            <a:prstGeom prst="rect">
              <a:avLst/>
            </a:prstGeom>
            <a:solidFill>
              <a:srgbClr val="EDF2F9"/>
            </a:solidFill>
            <a:ln>
              <a:noFill/>
            </a:ln>
            <a:effectLst/>
          </p:spPr>
          <p:txBody>
            <a:bodyPr lIns="36000" tIns="46800" rIns="0" bIns="4680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5DCFB85C-377C-C0A3-D5C6-B0E5F5826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62" y="4664176"/>
              <a:ext cx="4202275" cy="36671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-10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굴림" pitchFamily="50" charset="-127"/>
                </a:rPr>
                <a:t>기본연봉을</a:t>
              </a:r>
              <a:r>
                <a:rPr kumimoji="0" lang="ko-KR" altLang="en-US" sz="1400" b="1" i="0" u="none" strike="noStrike" kern="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굴림" pitchFamily="50" charset="-127"/>
                </a:rPr>
                <a:t> 관리하기 위한 </a:t>
              </a:r>
              <a:r>
                <a:rPr kumimoji="0" lang="en-US" altLang="ko-KR" sz="1400" b="1" i="0" u="none" strike="noStrike" kern="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굴림" pitchFamily="50" charset="-127"/>
                </a:rPr>
                <a:t>Framework</a:t>
              </a:r>
              <a:endParaRPr kumimoji="0" lang="en-GB" altLang="ko-KR" sz="1400" b="1" i="0" u="none" strike="noStrike" kern="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굴림" pitchFamily="50" charset="-127"/>
              </a:endParaRP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C5EFBC46-C130-562C-9069-37D7184A5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62" y="5078883"/>
              <a:ext cx="4202275" cy="10276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72000" tIns="46800" rIns="72000" bIns="46800" anchor="ctr"/>
            <a:lstStyle/>
            <a:p>
              <a:pPr marL="87313" indent="-87313" eaLnBrk="0" fontAlgn="b" latinLnBrk="0" hangingPunct="0">
                <a:spcBef>
                  <a:spcPct val="50000"/>
                </a:spcBef>
                <a:buFont typeface="Arial" pitchFamily="34" charset="0"/>
                <a:buChar char="•"/>
                <a:defRPr/>
              </a:pP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보상 일관성 제시 </a:t>
              </a:r>
              <a:r>
                <a:rPr lang="en-US" altLang="ko-KR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: </a:t>
              </a: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성과</a:t>
              </a:r>
              <a:r>
                <a:rPr lang="en-US" altLang="ko-KR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, </a:t>
              </a: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역량</a:t>
              </a:r>
              <a:r>
                <a:rPr lang="en-US" altLang="ko-KR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, </a:t>
              </a: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역할에 따른 보상 차등 </a:t>
              </a:r>
              <a:r>
                <a:rPr lang="en-US" altLang="ko-KR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Logic </a:t>
              </a: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제시</a:t>
              </a:r>
            </a:p>
            <a:p>
              <a:pPr marL="87313" indent="-87313" eaLnBrk="0" fontAlgn="b" latinLnBrk="0" hangingPunct="0">
                <a:spcBef>
                  <a:spcPct val="50000"/>
                </a:spcBef>
                <a:buFont typeface="Arial" pitchFamily="34" charset="0"/>
                <a:buChar char="•"/>
                <a:defRPr/>
              </a:pP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적정 보상범위 제시 </a:t>
              </a:r>
              <a:r>
                <a:rPr lang="en-US" altLang="ko-KR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: Band </a:t>
              </a: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내</a:t>
              </a:r>
              <a:r>
                <a:rPr lang="en-US" altLang="ko-KR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, Band </a:t>
              </a: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간 상승에 따른 보상의 기대수준 제시</a:t>
              </a:r>
            </a:p>
            <a:p>
              <a:pPr marL="87313" indent="-87313" eaLnBrk="0" fontAlgn="b" latinLnBrk="0" hangingPunct="0">
                <a:spcBef>
                  <a:spcPct val="50000"/>
                </a:spcBef>
                <a:buFont typeface="Arial" pitchFamily="34" charset="0"/>
                <a:buChar char="•"/>
                <a:defRPr/>
              </a:pP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보상의 경쟁력 수준 제시 </a:t>
              </a:r>
              <a:r>
                <a:rPr lang="en-US" altLang="ko-KR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: </a:t>
              </a: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시장가치 대비 보상 비교를 통한 보상정책 </a:t>
              </a:r>
              <a:r>
                <a:rPr lang="en-US" altLang="ko-KR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Guide </a:t>
              </a:r>
              <a:r>
                <a:rPr lang="ko-KR" altLang="en-US" sz="1050" b="1" kern="0" spc="-100" dirty="0">
                  <a:solidFill>
                    <a:sysClr val="windowText" lastClr="000000"/>
                  </a:solidFill>
                  <a:latin typeface="+mn-ea"/>
                  <a:cs typeface="Times New Roman" pitchFamily="18" charset="0"/>
                  <a:sym typeface="Wingdings" pitchFamily="2" charset="2"/>
                </a:rPr>
                <a:t>제시</a:t>
              </a:r>
            </a:p>
          </p:txBody>
        </p:sp>
        <p:grpSp>
          <p:nvGrpSpPr>
            <p:cNvPr id="28" name="그룹 68">
              <a:extLst>
                <a:ext uri="{FF2B5EF4-FFF2-40B4-BE49-F238E27FC236}">
                  <a16:creationId xmlns:a16="http://schemas.microsoft.com/office/drawing/2014/main" id="{61224EF0-9A49-C369-94C5-5054C32F6F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477" y="2158244"/>
              <a:ext cx="3927432" cy="2470176"/>
              <a:chOff x="620638" y="1959557"/>
              <a:chExt cx="3926844" cy="2470729"/>
            </a:xfrm>
          </p:grpSpPr>
          <p:sp>
            <p:nvSpPr>
              <p:cNvPr id="29" name="Text Box 13">
                <a:extLst>
                  <a:ext uri="{FF2B5EF4-FFF2-40B4-BE49-F238E27FC236}">
                    <a16:creationId xmlns:a16="http://schemas.microsoft.com/office/drawing/2014/main" id="{31C4A693-02C5-7F9D-AF18-F549E62C396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857996" y="3316869"/>
                <a:ext cx="669925" cy="4331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r" defTabSz="939800" eaLnBrk="0" fontAlgn="b" latinLnBrk="0" hangingPunct="0">
                  <a:defRPr/>
                </a:pPr>
                <a:r>
                  <a:rPr lang="en-US" altLang="ko-KR" sz="1100" kern="0" spc="-100" dirty="0">
                    <a:solidFill>
                      <a:sysClr val="windowText" lastClr="000000"/>
                    </a:solidFill>
                    <a:latin typeface="+mn-ea"/>
                  </a:rPr>
                  <a:t>Range spread</a:t>
                </a:r>
              </a:p>
            </p:txBody>
          </p:sp>
          <p:grpSp>
            <p:nvGrpSpPr>
              <p:cNvPr id="30" name="Group 14">
                <a:extLst>
                  <a:ext uri="{FF2B5EF4-FFF2-40B4-BE49-F238E27FC236}">
                    <a16:creationId xmlns:a16="http://schemas.microsoft.com/office/drawing/2014/main" id="{775275DA-D161-2D7C-5E6C-27004F959D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11313" y="2899358"/>
                <a:ext cx="546100" cy="1147763"/>
                <a:chOff x="1680" y="1810"/>
                <a:chExt cx="480" cy="975"/>
              </a:xfrm>
            </p:grpSpPr>
            <p:sp>
              <p:nvSpPr>
                <p:cNvPr id="62" name="Rectangle 15">
                  <a:extLst>
                    <a:ext uri="{FF2B5EF4-FFF2-40B4-BE49-F238E27FC236}">
                      <a16:creationId xmlns:a16="http://schemas.microsoft.com/office/drawing/2014/main" id="{135C87E4-7291-218D-7EA9-FAC226772C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1810"/>
                  <a:ext cx="480" cy="488"/>
                </a:xfrm>
                <a:prstGeom prst="rect">
                  <a:avLst/>
                </a:prstGeom>
                <a:solidFill>
                  <a:srgbClr val="FFFFFF"/>
                </a:solidFill>
                <a:ln w="1905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63" name="Rectangle 16">
                  <a:extLst>
                    <a:ext uri="{FF2B5EF4-FFF2-40B4-BE49-F238E27FC236}">
                      <a16:creationId xmlns:a16="http://schemas.microsoft.com/office/drawing/2014/main" id="{6993CAB2-854B-B506-3B73-58E4761070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2297"/>
                  <a:ext cx="480" cy="488"/>
                </a:xfrm>
                <a:prstGeom prst="rect">
                  <a:avLst/>
                </a:prstGeom>
                <a:solidFill>
                  <a:srgbClr val="FFFFFF"/>
                </a:solidFill>
                <a:ln w="1905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31" name="Group 17">
                <a:extLst>
                  <a:ext uri="{FF2B5EF4-FFF2-40B4-BE49-F238E27FC236}">
                    <a16:creationId xmlns:a16="http://schemas.microsoft.com/office/drawing/2014/main" id="{45790F1E-9707-9F22-B3C3-8B929A9A87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54300" y="2078617"/>
                <a:ext cx="542925" cy="1146174"/>
                <a:chOff x="2400" y="1536"/>
                <a:chExt cx="480" cy="975"/>
              </a:xfrm>
            </p:grpSpPr>
            <p:sp>
              <p:nvSpPr>
                <p:cNvPr id="60" name="Rectangle 18">
                  <a:extLst>
                    <a:ext uri="{FF2B5EF4-FFF2-40B4-BE49-F238E27FC236}">
                      <a16:creationId xmlns:a16="http://schemas.microsoft.com/office/drawing/2014/main" id="{537C5F2E-4197-F57E-58AD-4C86B4DBDD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1536"/>
                  <a:ext cx="480" cy="488"/>
                </a:xfrm>
                <a:prstGeom prst="rect">
                  <a:avLst/>
                </a:prstGeom>
                <a:solidFill>
                  <a:srgbClr val="FFFFFF"/>
                </a:solidFill>
                <a:ln w="1905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61" name="Rectangle 19">
                  <a:extLst>
                    <a:ext uri="{FF2B5EF4-FFF2-40B4-BE49-F238E27FC236}">
                      <a16:creationId xmlns:a16="http://schemas.microsoft.com/office/drawing/2014/main" id="{EAD2841F-14F6-C534-801A-72A2ED5842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2023"/>
                  <a:ext cx="480" cy="488"/>
                </a:xfrm>
                <a:prstGeom prst="rect">
                  <a:avLst/>
                </a:prstGeom>
                <a:solidFill>
                  <a:srgbClr val="FFFFFF"/>
                </a:solidFill>
                <a:ln w="1905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</p:grpSp>
          <p:sp>
            <p:nvSpPr>
              <p:cNvPr id="32" name="Freeform 75">
                <a:extLst>
                  <a:ext uri="{FF2B5EF4-FFF2-40B4-BE49-F238E27FC236}">
                    <a16:creationId xmlns:a16="http://schemas.microsoft.com/office/drawing/2014/main" id="{10A70D84-C537-2DED-5ADA-47BAC975848D}"/>
                  </a:ext>
                </a:extLst>
              </p:cNvPr>
              <p:cNvSpPr>
                <a:spLocks/>
              </p:cNvSpPr>
              <p:nvPr/>
            </p:nvSpPr>
            <p:spPr bwMode="gray">
              <a:xfrm flipH="1">
                <a:off x="1455738" y="2893007"/>
                <a:ext cx="115887" cy="1123950"/>
              </a:xfrm>
              <a:custGeom>
                <a:avLst/>
                <a:gdLst>
                  <a:gd name="T0" fmla="*/ 2147483647 w 1260"/>
                  <a:gd name="T1" fmla="*/ 2147483647 h 5054"/>
                  <a:gd name="T2" fmla="*/ 2147483647 w 1260"/>
                  <a:gd name="T3" fmla="*/ 2147483647 h 5054"/>
                  <a:gd name="T4" fmla="*/ 2147483647 w 1260"/>
                  <a:gd name="T5" fmla="*/ 2147483647 h 5054"/>
                  <a:gd name="T6" fmla="*/ 2147483647 w 1260"/>
                  <a:gd name="T7" fmla="*/ 2147483647 h 5054"/>
                  <a:gd name="T8" fmla="*/ 2147483647 w 1260"/>
                  <a:gd name="T9" fmla="*/ 2147483647 h 5054"/>
                  <a:gd name="T10" fmla="*/ 2147483647 w 1260"/>
                  <a:gd name="T11" fmla="*/ 2147483647 h 5054"/>
                  <a:gd name="T12" fmla="*/ 2147483647 w 1260"/>
                  <a:gd name="T13" fmla="*/ 2147483647 h 5054"/>
                  <a:gd name="T14" fmla="*/ 2147483647 w 1260"/>
                  <a:gd name="T15" fmla="*/ 2147483647 h 5054"/>
                  <a:gd name="T16" fmla="*/ 2147483647 w 1260"/>
                  <a:gd name="T17" fmla="*/ 2147483647 h 5054"/>
                  <a:gd name="T18" fmla="*/ 2147483647 w 1260"/>
                  <a:gd name="T19" fmla="*/ 2147483647 h 5054"/>
                  <a:gd name="T20" fmla="*/ 2147483647 w 1260"/>
                  <a:gd name="T21" fmla="*/ 2147483647 h 5054"/>
                  <a:gd name="T22" fmla="*/ 2147483647 w 1260"/>
                  <a:gd name="T23" fmla="*/ 2147483647 h 5054"/>
                  <a:gd name="T24" fmla="*/ 2147483647 w 1260"/>
                  <a:gd name="T25" fmla="*/ 2147483647 h 5054"/>
                  <a:gd name="T26" fmla="*/ 2147483647 w 1260"/>
                  <a:gd name="T27" fmla="*/ 2147483647 h 5054"/>
                  <a:gd name="T28" fmla="*/ 2147483647 w 1260"/>
                  <a:gd name="T29" fmla="*/ 2147483647 h 5054"/>
                  <a:gd name="T30" fmla="*/ 2147483647 w 1260"/>
                  <a:gd name="T31" fmla="*/ 2147483647 h 5054"/>
                  <a:gd name="T32" fmla="*/ 2147483647 w 1260"/>
                  <a:gd name="T33" fmla="*/ 2147483647 h 5054"/>
                  <a:gd name="T34" fmla="*/ 2147483647 w 1260"/>
                  <a:gd name="T35" fmla="*/ 2147483647 h 5054"/>
                  <a:gd name="T36" fmla="*/ 2147483647 w 1260"/>
                  <a:gd name="T37" fmla="*/ 2147483647 h 5054"/>
                  <a:gd name="T38" fmla="*/ 2147483647 w 1260"/>
                  <a:gd name="T39" fmla="*/ 2147483647 h 5054"/>
                  <a:gd name="T40" fmla="*/ 2147483647 w 1260"/>
                  <a:gd name="T41" fmla="*/ 2147483647 h 5054"/>
                  <a:gd name="T42" fmla="*/ 2147483647 w 1260"/>
                  <a:gd name="T43" fmla="*/ 2147483647 h 5054"/>
                  <a:gd name="T44" fmla="*/ 2147483647 w 1260"/>
                  <a:gd name="T45" fmla="*/ 2147483647 h 5054"/>
                  <a:gd name="T46" fmla="*/ 2147483647 w 1260"/>
                  <a:gd name="T47" fmla="*/ 2147483647 h 5054"/>
                  <a:gd name="T48" fmla="*/ 2147483647 w 1260"/>
                  <a:gd name="T49" fmla="*/ 2147483647 h 5054"/>
                  <a:gd name="T50" fmla="*/ 2147483647 w 1260"/>
                  <a:gd name="T51" fmla="*/ 2147483647 h 5054"/>
                  <a:gd name="T52" fmla="*/ 2147483647 w 1260"/>
                  <a:gd name="T53" fmla="*/ 2147483647 h 5054"/>
                  <a:gd name="T54" fmla="*/ 2147483647 w 1260"/>
                  <a:gd name="T55" fmla="*/ 2147483647 h 5054"/>
                  <a:gd name="T56" fmla="*/ 2147483647 w 1260"/>
                  <a:gd name="T57" fmla="*/ 2147483647 h 5054"/>
                  <a:gd name="T58" fmla="*/ 2147483647 w 1260"/>
                  <a:gd name="T59" fmla="*/ 2147483647 h 5054"/>
                  <a:gd name="T60" fmla="*/ 2147483647 w 1260"/>
                  <a:gd name="T61" fmla="*/ 2147483647 h 5054"/>
                  <a:gd name="T62" fmla="*/ 2147483647 w 1260"/>
                  <a:gd name="T63" fmla="*/ 2147483647 h 5054"/>
                  <a:gd name="T64" fmla="*/ 2147483647 w 1260"/>
                  <a:gd name="T65" fmla="*/ 2147483647 h 5054"/>
                  <a:gd name="T66" fmla="*/ 2147483647 w 1260"/>
                  <a:gd name="T67" fmla="*/ 2147483647 h 5054"/>
                  <a:gd name="T68" fmla="*/ 2147483647 w 1260"/>
                  <a:gd name="T69" fmla="*/ 2147483647 h 5054"/>
                  <a:gd name="T70" fmla="*/ 2147483647 w 1260"/>
                  <a:gd name="T71" fmla="*/ 2147483647 h 5054"/>
                  <a:gd name="T72" fmla="*/ 2147483647 w 1260"/>
                  <a:gd name="T73" fmla="*/ 2147483647 h 5054"/>
                  <a:gd name="T74" fmla="*/ 2147483647 w 1260"/>
                  <a:gd name="T75" fmla="*/ 2147483647 h 5054"/>
                  <a:gd name="T76" fmla="*/ 2147483647 w 1260"/>
                  <a:gd name="T77" fmla="*/ 2147483647 h 5054"/>
                  <a:gd name="T78" fmla="*/ 2147483647 w 1260"/>
                  <a:gd name="T79" fmla="*/ 2147483647 h 5054"/>
                  <a:gd name="T80" fmla="*/ 2147483647 w 1260"/>
                  <a:gd name="T81" fmla="*/ 2147483647 h 5054"/>
                  <a:gd name="T82" fmla="*/ 2147483647 w 1260"/>
                  <a:gd name="T83" fmla="*/ 2147483647 h 5054"/>
                  <a:gd name="T84" fmla="*/ 2147483647 w 1260"/>
                  <a:gd name="T85" fmla="*/ 2147483647 h 5054"/>
                  <a:gd name="T86" fmla="*/ 2147483647 w 1260"/>
                  <a:gd name="T87" fmla="*/ 2147483647 h 5054"/>
                  <a:gd name="T88" fmla="*/ 2147483647 w 1260"/>
                  <a:gd name="T89" fmla="*/ 2147483647 h 5054"/>
                  <a:gd name="T90" fmla="*/ 2147483647 w 1260"/>
                  <a:gd name="T91" fmla="*/ 2147483647 h 5054"/>
                  <a:gd name="T92" fmla="*/ 2147483647 w 1260"/>
                  <a:gd name="T93" fmla="*/ 2147483647 h 5054"/>
                  <a:gd name="T94" fmla="*/ 2147483647 w 1260"/>
                  <a:gd name="T95" fmla="*/ 2147483647 h 5054"/>
                  <a:gd name="T96" fmla="*/ 2147483647 w 1260"/>
                  <a:gd name="T97" fmla="*/ 2147483647 h 5054"/>
                  <a:gd name="T98" fmla="*/ 2147483647 w 1260"/>
                  <a:gd name="T99" fmla="*/ 2147483647 h 5054"/>
                  <a:gd name="T100" fmla="*/ 2147483647 w 1260"/>
                  <a:gd name="T101" fmla="*/ 2147483647 h 5054"/>
                  <a:gd name="T102" fmla="*/ 2147483647 w 1260"/>
                  <a:gd name="T103" fmla="*/ 2147483647 h 5054"/>
                  <a:gd name="T104" fmla="*/ 2147483647 w 1260"/>
                  <a:gd name="T105" fmla="*/ 2147483647 h 5054"/>
                  <a:gd name="T106" fmla="*/ 2147483647 w 1260"/>
                  <a:gd name="T107" fmla="*/ 2147483647 h 505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260"/>
                  <a:gd name="T163" fmla="*/ 0 h 5054"/>
                  <a:gd name="T164" fmla="*/ 1260 w 1260"/>
                  <a:gd name="T165" fmla="*/ 5054 h 5054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260" h="5054">
                    <a:moveTo>
                      <a:pt x="838" y="4104"/>
                    </a:moveTo>
                    <a:lnTo>
                      <a:pt x="829" y="4197"/>
                    </a:lnTo>
                    <a:lnTo>
                      <a:pt x="815" y="4292"/>
                    </a:lnTo>
                    <a:lnTo>
                      <a:pt x="794" y="4386"/>
                    </a:lnTo>
                    <a:lnTo>
                      <a:pt x="764" y="4473"/>
                    </a:lnTo>
                    <a:lnTo>
                      <a:pt x="728" y="4561"/>
                    </a:lnTo>
                    <a:lnTo>
                      <a:pt x="680" y="4642"/>
                    </a:lnTo>
                    <a:lnTo>
                      <a:pt x="629" y="4720"/>
                    </a:lnTo>
                    <a:lnTo>
                      <a:pt x="571" y="4788"/>
                    </a:lnTo>
                    <a:lnTo>
                      <a:pt x="505" y="4850"/>
                    </a:lnTo>
                    <a:lnTo>
                      <a:pt x="437" y="4906"/>
                    </a:lnTo>
                    <a:lnTo>
                      <a:pt x="364" y="4951"/>
                    </a:lnTo>
                    <a:lnTo>
                      <a:pt x="290" y="4992"/>
                    </a:lnTo>
                    <a:lnTo>
                      <a:pt x="206" y="5019"/>
                    </a:lnTo>
                    <a:lnTo>
                      <a:pt x="123" y="5040"/>
                    </a:lnTo>
                    <a:lnTo>
                      <a:pt x="40" y="5050"/>
                    </a:lnTo>
                    <a:lnTo>
                      <a:pt x="0" y="5054"/>
                    </a:lnTo>
                    <a:lnTo>
                      <a:pt x="66" y="5048"/>
                    </a:lnTo>
                    <a:lnTo>
                      <a:pt x="136" y="5034"/>
                    </a:lnTo>
                    <a:lnTo>
                      <a:pt x="206" y="5006"/>
                    </a:lnTo>
                    <a:lnTo>
                      <a:pt x="270" y="4975"/>
                    </a:lnTo>
                    <a:lnTo>
                      <a:pt x="332" y="4934"/>
                    </a:lnTo>
                    <a:lnTo>
                      <a:pt x="388" y="4882"/>
                    </a:lnTo>
                    <a:lnTo>
                      <a:pt x="435" y="4828"/>
                    </a:lnTo>
                    <a:lnTo>
                      <a:pt x="479" y="4763"/>
                    </a:lnTo>
                    <a:lnTo>
                      <a:pt x="517" y="4695"/>
                    </a:lnTo>
                    <a:lnTo>
                      <a:pt x="546" y="4619"/>
                    </a:lnTo>
                    <a:lnTo>
                      <a:pt x="567" y="4545"/>
                    </a:lnTo>
                    <a:lnTo>
                      <a:pt x="582" y="4467"/>
                    </a:lnTo>
                    <a:lnTo>
                      <a:pt x="585" y="4391"/>
                    </a:lnTo>
                    <a:lnTo>
                      <a:pt x="585" y="3098"/>
                    </a:lnTo>
                    <a:lnTo>
                      <a:pt x="590" y="3024"/>
                    </a:lnTo>
                    <a:lnTo>
                      <a:pt x="604" y="2951"/>
                    </a:lnTo>
                    <a:lnTo>
                      <a:pt x="629" y="2882"/>
                    </a:lnTo>
                    <a:lnTo>
                      <a:pt x="655" y="2815"/>
                    </a:lnTo>
                    <a:lnTo>
                      <a:pt x="693" y="2756"/>
                    </a:lnTo>
                    <a:lnTo>
                      <a:pt x="738" y="2699"/>
                    </a:lnTo>
                    <a:lnTo>
                      <a:pt x="785" y="2648"/>
                    </a:lnTo>
                    <a:lnTo>
                      <a:pt x="839" y="2607"/>
                    </a:lnTo>
                    <a:lnTo>
                      <a:pt x="897" y="2574"/>
                    </a:lnTo>
                    <a:lnTo>
                      <a:pt x="960" y="2549"/>
                    </a:lnTo>
                    <a:lnTo>
                      <a:pt x="1026" y="2537"/>
                    </a:lnTo>
                    <a:lnTo>
                      <a:pt x="1090" y="2527"/>
                    </a:lnTo>
                    <a:lnTo>
                      <a:pt x="1026" y="2515"/>
                    </a:lnTo>
                    <a:lnTo>
                      <a:pt x="960" y="2502"/>
                    </a:lnTo>
                    <a:lnTo>
                      <a:pt x="897" y="2477"/>
                    </a:lnTo>
                    <a:lnTo>
                      <a:pt x="839" y="2442"/>
                    </a:lnTo>
                    <a:lnTo>
                      <a:pt x="785" y="2401"/>
                    </a:lnTo>
                    <a:lnTo>
                      <a:pt x="738" y="2354"/>
                    </a:lnTo>
                    <a:lnTo>
                      <a:pt x="693" y="2296"/>
                    </a:lnTo>
                    <a:lnTo>
                      <a:pt x="655" y="2235"/>
                    </a:lnTo>
                    <a:lnTo>
                      <a:pt x="629" y="2170"/>
                    </a:lnTo>
                    <a:lnTo>
                      <a:pt x="604" y="2100"/>
                    </a:lnTo>
                    <a:lnTo>
                      <a:pt x="590" y="2026"/>
                    </a:lnTo>
                    <a:lnTo>
                      <a:pt x="585" y="1951"/>
                    </a:lnTo>
                    <a:lnTo>
                      <a:pt x="585" y="660"/>
                    </a:lnTo>
                    <a:lnTo>
                      <a:pt x="582" y="585"/>
                    </a:lnTo>
                    <a:lnTo>
                      <a:pt x="567" y="506"/>
                    </a:lnTo>
                    <a:lnTo>
                      <a:pt x="546" y="427"/>
                    </a:lnTo>
                    <a:lnTo>
                      <a:pt x="517" y="354"/>
                    </a:lnTo>
                    <a:lnTo>
                      <a:pt x="479" y="289"/>
                    </a:lnTo>
                    <a:lnTo>
                      <a:pt x="435" y="226"/>
                    </a:lnTo>
                    <a:lnTo>
                      <a:pt x="388" y="169"/>
                    </a:lnTo>
                    <a:lnTo>
                      <a:pt x="332" y="118"/>
                    </a:lnTo>
                    <a:lnTo>
                      <a:pt x="270" y="76"/>
                    </a:lnTo>
                    <a:lnTo>
                      <a:pt x="206" y="44"/>
                    </a:lnTo>
                    <a:lnTo>
                      <a:pt x="136" y="19"/>
                    </a:lnTo>
                    <a:lnTo>
                      <a:pt x="66" y="3"/>
                    </a:lnTo>
                    <a:lnTo>
                      <a:pt x="0" y="0"/>
                    </a:lnTo>
                    <a:lnTo>
                      <a:pt x="40" y="3"/>
                    </a:lnTo>
                    <a:lnTo>
                      <a:pt x="123" y="9"/>
                    </a:lnTo>
                    <a:lnTo>
                      <a:pt x="206" y="29"/>
                    </a:lnTo>
                    <a:lnTo>
                      <a:pt x="290" y="61"/>
                    </a:lnTo>
                    <a:lnTo>
                      <a:pt x="364" y="100"/>
                    </a:lnTo>
                    <a:lnTo>
                      <a:pt x="437" y="147"/>
                    </a:lnTo>
                    <a:lnTo>
                      <a:pt x="505" y="203"/>
                    </a:lnTo>
                    <a:lnTo>
                      <a:pt x="571" y="264"/>
                    </a:lnTo>
                    <a:lnTo>
                      <a:pt x="629" y="333"/>
                    </a:lnTo>
                    <a:lnTo>
                      <a:pt x="680" y="408"/>
                    </a:lnTo>
                    <a:lnTo>
                      <a:pt x="728" y="488"/>
                    </a:lnTo>
                    <a:lnTo>
                      <a:pt x="764" y="576"/>
                    </a:lnTo>
                    <a:lnTo>
                      <a:pt x="794" y="664"/>
                    </a:lnTo>
                    <a:lnTo>
                      <a:pt x="815" y="757"/>
                    </a:lnTo>
                    <a:lnTo>
                      <a:pt x="829" y="850"/>
                    </a:lnTo>
                    <a:lnTo>
                      <a:pt x="838" y="948"/>
                    </a:lnTo>
                    <a:lnTo>
                      <a:pt x="838" y="2047"/>
                    </a:lnTo>
                    <a:lnTo>
                      <a:pt x="842" y="2116"/>
                    </a:lnTo>
                    <a:lnTo>
                      <a:pt x="856" y="2184"/>
                    </a:lnTo>
                    <a:lnTo>
                      <a:pt x="874" y="2242"/>
                    </a:lnTo>
                    <a:lnTo>
                      <a:pt x="903" y="2302"/>
                    </a:lnTo>
                    <a:lnTo>
                      <a:pt x="937" y="2355"/>
                    </a:lnTo>
                    <a:lnTo>
                      <a:pt x="981" y="2405"/>
                    </a:lnTo>
                    <a:lnTo>
                      <a:pt x="1030" y="2442"/>
                    </a:lnTo>
                    <a:lnTo>
                      <a:pt x="1083" y="2477"/>
                    </a:lnTo>
                    <a:lnTo>
                      <a:pt x="1140" y="2502"/>
                    </a:lnTo>
                    <a:lnTo>
                      <a:pt x="1200" y="2515"/>
                    </a:lnTo>
                    <a:lnTo>
                      <a:pt x="1260" y="2523"/>
                    </a:lnTo>
                    <a:lnTo>
                      <a:pt x="1206" y="2530"/>
                    </a:lnTo>
                    <a:lnTo>
                      <a:pt x="1147" y="2543"/>
                    </a:lnTo>
                    <a:lnTo>
                      <a:pt x="1090" y="2569"/>
                    </a:lnTo>
                    <a:lnTo>
                      <a:pt x="1037" y="2598"/>
                    </a:lnTo>
                    <a:lnTo>
                      <a:pt x="987" y="2640"/>
                    </a:lnTo>
                    <a:lnTo>
                      <a:pt x="943" y="2687"/>
                    </a:lnTo>
                    <a:lnTo>
                      <a:pt x="908" y="2739"/>
                    </a:lnTo>
                    <a:lnTo>
                      <a:pt x="877" y="2798"/>
                    </a:lnTo>
                    <a:lnTo>
                      <a:pt x="858" y="2859"/>
                    </a:lnTo>
                    <a:lnTo>
                      <a:pt x="842" y="2923"/>
                    </a:lnTo>
                    <a:lnTo>
                      <a:pt x="838" y="2991"/>
                    </a:lnTo>
                    <a:lnTo>
                      <a:pt x="838" y="4104"/>
                    </a:lnTo>
                    <a:close/>
                  </a:path>
                </a:pathLst>
              </a:custGeom>
              <a:solidFill>
                <a:srgbClr val="5F5F5F"/>
              </a:soli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3" name="Text Box 21">
                <a:extLst>
                  <a:ext uri="{FF2B5EF4-FFF2-40B4-BE49-F238E27FC236}">
                    <a16:creationId xmlns:a16="http://schemas.microsoft.com/office/drawing/2014/main" id="{CBFA43BD-F36C-A3E0-B77E-A3B25C7B25B5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123089" y="1959557"/>
                <a:ext cx="544512" cy="2638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r" defTabSz="939800" eaLnBrk="0" fontAlgn="b" latinLnBrk="0" hangingPunct="0">
                  <a:defRPr/>
                </a:pPr>
                <a:r>
                  <a:rPr lang="en-US" altLang="ko-KR" sz="1100" kern="0" spc="-100" dirty="0">
                    <a:solidFill>
                      <a:sysClr val="windowText" lastClr="000000"/>
                    </a:solidFill>
                    <a:latin typeface="+mn-ea"/>
                  </a:rPr>
                  <a:t>Max</a:t>
                </a:r>
              </a:p>
            </p:txBody>
          </p:sp>
          <p:grpSp>
            <p:nvGrpSpPr>
              <p:cNvPr id="34" name="Group 22">
                <a:extLst>
                  <a:ext uri="{FF2B5EF4-FFF2-40B4-BE49-F238E27FC236}">
                    <a16:creationId xmlns:a16="http://schemas.microsoft.com/office/drawing/2014/main" id="{39597E36-5B9C-91AE-C5FA-BC8F845E3F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2590" y="2898468"/>
                <a:ext cx="2289175" cy="202"/>
                <a:chOff x="1248" y="2102"/>
                <a:chExt cx="1152" cy="202"/>
              </a:xfrm>
            </p:grpSpPr>
            <p:sp>
              <p:nvSpPr>
                <p:cNvPr id="58" name="Line 23">
                  <a:extLst>
                    <a:ext uri="{FF2B5EF4-FFF2-40B4-BE49-F238E27FC236}">
                      <a16:creationId xmlns:a16="http://schemas.microsoft.com/office/drawing/2014/main" id="{DA7919BD-46FD-E572-4D57-B609F1062D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2102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rgbClr val="5F5F5F"/>
                  </a:solidFill>
                  <a:prstDash val="dash"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59" name="Line 24">
                  <a:extLst>
                    <a:ext uri="{FF2B5EF4-FFF2-40B4-BE49-F238E27FC236}">
                      <a16:creationId xmlns:a16="http://schemas.microsoft.com/office/drawing/2014/main" id="{BADACDBD-DF50-07C8-E0F9-E7C4054972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2304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rgbClr val="5F5F5F"/>
                  </a:solidFill>
                  <a:prstDash val="dash"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</p:grpSp>
          <p:sp>
            <p:nvSpPr>
              <p:cNvPr id="35" name="Text Box 25">
                <a:extLst>
                  <a:ext uri="{FF2B5EF4-FFF2-40B4-BE49-F238E27FC236}">
                    <a16:creationId xmlns:a16="http://schemas.microsoft.com/office/drawing/2014/main" id="{4FD474FC-2EC2-67C7-2A78-2D95F8432FA3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210671" y="2129419"/>
                <a:ext cx="1301750" cy="2638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r" defTabSz="939800" eaLnBrk="0" fontAlgn="b" latinLnBrk="0" hangingPunct="0">
                  <a:defRPr/>
                </a:pPr>
                <a:r>
                  <a:rPr lang="en-US" altLang="ko-KR" sz="1100" kern="0" spc="-100" dirty="0">
                    <a:solidFill>
                      <a:sysClr val="windowText" lastClr="000000"/>
                    </a:solidFill>
                    <a:latin typeface="+mn-ea"/>
                  </a:rPr>
                  <a:t>Pay Policy Line</a:t>
                </a:r>
              </a:p>
            </p:txBody>
          </p:sp>
          <p:sp>
            <p:nvSpPr>
              <p:cNvPr id="36" name="Oval 26">
                <a:extLst>
                  <a:ext uri="{FF2B5EF4-FFF2-40B4-BE49-F238E27FC236}">
                    <a16:creationId xmlns:a16="http://schemas.microsoft.com/office/drawing/2014/main" id="{C5D08289-A18B-155E-F123-7C37E673A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8862" y="2168001"/>
                <a:ext cx="177800" cy="177800"/>
              </a:xfrm>
              <a:prstGeom prst="ellipse">
                <a:avLst/>
              </a:prstGeom>
              <a:solidFill>
                <a:srgbClr val="314152">
                  <a:lumMod val="75000"/>
                </a:srgbClr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>
                  <a:defRPr/>
                </a:pPr>
                <a:r>
                  <a:rPr lang="en-US" altLang="ko-KR" sz="1200" b="1" kern="0" spc="-100" dirty="0">
                    <a:solidFill>
                      <a:srgbClr val="FFFFFF"/>
                    </a:solidFill>
                    <a:latin typeface="+mn-ea"/>
                  </a:rPr>
                  <a:t>1</a:t>
                </a:r>
              </a:p>
            </p:txBody>
          </p:sp>
          <p:sp>
            <p:nvSpPr>
              <p:cNvPr id="37" name="Oval 27">
                <a:extLst>
                  <a:ext uri="{FF2B5EF4-FFF2-40B4-BE49-F238E27FC236}">
                    <a16:creationId xmlns:a16="http://schemas.microsoft.com/office/drawing/2014/main" id="{9E3ABB06-6D83-F4C6-1B4C-74476E604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038" y="2010357"/>
                <a:ext cx="177800" cy="176212"/>
              </a:xfrm>
              <a:prstGeom prst="ellipse">
                <a:avLst/>
              </a:prstGeom>
              <a:solidFill>
                <a:srgbClr val="314152">
                  <a:lumMod val="75000"/>
                </a:srgbClr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>
                  <a:defRPr/>
                </a:pPr>
                <a:r>
                  <a:rPr lang="en-US" altLang="ko-KR" sz="1200" b="1" kern="0" spc="-100" dirty="0">
                    <a:solidFill>
                      <a:srgbClr val="FFFFFF"/>
                    </a:solidFill>
                    <a:latin typeface="+mn-ea"/>
                  </a:rPr>
                  <a:t>3</a:t>
                </a:r>
              </a:p>
            </p:txBody>
          </p:sp>
          <p:sp>
            <p:nvSpPr>
              <p:cNvPr id="38" name="Oval 28">
                <a:extLst>
                  <a:ext uri="{FF2B5EF4-FFF2-40B4-BE49-F238E27FC236}">
                    <a16:creationId xmlns:a16="http://schemas.microsoft.com/office/drawing/2014/main" id="{DF0936BF-B320-4CFE-7667-FBDCC4EC3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150" y="3188282"/>
                <a:ext cx="176213" cy="177800"/>
              </a:xfrm>
              <a:prstGeom prst="ellipse">
                <a:avLst/>
              </a:prstGeom>
              <a:solidFill>
                <a:srgbClr val="314152">
                  <a:lumMod val="75000"/>
                </a:srgbClr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>
                  <a:defRPr/>
                </a:pPr>
                <a:r>
                  <a:rPr lang="en-US" altLang="ko-KR" sz="1200" b="1" kern="0" spc="-100" dirty="0">
                    <a:solidFill>
                      <a:srgbClr val="FFFFFF"/>
                    </a:solidFill>
                    <a:latin typeface="+mn-ea"/>
                  </a:rPr>
                  <a:t>5</a:t>
                </a:r>
              </a:p>
            </p:txBody>
          </p:sp>
          <p:grpSp>
            <p:nvGrpSpPr>
              <p:cNvPr id="39" name="Group 29">
                <a:extLst>
                  <a:ext uri="{FF2B5EF4-FFF2-40B4-BE49-F238E27FC236}">
                    <a16:creationId xmlns:a16="http://schemas.microsoft.com/office/drawing/2014/main" id="{33F52457-51A8-9196-70CC-5914FDC60C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6292" y="2030559"/>
                <a:ext cx="3476531" cy="2165896"/>
                <a:chOff x="336" y="1377"/>
                <a:chExt cx="2832" cy="2536"/>
              </a:xfrm>
            </p:grpSpPr>
            <p:sp>
              <p:nvSpPr>
                <p:cNvPr id="56" name="Line 30">
                  <a:extLst>
                    <a:ext uri="{FF2B5EF4-FFF2-40B4-BE49-F238E27FC236}">
                      <a16:creationId xmlns:a16="http://schemas.microsoft.com/office/drawing/2014/main" id="{5C5E720E-BF11-692D-E285-13D5FF8EE1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1377"/>
                  <a:ext cx="0" cy="253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57" name="Line 31">
                  <a:extLst>
                    <a:ext uri="{FF2B5EF4-FFF2-40B4-BE49-F238E27FC236}">
                      <a16:creationId xmlns:a16="http://schemas.microsoft.com/office/drawing/2014/main" id="{D5FF58FA-00EE-5188-21C9-15E6951C7B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3913"/>
                  <a:ext cx="283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</p:grpSp>
          <p:sp>
            <p:nvSpPr>
              <p:cNvPr id="40" name="Text Box 32">
                <a:extLst>
                  <a:ext uri="{FF2B5EF4-FFF2-40B4-BE49-F238E27FC236}">
                    <a16:creationId xmlns:a16="http://schemas.microsoft.com/office/drawing/2014/main" id="{41DD99CD-E802-FBEE-2EF6-82F32C8E4D50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996620" y="4181884"/>
                <a:ext cx="550862" cy="24840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ctr" defTabSz="939800" eaLnBrk="0" fontAlgn="b" latinLnBrk="0" hangingPunct="0">
                  <a:defRPr/>
                </a:pPr>
                <a:r>
                  <a:rPr lang="ko-KR" altLang="en-US" sz="1000" kern="0" spc="-100" dirty="0">
                    <a:solidFill>
                      <a:sysClr val="windowText" lastClr="000000"/>
                    </a:solidFill>
                    <a:latin typeface="+mn-ea"/>
                  </a:rPr>
                  <a:t>직급</a:t>
                </a:r>
              </a:p>
            </p:txBody>
          </p:sp>
          <p:sp>
            <p:nvSpPr>
              <p:cNvPr id="41" name="Text Box 33">
                <a:extLst>
                  <a:ext uri="{FF2B5EF4-FFF2-40B4-BE49-F238E27FC236}">
                    <a16:creationId xmlns:a16="http://schemas.microsoft.com/office/drawing/2014/main" id="{3FC8F548-69E1-5890-661C-3A45EDE44E3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620638" y="1962754"/>
                <a:ext cx="214770" cy="40238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46800" rIns="0" bIns="46800">
                <a:spAutoFit/>
              </a:bodyPr>
              <a:lstStyle/>
              <a:p>
                <a:pPr algn="r" defTabSz="939800" eaLnBrk="0" fontAlgn="b" latinLnBrk="0" hangingPunct="0">
                  <a:defRPr/>
                </a:pPr>
                <a:r>
                  <a:rPr lang="ko-KR" altLang="en-US" sz="1000" kern="0" spc="-100" dirty="0">
                    <a:solidFill>
                      <a:sysClr val="windowText" lastClr="000000"/>
                    </a:solidFill>
                    <a:latin typeface="+mn-ea"/>
                  </a:rPr>
                  <a:t>보상</a:t>
                </a:r>
                <a:br>
                  <a:rPr lang="ko-KR" altLang="en-US" sz="1000" kern="0" spc="-100" dirty="0">
                    <a:solidFill>
                      <a:sysClr val="windowText" lastClr="000000"/>
                    </a:solidFill>
                    <a:latin typeface="+mn-ea"/>
                  </a:rPr>
                </a:br>
                <a:r>
                  <a:rPr lang="ko-KR" altLang="en-US" sz="1000" kern="0" spc="-100" dirty="0">
                    <a:solidFill>
                      <a:sysClr val="windowText" lastClr="000000"/>
                    </a:solidFill>
                    <a:latin typeface="+mn-ea"/>
                  </a:rPr>
                  <a:t>수준</a:t>
                </a:r>
              </a:p>
            </p:txBody>
          </p:sp>
          <p:sp>
            <p:nvSpPr>
              <p:cNvPr id="42" name="Rectangle 34" descr="어두운 상향 대각선">
                <a:extLst>
                  <a:ext uri="{FF2B5EF4-FFF2-40B4-BE49-F238E27FC236}">
                    <a16:creationId xmlns:a16="http://schemas.microsoft.com/office/drawing/2014/main" id="{09B25FF9-46AA-04E5-E423-5B31A4AB6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488" y="2910236"/>
                <a:ext cx="1587500" cy="324072"/>
              </a:xfrm>
              <a:prstGeom prst="rect">
                <a:avLst/>
              </a:prstGeom>
              <a:pattFill prst="dkUpDiag">
                <a:fgClr>
                  <a:srgbClr val="B2B2B2">
                    <a:alpha val="50195"/>
                  </a:srgb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43" name="Text Box 35">
                <a:extLst>
                  <a:ext uri="{FF2B5EF4-FFF2-40B4-BE49-F238E27FC236}">
                    <a16:creationId xmlns:a16="http://schemas.microsoft.com/office/drawing/2014/main" id="{0E29EDCC-6A49-A7D6-FB21-0F06D82BD13B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3170244" y="2924611"/>
                <a:ext cx="822325" cy="2638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r" defTabSz="939800" eaLnBrk="0" fontAlgn="b" latinLnBrk="0" hangingPunct="0">
                  <a:defRPr/>
                </a:pPr>
                <a:r>
                  <a:rPr lang="en-US" altLang="ko-KR" sz="1100" kern="0" spc="-100" dirty="0">
                    <a:solidFill>
                      <a:sysClr val="windowText" lastClr="000000"/>
                    </a:solidFill>
                    <a:latin typeface="+mn-ea"/>
                  </a:rPr>
                  <a:t>Overlap</a:t>
                </a:r>
              </a:p>
            </p:txBody>
          </p:sp>
          <p:sp>
            <p:nvSpPr>
              <p:cNvPr id="44" name="Oval 36">
                <a:extLst>
                  <a:ext uri="{FF2B5EF4-FFF2-40B4-BE49-F238E27FC236}">
                    <a16:creationId xmlns:a16="http://schemas.microsoft.com/office/drawing/2014/main" id="{37E32060-77D4-706A-FCE4-1479981FE1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71699" y="2969574"/>
                <a:ext cx="177800" cy="176213"/>
              </a:xfrm>
              <a:prstGeom prst="ellipse">
                <a:avLst/>
              </a:prstGeom>
              <a:solidFill>
                <a:srgbClr val="314152">
                  <a:lumMod val="75000"/>
                </a:srgbClr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>
                  <a:defRPr/>
                </a:pPr>
                <a:r>
                  <a:rPr lang="en-US" altLang="ko-KR" sz="1200" b="1" kern="0" spc="-100" dirty="0">
                    <a:solidFill>
                      <a:srgbClr val="FFFFFF"/>
                    </a:solidFill>
                    <a:latin typeface="+mn-ea"/>
                  </a:rPr>
                  <a:t>6</a:t>
                </a:r>
              </a:p>
            </p:txBody>
          </p:sp>
          <p:sp>
            <p:nvSpPr>
              <p:cNvPr id="45" name="Line 37">
                <a:extLst>
                  <a:ext uri="{FF2B5EF4-FFF2-40B4-BE49-F238E27FC236}">
                    <a16:creationId xmlns:a16="http://schemas.microsoft.com/office/drawing/2014/main" id="{90DA532C-6E6C-5D58-DBAF-F1914621F9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71625" y="2323094"/>
                <a:ext cx="1776413" cy="140493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46" name="Oval 38">
                <a:extLst>
                  <a:ext uri="{FF2B5EF4-FFF2-40B4-BE49-F238E27FC236}">
                    <a16:creationId xmlns:a16="http://schemas.microsoft.com/office/drawing/2014/main" id="{E3412992-2A33-F6A1-1CB4-8B5278321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538" y="2629482"/>
                <a:ext cx="44450" cy="44450"/>
              </a:xfrm>
              <a:prstGeom prst="ellipse">
                <a:avLst/>
              </a:prstGeom>
              <a:solidFill>
                <a:srgbClr val="CC0000"/>
              </a:solidFill>
              <a:ln w="9525" algn="ctr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lIns="72000" tIns="46800" rIns="72000" bIns="46800" anchor="ctr"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47" name="Oval 39">
                <a:extLst>
                  <a:ext uri="{FF2B5EF4-FFF2-40B4-BE49-F238E27FC236}">
                    <a16:creationId xmlns:a16="http://schemas.microsoft.com/office/drawing/2014/main" id="{97F23D37-3D9B-16A3-18DF-F7BEC5C3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538" y="2054807"/>
                <a:ext cx="44450" cy="44450"/>
              </a:xfrm>
              <a:prstGeom prst="ellipse">
                <a:avLst/>
              </a:prstGeom>
              <a:solidFill>
                <a:srgbClr val="CC0000"/>
              </a:solidFill>
              <a:ln w="9525" algn="ctr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lIns="72000" tIns="46800" rIns="72000" bIns="46800" anchor="ctr"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48" name="Oval 40">
                <a:extLst>
                  <a:ext uri="{FF2B5EF4-FFF2-40B4-BE49-F238E27FC236}">
                    <a16:creationId xmlns:a16="http://schemas.microsoft.com/office/drawing/2014/main" id="{E1CFEB34-2C5E-58DD-67C0-DDEF27334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125" y="3196219"/>
                <a:ext cx="44450" cy="41275"/>
              </a:xfrm>
              <a:prstGeom prst="ellipse">
                <a:avLst/>
              </a:prstGeom>
              <a:solidFill>
                <a:srgbClr val="CC0000"/>
              </a:solidFill>
              <a:ln w="9525" algn="ctr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lIns="72000" tIns="46800" rIns="72000" bIns="46800" anchor="ctr"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49" name="Oval 41">
                <a:extLst>
                  <a:ext uri="{FF2B5EF4-FFF2-40B4-BE49-F238E27FC236}">
                    <a16:creationId xmlns:a16="http://schemas.microsoft.com/office/drawing/2014/main" id="{4228AE68-890D-4C97-66BA-E248A198B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038" y="3127957"/>
                <a:ext cx="177800" cy="177800"/>
              </a:xfrm>
              <a:prstGeom prst="ellipse">
                <a:avLst/>
              </a:prstGeom>
              <a:solidFill>
                <a:srgbClr val="314152">
                  <a:lumMod val="75000"/>
                </a:srgbClr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>
                  <a:defRPr/>
                </a:pPr>
                <a:r>
                  <a:rPr lang="en-US" altLang="ko-KR" sz="1200" b="1" kern="0" spc="-100" dirty="0">
                    <a:solidFill>
                      <a:srgbClr val="FFFFFF"/>
                    </a:solidFill>
                    <a:latin typeface="+mn-ea"/>
                  </a:rPr>
                  <a:t>2</a:t>
                </a:r>
              </a:p>
            </p:txBody>
          </p:sp>
          <p:sp>
            <p:nvSpPr>
              <p:cNvPr id="50" name="Text Box 42">
                <a:extLst>
                  <a:ext uri="{FF2B5EF4-FFF2-40B4-BE49-F238E27FC236}">
                    <a16:creationId xmlns:a16="http://schemas.microsoft.com/office/drawing/2014/main" id="{86ECD6C5-F66F-6683-6B73-48FFF5060A37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123089" y="3127957"/>
                <a:ext cx="544512" cy="2638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r" defTabSz="939800" eaLnBrk="0" fontAlgn="b" latinLnBrk="0" hangingPunct="0">
                  <a:defRPr/>
                </a:pPr>
                <a:r>
                  <a:rPr lang="en-US" altLang="ko-KR" sz="1100" kern="0" spc="-100" dirty="0">
                    <a:solidFill>
                      <a:sysClr val="windowText" lastClr="000000"/>
                    </a:solidFill>
                    <a:latin typeface="+mn-ea"/>
                  </a:rPr>
                  <a:t>Min</a:t>
                </a:r>
              </a:p>
            </p:txBody>
          </p:sp>
          <p:sp>
            <p:nvSpPr>
              <p:cNvPr id="51" name="Text Box 43">
                <a:extLst>
                  <a:ext uri="{FF2B5EF4-FFF2-40B4-BE49-F238E27FC236}">
                    <a16:creationId xmlns:a16="http://schemas.microsoft.com/office/drawing/2014/main" id="{37641974-8DCA-FC30-FCB4-773ED8D94CA6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821464" y="2532644"/>
                <a:ext cx="846137" cy="2638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 algn="r" defTabSz="939800" eaLnBrk="0" fontAlgn="b" latinLnBrk="0" hangingPunct="0">
                  <a:defRPr/>
                </a:pPr>
                <a:r>
                  <a:rPr lang="en-US" altLang="ko-KR" sz="1100" kern="0" spc="-100" dirty="0">
                    <a:solidFill>
                      <a:sysClr val="windowText" lastClr="000000"/>
                    </a:solidFill>
                    <a:latin typeface="+mn-ea"/>
                  </a:rPr>
                  <a:t>Midpoint</a:t>
                </a:r>
              </a:p>
            </p:txBody>
          </p:sp>
          <p:sp>
            <p:nvSpPr>
              <p:cNvPr id="52" name="Oval 44">
                <a:extLst>
                  <a:ext uri="{FF2B5EF4-FFF2-40B4-BE49-F238E27FC236}">
                    <a16:creationId xmlns:a16="http://schemas.microsoft.com/office/drawing/2014/main" id="{14D9AB44-E615-60D6-2F29-78F697255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3038" y="2581857"/>
                <a:ext cx="177800" cy="177800"/>
              </a:xfrm>
              <a:prstGeom prst="ellipse">
                <a:avLst/>
              </a:prstGeom>
              <a:solidFill>
                <a:srgbClr val="314152">
                  <a:lumMod val="75000"/>
                </a:srgbClr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>
                  <a:defRPr/>
                </a:pPr>
                <a:r>
                  <a:rPr lang="en-US" altLang="ko-KR" sz="1200" b="1" kern="0" spc="-100" dirty="0">
                    <a:solidFill>
                      <a:srgbClr val="FFFFFF"/>
                    </a:solidFill>
                    <a:latin typeface="+mn-ea"/>
                  </a:rPr>
                  <a:t>4</a:t>
                </a:r>
              </a:p>
            </p:txBody>
          </p:sp>
          <p:grpSp>
            <p:nvGrpSpPr>
              <p:cNvPr id="53" name="Group 22">
                <a:extLst>
                  <a:ext uri="{FF2B5EF4-FFF2-40B4-BE49-F238E27FC236}">
                    <a16:creationId xmlns:a16="http://schemas.microsoft.com/office/drawing/2014/main" id="{7CEC14B7-8FD3-1599-6F36-5B8424E78E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2590" y="3467131"/>
                <a:ext cx="2289175" cy="202"/>
                <a:chOff x="1248" y="2102"/>
                <a:chExt cx="1152" cy="202"/>
              </a:xfrm>
            </p:grpSpPr>
            <p:sp>
              <p:nvSpPr>
                <p:cNvPr id="54" name="Line 23">
                  <a:extLst>
                    <a:ext uri="{FF2B5EF4-FFF2-40B4-BE49-F238E27FC236}">
                      <a16:creationId xmlns:a16="http://schemas.microsoft.com/office/drawing/2014/main" id="{AD21A966-0E9C-7448-71CE-9754B857D1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2102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rgbClr val="5F5F5F"/>
                  </a:solidFill>
                  <a:prstDash val="dash"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55" name="Line 24">
                  <a:extLst>
                    <a:ext uri="{FF2B5EF4-FFF2-40B4-BE49-F238E27FC236}">
                      <a16:creationId xmlns:a16="http://schemas.microsoft.com/office/drawing/2014/main" id="{9C04685E-8DE0-5386-1264-E0F3118141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2304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rgbClr val="5F5F5F"/>
                  </a:solidFill>
                  <a:prstDash val="dash"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algn="r" latinLnBrk="0">
                    <a:defRPr/>
                  </a:pPr>
                  <a:endParaRPr lang="ko-KR" altLang="en-US" kern="0" spc="-10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E71563BE-545B-0476-C67A-6F71B99570E9}"/>
                </a:ext>
              </a:extLst>
            </p:cNvPr>
            <p:cNvGrpSpPr/>
            <p:nvPr/>
          </p:nvGrpSpPr>
          <p:grpSpPr>
            <a:xfrm>
              <a:off x="273050" y="1631187"/>
              <a:ext cx="4397790" cy="319435"/>
              <a:chOff x="488950" y="1879556"/>
              <a:chExt cx="8928100" cy="300521"/>
            </a:xfrm>
          </p:grpSpPr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9B028624-1E34-DDEF-FEC5-E25725E6CE9C}"/>
                  </a:ext>
                </a:extLst>
              </p:cNvPr>
              <p:cNvCxnSpPr/>
              <p:nvPr/>
            </p:nvCxnSpPr>
            <p:spPr>
              <a:xfrm>
                <a:off x="488950" y="2168860"/>
                <a:ext cx="8928100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9F19E7FD-AC34-E4F1-98BB-AC29765D4CBE}"/>
                  </a:ext>
                </a:extLst>
              </p:cNvPr>
              <p:cNvSpPr/>
              <p:nvPr/>
            </p:nvSpPr>
            <p:spPr>
              <a:xfrm>
                <a:off x="488950" y="1879556"/>
                <a:ext cx="8928099" cy="300521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 defTabSz="913852" eaLnBrk="0" fontAlgn="base" latinLnBrk="0" hangingPunct="0">
                  <a:spcBef>
                    <a:spcPts val="600"/>
                  </a:spcBef>
                  <a:spcAft>
                    <a:spcPct val="0"/>
                  </a:spcAft>
                  <a:buClr>
                    <a:prstClr val="black"/>
                  </a:buClr>
                  <a:buSzPct val="90000"/>
                  <a:defRPr/>
                </a:pPr>
                <a:r>
                  <a:rPr kumimoji="1" lang="en-US" altLang="ko-KR" sz="1400" b="1" kern="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itchFamily="34" charset="0"/>
                  </a:rPr>
                  <a:t>Pay Band </a:t>
                </a:r>
                <a:r>
                  <a:rPr kumimoji="1" lang="ko-KR" altLang="en-US" sz="1400" b="1" kern="0" spc="-10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itchFamily="34" charset="0"/>
                  </a:rPr>
                  <a:t>개념</a:t>
                </a:r>
                <a:endParaRPr kumimoji="1" lang="en-US" altLang="ko-KR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endParaRPr>
              </a:p>
            </p:txBody>
          </p:sp>
        </p:grp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BB6DCA71-60CC-08D4-051E-F5A51FA4B1FE}"/>
              </a:ext>
            </a:extLst>
          </p:cNvPr>
          <p:cNvGrpSpPr/>
          <p:nvPr/>
        </p:nvGrpSpPr>
        <p:grpSpPr>
          <a:xfrm>
            <a:off x="5097462" y="1631187"/>
            <a:ext cx="4535488" cy="319435"/>
            <a:chOff x="488950" y="1879556"/>
            <a:chExt cx="8928100" cy="300521"/>
          </a:xfrm>
        </p:grpSpPr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B3EBDD86-7053-7E41-F632-7DDBD1169AC6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386ECED-7F63-CB41-6FFE-843A97D5DB92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latin typeface="+mn-ea"/>
                </a:rPr>
                <a:t>보상전략</a:t>
              </a:r>
              <a:r>
                <a:rPr lang="en-US" altLang="ko-KR" sz="1400" b="1" kern="0" baseline="30000" dirty="0">
                  <a:solidFill>
                    <a:srgbClr val="000000"/>
                  </a:solidFill>
                  <a:latin typeface="+mn-ea"/>
                </a:rPr>
                <a:t>1</a:t>
              </a:r>
              <a:r>
                <a:rPr lang="en-US" altLang="ko-KR" sz="1400" b="1" kern="0" dirty="0">
                  <a:solidFill>
                    <a:srgbClr val="000000"/>
                  </a:solidFill>
                  <a:latin typeface="+mn-ea"/>
                </a:rPr>
                <a:t>(Pay Policy)</a:t>
              </a:r>
              <a:r>
                <a:rPr lang="ko-KR" altLang="en-US" sz="1400" b="1" kern="0" dirty="0">
                  <a:solidFill>
                    <a:srgbClr val="000000"/>
                  </a:solidFill>
                  <a:latin typeface="+mn-ea"/>
                </a:rPr>
                <a:t>설정</a:t>
              </a: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56117367-2610-8608-1FE1-DE64CD5D1A4C}"/>
              </a:ext>
            </a:extLst>
          </p:cNvPr>
          <p:cNvGrpSpPr/>
          <p:nvPr/>
        </p:nvGrpSpPr>
        <p:grpSpPr>
          <a:xfrm>
            <a:off x="5119091" y="2060575"/>
            <a:ext cx="4506208" cy="3990051"/>
            <a:chOff x="3934687" y="2243266"/>
            <a:chExt cx="5521296" cy="3709963"/>
          </a:xfrm>
        </p:grpSpPr>
        <p:sp>
          <p:nvSpPr>
            <p:cNvPr id="135" name="직사각형 323">
              <a:extLst>
                <a:ext uri="{FF2B5EF4-FFF2-40B4-BE49-F238E27FC236}">
                  <a16:creationId xmlns:a16="http://schemas.microsoft.com/office/drawing/2014/main" id="{C699933D-20D9-D2E0-FDB3-09D277CA1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4687" y="5564751"/>
              <a:ext cx="5521296" cy="38847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tabLst>
                  <a:tab pos="1071563" algn="l"/>
                </a:tabLst>
              </a:pPr>
              <a:r>
                <a:rPr kumimoji="1" lang="en-US" altLang="ko-KR" sz="900" kern="0" spc="-100" dirty="0">
                  <a:solidFill>
                    <a:srgbClr val="000000"/>
                  </a:solidFill>
                  <a:latin typeface="+mn-ea"/>
                </a:rPr>
                <a:t>1)  </a:t>
              </a:r>
              <a:r>
                <a:rPr kumimoji="1" lang="ko-KR" altLang="en-US" sz="900" kern="0" spc="-100" dirty="0">
                  <a:solidFill>
                    <a:srgbClr val="000000"/>
                  </a:solidFill>
                  <a:latin typeface="+mn-ea"/>
                </a:rPr>
                <a:t>구성원 임금수준의 전략적 지향점으로</a:t>
              </a:r>
              <a:r>
                <a:rPr kumimoji="1" lang="en-US" altLang="ko-KR" sz="900" kern="0" spc="-100" dirty="0">
                  <a:solidFill>
                    <a:srgbClr val="000000"/>
                  </a:solidFill>
                  <a:latin typeface="+mn-ea"/>
                </a:rPr>
                <a:t>, Market </a:t>
              </a:r>
              <a:r>
                <a:rPr kumimoji="1" lang="ko-KR" altLang="en-US" sz="900" kern="0" spc="-100" dirty="0">
                  <a:solidFill>
                    <a:srgbClr val="000000"/>
                  </a:solidFill>
                  <a:latin typeface="+mn-ea"/>
                </a:rPr>
                <a:t>대비 보상 경쟁력을 의미</a:t>
              </a:r>
              <a:endParaRPr kumimoji="1" lang="en-US" altLang="ko-KR" sz="900" kern="0" spc="-100" dirty="0">
                <a:solidFill>
                  <a:srgbClr val="000000"/>
                </a:solidFill>
                <a:latin typeface="+mn-ea"/>
              </a:endParaRPr>
            </a:p>
            <a:p>
              <a:pPr>
                <a:lnSpc>
                  <a:spcPct val="120000"/>
                </a:lnSpc>
                <a:tabLst>
                  <a:tab pos="1071563" algn="l"/>
                </a:tabLst>
              </a:pPr>
              <a:r>
                <a:rPr kumimoji="1" lang="en-US" altLang="ko-KR" sz="900" kern="0" spc="-100" dirty="0">
                  <a:solidFill>
                    <a:srgbClr val="000000"/>
                  </a:solidFill>
                  <a:latin typeface="+mn-ea"/>
                </a:rPr>
                <a:t>2)  </a:t>
              </a:r>
              <a:r>
                <a:rPr kumimoji="1" lang="ko-KR" altLang="en-US" sz="900" kern="0" spc="-100" dirty="0">
                  <a:solidFill>
                    <a:srgbClr val="000000"/>
                  </a:solidFill>
                  <a:latin typeface="+mn-ea"/>
                </a:rPr>
                <a:t>데이터를 크기 순서대로 정렬하였을 때 최저수준부터</a:t>
              </a:r>
              <a:r>
                <a:rPr kumimoji="1" lang="en-US" altLang="ko-KR" sz="900" kern="0" spc="-100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kumimoji="1" lang="ko-KR" altLang="en-US" sz="900" kern="0" spc="-100" dirty="0">
                  <a:solidFill>
                    <a:srgbClr val="000000"/>
                  </a:solidFill>
                  <a:latin typeface="+mn-ea"/>
                </a:rPr>
                <a:t>중앙점</a:t>
              </a:r>
              <a:r>
                <a:rPr kumimoji="1" lang="en-US" altLang="ko-KR" sz="900" kern="0" spc="-100" dirty="0">
                  <a:solidFill>
                    <a:srgbClr val="000000"/>
                  </a:solidFill>
                  <a:latin typeface="+mn-ea"/>
                </a:rPr>
                <a:t>(Median)</a:t>
              </a:r>
              <a:r>
                <a:rPr kumimoji="1" lang="ko-KR" altLang="en-US" sz="900" kern="0" spc="-100" dirty="0">
                  <a:solidFill>
                    <a:srgbClr val="000000"/>
                  </a:solidFill>
                  <a:latin typeface="+mn-ea"/>
                </a:rPr>
                <a:t>이며</a:t>
              </a:r>
              <a:r>
                <a:rPr kumimoji="1" lang="en-US" altLang="ko-KR" sz="900" kern="0" spc="-100" dirty="0">
                  <a:solidFill>
                    <a:srgbClr val="000000"/>
                  </a:solidFill>
                  <a:latin typeface="+mn-ea"/>
                </a:rPr>
                <a:t>, </a:t>
              </a:r>
              <a:r>
                <a:rPr kumimoji="1" lang="ko-KR" altLang="en-US" sz="900" kern="0" spc="-100" dirty="0">
                  <a:solidFill>
                    <a:srgbClr val="000000"/>
                  </a:solidFill>
                  <a:latin typeface="+mn-ea"/>
                </a:rPr>
                <a:t>평균</a:t>
              </a:r>
              <a:r>
                <a:rPr kumimoji="1" lang="en-US" altLang="ko-KR" sz="900" kern="0" spc="-100" dirty="0">
                  <a:solidFill>
                    <a:srgbClr val="000000"/>
                  </a:solidFill>
                  <a:latin typeface="+mn-ea"/>
                </a:rPr>
                <a:t>(Average)</a:t>
              </a:r>
              <a:r>
                <a:rPr kumimoji="1" lang="ko-KR" altLang="en-US" sz="900" kern="0" spc="-100" dirty="0">
                  <a:solidFill>
                    <a:srgbClr val="000000"/>
                  </a:solidFill>
                  <a:latin typeface="+mn-ea"/>
                </a:rPr>
                <a:t>와는 다름</a:t>
              </a:r>
            </a:p>
          </p:txBody>
        </p: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9ECCE9ED-1D28-D451-BC3B-ACE714664B0F}"/>
                </a:ext>
              </a:extLst>
            </p:cNvPr>
            <p:cNvGrpSpPr/>
            <p:nvPr/>
          </p:nvGrpSpPr>
          <p:grpSpPr>
            <a:xfrm>
              <a:off x="6225457" y="2465558"/>
              <a:ext cx="3186107" cy="2808074"/>
              <a:chOff x="2537540" y="2452858"/>
              <a:chExt cx="3136185" cy="2808074"/>
            </a:xfrm>
          </p:grpSpPr>
          <p:sp>
            <p:nvSpPr>
              <p:cNvPr id="137" name="Rectangle 11">
                <a:extLst>
                  <a:ext uri="{FF2B5EF4-FFF2-40B4-BE49-F238E27FC236}">
                    <a16:creationId xmlns:a16="http://schemas.microsoft.com/office/drawing/2014/main" id="{9F046A37-237A-4B06-01A9-96EE00F12CF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684778" y="2452858"/>
                <a:ext cx="2863064" cy="2873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latinLnBrk="0">
                  <a:spcBef>
                    <a:spcPct val="0"/>
                  </a:spcBef>
                </a:pPr>
                <a:r>
                  <a:rPr lang="en-US" altLang="ko-KR" sz="1200" b="1" kern="0" dirty="0">
                    <a:solidFill>
                      <a:srgbClr val="000000"/>
                    </a:solidFill>
                    <a:latin typeface="+mn-ea"/>
                  </a:rPr>
                  <a:t>Market Leading Policy</a:t>
                </a:r>
                <a:endParaRPr lang="ko-KR" altLang="en-US" sz="1200" b="1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38" name="Text Box 12">
                <a:extLst>
                  <a:ext uri="{FF2B5EF4-FFF2-40B4-BE49-F238E27FC236}">
                    <a16:creationId xmlns:a16="http://schemas.microsoft.com/office/drawing/2014/main" id="{3C722F85-75D1-71F1-8CD6-0FEB144C3B5E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537541" y="2746545"/>
                <a:ext cx="3125149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144000" indent="-14400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Char char="•"/>
                  <a:tabLst>
                    <a:tab pos="1071563" algn="l"/>
                  </a:tabLst>
                  <a:defRPr/>
                </a:pPr>
                <a:r>
                  <a:rPr kumimoji="1" lang="en-US" altLang="ko-KR" sz="1000" kern="0" spc="-100" dirty="0">
                    <a:solidFill>
                      <a:srgbClr val="000000"/>
                    </a:solidFill>
                  </a:rPr>
                  <a:t>Market </a:t>
                </a:r>
                <a:r>
                  <a:rPr kumimoji="1" lang="ko-KR" altLang="en-US" sz="1000" kern="0" spc="-100" dirty="0">
                    <a:solidFill>
                      <a:srgbClr val="000000"/>
                    </a:solidFill>
                  </a:rPr>
                  <a:t>대비 높은 수준의 보상정책</a:t>
                </a:r>
                <a:r>
                  <a:rPr kumimoji="1" lang="en-US" altLang="ko-KR" sz="1000" kern="0" spc="-100" dirty="0">
                    <a:solidFill>
                      <a:srgbClr val="000000"/>
                    </a:solidFill>
                  </a:rPr>
                  <a:t>(75%ile </a:t>
                </a:r>
                <a:r>
                  <a:rPr kumimoji="1" lang="ko-KR" altLang="en-US" sz="1000" kern="0" spc="-100" dirty="0">
                    <a:solidFill>
                      <a:srgbClr val="000000"/>
                    </a:solidFill>
                  </a:rPr>
                  <a:t>이상</a:t>
                </a:r>
                <a:r>
                  <a:rPr kumimoji="1" lang="en-US" altLang="ko-KR" sz="1000" kern="0" spc="-100" dirty="0">
                    <a:solidFill>
                      <a:srgbClr val="000000"/>
                    </a:solidFill>
                  </a:rPr>
                  <a:t>)</a:t>
                </a:r>
              </a:p>
              <a:p>
                <a:pPr marL="144000" indent="-14400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Char char="•"/>
                  <a:tabLst>
                    <a:tab pos="1071563" algn="l"/>
                  </a:tabLst>
                  <a:defRPr/>
                </a:pPr>
                <a:r>
                  <a:rPr kumimoji="1" lang="ko-KR" altLang="en-US" sz="1000" kern="0" spc="-100" dirty="0">
                    <a:solidFill>
                      <a:srgbClr val="000000"/>
                    </a:solidFill>
                  </a:rPr>
                  <a:t>우수인재 확보</a:t>
                </a:r>
                <a:r>
                  <a:rPr kumimoji="1" lang="en-US" altLang="ko-KR" sz="1000" kern="0" spc="-100" dirty="0">
                    <a:solidFill>
                      <a:srgbClr val="000000"/>
                    </a:solidFill>
                  </a:rPr>
                  <a:t>/</a:t>
                </a:r>
                <a:r>
                  <a:rPr kumimoji="1" lang="ko-KR" altLang="en-US" sz="1000" kern="0" spc="-100" dirty="0">
                    <a:solidFill>
                      <a:srgbClr val="000000"/>
                    </a:solidFill>
                  </a:rPr>
                  <a:t>유지 강화 또는 인력수급이 어려운 경우 활용</a:t>
                </a:r>
              </a:p>
            </p:txBody>
          </p:sp>
          <p:sp>
            <p:nvSpPr>
              <p:cNvPr id="139" name="Rectangle 13">
                <a:extLst>
                  <a:ext uri="{FF2B5EF4-FFF2-40B4-BE49-F238E27FC236}">
                    <a16:creationId xmlns:a16="http://schemas.microsoft.com/office/drawing/2014/main" id="{1AFD3023-9887-284F-53E3-35A96A92DF0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707003" y="3475958"/>
                <a:ext cx="2863064" cy="2873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latinLnBrk="0">
                  <a:spcBef>
                    <a:spcPct val="0"/>
                  </a:spcBef>
                </a:pPr>
                <a:r>
                  <a:rPr lang="en-US" altLang="ko-KR" sz="1200" b="1" kern="0" dirty="0">
                    <a:solidFill>
                      <a:srgbClr val="000000"/>
                    </a:solidFill>
                    <a:latin typeface="+mn-ea"/>
                  </a:rPr>
                  <a:t>Market Matching</a:t>
                </a:r>
                <a:r>
                  <a:rPr lang="ko-KR" altLang="en-US" sz="1200" b="1" kern="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ko-KR" sz="1200" b="1" kern="0" dirty="0">
                    <a:solidFill>
                      <a:srgbClr val="000000"/>
                    </a:solidFill>
                    <a:latin typeface="+mn-ea"/>
                  </a:rPr>
                  <a:t>Policy</a:t>
                </a:r>
                <a:endParaRPr lang="ko-KR" altLang="en-US" sz="1200" b="1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40" name="Text Box 14">
                <a:extLst>
                  <a:ext uri="{FF2B5EF4-FFF2-40B4-BE49-F238E27FC236}">
                    <a16:creationId xmlns:a16="http://schemas.microsoft.com/office/drawing/2014/main" id="{9BB7DF72-EF4E-27A7-9CF3-49A9FD89849C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559766" y="3791870"/>
                <a:ext cx="3105287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marL="144000" indent="-1440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Char char="•"/>
                  <a:tabLst>
                    <a:tab pos="1071563" algn="l"/>
                  </a:tabLst>
                  <a:defRPr kumimoji="1" sz="1000" kern="0">
                    <a:solidFill>
                      <a:srgbClr val="000000"/>
                    </a:solidFill>
                  </a:defRPr>
                </a:lvl1pPr>
              </a:lstStyle>
              <a:p>
                <a:r>
                  <a:rPr lang="en-US" altLang="ko-KR" spc="-100" dirty="0"/>
                  <a:t>Market </a:t>
                </a:r>
                <a:r>
                  <a:rPr lang="ko-KR" altLang="en-US" spc="-100" dirty="0"/>
                  <a:t>평균 수준의 </a:t>
                </a:r>
                <a:r>
                  <a:rPr lang="ko-KR" altLang="en-US" spc="-100" dirty="0" err="1"/>
                  <a:t>보상정책</a:t>
                </a:r>
                <a:r>
                  <a:rPr lang="en-US" altLang="ko-KR" spc="-100" dirty="0"/>
                  <a:t>(</a:t>
                </a:r>
                <a:r>
                  <a:rPr lang="ko-KR" altLang="en-US" spc="-100" dirty="0"/>
                  <a:t>약 </a:t>
                </a:r>
                <a:r>
                  <a:rPr lang="en-US" altLang="ko-KR" spc="-100" dirty="0"/>
                  <a:t>40%ile~60%ile)</a:t>
                </a:r>
              </a:p>
              <a:p>
                <a:r>
                  <a:rPr lang="ko-KR" altLang="en-US" spc="-100" dirty="0"/>
                  <a:t>보편적인 조직에서 많이 사용</a:t>
                </a:r>
              </a:p>
            </p:txBody>
          </p:sp>
          <p:sp>
            <p:nvSpPr>
              <p:cNvPr id="141" name="Oval 10">
                <a:extLst>
                  <a:ext uri="{FF2B5EF4-FFF2-40B4-BE49-F238E27FC236}">
                    <a16:creationId xmlns:a16="http://schemas.microsoft.com/office/drawing/2014/main" id="{5E29E8BF-084A-77EF-B44F-7A023CB40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6661" y="3502967"/>
                <a:ext cx="212616" cy="21590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/>
                <a:r>
                  <a:rPr lang="en-US" altLang="ko-KR" sz="1000" b="1" kern="0" spc="-100" dirty="0">
                    <a:solidFill>
                      <a:srgbClr val="FFFFFF"/>
                    </a:solidFill>
                    <a:latin typeface="+mn-ea"/>
                  </a:rPr>
                  <a:t>2</a:t>
                </a:r>
                <a:endParaRPr lang="en-GB" altLang="ko-KR" sz="1000" b="1" kern="0" spc="-1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42" name="Rectangle 16">
                <a:extLst>
                  <a:ext uri="{FF2B5EF4-FFF2-40B4-BE49-F238E27FC236}">
                    <a16:creationId xmlns:a16="http://schemas.microsoft.com/office/drawing/2014/main" id="{7700216A-B072-5DE2-0C5A-76CD8B14FC7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684778" y="4481767"/>
                <a:ext cx="2863064" cy="287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latinLnBrk="0">
                  <a:spcBef>
                    <a:spcPct val="0"/>
                  </a:spcBef>
                </a:pPr>
                <a:r>
                  <a:rPr lang="en-US" altLang="ko-KR" sz="1200" b="1" kern="0" dirty="0">
                    <a:solidFill>
                      <a:srgbClr val="000000"/>
                    </a:solidFill>
                    <a:latin typeface="+mn-ea"/>
                  </a:rPr>
                  <a:t>Market Following</a:t>
                </a:r>
                <a:r>
                  <a:rPr lang="ko-KR" altLang="en-US" sz="1200" b="1" kern="0" dirty="0">
                    <a:solidFill>
                      <a:srgbClr val="000000"/>
                    </a:solidFill>
                    <a:latin typeface="+mn-ea"/>
                  </a:rPr>
                  <a:t> </a:t>
                </a:r>
                <a:r>
                  <a:rPr lang="en-US" altLang="ko-KR" sz="1200" b="1" kern="0" dirty="0">
                    <a:solidFill>
                      <a:srgbClr val="000000"/>
                    </a:solidFill>
                    <a:latin typeface="+mn-ea"/>
                  </a:rPr>
                  <a:t>Policy</a:t>
                </a:r>
                <a:endParaRPr lang="ko-KR" altLang="en-US" sz="1200" b="1" kern="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43" name="Text Box 17">
                <a:extLst>
                  <a:ext uri="{FF2B5EF4-FFF2-40B4-BE49-F238E27FC236}">
                    <a16:creationId xmlns:a16="http://schemas.microsoft.com/office/drawing/2014/main" id="{D3DDEC81-B0EC-D99C-1754-FC3B353D9024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537540" y="4799267"/>
                <a:ext cx="3136185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 marL="144000" indent="-1440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Char char="•"/>
                  <a:tabLst>
                    <a:tab pos="1071563" algn="l"/>
                  </a:tabLst>
                  <a:defRPr kumimoji="1" sz="1000" kern="0">
                    <a:solidFill>
                      <a:srgbClr val="000000"/>
                    </a:solidFill>
                  </a:defRPr>
                </a:lvl1pPr>
              </a:lstStyle>
              <a:p>
                <a:r>
                  <a:rPr lang="en-US" altLang="ko-KR" spc="-100" dirty="0"/>
                  <a:t>Market </a:t>
                </a:r>
                <a:r>
                  <a:rPr lang="ko-KR" altLang="en-US" spc="-100" dirty="0"/>
                  <a:t>대비 낮은 수준의 </a:t>
                </a:r>
                <a:r>
                  <a:rPr lang="ko-KR" altLang="en-US" spc="-100" dirty="0" err="1"/>
                  <a:t>보상정책</a:t>
                </a:r>
                <a:r>
                  <a:rPr lang="en-US" altLang="ko-KR" spc="-100" dirty="0"/>
                  <a:t>(25%ile </a:t>
                </a:r>
                <a:r>
                  <a:rPr lang="ko-KR" altLang="en-US" spc="-100" dirty="0"/>
                  <a:t>미만</a:t>
                </a:r>
                <a:r>
                  <a:rPr lang="en-US" altLang="ko-KR" spc="-100" dirty="0"/>
                  <a:t>)</a:t>
                </a:r>
              </a:p>
              <a:p>
                <a:r>
                  <a:rPr lang="ko-KR" altLang="en-US" spc="-100" dirty="0"/>
                  <a:t>주로 단순 </a:t>
                </a:r>
                <a:r>
                  <a:rPr lang="en-US" altLang="ko-KR" spc="-100" dirty="0"/>
                  <a:t>Operating</a:t>
                </a:r>
                <a:r>
                  <a:rPr lang="ko-KR" altLang="en-US" spc="-100" dirty="0"/>
                  <a:t>위주 조직 </a:t>
                </a:r>
                <a:r>
                  <a:rPr lang="ko-KR" altLang="en-US" spc="-100" dirty="0" err="1"/>
                  <a:t>운영시</a:t>
                </a:r>
                <a:r>
                  <a:rPr lang="ko-KR" altLang="en-US" spc="-100" dirty="0"/>
                  <a:t> 활용</a:t>
                </a:r>
              </a:p>
            </p:txBody>
          </p:sp>
          <p:sp>
            <p:nvSpPr>
              <p:cNvPr id="144" name="Oval 15">
                <a:extLst>
                  <a:ext uri="{FF2B5EF4-FFF2-40B4-BE49-F238E27FC236}">
                    <a16:creationId xmlns:a16="http://schemas.microsoft.com/office/drawing/2014/main" id="{D4279632-E545-96AD-DEDA-7EC87299B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4436" y="4508777"/>
                <a:ext cx="212616" cy="21590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/>
                <a:r>
                  <a:rPr lang="en-US" altLang="ko-KR" sz="1000" b="1" kern="0" spc="-100" dirty="0">
                    <a:solidFill>
                      <a:srgbClr val="FFFFFF"/>
                    </a:solidFill>
                    <a:latin typeface="+mn-ea"/>
                  </a:rPr>
                  <a:t>3</a:t>
                </a:r>
                <a:endParaRPr lang="en-GB" altLang="ko-KR" sz="1000" b="1" kern="0" spc="-10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45" name="Oval 9">
                <a:extLst>
                  <a:ext uri="{FF2B5EF4-FFF2-40B4-BE49-F238E27FC236}">
                    <a16:creationId xmlns:a16="http://schemas.microsoft.com/office/drawing/2014/main" id="{D063454C-47C5-9B1F-1451-48FD6EAFC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4436" y="2479867"/>
                <a:ext cx="212616" cy="21590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 eaLnBrk="0" latinLnBrk="0" hangingPunct="0"/>
                <a:r>
                  <a:rPr lang="en-US" altLang="ko-KR" sz="1000" b="1" kern="0" spc="-100" dirty="0">
                    <a:solidFill>
                      <a:srgbClr val="FFFFFF"/>
                    </a:solidFill>
                    <a:latin typeface="+mn-ea"/>
                  </a:rPr>
                  <a:t>1</a:t>
                </a:r>
                <a:endParaRPr lang="en-GB" altLang="ko-KR" sz="1000" b="1" kern="0" spc="-100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7604000-0229-3E38-5A71-31908EA8FDA1}"/>
                </a:ext>
              </a:extLst>
            </p:cNvPr>
            <p:cNvGrpSpPr/>
            <p:nvPr/>
          </p:nvGrpSpPr>
          <p:grpSpPr>
            <a:xfrm>
              <a:off x="4037373" y="2243266"/>
              <a:ext cx="1677024" cy="2997100"/>
              <a:chOff x="4206255" y="2151191"/>
              <a:chExt cx="1650747" cy="2997100"/>
            </a:xfrm>
          </p:grpSpPr>
          <p:sp>
            <p:nvSpPr>
              <p:cNvPr id="147" name="Rectangle 11">
                <a:extLst>
                  <a:ext uri="{FF2B5EF4-FFF2-40B4-BE49-F238E27FC236}">
                    <a16:creationId xmlns:a16="http://schemas.microsoft.com/office/drawing/2014/main" id="{C73DEABF-51AD-48ED-C936-387DE9CB4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255" y="3530375"/>
                <a:ext cx="55303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kumimoji="1" lang="ko-KR" altLang="ko-KR" sz="1000" b="1" dirty="0" err="1">
                    <a:solidFill>
                      <a:srgbClr val="000000"/>
                    </a:solidFill>
                    <a:latin typeface="+mn-ea"/>
                    <a:ea typeface="+mn-ea"/>
                  </a:rPr>
                  <a:t>Median</a:t>
                </a:r>
                <a:r>
                  <a:rPr kumimoji="1" lang="en-US" altLang="ko-KR" sz="1000" b="1" baseline="30000" dirty="0">
                    <a:solidFill>
                      <a:srgbClr val="000000"/>
                    </a:solidFill>
                    <a:latin typeface="+mn-ea"/>
                    <a:ea typeface="+mn-ea"/>
                  </a:rPr>
                  <a:t>2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kumimoji="1" lang="ko-KR" altLang="ko-KR" sz="100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(50%ile) </a:t>
                </a:r>
              </a:p>
            </p:txBody>
          </p:sp>
          <p:sp>
            <p:nvSpPr>
              <p:cNvPr id="148" name="Rectangle 35">
                <a:extLst>
                  <a:ext uri="{FF2B5EF4-FFF2-40B4-BE49-F238E27FC236}">
                    <a16:creationId xmlns:a16="http://schemas.microsoft.com/office/drawing/2014/main" id="{CD3C87A1-9BD3-BF80-DDF7-7B0D2D88DA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255" y="2842358"/>
                <a:ext cx="55303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kumimoji="1" lang="ko-KR" altLang="ko-KR" sz="1000" b="1" dirty="0" err="1">
                    <a:solidFill>
                      <a:srgbClr val="000000"/>
                    </a:solidFill>
                    <a:latin typeface="+mn-ea"/>
                    <a:ea typeface="+mn-ea"/>
                  </a:rPr>
                  <a:t>Upper</a:t>
                </a:r>
                <a:endParaRPr kumimoji="1" lang="en-US" altLang="ko-KR" sz="1000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kumimoji="1" lang="ko-KR" altLang="ko-KR" sz="1000" b="1" dirty="0" err="1">
                    <a:solidFill>
                      <a:srgbClr val="000000"/>
                    </a:solidFill>
                    <a:latin typeface="+mn-ea"/>
                    <a:ea typeface="+mn-ea"/>
                  </a:rPr>
                  <a:t>Quartile</a:t>
                </a:r>
                <a:endParaRPr kumimoji="1" lang="en-US" altLang="ko-KR" sz="1000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kumimoji="1" lang="ko-KR" altLang="ko-KR" sz="100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(75%ile) </a:t>
                </a:r>
              </a:p>
            </p:txBody>
          </p:sp>
          <p:sp>
            <p:nvSpPr>
              <p:cNvPr id="149" name="Rectangle 49">
                <a:extLst>
                  <a:ext uri="{FF2B5EF4-FFF2-40B4-BE49-F238E27FC236}">
                    <a16:creationId xmlns:a16="http://schemas.microsoft.com/office/drawing/2014/main" id="{4F173EBB-A14F-ED8E-9500-8B695CDDC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255" y="4135740"/>
                <a:ext cx="55303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kumimoji="1" lang="ko-KR" altLang="ko-KR" sz="1000" b="1" dirty="0" err="1">
                    <a:solidFill>
                      <a:srgbClr val="000000"/>
                    </a:solidFill>
                    <a:latin typeface="+mn-ea"/>
                    <a:ea typeface="+mn-ea"/>
                  </a:rPr>
                  <a:t>Lower</a:t>
                </a:r>
                <a:endParaRPr kumimoji="1" lang="en-US" altLang="ko-KR" sz="1000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kumimoji="1" lang="ko-KR" altLang="ko-KR" sz="1000" b="1" dirty="0" err="1">
                    <a:solidFill>
                      <a:srgbClr val="000000"/>
                    </a:solidFill>
                    <a:latin typeface="+mn-ea"/>
                    <a:ea typeface="+mn-ea"/>
                  </a:rPr>
                  <a:t>Quartile</a:t>
                </a:r>
                <a:endParaRPr kumimoji="1" lang="en-US" altLang="ko-KR" sz="1000" b="1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kumimoji="1" lang="ko-KR" altLang="ko-KR" sz="1000" b="1" dirty="0">
                    <a:solidFill>
                      <a:srgbClr val="000000"/>
                    </a:solidFill>
                    <a:latin typeface="+mn-ea"/>
                    <a:ea typeface="+mn-ea"/>
                  </a:rPr>
                  <a:t>(25%ile) </a:t>
                </a:r>
              </a:p>
            </p:txBody>
          </p: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A251B350-C047-8704-B084-663E2DF50CCE}"/>
                  </a:ext>
                </a:extLst>
              </p:cNvPr>
              <p:cNvGrpSpPr/>
              <p:nvPr/>
            </p:nvGrpSpPr>
            <p:grpSpPr>
              <a:xfrm>
                <a:off x="4782266" y="2151191"/>
                <a:ext cx="1074736" cy="2997100"/>
                <a:chOff x="944081" y="1539005"/>
                <a:chExt cx="1074736" cy="2997100"/>
              </a:xfrm>
            </p:grpSpPr>
            <p:sp>
              <p:nvSpPr>
                <p:cNvPr id="151" name="위쪽/아래쪽 화살표 87">
                  <a:extLst>
                    <a:ext uri="{FF2B5EF4-FFF2-40B4-BE49-F238E27FC236}">
                      <a16:creationId xmlns:a16="http://schemas.microsoft.com/office/drawing/2014/main" id="{21A2C684-0146-5D4B-559F-09147396363E}"/>
                    </a:ext>
                  </a:extLst>
                </p:cNvPr>
                <p:cNvSpPr/>
                <p:nvPr/>
              </p:nvSpPr>
              <p:spPr>
                <a:xfrm>
                  <a:off x="944081" y="1766016"/>
                  <a:ext cx="1074736" cy="2562225"/>
                </a:xfrm>
                <a:prstGeom prst="upDownArrow">
                  <a:avLst>
                    <a:gd name="adj1" fmla="val 64479"/>
                    <a:gd name="adj2" fmla="val 0"/>
                  </a:avLst>
                </a:prstGeom>
                <a:solidFill>
                  <a:schemeClr val="accent1">
                    <a:lumMod val="20000"/>
                    <a:lumOff val="80000"/>
                    <a:alpha val="57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noAutofit/>
                </a:bodyPr>
                <a:lstStyle/>
                <a:p>
                  <a:pPr algn="ctr"/>
                  <a:endParaRPr lang="ko-KR" altLang="en-US" sz="1200" dirty="0" err="1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52" name="직선 화살표 연결선 151">
                  <a:extLst>
                    <a:ext uri="{FF2B5EF4-FFF2-40B4-BE49-F238E27FC236}">
                      <a16:creationId xmlns:a16="http://schemas.microsoft.com/office/drawing/2014/main" id="{DAD4A794-E151-3740-8125-90713B257E1E}"/>
                    </a:ext>
                  </a:extLst>
                </p:cNvPr>
                <p:cNvCxnSpPr/>
                <p:nvPr/>
              </p:nvCxnSpPr>
              <p:spPr bwMode="auto">
                <a:xfrm>
                  <a:off x="949659" y="2417528"/>
                  <a:ext cx="1063580" cy="0"/>
                </a:xfrm>
                <a:prstGeom prst="straightConnector1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</p:cxnSp>
            <p:cxnSp>
              <p:nvCxnSpPr>
                <p:cNvPr id="153" name="직선 화살표 연결선 152">
                  <a:extLst>
                    <a:ext uri="{FF2B5EF4-FFF2-40B4-BE49-F238E27FC236}">
                      <a16:creationId xmlns:a16="http://schemas.microsoft.com/office/drawing/2014/main" id="{5D177F5B-2812-9F23-22BD-D587C3498F80}"/>
                    </a:ext>
                  </a:extLst>
                </p:cNvPr>
                <p:cNvCxnSpPr/>
                <p:nvPr/>
              </p:nvCxnSpPr>
              <p:spPr bwMode="auto">
                <a:xfrm>
                  <a:off x="949659" y="3050853"/>
                  <a:ext cx="1063580" cy="0"/>
                </a:xfrm>
                <a:prstGeom prst="straightConnector1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</p:cxnSp>
            <p:cxnSp>
              <p:nvCxnSpPr>
                <p:cNvPr id="154" name="직선 화살표 연결선 153">
                  <a:extLst>
                    <a:ext uri="{FF2B5EF4-FFF2-40B4-BE49-F238E27FC236}">
                      <a16:creationId xmlns:a16="http://schemas.microsoft.com/office/drawing/2014/main" id="{1DA3F434-3C6D-D749-6AE4-C76D52E7DC00}"/>
                    </a:ext>
                  </a:extLst>
                </p:cNvPr>
                <p:cNvCxnSpPr/>
                <p:nvPr/>
              </p:nvCxnSpPr>
              <p:spPr bwMode="auto">
                <a:xfrm>
                  <a:off x="949659" y="3678637"/>
                  <a:ext cx="1063580" cy="0"/>
                </a:xfrm>
                <a:prstGeom prst="straightConnector1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</p:cxnSp>
            <p:grpSp>
              <p:nvGrpSpPr>
                <p:cNvPr id="155" name="그룹 154">
                  <a:extLst>
                    <a:ext uri="{FF2B5EF4-FFF2-40B4-BE49-F238E27FC236}">
                      <a16:creationId xmlns:a16="http://schemas.microsoft.com/office/drawing/2014/main" id="{3F1E3CF8-64FA-DCA0-EC1A-9C22C8C7D2AF}"/>
                    </a:ext>
                  </a:extLst>
                </p:cNvPr>
                <p:cNvGrpSpPr/>
                <p:nvPr/>
              </p:nvGrpSpPr>
              <p:grpSpPr>
                <a:xfrm>
                  <a:off x="1124308" y="1911823"/>
                  <a:ext cx="709112" cy="2273470"/>
                  <a:chOff x="2352217" y="1948944"/>
                  <a:chExt cx="709112" cy="2273470"/>
                </a:xfrm>
              </p:grpSpPr>
              <p:sp>
                <p:nvSpPr>
                  <p:cNvPr id="164" name="직사각형 163">
                    <a:extLst>
                      <a:ext uri="{FF2B5EF4-FFF2-40B4-BE49-F238E27FC236}">
                        <a16:creationId xmlns:a16="http://schemas.microsoft.com/office/drawing/2014/main" id="{EDB97A93-BE76-C46F-F058-13B41E33320B}"/>
                      </a:ext>
                    </a:extLst>
                  </p:cNvPr>
                  <p:cNvSpPr/>
                  <p:nvPr/>
                </p:nvSpPr>
                <p:spPr>
                  <a:xfrm>
                    <a:off x="2362548" y="2838092"/>
                    <a:ext cx="697700" cy="504000"/>
                  </a:xfrm>
                  <a:prstGeom prst="rect">
                    <a:avLst/>
                  </a:prstGeom>
                  <a:pattFill prst="pct70">
                    <a:fgClr>
                      <a:schemeClr val="tx1">
                        <a:lumMod val="50000"/>
                        <a:lumOff val="50000"/>
                        <a:alpha val="50195"/>
                      </a:schemeClr>
                    </a:fgClr>
                    <a:bgClr>
                      <a:srgbClr val="FFFFFF">
                        <a:alpha val="50195"/>
                      </a:srgbClr>
                    </a:bgClr>
                  </a:pattFill>
                  <a:ln w="28575" algn="ctr">
                    <a:noFill/>
                    <a:miter lim="800000"/>
                    <a:headEnd/>
                    <a:tailEnd/>
                  </a:ln>
                </p:spPr>
                <p:txBody>
                  <a:bodyPr wrap="square" anchor="ctr">
                    <a:spAutoFit/>
                  </a:bodyPr>
                  <a:lstStyle/>
                  <a:p>
                    <a:pPr algn="r" latinLnBrk="0"/>
                    <a:endParaRPr lang="ko-KR" altLang="en-US" dirty="0" err="1"/>
                  </a:p>
                </p:txBody>
              </p:sp>
              <p:sp>
                <p:nvSpPr>
                  <p:cNvPr id="165" name="직사각형 164">
                    <a:extLst>
                      <a:ext uri="{FF2B5EF4-FFF2-40B4-BE49-F238E27FC236}">
                        <a16:creationId xmlns:a16="http://schemas.microsoft.com/office/drawing/2014/main" id="{33D4B567-8083-6C35-9D8C-31451D9239D4}"/>
                      </a:ext>
                    </a:extLst>
                  </p:cNvPr>
                  <p:cNvSpPr/>
                  <p:nvPr/>
                </p:nvSpPr>
                <p:spPr>
                  <a:xfrm>
                    <a:off x="2352217" y="3718414"/>
                    <a:ext cx="697700" cy="504000"/>
                  </a:xfrm>
                  <a:prstGeom prst="rect">
                    <a:avLst/>
                  </a:prstGeom>
                  <a:pattFill prst="pct70">
                    <a:fgClr>
                      <a:schemeClr val="tx1">
                        <a:lumMod val="50000"/>
                        <a:lumOff val="50000"/>
                        <a:alpha val="50195"/>
                      </a:schemeClr>
                    </a:fgClr>
                    <a:bgClr>
                      <a:srgbClr val="FFFFFF">
                        <a:alpha val="50195"/>
                      </a:srgbClr>
                    </a:bgClr>
                  </a:pattFill>
                  <a:ln w="28575" algn="ctr">
                    <a:noFill/>
                    <a:miter lim="800000"/>
                    <a:headEnd/>
                    <a:tailEnd/>
                  </a:ln>
                </p:spPr>
                <p:txBody>
                  <a:bodyPr wrap="square" anchor="ctr">
                    <a:spAutoFit/>
                  </a:bodyPr>
                  <a:lstStyle/>
                  <a:p>
                    <a:pPr algn="r" latinLnBrk="0"/>
                    <a:endParaRPr lang="ko-KR" altLang="en-US" dirty="0" err="1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B947837B-2238-7F74-B21A-6BAA6AAFA949}"/>
                      </a:ext>
                    </a:extLst>
                  </p:cNvPr>
                  <p:cNvSpPr/>
                  <p:nvPr/>
                </p:nvSpPr>
                <p:spPr>
                  <a:xfrm>
                    <a:off x="2363629" y="1948944"/>
                    <a:ext cx="697700" cy="504000"/>
                  </a:xfrm>
                  <a:prstGeom prst="rect">
                    <a:avLst/>
                  </a:prstGeom>
                  <a:pattFill prst="pct70">
                    <a:fgClr>
                      <a:schemeClr val="tx1">
                        <a:lumMod val="50000"/>
                        <a:lumOff val="50000"/>
                        <a:alpha val="50195"/>
                      </a:schemeClr>
                    </a:fgClr>
                    <a:bgClr>
                      <a:srgbClr val="FFFFFF">
                        <a:alpha val="50195"/>
                      </a:srgbClr>
                    </a:bgClr>
                  </a:pattFill>
                  <a:ln w="28575" algn="ctr">
                    <a:noFill/>
                    <a:miter lim="800000"/>
                    <a:headEnd/>
                    <a:tailEnd/>
                  </a:ln>
                </p:spPr>
                <p:txBody>
                  <a:bodyPr wrap="square" anchor="ctr">
                    <a:spAutoFit/>
                  </a:bodyPr>
                  <a:lstStyle/>
                  <a:p>
                    <a:pPr algn="r" latinLnBrk="0"/>
                    <a:endParaRPr lang="ko-KR" altLang="en-US" dirty="0" err="1"/>
                  </a:p>
                </p:txBody>
              </p:sp>
            </p:grpSp>
            <p:sp>
              <p:nvSpPr>
                <p:cNvPr id="156" name="Rectangle 9">
                  <a:extLst>
                    <a:ext uri="{FF2B5EF4-FFF2-40B4-BE49-F238E27FC236}">
                      <a16:creationId xmlns:a16="http://schemas.microsoft.com/office/drawing/2014/main" id="{A387A276-EEEC-4928-EE62-E27086222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003" y="1539005"/>
                  <a:ext cx="732893" cy="153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latinLnBrk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kumimoji="1" lang="ko-KR" altLang="ko-KR" sz="1000" b="1" spc="-80" dirty="0" err="1">
                      <a:solidFill>
                        <a:srgbClr val="000000"/>
                      </a:solidFill>
                      <a:latin typeface="+mn-ea"/>
                      <a:ea typeface="+mn-ea"/>
                    </a:rPr>
                    <a:t>M</a:t>
                  </a:r>
                  <a:r>
                    <a:rPr kumimoji="1" lang="en-US" altLang="ko-KR" sz="1000" b="1" spc="-8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ax</a:t>
                  </a:r>
                  <a:r>
                    <a:rPr kumimoji="1" lang="ko-KR" altLang="ko-KR" sz="1000" b="1" spc="-8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(100%ile)</a:t>
                  </a:r>
                  <a:endParaRPr kumimoji="1" lang="ko-KR" altLang="ko-KR" sz="1200" b="1" spc="-80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7" name="Rectangle 10">
                  <a:extLst>
                    <a:ext uri="{FF2B5EF4-FFF2-40B4-BE49-F238E27FC236}">
                      <a16:creationId xmlns:a16="http://schemas.microsoft.com/office/drawing/2014/main" id="{5B80226F-7B1A-26B4-090F-38EBEE94D6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4819" y="4382217"/>
                  <a:ext cx="673261" cy="153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latinLnBrk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kumimoji="1" lang="ko-KR" altLang="ko-KR" sz="1000" b="1" dirty="0" err="1">
                      <a:solidFill>
                        <a:srgbClr val="000000"/>
                      </a:solidFill>
                      <a:latin typeface="+mn-ea"/>
                      <a:ea typeface="+mn-ea"/>
                    </a:rPr>
                    <a:t>M</a:t>
                  </a:r>
                  <a:r>
                    <a:rPr kumimoji="1" lang="en-US" altLang="ko-KR" sz="1000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in</a:t>
                  </a:r>
                  <a:r>
                    <a:rPr kumimoji="1" lang="ko-KR" altLang="ko-KR" sz="1000" b="1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(0%ile)</a:t>
                  </a:r>
                  <a:endParaRPr kumimoji="1" lang="ko-KR" altLang="ko-KR" sz="1200" b="1" dirty="0">
                    <a:solidFill>
                      <a:srgbClr val="000000"/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58" name="Oval 9">
                  <a:extLst>
                    <a:ext uri="{FF2B5EF4-FFF2-40B4-BE49-F238E27FC236}">
                      <a16:creationId xmlns:a16="http://schemas.microsoft.com/office/drawing/2014/main" id="{075450C9-AD0F-9DB7-E2F6-4E3B45578D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660" y="2059703"/>
                  <a:ext cx="212616" cy="21590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 eaLnBrk="0" latinLnBrk="0" hangingPunct="0"/>
                  <a:r>
                    <a:rPr lang="en-US" altLang="ko-KR" sz="1000" b="1" kern="0" spc="-100" dirty="0">
                      <a:solidFill>
                        <a:srgbClr val="FFFFFF"/>
                      </a:solidFill>
                      <a:latin typeface="+mn-ea"/>
                    </a:rPr>
                    <a:t>1</a:t>
                  </a:r>
                  <a:endParaRPr lang="en-GB" altLang="ko-KR" sz="1000" b="1" kern="0" spc="-100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159" name="Oval 10">
                  <a:extLst>
                    <a:ext uri="{FF2B5EF4-FFF2-40B4-BE49-F238E27FC236}">
                      <a16:creationId xmlns:a16="http://schemas.microsoft.com/office/drawing/2014/main" id="{E1C8C590-23D5-3047-689E-4BF0B3037C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660" y="2932828"/>
                  <a:ext cx="212616" cy="21590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 eaLnBrk="0" latinLnBrk="0" hangingPunct="0"/>
                  <a:r>
                    <a:rPr lang="en-US" altLang="ko-KR" sz="1000" b="1" kern="0" spc="-100" dirty="0">
                      <a:solidFill>
                        <a:srgbClr val="FFFFFF"/>
                      </a:solidFill>
                      <a:latin typeface="+mn-ea"/>
                    </a:rPr>
                    <a:t>2</a:t>
                  </a:r>
                  <a:endParaRPr lang="en-GB" altLang="ko-KR" sz="1000" b="1" kern="0" spc="-100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  <p:sp>
              <p:nvSpPr>
                <p:cNvPr id="160" name="Oval 15">
                  <a:extLst>
                    <a:ext uri="{FF2B5EF4-FFF2-40B4-BE49-F238E27FC236}">
                      <a16:creationId xmlns:a16="http://schemas.microsoft.com/office/drawing/2014/main" id="{B359142A-F607-FAAC-BF6E-79B8F01916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74660" y="3840031"/>
                  <a:ext cx="212616" cy="215900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wrap="none" lIns="0" tIns="0" rIns="0" bIns="0" anchor="ctr"/>
                <a:lstStyle/>
                <a:p>
                  <a:pPr algn="ctr" eaLnBrk="0" latinLnBrk="0" hangingPunct="0"/>
                  <a:r>
                    <a:rPr lang="en-US" altLang="ko-KR" sz="1000" b="1" kern="0" spc="-100" dirty="0">
                      <a:solidFill>
                        <a:srgbClr val="FFFFFF"/>
                      </a:solidFill>
                      <a:latin typeface="+mn-ea"/>
                    </a:rPr>
                    <a:t>3</a:t>
                  </a:r>
                  <a:endParaRPr lang="en-GB" altLang="ko-KR" sz="1000" b="1" kern="0" spc="-100" dirty="0">
                    <a:solidFill>
                      <a:srgbClr val="FFFFFF"/>
                    </a:solidFill>
                    <a:latin typeface="+mn-ea"/>
                  </a:endParaRPr>
                </a:p>
              </p:txBody>
            </p:sp>
          </p:grpSp>
        </p:grpSp>
        <p:sp>
          <p:nvSpPr>
            <p:cNvPr id="167" name="이등변 삼각형 166">
              <a:extLst>
                <a:ext uri="{FF2B5EF4-FFF2-40B4-BE49-F238E27FC236}">
                  <a16:creationId xmlns:a16="http://schemas.microsoft.com/office/drawing/2014/main" id="{AF45A133-3C35-9C97-D277-C9C80C3C57D5}"/>
                </a:ext>
              </a:extLst>
            </p:cNvPr>
            <p:cNvSpPr/>
            <p:nvPr/>
          </p:nvSpPr>
          <p:spPr>
            <a:xfrm rot="5400000">
              <a:off x="5780756" y="3698433"/>
              <a:ext cx="469900" cy="115669"/>
            </a:xfrm>
            <a:prstGeom prst="triangle">
              <a:avLst/>
            </a:prstGeom>
            <a:solidFill>
              <a:srgbClr val="59595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11715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CCF8F-E28C-86F5-B811-E40D34DD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1288A49-995D-3FDD-5177-60EDA05AA4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관련 산업 및 직업과 경력에 따른 임금수준을 비교 분석한 결과 현재 시장 대비 소폭 낮은 임금수준을 가지고 있었으며</a:t>
            </a:r>
            <a:r>
              <a:rPr lang="en-US" altLang="ko-KR" dirty="0"/>
              <a:t>, </a:t>
            </a:r>
            <a:r>
              <a:rPr lang="ko-KR" altLang="en-US" dirty="0"/>
              <a:t>신입사원 기준 초임과 </a:t>
            </a:r>
            <a:r>
              <a:rPr lang="en-US" altLang="ko-KR" dirty="0"/>
              <a:t>5</a:t>
            </a:r>
            <a:r>
              <a:rPr lang="ko-KR" altLang="en-US" dirty="0"/>
              <a:t>년 </a:t>
            </a:r>
            <a:r>
              <a:rPr lang="en-US" altLang="ko-KR" dirty="0"/>
              <a:t>~ 10</a:t>
            </a:r>
            <a:r>
              <a:rPr lang="ko-KR" altLang="en-US" dirty="0"/>
              <a:t>년 경력에 임금이 상대적으로 낮은 임금수준을 가지고 있었음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CCED212-80DF-EC20-5403-99338B99C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604B7E-5AD7-6CE3-8A60-E7B37D08D5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A1D77F-7094-C41D-AD56-7810D242B7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EF2D20A-101C-362C-6BDF-F4444AD2855E}"/>
              </a:ext>
            </a:extLst>
          </p:cNvPr>
          <p:cNvGrpSpPr/>
          <p:nvPr/>
        </p:nvGrpSpPr>
        <p:grpSpPr>
          <a:xfrm>
            <a:off x="273050" y="1631187"/>
            <a:ext cx="9359900" cy="319435"/>
            <a:chOff x="488950" y="1879556"/>
            <a:chExt cx="8928100" cy="300521"/>
          </a:xfrm>
        </p:grpSpPr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AF266735-2FB4-E86E-EED4-48A476D9B2D8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604C9B68-DAA3-5414-5992-00B3AB716C60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defTabSz="913852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산업</a:t>
              </a:r>
              <a:r>
                <a:rPr kumimoji="1" lang="en-US" altLang="ko-KR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·</a:t>
              </a: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직업</a:t>
              </a:r>
              <a:r>
                <a:rPr kumimoji="1" lang="en-US" altLang="ko-KR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 </a:t>
              </a: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분류 및 경력에 따른 임금수준 비교</a:t>
              </a:r>
              <a:endPara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B036801-54D2-D505-1DA8-5A6F6E634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872796"/>
              </p:ext>
            </p:extLst>
          </p:nvPr>
        </p:nvGraphicFramePr>
        <p:xfrm>
          <a:off x="273047" y="2236195"/>
          <a:ext cx="9359902" cy="3585478"/>
        </p:xfrm>
        <a:graphic>
          <a:graphicData uri="http://schemas.openxmlformats.org/drawingml/2006/table">
            <a:tbl>
              <a:tblPr firstRow="1" bandRow="1"/>
              <a:tblGrid>
                <a:gridCol w="2177542">
                  <a:extLst>
                    <a:ext uri="{9D8B030D-6E8A-4147-A177-3AD203B41FA5}">
                      <a16:colId xmlns:a16="http://schemas.microsoft.com/office/drawing/2014/main" val="3244489158"/>
                    </a:ext>
                  </a:extLst>
                </a:gridCol>
                <a:gridCol w="1436472">
                  <a:extLst>
                    <a:ext uri="{9D8B030D-6E8A-4147-A177-3AD203B41FA5}">
                      <a16:colId xmlns:a16="http://schemas.microsoft.com/office/drawing/2014/main" val="448956319"/>
                    </a:ext>
                  </a:extLst>
                </a:gridCol>
                <a:gridCol w="1436472">
                  <a:extLst>
                    <a:ext uri="{9D8B030D-6E8A-4147-A177-3AD203B41FA5}">
                      <a16:colId xmlns:a16="http://schemas.microsoft.com/office/drawing/2014/main" val="2684370481"/>
                    </a:ext>
                  </a:extLst>
                </a:gridCol>
                <a:gridCol w="1436472">
                  <a:extLst>
                    <a:ext uri="{9D8B030D-6E8A-4147-A177-3AD203B41FA5}">
                      <a16:colId xmlns:a16="http://schemas.microsoft.com/office/drawing/2014/main" val="1534059294"/>
                    </a:ext>
                  </a:extLst>
                </a:gridCol>
                <a:gridCol w="1436472">
                  <a:extLst>
                    <a:ext uri="{9D8B030D-6E8A-4147-A177-3AD203B41FA5}">
                      <a16:colId xmlns:a16="http://schemas.microsoft.com/office/drawing/2014/main" val="90353723"/>
                    </a:ext>
                  </a:extLst>
                </a:gridCol>
                <a:gridCol w="1436472">
                  <a:extLst>
                    <a:ext uri="{9D8B030D-6E8A-4147-A177-3AD203B41FA5}">
                      <a16:colId xmlns:a16="http://schemas.microsoft.com/office/drawing/2014/main" val="177266777"/>
                    </a:ext>
                  </a:extLst>
                </a:gridCol>
              </a:tblGrid>
              <a:tr h="52279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년 미만</a:t>
                      </a:r>
                    </a:p>
                  </a:txBody>
                  <a:tcPr marL="36000" marR="36000" marT="36000" marB="36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2~3</a:t>
                      </a:r>
                      <a:r>
                        <a:rPr lang="ko-KR" altLang="en-US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년 미만</a:t>
                      </a:r>
                    </a:p>
                  </a:txBody>
                  <a:tcPr marL="36000" marR="36000" marT="36000" marB="36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4~5</a:t>
                      </a:r>
                      <a:r>
                        <a:rPr lang="ko-KR" altLang="en-US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년 미만</a:t>
                      </a:r>
                    </a:p>
                  </a:txBody>
                  <a:tcPr marL="36000" marR="36000" marT="36000" marB="36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5~10</a:t>
                      </a:r>
                      <a:r>
                        <a:rPr lang="ko-KR" altLang="en-US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년 미만</a:t>
                      </a:r>
                    </a:p>
                  </a:txBody>
                  <a:tcPr marL="36000" marR="36000" marT="36000" marB="360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년 이상</a:t>
                      </a:r>
                    </a:p>
                  </a:txBody>
                  <a:tcPr marL="36000" marR="36000" marT="36000" marB="3600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59075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(25%)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39,387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45,970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52,538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57,600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71,861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590094638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(50%)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31,654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37,484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44,077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47,252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55,298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480841962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하위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(25%)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27,789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30,780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34,695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37,633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41,401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795125293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평균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35,500</a:t>
                      </a: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40,079</a:t>
                      </a: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46,036</a:t>
                      </a: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49,509</a:t>
                      </a: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59,069</a:t>
                      </a:r>
                    </a:p>
                  </a:txBody>
                  <a:tcPr marL="36000" marR="36000" marT="36000" marB="360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789760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㈜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베이시스소프트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나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32,000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39,250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45,000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47,500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57,500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63048090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비교분석 결과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나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–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-3,500</a:t>
                      </a:r>
                    </a:p>
                  </a:txBody>
                  <a:tcPr marL="36000" marR="36000" marT="36000" marB="360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-829</a:t>
                      </a:r>
                    </a:p>
                  </a:txBody>
                  <a:tcPr marL="36000" marR="36000" marT="36000" marB="360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-1,036</a:t>
                      </a:r>
                    </a:p>
                  </a:txBody>
                  <a:tcPr marL="36000" marR="36000" marT="36000" marB="360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-2,009</a:t>
                      </a:r>
                    </a:p>
                  </a:txBody>
                  <a:tcPr marL="36000" marR="36000" marT="36000" marB="360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-1,569</a:t>
                      </a:r>
                    </a:p>
                  </a:txBody>
                  <a:tcPr marL="36000" marR="36000" marT="36000" marB="360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06833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905B1C0-7A92-1466-F0BA-5DB9674B9C13}"/>
              </a:ext>
            </a:extLst>
          </p:cNvPr>
          <p:cNvSpPr txBox="1"/>
          <p:nvPr/>
        </p:nvSpPr>
        <p:spPr>
          <a:xfrm>
            <a:off x="7957726" y="1952077"/>
            <a:ext cx="1675223" cy="26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ko-KR" altLang="en-US" sz="11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단위 </a:t>
            </a:r>
            <a:r>
              <a:rPr kumimoji="1" lang="en-US" altLang="ko-KR" sz="11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: </a:t>
            </a:r>
            <a:r>
              <a:rPr kumimoji="1" lang="ko-KR" altLang="en-US" sz="11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천원</a:t>
            </a:r>
          </a:p>
        </p:txBody>
      </p:sp>
      <p:sp>
        <p:nvSpPr>
          <p:cNvPr id="14" name="Text Box 28">
            <a:extLst>
              <a:ext uri="{FF2B5EF4-FFF2-40B4-BE49-F238E27FC236}">
                <a16:creationId xmlns:a16="http://schemas.microsoft.com/office/drawing/2014/main" id="{175DCA5F-BDA3-8493-6806-58A4C65B2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5971833"/>
            <a:ext cx="9262081" cy="148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pPr algn="l"/>
            <a:r>
              <a:rPr lang="ko-KR" altLang="en-US" dirty="0"/>
              <a:t>출처 </a:t>
            </a:r>
            <a:r>
              <a:rPr lang="en-US" altLang="ko-KR" dirty="0"/>
              <a:t>: [</a:t>
            </a:r>
            <a:r>
              <a:rPr lang="ko-KR" altLang="en-US" dirty="0" err="1"/>
              <a:t>임금직업포털</a:t>
            </a:r>
            <a:r>
              <a:rPr lang="en-US" altLang="ko-KR" dirty="0"/>
              <a:t>] </a:t>
            </a:r>
            <a:r>
              <a:rPr lang="ko-KR" altLang="en-US" dirty="0"/>
              <a:t>산업별 </a:t>
            </a:r>
            <a:r>
              <a:rPr lang="en-US" altLang="ko-KR" dirty="0"/>
              <a:t>: </a:t>
            </a:r>
            <a:r>
              <a:rPr lang="ko-KR" altLang="en-US" dirty="0"/>
              <a:t>전문</a:t>
            </a:r>
            <a:r>
              <a:rPr lang="en-US" altLang="ko-KR" dirty="0"/>
              <a:t>, </a:t>
            </a:r>
            <a:r>
              <a:rPr lang="ko-KR" altLang="en-US" dirty="0"/>
              <a:t>과학 및 기술 서비스업</a:t>
            </a:r>
            <a:r>
              <a:rPr lang="en-US" altLang="ko-KR" dirty="0"/>
              <a:t> &gt; </a:t>
            </a:r>
            <a:r>
              <a:rPr lang="ko-KR" altLang="en-US" dirty="0"/>
              <a:t>건축기술</a:t>
            </a:r>
            <a:r>
              <a:rPr lang="en-US" altLang="ko-KR" dirty="0"/>
              <a:t>, </a:t>
            </a:r>
            <a:r>
              <a:rPr lang="ko-KR" altLang="en-US" dirty="0"/>
              <a:t>엔지니어링 및 기타 과학기술서비스업</a:t>
            </a:r>
            <a:r>
              <a:rPr lang="en-US" altLang="ko-KR" dirty="0"/>
              <a:t> / </a:t>
            </a:r>
            <a:r>
              <a:rPr lang="ko-KR" altLang="en-US" dirty="0"/>
              <a:t>직업별 </a:t>
            </a:r>
            <a:r>
              <a:rPr lang="en-US" altLang="ko-KR" dirty="0"/>
              <a:t>: </a:t>
            </a:r>
            <a:r>
              <a:rPr lang="ko-KR" altLang="en-US" dirty="0"/>
              <a:t>전문가 및 관련 종사자 </a:t>
            </a:r>
            <a:r>
              <a:rPr lang="en-US" altLang="ko-KR" dirty="0"/>
              <a:t>&gt; </a:t>
            </a:r>
            <a:r>
              <a:rPr lang="ko-KR" altLang="en-US" dirty="0"/>
              <a:t>공학 전문가 및 기술직</a:t>
            </a:r>
            <a:r>
              <a:rPr lang="en-US" altLang="ko-KR" dirty="0"/>
              <a:t>. 2025.09. </a:t>
            </a:r>
            <a:r>
              <a:rPr lang="ko-KR" altLang="en-US" dirty="0"/>
              <a:t>기준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414689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B4005-E5F1-B1F2-3A02-03CF5435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6043F4D-190F-3AA0-7961-F8C4E72C22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역할</a:t>
            </a:r>
            <a:r>
              <a:rPr lang="en-US" altLang="ko-KR" dirty="0"/>
              <a:t>·</a:t>
            </a:r>
            <a:r>
              <a:rPr lang="ko-KR" altLang="en-US" dirty="0"/>
              <a:t>역량을 기본급 전체에 반영하는 </a:t>
            </a:r>
            <a:r>
              <a:rPr lang="ko-KR" altLang="en-US" b="1" dirty="0"/>
              <a:t>범위기본급</a:t>
            </a:r>
            <a:r>
              <a:rPr lang="en-US" altLang="ko-KR" b="1" dirty="0"/>
              <a:t>(Pay-Band)</a:t>
            </a:r>
            <a:r>
              <a:rPr lang="ko-KR" altLang="en-US" b="1" dirty="0"/>
              <a:t>형</a:t>
            </a:r>
            <a:r>
              <a:rPr lang="ko-KR" altLang="en-US" dirty="0"/>
              <a:t>을 채택하여 동일 직급 내 성과</a:t>
            </a:r>
            <a:r>
              <a:rPr lang="en-US" altLang="ko-KR" dirty="0"/>
              <a:t>·</a:t>
            </a:r>
            <a:r>
              <a:rPr lang="ko-KR" altLang="en-US" dirty="0"/>
              <a:t>역량 차등을 유연하게 보상하고 인력운영의 기민성을 확보함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0399E6A-E36E-1CE5-EAF0-A6CEED4EB8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DD988B-9C18-484A-E5D5-EBD42128DD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5D743E-FFA5-9CD1-B7DB-12B857C7E9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179C7A-E01F-1DAF-CCF0-5AB3CF0F8996}"/>
              </a:ext>
            </a:extLst>
          </p:cNvPr>
          <p:cNvSpPr/>
          <p:nvPr/>
        </p:nvSpPr>
        <p:spPr>
          <a:xfrm>
            <a:off x="280071" y="4225673"/>
            <a:ext cx="4546600" cy="1910883"/>
          </a:xfrm>
          <a:prstGeom prst="rect">
            <a:avLst/>
          </a:prstGeom>
          <a:pattFill prst="pct75">
            <a:fgClr>
              <a:srgbClr val="EDF2F9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52A0E1-252D-AEE5-7449-5D4234F791D6}"/>
              </a:ext>
            </a:extLst>
          </p:cNvPr>
          <p:cNvSpPr/>
          <p:nvPr/>
        </p:nvSpPr>
        <p:spPr>
          <a:xfrm>
            <a:off x="5094464" y="4226926"/>
            <a:ext cx="4546600" cy="1910883"/>
          </a:xfrm>
          <a:prstGeom prst="rect">
            <a:avLst/>
          </a:prstGeom>
          <a:pattFill prst="pct75">
            <a:fgClr>
              <a:srgbClr val="EDF2F9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108D64-BFFE-D2C0-3821-2BD839CB218B}"/>
              </a:ext>
            </a:extLst>
          </p:cNvPr>
          <p:cNvSpPr/>
          <p:nvPr/>
        </p:nvSpPr>
        <p:spPr>
          <a:xfrm>
            <a:off x="5094464" y="2147157"/>
            <a:ext cx="4546600" cy="1910883"/>
          </a:xfrm>
          <a:prstGeom prst="rect">
            <a:avLst/>
          </a:prstGeom>
          <a:pattFill prst="pct75">
            <a:fgClr>
              <a:srgbClr val="EDF2F9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714FA0-C940-FF6B-2020-339311D953BB}"/>
              </a:ext>
            </a:extLst>
          </p:cNvPr>
          <p:cNvSpPr/>
          <p:nvPr/>
        </p:nvSpPr>
        <p:spPr>
          <a:xfrm>
            <a:off x="264936" y="2147157"/>
            <a:ext cx="4546600" cy="1910883"/>
          </a:xfrm>
          <a:prstGeom prst="rect">
            <a:avLst/>
          </a:prstGeom>
          <a:pattFill prst="pct75">
            <a:fgClr>
              <a:srgbClr val="EDF2F9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10E1C8D-A8EC-E206-382B-3196727E79C4}"/>
              </a:ext>
            </a:extLst>
          </p:cNvPr>
          <p:cNvCxnSpPr/>
          <p:nvPr/>
        </p:nvCxnSpPr>
        <p:spPr>
          <a:xfrm>
            <a:off x="4944219" y="2147157"/>
            <a:ext cx="0" cy="4134581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DE51F98-FDA7-A666-3FDA-46AC221976EF}"/>
              </a:ext>
            </a:extLst>
          </p:cNvPr>
          <p:cNvCxnSpPr/>
          <p:nvPr/>
        </p:nvCxnSpPr>
        <p:spPr bwMode="auto">
          <a:xfrm>
            <a:off x="283226" y="4138247"/>
            <a:ext cx="9321987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2BC6889-9CEF-B933-E220-67F389DEF5A8}"/>
              </a:ext>
            </a:extLst>
          </p:cNvPr>
          <p:cNvCxnSpPr/>
          <p:nvPr/>
        </p:nvCxnSpPr>
        <p:spPr>
          <a:xfrm>
            <a:off x="6221977" y="2335093"/>
            <a:ext cx="0" cy="3758710"/>
          </a:xfrm>
          <a:prstGeom prst="line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AFF2D7E-F416-08F4-808F-57FA814DB88F}"/>
              </a:ext>
            </a:extLst>
          </p:cNvPr>
          <p:cNvGrpSpPr/>
          <p:nvPr/>
        </p:nvGrpSpPr>
        <p:grpSpPr>
          <a:xfrm>
            <a:off x="283226" y="3681545"/>
            <a:ext cx="9321987" cy="1054375"/>
            <a:chOff x="292007" y="3823785"/>
            <a:chExt cx="9321987" cy="1054375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513A0AF-6F76-8B0C-D271-443FE289C6BB}"/>
                </a:ext>
              </a:extLst>
            </p:cNvPr>
            <p:cNvCxnSpPr/>
            <p:nvPr/>
          </p:nvCxnSpPr>
          <p:spPr bwMode="auto">
            <a:xfrm>
              <a:off x="292007" y="4204287"/>
              <a:ext cx="9321987" cy="0"/>
            </a:xfrm>
            <a:prstGeom prst="line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10B5D93-A2AC-6C9C-BFEF-EC2A09629F55}"/>
                </a:ext>
              </a:extLst>
            </p:cNvPr>
            <p:cNvSpPr/>
            <p:nvPr/>
          </p:nvSpPr>
          <p:spPr>
            <a:xfrm>
              <a:off x="4425813" y="3823785"/>
              <a:ext cx="1054375" cy="10543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6000" tIns="46800" rIns="0" bIns="4680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400" b="1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</a:rPr>
                <a:t>역할급</a:t>
              </a:r>
              <a:endParaRPr kumimoji="1" lang="en-US" altLang="ko-K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</a:rPr>
                <a:t>유형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AFC9E2-DF07-D948-3F39-BBE4398BFDF9}"/>
              </a:ext>
            </a:extLst>
          </p:cNvPr>
          <p:cNvSpPr/>
          <p:nvPr/>
        </p:nvSpPr>
        <p:spPr>
          <a:xfrm>
            <a:off x="289455" y="4350302"/>
            <a:ext cx="1762021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>
              <a:spcBef>
                <a:spcPct val="0"/>
              </a:spcBef>
            </a:pPr>
            <a:r>
              <a:rPr kumimoji="1"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Op2. </a:t>
            </a:r>
            <a:r>
              <a:rPr lang="ko-KR" altLang="en-US" sz="13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복수임률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3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수당형</a:t>
            </a:r>
            <a:endParaRPr lang="ko-KR" altLang="en-US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F66D0F-387D-AB7E-372E-E0D6645130BF}"/>
              </a:ext>
            </a:extLst>
          </p:cNvPr>
          <p:cNvSpPr/>
          <p:nvPr/>
        </p:nvSpPr>
        <p:spPr>
          <a:xfrm>
            <a:off x="5174837" y="2209197"/>
            <a:ext cx="2456122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>
              <a:spcBef>
                <a:spcPct val="0"/>
              </a:spcBef>
            </a:pPr>
            <a:r>
              <a:rPr kumimoji="1"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Op3. 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 기본급</a:t>
            </a:r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(Stair-step)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A3B358-1862-6B11-4C2D-76639789DB21}"/>
              </a:ext>
            </a:extLst>
          </p:cNvPr>
          <p:cNvSpPr/>
          <p:nvPr/>
        </p:nvSpPr>
        <p:spPr>
          <a:xfrm>
            <a:off x="5373375" y="4350302"/>
            <a:ext cx="1447832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>
              <a:spcBef>
                <a:spcPct val="0"/>
              </a:spcBef>
            </a:pPr>
            <a:r>
              <a:rPr kumimoji="1"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Op4. </a:t>
            </a:r>
            <a:r>
              <a:rPr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 </a:t>
            </a:r>
            <a:r>
              <a:rPr lang="ko-KR" altLang="en-US" sz="13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수당형</a:t>
            </a:r>
            <a:endParaRPr lang="ko-KR" altLang="en-US" sz="1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FCAC6A-2994-6568-37AB-5B34B6D95F14}"/>
              </a:ext>
            </a:extLst>
          </p:cNvPr>
          <p:cNvSpPr/>
          <p:nvPr/>
        </p:nvSpPr>
        <p:spPr>
          <a:xfrm>
            <a:off x="1934853" y="4670479"/>
            <a:ext cx="2759097" cy="132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361950" algn="l"/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직무수행자의 역할 및 역량을 기본급 일부 또는 수당으로 반영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361950" algn="l"/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동일 직급이라도 역량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/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성과평가결과에 따라 수당 지급 수준 차별화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(Narrow banding)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361950" algn="l"/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가급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/</a:t>
            </a:r>
            <a:r>
              <a:rPr kumimoji="1" lang="ko-KR" altLang="en-US" sz="1050" spc="-50" dirty="0" err="1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복수임률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 등 다양한 변주가 가능하며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, 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성과급과 유사하게 운영될 가능성 있음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0DDE29-78CF-A852-106E-54D9A7D02CF9}"/>
              </a:ext>
            </a:extLst>
          </p:cNvPr>
          <p:cNvSpPr/>
          <p:nvPr/>
        </p:nvSpPr>
        <p:spPr>
          <a:xfrm>
            <a:off x="7103630" y="2653993"/>
            <a:ext cx="2456213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직무수행자의 역할 및 역량을 기본급 전체에 반영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동일 직급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(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역할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)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은 동일 임금 지급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1028700" algn="l"/>
              </a:tabLst>
            </a:pPr>
            <a:r>
              <a:rPr kumimoji="1" lang="ko-KR" altLang="en-US" sz="1050" spc="-50" dirty="0" err="1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호봉제와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 유사하며 유연한 인력 운영이 어려움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B1C37F-8F25-D5DA-ECA1-96BF6BD554E1}"/>
              </a:ext>
            </a:extLst>
          </p:cNvPr>
          <p:cNvSpPr/>
          <p:nvPr/>
        </p:nvSpPr>
        <p:spPr>
          <a:xfrm>
            <a:off x="7103630" y="4289327"/>
            <a:ext cx="2456213" cy="1692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88" lvl="0" indent="-90488" fontAlgn="ctr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95000"/>
              <a:buFontTx/>
              <a:buChar char="•"/>
              <a:tabLst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직무수행자의 역할 및 역량을 기본급 일부 또는 수당으로 반영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95000"/>
              <a:buFontTx/>
              <a:buChar char="•"/>
              <a:tabLst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동일 직급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(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역할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)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은 동일 수당 지급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95000"/>
              <a:buFontTx/>
              <a:buChar char="•"/>
              <a:tabLst>
                <a:tab pos="1028700" algn="l"/>
              </a:tabLst>
            </a:pPr>
            <a:r>
              <a:rPr kumimoji="1" lang="ko-KR" altLang="en-US" sz="1050" spc="-50" dirty="0" err="1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기초급과의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 다양한 조합이 가능하고 변화 수용도가 높음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95000"/>
              <a:buFontTx/>
              <a:buChar char="•"/>
              <a:tabLst>
                <a:tab pos="1028700" algn="l"/>
              </a:tabLst>
            </a:pPr>
            <a:r>
              <a:rPr kumimoji="1" lang="ko-KR" altLang="en-US" sz="1050" spc="-50" dirty="0" err="1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역할수당의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 비율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/</a:t>
            </a:r>
            <a:r>
              <a:rPr kumimoji="1" lang="ko-KR" altLang="en-US" sz="1050" spc="-50" dirty="0" err="1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기초급의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 성격에 따라 </a:t>
            </a:r>
            <a:r>
              <a:rPr kumimoji="1" lang="ko-KR" altLang="en-US" sz="1050" spc="-50" dirty="0" err="1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연공급으로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 운영될 가능성 있음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D6A953-EA59-57E1-7C28-52EAEF923462}"/>
              </a:ext>
            </a:extLst>
          </p:cNvPr>
          <p:cNvSpPr/>
          <p:nvPr/>
        </p:nvSpPr>
        <p:spPr>
          <a:xfrm>
            <a:off x="289455" y="2209197"/>
            <a:ext cx="243983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ctr" latinLnBrk="0">
              <a:spcBef>
                <a:spcPct val="20000"/>
              </a:spcBef>
              <a:spcAft>
                <a:spcPct val="0"/>
              </a:spcAft>
              <a:tabLst>
                <a:tab pos="1028700" algn="l"/>
              </a:tabLst>
            </a:pPr>
            <a:r>
              <a:rPr kumimoji="1"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Op1. </a:t>
            </a:r>
            <a:r>
              <a:rPr kumimoji="1"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범위 기본급</a:t>
            </a:r>
            <a:r>
              <a:rPr kumimoji="1"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(Pay-Band)</a:t>
            </a:r>
            <a:r>
              <a:rPr kumimoji="1" lang="ko-KR" altLang="en-US" sz="13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53CC8CB-99AB-64AB-6741-704DC22A03BA}"/>
              </a:ext>
            </a:extLst>
          </p:cNvPr>
          <p:cNvSpPr/>
          <p:nvPr/>
        </p:nvSpPr>
        <p:spPr>
          <a:xfrm>
            <a:off x="1934853" y="2608032"/>
            <a:ext cx="2759097" cy="132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361950" algn="l"/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직무수행자의 역할 및 역량을 기본급 전체에 반영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361950" algn="l"/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동일 직급이라도 역량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/</a:t>
            </a: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성과평가결과에 따라 임금 수준 차별화</a:t>
            </a:r>
            <a:r>
              <a:rPr kumimoji="1" lang="en-US" altLang="ko-KR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(Broad banding)</a:t>
            </a:r>
          </a:p>
          <a:p>
            <a:pPr marL="90488" lvl="0" indent="-90488" fontAlgn="ctr" latinLnBrk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95000"/>
              <a:buFontTx/>
              <a:buChar char="•"/>
              <a:tabLst>
                <a:tab pos="361950" algn="l"/>
                <a:tab pos="1028700" algn="l"/>
              </a:tabLst>
            </a:pPr>
            <a:r>
              <a:rPr kumimoji="1" lang="ko-KR" altLang="en-US" sz="1050" spc="-50" dirty="0"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연봉제와 매우 유사하며 유연한 인력 운영이 가능</a:t>
            </a:r>
          </a:p>
        </p:txBody>
      </p:sp>
      <p:grpSp>
        <p:nvGrpSpPr>
          <p:cNvPr id="24" name="그룹 137">
            <a:extLst>
              <a:ext uri="{FF2B5EF4-FFF2-40B4-BE49-F238E27FC236}">
                <a16:creationId xmlns:a16="http://schemas.microsoft.com/office/drawing/2014/main" id="{A338DC04-8926-5AA1-5ABF-8F552848C1EC}"/>
              </a:ext>
            </a:extLst>
          </p:cNvPr>
          <p:cNvGrpSpPr>
            <a:grpSpLocks/>
          </p:cNvGrpSpPr>
          <p:nvPr/>
        </p:nvGrpSpPr>
        <p:grpSpPr bwMode="auto">
          <a:xfrm>
            <a:off x="428793" y="2824126"/>
            <a:ext cx="1308306" cy="1081182"/>
            <a:chOff x="1676636" y="2312614"/>
            <a:chExt cx="2448273" cy="171794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3606FD6-B9F2-CAD6-A62D-1B3ADDED9AD0}"/>
                </a:ext>
              </a:extLst>
            </p:cNvPr>
            <p:cNvSpPr/>
            <p:nvPr/>
          </p:nvSpPr>
          <p:spPr>
            <a:xfrm>
              <a:off x="1676636" y="3027870"/>
              <a:ext cx="561725" cy="6551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7573405-D8C6-A837-E3E3-22FBD35B14F8}"/>
                </a:ext>
              </a:extLst>
            </p:cNvPr>
            <p:cNvSpPr/>
            <p:nvPr/>
          </p:nvSpPr>
          <p:spPr>
            <a:xfrm>
              <a:off x="2623443" y="2687753"/>
              <a:ext cx="561725" cy="6534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AC42D53-6B48-2B00-FF3B-C4739606C428}"/>
                </a:ext>
              </a:extLst>
            </p:cNvPr>
            <p:cNvSpPr/>
            <p:nvPr/>
          </p:nvSpPr>
          <p:spPr>
            <a:xfrm>
              <a:off x="3563184" y="2312614"/>
              <a:ext cx="561725" cy="6534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930A7C-BE9C-8DFA-FD1E-BC09EF8FFB35}"/>
                </a:ext>
              </a:extLst>
            </p:cNvPr>
            <p:cNvSpPr txBox="1"/>
            <p:nvPr/>
          </p:nvSpPr>
          <p:spPr>
            <a:xfrm>
              <a:off x="1676636" y="3810487"/>
              <a:ext cx="540528" cy="220068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9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M-1</a:t>
              </a:r>
              <a:endParaRPr lang="ko-KR" altLang="en-US" sz="9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2FEF9E6-05FF-4E19-1C59-DBBD44D36079}"/>
                </a:ext>
              </a:extLst>
            </p:cNvPr>
            <p:cNvSpPr txBox="1"/>
            <p:nvPr/>
          </p:nvSpPr>
          <p:spPr>
            <a:xfrm>
              <a:off x="2648173" y="3449439"/>
              <a:ext cx="540528" cy="220068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9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M-2</a:t>
              </a:r>
              <a:endParaRPr lang="ko-KR" altLang="en-US" sz="9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6C5FAF6-B457-56BF-24CC-807E5CB86724}"/>
                </a:ext>
              </a:extLst>
            </p:cNvPr>
            <p:cNvSpPr txBox="1"/>
            <p:nvPr/>
          </p:nvSpPr>
          <p:spPr>
            <a:xfrm>
              <a:off x="3584381" y="3054925"/>
              <a:ext cx="540528" cy="220068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9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M-3</a:t>
              </a:r>
              <a:endParaRPr lang="ko-KR" altLang="en-US" sz="9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1" name="그룹 7">
            <a:extLst>
              <a:ext uri="{FF2B5EF4-FFF2-40B4-BE49-F238E27FC236}">
                <a16:creationId xmlns:a16="http://schemas.microsoft.com/office/drawing/2014/main" id="{5B577A11-AF23-6476-EF78-A3449A646ECB}"/>
              </a:ext>
            </a:extLst>
          </p:cNvPr>
          <p:cNvGrpSpPr>
            <a:grpSpLocks/>
          </p:cNvGrpSpPr>
          <p:nvPr/>
        </p:nvGrpSpPr>
        <p:grpSpPr bwMode="auto">
          <a:xfrm>
            <a:off x="5589622" y="2825235"/>
            <a:ext cx="1390649" cy="956511"/>
            <a:chOff x="5394824" y="3404494"/>
            <a:chExt cx="2265657" cy="711470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B5D5034-DC99-97F7-D8D5-9143EAE4B708}"/>
                </a:ext>
              </a:extLst>
            </p:cNvPr>
            <p:cNvSpPr/>
            <p:nvPr/>
          </p:nvSpPr>
          <p:spPr>
            <a:xfrm flipV="1">
              <a:off x="5394824" y="3973372"/>
              <a:ext cx="561233" cy="461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63B2A23-54AE-EDDE-EDCB-7BF54F5955C9}"/>
                </a:ext>
              </a:extLst>
            </p:cNvPr>
            <p:cNvSpPr/>
            <p:nvPr/>
          </p:nvSpPr>
          <p:spPr>
            <a:xfrm>
              <a:off x="6330743" y="3709544"/>
              <a:ext cx="561233" cy="453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6F518CEF-1EB7-B80B-8930-A51DAC47C36D}"/>
                </a:ext>
              </a:extLst>
            </p:cNvPr>
            <p:cNvSpPr/>
            <p:nvPr/>
          </p:nvSpPr>
          <p:spPr>
            <a:xfrm>
              <a:off x="7099248" y="3404494"/>
              <a:ext cx="561233" cy="4534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ko-KR" altLang="en-US" sz="10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5203583-6374-40E7-9ABB-F49F1C7919A3}"/>
                </a:ext>
              </a:extLst>
            </p:cNvPr>
            <p:cNvSpPr txBox="1"/>
            <p:nvPr/>
          </p:nvSpPr>
          <p:spPr>
            <a:xfrm>
              <a:off x="5394824" y="4012946"/>
              <a:ext cx="540505" cy="103018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9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M-1</a:t>
              </a:r>
              <a:endParaRPr lang="ko-KR" altLang="en-US" sz="9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69F8F4A-CDF0-6547-1CAD-F3B720BB4712}"/>
                </a:ext>
              </a:extLst>
            </p:cNvPr>
            <p:cNvSpPr txBox="1"/>
            <p:nvPr/>
          </p:nvSpPr>
          <p:spPr>
            <a:xfrm>
              <a:off x="6356252" y="3768906"/>
              <a:ext cx="540506" cy="103018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9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M-2</a:t>
              </a:r>
              <a:endParaRPr lang="ko-KR" altLang="en-US" sz="9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69374F6-AFB3-1D18-B0E8-D6CC69196980}"/>
                </a:ext>
              </a:extLst>
            </p:cNvPr>
            <p:cNvSpPr txBox="1"/>
            <p:nvPr/>
          </p:nvSpPr>
          <p:spPr>
            <a:xfrm>
              <a:off x="7119976" y="3471276"/>
              <a:ext cx="540505" cy="103018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9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M-3</a:t>
              </a:r>
              <a:endParaRPr lang="ko-KR" altLang="en-US" sz="9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4514F2E-A1ED-FC9D-9B0F-D1E8F0FD4744}"/>
              </a:ext>
            </a:extLst>
          </p:cNvPr>
          <p:cNvGrpSpPr/>
          <p:nvPr/>
        </p:nvGrpSpPr>
        <p:grpSpPr>
          <a:xfrm>
            <a:off x="527219" y="4913502"/>
            <a:ext cx="1314913" cy="993584"/>
            <a:chOff x="744783" y="4913502"/>
            <a:chExt cx="1314913" cy="993584"/>
          </a:xfrm>
        </p:grpSpPr>
        <p:grpSp>
          <p:nvGrpSpPr>
            <p:cNvPr id="39" name="그룹 150">
              <a:extLst>
                <a:ext uri="{FF2B5EF4-FFF2-40B4-BE49-F238E27FC236}">
                  <a16:creationId xmlns:a16="http://schemas.microsoft.com/office/drawing/2014/main" id="{90DD2F4A-B7DA-1E77-2E7E-1032D95D3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783" y="4913502"/>
              <a:ext cx="507975" cy="993584"/>
              <a:chOff x="2576736" y="4905165"/>
              <a:chExt cx="576065" cy="1260143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C796CCB-BBE2-0D15-3870-5B784778D787}"/>
                  </a:ext>
                </a:extLst>
              </p:cNvPr>
              <p:cNvSpPr/>
              <p:nvPr/>
            </p:nvSpPr>
            <p:spPr>
              <a:xfrm>
                <a:off x="2576736" y="5257499"/>
                <a:ext cx="576065" cy="90780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r>
                  <a:rPr lang="ko-KR" altLang="en-US" sz="1000" b="1" dirty="0"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기초급</a:t>
                </a:r>
                <a:endParaRPr lang="en-US" altLang="ko-KR" sz="1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A9F4167-E3B0-9492-E77B-A8E0D761A578}"/>
                  </a:ext>
                </a:extLst>
              </p:cNvPr>
              <p:cNvSpPr/>
              <p:nvPr/>
            </p:nvSpPr>
            <p:spPr>
              <a:xfrm>
                <a:off x="2576736" y="4905165"/>
                <a:ext cx="576065" cy="352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r>
                  <a:rPr lang="ko-KR" altLang="en-US" sz="1000" b="1" dirty="0"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역할급</a:t>
                </a:r>
                <a:endParaRPr lang="en-US" altLang="ko-KR" sz="1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2EFDDF4-AB5F-E00F-434B-4B66AC8A5EAF}"/>
                </a:ext>
              </a:extLst>
            </p:cNvPr>
            <p:cNvSpPr txBox="1"/>
            <p:nvPr/>
          </p:nvSpPr>
          <p:spPr>
            <a:xfrm>
              <a:off x="1379177" y="5419438"/>
              <a:ext cx="680519" cy="369332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>
              <a:defPPr>
                <a:defRPr lang="ko-KR"/>
              </a:defPPr>
              <a:lvl1pPr algn="ctr">
                <a:defRPr sz="900" b="1">
                  <a:solidFill>
                    <a:prstClr val="black"/>
                  </a:solidFill>
                  <a:latin typeface="+mn-ea"/>
                </a:defRPr>
              </a:lvl1pPr>
            </a:lstStyle>
            <a:p>
              <a:r>
                <a:rPr lang="ko-KR" altLang="en-US" sz="800" b="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호봉제</a:t>
              </a:r>
              <a:endParaRPr lang="en-US" altLang="ko-KR" sz="800" b="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ko-KR" altLang="en-US" sz="800" b="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직무급제</a:t>
              </a:r>
              <a:endParaRPr lang="en-US" altLang="ko-KR" sz="800" b="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ko-KR" altLang="en-US" sz="800" b="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직능급제</a:t>
              </a:r>
              <a:endParaRPr lang="en-US" altLang="ko-KR" sz="800" b="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오른쪽 중괄호 40">
              <a:extLst>
                <a:ext uri="{FF2B5EF4-FFF2-40B4-BE49-F238E27FC236}">
                  <a16:creationId xmlns:a16="http://schemas.microsoft.com/office/drawing/2014/main" id="{1CB33419-9482-BE49-7524-B4AFF3669929}"/>
                </a:ext>
              </a:extLst>
            </p:cNvPr>
            <p:cNvSpPr/>
            <p:nvPr/>
          </p:nvSpPr>
          <p:spPr>
            <a:xfrm>
              <a:off x="1336730" y="5207198"/>
              <a:ext cx="84894" cy="684000"/>
            </a:xfrm>
            <a:prstGeom prst="rightBrace">
              <a:avLst>
                <a:gd name="adj1" fmla="val 3918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eaLnBrk="0" fontAlgn="ctr" latinLnBrk="0" hangingPunct="0">
                <a:spcBef>
                  <a:spcPct val="50000"/>
                </a:spcBef>
                <a:buFont typeface="Wingdings" pitchFamily="2" charset="2"/>
                <a:buNone/>
              </a:pPr>
              <a:endPara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FE2BBAF-F793-230D-E046-49632F6A8445}"/>
              </a:ext>
            </a:extLst>
          </p:cNvPr>
          <p:cNvGrpSpPr/>
          <p:nvPr/>
        </p:nvGrpSpPr>
        <p:grpSpPr>
          <a:xfrm>
            <a:off x="5589622" y="4913502"/>
            <a:ext cx="1308603" cy="993584"/>
            <a:chOff x="5578681" y="4913502"/>
            <a:chExt cx="1308603" cy="993584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BFCC185F-0294-A99C-7018-ABB4EAA123A9}"/>
                </a:ext>
              </a:extLst>
            </p:cNvPr>
            <p:cNvGrpSpPr/>
            <p:nvPr/>
          </p:nvGrpSpPr>
          <p:grpSpPr>
            <a:xfrm>
              <a:off x="5578681" y="4913502"/>
              <a:ext cx="507975" cy="993584"/>
              <a:chOff x="5578681" y="4911879"/>
              <a:chExt cx="507975" cy="993583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418C4D2-D617-0D1E-D875-9A9211A6F40D}"/>
                  </a:ext>
                </a:extLst>
              </p:cNvPr>
              <p:cNvSpPr/>
              <p:nvPr/>
            </p:nvSpPr>
            <p:spPr bwMode="auto">
              <a:xfrm>
                <a:off x="5578681" y="5070578"/>
                <a:ext cx="507975" cy="83488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r>
                  <a:rPr lang="ko-KR" altLang="en-US" sz="1000" b="1" dirty="0"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기초급</a:t>
                </a:r>
                <a:endParaRPr lang="en-US" altLang="ko-KR" sz="1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B41A28CB-E644-327D-CCE6-1628348FD6FA}"/>
                  </a:ext>
                </a:extLst>
              </p:cNvPr>
              <p:cNvSpPr/>
              <p:nvPr/>
            </p:nvSpPr>
            <p:spPr bwMode="auto">
              <a:xfrm>
                <a:off x="5578681" y="4911879"/>
                <a:ext cx="507975" cy="1077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r>
                  <a:rPr lang="ko-KR" altLang="en-US" sz="700" b="1" dirty="0" err="1"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역할수당</a:t>
                </a:r>
                <a:endParaRPr lang="en-US" altLang="ko-KR" sz="7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5221640-67CC-971A-F933-D336AA7C38DB}"/>
                </a:ext>
              </a:extLst>
            </p:cNvPr>
            <p:cNvSpPr txBox="1"/>
            <p:nvPr/>
          </p:nvSpPr>
          <p:spPr>
            <a:xfrm>
              <a:off x="6206765" y="5374960"/>
              <a:ext cx="680519" cy="492443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>
              <a:defPPr>
                <a:defRPr lang="ko-KR"/>
              </a:defPPr>
              <a:lvl1pPr algn="ctr">
                <a:defRPr sz="900" b="1">
                  <a:solidFill>
                    <a:prstClr val="black"/>
                  </a:solidFill>
                  <a:latin typeface="+mn-ea"/>
                </a:defRPr>
              </a:lvl1pPr>
            </a:lstStyle>
            <a:p>
              <a:r>
                <a:rPr lang="ko-KR" altLang="en-US" sz="800" b="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호봉제</a:t>
              </a:r>
              <a:endParaRPr lang="en-US" altLang="ko-KR" sz="800" b="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ko-KR" altLang="en-US" sz="800" b="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성과연봉제</a:t>
              </a:r>
              <a:endParaRPr lang="en-US" altLang="ko-KR" sz="800" b="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ko-KR" altLang="en-US" sz="800" b="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직무급제</a:t>
              </a:r>
              <a:endParaRPr lang="en-US" altLang="ko-KR" sz="800" b="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ko-KR" altLang="en-US" sz="800" b="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직능급제</a:t>
              </a:r>
              <a:endParaRPr lang="en-US" altLang="ko-KR" sz="800" b="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오른쪽 중괄호 46">
              <a:extLst>
                <a:ext uri="{FF2B5EF4-FFF2-40B4-BE49-F238E27FC236}">
                  <a16:creationId xmlns:a16="http://schemas.microsoft.com/office/drawing/2014/main" id="{2AF87E2E-2EF0-D654-E929-73FD74BFA41D}"/>
                </a:ext>
              </a:extLst>
            </p:cNvPr>
            <p:cNvSpPr/>
            <p:nvPr/>
          </p:nvSpPr>
          <p:spPr>
            <a:xfrm>
              <a:off x="6157030" y="5096032"/>
              <a:ext cx="84894" cy="792000"/>
            </a:xfrm>
            <a:prstGeom prst="rightBrace">
              <a:avLst>
                <a:gd name="adj1" fmla="val 3918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 eaLnBrk="0" fontAlgn="ctr" latinLnBrk="0" hangingPunct="0">
                <a:spcBef>
                  <a:spcPct val="50000"/>
                </a:spcBef>
                <a:buFont typeface="Wingdings" pitchFamily="2" charset="2"/>
                <a:buNone/>
              </a:pPr>
              <a:endParaRPr lang="ko-KR" altLang="en-US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B107828-6F02-03A2-B733-750668D8618F}"/>
              </a:ext>
            </a:extLst>
          </p:cNvPr>
          <p:cNvGrpSpPr/>
          <p:nvPr/>
        </p:nvGrpSpPr>
        <p:grpSpPr>
          <a:xfrm>
            <a:off x="273050" y="1643085"/>
            <a:ext cx="9359900" cy="319435"/>
            <a:chOff x="488950" y="1879556"/>
            <a:chExt cx="8928100" cy="300521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028E2CAF-7779-9472-18A9-4A27866C6A76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8909EFF-6746-7842-3EED-5006768E026D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defTabSz="913852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  <a:defRPr/>
              </a:pP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역할 기반 임금체계 설계 방안</a:t>
              </a:r>
              <a:endPara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53" name="Freeform 5">
            <a:extLst>
              <a:ext uri="{FF2B5EF4-FFF2-40B4-BE49-F238E27FC236}">
                <a16:creationId xmlns:a16="http://schemas.microsoft.com/office/drawing/2014/main" id="{9F0E05DB-768C-A462-C7FF-A2A39DD91972}"/>
              </a:ext>
            </a:extLst>
          </p:cNvPr>
          <p:cNvSpPr>
            <a:spLocks/>
          </p:cNvSpPr>
          <p:nvPr/>
        </p:nvSpPr>
        <p:spPr bwMode="auto">
          <a:xfrm>
            <a:off x="320901" y="2057429"/>
            <a:ext cx="215783" cy="212950"/>
          </a:xfrm>
          <a:custGeom>
            <a:avLst/>
            <a:gdLst>
              <a:gd name="T0" fmla="*/ 459 w 1695"/>
              <a:gd name="T1" fmla="*/ 1612 h 1634"/>
              <a:gd name="T2" fmla="*/ 333 w 1695"/>
              <a:gd name="T3" fmla="*/ 1355 h 1634"/>
              <a:gd name="T4" fmla="*/ 53 w 1695"/>
              <a:gd name="T5" fmla="*/ 944 h 1634"/>
              <a:gd name="T6" fmla="*/ 9 w 1695"/>
              <a:gd name="T7" fmla="*/ 938 h 1634"/>
              <a:gd name="T8" fmla="*/ 60 w 1695"/>
              <a:gd name="T9" fmla="*/ 854 h 1634"/>
              <a:gd name="T10" fmla="*/ 314 w 1695"/>
              <a:gd name="T11" fmla="*/ 815 h 1634"/>
              <a:gd name="T12" fmla="*/ 484 w 1695"/>
              <a:gd name="T13" fmla="*/ 1010 h 1634"/>
              <a:gd name="T14" fmla="*/ 519 w 1695"/>
              <a:gd name="T15" fmla="*/ 1058 h 1634"/>
              <a:gd name="T16" fmla="*/ 614 w 1695"/>
              <a:gd name="T17" fmla="*/ 938 h 1634"/>
              <a:gd name="T18" fmla="*/ 1043 w 1695"/>
              <a:gd name="T19" fmla="*/ 432 h 1634"/>
              <a:gd name="T20" fmla="*/ 1615 w 1695"/>
              <a:gd name="T21" fmla="*/ 18 h 1634"/>
              <a:gd name="T22" fmla="*/ 1684 w 1695"/>
              <a:gd name="T23" fmla="*/ 14 h 1634"/>
              <a:gd name="T24" fmla="*/ 1695 w 1695"/>
              <a:gd name="T25" fmla="*/ 36 h 1634"/>
              <a:gd name="T26" fmla="*/ 1608 w 1695"/>
              <a:gd name="T27" fmla="*/ 128 h 1634"/>
              <a:gd name="T28" fmla="*/ 1007 w 1695"/>
              <a:gd name="T29" fmla="*/ 804 h 1634"/>
              <a:gd name="T30" fmla="*/ 754 w 1695"/>
              <a:gd name="T31" fmla="*/ 1209 h 1634"/>
              <a:gd name="T32" fmla="*/ 629 w 1695"/>
              <a:gd name="T33" fmla="*/ 1442 h 1634"/>
              <a:gd name="T34" fmla="*/ 491 w 1695"/>
              <a:gd name="T35" fmla="*/ 1634 h 1634"/>
              <a:gd name="T36" fmla="*/ 459 w 1695"/>
              <a:gd name="T37" fmla="*/ 1612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95" h="1634">
                <a:moveTo>
                  <a:pt x="459" y="1612"/>
                </a:moveTo>
                <a:cubicBezTo>
                  <a:pt x="432" y="1584"/>
                  <a:pt x="397" y="1513"/>
                  <a:pt x="333" y="1355"/>
                </a:cubicBezTo>
                <a:cubicBezTo>
                  <a:pt x="208" y="1043"/>
                  <a:pt x="141" y="946"/>
                  <a:pt x="53" y="944"/>
                </a:cubicBezTo>
                <a:cubicBezTo>
                  <a:pt x="32" y="944"/>
                  <a:pt x="12" y="941"/>
                  <a:pt x="9" y="938"/>
                </a:cubicBezTo>
                <a:cubicBezTo>
                  <a:pt x="0" y="929"/>
                  <a:pt x="30" y="880"/>
                  <a:pt x="60" y="854"/>
                </a:cubicBezTo>
                <a:cubicBezTo>
                  <a:pt x="141" y="784"/>
                  <a:pt x="237" y="770"/>
                  <a:pt x="314" y="815"/>
                </a:cubicBezTo>
                <a:cubicBezTo>
                  <a:pt x="359" y="842"/>
                  <a:pt x="437" y="932"/>
                  <a:pt x="484" y="1010"/>
                </a:cubicBezTo>
                <a:cubicBezTo>
                  <a:pt x="500" y="1037"/>
                  <a:pt x="516" y="1058"/>
                  <a:pt x="519" y="1058"/>
                </a:cubicBezTo>
                <a:cubicBezTo>
                  <a:pt x="522" y="1059"/>
                  <a:pt x="565" y="1004"/>
                  <a:pt x="614" y="938"/>
                </a:cubicBezTo>
                <a:cubicBezTo>
                  <a:pt x="751" y="752"/>
                  <a:pt x="894" y="584"/>
                  <a:pt x="1043" y="432"/>
                </a:cubicBezTo>
                <a:cubicBezTo>
                  <a:pt x="1275" y="197"/>
                  <a:pt x="1442" y="76"/>
                  <a:pt x="1615" y="18"/>
                </a:cubicBezTo>
                <a:cubicBezTo>
                  <a:pt x="1669" y="0"/>
                  <a:pt x="1673" y="0"/>
                  <a:pt x="1684" y="14"/>
                </a:cubicBezTo>
                <a:cubicBezTo>
                  <a:pt x="1690" y="23"/>
                  <a:pt x="1695" y="33"/>
                  <a:pt x="1695" y="36"/>
                </a:cubicBezTo>
                <a:cubicBezTo>
                  <a:pt x="1695" y="40"/>
                  <a:pt x="1656" y="81"/>
                  <a:pt x="1608" y="128"/>
                </a:cubicBezTo>
                <a:cubicBezTo>
                  <a:pt x="1400" y="329"/>
                  <a:pt x="1145" y="615"/>
                  <a:pt x="1007" y="804"/>
                </a:cubicBezTo>
                <a:cubicBezTo>
                  <a:pt x="929" y="911"/>
                  <a:pt x="826" y="1075"/>
                  <a:pt x="754" y="1209"/>
                </a:cubicBezTo>
                <a:cubicBezTo>
                  <a:pt x="724" y="1265"/>
                  <a:pt x="668" y="1369"/>
                  <a:pt x="629" y="1442"/>
                </a:cubicBezTo>
                <a:cubicBezTo>
                  <a:pt x="561" y="1568"/>
                  <a:pt x="514" y="1634"/>
                  <a:pt x="491" y="1634"/>
                </a:cubicBezTo>
                <a:cubicBezTo>
                  <a:pt x="485" y="1634"/>
                  <a:pt x="471" y="1624"/>
                  <a:pt x="459" y="161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17005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3BB7D-6370-12F8-91DA-FBFCB71C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C12898-5958-AF27-3E01-011939591F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임금 밴드 폭은 조직 규모</a:t>
            </a:r>
            <a:r>
              <a:rPr lang="en-US" altLang="ko-KR" dirty="0"/>
              <a:t>·</a:t>
            </a:r>
            <a:r>
              <a:rPr lang="ko-KR" altLang="en-US" dirty="0"/>
              <a:t>관리 용이성</a:t>
            </a:r>
            <a:r>
              <a:rPr lang="en-US" altLang="ko-KR" dirty="0"/>
              <a:t>·</a:t>
            </a:r>
            <a:r>
              <a:rPr lang="ko-KR" altLang="en-US" dirty="0"/>
              <a:t>성과연계의 명확성을 고려해 </a:t>
            </a:r>
            <a:r>
              <a:rPr lang="en-US" altLang="ko-KR" b="1" dirty="0"/>
              <a:t>Narrow Band</a:t>
            </a:r>
            <a:r>
              <a:rPr lang="ko-KR" altLang="en-US" dirty="0"/>
              <a:t>로 설계하여 등급 간 경계와 보상 차등을 선명히 하고 인사운영의 예측성과 공정성을 확보함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B5F1C4E-7A72-BC6A-D8B3-7ADC79B120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E79509-8462-6798-F420-20BAF40F2F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1C60C53-DAC3-52F4-668F-26FDC9F0ED3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B96F55CC-EF6A-F03B-31B9-D85318461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99" y="5078483"/>
            <a:ext cx="2779126" cy="908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lang="en-US" altLang="ko-KR" dirty="0"/>
              <a:t>Range Spread </a:t>
            </a:r>
            <a:r>
              <a:rPr lang="ko-KR" altLang="en-US" dirty="0"/>
              <a:t>비율을 </a:t>
            </a:r>
            <a:r>
              <a:rPr lang="en-US" altLang="ko-KR" dirty="0"/>
              <a:t>30~40%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ko-KR" altLang="en-US" dirty="0"/>
              <a:t>성과주의 도입기에 주로 적용</a:t>
            </a:r>
            <a:endParaRPr lang="en-US" altLang="ko-KR" dirty="0"/>
          </a:p>
          <a:p>
            <a:pPr marL="88900" indent="-88900">
              <a:buFontTx/>
              <a:buChar char="•"/>
              <a:tabLst>
                <a:tab pos="88900" algn="l"/>
              </a:tabLst>
              <a:defRPr/>
            </a:pPr>
            <a:r>
              <a:rPr kumimoji="1" lang="ko-KR" altLang="en-US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제조업 다수</a:t>
            </a:r>
            <a:endParaRPr kumimoji="1" lang="en-US" altLang="ko-KR" kern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8900" indent="-88900">
              <a:buFontTx/>
              <a:buChar char="•"/>
              <a:tabLst>
                <a:tab pos="88900" algn="l"/>
              </a:tabLst>
              <a:defRPr/>
            </a:pPr>
            <a:r>
              <a:rPr kumimoji="1" lang="ko-KR" altLang="en-US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근속 및 팀워크 중시 기업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F353CD8-E6A5-A54E-1E6D-699D1F961095}"/>
              </a:ext>
            </a:extLst>
          </p:cNvPr>
          <p:cNvGrpSpPr/>
          <p:nvPr/>
        </p:nvGrpSpPr>
        <p:grpSpPr>
          <a:xfrm>
            <a:off x="671356" y="2904319"/>
            <a:ext cx="2346045" cy="1808377"/>
            <a:chOff x="1228630" y="2867819"/>
            <a:chExt cx="2279534" cy="1697859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677180A5-4C14-64AD-C863-72AA9F9FE3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379" y="3419386"/>
              <a:ext cx="365524" cy="615170"/>
              <a:chOff x="3642" y="3125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30" name="Rectangle 5">
                <a:extLst>
                  <a:ext uri="{FF2B5EF4-FFF2-40B4-BE49-F238E27FC236}">
                    <a16:creationId xmlns:a16="http://schemas.microsoft.com/office/drawing/2014/main" id="{101AC934-9030-6657-6B8B-E701BE6976C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5"/>
                <a:ext cx="440" cy="468"/>
              </a:xfrm>
              <a:prstGeom prst="rect">
                <a:avLst/>
              </a:prstGeom>
              <a:solidFill>
                <a:srgbClr val="EDF2F9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31" name="AutoShape 6">
                <a:extLst>
                  <a:ext uri="{FF2B5EF4-FFF2-40B4-BE49-F238E27FC236}">
                    <a16:creationId xmlns:a16="http://schemas.microsoft.com/office/drawing/2014/main" id="{4FAC5235-9663-FA73-24A5-F0A27BD455E5}"/>
                  </a:ext>
                </a:extLst>
              </p:cNvPr>
              <p:cNvCxnSpPr>
                <a:cxnSpLocks noChangeShapeType="1"/>
                <a:stCxn id="30" idx="1"/>
                <a:endCxn id="30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9" name="Group 7">
              <a:extLst>
                <a:ext uri="{FF2B5EF4-FFF2-40B4-BE49-F238E27FC236}">
                  <a16:creationId xmlns:a16="http://schemas.microsoft.com/office/drawing/2014/main" id="{BBF3D169-6CF2-F049-820C-CAC8F71B1E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170" y="2887790"/>
              <a:ext cx="365524" cy="615170"/>
              <a:chOff x="3642" y="3125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28" name="Rectangle 8">
                <a:extLst>
                  <a:ext uri="{FF2B5EF4-FFF2-40B4-BE49-F238E27FC236}">
                    <a16:creationId xmlns:a16="http://schemas.microsoft.com/office/drawing/2014/main" id="{302B2852-E68F-4CB1-FDD1-B15EE0134CF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5"/>
                <a:ext cx="440" cy="468"/>
              </a:xfrm>
              <a:prstGeom prst="rect">
                <a:avLst/>
              </a:prstGeom>
              <a:solidFill>
                <a:srgbClr val="EDF2F9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29" name="AutoShape 9">
                <a:extLst>
                  <a:ext uri="{FF2B5EF4-FFF2-40B4-BE49-F238E27FC236}">
                    <a16:creationId xmlns:a16="http://schemas.microsoft.com/office/drawing/2014/main" id="{75B73119-99D5-5681-F8E6-17D6043FA1CF}"/>
                  </a:ext>
                </a:extLst>
              </p:cNvPr>
              <p:cNvCxnSpPr>
                <a:cxnSpLocks noChangeShapeType="1"/>
                <a:stCxn id="28" idx="1"/>
                <a:endCxn id="28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68472E5-A815-38E8-3F11-752E8429C9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6595" y="3950508"/>
              <a:ext cx="365524" cy="615170"/>
              <a:chOff x="3642" y="3125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26" name="Rectangle 11">
                <a:extLst>
                  <a:ext uri="{FF2B5EF4-FFF2-40B4-BE49-F238E27FC236}">
                    <a16:creationId xmlns:a16="http://schemas.microsoft.com/office/drawing/2014/main" id="{5158C4B0-1168-6E97-391D-1D007576324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5"/>
                <a:ext cx="440" cy="468"/>
              </a:xfrm>
              <a:prstGeom prst="rect">
                <a:avLst/>
              </a:prstGeom>
              <a:solidFill>
                <a:srgbClr val="EDF2F9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27" name="AutoShape 12">
                <a:extLst>
                  <a:ext uri="{FF2B5EF4-FFF2-40B4-BE49-F238E27FC236}">
                    <a16:creationId xmlns:a16="http://schemas.microsoft.com/office/drawing/2014/main" id="{565D62C4-C5B3-67B5-5D9B-7635F7A438D1}"/>
                  </a:ext>
                </a:extLst>
              </p:cNvPr>
              <p:cNvCxnSpPr>
                <a:cxnSpLocks noChangeShapeType="1"/>
                <a:stCxn id="26" idx="1"/>
                <a:endCxn id="26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11" name="Line 64">
              <a:extLst>
                <a:ext uri="{FF2B5EF4-FFF2-40B4-BE49-F238E27FC236}">
                  <a16:creationId xmlns:a16="http://schemas.microsoft.com/office/drawing/2014/main" id="{3B2A9BD2-30E9-DF0D-97D2-87C7781CEEF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250855" y="2939954"/>
              <a:ext cx="1516062" cy="1592820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3A35FA1-3418-C375-B163-8E63FF1FB1D8}"/>
                </a:ext>
              </a:extLst>
            </p:cNvPr>
            <p:cNvGrpSpPr/>
            <p:nvPr/>
          </p:nvGrpSpPr>
          <p:grpSpPr>
            <a:xfrm>
              <a:off x="1228630" y="3947247"/>
              <a:ext cx="969963" cy="88360"/>
              <a:chOff x="1228630" y="3882264"/>
              <a:chExt cx="969963" cy="106717"/>
            </a:xfrm>
          </p:grpSpPr>
          <p:sp>
            <p:nvSpPr>
              <p:cNvPr id="23" name="Line 70">
                <a:extLst>
                  <a:ext uri="{FF2B5EF4-FFF2-40B4-BE49-F238E27FC236}">
                    <a16:creationId xmlns:a16="http://schemas.microsoft.com/office/drawing/2014/main" id="{51DF380A-FFA5-6D0F-2BC2-AAFC4EA9475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4" name="Line 71">
                <a:extLst>
                  <a:ext uri="{FF2B5EF4-FFF2-40B4-BE49-F238E27FC236}">
                    <a16:creationId xmlns:a16="http://schemas.microsoft.com/office/drawing/2014/main" id="{23CFB09E-B17E-96EC-4BA6-07A0FE7349B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82264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5" name="Rectangle 34" descr="어두운 상향 대각선">
                <a:extLst>
                  <a:ext uri="{FF2B5EF4-FFF2-40B4-BE49-F238E27FC236}">
                    <a16:creationId xmlns:a16="http://schemas.microsoft.com/office/drawing/2014/main" id="{4154EEAC-122A-043E-8421-E51B6CC50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5019"/>
                <a:ext cx="847089" cy="88706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E3A78F8-EAB0-701C-5BB7-448EE8265F44}"/>
                </a:ext>
              </a:extLst>
            </p:cNvPr>
            <p:cNvGrpSpPr/>
            <p:nvPr/>
          </p:nvGrpSpPr>
          <p:grpSpPr>
            <a:xfrm>
              <a:off x="1720644" y="3415707"/>
              <a:ext cx="969963" cy="88360"/>
              <a:chOff x="1228630" y="3882264"/>
              <a:chExt cx="969963" cy="106717"/>
            </a:xfrm>
          </p:grpSpPr>
          <p:sp>
            <p:nvSpPr>
              <p:cNvPr id="20" name="Line 70">
                <a:extLst>
                  <a:ext uri="{FF2B5EF4-FFF2-40B4-BE49-F238E27FC236}">
                    <a16:creationId xmlns:a16="http://schemas.microsoft.com/office/drawing/2014/main" id="{4BBF918B-CE14-D679-4652-D7D138E640A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" name="Line 71">
                <a:extLst>
                  <a:ext uri="{FF2B5EF4-FFF2-40B4-BE49-F238E27FC236}">
                    <a16:creationId xmlns:a16="http://schemas.microsoft.com/office/drawing/2014/main" id="{E0716738-6E92-A30B-35BF-2BE4F71980F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82264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" name="Rectangle 34" descr="어두운 상향 대각선">
                <a:extLst>
                  <a:ext uri="{FF2B5EF4-FFF2-40B4-BE49-F238E27FC236}">
                    <a16:creationId xmlns:a16="http://schemas.microsoft.com/office/drawing/2014/main" id="{FF5BC65B-AD34-DAA7-9CDB-1111E701B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5019"/>
                <a:ext cx="847089" cy="88706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C9C8488-EEF6-71E8-E273-2CBBFDB02BF2}"/>
                </a:ext>
              </a:extLst>
            </p:cNvPr>
            <p:cNvGrpSpPr/>
            <p:nvPr/>
          </p:nvGrpSpPr>
          <p:grpSpPr>
            <a:xfrm>
              <a:off x="1244991" y="2867819"/>
              <a:ext cx="2263173" cy="1697859"/>
              <a:chOff x="1244991" y="2867819"/>
              <a:chExt cx="2263173" cy="1697859"/>
            </a:xfrm>
          </p:grpSpPr>
          <p:sp>
            <p:nvSpPr>
              <p:cNvPr id="15" name="Text Box 63">
                <a:extLst>
                  <a:ext uri="{FF2B5EF4-FFF2-40B4-BE49-F238E27FC236}">
                    <a16:creationId xmlns:a16="http://schemas.microsoft.com/office/drawing/2014/main" id="{D68146EC-E492-130B-F672-AE11486FC574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2812461" y="2867819"/>
                <a:ext cx="695703" cy="38779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39800" fontAlgn="b">
                  <a:spcBef>
                    <a:spcPct val="40000"/>
                  </a:spcBef>
                </a:pPr>
                <a:r>
                  <a:rPr kumimoji="1" lang="en-US" altLang="ko-KR" sz="1050" spc="-10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나눔고딕 ExtraBold"/>
                  </a:rPr>
                  <a:t>Range spread</a:t>
                </a:r>
              </a:p>
              <a:p>
                <a:pPr defTabSz="939800" fontAlgn="b">
                  <a:spcBef>
                    <a:spcPct val="40000"/>
                  </a:spcBef>
                </a:pPr>
                <a:r>
                  <a:rPr kumimoji="1" lang="en-US" altLang="ko-KR" sz="1050" spc="-10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나눔고딕 ExtraBold"/>
                  </a:rPr>
                  <a:t>30~40%</a:t>
                </a:r>
              </a:p>
            </p:txBody>
          </p:sp>
          <p:sp>
            <p:nvSpPr>
              <p:cNvPr id="16" name="Freeform 75">
                <a:extLst>
                  <a:ext uri="{FF2B5EF4-FFF2-40B4-BE49-F238E27FC236}">
                    <a16:creationId xmlns:a16="http://schemas.microsoft.com/office/drawing/2014/main" id="{FF952006-4DFF-85C0-1A24-D708D014539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17637" y="3970525"/>
                <a:ext cx="76367" cy="595153"/>
              </a:xfrm>
              <a:custGeom>
                <a:avLst/>
                <a:gdLst>
                  <a:gd name="T0" fmla="*/ 2147483647 w 1260"/>
                  <a:gd name="T1" fmla="*/ 2147483647 h 5054"/>
                  <a:gd name="T2" fmla="*/ 2147483647 w 1260"/>
                  <a:gd name="T3" fmla="*/ 2147483647 h 5054"/>
                  <a:gd name="T4" fmla="*/ 2147483647 w 1260"/>
                  <a:gd name="T5" fmla="*/ 2147483647 h 5054"/>
                  <a:gd name="T6" fmla="*/ 2147483647 w 1260"/>
                  <a:gd name="T7" fmla="*/ 2147483647 h 5054"/>
                  <a:gd name="T8" fmla="*/ 2147483647 w 1260"/>
                  <a:gd name="T9" fmla="*/ 2147483647 h 5054"/>
                  <a:gd name="T10" fmla="*/ 2147483647 w 1260"/>
                  <a:gd name="T11" fmla="*/ 2147483647 h 5054"/>
                  <a:gd name="T12" fmla="*/ 2147483647 w 1260"/>
                  <a:gd name="T13" fmla="*/ 2147483647 h 5054"/>
                  <a:gd name="T14" fmla="*/ 2147483647 w 1260"/>
                  <a:gd name="T15" fmla="*/ 2147483647 h 5054"/>
                  <a:gd name="T16" fmla="*/ 2147483647 w 1260"/>
                  <a:gd name="T17" fmla="*/ 2147483647 h 5054"/>
                  <a:gd name="T18" fmla="*/ 2147483647 w 1260"/>
                  <a:gd name="T19" fmla="*/ 2147483647 h 5054"/>
                  <a:gd name="T20" fmla="*/ 2147483647 w 1260"/>
                  <a:gd name="T21" fmla="*/ 2147483647 h 5054"/>
                  <a:gd name="T22" fmla="*/ 2147483647 w 1260"/>
                  <a:gd name="T23" fmla="*/ 2147483647 h 5054"/>
                  <a:gd name="T24" fmla="*/ 2147483647 w 1260"/>
                  <a:gd name="T25" fmla="*/ 2147483647 h 5054"/>
                  <a:gd name="T26" fmla="*/ 2147483647 w 1260"/>
                  <a:gd name="T27" fmla="*/ 2147483647 h 5054"/>
                  <a:gd name="T28" fmla="*/ 2147483647 w 1260"/>
                  <a:gd name="T29" fmla="*/ 2147483647 h 5054"/>
                  <a:gd name="T30" fmla="*/ 2147483647 w 1260"/>
                  <a:gd name="T31" fmla="*/ 2147483647 h 5054"/>
                  <a:gd name="T32" fmla="*/ 2147483647 w 1260"/>
                  <a:gd name="T33" fmla="*/ 2147483647 h 5054"/>
                  <a:gd name="T34" fmla="*/ 2147483647 w 1260"/>
                  <a:gd name="T35" fmla="*/ 2147483647 h 5054"/>
                  <a:gd name="T36" fmla="*/ 2147483647 w 1260"/>
                  <a:gd name="T37" fmla="*/ 2147483647 h 5054"/>
                  <a:gd name="T38" fmla="*/ 2147483647 w 1260"/>
                  <a:gd name="T39" fmla="*/ 2147483647 h 5054"/>
                  <a:gd name="T40" fmla="*/ 2147483647 w 1260"/>
                  <a:gd name="T41" fmla="*/ 2147483647 h 5054"/>
                  <a:gd name="T42" fmla="*/ 2147483647 w 1260"/>
                  <a:gd name="T43" fmla="*/ 2147483647 h 5054"/>
                  <a:gd name="T44" fmla="*/ 2147483647 w 1260"/>
                  <a:gd name="T45" fmla="*/ 2147483647 h 5054"/>
                  <a:gd name="T46" fmla="*/ 2147483647 w 1260"/>
                  <a:gd name="T47" fmla="*/ 2147483647 h 5054"/>
                  <a:gd name="T48" fmla="*/ 2147483647 w 1260"/>
                  <a:gd name="T49" fmla="*/ 2147483647 h 5054"/>
                  <a:gd name="T50" fmla="*/ 2147483647 w 1260"/>
                  <a:gd name="T51" fmla="*/ 2147483647 h 5054"/>
                  <a:gd name="T52" fmla="*/ 2147483647 w 1260"/>
                  <a:gd name="T53" fmla="*/ 2147483647 h 5054"/>
                  <a:gd name="T54" fmla="*/ 2147483647 w 1260"/>
                  <a:gd name="T55" fmla="*/ 2147483647 h 5054"/>
                  <a:gd name="T56" fmla="*/ 2147483647 w 1260"/>
                  <a:gd name="T57" fmla="*/ 2147483647 h 5054"/>
                  <a:gd name="T58" fmla="*/ 2147483647 w 1260"/>
                  <a:gd name="T59" fmla="*/ 2147483647 h 5054"/>
                  <a:gd name="T60" fmla="*/ 2147483647 w 1260"/>
                  <a:gd name="T61" fmla="*/ 2147483647 h 5054"/>
                  <a:gd name="T62" fmla="*/ 2147483647 w 1260"/>
                  <a:gd name="T63" fmla="*/ 2147483647 h 5054"/>
                  <a:gd name="T64" fmla="*/ 2147483647 w 1260"/>
                  <a:gd name="T65" fmla="*/ 2147483647 h 5054"/>
                  <a:gd name="T66" fmla="*/ 2147483647 w 1260"/>
                  <a:gd name="T67" fmla="*/ 2147483647 h 5054"/>
                  <a:gd name="T68" fmla="*/ 2147483647 w 1260"/>
                  <a:gd name="T69" fmla="*/ 2147483647 h 5054"/>
                  <a:gd name="T70" fmla="*/ 2147483647 w 1260"/>
                  <a:gd name="T71" fmla="*/ 2147483647 h 5054"/>
                  <a:gd name="T72" fmla="*/ 2147483647 w 1260"/>
                  <a:gd name="T73" fmla="*/ 2147483647 h 5054"/>
                  <a:gd name="T74" fmla="*/ 2147483647 w 1260"/>
                  <a:gd name="T75" fmla="*/ 2147483647 h 5054"/>
                  <a:gd name="T76" fmla="*/ 2147483647 w 1260"/>
                  <a:gd name="T77" fmla="*/ 2147483647 h 5054"/>
                  <a:gd name="T78" fmla="*/ 2147483647 w 1260"/>
                  <a:gd name="T79" fmla="*/ 2147483647 h 5054"/>
                  <a:gd name="T80" fmla="*/ 2147483647 w 1260"/>
                  <a:gd name="T81" fmla="*/ 2147483647 h 5054"/>
                  <a:gd name="T82" fmla="*/ 2147483647 w 1260"/>
                  <a:gd name="T83" fmla="*/ 2147483647 h 5054"/>
                  <a:gd name="T84" fmla="*/ 2147483647 w 1260"/>
                  <a:gd name="T85" fmla="*/ 2147483647 h 5054"/>
                  <a:gd name="T86" fmla="*/ 2147483647 w 1260"/>
                  <a:gd name="T87" fmla="*/ 2147483647 h 5054"/>
                  <a:gd name="T88" fmla="*/ 2147483647 w 1260"/>
                  <a:gd name="T89" fmla="*/ 2147483647 h 5054"/>
                  <a:gd name="T90" fmla="*/ 2147483647 w 1260"/>
                  <a:gd name="T91" fmla="*/ 2147483647 h 5054"/>
                  <a:gd name="T92" fmla="*/ 2147483647 w 1260"/>
                  <a:gd name="T93" fmla="*/ 2147483647 h 5054"/>
                  <a:gd name="T94" fmla="*/ 2147483647 w 1260"/>
                  <a:gd name="T95" fmla="*/ 2147483647 h 5054"/>
                  <a:gd name="T96" fmla="*/ 2147483647 w 1260"/>
                  <a:gd name="T97" fmla="*/ 2147483647 h 5054"/>
                  <a:gd name="T98" fmla="*/ 2147483647 w 1260"/>
                  <a:gd name="T99" fmla="*/ 2147483647 h 5054"/>
                  <a:gd name="T100" fmla="*/ 2147483647 w 1260"/>
                  <a:gd name="T101" fmla="*/ 2147483647 h 5054"/>
                  <a:gd name="T102" fmla="*/ 2147483647 w 1260"/>
                  <a:gd name="T103" fmla="*/ 2147483647 h 5054"/>
                  <a:gd name="T104" fmla="*/ 2147483647 w 1260"/>
                  <a:gd name="T105" fmla="*/ 2147483647 h 5054"/>
                  <a:gd name="T106" fmla="*/ 2147483647 w 1260"/>
                  <a:gd name="T107" fmla="*/ 2147483647 h 505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260"/>
                  <a:gd name="T163" fmla="*/ 0 h 5054"/>
                  <a:gd name="T164" fmla="*/ 1260 w 1260"/>
                  <a:gd name="T165" fmla="*/ 5054 h 5054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260" h="5054">
                    <a:moveTo>
                      <a:pt x="838" y="4104"/>
                    </a:moveTo>
                    <a:lnTo>
                      <a:pt x="829" y="4197"/>
                    </a:lnTo>
                    <a:lnTo>
                      <a:pt x="815" y="4292"/>
                    </a:lnTo>
                    <a:lnTo>
                      <a:pt x="794" y="4386"/>
                    </a:lnTo>
                    <a:lnTo>
                      <a:pt x="764" y="4473"/>
                    </a:lnTo>
                    <a:lnTo>
                      <a:pt x="728" y="4561"/>
                    </a:lnTo>
                    <a:lnTo>
                      <a:pt x="680" y="4642"/>
                    </a:lnTo>
                    <a:lnTo>
                      <a:pt x="629" y="4720"/>
                    </a:lnTo>
                    <a:lnTo>
                      <a:pt x="571" y="4788"/>
                    </a:lnTo>
                    <a:lnTo>
                      <a:pt x="505" y="4850"/>
                    </a:lnTo>
                    <a:lnTo>
                      <a:pt x="437" y="4906"/>
                    </a:lnTo>
                    <a:lnTo>
                      <a:pt x="364" y="4951"/>
                    </a:lnTo>
                    <a:lnTo>
                      <a:pt x="290" y="4992"/>
                    </a:lnTo>
                    <a:lnTo>
                      <a:pt x="206" y="5019"/>
                    </a:lnTo>
                    <a:lnTo>
                      <a:pt x="123" y="5040"/>
                    </a:lnTo>
                    <a:lnTo>
                      <a:pt x="40" y="5050"/>
                    </a:lnTo>
                    <a:lnTo>
                      <a:pt x="0" y="5054"/>
                    </a:lnTo>
                    <a:lnTo>
                      <a:pt x="66" y="5048"/>
                    </a:lnTo>
                    <a:lnTo>
                      <a:pt x="136" y="5034"/>
                    </a:lnTo>
                    <a:lnTo>
                      <a:pt x="206" y="5006"/>
                    </a:lnTo>
                    <a:lnTo>
                      <a:pt x="270" y="4975"/>
                    </a:lnTo>
                    <a:lnTo>
                      <a:pt x="332" y="4934"/>
                    </a:lnTo>
                    <a:lnTo>
                      <a:pt x="388" y="4882"/>
                    </a:lnTo>
                    <a:lnTo>
                      <a:pt x="435" y="4828"/>
                    </a:lnTo>
                    <a:lnTo>
                      <a:pt x="479" y="4763"/>
                    </a:lnTo>
                    <a:lnTo>
                      <a:pt x="517" y="4695"/>
                    </a:lnTo>
                    <a:lnTo>
                      <a:pt x="546" y="4619"/>
                    </a:lnTo>
                    <a:lnTo>
                      <a:pt x="567" y="4545"/>
                    </a:lnTo>
                    <a:lnTo>
                      <a:pt x="582" y="4467"/>
                    </a:lnTo>
                    <a:lnTo>
                      <a:pt x="585" y="4391"/>
                    </a:lnTo>
                    <a:lnTo>
                      <a:pt x="585" y="3098"/>
                    </a:lnTo>
                    <a:lnTo>
                      <a:pt x="590" y="3024"/>
                    </a:lnTo>
                    <a:lnTo>
                      <a:pt x="604" y="2951"/>
                    </a:lnTo>
                    <a:lnTo>
                      <a:pt x="629" y="2882"/>
                    </a:lnTo>
                    <a:lnTo>
                      <a:pt x="655" y="2815"/>
                    </a:lnTo>
                    <a:lnTo>
                      <a:pt x="693" y="2756"/>
                    </a:lnTo>
                    <a:lnTo>
                      <a:pt x="738" y="2699"/>
                    </a:lnTo>
                    <a:lnTo>
                      <a:pt x="785" y="2648"/>
                    </a:lnTo>
                    <a:lnTo>
                      <a:pt x="839" y="2607"/>
                    </a:lnTo>
                    <a:lnTo>
                      <a:pt x="897" y="2574"/>
                    </a:lnTo>
                    <a:lnTo>
                      <a:pt x="960" y="2549"/>
                    </a:lnTo>
                    <a:lnTo>
                      <a:pt x="1026" y="2537"/>
                    </a:lnTo>
                    <a:lnTo>
                      <a:pt x="1090" y="2527"/>
                    </a:lnTo>
                    <a:lnTo>
                      <a:pt x="1026" y="2515"/>
                    </a:lnTo>
                    <a:lnTo>
                      <a:pt x="960" y="2502"/>
                    </a:lnTo>
                    <a:lnTo>
                      <a:pt x="897" y="2477"/>
                    </a:lnTo>
                    <a:lnTo>
                      <a:pt x="839" y="2442"/>
                    </a:lnTo>
                    <a:lnTo>
                      <a:pt x="785" y="2401"/>
                    </a:lnTo>
                    <a:lnTo>
                      <a:pt x="738" y="2354"/>
                    </a:lnTo>
                    <a:lnTo>
                      <a:pt x="693" y="2296"/>
                    </a:lnTo>
                    <a:lnTo>
                      <a:pt x="655" y="2235"/>
                    </a:lnTo>
                    <a:lnTo>
                      <a:pt x="629" y="2170"/>
                    </a:lnTo>
                    <a:lnTo>
                      <a:pt x="604" y="2100"/>
                    </a:lnTo>
                    <a:lnTo>
                      <a:pt x="590" y="2026"/>
                    </a:lnTo>
                    <a:lnTo>
                      <a:pt x="585" y="1951"/>
                    </a:lnTo>
                    <a:lnTo>
                      <a:pt x="585" y="660"/>
                    </a:lnTo>
                    <a:lnTo>
                      <a:pt x="582" y="585"/>
                    </a:lnTo>
                    <a:lnTo>
                      <a:pt x="567" y="506"/>
                    </a:lnTo>
                    <a:lnTo>
                      <a:pt x="546" y="427"/>
                    </a:lnTo>
                    <a:lnTo>
                      <a:pt x="517" y="354"/>
                    </a:lnTo>
                    <a:lnTo>
                      <a:pt x="479" y="289"/>
                    </a:lnTo>
                    <a:lnTo>
                      <a:pt x="435" y="226"/>
                    </a:lnTo>
                    <a:lnTo>
                      <a:pt x="388" y="169"/>
                    </a:lnTo>
                    <a:lnTo>
                      <a:pt x="332" y="118"/>
                    </a:lnTo>
                    <a:lnTo>
                      <a:pt x="270" y="76"/>
                    </a:lnTo>
                    <a:lnTo>
                      <a:pt x="206" y="44"/>
                    </a:lnTo>
                    <a:lnTo>
                      <a:pt x="136" y="19"/>
                    </a:lnTo>
                    <a:lnTo>
                      <a:pt x="66" y="3"/>
                    </a:lnTo>
                    <a:lnTo>
                      <a:pt x="0" y="0"/>
                    </a:lnTo>
                    <a:lnTo>
                      <a:pt x="40" y="3"/>
                    </a:lnTo>
                    <a:lnTo>
                      <a:pt x="123" y="9"/>
                    </a:lnTo>
                    <a:lnTo>
                      <a:pt x="206" y="29"/>
                    </a:lnTo>
                    <a:lnTo>
                      <a:pt x="290" y="61"/>
                    </a:lnTo>
                    <a:lnTo>
                      <a:pt x="364" y="100"/>
                    </a:lnTo>
                    <a:lnTo>
                      <a:pt x="437" y="147"/>
                    </a:lnTo>
                    <a:lnTo>
                      <a:pt x="505" y="203"/>
                    </a:lnTo>
                    <a:lnTo>
                      <a:pt x="571" y="264"/>
                    </a:lnTo>
                    <a:lnTo>
                      <a:pt x="629" y="333"/>
                    </a:lnTo>
                    <a:lnTo>
                      <a:pt x="680" y="408"/>
                    </a:lnTo>
                    <a:lnTo>
                      <a:pt x="728" y="488"/>
                    </a:lnTo>
                    <a:lnTo>
                      <a:pt x="764" y="576"/>
                    </a:lnTo>
                    <a:lnTo>
                      <a:pt x="794" y="664"/>
                    </a:lnTo>
                    <a:lnTo>
                      <a:pt x="815" y="757"/>
                    </a:lnTo>
                    <a:lnTo>
                      <a:pt x="829" y="850"/>
                    </a:lnTo>
                    <a:lnTo>
                      <a:pt x="838" y="948"/>
                    </a:lnTo>
                    <a:lnTo>
                      <a:pt x="838" y="2047"/>
                    </a:lnTo>
                    <a:lnTo>
                      <a:pt x="842" y="2116"/>
                    </a:lnTo>
                    <a:lnTo>
                      <a:pt x="856" y="2184"/>
                    </a:lnTo>
                    <a:lnTo>
                      <a:pt x="874" y="2242"/>
                    </a:lnTo>
                    <a:lnTo>
                      <a:pt x="903" y="2302"/>
                    </a:lnTo>
                    <a:lnTo>
                      <a:pt x="937" y="2355"/>
                    </a:lnTo>
                    <a:lnTo>
                      <a:pt x="981" y="2405"/>
                    </a:lnTo>
                    <a:lnTo>
                      <a:pt x="1030" y="2442"/>
                    </a:lnTo>
                    <a:lnTo>
                      <a:pt x="1083" y="2477"/>
                    </a:lnTo>
                    <a:lnTo>
                      <a:pt x="1140" y="2502"/>
                    </a:lnTo>
                    <a:lnTo>
                      <a:pt x="1200" y="2515"/>
                    </a:lnTo>
                    <a:lnTo>
                      <a:pt x="1260" y="2523"/>
                    </a:lnTo>
                    <a:lnTo>
                      <a:pt x="1206" y="2530"/>
                    </a:lnTo>
                    <a:lnTo>
                      <a:pt x="1147" y="2543"/>
                    </a:lnTo>
                    <a:lnTo>
                      <a:pt x="1090" y="2569"/>
                    </a:lnTo>
                    <a:lnTo>
                      <a:pt x="1037" y="2598"/>
                    </a:lnTo>
                    <a:lnTo>
                      <a:pt x="987" y="2640"/>
                    </a:lnTo>
                    <a:lnTo>
                      <a:pt x="943" y="2687"/>
                    </a:lnTo>
                    <a:lnTo>
                      <a:pt x="908" y="2739"/>
                    </a:lnTo>
                    <a:lnTo>
                      <a:pt x="877" y="2798"/>
                    </a:lnTo>
                    <a:lnTo>
                      <a:pt x="858" y="2859"/>
                    </a:lnTo>
                    <a:lnTo>
                      <a:pt x="842" y="2923"/>
                    </a:lnTo>
                    <a:lnTo>
                      <a:pt x="838" y="2991"/>
                    </a:lnTo>
                    <a:lnTo>
                      <a:pt x="838" y="4104"/>
                    </a:lnTo>
                    <a:close/>
                  </a:path>
                </a:pathLst>
              </a:custGeom>
              <a:solidFill>
                <a:srgbClr val="5F5F5F"/>
              </a:soli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17" name="Text Box 35">
                <a:extLst>
                  <a:ext uri="{FF2B5EF4-FFF2-40B4-BE49-F238E27FC236}">
                    <a16:creationId xmlns:a16="http://schemas.microsoft.com/office/drawing/2014/main" id="{3C429F9A-3BE6-D12F-FA89-EF21964C8AE8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244991" y="3362218"/>
                <a:ext cx="368691" cy="15388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1pPr defTabSz="939800" fontAlgn="b">
                  <a:spcBef>
                    <a:spcPct val="40000"/>
                  </a:spcBef>
                  <a:defRPr kumimoji="1" sz="100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나눔고딕 ExtraBold"/>
                  </a:defRPr>
                </a:lvl1pPr>
              </a:lstStyle>
              <a:p>
                <a:r>
                  <a:rPr lang="en-US" altLang="ko-KR" spc="-100" dirty="0"/>
                  <a:t>Overlap</a:t>
                </a:r>
              </a:p>
            </p:txBody>
          </p:sp>
          <p:sp>
            <p:nvSpPr>
              <p:cNvPr id="18" name="Freeform 75">
                <a:extLst>
                  <a:ext uri="{FF2B5EF4-FFF2-40B4-BE49-F238E27FC236}">
                    <a16:creationId xmlns:a16="http://schemas.microsoft.com/office/drawing/2014/main" id="{5A22B534-7D11-F6D0-0C75-8D790424448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16868" y="3436102"/>
                <a:ext cx="76367" cy="595153"/>
              </a:xfrm>
              <a:custGeom>
                <a:avLst/>
                <a:gdLst>
                  <a:gd name="T0" fmla="*/ 2147483647 w 1260"/>
                  <a:gd name="T1" fmla="*/ 2147483647 h 5054"/>
                  <a:gd name="T2" fmla="*/ 2147483647 w 1260"/>
                  <a:gd name="T3" fmla="*/ 2147483647 h 5054"/>
                  <a:gd name="T4" fmla="*/ 2147483647 w 1260"/>
                  <a:gd name="T5" fmla="*/ 2147483647 h 5054"/>
                  <a:gd name="T6" fmla="*/ 2147483647 w 1260"/>
                  <a:gd name="T7" fmla="*/ 2147483647 h 5054"/>
                  <a:gd name="T8" fmla="*/ 2147483647 w 1260"/>
                  <a:gd name="T9" fmla="*/ 2147483647 h 5054"/>
                  <a:gd name="T10" fmla="*/ 2147483647 w 1260"/>
                  <a:gd name="T11" fmla="*/ 2147483647 h 5054"/>
                  <a:gd name="T12" fmla="*/ 2147483647 w 1260"/>
                  <a:gd name="T13" fmla="*/ 2147483647 h 5054"/>
                  <a:gd name="T14" fmla="*/ 2147483647 w 1260"/>
                  <a:gd name="T15" fmla="*/ 2147483647 h 5054"/>
                  <a:gd name="T16" fmla="*/ 2147483647 w 1260"/>
                  <a:gd name="T17" fmla="*/ 2147483647 h 5054"/>
                  <a:gd name="T18" fmla="*/ 2147483647 w 1260"/>
                  <a:gd name="T19" fmla="*/ 2147483647 h 5054"/>
                  <a:gd name="T20" fmla="*/ 2147483647 w 1260"/>
                  <a:gd name="T21" fmla="*/ 2147483647 h 5054"/>
                  <a:gd name="T22" fmla="*/ 2147483647 w 1260"/>
                  <a:gd name="T23" fmla="*/ 2147483647 h 5054"/>
                  <a:gd name="T24" fmla="*/ 2147483647 w 1260"/>
                  <a:gd name="T25" fmla="*/ 2147483647 h 5054"/>
                  <a:gd name="T26" fmla="*/ 2147483647 w 1260"/>
                  <a:gd name="T27" fmla="*/ 2147483647 h 5054"/>
                  <a:gd name="T28" fmla="*/ 2147483647 w 1260"/>
                  <a:gd name="T29" fmla="*/ 2147483647 h 5054"/>
                  <a:gd name="T30" fmla="*/ 2147483647 w 1260"/>
                  <a:gd name="T31" fmla="*/ 2147483647 h 5054"/>
                  <a:gd name="T32" fmla="*/ 2147483647 w 1260"/>
                  <a:gd name="T33" fmla="*/ 2147483647 h 5054"/>
                  <a:gd name="T34" fmla="*/ 2147483647 w 1260"/>
                  <a:gd name="T35" fmla="*/ 2147483647 h 5054"/>
                  <a:gd name="T36" fmla="*/ 2147483647 w 1260"/>
                  <a:gd name="T37" fmla="*/ 2147483647 h 5054"/>
                  <a:gd name="T38" fmla="*/ 2147483647 w 1260"/>
                  <a:gd name="T39" fmla="*/ 2147483647 h 5054"/>
                  <a:gd name="T40" fmla="*/ 2147483647 w 1260"/>
                  <a:gd name="T41" fmla="*/ 2147483647 h 5054"/>
                  <a:gd name="T42" fmla="*/ 2147483647 w 1260"/>
                  <a:gd name="T43" fmla="*/ 2147483647 h 5054"/>
                  <a:gd name="T44" fmla="*/ 2147483647 w 1260"/>
                  <a:gd name="T45" fmla="*/ 2147483647 h 5054"/>
                  <a:gd name="T46" fmla="*/ 2147483647 w 1260"/>
                  <a:gd name="T47" fmla="*/ 2147483647 h 5054"/>
                  <a:gd name="T48" fmla="*/ 2147483647 w 1260"/>
                  <a:gd name="T49" fmla="*/ 2147483647 h 5054"/>
                  <a:gd name="T50" fmla="*/ 2147483647 w 1260"/>
                  <a:gd name="T51" fmla="*/ 2147483647 h 5054"/>
                  <a:gd name="T52" fmla="*/ 2147483647 w 1260"/>
                  <a:gd name="T53" fmla="*/ 2147483647 h 5054"/>
                  <a:gd name="T54" fmla="*/ 2147483647 w 1260"/>
                  <a:gd name="T55" fmla="*/ 2147483647 h 5054"/>
                  <a:gd name="T56" fmla="*/ 2147483647 w 1260"/>
                  <a:gd name="T57" fmla="*/ 2147483647 h 5054"/>
                  <a:gd name="T58" fmla="*/ 2147483647 w 1260"/>
                  <a:gd name="T59" fmla="*/ 2147483647 h 5054"/>
                  <a:gd name="T60" fmla="*/ 2147483647 w 1260"/>
                  <a:gd name="T61" fmla="*/ 2147483647 h 5054"/>
                  <a:gd name="T62" fmla="*/ 2147483647 w 1260"/>
                  <a:gd name="T63" fmla="*/ 2147483647 h 5054"/>
                  <a:gd name="T64" fmla="*/ 2147483647 w 1260"/>
                  <a:gd name="T65" fmla="*/ 2147483647 h 5054"/>
                  <a:gd name="T66" fmla="*/ 2147483647 w 1260"/>
                  <a:gd name="T67" fmla="*/ 2147483647 h 5054"/>
                  <a:gd name="T68" fmla="*/ 2147483647 w 1260"/>
                  <a:gd name="T69" fmla="*/ 2147483647 h 5054"/>
                  <a:gd name="T70" fmla="*/ 2147483647 w 1260"/>
                  <a:gd name="T71" fmla="*/ 2147483647 h 5054"/>
                  <a:gd name="T72" fmla="*/ 2147483647 w 1260"/>
                  <a:gd name="T73" fmla="*/ 2147483647 h 5054"/>
                  <a:gd name="T74" fmla="*/ 2147483647 w 1260"/>
                  <a:gd name="T75" fmla="*/ 2147483647 h 5054"/>
                  <a:gd name="T76" fmla="*/ 2147483647 w 1260"/>
                  <a:gd name="T77" fmla="*/ 2147483647 h 5054"/>
                  <a:gd name="T78" fmla="*/ 2147483647 w 1260"/>
                  <a:gd name="T79" fmla="*/ 2147483647 h 5054"/>
                  <a:gd name="T80" fmla="*/ 2147483647 w 1260"/>
                  <a:gd name="T81" fmla="*/ 2147483647 h 5054"/>
                  <a:gd name="T82" fmla="*/ 2147483647 w 1260"/>
                  <a:gd name="T83" fmla="*/ 2147483647 h 5054"/>
                  <a:gd name="T84" fmla="*/ 2147483647 w 1260"/>
                  <a:gd name="T85" fmla="*/ 2147483647 h 5054"/>
                  <a:gd name="T86" fmla="*/ 2147483647 w 1260"/>
                  <a:gd name="T87" fmla="*/ 2147483647 h 5054"/>
                  <a:gd name="T88" fmla="*/ 2147483647 w 1260"/>
                  <a:gd name="T89" fmla="*/ 2147483647 h 5054"/>
                  <a:gd name="T90" fmla="*/ 2147483647 w 1260"/>
                  <a:gd name="T91" fmla="*/ 2147483647 h 5054"/>
                  <a:gd name="T92" fmla="*/ 2147483647 w 1260"/>
                  <a:gd name="T93" fmla="*/ 2147483647 h 5054"/>
                  <a:gd name="T94" fmla="*/ 2147483647 w 1260"/>
                  <a:gd name="T95" fmla="*/ 2147483647 h 5054"/>
                  <a:gd name="T96" fmla="*/ 2147483647 w 1260"/>
                  <a:gd name="T97" fmla="*/ 2147483647 h 5054"/>
                  <a:gd name="T98" fmla="*/ 2147483647 w 1260"/>
                  <a:gd name="T99" fmla="*/ 2147483647 h 5054"/>
                  <a:gd name="T100" fmla="*/ 2147483647 w 1260"/>
                  <a:gd name="T101" fmla="*/ 2147483647 h 5054"/>
                  <a:gd name="T102" fmla="*/ 2147483647 w 1260"/>
                  <a:gd name="T103" fmla="*/ 2147483647 h 5054"/>
                  <a:gd name="T104" fmla="*/ 2147483647 w 1260"/>
                  <a:gd name="T105" fmla="*/ 2147483647 h 5054"/>
                  <a:gd name="T106" fmla="*/ 2147483647 w 1260"/>
                  <a:gd name="T107" fmla="*/ 2147483647 h 505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260"/>
                  <a:gd name="T163" fmla="*/ 0 h 5054"/>
                  <a:gd name="T164" fmla="*/ 1260 w 1260"/>
                  <a:gd name="T165" fmla="*/ 5054 h 5054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260" h="5054">
                    <a:moveTo>
                      <a:pt x="838" y="4104"/>
                    </a:moveTo>
                    <a:lnTo>
                      <a:pt x="829" y="4197"/>
                    </a:lnTo>
                    <a:lnTo>
                      <a:pt x="815" y="4292"/>
                    </a:lnTo>
                    <a:lnTo>
                      <a:pt x="794" y="4386"/>
                    </a:lnTo>
                    <a:lnTo>
                      <a:pt x="764" y="4473"/>
                    </a:lnTo>
                    <a:lnTo>
                      <a:pt x="728" y="4561"/>
                    </a:lnTo>
                    <a:lnTo>
                      <a:pt x="680" y="4642"/>
                    </a:lnTo>
                    <a:lnTo>
                      <a:pt x="629" y="4720"/>
                    </a:lnTo>
                    <a:lnTo>
                      <a:pt x="571" y="4788"/>
                    </a:lnTo>
                    <a:lnTo>
                      <a:pt x="505" y="4850"/>
                    </a:lnTo>
                    <a:lnTo>
                      <a:pt x="437" y="4906"/>
                    </a:lnTo>
                    <a:lnTo>
                      <a:pt x="364" y="4951"/>
                    </a:lnTo>
                    <a:lnTo>
                      <a:pt x="290" y="4992"/>
                    </a:lnTo>
                    <a:lnTo>
                      <a:pt x="206" y="5019"/>
                    </a:lnTo>
                    <a:lnTo>
                      <a:pt x="123" y="5040"/>
                    </a:lnTo>
                    <a:lnTo>
                      <a:pt x="40" y="5050"/>
                    </a:lnTo>
                    <a:lnTo>
                      <a:pt x="0" y="5054"/>
                    </a:lnTo>
                    <a:lnTo>
                      <a:pt x="66" y="5048"/>
                    </a:lnTo>
                    <a:lnTo>
                      <a:pt x="136" y="5034"/>
                    </a:lnTo>
                    <a:lnTo>
                      <a:pt x="206" y="5006"/>
                    </a:lnTo>
                    <a:lnTo>
                      <a:pt x="270" y="4975"/>
                    </a:lnTo>
                    <a:lnTo>
                      <a:pt x="332" y="4934"/>
                    </a:lnTo>
                    <a:lnTo>
                      <a:pt x="388" y="4882"/>
                    </a:lnTo>
                    <a:lnTo>
                      <a:pt x="435" y="4828"/>
                    </a:lnTo>
                    <a:lnTo>
                      <a:pt x="479" y="4763"/>
                    </a:lnTo>
                    <a:lnTo>
                      <a:pt x="517" y="4695"/>
                    </a:lnTo>
                    <a:lnTo>
                      <a:pt x="546" y="4619"/>
                    </a:lnTo>
                    <a:lnTo>
                      <a:pt x="567" y="4545"/>
                    </a:lnTo>
                    <a:lnTo>
                      <a:pt x="582" y="4467"/>
                    </a:lnTo>
                    <a:lnTo>
                      <a:pt x="585" y="4391"/>
                    </a:lnTo>
                    <a:lnTo>
                      <a:pt x="585" y="3098"/>
                    </a:lnTo>
                    <a:lnTo>
                      <a:pt x="590" y="3024"/>
                    </a:lnTo>
                    <a:lnTo>
                      <a:pt x="604" y="2951"/>
                    </a:lnTo>
                    <a:lnTo>
                      <a:pt x="629" y="2882"/>
                    </a:lnTo>
                    <a:lnTo>
                      <a:pt x="655" y="2815"/>
                    </a:lnTo>
                    <a:lnTo>
                      <a:pt x="693" y="2756"/>
                    </a:lnTo>
                    <a:lnTo>
                      <a:pt x="738" y="2699"/>
                    </a:lnTo>
                    <a:lnTo>
                      <a:pt x="785" y="2648"/>
                    </a:lnTo>
                    <a:lnTo>
                      <a:pt x="839" y="2607"/>
                    </a:lnTo>
                    <a:lnTo>
                      <a:pt x="897" y="2574"/>
                    </a:lnTo>
                    <a:lnTo>
                      <a:pt x="960" y="2549"/>
                    </a:lnTo>
                    <a:lnTo>
                      <a:pt x="1026" y="2537"/>
                    </a:lnTo>
                    <a:lnTo>
                      <a:pt x="1090" y="2527"/>
                    </a:lnTo>
                    <a:lnTo>
                      <a:pt x="1026" y="2515"/>
                    </a:lnTo>
                    <a:lnTo>
                      <a:pt x="960" y="2502"/>
                    </a:lnTo>
                    <a:lnTo>
                      <a:pt x="897" y="2477"/>
                    </a:lnTo>
                    <a:lnTo>
                      <a:pt x="839" y="2442"/>
                    </a:lnTo>
                    <a:lnTo>
                      <a:pt x="785" y="2401"/>
                    </a:lnTo>
                    <a:lnTo>
                      <a:pt x="738" y="2354"/>
                    </a:lnTo>
                    <a:lnTo>
                      <a:pt x="693" y="2296"/>
                    </a:lnTo>
                    <a:lnTo>
                      <a:pt x="655" y="2235"/>
                    </a:lnTo>
                    <a:lnTo>
                      <a:pt x="629" y="2170"/>
                    </a:lnTo>
                    <a:lnTo>
                      <a:pt x="604" y="2100"/>
                    </a:lnTo>
                    <a:lnTo>
                      <a:pt x="590" y="2026"/>
                    </a:lnTo>
                    <a:lnTo>
                      <a:pt x="585" y="1951"/>
                    </a:lnTo>
                    <a:lnTo>
                      <a:pt x="585" y="660"/>
                    </a:lnTo>
                    <a:lnTo>
                      <a:pt x="582" y="585"/>
                    </a:lnTo>
                    <a:lnTo>
                      <a:pt x="567" y="506"/>
                    </a:lnTo>
                    <a:lnTo>
                      <a:pt x="546" y="427"/>
                    </a:lnTo>
                    <a:lnTo>
                      <a:pt x="517" y="354"/>
                    </a:lnTo>
                    <a:lnTo>
                      <a:pt x="479" y="289"/>
                    </a:lnTo>
                    <a:lnTo>
                      <a:pt x="435" y="226"/>
                    </a:lnTo>
                    <a:lnTo>
                      <a:pt x="388" y="169"/>
                    </a:lnTo>
                    <a:lnTo>
                      <a:pt x="332" y="118"/>
                    </a:lnTo>
                    <a:lnTo>
                      <a:pt x="270" y="76"/>
                    </a:lnTo>
                    <a:lnTo>
                      <a:pt x="206" y="44"/>
                    </a:lnTo>
                    <a:lnTo>
                      <a:pt x="136" y="19"/>
                    </a:lnTo>
                    <a:lnTo>
                      <a:pt x="66" y="3"/>
                    </a:lnTo>
                    <a:lnTo>
                      <a:pt x="0" y="0"/>
                    </a:lnTo>
                    <a:lnTo>
                      <a:pt x="40" y="3"/>
                    </a:lnTo>
                    <a:lnTo>
                      <a:pt x="123" y="9"/>
                    </a:lnTo>
                    <a:lnTo>
                      <a:pt x="206" y="29"/>
                    </a:lnTo>
                    <a:lnTo>
                      <a:pt x="290" y="61"/>
                    </a:lnTo>
                    <a:lnTo>
                      <a:pt x="364" y="100"/>
                    </a:lnTo>
                    <a:lnTo>
                      <a:pt x="437" y="147"/>
                    </a:lnTo>
                    <a:lnTo>
                      <a:pt x="505" y="203"/>
                    </a:lnTo>
                    <a:lnTo>
                      <a:pt x="571" y="264"/>
                    </a:lnTo>
                    <a:lnTo>
                      <a:pt x="629" y="333"/>
                    </a:lnTo>
                    <a:lnTo>
                      <a:pt x="680" y="408"/>
                    </a:lnTo>
                    <a:lnTo>
                      <a:pt x="728" y="488"/>
                    </a:lnTo>
                    <a:lnTo>
                      <a:pt x="764" y="576"/>
                    </a:lnTo>
                    <a:lnTo>
                      <a:pt x="794" y="664"/>
                    </a:lnTo>
                    <a:lnTo>
                      <a:pt x="815" y="757"/>
                    </a:lnTo>
                    <a:lnTo>
                      <a:pt x="829" y="850"/>
                    </a:lnTo>
                    <a:lnTo>
                      <a:pt x="838" y="948"/>
                    </a:lnTo>
                    <a:lnTo>
                      <a:pt x="838" y="2047"/>
                    </a:lnTo>
                    <a:lnTo>
                      <a:pt x="842" y="2116"/>
                    </a:lnTo>
                    <a:lnTo>
                      <a:pt x="856" y="2184"/>
                    </a:lnTo>
                    <a:lnTo>
                      <a:pt x="874" y="2242"/>
                    </a:lnTo>
                    <a:lnTo>
                      <a:pt x="903" y="2302"/>
                    </a:lnTo>
                    <a:lnTo>
                      <a:pt x="937" y="2355"/>
                    </a:lnTo>
                    <a:lnTo>
                      <a:pt x="981" y="2405"/>
                    </a:lnTo>
                    <a:lnTo>
                      <a:pt x="1030" y="2442"/>
                    </a:lnTo>
                    <a:lnTo>
                      <a:pt x="1083" y="2477"/>
                    </a:lnTo>
                    <a:lnTo>
                      <a:pt x="1140" y="2502"/>
                    </a:lnTo>
                    <a:lnTo>
                      <a:pt x="1200" y="2515"/>
                    </a:lnTo>
                    <a:lnTo>
                      <a:pt x="1260" y="2523"/>
                    </a:lnTo>
                    <a:lnTo>
                      <a:pt x="1206" y="2530"/>
                    </a:lnTo>
                    <a:lnTo>
                      <a:pt x="1147" y="2543"/>
                    </a:lnTo>
                    <a:lnTo>
                      <a:pt x="1090" y="2569"/>
                    </a:lnTo>
                    <a:lnTo>
                      <a:pt x="1037" y="2598"/>
                    </a:lnTo>
                    <a:lnTo>
                      <a:pt x="987" y="2640"/>
                    </a:lnTo>
                    <a:lnTo>
                      <a:pt x="943" y="2687"/>
                    </a:lnTo>
                    <a:lnTo>
                      <a:pt x="908" y="2739"/>
                    </a:lnTo>
                    <a:lnTo>
                      <a:pt x="877" y="2798"/>
                    </a:lnTo>
                    <a:lnTo>
                      <a:pt x="858" y="2859"/>
                    </a:lnTo>
                    <a:lnTo>
                      <a:pt x="842" y="2923"/>
                    </a:lnTo>
                    <a:lnTo>
                      <a:pt x="838" y="2991"/>
                    </a:lnTo>
                    <a:lnTo>
                      <a:pt x="838" y="4104"/>
                    </a:lnTo>
                    <a:close/>
                  </a:path>
                </a:pathLst>
              </a:custGeom>
              <a:solidFill>
                <a:srgbClr val="5F5F5F"/>
              </a:soli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19" name="Freeform 75">
                <a:extLst>
                  <a:ext uri="{FF2B5EF4-FFF2-40B4-BE49-F238E27FC236}">
                    <a16:creationId xmlns:a16="http://schemas.microsoft.com/office/drawing/2014/main" id="{701401AE-3D5F-3B6A-482D-6B3E71FDC7C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707298" y="2893599"/>
                <a:ext cx="76367" cy="595153"/>
              </a:xfrm>
              <a:custGeom>
                <a:avLst/>
                <a:gdLst>
                  <a:gd name="T0" fmla="*/ 2147483647 w 1260"/>
                  <a:gd name="T1" fmla="*/ 2147483647 h 5054"/>
                  <a:gd name="T2" fmla="*/ 2147483647 w 1260"/>
                  <a:gd name="T3" fmla="*/ 2147483647 h 5054"/>
                  <a:gd name="T4" fmla="*/ 2147483647 w 1260"/>
                  <a:gd name="T5" fmla="*/ 2147483647 h 5054"/>
                  <a:gd name="T6" fmla="*/ 2147483647 w 1260"/>
                  <a:gd name="T7" fmla="*/ 2147483647 h 5054"/>
                  <a:gd name="T8" fmla="*/ 2147483647 w 1260"/>
                  <a:gd name="T9" fmla="*/ 2147483647 h 5054"/>
                  <a:gd name="T10" fmla="*/ 2147483647 w 1260"/>
                  <a:gd name="T11" fmla="*/ 2147483647 h 5054"/>
                  <a:gd name="T12" fmla="*/ 2147483647 w 1260"/>
                  <a:gd name="T13" fmla="*/ 2147483647 h 5054"/>
                  <a:gd name="T14" fmla="*/ 2147483647 w 1260"/>
                  <a:gd name="T15" fmla="*/ 2147483647 h 5054"/>
                  <a:gd name="T16" fmla="*/ 2147483647 w 1260"/>
                  <a:gd name="T17" fmla="*/ 2147483647 h 5054"/>
                  <a:gd name="T18" fmla="*/ 2147483647 w 1260"/>
                  <a:gd name="T19" fmla="*/ 2147483647 h 5054"/>
                  <a:gd name="T20" fmla="*/ 2147483647 w 1260"/>
                  <a:gd name="T21" fmla="*/ 2147483647 h 5054"/>
                  <a:gd name="T22" fmla="*/ 2147483647 w 1260"/>
                  <a:gd name="T23" fmla="*/ 2147483647 h 5054"/>
                  <a:gd name="T24" fmla="*/ 2147483647 w 1260"/>
                  <a:gd name="T25" fmla="*/ 2147483647 h 5054"/>
                  <a:gd name="T26" fmla="*/ 2147483647 w 1260"/>
                  <a:gd name="T27" fmla="*/ 2147483647 h 5054"/>
                  <a:gd name="T28" fmla="*/ 2147483647 w 1260"/>
                  <a:gd name="T29" fmla="*/ 2147483647 h 5054"/>
                  <a:gd name="T30" fmla="*/ 2147483647 w 1260"/>
                  <a:gd name="T31" fmla="*/ 2147483647 h 5054"/>
                  <a:gd name="T32" fmla="*/ 2147483647 w 1260"/>
                  <a:gd name="T33" fmla="*/ 2147483647 h 5054"/>
                  <a:gd name="T34" fmla="*/ 2147483647 w 1260"/>
                  <a:gd name="T35" fmla="*/ 2147483647 h 5054"/>
                  <a:gd name="T36" fmla="*/ 2147483647 w 1260"/>
                  <a:gd name="T37" fmla="*/ 2147483647 h 5054"/>
                  <a:gd name="T38" fmla="*/ 2147483647 w 1260"/>
                  <a:gd name="T39" fmla="*/ 2147483647 h 5054"/>
                  <a:gd name="T40" fmla="*/ 2147483647 w 1260"/>
                  <a:gd name="T41" fmla="*/ 2147483647 h 5054"/>
                  <a:gd name="T42" fmla="*/ 2147483647 w 1260"/>
                  <a:gd name="T43" fmla="*/ 2147483647 h 5054"/>
                  <a:gd name="T44" fmla="*/ 2147483647 w 1260"/>
                  <a:gd name="T45" fmla="*/ 2147483647 h 5054"/>
                  <a:gd name="T46" fmla="*/ 2147483647 w 1260"/>
                  <a:gd name="T47" fmla="*/ 2147483647 h 5054"/>
                  <a:gd name="T48" fmla="*/ 2147483647 w 1260"/>
                  <a:gd name="T49" fmla="*/ 2147483647 h 5054"/>
                  <a:gd name="T50" fmla="*/ 2147483647 w 1260"/>
                  <a:gd name="T51" fmla="*/ 2147483647 h 5054"/>
                  <a:gd name="T52" fmla="*/ 2147483647 w 1260"/>
                  <a:gd name="T53" fmla="*/ 2147483647 h 5054"/>
                  <a:gd name="T54" fmla="*/ 2147483647 w 1260"/>
                  <a:gd name="T55" fmla="*/ 2147483647 h 5054"/>
                  <a:gd name="T56" fmla="*/ 2147483647 w 1260"/>
                  <a:gd name="T57" fmla="*/ 2147483647 h 5054"/>
                  <a:gd name="T58" fmla="*/ 2147483647 w 1260"/>
                  <a:gd name="T59" fmla="*/ 2147483647 h 5054"/>
                  <a:gd name="T60" fmla="*/ 2147483647 w 1260"/>
                  <a:gd name="T61" fmla="*/ 2147483647 h 5054"/>
                  <a:gd name="T62" fmla="*/ 2147483647 w 1260"/>
                  <a:gd name="T63" fmla="*/ 2147483647 h 5054"/>
                  <a:gd name="T64" fmla="*/ 2147483647 w 1260"/>
                  <a:gd name="T65" fmla="*/ 2147483647 h 5054"/>
                  <a:gd name="T66" fmla="*/ 2147483647 w 1260"/>
                  <a:gd name="T67" fmla="*/ 2147483647 h 5054"/>
                  <a:gd name="T68" fmla="*/ 2147483647 w 1260"/>
                  <a:gd name="T69" fmla="*/ 2147483647 h 5054"/>
                  <a:gd name="T70" fmla="*/ 2147483647 w 1260"/>
                  <a:gd name="T71" fmla="*/ 2147483647 h 5054"/>
                  <a:gd name="T72" fmla="*/ 2147483647 w 1260"/>
                  <a:gd name="T73" fmla="*/ 2147483647 h 5054"/>
                  <a:gd name="T74" fmla="*/ 2147483647 w 1260"/>
                  <a:gd name="T75" fmla="*/ 2147483647 h 5054"/>
                  <a:gd name="T76" fmla="*/ 2147483647 w 1260"/>
                  <a:gd name="T77" fmla="*/ 2147483647 h 5054"/>
                  <a:gd name="T78" fmla="*/ 2147483647 w 1260"/>
                  <a:gd name="T79" fmla="*/ 2147483647 h 5054"/>
                  <a:gd name="T80" fmla="*/ 2147483647 w 1260"/>
                  <a:gd name="T81" fmla="*/ 2147483647 h 5054"/>
                  <a:gd name="T82" fmla="*/ 2147483647 w 1260"/>
                  <a:gd name="T83" fmla="*/ 2147483647 h 5054"/>
                  <a:gd name="T84" fmla="*/ 2147483647 w 1260"/>
                  <a:gd name="T85" fmla="*/ 2147483647 h 5054"/>
                  <a:gd name="T86" fmla="*/ 2147483647 w 1260"/>
                  <a:gd name="T87" fmla="*/ 2147483647 h 5054"/>
                  <a:gd name="T88" fmla="*/ 2147483647 w 1260"/>
                  <a:gd name="T89" fmla="*/ 2147483647 h 5054"/>
                  <a:gd name="T90" fmla="*/ 2147483647 w 1260"/>
                  <a:gd name="T91" fmla="*/ 2147483647 h 5054"/>
                  <a:gd name="T92" fmla="*/ 2147483647 w 1260"/>
                  <a:gd name="T93" fmla="*/ 2147483647 h 5054"/>
                  <a:gd name="T94" fmla="*/ 2147483647 w 1260"/>
                  <a:gd name="T95" fmla="*/ 2147483647 h 5054"/>
                  <a:gd name="T96" fmla="*/ 2147483647 w 1260"/>
                  <a:gd name="T97" fmla="*/ 2147483647 h 5054"/>
                  <a:gd name="T98" fmla="*/ 2147483647 w 1260"/>
                  <a:gd name="T99" fmla="*/ 2147483647 h 5054"/>
                  <a:gd name="T100" fmla="*/ 2147483647 w 1260"/>
                  <a:gd name="T101" fmla="*/ 2147483647 h 5054"/>
                  <a:gd name="T102" fmla="*/ 2147483647 w 1260"/>
                  <a:gd name="T103" fmla="*/ 2147483647 h 5054"/>
                  <a:gd name="T104" fmla="*/ 2147483647 w 1260"/>
                  <a:gd name="T105" fmla="*/ 2147483647 h 5054"/>
                  <a:gd name="T106" fmla="*/ 2147483647 w 1260"/>
                  <a:gd name="T107" fmla="*/ 2147483647 h 505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260"/>
                  <a:gd name="T163" fmla="*/ 0 h 5054"/>
                  <a:gd name="T164" fmla="*/ 1260 w 1260"/>
                  <a:gd name="T165" fmla="*/ 5054 h 5054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260" h="5054">
                    <a:moveTo>
                      <a:pt x="838" y="4104"/>
                    </a:moveTo>
                    <a:lnTo>
                      <a:pt x="829" y="4197"/>
                    </a:lnTo>
                    <a:lnTo>
                      <a:pt x="815" y="4292"/>
                    </a:lnTo>
                    <a:lnTo>
                      <a:pt x="794" y="4386"/>
                    </a:lnTo>
                    <a:lnTo>
                      <a:pt x="764" y="4473"/>
                    </a:lnTo>
                    <a:lnTo>
                      <a:pt x="728" y="4561"/>
                    </a:lnTo>
                    <a:lnTo>
                      <a:pt x="680" y="4642"/>
                    </a:lnTo>
                    <a:lnTo>
                      <a:pt x="629" y="4720"/>
                    </a:lnTo>
                    <a:lnTo>
                      <a:pt x="571" y="4788"/>
                    </a:lnTo>
                    <a:lnTo>
                      <a:pt x="505" y="4850"/>
                    </a:lnTo>
                    <a:lnTo>
                      <a:pt x="437" y="4906"/>
                    </a:lnTo>
                    <a:lnTo>
                      <a:pt x="364" y="4951"/>
                    </a:lnTo>
                    <a:lnTo>
                      <a:pt x="290" y="4992"/>
                    </a:lnTo>
                    <a:lnTo>
                      <a:pt x="206" y="5019"/>
                    </a:lnTo>
                    <a:lnTo>
                      <a:pt x="123" y="5040"/>
                    </a:lnTo>
                    <a:lnTo>
                      <a:pt x="40" y="5050"/>
                    </a:lnTo>
                    <a:lnTo>
                      <a:pt x="0" y="5054"/>
                    </a:lnTo>
                    <a:lnTo>
                      <a:pt x="66" y="5048"/>
                    </a:lnTo>
                    <a:lnTo>
                      <a:pt x="136" y="5034"/>
                    </a:lnTo>
                    <a:lnTo>
                      <a:pt x="206" y="5006"/>
                    </a:lnTo>
                    <a:lnTo>
                      <a:pt x="270" y="4975"/>
                    </a:lnTo>
                    <a:lnTo>
                      <a:pt x="332" y="4934"/>
                    </a:lnTo>
                    <a:lnTo>
                      <a:pt x="388" y="4882"/>
                    </a:lnTo>
                    <a:lnTo>
                      <a:pt x="435" y="4828"/>
                    </a:lnTo>
                    <a:lnTo>
                      <a:pt x="479" y="4763"/>
                    </a:lnTo>
                    <a:lnTo>
                      <a:pt x="517" y="4695"/>
                    </a:lnTo>
                    <a:lnTo>
                      <a:pt x="546" y="4619"/>
                    </a:lnTo>
                    <a:lnTo>
                      <a:pt x="567" y="4545"/>
                    </a:lnTo>
                    <a:lnTo>
                      <a:pt x="582" y="4467"/>
                    </a:lnTo>
                    <a:lnTo>
                      <a:pt x="585" y="4391"/>
                    </a:lnTo>
                    <a:lnTo>
                      <a:pt x="585" y="3098"/>
                    </a:lnTo>
                    <a:lnTo>
                      <a:pt x="590" y="3024"/>
                    </a:lnTo>
                    <a:lnTo>
                      <a:pt x="604" y="2951"/>
                    </a:lnTo>
                    <a:lnTo>
                      <a:pt x="629" y="2882"/>
                    </a:lnTo>
                    <a:lnTo>
                      <a:pt x="655" y="2815"/>
                    </a:lnTo>
                    <a:lnTo>
                      <a:pt x="693" y="2756"/>
                    </a:lnTo>
                    <a:lnTo>
                      <a:pt x="738" y="2699"/>
                    </a:lnTo>
                    <a:lnTo>
                      <a:pt x="785" y="2648"/>
                    </a:lnTo>
                    <a:lnTo>
                      <a:pt x="839" y="2607"/>
                    </a:lnTo>
                    <a:lnTo>
                      <a:pt x="897" y="2574"/>
                    </a:lnTo>
                    <a:lnTo>
                      <a:pt x="960" y="2549"/>
                    </a:lnTo>
                    <a:lnTo>
                      <a:pt x="1026" y="2537"/>
                    </a:lnTo>
                    <a:lnTo>
                      <a:pt x="1090" y="2527"/>
                    </a:lnTo>
                    <a:lnTo>
                      <a:pt x="1026" y="2515"/>
                    </a:lnTo>
                    <a:lnTo>
                      <a:pt x="960" y="2502"/>
                    </a:lnTo>
                    <a:lnTo>
                      <a:pt x="897" y="2477"/>
                    </a:lnTo>
                    <a:lnTo>
                      <a:pt x="839" y="2442"/>
                    </a:lnTo>
                    <a:lnTo>
                      <a:pt x="785" y="2401"/>
                    </a:lnTo>
                    <a:lnTo>
                      <a:pt x="738" y="2354"/>
                    </a:lnTo>
                    <a:lnTo>
                      <a:pt x="693" y="2296"/>
                    </a:lnTo>
                    <a:lnTo>
                      <a:pt x="655" y="2235"/>
                    </a:lnTo>
                    <a:lnTo>
                      <a:pt x="629" y="2170"/>
                    </a:lnTo>
                    <a:lnTo>
                      <a:pt x="604" y="2100"/>
                    </a:lnTo>
                    <a:lnTo>
                      <a:pt x="590" y="2026"/>
                    </a:lnTo>
                    <a:lnTo>
                      <a:pt x="585" y="1951"/>
                    </a:lnTo>
                    <a:lnTo>
                      <a:pt x="585" y="660"/>
                    </a:lnTo>
                    <a:lnTo>
                      <a:pt x="582" y="585"/>
                    </a:lnTo>
                    <a:lnTo>
                      <a:pt x="567" y="506"/>
                    </a:lnTo>
                    <a:lnTo>
                      <a:pt x="546" y="427"/>
                    </a:lnTo>
                    <a:lnTo>
                      <a:pt x="517" y="354"/>
                    </a:lnTo>
                    <a:lnTo>
                      <a:pt x="479" y="289"/>
                    </a:lnTo>
                    <a:lnTo>
                      <a:pt x="435" y="226"/>
                    </a:lnTo>
                    <a:lnTo>
                      <a:pt x="388" y="169"/>
                    </a:lnTo>
                    <a:lnTo>
                      <a:pt x="332" y="118"/>
                    </a:lnTo>
                    <a:lnTo>
                      <a:pt x="270" y="76"/>
                    </a:lnTo>
                    <a:lnTo>
                      <a:pt x="206" y="44"/>
                    </a:lnTo>
                    <a:lnTo>
                      <a:pt x="136" y="19"/>
                    </a:lnTo>
                    <a:lnTo>
                      <a:pt x="66" y="3"/>
                    </a:lnTo>
                    <a:lnTo>
                      <a:pt x="0" y="0"/>
                    </a:lnTo>
                    <a:lnTo>
                      <a:pt x="40" y="3"/>
                    </a:lnTo>
                    <a:lnTo>
                      <a:pt x="123" y="9"/>
                    </a:lnTo>
                    <a:lnTo>
                      <a:pt x="206" y="29"/>
                    </a:lnTo>
                    <a:lnTo>
                      <a:pt x="290" y="61"/>
                    </a:lnTo>
                    <a:lnTo>
                      <a:pt x="364" y="100"/>
                    </a:lnTo>
                    <a:lnTo>
                      <a:pt x="437" y="147"/>
                    </a:lnTo>
                    <a:lnTo>
                      <a:pt x="505" y="203"/>
                    </a:lnTo>
                    <a:lnTo>
                      <a:pt x="571" y="264"/>
                    </a:lnTo>
                    <a:lnTo>
                      <a:pt x="629" y="333"/>
                    </a:lnTo>
                    <a:lnTo>
                      <a:pt x="680" y="408"/>
                    </a:lnTo>
                    <a:lnTo>
                      <a:pt x="728" y="488"/>
                    </a:lnTo>
                    <a:lnTo>
                      <a:pt x="764" y="576"/>
                    </a:lnTo>
                    <a:lnTo>
                      <a:pt x="794" y="664"/>
                    </a:lnTo>
                    <a:lnTo>
                      <a:pt x="815" y="757"/>
                    </a:lnTo>
                    <a:lnTo>
                      <a:pt x="829" y="850"/>
                    </a:lnTo>
                    <a:lnTo>
                      <a:pt x="838" y="948"/>
                    </a:lnTo>
                    <a:lnTo>
                      <a:pt x="838" y="2047"/>
                    </a:lnTo>
                    <a:lnTo>
                      <a:pt x="842" y="2116"/>
                    </a:lnTo>
                    <a:lnTo>
                      <a:pt x="856" y="2184"/>
                    </a:lnTo>
                    <a:lnTo>
                      <a:pt x="874" y="2242"/>
                    </a:lnTo>
                    <a:lnTo>
                      <a:pt x="903" y="2302"/>
                    </a:lnTo>
                    <a:lnTo>
                      <a:pt x="937" y="2355"/>
                    </a:lnTo>
                    <a:lnTo>
                      <a:pt x="981" y="2405"/>
                    </a:lnTo>
                    <a:lnTo>
                      <a:pt x="1030" y="2442"/>
                    </a:lnTo>
                    <a:lnTo>
                      <a:pt x="1083" y="2477"/>
                    </a:lnTo>
                    <a:lnTo>
                      <a:pt x="1140" y="2502"/>
                    </a:lnTo>
                    <a:lnTo>
                      <a:pt x="1200" y="2515"/>
                    </a:lnTo>
                    <a:lnTo>
                      <a:pt x="1260" y="2523"/>
                    </a:lnTo>
                    <a:lnTo>
                      <a:pt x="1206" y="2530"/>
                    </a:lnTo>
                    <a:lnTo>
                      <a:pt x="1147" y="2543"/>
                    </a:lnTo>
                    <a:lnTo>
                      <a:pt x="1090" y="2569"/>
                    </a:lnTo>
                    <a:lnTo>
                      <a:pt x="1037" y="2598"/>
                    </a:lnTo>
                    <a:lnTo>
                      <a:pt x="987" y="2640"/>
                    </a:lnTo>
                    <a:lnTo>
                      <a:pt x="943" y="2687"/>
                    </a:lnTo>
                    <a:lnTo>
                      <a:pt x="908" y="2739"/>
                    </a:lnTo>
                    <a:lnTo>
                      <a:pt x="877" y="2798"/>
                    </a:lnTo>
                    <a:lnTo>
                      <a:pt x="858" y="2859"/>
                    </a:lnTo>
                    <a:lnTo>
                      <a:pt x="842" y="2923"/>
                    </a:lnTo>
                    <a:lnTo>
                      <a:pt x="838" y="2991"/>
                    </a:lnTo>
                    <a:lnTo>
                      <a:pt x="838" y="4104"/>
                    </a:lnTo>
                    <a:close/>
                  </a:path>
                </a:pathLst>
              </a:custGeom>
              <a:solidFill>
                <a:srgbClr val="5F5F5F"/>
              </a:soli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DE421F2-D696-BBB9-3A79-BBFCFDE3B4E2}"/>
              </a:ext>
            </a:extLst>
          </p:cNvPr>
          <p:cNvGrpSpPr/>
          <p:nvPr/>
        </p:nvGrpSpPr>
        <p:grpSpPr>
          <a:xfrm>
            <a:off x="496216" y="2537083"/>
            <a:ext cx="2578691" cy="2350637"/>
            <a:chOff x="890492" y="2523026"/>
            <a:chExt cx="2414588" cy="2263238"/>
          </a:xfrm>
        </p:grpSpPr>
        <p:sp>
          <p:nvSpPr>
            <p:cNvPr id="33" name="Line 15">
              <a:extLst>
                <a:ext uri="{FF2B5EF4-FFF2-40B4-BE49-F238E27FC236}">
                  <a16:creationId xmlns:a16="http://schemas.microsoft.com/office/drawing/2014/main" id="{BC6FB44E-BAE2-562C-6C46-E0F9E543713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893667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35733DC8-086C-15A5-C971-DA00BEF8E1A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890492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97B4078-5A8A-C94B-AB7E-DDED9363B2DD}"/>
              </a:ext>
            </a:extLst>
          </p:cNvPr>
          <p:cNvGrpSpPr/>
          <p:nvPr/>
        </p:nvGrpSpPr>
        <p:grpSpPr>
          <a:xfrm>
            <a:off x="273562" y="2034268"/>
            <a:ext cx="3024000" cy="4095070"/>
            <a:chOff x="273562" y="2034142"/>
            <a:chExt cx="3024000" cy="3670414"/>
          </a:xfrm>
        </p:grpSpPr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id="{4B6FCA15-B9E2-E0A0-B8EC-9AC89FF81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62" y="2037380"/>
              <a:ext cx="3024000" cy="286232"/>
            </a:xfrm>
            <a:prstGeom prst="rect">
              <a:avLst/>
            </a:prstGeom>
            <a:solidFill>
              <a:srgbClr val="595959"/>
            </a:solidFill>
            <a:ln w="9525" algn="ctr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 latinLnBrk="0">
                <a:lnSpc>
                  <a:spcPct val="90000"/>
                </a:lnSpc>
              </a:pPr>
              <a:r>
                <a:rPr lang="en-US" altLang="ko-KR" sz="1400" b="1" kern="0" spc="-100" dirty="0">
                  <a:solidFill>
                    <a:srgbClr val="FFFFFF"/>
                  </a:solidFill>
                  <a:latin typeface="+mn-ea"/>
                </a:rPr>
                <a:t>Option 1. Narrow Band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6FE5D23-31BC-7CAB-CC89-8446F0402765}"/>
                </a:ext>
              </a:extLst>
            </p:cNvPr>
            <p:cNvSpPr/>
            <p:nvPr/>
          </p:nvSpPr>
          <p:spPr>
            <a:xfrm>
              <a:off x="273562" y="2034142"/>
              <a:ext cx="3024000" cy="3670414"/>
            </a:xfrm>
            <a:prstGeom prst="rect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6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sp>
        <p:nvSpPr>
          <p:cNvPr id="38" name="Text Box 12">
            <a:extLst>
              <a:ext uri="{FF2B5EF4-FFF2-40B4-BE49-F238E27FC236}">
                <a16:creationId xmlns:a16="http://schemas.microsoft.com/office/drawing/2014/main" id="{4EE10141-4570-A85B-3AAF-25C0E7325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5004" y="5078482"/>
            <a:ext cx="2779126" cy="72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lang="en-US" altLang="ko-KR" dirty="0"/>
              <a:t>Range Spread </a:t>
            </a:r>
            <a:r>
              <a:rPr lang="ko-KR" altLang="en-US" dirty="0"/>
              <a:t>비율을 </a:t>
            </a:r>
            <a:r>
              <a:rPr lang="en-US" altLang="ko-KR" dirty="0"/>
              <a:t>40~50%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ko-KR" altLang="en-US" dirty="0"/>
              <a:t>성과주의 안정기에 주로 적용</a:t>
            </a:r>
            <a:endParaRPr lang="en-US" altLang="ko-KR" dirty="0"/>
          </a:p>
          <a:p>
            <a:r>
              <a:rPr lang="ko-KR" altLang="en-US" dirty="0"/>
              <a:t>삼성</a:t>
            </a:r>
            <a:r>
              <a:rPr lang="en-US" altLang="ko-KR" dirty="0"/>
              <a:t>, SK </a:t>
            </a:r>
            <a:r>
              <a:rPr lang="ko-KR" altLang="en-US" dirty="0"/>
              <a:t>등 국내 대기업 다수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4A2B990-CB4F-F851-EF68-B11071B82B47}"/>
              </a:ext>
            </a:extLst>
          </p:cNvPr>
          <p:cNvGrpSpPr/>
          <p:nvPr/>
        </p:nvGrpSpPr>
        <p:grpSpPr>
          <a:xfrm>
            <a:off x="3655221" y="2537083"/>
            <a:ext cx="2578691" cy="2350637"/>
            <a:chOff x="3822603" y="2523026"/>
            <a:chExt cx="2414588" cy="2263238"/>
          </a:xfrm>
        </p:grpSpPr>
        <p:sp>
          <p:nvSpPr>
            <p:cNvPr id="40" name="Line 15">
              <a:extLst>
                <a:ext uri="{FF2B5EF4-FFF2-40B4-BE49-F238E27FC236}">
                  <a16:creationId xmlns:a16="http://schemas.microsoft.com/office/drawing/2014/main" id="{9B620E6A-60A6-AF4B-A2DE-E767DF0534D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825778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Line 16">
              <a:extLst>
                <a:ext uri="{FF2B5EF4-FFF2-40B4-BE49-F238E27FC236}">
                  <a16:creationId xmlns:a16="http://schemas.microsoft.com/office/drawing/2014/main" id="{4D90A624-F955-8436-BD98-AF8C3B5ECAE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822603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7905208-0B8A-AF52-6468-6FE18547720D}"/>
              </a:ext>
            </a:extLst>
          </p:cNvPr>
          <p:cNvGrpSpPr/>
          <p:nvPr/>
        </p:nvGrpSpPr>
        <p:grpSpPr>
          <a:xfrm>
            <a:off x="3827162" y="2762924"/>
            <a:ext cx="2352444" cy="1954792"/>
            <a:chOff x="4143235" y="2735065"/>
            <a:chExt cx="2285752" cy="1835326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3AAB78C9-F4A9-1523-13A8-4637EEDCC86E}"/>
                </a:ext>
              </a:extLst>
            </p:cNvPr>
            <p:cNvGrpSpPr/>
            <p:nvPr/>
          </p:nvGrpSpPr>
          <p:grpSpPr>
            <a:xfrm>
              <a:off x="4143235" y="2754564"/>
              <a:ext cx="1541505" cy="1811115"/>
              <a:chOff x="4143235" y="2598379"/>
              <a:chExt cx="1541505" cy="2030800"/>
            </a:xfrm>
          </p:grpSpPr>
          <p:grpSp>
            <p:nvGrpSpPr>
              <p:cNvPr id="50" name="Group 4">
                <a:extLst>
                  <a:ext uri="{FF2B5EF4-FFF2-40B4-BE49-F238E27FC236}">
                    <a16:creationId xmlns:a16="http://schemas.microsoft.com/office/drawing/2014/main" id="{A4EE8263-8AE3-5D07-D661-27C6C06DE8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50020" y="3219818"/>
                <a:ext cx="365524" cy="773355"/>
                <a:chOff x="3642" y="3125"/>
                <a:chExt cx="440" cy="468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66" name="Rectangle 5">
                  <a:extLst>
                    <a:ext uri="{FF2B5EF4-FFF2-40B4-BE49-F238E27FC236}">
                      <a16:creationId xmlns:a16="http://schemas.microsoft.com/office/drawing/2014/main" id="{E4617751-2AE3-556F-B60E-A26421888C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642" y="3125"/>
                  <a:ext cx="440" cy="468"/>
                </a:xfrm>
                <a:prstGeom prst="rect">
                  <a:avLst/>
                </a:prstGeom>
                <a:solidFill>
                  <a:srgbClr val="EDF2F9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kumimoji="1" lang="en-GB" altLang="ko-KR" sz="1000" kern="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cxnSp>
              <p:nvCxnSpPr>
                <p:cNvPr id="67" name="AutoShape 6">
                  <a:extLst>
                    <a:ext uri="{FF2B5EF4-FFF2-40B4-BE49-F238E27FC236}">
                      <a16:creationId xmlns:a16="http://schemas.microsoft.com/office/drawing/2014/main" id="{55EB3066-4E9D-7763-39E6-9FA962ED6072}"/>
                    </a:ext>
                  </a:extLst>
                </p:cNvPr>
                <p:cNvCxnSpPr>
                  <a:cxnSpLocks noChangeShapeType="1"/>
                  <a:stCxn id="66" idx="1"/>
                  <a:endCxn id="66" idx="3"/>
                </p:cNvCxnSpPr>
                <p:nvPr/>
              </p:nvCxnSpPr>
              <p:spPr bwMode="gray">
                <a:xfrm rot="10800000" flipH="1">
                  <a:off x="3642" y="3359"/>
                  <a:ext cx="440" cy="1"/>
                </a:xfrm>
                <a:prstGeom prst="straightConnector1">
                  <a:avLst/>
                </a:pr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51" name="Group 7">
                <a:extLst>
                  <a:ext uri="{FF2B5EF4-FFF2-40B4-BE49-F238E27FC236}">
                    <a16:creationId xmlns:a16="http://schemas.microsoft.com/office/drawing/2014/main" id="{427692D3-0399-14F4-169B-63BB848537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46811" y="2598379"/>
                <a:ext cx="365524" cy="773355"/>
                <a:chOff x="3642" y="3125"/>
                <a:chExt cx="440" cy="468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64" name="Rectangle 8">
                  <a:extLst>
                    <a:ext uri="{FF2B5EF4-FFF2-40B4-BE49-F238E27FC236}">
                      <a16:creationId xmlns:a16="http://schemas.microsoft.com/office/drawing/2014/main" id="{DB0AC733-80C1-F32F-664A-70697A74F9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642" y="3125"/>
                  <a:ext cx="440" cy="468"/>
                </a:xfrm>
                <a:prstGeom prst="rect">
                  <a:avLst/>
                </a:prstGeom>
                <a:solidFill>
                  <a:srgbClr val="EDF2F9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kumimoji="1" lang="en-GB" altLang="ko-KR" sz="1000" kern="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cxnSp>
              <p:nvCxnSpPr>
                <p:cNvPr id="65" name="AutoShape 9">
                  <a:extLst>
                    <a:ext uri="{FF2B5EF4-FFF2-40B4-BE49-F238E27FC236}">
                      <a16:creationId xmlns:a16="http://schemas.microsoft.com/office/drawing/2014/main" id="{A089078A-41B3-3E72-4DC0-0511A753F951}"/>
                    </a:ext>
                  </a:extLst>
                </p:cNvPr>
                <p:cNvCxnSpPr>
                  <a:cxnSpLocks noChangeShapeType="1"/>
                  <a:stCxn id="64" idx="1"/>
                  <a:endCxn id="64" idx="3"/>
                </p:cNvCxnSpPr>
                <p:nvPr/>
              </p:nvCxnSpPr>
              <p:spPr bwMode="gray">
                <a:xfrm rot="10800000" flipH="1">
                  <a:off x="3642" y="3359"/>
                  <a:ext cx="440" cy="1"/>
                </a:xfrm>
                <a:prstGeom prst="straightConnector1">
                  <a:avLst/>
                </a:pr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52" name="Group 10">
                <a:extLst>
                  <a:ext uri="{FF2B5EF4-FFF2-40B4-BE49-F238E27FC236}">
                    <a16:creationId xmlns:a16="http://schemas.microsoft.com/office/drawing/2014/main" id="{DD4B0E3C-B32C-B8DD-992B-929375E4CD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3234" y="3855824"/>
                <a:ext cx="365524" cy="773355"/>
                <a:chOff x="3642" y="3125"/>
                <a:chExt cx="440" cy="468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62" name="Rectangle 11">
                  <a:extLst>
                    <a:ext uri="{FF2B5EF4-FFF2-40B4-BE49-F238E27FC236}">
                      <a16:creationId xmlns:a16="http://schemas.microsoft.com/office/drawing/2014/main" id="{8656AF80-04FA-8FDF-E8C3-E0F3ECFD92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3642" y="3125"/>
                  <a:ext cx="440" cy="468"/>
                </a:xfrm>
                <a:prstGeom prst="rect">
                  <a:avLst/>
                </a:prstGeom>
                <a:solidFill>
                  <a:srgbClr val="EDF2F9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>
                    <a:defRPr/>
                  </a:pPr>
                  <a:endParaRPr kumimoji="1" lang="en-GB" altLang="ko-KR" sz="1000" kern="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cxnSp>
              <p:nvCxnSpPr>
                <p:cNvPr id="63" name="AutoShape 12">
                  <a:extLst>
                    <a:ext uri="{FF2B5EF4-FFF2-40B4-BE49-F238E27FC236}">
                      <a16:creationId xmlns:a16="http://schemas.microsoft.com/office/drawing/2014/main" id="{AF1456C3-D941-AEF7-B7D8-857072ED4E66}"/>
                    </a:ext>
                  </a:extLst>
                </p:cNvPr>
                <p:cNvCxnSpPr>
                  <a:cxnSpLocks noChangeShapeType="1"/>
                  <a:stCxn id="62" idx="1"/>
                  <a:endCxn id="62" idx="3"/>
                </p:cNvCxnSpPr>
                <p:nvPr/>
              </p:nvCxnSpPr>
              <p:spPr bwMode="gray">
                <a:xfrm rot="10800000" flipH="1">
                  <a:off x="3642" y="3359"/>
                  <a:ext cx="440" cy="1"/>
                </a:xfrm>
                <a:prstGeom prst="straightConnector1">
                  <a:avLst/>
                </a:prstGeom>
                <a:grp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  <p:sp>
            <p:nvSpPr>
              <p:cNvPr id="53" name="Line 64">
                <a:extLst>
                  <a:ext uri="{FF2B5EF4-FFF2-40B4-BE49-F238E27FC236}">
                    <a16:creationId xmlns:a16="http://schemas.microsoft.com/office/drawing/2014/main" id="{E2616814-B55C-357D-F7F4-01CDE0BCCB4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 flipV="1">
                <a:off x="4168678" y="2713808"/>
                <a:ext cx="1516062" cy="1876499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C7D6C78F-A6F8-735D-590A-D8AB41A7EEFE}"/>
                  </a:ext>
                </a:extLst>
              </p:cNvPr>
              <p:cNvGrpSpPr/>
              <p:nvPr/>
            </p:nvGrpSpPr>
            <p:grpSpPr>
              <a:xfrm>
                <a:off x="4640009" y="3218532"/>
                <a:ext cx="972000" cy="151120"/>
                <a:chOff x="1228630" y="3886249"/>
                <a:chExt cx="969963" cy="102732"/>
              </a:xfrm>
            </p:grpSpPr>
            <p:sp>
              <p:nvSpPr>
                <p:cNvPr id="59" name="Line 70">
                  <a:extLst>
                    <a:ext uri="{FF2B5EF4-FFF2-40B4-BE49-F238E27FC236}">
                      <a16:creationId xmlns:a16="http://schemas.microsoft.com/office/drawing/2014/main" id="{411C4367-C651-592E-35D2-E74626C61A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>
                  <a:off x="1228630" y="3988981"/>
                  <a:ext cx="969963" cy="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eaLnBrk="1" hangingPunct="1">
                    <a:buFont typeface="Wingdings" pitchFamily="2" charset="2"/>
                    <a:buNone/>
                    <a:defRPr/>
                  </a:pPr>
                  <a:endParaRPr kumimoji="1" lang="ko-KR" altLang="en-US" sz="1000" kern="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0" name="Line 71">
                  <a:extLst>
                    <a:ext uri="{FF2B5EF4-FFF2-40B4-BE49-F238E27FC236}">
                      <a16:creationId xmlns:a16="http://schemas.microsoft.com/office/drawing/2014/main" id="{6BC0A47A-8FAC-BE85-6F50-FA7EECF660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>
                  <a:off x="1228630" y="3886249"/>
                  <a:ext cx="969963" cy="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eaLnBrk="1" hangingPunct="1">
                    <a:buFont typeface="Wingdings" pitchFamily="2" charset="2"/>
                    <a:buNone/>
                    <a:defRPr/>
                  </a:pPr>
                  <a:endParaRPr kumimoji="1" lang="ko-KR" altLang="en-US" sz="1000" kern="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1" name="Rectangle 34" descr="어두운 상향 대각선">
                  <a:extLst>
                    <a:ext uri="{FF2B5EF4-FFF2-40B4-BE49-F238E27FC236}">
                      <a16:creationId xmlns:a16="http://schemas.microsoft.com/office/drawing/2014/main" id="{C05B4113-A50D-7907-1D4A-96B433CD83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6746" y="3895017"/>
                  <a:ext cx="847089" cy="88706"/>
                </a:xfrm>
                <a:prstGeom prst="rect">
                  <a:avLst/>
                </a:prstGeom>
                <a:pattFill prst="wdUpDiag">
                  <a:fgClr>
                    <a:schemeClr val="tx1">
                      <a:lumMod val="65000"/>
                      <a:lumOff val="35000"/>
                      <a:alpha val="50195"/>
                    </a:schemeClr>
                  </a:fgClr>
                  <a:bgClr>
                    <a:srgbClr val="FFFFFF">
                      <a:alpha val="50195"/>
                    </a:srgbClr>
                  </a:bgClr>
                </a:pattFill>
                <a:ln w="28575" algn="ctr">
                  <a:noFill/>
                  <a:miter lim="800000"/>
                  <a:headEnd/>
                  <a:tailEnd/>
                </a:ln>
              </p:spPr>
              <p:txBody>
                <a:bodyPr wrap="square" anchor="ctr">
                  <a:spAutoFit/>
                </a:bodyPr>
                <a:lstStyle/>
                <a:p>
                  <a:pPr algn="r" latinLnBrk="0">
                    <a:defRPr/>
                  </a:pPr>
                  <a:endParaRPr lang="ko-KR" altLang="en-US" kern="0" spc="-100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7A3D12E0-9206-84B3-BC4C-6C5F883DB8A5}"/>
                  </a:ext>
                </a:extLst>
              </p:cNvPr>
              <p:cNvGrpSpPr/>
              <p:nvPr/>
            </p:nvGrpSpPr>
            <p:grpSpPr>
              <a:xfrm>
                <a:off x="4143235" y="3855533"/>
                <a:ext cx="972000" cy="136880"/>
                <a:chOff x="1228630" y="3891089"/>
                <a:chExt cx="969963" cy="93052"/>
              </a:xfrm>
            </p:grpSpPr>
            <p:sp>
              <p:nvSpPr>
                <p:cNvPr id="56" name="Line 70">
                  <a:extLst>
                    <a:ext uri="{FF2B5EF4-FFF2-40B4-BE49-F238E27FC236}">
                      <a16:creationId xmlns:a16="http://schemas.microsoft.com/office/drawing/2014/main" id="{898060E5-0787-54BE-A006-068695065E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>
                  <a:off x="1228630" y="3984141"/>
                  <a:ext cx="969963" cy="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eaLnBrk="1" hangingPunct="1">
                    <a:buFont typeface="Wingdings" pitchFamily="2" charset="2"/>
                    <a:buNone/>
                    <a:defRPr/>
                  </a:pPr>
                  <a:endParaRPr kumimoji="1" lang="ko-KR" altLang="en-US" sz="1000" kern="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7" name="Line 71">
                  <a:extLst>
                    <a:ext uri="{FF2B5EF4-FFF2-40B4-BE49-F238E27FC236}">
                      <a16:creationId xmlns:a16="http://schemas.microsoft.com/office/drawing/2014/main" id="{B64DA147-57B1-2975-5CA8-7B22EBF5A1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gray">
                <a:xfrm>
                  <a:off x="1228630" y="3891089"/>
                  <a:ext cx="969963" cy="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 lIns="90000" tIns="46800" rIns="90000" bIns="46800" anchor="ctr"/>
                <a:lstStyle/>
                <a:p>
                  <a:pPr eaLnBrk="1" hangingPunct="1">
                    <a:buFont typeface="Wingdings" pitchFamily="2" charset="2"/>
                    <a:buNone/>
                    <a:defRPr/>
                  </a:pPr>
                  <a:endParaRPr kumimoji="1" lang="ko-KR" altLang="en-US" sz="1000" kern="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8" name="Rectangle 34" descr="어두운 상향 대각선">
                  <a:extLst>
                    <a:ext uri="{FF2B5EF4-FFF2-40B4-BE49-F238E27FC236}">
                      <a16:creationId xmlns:a16="http://schemas.microsoft.com/office/drawing/2014/main" id="{60DD9061-0D29-25B0-0714-96F3391D3C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6746" y="3895017"/>
                  <a:ext cx="847089" cy="88706"/>
                </a:xfrm>
                <a:prstGeom prst="rect">
                  <a:avLst/>
                </a:prstGeom>
                <a:pattFill prst="wdUpDiag">
                  <a:fgClr>
                    <a:schemeClr val="tx1">
                      <a:lumMod val="65000"/>
                      <a:lumOff val="35000"/>
                      <a:alpha val="50195"/>
                    </a:schemeClr>
                  </a:fgClr>
                  <a:bgClr>
                    <a:srgbClr val="FFFFFF">
                      <a:alpha val="50195"/>
                    </a:srgbClr>
                  </a:bgClr>
                </a:pattFill>
                <a:ln w="28575" algn="ctr">
                  <a:noFill/>
                  <a:miter lim="800000"/>
                  <a:headEnd/>
                  <a:tailEnd/>
                </a:ln>
              </p:spPr>
              <p:txBody>
                <a:bodyPr wrap="square" anchor="ctr">
                  <a:spAutoFit/>
                </a:bodyPr>
                <a:lstStyle/>
                <a:p>
                  <a:pPr algn="r" latinLnBrk="0">
                    <a:defRPr/>
                  </a:pPr>
                  <a:endParaRPr lang="ko-KR" altLang="en-US" kern="0" spc="-100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</p:grpSp>
        </p:grpSp>
        <p:sp>
          <p:nvSpPr>
            <p:cNvPr id="44" name="Text Box 35">
              <a:extLst>
                <a:ext uri="{FF2B5EF4-FFF2-40B4-BE49-F238E27FC236}">
                  <a16:creationId xmlns:a16="http://schemas.microsoft.com/office/drawing/2014/main" id="{912FE849-E15F-6FBC-109C-243E5CD738A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165814" y="3273007"/>
              <a:ext cx="368691" cy="153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defTabSz="939800" fontAlgn="b">
                <a:spcBef>
                  <a:spcPct val="40000"/>
                </a:spcBef>
                <a:defRPr kumimoji="1" sz="10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나눔고딕 ExtraBold"/>
                </a:defRPr>
              </a:lvl1pPr>
            </a:lstStyle>
            <a:p>
              <a:r>
                <a:rPr lang="en-US" altLang="ko-KR" spc="-100" dirty="0"/>
                <a:t>Overlap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0189CA4-C882-4F64-71DF-944E32DE7B30}"/>
                </a:ext>
              </a:extLst>
            </p:cNvPr>
            <p:cNvGrpSpPr/>
            <p:nvPr/>
          </p:nvGrpSpPr>
          <p:grpSpPr>
            <a:xfrm>
              <a:off x="4638460" y="2735065"/>
              <a:ext cx="1790527" cy="1835326"/>
              <a:chOff x="4638460" y="2735065"/>
              <a:chExt cx="1790527" cy="1835326"/>
            </a:xfrm>
          </p:grpSpPr>
          <p:sp>
            <p:nvSpPr>
              <p:cNvPr id="46" name="Text Box 63">
                <a:extLst>
                  <a:ext uri="{FF2B5EF4-FFF2-40B4-BE49-F238E27FC236}">
                    <a16:creationId xmlns:a16="http://schemas.microsoft.com/office/drawing/2014/main" id="{176E813B-9D84-A4EF-5C13-58633A51EC72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5733284" y="2735065"/>
                <a:ext cx="695703" cy="38779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39800" fontAlgn="b">
                  <a:spcBef>
                    <a:spcPct val="40000"/>
                  </a:spcBef>
                </a:pPr>
                <a:r>
                  <a:rPr kumimoji="1" lang="en-US" altLang="ko-KR" sz="1050" spc="-10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나눔고딕 ExtraBold"/>
                  </a:rPr>
                  <a:t>Range spread</a:t>
                </a:r>
              </a:p>
              <a:p>
                <a:pPr defTabSz="939800" fontAlgn="b">
                  <a:spcBef>
                    <a:spcPct val="40000"/>
                  </a:spcBef>
                </a:pPr>
                <a:r>
                  <a:rPr kumimoji="1" lang="en-US" altLang="ko-KR" sz="1050" spc="-100" dirty="0">
                    <a:solidFill>
                      <a:srgbClr val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나눔고딕 ExtraBold"/>
                  </a:rPr>
                  <a:t>40~50%</a:t>
                </a:r>
              </a:p>
            </p:txBody>
          </p:sp>
          <p:sp>
            <p:nvSpPr>
              <p:cNvPr id="47" name="Freeform 75">
                <a:extLst>
                  <a:ext uri="{FF2B5EF4-FFF2-40B4-BE49-F238E27FC236}">
                    <a16:creationId xmlns:a16="http://schemas.microsoft.com/office/drawing/2014/main" id="{0043A30A-911B-B191-C550-A5B9B83218F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4638460" y="3886391"/>
                <a:ext cx="76367" cy="684000"/>
              </a:xfrm>
              <a:custGeom>
                <a:avLst/>
                <a:gdLst>
                  <a:gd name="T0" fmla="*/ 2147483647 w 1260"/>
                  <a:gd name="T1" fmla="*/ 2147483647 h 5054"/>
                  <a:gd name="T2" fmla="*/ 2147483647 w 1260"/>
                  <a:gd name="T3" fmla="*/ 2147483647 h 5054"/>
                  <a:gd name="T4" fmla="*/ 2147483647 w 1260"/>
                  <a:gd name="T5" fmla="*/ 2147483647 h 5054"/>
                  <a:gd name="T6" fmla="*/ 2147483647 w 1260"/>
                  <a:gd name="T7" fmla="*/ 2147483647 h 5054"/>
                  <a:gd name="T8" fmla="*/ 2147483647 w 1260"/>
                  <a:gd name="T9" fmla="*/ 2147483647 h 5054"/>
                  <a:gd name="T10" fmla="*/ 2147483647 w 1260"/>
                  <a:gd name="T11" fmla="*/ 2147483647 h 5054"/>
                  <a:gd name="T12" fmla="*/ 2147483647 w 1260"/>
                  <a:gd name="T13" fmla="*/ 2147483647 h 5054"/>
                  <a:gd name="T14" fmla="*/ 2147483647 w 1260"/>
                  <a:gd name="T15" fmla="*/ 2147483647 h 5054"/>
                  <a:gd name="T16" fmla="*/ 2147483647 w 1260"/>
                  <a:gd name="T17" fmla="*/ 2147483647 h 5054"/>
                  <a:gd name="T18" fmla="*/ 2147483647 w 1260"/>
                  <a:gd name="T19" fmla="*/ 2147483647 h 5054"/>
                  <a:gd name="T20" fmla="*/ 2147483647 w 1260"/>
                  <a:gd name="T21" fmla="*/ 2147483647 h 5054"/>
                  <a:gd name="T22" fmla="*/ 2147483647 w 1260"/>
                  <a:gd name="T23" fmla="*/ 2147483647 h 5054"/>
                  <a:gd name="T24" fmla="*/ 2147483647 w 1260"/>
                  <a:gd name="T25" fmla="*/ 2147483647 h 5054"/>
                  <a:gd name="T26" fmla="*/ 2147483647 w 1260"/>
                  <a:gd name="T27" fmla="*/ 2147483647 h 5054"/>
                  <a:gd name="T28" fmla="*/ 2147483647 w 1260"/>
                  <a:gd name="T29" fmla="*/ 2147483647 h 5054"/>
                  <a:gd name="T30" fmla="*/ 2147483647 w 1260"/>
                  <a:gd name="T31" fmla="*/ 2147483647 h 5054"/>
                  <a:gd name="T32" fmla="*/ 2147483647 w 1260"/>
                  <a:gd name="T33" fmla="*/ 2147483647 h 5054"/>
                  <a:gd name="T34" fmla="*/ 2147483647 w 1260"/>
                  <a:gd name="T35" fmla="*/ 2147483647 h 5054"/>
                  <a:gd name="T36" fmla="*/ 2147483647 w 1260"/>
                  <a:gd name="T37" fmla="*/ 2147483647 h 5054"/>
                  <a:gd name="T38" fmla="*/ 2147483647 w 1260"/>
                  <a:gd name="T39" fmla="*/ 2147483647 h 5054"/>
                  <a:gd name="T40" fmla="*/ 2147483647 w 1260"/>
                  <a:gd name="T41" fmla="*/ 2147483647 h 5054"/>
                  <a:gd name="T42" fmla="*/ 2147483647 w 1260"/>
                  <a:gd name="T43" fmla="*/ 2147483647 h 5054"/>
                  <a:gd name="T44" fmla="*/ 2147483647 w 1260"/>
                  <a:gd name="T45" fmla="*/ 2147483647 h 5054"/>
                  <a:gd name="T46" fmla="*/ 2147483647 w 1260"/>
                  <a:gd name="T47" fmla="*/ 2147483647 h 5054"/>
                  <a:gd name="T48" fmla="*/ 2147483647 w 1260"/>
                  <a:gd name="T49" fmla="*/ 2147483647 h 5054"/>
                  <a:gd name="T50" fmla="*/ 2147483647 w 1260"/>
                  <a:gd name="T51" fmla="*/ 2147483647 h 5054"/>
                  <a:gd name="T52" fmla="*/ 2147483647 w 1260"/>
                  <a:gd name="T53" fmla="*/ 2147483647 h 5054"/>
                  <a:gd name="T54" fmla="*/ 2147483647 w 1260"/>
                  <a:gd name="T55" fmla="*/ 2147483647 h 5054"/>
                  <a:gd name="T56" fmla="*/ 2147483647 w 1260"/>
                  <a:gd name="T57" fmla="*/ 2147483647 h 5054"/>
                  <a:gd name="T58" fmla="*/ 2147483647 w 1260"/>
                  <a:gd name="T59" fmla="*/ 2147483647 h 5054"/>
                  <a:gd name="T60" fmla="*/ 2147483647 w 1260"/>
                  <a:gd name="T61" fmla="*/ 2147483647 h 5054"/>
                  <a:gd name="T62" fmla="*/ 2147483647 w 1260"/>
                  <a:gd name="T63" fmla="*/ 2147483647 h 5054"/>
                  <a:gd name="T64" fmla="*/ 2147483647 w 1260"/>
                  <a:gd name="T65" fmla="*/ 2147483647 h 5054"/>
                  <a:gd name="T66" fmla="*/ 2147483647 w 1260"/>
                  <a:gd name="T67" fmla="*/ 2147483647 h 5054"/>
                  <a:gd name="T68" fmla="*/ 2147483647 w 1260"/>
                  <a:gd name="T69" fmla="*/ 2147483647 h 5054"/>
                  <a:gd name="T70" fmla="*/ 2147483647 w 1260"/>
                  <a:gd name="T71" fmla="*/ 2147483647 h 5054"/>
                  <a:gd name="T72" fmla="*/ 2147483647 w 1260"/>
                  <a:gd name="T73" fmla="*/ 2147483647 h 5054"/>
                  <a:gd name="T74" fmla="*/ 2147483647 w 1260"/>
                  <a:gd name="T75" fmla="*/ 2147483647 h 5054"/>
                  <a:gd name="T76" fmla="*/ 2147483647 w 1260"/>
                  <a:gd name="T77" fmla="*/ 2147483647 h 5054"/>
                  <a:gd name="T78" fmla="*/ 2147483647 w 1260"/>
                  <a:gd name="T79" fmla="*/ 2147483647 h 5054"/>
                  <a:gd name="T80" fmla="*/ 2147483647 w 1260"/>
                  <a:gd name="T81" fmla="*/ 2147483647 h 5054"/>
                  <a:gd name="T82" fmla="*/ 2147483647 w 1260"/>
                  <a:gd name="T83" fmla="*/ 2147483647 h 5054"/>
                  <a:gd name="T84" fmla="*/ 2147483647 w 1260"/>
                  <a:gd name="T85" fmla="*/ 2147483647 h 5054"/>
                  <a:gd name="T86" fmla="*/ 2147483647 w 1260"/>
                  <a:gd name="T87" fmla="*/ 2147483647 h 5054"/>
                  <a:gd name="T88" fmla="*/ 2147483647 w 1260"/>
                  <a:gd name="T89" fmla="*/ 2147483647 h 5054"/>
                  <a:gd name="T90" fmla="*/ 2147483647 w 1260"/>
                  <a:gd name="T91" fmla="*/ 2147483647 h 5054"/>
                  <a:gd name="T92" fmla="*/ 2147483647 w 1260"/>
                  <a:gd name="T93" fmla="*/ 2147483647 h 5054"/>
                  <a:gd name="T94" fmla="*/ 2147483647 w 1260"/>
                  <a:gd name="T95" fmla="*/ 2147483647 h 5054"/>
                  <a:gd name="T96" fmla="*/ 2147483647 w 1260"/>
                  <a:gd name="T97" fmla="*/ 2147483647 h 5054"/>
                  <a:gd name="T98" fmla="*/ 2147483647 w 1260"/>
                  <a:gd name="T99" fmla="*/ 2147483647 h 5054"/>
                  <a:gd name="T100" fmla="*/ 2147483647 w 1260"/>
                  <a:gd name="T101" fmla="*/ 2147483647 h 5054"/>
                  <a:gd name="T102" fmla="*/ 2147483647 w 1260"/>
                  <a:gd name="T103" fmla="*/ 2147483647 h 5054"/>
                  <a:gd name="T104" fmla="*/ 2147483647 w 1260"/>
                  <a:gd name="T105" fmla="*/ 2147483647 h 5054"/>
                  <a:gd name="T106" fmla="*/ 2147483647 w 1260"/>
                  <a:gd name="T107" fmla="*/ 2147483647 h 505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260"/>
                  <a:gd name="T163" fmla="*/ 0 h 5054"/>
                  <a:gd name="T164" fmla="*/ 1260 w 1260"/>
                  <a:gd name="T165" fmla="*/ 5054 h 5054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260" h="5054">
                    <a:moveTo>
                      <a:pt x="838" y="4104"/>
                    </a:moveTo>
                    <a:lnTo>
                      <a:pt x="829" y="4197"/>
                    </a:lnTo>
                    <a:lnTo>
                      <a:pt x="815" y="4292"/>
                    </a:lnTo>
                    <a:lnTo>
                      <a:pt x="794" y="4386"/>
                    </a:lnTo>
                    <a:lnTo>
                      <a:pt x="764" y="4473"/>
                    </a:lnTo>
                    <a:lnTo>
                      <a:pt x="728" y="4561"/>
                    </a:lnTo>
                    <a:lnTo>
                      <a:pt x="680" y="4642"/>
                    </a:lnTo>
                    <a:lnTo>
                      <a:pt x="629" y="4720"/>
                    </a:lnTo>
                    <a:lnTo>
                      <a:pt x="571" y="4788"/>
                    </a:lnTo>
                    <a:lnTo>
                      <a:pt x="505" y="4850"/>
                    </a:lnTo>
                    <a:lnTo>
                      <a:pt x="437" y="4906"/>
                    </a:lnTo>
                    <a:lnTo>
                      <a:pt x="364" y="4951"/>
                    </a:lnTo>
                    <a:lnTo>
                      <a:pt x="290" y="4992"/>
                    </a:lnTo>
                    <a:lnTo>
                      <a:pt x="206" y="5019"/>
                    </a:lnTo>
                    <a:lnTo>
                      <a:pt x="123" y="5040"/>
                    </a:lnTo>
                    <a:lnTo>
                      <a:pt x="40" y="5050"/>
                    </a:lnTo>
                    <a:lnTo>
                      <a:pt x="0" y="5054"/>
                    </a:lnTo>
                    <a:lnTo>
                      <a:pt x="66" y="5048"/>
                    </a:lnTo>
                    <a:lnTo>
                      <a:pt x="136" y="5034"/>
                    </a:lnTo>
                    <a:lnTo>
                      <a:pt x="206" y="5006"/>
                    </a:lnTo>
                    <a:lnTo>
                      <a:pt x="270" y="4975"/>
                    </a:lnTo>
                    <a:lnTo>
                      <a:pt x="332" y="4934"/>
                    </a:lnTo>
                    <a:lnTo>
                      <a:pt x="388" y="4882"/>
                    </a:lnTo>
                    <a:lnTo>
                      <a:pt x="435" y="4828"/>
                    </a:lnTo>
                    <a:lnTo>
                      <a:pt x="479" y="4763"/>
                    </a:lnTo>
                    <a:lnTo>
                      <a:pt x="517" y="4695"/>
                    </a:lnTo>
                    <a:lnTo>
                      <a:pt x="546" y="4619"/>
                    </a:lnTo>
                    <a:lnTo>
                      <a:pt x="567" y="4545"/>
                    </a:lnTo>
                    <a:lnTo>
                      <a:pt x="582" y="4467"/>
                    </a:lnTo>
                    <a:lnTo>
                      <a:pt x="585" y="4391"/>
                    </a:lnTo>
                    <a:lnTo>
                      <a:pt x="585" y="3098"/>
                    </a:lnTo>
                    <a:lnTo>
                      <a:pt x="590" y="3024"/>
                    </a:lnTo>
                    <a:lnTo>
                      <a:pt x="604" y="2951"/>
                    </a:lnTo>
                    <a:lnTo>
                      <a:pt x="629" y="2882"/>
                    </a:lnTo>
                    <a:lnTo>
                      <a:pt x="655" y="2815"/>
                    </a:lnTo>
                    <a:lnTo>
                      <a:pt x="693" y="2756"/>
                    </a:lnTo>
                    <a:lnTo>
                      <a:pt x="738" y="2699"/>
                    </a:lnTo>
                    <a:lnTo>
                      <a:pt x="785" y="2648"/>
                    </a:lnTo>
                    <a:lnTo>
                      <a:pt x="839" y="2607"/>
                    </a:lnTo>
                    <a:lnTo>
                      <a:pt x="897" y="2574"/>
                    </a:lnTo>
                    <a:lnTo>
                      <a:pt x="960" y="2549"/>
                    </a:lnTo>
                    <a:lnTo>
                      <a:pt x="1026" y="2537"/>
                    </a:lnTo>
                    <a:lnTo>
                      <a:pt x="1090" y="2527"/>
                    </a:lnTo>
                    <a:lnTo>
                      <a:pt x="1026" y="2515"/>
                    </a:lnTo>
                    <a:lnTo>
                      <a:pt x="960" y="2502"/>
                    </a:lnTo>
                    <a:lnTo>
                      <a:pt x="897" y="2477"/>
                    </a:lnTo>
                    <a:lnTo>
                      <a:pt x="839" y="2442"/>
                    </a:lnTo>
                    <a:lnTo>
                      <a:pt x="785" y="2401"/>
                    </a:lnTo>
                    <a:lnTo>
                      <a:pt x="738" y="2354"/>
                    </a:lnTo>
                    <a:lnTo>
                      <a:pt x="693" y="2296"/>
                    </a:lnTo>
                    <a:lnTo>
                      <a:pt x="655" y="2235"/>
                    </a:lnTo>
                    <a:lnTo>
                      <a:pt x="629" y="2170"/>
                    </a:lnTo>
                    <a:lnTo>
                      <a:pt x="604" y="2100"/>
                    </a:lnTo>
                    <a:lnTo>
                      <a:pt x="590" y="2026"/>
                    </a:lnTo>
                    <a:lnTo>
                      <a:pt x="585" y="1951"/>
                    </a:lnTo>
                    <a:lnTo>
                      <a:pt x="585" y="660"/>
                    </a:lnTo>
                    <a:lnTo>
                      <a:pt x="582" y="585"/>
                    </a:lnTo>
                    <a:lnTo>
                      <a:pt x="567" y="506"/>
                    </a:lnTo>
                    <a:lnTo>
                      <a:pt x="546" y="427"/>
                    </a:lnTo>
                    <a:lnTo>
                      <a:pt x="517" y="354"/>
                    </a:lnTo>
                    <a:lnTo>
                      <a:pt x="479" y="289"/>
                    </a:lnTo>
                    <a:lnTo>
                      <a:pt x="435" y="226"/>
                    </a:lnTo>
                    <a:lnTo>
                      <a:pt x="388" y="169"/>
                    </a:lnTo>
                    <a:lnTo>
                      <a:pt x="332" y="118"/>
                    </a:lnTo>
                    <a:lnTo>
                      <a:pt x="270" y="76"/>
                    </a:lnTo>
                    <a:lnTo>
                      <a:pt x="206" y="44"/>
                    </a:lnTo>
                    <a:lnTo>
                      <a:pt x="136" y="19"/>
                    </a:lnTo>
                    <a:lnTo>
                      <a:pt x="66" y="3"/>
                    </a:lnTo>
                    <a:lnTo>
                      <a:pt x="0" y="0"/>
                    </a:lnTo>
                    <a:lnTo>
                      <a:pt x="40" y="3"/>
                    </a:lnTo>
                    <a:lnTo>
                      <a:pt x="123" y="9"/>
                    </a:lnTo>
                    <a:lnTo>
                      <a:pt x="206" y="29"/>
                    </a:lnTo>
                    <a:lnTo>
                      <a:pt x="290" y="61"/>
                    </a:lnTo>
                    <a:lnTo>
                      <a:pt x="364" y="100"/>
                    </a:lnTo>
                    <a:lnTo>
                      <a:pt x="437" y="147"/>
                    </a:lnTo>
                    <a:lnTo>
                      <a:pt x="505" y="203"/>
                    </a:lnTo>
                    <a:lnTo>
                      <a:pt x="571" y="264"/>
                    </a:lnTo>
                    <a:lnTo>
                      <a:pt x="629" y="333"/>
                    </a:lnTo>
                    <a:lnTo>
                      <a:pt x="680" y="408"/>
                    </a:lnTo>
                    <a:lnTo>
                      <a:pt x="728" y="488"/>
                    </a:lnTo>
                    <a:lnTo>
                      <a:pt x="764" y="576"/>
                    </a:lnTo>
                    <a:lnTo>
                      <a:pt x="794" y="664"/>
                    </a:lnTo>
                    <a:lnTo>
                      <a:pt x="815" y="757"/>
                    </a:lnTo>
                    <a:lnTo>
                      <a:pt x="829" y="850"/>
                    </a:lnTo>
                    <a:lnTo>
                      <a:pt x="838" y="948"/>
                    </a:lnTo>
                    <a:lnTo>
                      <a:pt x="838" y="2047"/>
                    </a:lnTo>
                    <a:lnTo>
                      <a:pt x="842" y="2116"/>
                    </a:lnTo>
                    <a:lnTo>
                      <a:pt x="856" y="2184"/>
                    </a:lnTo>
                    <a:lnTo>
                      <a:pt x="874" y="2242"/>
                    </a:lnTo>
                    <a:lnTo>
                      <a:pt x="903" y="2302"/>
                    </a:lnTo>
                    <a:lnTo>
                      <a:pt x="937" y="2355"/>
                    </a:lnTo>
                    <a:lnTo>
                      <a:pt x="981" y="2405"/>
                    </a:lnTo>
                    <a:lnTo>
                      <a:pt x="1030" y="2442"/>
                    </a:lnTo>
                    <a:lnTo>
                      <a:pt x="1083" y="2477"/>
                    </a:lnTo>
                    <a:lnTo>
                      <a:pt x="1140" y="2502"/>
                    </a:lnTo>
                    <a:lnTo>
                      <a:pt x="1200" y="2515"/>
                    </a:lnTo>
                    <a:lnTo>
                      <a:pt x="1260" y="2523"/>
                    </a:lnTo>
                    <a:lnTo>
                      <a:pt x="1206" y="2530"/>
                    </a:lnTo>
                    <a:lnTo>
                      <a:pt x="1147" y="2543"/>
                    </a:lnTo>
                    <a:lnTo>
                      <a:pt x="1090" y="2569"/>
                    </a:lnTo>
                    <a:lnTo>
                      <a:pt x="1037" y="2598"/>
                    </a:lnTo>
                    <a:lnTo>
                      <a:pt x="987" y="2640"/>
                    </a:lnTo>
                    <a:lnTo>
                      <a:pt x="943" y="2687"/>
                    </a:lnTo>
                    <a:lnTo>
                      <a:pt x="908" y="2739"/>
                    </a:lnTo>
                    <a:lnTo>
                      <a:pt x="877" y="2798"/>
                    </a:lnTo>
                    <a:lnTo>
                      <a:pt x="858" y="2859"/>
                    </a:lnTo>
                    <a:lnTo>
                      <a:pt x="842" y="2923"/>
                    </a:lnTo>
                    <a:lnTo>
                      <a:pt x="838" y="2991"/>
                    </a:lnTo>
                    <a:lnTo>
                      <a:pt x="838" y="4104"/>
                    </a:lnTo>
                    <a:close/>
                  </a:path>
                </a:pathLst>
              </a:custGeom>
              <a:solidFill>
                <a:srgbClr val="5F5F5F"/>
              </a:soli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1990B9B0-2FF5-47FF-23F2-AF045D81FF2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5137691" y="3317132"/>
                <a:ext cx="76367" cy="684000"/>
              </a:xfrm>
              <a:custGeom>
                <a:avLst/>
                <a:gdLst>
                  <a:gd name="T0" fmla="*/ 2147483647 w 1260"/>
                  <a:gd name="T1" fmla="*/ 2147483647 h 5054"/>
                  <a:gd name="T2" fmla="*/ 2147483647 w 1260"/>
                  <a:gd name="T3" fmla="*/ 2147483647 h 5054"/>
                  <a:gd name="T4" fmla="*/ 2147483647 w 1260"/>
                  <a:gd name="T5" fmla="*/ 2147483647 h 5054"/>
                  <a:gd name="T6" fmla="*/ 2147483647 w 1260"/>
                  <a:gd name="T7" fmla="*/ 2147483647 h 5054"/>
                  <a:gd name="T8" fmla="*/ 2147483647 w 1260"/>
                  <a:gd name="T9" fmla="*/ 2147483647 h 5054"/>
                  <a:gd name="T10" fmla="*/ 2147483647 w 1260"/>
                  <a:gd name="T11" fmla="*/ 2147483647 h 5054"/>
                  <a:gd name="T12" fmla="*/ 2147483647 w 1260"/>
                  <a:gd name="T13" fmla="*/ 2147483647 h 5054"/>
                  <a:gd name="T14" fmla="*/ 2147483647 w 1260"/>
                  <a:gd name="T15" fmla="*/ 2147483647 h 5054"/>
                  <a:gd name="T16" fmla="*/ 2147483647 w 1260"/>
                  <a:gd name="T17" fmla="*/ 2147483647 h 5054"/>
                  <a:gd name="T18" fmla="*/ 2147483647 w 1260"/>
                  <a:gd name="T19" fmla="*/ 2147483647 h 5054"/>
                  <a:gd name="T20" fmla="*/ 2147483647 w 1260"/>
                  <a:gd name="T21" fmla="*/ 2147483647 h 5054"/>
                  <a:gd name="T22" fmla="*/ 2147483647 w 1260"/>
                  <a:gd name="T23" fmla="*/ 2147483647 h 5054"/>
                  <a:gd name="T24" fmla="*/ 2147483647 w 1260"/>
                  <a:gd name="T25" fmla="*/ 2147483647 h 5054"/>
                  <a:gd name="T26" fmla="*/ 2147483647 w 1260"/>
                  <a:gd name="T27" fmla="*/ 2147483647 h 5054"/>
                  <a:gd name="T28" fmla="*/ 2147483647 w 1260"/>
                  <a:gd name="T29" fmla="*/ 2147483647 h 5054"/>
                  <a:gd name="T30" fmla="*/ 2147483647 w 1260"/>
                  <a:gd name="T31" fmla="*/ 2147483647 h 5054"/>
                  <a:gd name="T32" fmla="*/ 2147483647 w 1260"/>
                  <a:gd name="T33" fmla="*/ 2147483647 h 5054"/>
                  <a:gd name="T34" fmla="*/ 2147483647 w 1260"/>
                  <a:gd name="T35" fmla="*/ 2147483647 h 5054"/>
                  <a:gd name="T36" fmla="*/ 2147483647 w 1260"/>
                  <a:gd name="T37" fmla="*/ 2147483647 h 5054"/>
                  <a:gd name="T38" fmla="*/ 2147483647 w 1260"/>
                  <a:gd name="T39" fmla="*/ 2147483647 h 5054"/>
                  <a:gd name="T40" fmla="*/ 2147483647 w 1260"/>
                  <a:gd name="T41" fmla="*/ 2147483647 h 5054"/>
                  <a:gd name="T42" fmla="*/ 2147483647 w 1260"/>
                  <a:gd name="T43" fmla="*/ 2147483647 h 5054"/>
                  <a:gd name="T44" fmla="*/ 2147483647 w 1260"/>
                  <a:gd name="T45" fmla="*/ 2147483647 h 5054"/>
                  <a:gd name="T46" fmla="*/ 2147483647 w 1260"/>
                  <a:gd name="T47" fmla="*/ 2147483647 h 5054"/>
                  <a:gd name="T48" fmla="*/ 2147483647 w 1260"/>
                  <a:gd name="T49" fmla="*/ 2147483647 h 5054"/>
                  <a:gd name="T50" fmla="*/ 2147483647 w 1260"/>
                  <a:gd name="T51" fmla="*/ 2147483647 h 5054"/>
                  <a:gd name="T52" fmla="*/ 2147483647 w 1260"/>
                  <a:gd name="T53" fmla="*/ 2147483647 h 5054"/>
                  <a:gd name="T54" fmla="*/ 2147483647 w 1260"/>
                  <a:gd name="T55" fmla="*/ 2147483647 h 5054"/>
                  <a:gd name="T56" fmla="*/ 2147483647 w 1260"/>
                  <a:gd name="T57" fmla="*/ 2147483647 h 5054"/>
                  <a:gd name="T58" fmla="*/ 2147483647 w 1260"/>
                  <a:gd name="T59" fmla="*/ 2147483647 h 5054"/>
                  <a:gd name="T60" fmla="*/ 2147483647 w 1260"/>
                  <a:gd name="T61" fmla="*/ 2147483647 h 5054"/>
                  <a:gd name="T62" fmla="*/ 2147483647 w 1260"/>
                  <a:gd name="T63" fmla="*/ 2147483647 h 5054"/>
                  <a:gd name="T64" fmla="*/ 2147483647 w 1260"/>
                  <a:gd name="T65" fmla="*/ 2147483647 h 5054"/>
                  <a:gd name="T66" fmla="*/ 2147483647 w 1260"/>
                  <a:gd name="T67" fmla="*/ 2147483647 h 5054"/>
                  <a:gd name="T68" fmla="*/ 2147483647 w 1260"/>
                  <a:gd name="T69" fmla="*/ 2147483647 h 5054"/>
                  <a:gd name="T70" fmla="*/ 2147483647 w 1260"/>
                  <a:gd name="T71" fmla="*/ 2147483647 h 5054"/>
                  <a:gd name="T72" fmla="*/ 2147483647 w 1260"/>
                  <a:gd name="T73" fmla="*/ 2147483647 h 5054"/>
                  <a:gd name="T74" fmla="*/ 2147483647 w 1260"/>
                  <a:gd name="T75" fmla="*/ 2147483647 h 5054"/>
                  <a:gd name="T76" fmla="*/ 2147483647 w 1260"/>
                  <a:gd name="T77" fmla="*/ 2147483647 h 5054"/>
                  <a:gd name="T78" fmla="*/ 2147483647 w 1260"/>
                  <a:gd name="T79" fmla="*/ 2147483647 h 5054"/>
                  <a:gd name="T80" fmla="*/ 2147483647 w 1260"/>
                  <a:gd name="T81" fmla="*/ 2147483647 h 5054"/>
                  <a:gd name="T82" fmla="*/ 2147483647 w 1260"/>
                  <a:gd name="T83" fmla="*/ 2147483647 h 5054"/>
                  <a:gd name="T84" fmla="*/ 2147483647 w 1260"/>
                  <a:gd name="T85" fmla="*/ 2147483647 h 5054"/>
                  <a:gd name="T86" fmla="*/ 2147483647 w 1260"/>
                  <a:gd name="T87" fmla="*/ 2147483647 h 5054"/>
                  <a:gd name="T88" fmla="*/ 2147483647 w 1260"/>
                  <a:gd name="T89" fmla="*/ 2147483647 h 5054"/>
                  <a:gd name="T90" fmla="*/ 2147483647 w 1260"/>
                  <a:gd name="T91" fmla="*/ 2147483647 h 5054"/>
                  <a:gd name="T92" fmla="*/ 2147483647 w 1260"/>
                  <a:gd name="T93" fmla="*/ 2147483647 h 5054"/>
                  <a:gd name="T94" fmla="*/ 2147483647 w 1260"/>
                  <a:gd name="T95" fmla="*/ 2147483647 h 5054"/>
                  <a:gd name="T96" fmla="*/ 2147483647 w 1260"/>
                  <a:gd name="T97" fmla="*/ 2147483647 h 5054"/>
                  <a:gd name="T98" fmla="*/ 2147483647 w 1260"/>
                  <a:gd name="T99" fmla="*/ 2147483647 h 5054"/>
                  <a:gd name="T100" fmla="*/ 2147483647 w 1260"/>
                  <a:gd name="T101" fmla="*/ 2147483647 h 5054"/>
                  <a:gd name="T102" fmla="*/ 2147483647 w 1260"/>
                  <a:gd name="T103" fmla="*/ 2147483647 h 5054"/>
                  <a:gd name="T104" fmla="*/ 2147483647 w 1260"/>
                  <a:gd name="T105" fmla="*/ 2147483647 h 5054"/>
                  <a:gd name="T106" fmla="*/ 2147483647 w 1260"/>
                  <a:gd name="T107" fmla="*/ 2147483647 h 505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260"/>
                  <a:gd name="T163" fmla="*/ 0 h 5054"/>
                  <a:gd name="T164" fmla="*/ 1260 w 1260"/>
                  <a:gd name="T165" fmla="*/ 5054 h 5054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260" h="5054">
                    <a:moveTo>
                      <a:pt x="838" y="4104"/>
                    </a:moveTo>
                    <a:lnTo>
                      <a:pt x="829" y="4197"/>
                    </a:lnTo>
                    <a:lnTo>
                      <a:pt x="815" y="4292"/>
                    </a:lnTo>
                    <a:lnTo>
                      <a:pt x="794" y="4386"/>
                    </a:lnTo>
                    <a:lnTo>
                      <a:pt x="764" y="4473"/>
                    </a:lnTo>
                    <a:lnTo>
                      <a:pt x="728" y="4561"/>
                    </a:lnTo>
                    <a:lnTo>
                      <a:pt x="680" y="4642"/>
                    </a:lnTo>
                    <a:lnTo>
                      <a:pt x="629" y="4720"/>
                    </a:lnTo>
                    <a:lnTo>
                      <a:pt x="571" y="4788"/>
                    </a:lnTo>
                    <a:lnTo>
                      <a:pt x="505" y="4850"/>
                    </a:lnTo>
                    <a:lnTo>
                      <a:pt x="437" y="4906"/>
                    </a:lnTo>
                    <a:lnTo>
                      <a:pt x="364" y="4951"/>
                    </a:lnTo>
                    <a:lnTo>
                      <a:pt x="290" y="4992"/>
                    </a:lnTo>
                    <a:lnTo>
                      <a:pt x="206" y="5019"/>
                    </a:lnTo>
                    <a:lnTo>
                      <a:pt x="123" y="5040"/>
                    </a:lnTo>
                    <a:lnTo>
                      <a:pt x="40" y="5050"/>
                    </a:lnTo>
                    <a:lnTo>
                      <a:pt x="0" y="5054"/>
                    </a:lnTo>
                    <a:lnTo>
                      <a:pt x="66" y="5048"/>
                    </a:lnTo>
                    <a:lnTo>
                      <a:pt x="136" y="5034"/>
                    </a:lnTo>
                    <a:lnTo>
                      <a:pt x="206" y="5006"/>
                    </a:lnTo>
                    <a:lnTo>
                      <a:pt x="270" y="4975"/>
                    </a:lnTo>
                    <a:lnTo>
                      <a:pt x="332" y="4934"/>
                    </a:lnTo>
                    <a:lnTo>
                      <a:pt x="388" y="4882"/>
                    </a:lnTo>
                    <a:lnTo>
                      <a:pt x="435" y="4828"/>
                    </a:lnTo>
                    <a:lnTo>
                      <a:pt x="479" y="4763"/>
                    </a:lnTo>
                    <a:lnTo>
                      <a:pt x="517" y="4695"/>
                    </a:lnTo>
                    <a:lnTo>
                      <a:pt x="546" y="4619"/>
                    </a:lnTo>
                    <a:lnTo>
                      <a:pt x="567" y="4545"/>
                    </a:lnTo>
                    <a:lnTo>
                      <a:pt x="582" y="4467"/>
                    </a:lnTo>
                    <a:lnTo>
                      <a:pt x="585" y="4391"/>
                    </a:lnTo>
                    <a:lnTo>
                      <a:pt x="585" y="3098"/>
                    </a:lnTo>
                    <a:lnTo>
                      <a:pt x="590" y="3024"/>
                    </a:lnTo>
                    <a:lnTo>
                      <a:pt x="604" y="2951"/>
                    </a:lnTo>
                    <a:lnTo>
                      <a:pt x="629" y="2882"/>
                    </a:lnTo>
                    <a:lnTo>
                      <a:pt x="655" y="2815"/>
                    </a:lnTo>
                    <a:lnTo>
                      <a:pt x="693" y="2756"/>
                    </a:lnTo>
                    <a:lnTo>
                      <a:pt x="738" y="2699"/>
                    </a:lnTo>
                    <a:lnTo>
                      <a:pt x="785" y="2648"/>
                    </a:lnTo>
                    <a:lnTo>
                      <a:pt x="839" y="2607"/>
                    </a:lnTo>
                    <a:lnTo>
                      <a:pt x="897" y="2574"/>
                    </a:lnTo>
                    <a:lnTo>
                      <a:pt x="960" y="2549"/>
                    </a:lnTo>
                    <a:lnTo>
                      <a:pt x="1026" y="2537"/>
                    </a:lnTo>
                    <a:lnTo>
                      <a:pt x="1090" y="2527"/>
                    </a:lnTo>
                    <a:lnTo>
                      <a:pt x="1026" y="2515"/>
                    </a:lnTo>
                    <a:lnTo>
                      <a:pt x="960" y="2502"/>
                    </a:lnTo>
                    <a:lnTo>
                      <a:pt x="897" y="2477"/>
                    </a:lnTo>
                    <a:lnTo>
                      <a:pt x="839" y="2442"/>
                    </a:lnTo>
                    <a:lnTo>
                      <a:pt x="785" y="2401"/>
                    </a:lnTo>
                    <a:lnTo>
                      <a:pt x="738" y="2354"/>
                    </a:lnTo>
                    <a:lnTo>
                      <a:pt x="693" y="2296"/>
                    </a:lnTo>
                    <a:lnTo>
                      <a:pt x="655" y="2235"/>
                    </a:lnTo>
                    <a:lnTo>
                      <a:pt x="629" y="2170"/>
                    </a:lnTo>
                    <a:lnTo>
                      <a:pt x="604" y="2100"/>
                    </a:lnTo>
                    <a:lnTo>
                      <a:pt x="590" y="2026"/>
                    </a:lnTo>
                    <a:lnTo>
                      <a:pt x="585" y="1951"/>
                    </a:lnTo>
                    <a:lnTo>
                      <a:pt x="585" y="660"/>
                    </a:lnTo>
                    <a:lnTo>
                      <a:pt x="582" y="585"/>
                    </a:lnTo>
                    <a:lnTo>
                      <a:pt x="567" y="506"/>
                    </a:lnTo>
                    <a:lnTo>
                      <a:pt x="546" y="427"/>
                    </a:lnTo>
                    <a:lnTo>
                      <a:pt x="517" y="354"/>
                    </a:lnTo>
                    <a:lnTo>
                      <a:pt x="479" y="289"/>
                    </a:lnTo>
                    <a:lnTo>
                      <a:pt x="435" y="226"/>
                    </a:lnTo>
                    <a:lnTo>
                      <a:pt x="388" y="169"/>
                    </a:lnTo>
                    <a:lnTo>
                      <a:pt x="332" y="118"/>
                    </a:lnTo>
                    <a:lnTo>
                      <a:pt x="270" y="76"/>
                    </a:lnTo>
                    <a:lnTo>
                      <a:pt x="206" y="44"/>
                    </a:lnTo>
                    <a:lnTo>
                      <a:pt x="136" y="19"/>
                    </a:lnTo>
                    <a:lnTo>
                      <a:pt x="66" y="3"/>
                    </a:lnTo>
                    <a:lnTo>
                      <a:pt x="0" y="0"/>
                    </a:lnTo>
                    <a:lnTo>
                      <a:pt x="40" y="3"/>
                    </a:lnTo>
                    <a:lnTo>
                      <a:pt x="123" y="9"/>
                    </a:lnTo>
                    <a:lnTo>
                      <a:pt x="206" y="29"/>
                    </a:lnTo>
                    <a:lnTo>
                      <a:pt x="290" y="61"/>
                    </a:lnTo>
                    <a:lnTo>
                      <a:pt x="364" y="100"/>
                    </a:lnTo>
                    <a:lnTo>
                      <a:pt x="437" y="147"/>
                    </a:lnTo>
                    <a:lnTo>
                      <a:pt x="505" y="203"/>
                    </a:lnTo>
                    <a:lnTo>
                      <a:pt x="571" y="264"/>
                    </a:lnTo>
                    <a:lnTo>
                      <a:pt x="629" y="333"/>
                    </a:lnTo>
                    <a:lnTo>
                      <a:pt x="680" y="408"/>
                    </a:lnTo>
                    <a:lnTo>
                      <a:pt x="728" y="488"/>
                    </a:lnTo>
                    <a:lnTo>
                      <a:pt x="764" y="576"/>
                    </a:lnTo>
                    <a:lnTo>
                      <a:pt x="794" y="664"/>
                    </a:lnTo>
                    <a:lnTo>
                      <a:pt x="815" y="757"/>
                    </a:lnTo>
                    <a:lnTo>
                      <a:pt x="829" y="850"/>
                    </a:lnTo>
                    <a:lnTo>
                      <a:pt x="838" y="948"/>
                    </a:lnTo>
                    <a:lnTo>
                      <a:pt x="838" y="2047"/>
                    </a:lnTo>
                    <a:lnTo>
                      <a:pt x="842" y="2116"/>
                    </a:lnTo>
                    <a:lnTo>
                      <a:pt x="856" y="2184"/>
                    </a:lnTo>
                    <a:lnTo>
                      <a:pt x="874" y="2242"/>
                    </a:lnTo>
                    <a:lnTo>
                      <a:pt x="903" y="2302"/>
                    </a:lnTo>
                    <a:lnTo>
                      <a:pt x="937" y="2355"/>
                    </a:lnTo>
                    <a:lnTo>
                      <a:pt x="981" y="2405"/>
                    </a:lnTo>
                    <a:lnTo>
                      <a:pt x="1030" y="2442"/>
                    </a:lnTo>
                    <a:lnTo>
                      <a:pt x="1083" y="2477"/>
                    </a:lnTo>
                    <a:lnTo>
                      <a:pt x="1140" y="2502"/>
                    </a:lnTo>
                    <a:lnTo>
                      <a:pt x="1200" y="2515"/>
                    </a:lnTo>
                    <a:lnTo>
                      <a:pt x="1260" y="2523"/>
                    </a:lnTo>
                    <a:lnTo>
                      <a:pt x="1206" y="2530"/>
                    </a:lnTo>
                    <a:lnTo>
                      <a:pt x="1147" y="2543"/>
                    </a:lnTo>
                    <a:lnTo>
                      <a:pt x="1090" y="2569"/>
                    </a:lnTo>
                    <a:lnTo>
                      <a:pt x="1037" y="2598"/>
                    </a:lnTo>
                    <a:lnTo>
                      <a:pt x="987" y="2640"/>
                    </a:lnTo>
                    <a:lnTo>
                      <a:pt x="943" y="2687"/>
                    </a:lnTo>
                    <a:lnTo>
                      <a:pt x="908" y="2739"/>
                    </a:lnTo>
                    <a:lnTo>
                      <a:pt x="877" y="2798"/>
                    </a:lnTo>
                    <a:lnTo>
                      <a:pt x="858" y="2859"/>
                    </a:lnTo>
                    <a:lnTo>
                      <a:pt x="842" y="2923"/>
                    </a:lnTo>
                    <a:lnTo>
                      <a:pt x="838" y="2991"/>
                    </a:lnTo>
                    <a:lnTo>
                      <a:pt x="838" y="4104"/>
                    </a:lnTo>
                    <a:close/>
                  </a:path>
                </a:pathLst>
              </a:custGeom>
              <a:solidFill>
                <a:srgbClr val="5F5F5F"/>
              </a:soli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49" name="Freeform 75">
                <a:extLst>
                  <a:ext uri="{FF2B5EF4-FFF2-40B4-BE49-F238E27FC236}">
                    <a16:creationId xmlns:a16="http://schemas.microsoft.com/office/drawing/2014/main" id="{ABBD5B1B-8684-59C2-8350-C7378C7E0F8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5628121" y="2765920"/>
                <a:ext cx="76367" cy="684000"/>
              </a:xfrm>
              <a:custGeom>
                <a:avLst/>
                <a:gdLst>
                  <a:gd name="T0" fmla="*/ 2147483647 w 1260"/>
                  <a:gd name="T1" fmla="*/ 2147483647 h 5054"/>
                  <a:gd name="T2" fmla="*/ 2147483647 w 1260"/>
                  <a:gd name="T3" fmla="*/ 2147483647 h 5054"/>
                  <a:gd name="T4" fmla="*/ 2147483647 w 1260"/>
                  <a:gd name="T5" fmla="*/ 2147483647 h 5054"/>
                  <a:gd name="T6" fmla="*/ 2147483647 w 1260"/>
                  <a:gd name="T7" fmla="*/ 2147483647 h 5054"/>
                  <a:gd name="T8" fmla="*/ 2147483647 w 1260"/>
                  <a:gd name="T9" fmla="*/ 2147483647 h 5054"/>
                  <a:gd name="T10" fmla="*/ 2147483647 w 1260"/>
                  <a:gd name="T11" fmla="*/ 2147483647 h 5054"/>
                  <a:gd name="T12" fmla="*/ 2147483647 w 1260"/>
                  <a:gd name="T13" fmla="*/ 2147483647 h 5054"/>
                  <a:gd name="T14" fmla="*/ 2147483647 w 1260"/>
                  <a:gd name="T15" fmla="*/ 2147483647 h 5054"/>
                  <a:gd name="T16" fmla="*/ 2147483647 w 1260"/>
                  <a:gd name="T17" fmla="*/ 2147483647 h 5054"/>
                  <a:gd name="T18" fmla="*/ 2147483647 w 1260"/>
                  <a:gd name="T19" fmla="*/ 2147483647 h 5054"/>
                  <a:gd name="T20" fmla="*/ 2147483647 w 1260"/>
                  <a:gd name="T21" fmla="*/ 2147483647 h 5054"/>
                  <a:gd name="T22" fmla="*/ 2147483647 w 1260"/>
                  <a:gd name="T23" fmla="*/ 2147483647 h 5054"/>
                  <a:gd name="T24" fmla="*/ 2147483647 w 1260"/>
                  <a:gd name="T25" fmla="*/ 2147483647 h 5054"/>
                  <a:gd name="T26" fmla="*/ 2147483647 w 1260"/>
                  <a:gd name="T27" fmla="*/ 2147483647 h 5054"/>
                  <a:gd name="T28" fmla="*/ 2147483647 w 1260"/>
                  <a:gd name="T29" fmla="*/ 2147483647 h 5054"/>
                  <a:gd name="T30" fmla="*/ 2147483647 w 1260"/>
                  <a:gd name="T31" fmla="*/ 2147483647 h 5054"/>
                  <a:gd name="T32" fmla="*/ 2147483647 w 1260"/>
                  <a:gd name="T33" fmla="*/ 2147483647 h 5054"/>
                  <a:gd name="T34" fmla="*/ 2147483647 w 1260"/>
                  <a:gd name="T35" fmla="*/ 2147483647 h 5054"/>
                  <a:gd name="T36" fmla="*/ 2147483647 w 1260"/>
                  <a:gd name="T37" fmla="*/ 2147483647 h 5054"/>
                  <a:gd name="T38" fmla="*/ 2147483647 w 1260"/>
                  <a:gd name="T39" fmla="*/ 2147483647 h 5054"/>
                  <a:gd name="T40" fmla="*/ 2147483647 w 1260"/>
                  <a:gd name="T41" fmla="*/ 2147483647 h 5054"/>
                  <a:gd name="T42" fmla="*/ 2147483647 w 1260"/>
                  <a:gd name="T43" fmla="*/ 2147483647 h 5054"/>
                  <a:gd name="T44" fmla="*/ 2147483647 w 1260"/>
                  <a:gd name="T45" fmla="*/ 2147483647 h 5054"/>
                  <a:gd name="T46" fmla="*/ 2147483647 w 1260"/>
                  <a:gd name="T47" fmla="*/ 2147483647 h 5054"/>
                  <a:gd name="T48" fmla="*/ 2147483647 w 1260"/>
                  <a:gd name="T49" fmla="*/ 2147483647 h 5054"/>
                  <a:gd name="T50" fmla="*/ 2147483647 w 1260"/>
                  <a:gd name="T51" fmla="*/ 2147483647 h 5054"/>
                  <a:gd name="T52" fmla="*/ 2147483647 w 1260"/>
                  <a:gd name="T53" fmla="*/ 2147483647 h 5054"/>
                  <a:gd name="T54" fmla="*/ 2147483647 w 1260"/>
                  <a:gd name="T55" fmla="*/ 2147483647 h 5054"/>
                  <a:gd name="T56" fmla="*/ 2147483647 w 1260"/>
                  <a:gd name="T57" fmla="*/ 2147483647 h 5054"/>
                  <a:gd name="T58" fmla="*/ 2147483647 w 1260"/>
                  <a:gd name="T59" fmla="*/ 2147483647 h 5054"/>
                  <a:gd name="T60" fmla="*/ 2147483647 w 1260"/>
                  <a:gd name="T61" fmla="*/ 2147483647 h 5054"/>
                  <a:gd name="T62" fmla="*/ 2147483647 w 1260"/>
                  <a:gd name="T63" fmla="*/ 2147483647 h 5054"/>
                  <a:gd name="T64" fmla="*/ 2147483647 w 1260"/>
                  <a:gd name="T65" fmla="*/ 2147483647 h 5054"/>
                  <a:gd name="T66" fmla="*/ 2147483647 w 1260"/>
                  <a:gd name="T67" fmla="*/ 2147483647 h 5054"/>
                  <a:gd name="T68" fmla="*/ 2147483647 w 1260"/>
                  <a:gd name="T69" fmla="*/ 2147483647 h 5054"/>
                  <a:gd name="T70" fmla="*/ 2147483647 w 1260"/>
                  <a:gd name="T71" fmla="*/ 2147483647 h 5054"/>
                  <a:gd name="T72" fmla="*/ 2147483647 w 1260"/>
                  <a:gd name="T73" fmla="*/ 2147483647 h 5054"/>
                  <a:gd name="T74" fmla="*/ 2147483647 w 1260"/>
                  <a:gd name="T75" fmla="*/ 2147483647 h 5054"/>
                  <a:gd name="T76" fmla="*/ 2147483647 w 1260"/>
                  <a:gd name="T77" fmla="*/ 2147483647 h 5054"/>
                  <a:gd name="T78" fmla="*/ 2147483647 w 1260"/>
                  <a:gd name="T79" fmla="*/ 2147483647 h 5054"/>
                  <a:gd name="T80" fmla="*/ 2147483647 w 1260"/>
                  <a:gd name="T81" fmla="*/ 2147483647 h 5054"/>
                  <a:gd name="T82" fmla="*/ 2147483647 w 1260"/>
                  <a:gd name="T83" fmla="*/ 2147483647 h 5054"/>
                  <a:gd name="T84" fmla="*/ 2147483647 w 1260"/>
                  <a:gd name="T85" fmla="*/ 2147483647 h 5054"/>
                  <a:gd name="T86" fmla="*/ 2147483647 w 1260"/>
                  <a:gd name="T87" fmla="*/ 2147483647 h 5054"/>
                  <a:gd name="T88" fmla="*/ 2147483647 w 1260"/>
                  <a:gd name="T89" fmla="*/ 2147483647 h 5054"/>
                  <a:gd name="T90" fmla="*/ 2147483647 w 1260"/>
                  <a:gd name="T91" fmla="*/ 2147483647 h 5054"/>
                  <a:gd name="T92" fmla="*/ 2147483647 w 1260"/>
                  <a:gd name="T93" fmla="*/ 2147483647 h 5054"/>
                  <a:gd name="T94" fmla="*/ 2147483647 w 1260"/>
                  <a:gd name="T95" fmla="*/ 2147483647 h 5054"/>
                  <a:gd name="T96" fmla="*/ 2147483647 w 1260"/>
                  <a:gd name="T97" fmla="*/ 2147483647 h 5054"/>
                  <a:gd name="T98" fmla="*/ 2147483647 w 1260"/>
                  <a:gd name="T99" fmla="*/ 2147483647 h 5054"/>
                  <a:gd name="T100" fmla="*/ 2147483647 w 1260"/>
                  <a:gd name="T101" fmla="*/ 2147483647 h 5054"/>
                  <a:gd name="T102" fmla="*/ 2147483647 w 1260"/>
                  <a:gd name="T103" fmla="*/ 2147483647 h 5054"/>
                  <a:gd name="T104" fmla="*/ 2147483647 w 1260"/>
                  <a:gd name="T105" fmla="*/ 2147483647 h 5054"/>
                  <a:gd name="T106" fmla="*/ 2147483647 w 1260"/>
                  <a:gd name="T107" fmla="*/ 2147483647 h 505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1260"/>
                  <a:gd name="T163" fmla="*/ 0 h 5054"/>
                  <a:gd name="T164" fmla="*/ 1260 w 1260"/>
                  <a:gd name="T165" fmla="*/ 5054 h 5054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1260" h="5054">
                    <a:moveTo>
                      <a:pt x="838" y="4104"/>
                    </a:moveTo>
                    <a:lnTo>
                      <a:pt x="829" y="4197"/>
                    </a:lnTo>
                    <a:lnTo>
                      <a:pt x="815" y="4292"/>
                    </a:lnTo>
                    <a:lnTo>
                      <a:pt x="794" y="4386"/>
                    </a:lnTo>
                    <a:lnTo>
                      <a:pt x="764" y="4473"/>
                    </a:lnTo>
                    <a:lnTo>
                      <a:pt x="728" y="4561"/>
                    </a:lnTo>
                    <a:lnTo>
                      <a:pt x="680" y="4642"/>
                    </a:lnTo>
                    <a:lnTo>
                      <a:pt x="629" y="4720"/>
                    </a:lnTo>
                    <a:lnTo>
                      <a:pt x="571" y="4788"/>
                    </a:lnTo>
                    <a:lnTo>
                      <a:pt x="505" y="4850"/>
                    </a:lnTo>
                    <a:lnTo>
                      <a:pt x="437" y="4906"/>
                    </a:lnTo>
                    <a:lnTo>
                      <a:pt x="364" y="4951"/>
                    </a:lnTo>
                    <a:lnTo>
                      <a:pt x="290" y="4992"/>
                    </a:lnTo>
                    <a:lnTo>
                      <a:pt x="206" y="5019"/>
                    </a:lnTo>
                    <a:lnTo>
                      <a:pt x="123" y="5040"/>
                    </a:lnTo>
                    <a:lnTo>
                      <a:pt x="40" y="5050"/>
                    </a:lnTo>
                    <a:lnTo>
                      <a:pt x="0" y="5054"/>
                    </a:lnTo>
                    <a:lnTo>
                      <a:pt x="66" y="5048"/>
                    </a:lnTo>
                    <a:lnTo>
                      <a:pt x="136" y="5034"/>
                    </a:lnTo>
                    <a:lnTo>
                      <a:pt x="206" y="5006"/>
                    </a:lnTo>
                    <a:lnTo>
                      <a:pt x="270" y="4975"/>
                    </a:lnTo>
                    <a:lnTo>
                      <a:pt x="332" y="4934"/>
                    </a:lnTo>
                    <a:lnTo>
                      <a:pt x="388" y="4882"/>
                    </a:lnTo>
                    <a:lnTo>
                      <a:pt x="435" y="4828"/>
                    </a:lnTo>
                    <a:lnTo>
                      <a:pt x="479" y="4763"/>
                    </a:lnTo>
                    <a:lnTo>
                      <a:pt x="517" y="4695"/>
                    </a:lnTo>
                    <a:lnTo>
                      <a:pt x="546" y="4619"/>
                    </a:lnTo>
                    <a:lnTo>
                      <a:pt x="567" y="4545"/>
                    </a:lnTo>
                    <a:lnTo>
                      <a:pt x="582" y="4467"/>
                    </a:lnTo>
                    <a:lnTo>
                      <a:pt x="585" y="4391"/>
                    </a:lnTo>
                    <a:lnTo>
                      <a:pt x="585" y="3098"/>
                    </a:lnTo>
                    <a:lnTo>
                      <a:pt x="590" y="3024"/>
                    </a:lnTo>
                    <a:lnTo>
                      <a:pt x="604" y="2951"/>
                    </a:lnTo>
                    <a:lnTo>
                      <a:pt x="629" y="2882"/>
                    </a:lnTo>
                    <a:lnTo>
                      <a:pt x="655" y="2815"/>
                    </a:lnTo>
                    <a:lnTo>
                      <a:pt x="693" y="2756"/>
                    </a:lnTo>
                    <a:lnTo>
                      <a:pt x="738" y="2699"/>
                    </a:lnTo>
                    <a:lnTo>
                      <a:pt x="785" y="2648"/>
                    </a:lnTo>
                    <a:lnTo>
                      <a:pt x="839" y="2607"/>
                    </a:lnTo>
                    <a:lnTo>
                      <a:pt x="897" y="2574"/>
                    </a:lnTo>
                    <a:lnTo>
                      <a:pt x="960" y="2549"/>
                    </a:lnTo>
                    <a:lnTo>
                      <a:pt x="1026" y="2537"/>
                    </a:lnTo>
                    <a:lnTo>
                      <a:pt x="1090" y="2527"/>
                    </a:lnTo>
                    <a:lnTo>
                      <a:pt x="1026" y="2515"/>
                    </a:lnTo>
                    <a:lnTo>
                      <a:pt x="960" y="2502"/>
                    </a:lnTo>
                    <a:lnTo>
                      <a:pt x="897" y="2477"/>
                    </a:lnTo>
                    <a:lnTo>
                      <a:pt x="839" y="2442"/>
                    </a:lnTo>
                    <a:lnTo>
                      <a:pt x="785" y="2401"/>
                    </a:lnTo>
                    <a:lnTo>
                      <a:pt x="738" y="2354"/>
                    </a:lnTo>
                    <a:lnTo>
                      <a:pt x="693" y="2296"/>
                    </a:lnTo>
                    <a:lnTo>
                      <a:pt x="655" y="2235"/>
                    </a:lnTo>
                    <a:lnTo>
                      <a:pt x="629" y="2170"/>
                    </a:lnTo>
                    <a:lnTo>
                      <a:pt x="604" y="2100"/>
                    </a:lnTo>
                    <a:lnTo>
                      <a:pt x="590" y="2026"/>
                    </a:lnTo>
                    <a:lnTo>
                      <a:pt x="585" y="1951"/>
                    </a:lnTo>
                    <a:lnTo>
                      <a:pt x="585" y="660"/>
                    </a:lnTo>
                    <a:lnTo>
                      <a:pt x="582" y="585"/>
                    </a:lnTo>
                    <a:lnTo>
                      <a:pt x="567" y="506"/>
                    </a:lnTo>
                    <a:lnTo>
                      <a:pt x="546" y="427"/>
                    </a:lnTo>
                    <a:lnTo>
                      <a:pt x="517" y="354"/>
                    </a:lnTo>
                    <a:lnTo>
                      <a:pt x="479" y="289"/>
                    </a:lnTo>
                    <a:lnTo>
                      <a:pt x="435" y="226"/>
                    </a:lnTo>
                    <a:lnTo>
                      <a:pt x="388" y="169"/>
                    </a:lnTo>
                    <a:lnTo>
                      <a:pt x="332" y="118"/>
                    </a:lnTo>
                    <a:lnTo>
                      <a:pt x="270" y="76"/>
                    </a:lnTo>
                    <a:lnTo>
                      <a:pt x="206" y="44"/>
                    </a:lnTo>
                    <a:lnTo>
                      <a:pt x="136" y="19"/>
                    </a:lnTo>
                    <a:lnTo>
                      <a:pt x="66" y="3"/>
                    </a:lnTo>
                    <a:lnTo>
                      <a:pt x="0" y="0"/>
                    </a:lnTo>
                    <a:lnTo>
                      <a:pt x="40" y="3"/>
                    </a:lnTo>
                    <a:lnTo>
                      <a:pt x="123" y="9"/>
                    </a:lnTo>
                    <a:lnTo>
                      <a:pt x="206" y="29"/>
                    </a:lnTo>
                    <a:lnTo>
                      <a:pt x="290" y="61"/>
                    </a:lnTo>
                    <a:lnTo>
                      <a:pt x="364" y="100"/>
                    </a:lnTo>
                    <a:lnTo>
                      <a:pt x="437" y="147"/>
                    </a:lnTo>
                    <a:lnTo>
                      <a:pt x="505" y="203"/>
                    </a:lnTo>
                    <a:lnTo>
                      <a:pt x="571" y="264"/>
                    </a:lnTo>
                    <a:lnTo>
                      <a:pt x="629" y="333"/>
                    </a:lnTo>
                    <a:lnTo>
                      <a:pt x="680" y="408"/>
                    </a:lnTo>
                    <a:lnTo>
                      <a:pt x="728" y="488"/>
                    </a:lnTo>
                    <a:lnTo>
                      <a:pt x="764" y="576"/>
                    </a:lnTo>
                    <a:lnTo>
                      <a:pt x="794" y="664"/>
                    </a:lnTo>
                    <a:lnTo>
                      <a:pt x="815" y="757"/>
                    </a:lnTo>
                    <a:lnTo>
                      <a:pt x="829" y="850"/>
                    </a:lnTo>
                    <a:lnTo>
                      <a:pt x="838" y="948"/>
                    </a:lnTo>
                    <a:lnTo>
                      <a:pt x="838" y="2047"/>
                    </a:lnTo>
                    <a:lnTo>
                      <a:pt x="842" y="2116"/>
                    </a:lnTo>
                    <a:lnTo>
                      <a:pt x="856" y="2184"/>
                    </a:lnTo>
                    <a:lnTo>
                      <a:pt x="874" y="2242"/>
                    </a:lnTo>
                    <a:lnTo>
                      <a:pt x="903" y="2302"/>
                    </a:lnTo>
                    <a:lnTo>
                      <a:pt x="937" y="2355"/>
                    </a:lnTo>
                    <a:lnTo>
                      <a:pt x="981" y="2405"/>
                    </a:lnTo>
                    <a:lnTo>
                      <a:pt x="1030" y="2442"/>
                    </a:lnTo>
                    <a:lnTo>
                      <a:pt x="1083" y="2477"/>
                    </a:lnTo>
                    <a:lnTo>
                      <a:pt x="1140" y="2502"/>
                    </a:lnTo>
                    <a:lnTo>
                      <a:pt x="1200" y="2515"/>
                    </a:lnTo>
                    <a:lnTo>
                      <a:pt x="1260" y="2523"/>
                    </a:lnTo>
                    <a:lnTo>
                      <a:pt x="1206" y="2530"/>
                    </a:lnTo>
                    <a:lnTo>
                      <a:pt x="1147" y="2543"/>
                    </a:lnTo>
                    <a:lnTo>
                      <a:pt x="1090" y="2569"/>
                    </a:lnTo>
                    <a:lnTo>
                      <a:pt x="1037" y="2598"/>
                    </a:lnTo>
                    <a:lnTo>
                      <a:pt x="987" y="2640"/>
                    </a:lnTo>
                    <a:lnTo>
                      <a:pt x="943" y="2687"/>
                    </a:lnTo>
                    <a:lnTo>
                      <a:pt x="908" y="2739"/>
                    </a:lnTo>
                    <a:lnTo>
                      <a:pt x="877" y="2798"/>
                    </a:lnTo>
                    <a:lnTo>
                      <a:pt x="858" y="2859"/>
                    </a:lnTo>
                    <a:lnTo>
                      <a:pt x="842" y="2923"/>
                    </a:lnTo>
                    <a:lnTo>
                      <a:pt x="838" y="2991"/>
                    </a:lnTo>
                    <a:lnTo>
                      <a:pt x="838" y="4104"/>
                    </a:lnTo>
                    <a:close/>
                  </a:path>
                </a:pathLst>
              </a:custGeom>
              <a:solidFill>
                <a:srgbClr val="5F5F5F"/>
              </a:solidFill>
              <a:ln w="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r" latinLnBrk="0">
                  <a:defRPr/>
                </a:pPr>
                <a:endParaRPr lang="ko-KR" altLang="en-US" kern="0" spc="-10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338D4954-A6B6-AFF6-8BBE-32A642B158A7}"/>
              </a:ext>
            </a:extLst>
          </p:cNvPr>
          <p:cNvGrpSpPr/>
          <p:nvPr/>
        </p:nvGrpSpPr>
        <p:grpSpPr>
          <a:xfrm>
            <a:off x="3432567" y="2034268"/>
            <a:ext cx="3024000" cy="4095070"/>
            <a:chOff x="3355949" y="2034397"/>
            <a:chExt cx="3024000" cy="3670414"/>
          </a:xfrm>
        </p:grpSpPr>
        <p:sp>
          <p:nvSpPr>
            <p:cNvPr id="69" name="Rectangle 6">
              <a:extLst>
                <a:ext uri="{FF2B5EF4-FFF2-40B4-BE49-F238E27FC236}">
                  <a16:creationId xmlns:a16="http://schemas.microsoft.com/office/drawing/2014/main" id="{D003C065-830C-3629-50B7-98C8EEA71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5949" y="2037380"/>
              <a:ext cx="3024000" cy="286232"/>
            </a:xfrm>
            <a:prstGeom prst="rect">
              <a:avLst/>
            </a:prstGeom>
            <a:solidFill>
              <a:srgbClr val="595959"/>
            </a:solidFill>
            <a:ln w="9525" algn="ctr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 latinLnBrk="0">
                <a:lnSpc>
                  <a:spcPct val="90000"/>
                </a:lnSpc>
              </a:pPr>
              <a:r>
                <a:rPr lang="en-US" altLang="ko-KR" sz="1400" b="1" kern="0" spc="-100" dirty="0">
                  <a:solidFill>
                    <a:srgbClr val="FFFFFF"/>
                  </a:solidFill>
                  <a:latin typeface="+mn-ea"/>
                </a:rPr>
                <a:t>Option 2. Standard Band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70E69DF9-2B9C-C6A2-8A2C-0DD11E8F420B}"/>
                </a:ext>
              </a:extLst>
            </p:cNvPr>
            <p:cNvSpPr/>
            <p:nvPr/>
          </p:nvSpPr>
          <p:spPr>
            <a:xfrm>
              <a:off x="3355949" y="2034397"/>
              <a:ext cx="3024000" cy="3670414"/>
            </a:xfrm>
            <a:prstGeom prst="rect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6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sp>
        <p:nvSpPr>
          <p:cNvPr id="71" name="Text Box 12">
            <a:extLst>
              <a:ext uri="{FF2B5EF4-FFF2-40B4-BE49-F238E27FC236}">
                <a16:creationId xmlns:a16="http://schemas.microsoft.com/office/drawing/2014/main" id="{F047C282-331F-195F-01A2-2C7A470D1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009" y="5078483"/>
            <a:ext cx="2779127" cy="912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lang="en-US" altLang="ko-KR" dirty="0"/>
              <a:t>Range Spread </a:t>
            </a:r>
            <a:r>
              <a:rPr lang="ko-KR" altLang="en-US" dirty="0"/>
              <a:t>비율을 </a:t>
            </a:r>
            <a:r>
              <a:rPr lang="en-US" altLang="ko-KR" dirty="0"/>
              <a:t>50~60%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ko-KR" altLang="en-US" dirty="0"/>
              <a:t>성과주의 성숙기에 주로 적용</a:t>
            </a:r>
            <a:endParaRPr lang="en-US" altLang="ko-KR" dirty="0"/>
          </a:p>
          <a:p>
            <a:r>
              <a:rPr lang="ko-KR" altLang="en-US" dirty="0"/>
              <a:t>외국계 기업</a:t>
            </a:r>
            <a:r>
              <a:rPr lang="en-US" altLang="ko-KR" dirty="0"/>
              <a:t> </a:t>
            </a:r>
            <a:r>
              <a:rPr lang="ko-KR" altLang="en-US" dirty="0"/>
              <a:t>다수 및 컨설팅회사 등</a:t>
            </a:r>
            <a:r>
              <a:rPr lang="en-US" altLang="ko-KR" dirty="0"/>
              <a:t> </a:t>
            </a:r>
            <a:r>
              <a:rPr lang="ko-KR" altLang="en-US" dirty="0"/>
              <a:t>전문가 조직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4EF7B1B-68EB-5BC0-D9A4-C512EBC185D6}"/>
              </a:ext>
            </a:extLst>
          </p:cNvPr>
          <p:cNvGrpSpPr/>
          <p:nvPr/>
        </p:nvGrpSpPr>
        <p:grpSpPr>
          <a:xfrm>
            <a:off x="6814227" y="2537083"/>
            <a:ext cx="2578691" cy="2350637"/>
            <a:chOff x="6813041" y="2523026"/>
            <a:chExt cx="2414588" cy="2263238"/>
          </a:xfrm>
        </p:grpSpPr>
        <p:sp>
          <p:nvSpPr>
            <p:cNvPr id="73" name="Line 15">
              <a:extLst>
                <a:ext uri="{FF2B5EF4-FFF2-40B4-BE49-F238E27FC236}">
                  <a16:creationId xmlns:a16="http://schemas.microsoft.com/office/drawing/2014/main" id="{25A29E60-9942-A4C6-CFE5-49C43C501E3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814629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4" name="Line 16">
              <a:extLst>
                <a:ext uri="{FF2B5EF4-FFF2-40B4-BE49-F238E27FC236}">
                  <a16:creationId xmlns:a16="http://schemas.microsoft.com/office/drawing/2014/main" id="{0D22E531-EF30-C076-5223-48406F148DF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6813041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6FA5C9F-BE78-9E86-FB7B-F277F87841ED}"/>
              </a:ext>
            </a:extLst>
          </p:cNvPr>
          <p:cNvGrpSpPr/>
          <p:nvPr/>
        </p:nvGrpSpPr>
        <p:grpSpPr>
          <a:xfrm>
            <a:off x="6982526" y="2605840"/>
            <a:ext cx="2359730" cy="2101497"/>
            <a:chOff x="7129774" y="2587581"/>
            <a:chExt cx="2292831" cy="1973065"/>
          </a:xfrm>
        </p:grpSpPr>
        <p:grpSp>
          <p:nvGrpSpPr>
            <p:cNvPr id="76" name="Group 4">
              <a:extLst>
                <a:ext uri="{FF2B5EF4-FFF2-40B4-BE49-F238E27FC236}">
                  <a16:creationId xmlns:a16="http://schemas.microsoft.com/office/drawing/2014/main" id="{D4212044-1A9B-ED0D-2B0D-D9F3C552F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36982" y="3184328"/>
              <a:ext cx="365524" cy="785214"/>
              <a:chOff x="3642" y="3128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583D154D-0367-F372-84DF-4857C9BDB03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8"/>
                <a:ext cx="440" cy="468"/>
              </a:xfrm>
              <a:prstGeom prst="rect">
                <a:avLst/>
              </a:prstGeom>
              <a:solidFill>
                <a:srgbClr val="EDF2F9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98" name="AutoShape 6">
                <a:extLst>
                  <a:ext uri="{FF2B5EF4-FFF2-40B4-BE49-F238E27FC236}">
                    <a16:creationId xmlns:a16="http://schemas.microsoft.com/office/drawing/2014/main" id="{238550D6-A7FC-5C68-91F1-1F7912BD6613}"/>
                  </a:ext>
                </a:extLst>
              </p:cNvPr>
              <p:cNvCxnSpPr>
                <a:cxnSpLocks noChangeShapeType="1"/>
                <a:stCxn id="97" idx="1"/>
                <a:endCxn id="97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77" name="Group 7">
              <a:extLst>
                <a:ext uri="{FF2B5EF4-FFF2-40B4-BE49-F238E27FC236}">
                  <a16:creationId xmlns:a16="http://schemas.microsoft.com/office/drawing/2014/main" id="{FB01DCCF-0CA6-31C7-4B30-881DA00487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33773" y="2587581"/>
              <a:ext cx="365524" cy="785214"/>
              <a:chOff x="3642" y="3122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95" name="Rectangle 8">
                <a:extLst>
                  <a:ext uri="{FF2B5EF4-FFF2-40B4-BE49-F238E27FC236}">
                    <a16:creationId xmlns:a16="http://schemas.microsoft.com/office/drawing/2014/main" id="{0CA2E713-8E38-EC9F-9359-E9D57F358A1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2"/>
                <a:ext cx="440" cy="468"/>
              </a:xfrm>
              <a:prstGeom prst="rect">
                <a:avLst/>
              </a:prstGeom>
              <a:solidFill>
                <a:srgbClr val="EDF2F9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96" name="AutoShape 9">
                <a:extLst>
                  <a:ext uri="{FF2B5EF4-FFF2-40B4-BE49-F238E27FC236}">
                    <a16:creationId xmlns:a16="http://schemas.microsoft.com/office/drawing/2014/main" id="{A3C12DC7-A26C-1758-A322-A34F09DCE420}"/>
                  </a:ext>
                </a:extLst>
              </p:cNvPr>
              <p:cNvCxnSpPr>
                <a:cxnSpLocks noChangeShapeType="1"/>
                <a:stCxn id="95" idx="1"/>
                <a:endCxn id="95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78" name="Group 10">
              <a:extLst>
                <a:ext uri="{FF2B5EF4-FFF2-40B4-BE49-F238E27FC236}">
                  <a16:creationId xmlns:a16="http://schemas.microsoft.com/office/drawing/2014/main" id="{20BAB9F1-32E3-06E5-D2F7-83F4EA2B0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40198" y="3775432"/>
              <a:ext cx="365524" cy="785214"/>
              <a:chOff x="3642" y="3122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93" name="Rectangle 11">
                <a:extLst>
                  <a:ext uri="{FF2B5EF4-FFF2-40B4-BE49-F238E27FC236}">
                    <a16:creationId xmlns:a16="http://schemas.microsoft.com/office/drawing/2014/main" id="{0AF1980C-D605-3645-53FD-B02C5F07071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2"/>
                <a:ext cx="440" cy="468"/>
              </a:xfrm>
              <a:prstGeom prst="rect">
                <a:avLst/>
              </a:prstGeom>
              <a:solidFill>
                <a:srgbClr val="EDF2F9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94" name="AutoShape 12">
                <a:extLst>
                  <a:ext uri="{FF2B5EF4-FFF2-40B4-BE49-F238E27FC236}">
                    <a16:creationId xmlns:a16="http://schemas.microsoft.com/office/drawing/2014/main" id="{A73503AE-8FD5-6C02-87AF-DABDBE2378FC}"/>
                  </a:ext>
                </a:extLst>
              </p:cNvPr>
              <p:cNvCxnSpPr>
                <a:cxnSpLocks noChangeShapeType="1"/>
                <a:stCxn id="93" idx="1"/>
                <a:endCxn id="93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79" name="Line 64">
              <a:extLst>
                <a:ext uri="{FF2B5EF4-FFF2-40B4-BE49-F238E27FC236}">
                  <a16:creationId xmlns:a16="http://schemas.microsoft.com/office/drawing/2014/main" id="{1198DF1D-AC75-B0D6-5F57-8394961D76B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7154354" y="2758489"/>
              <a:ext cx="1516062" cy="1770516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BC3684-0F3E-8AD0-C5EA-10CEB9703C2F}"/>
                </a:ext>
              </a:extLst>
            </p:cNvPr>
            <p:cNvGrpSpPr/>
            <p:nvPr/>
          </p:nvGrpSpPr>
          <p:grpSpPr>
            <a:xfrm>
              <a:off x="7129774" y="3774694"/>
              <a:ext cx="972000" cy="190712"/>
              <a:chOff x="1228630" y="3891089"/>
              <a:chExt cx="969963" cy="97892"/>
            </a:xfrm>
          </p:grpSpPr>
          <p:sp>
            <p:nvSpPr>
              <p:cNvPr id="90" name="Line 70">
                <a:extLst>
                  <a:ext uri="{FF2B5EF4-FFF2-40B4-BE49-F238E27FC236}">
                    <a16:creationId xmlns:a16="http://schemas.microsoft.com/office/drawing/2014/main" id="{22EEBFF2-86B2-3634-C56D-D173532A17E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1" name="Line 71">
                <a:extLst>
                  <a:ext uri="{FF2B5EF4-FFF2-40B4-BE49-F238E27FC236}">
                    <a16:creationId xmlns:a16="http://schemas.microsoft.com/office/drawing/2014/main" id="{51567042-53C1-26BE-FE10-69DF4CB128F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91089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2" name="Rectangle 34" descr="어두운 상향 대각선">
                <a:extLst>
                  <a:ext uri="{FF2B5EF4-FFF2-40B4-BE49-F238E27FC236}">
                    <a16:creationId xmlns:a16="http://schemas.microsoft.com/office/drawing/2014/main" id="{F1774364-3221-3FB8-6A2B-5527566D1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5011"/>
                <a:ext cx="847089" cy="88706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27EEF9C0-0135-F0CD-EA26-61375E8089C0}"/>
                </a:ext>
              </a:extLst>
            </p:cNvPr>
            <p:cNvGrpSpPr/>
            <p:nvPr/>
          </p:nvGrpSpPr>
          <p:grpSpPr>
            <a:xfrm>
              <a:off x="7623155" y="3183535"/>
              <a:ext cx="972000" cy="190712"/>
              <a:chOff x="1228630" y="3891089"/>
              <a:chExt cx="969963" cy="97892"/>
            </a:xfrm>
          </p:grpSpPr>
          <p:sp>
            <p:nvSpPr>
              <p:cNvPr id="87" name="Line 70">
                <a:extLst>
                  <a:ext uri="{FF2B5EF4-FFF2-40B4-BE49-F238E27FC236}">
                    <a16:creationId xmlns:a16="http://schemas.microsoft.com/office/drawing/2014/main" id="{0C39B29D-875F-3A91-1DEC-2126756AA4D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8" name="Line 71">
                <a:extLst>
                  <a:ext uri="{FF2B5EF4-FFF2-40B4-BE49-F238E27FC236}">
                    <a16:creationId xmlns:a16="http://schemas.microsoft.com/office/drawing/2014/main" id="{8945A1DC-36D0-00B2-64A2-85454D9A802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91089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9" name="Rectangle 34" descr="어두운 상향 대각선">
                <a:extLst>
                  <a:ext uri="{FF2B5EF4-FFF2-40B4-BE49-F238E27FC236}">
                    <a16:creationId xmlns:a16="http://schemas.microsoft.com/office/drawing/2014/main" id="{EAD04DB8-B21D-6DD0-6CC3-974E0C001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7456"/>
                <a:ext cx="847089" cy="88706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  <p:sp>
          <p:nvSpPr>
            <p:cNvPr id="82" name="Text Box 63">
              <a:extLst>
                <a:ext uri="{FF2B5EF4-FFF2-40B4-BE49-F238E27FC236}">
                  <a16:creationId xmlns:a16="http://schemas.microsoft.com/office/drawing/2014/main" id="{C1724799-4F16-6324-E156-8F10FD8F402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8726902" y="2618490"/>
              <a:ext cx="695703" cy="3877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939800" fontAlgn="b">
                <a:spcBef>
                  <a:spcPct val="40000"/>
                </a:spcBef>
              </a:pPr>
              <a:r>
                <a:rPr kumimoji="1" lang="en-US" altLang="ko-KR" sz="1050" spc="-1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나눔고딕 ExtraBold"/>
                </a:rPr>
                <a:t>Range spread</a:t>
              </a:r>
            </a:p>
            <a:p>
              <a:pPr defTabSz="939800" fontAlgn="b">
                <a:spcBef>
                  <a:spcPct val="40000"/>
                </a:spcBef>
              </a:pPr>
              <a:r>
                <a:rPr kumimoji="1" lang="en-US" altLang="ko-KR" sz="1050" spc="-1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나눔고딕 ExtraBold"/>
                </a:rPr>
                <a:t>50~60%</a:t>
              </a:r>
            </a:p>
          </p:txBody>
        </p:sp>
        <p:sp>
          <p:nvSpPr>
            <p:cNvPr id="83" name="Freeform 75">
              <a:extLst>
                <a:ext uri="{FF2B5EF4-FFF2-40B4-BE49-F238E27FC236}">
                  <a16:creationId xmlns:a16="http://schemas.microsoft.com/office/drawing/2014/main" id="{6F1F3E83-53E2-0102-1E66-D2B5D703906B}"/>
                </a:ext>
              </a:extLst>
            </p:cNvPr>
            <p:cNvSpPr>
              <a:spLocks/>
            </p:cNvSpPr>
            <p:nvPr/>
          </p:nvSpPr>
          <p:spPr bwMode="gray">
            <a:xfrm>
              <a:off x="7632078" y="3778525"/>
              <a:ext cx="76367" cy="756000"/>
            </a:xfrm>
            <a:custGeom>
              <a:avLst/>
              <a:gdLst>
                <a:gd name="T0" fmla="*/ 2147483647 w 1260"/>
                <a:gd name="T1" fmla="*/ 2147483647 h 5054"/>
                <a:gd name="T2" fmla="*/ 2147483647 w 1260"/>
                <a:gd name="T3" fmla="*/ 2147483647 h 5054"/>
                <a:gd name="T4" fmla="*/ 2147483647 w 1260"/>
                <a:gd name="T5" fmla="*/ 2147483647 h 5054"/>
                <a:gd name="T6" fmla="*/ 2147483647 w 1260"/>
                <a:gd name="T7" fmla="*/ 2147483647 h 5054"/>
                <a:gd name="T8" fmla="*/ 2147483647 w 1260"/>
                <a:gd name="T9" fmla="*/ 2147483647 h 5054"/>
                <a:gd name="T10" fmla="*/ 2147483647 w 1260"/>
                <a:gd name="T11" fmla="*/ 2147483647 h 5054"/>
                <a:gd name="T12" fmla="*/ 2147483647 w 1260"/>
                <a:gd name="T13" fmla="*/ 2147483647 h 5054"/>
                <a:gd name="T14" fmla="*/ 2147483647 w 1260"/>
                <a:gd name="T15" fmla="*/ 2147483647 h 5054"/>
                <a:gd name="T16" fmla="*/ 2147483647 w 1260"/>
                <a:gd name="T17" fmla="*/ 2147483647 h 5054"/>
                <a:gd name="T18" fmla="*/ 2147483647 w 1260"/>
                <a:gd name="T19" fmla="*/ 2147483647 h 5054"/>
                <a:gd name="T20" fmla="*/ 2147483647 w 1260"/>
                <a:gd name="T21" fmla="*/ 2147483647 h 5054"/>
                <a:gd name="T22" fmla="*/ 2147483647 w 1260"/>
                <a:gd name="T23" fmla="*/ 2147483647 h 5054"/>
                <a:gd name="T24" fmla="*/ 2147483647 w 1260"/>
                <a:gd name="T25" fmla="*/ 2147483647 h 5054"/>
                <a:gd name="T26" fmla="*/ 2147483647 w 1260"/>
                <a:gd name="T27" fmla="*/ 2147483647 h 5054"/>
                <a:gd name="T28" fmla="*/ 2147483647 w 1260"/>
                <a:gd name="T29" fmla="*/ 2147483647 h 5054"/>
                <a:gd name="T30" fmla="*/ 2147483647 w 1260"/>
                <a:gd name="T31" fmla="*/ 2147483647 h 5054"/>
                <a:gd name="T32" fmla="*/ 2147483647 w 1260"/>
                <a:gd name="T33" fmla="*/ 2147483647 h 5054"/>
                <a:gd name="T34" fmla="*/ 2147483647 w 1260"/>
                <a:gd name="T35" fmla="*/ 2147483647 h 5054"/>
                <a:gd name="T36" fmla="*/ 2147483647 w 1260"/>
                <a:gd name="T37" fmla="*/ 2147483647 h 5054"/>
                <a:gd name="T38" fmla="*/ 2147483647 w 1260"/>
                <a:gd name="T39" fmla="*/ 2147483647 h 5054"/>
                <a:gd name="T40" fmla="*/ 2147483647 w 1260"/>
                <a:gd name="T41" fmla="*/ 2147483647 h 5054"/>
                <a:gd name="T42" fmla="*/ 2147483647 w 1260"/>
                <a:gd name="T43" fmla="*/ 2147483647 h 5054"/>
                <a:gd name="T44" fmla="*/ 2147483647 w 1260"/>
                <a:gd name="T45" fmla="*/ 2147483647 h 5054"/>
                <a:gd name="T46" fmla="*/ 2147483647 w 1260"/>
                <a:gd name="T47" fmla="*/ 2147483647 h 5054"/>
                <a:gd name="T48" fmla="*/ 2147483647 w 1260"/>
                <a:gd name="T49" fmla="*/ 2147483647 h 5054"/>
                <a:gd name="T50" fmla="*/ 2147483647 w 1260"/>
                <a:gd name="T51" fmla="*/ 2147483647 h 5054"/>
                <a:gd name="T52" fmla="*/ 2147483647 w 1260"/>
                <a:gd name="T53" fmla="*/ 2147483647 h 5054"/>
                <a:gd name="T54" fmla="*/ 2147483647 w 1260"/>
                <a:gd name="T55" fmla="*/ 2147483647 h 5054"/>
                <a:gd name="T56" fmla="*/ 2147483647 w 1260"/>
                <a:gd name="T57" fmla="*/ 2147483647 h 5054"/>
                <a:gd name="T58" fmla="*/ 2147483647 w 1260"/>
                <a:gd name="T59" fmla="*/ 2147483647 h 5054"/>
                <a:gd name="T60" fmla="*/ 2147483647 w 1260"/>
                <a:gd name="T61" fmla="*/ 2147483647 h 5054"/>
                <a:gd name="T62" fmla="*/ 2147483647 w 1260"/>
                <a:gd name="T63" fmla="*/ 2147483647 h 5054"/>
                <a:gd name="T64" fmla="*/ 2147483647 w 1260"/>
                <a:gd name="T65" fmla="*/ 2147483647 h 5054"/>
                <a:gd name="T66" fmla="*/ 2147483647 w 1260"/>
                <a:gd name="T67" fmla="*/ 2147483647 h 5054"/>
                <a:gd name="T68" fmla="*/ 2147483647 w 1260"/>
                <a:gd name="T69" fmla="*/ 2147483647 h 5054"/>
                <a:gd name="T70" fmla="*/ 2147483647 w 1260"/>
                <a:gd name="T71" fmla="*/ 2147483647 h 5054"/>
                <a:gd name="T72" fmla="*/ 2147483647 w 1260"/>
                <a:gd name="T73" fmla="*/ 2147483647 h 5054"/>
                <a:gd name="T74" fmla="*/ 2147483647 w 1260"/>
                <a:gd name="T75" fmla="*/ 2147483647 h 5054"/>
                <a:gd name="T76" fmla="*/ 2147483647 w 1260"/>
                <a:gd name="T77" fmla="*/ 2147483647 h 5054"/>
                <a:gd name="T78" fmla="*/ 2147483647 w 1260"/>
                <a:gd name="T79" fmla="*/ 2147483647 h 5054"/>
                <a:gd name="T80" fmla="*/ 2147483647 w 1260"/>
                <a:gd name="T81" fmla="*/ 2147483647 h 5054"/>
                <a:gd name="T82" fmla="*/ 2147483647 w 1260"/>
                <a:gd name="T83" fmla="*/ 2147483647 h 5054"/>
                <a:gd name="T84" fmla="*/ 2147483647 w 1260"/>
                <a:gd name="T85" fmla="*/ 2147483647 h 5054"/>
                <a:gd name="T86" fmla="*/ 2147483647 w 1260"/>
                <a:gd name="T87" fmla="*/ 2147483647 h 5054"/>
                <a:gd name="T88" fmla="*/ 2147483647 w 1260"/>
                <a:gd name="T89" fmla="*/ 2147483647 h 5054"/>
                <a:gd name="T90" fmla="*/ 2147483647 w 1260"/>
                <a:gd name="T91" fmla="*/ 2147483647 h 5054"/>
                <a:gd name="T92" fmla="*/ 2147483647 w 1260"/>
                <a:gd name="T93" fmla="*/ 2147483647 h 5054"/>
                <a:gd name="T94" fmla="*/ 2147483647 w 1260"/>
                <a:gd name="T95" fmla="*/ 2147483647 h 5054"/>
                <a:gd name="T96" fmla="*/ 2147483647 w 1260"/>
                <a:gd name="T97" fmla="*/ 2147483647 h 5054"/>
                <a:gd name="T98" fmla="*/ 2147483647 w 1260"/>
                <a:gd name="T99" fmla="*/ 2147483647 h 5054"/>
                <a:gd name="T100" fmla="*/ 2147483647 w 1260"/>
                <a:gd name="T101" fmla="*/ 2147483647 h 5054"/>
                <a:gd name="T102" fmla="*/ 2147483647 w 1260"/>
                <a:gd name="T103" fmla="*/ 2147483647 h 5054"/>
                <a:gd name="T104" fmla="*/ 2147483647 w 1260"/>
                <a:gd name="T105" fmla="*/ 2147483647 h 5054"/>
                <a:gd name="T106" fmla="*/ 2147483647 w 1260"/>
                <a:gd name="T107" fmla="*/ 2147483647 h 50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260"/>
                <a:gd name="T163" fmla="*/ 0 h 5054"/>
                <a:gd name="T164" fmla="*/ 1260 w 1260"/>
                <a:gd name="T165" fmla="*/ 5054 h 505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260" h="5054">
                  <a:moveTo>
                    <a:pt x="838" y="4104"/>
                  </a:moveTo>
                  <a:lnTo>
                    <a:pt x="829" y="4197"/>
                  </a:lnTo>
                  <a:lnTo>
                    <a:pt x="815" y="4292"/>
                  </a:lnTo>
                  <a:lnTo>
                    <a:pt x="794" y="4386"/>
                  </a:lnTo>
                  <a:lnTo>
                    <a:pt x="764" y="4473"/>
                  </a:lnTo>
                  <a:lnTo>
                    <a:pt x="728" y="4561"/>
                  </a:lnTo>
                  <a:lnTo>
                    <a:pt x="680" y="4642"/>
                  </a:lnTo>
                  <a:lnTo>
                    <a:pt x="629" y="4720"/>
                  </a:lnTo>
                  <a:lnTo>
                    <a:pt x="571" y="4788"/>
                  </a:lnTo>
                  <a:lnTo>
                    <a:pt x="505" y="4850"/>
                  </a:lnTo>
                  <a:lnTo>
                    <a:pt x="437" y="4906"/>
                  </a:lnTo>
                  <a:lnTo>
                    <a:pt x="364" y="4951"/>
                  </a:lnTo>
                  <a:lnTo>
                    <a:pt x="290" y="4992"/>
                  </a:lnTo>
                  <a:lnTo>
                    <a:pt x="206" y="5019"/>
                  </a:lnTo>
                  <a:lnTo>
                    <a:pt x="123" y="5040"/>
                  </a:lnTo>
                  <a:lnTo>
                    <a:pt x="40" y="5050"/>
                  </a:lnTo>
                  <a:lnTo>
                    <a:pt x="0" y="5054"/>
                  </a:lnTo>
                  <a:lnTo>
                    <a:pt x="66" y="5048"/>
                  </a:lnTo>
                  <a:lnTo>
                    <a:pt x="136" y="5034"/>
                  </a:lnTo>
                  <a:lnTo>
                    <a:pt x="206" y="5006"/>
                  </a:lnTo>
                  <a:lnTo>
                    <a:pt x="270" y="4975"/>
                  </a:lnTo>
                  <a:lnTo>
                    <a:pt x="332" y="4934"/>
                  </a:lnTo>
                  <a:lnTo>
                    <a:pt x="388" y="4882"/>
                  </a:lnTo>
                  <a:lnTo>
                    <a:pt x="435" y="4828"/>
                  </a:lnTo>
                  <a:lnTo>
                    <a:pt x="479" y="4763"/>
                  </a:lnTo>
                  <a:lnTo>
                    <a:pt x="517" y="4695"/>
                  </a:lnTo>
                  <a:lnTo>
                    <a:pt x="546" y="4619"/>
                  </a:lnTo>
                  <a:lnTo>
                    <a:pt x="567" y="4545"/>
                  </a:lnTo>
                  <a:lnTo>
                    <a:pt x="582" y="4467"/>
                  </a:lnTo>
                  <a:lnTo>
                    <a:pt x="585" y="4391"/>
                  </a:lnTo>
                  <a:lnTo>
                    <a:pt x="585" y="3098"/>
                  </a:lnTo>
                  <a:lnTo>
                    <a:pt x="590" y="3024"/>
                  </a:lnTo>
                  <a:lnTo>
                    <a:pt x="604" y="2951"/>
                  </a:lnTo>
                  <a:lnTo>
                    <a:pt x="629" y="2882"/>
                  </a:lnTo>
                  <a:lnTo>
                    <a:pt x="655" y="2815"/>
                  </a:lnTo>
                  <a:lnTo>
                    <a:pt x="693" y="2756"/>
                  </a:lnTo>
                  <a:lnTo>
                    <a:pt x="738" y="2699"/>
                  </a:lnTo>
                  <a:lnTo>
                    <a:pt x="785" y="2648"/>
                  </a:lnTo>
                  <a:lnTo>
                    <a:pt x="839" y="2607"/>
                  </a:lnTo>
                  <a:lnTo>
                    <a:pt x="897" y="2574"/>
                  </a:lnTo>
                  <a:lnTo>
                    <a:pt x="960" y="2549"/>
                  </a:lnTo>
                  <a:lnTo>
                    <a:pt x="1026" y="2537"/>
                  </a:lnTo>
                  <a:lnTo>
                    <a:pt x="1090" y="2527"/>
                  </a:lnTo>
                  <a:lnTo>
                    <a:pt x="1026" y="2515"/>
                  </a:lnTo>
                  <a:lnTo>
                    <a:pt x="960" y="2502"/>
                  </a:lnTo>
                  <a:lnTo>
                    <a:pt x="897" y="2477"/>
                  </a:lnTo>
                  <a:lnTo>
                    <a:pt x="839" y="2442"/>
                  </a:lnTo>
                  <a:lnTo>
                    <a:pt x="785" y="2401"/>
                  </a:lnTo>
                  <a:lnTo>
                    <a:pt x="738" y="2354"/>
                  </a:lnTo>
                  <a:lnTo>
                    <a:pt x="693" y="2296"/>
                  </a:lnTo>
                  <a:lnTo>
                    <a:pt x="655" y="2235"/>
                  </a:lnTo>
                  <a:lnTo>
                    <a:pt x="629" y="2170"/>
                  </a:lnTo>
                  <a:lnTo>
                    <a:pt x="604" y="2100"/>
                  </a:lnTo>
                  <a:lnTo>
                    <a:pt x="590" y="2026"/>
                  </a:lnTo>
                  <a:lnTo>
                    <a:pt x="585" y="1951"/>
                  </a:lnTo>
                  <a:lnTo>
                    <a:pt x="585" y="660"/>
                  </a:lnTo>
                  <a:lnTo>
                    <a:pt x="582" y="585"/>
                  </a:lnTo>
                  <a:lnTo>
                    <a:pt x="567" y="506"/>
                  </a:lnTo>
                  <a:lnTo>
                    <a:pt x="546" y="427"/>
                  </a:lnTo>
                  <a:lnTo>
                    <a:pt x="517" y="354"/>
                  </a:lnTo>
                  <a:lnTo>
                    <a:pt x="479" y="289"/>
                  </a:lnTo>
                  <a:lnTo>
                    <a:pt x="435" y="226"/>
                  </a:lnTo>
                  <a:lnTo>
                    <a:pt x="388" y="169"/>
                  </a:lnTo>
                  <a:lnTo>
                    <a:pt x="332" y="118"/>
                  </a:lnTo>
                  <a:lnTo>
                    <a:pt x="270" y="76"/>
                  </a:lnTo>
                  <a:lnTo>
                    <a:pt x="206" y="44"/>
                  </a:lnTo>
                  <a:lnTo>
                    <a:pt x="136" y="19"/>
                  </a:lnTo>
                  <a:lnTo>
                    <a:pt x="66" y="3"/>
                  </a:lnTo>
                  <a:lnTo>
                    <a:pt x="0" y="0"/>
                  </a:lnTo>
                  <a:lnTo>
                    <a:pt x="40" y="3"/>
                  </a:lnTo>
                  <a:lnTo>
                    <a:pt x="123" y="9"/>
                  </a:lnTo>
                  <a:lnTo>
                    <a:pt x="206" y="29"/>
                  </a:lnTo>
                  <a:lnTo>
                    <a:pt x="290" y="61"/>
                  </a:lnTo>
                  <a:lnTo>
                    <a:pt x="364" y="100"/>
                  </a:lnTo>
                  <a:lnTo>
                    <a:pt x="437" y="147"/>
                  </a:lnTo>
                  <a:lnTo>
                    <a:pt x="505" y="203"/>
                  </a:lnTo>
                  <a:lnTo>
                    <a:pt x="571" y="264"/>
                  </a:lnTo>
                  <a:lnTo>
                    <a:pt x="629" y="333"/>
                  </a:lnTo>
                  <a:lnTo>
                    <a:pt x="680" y="408"/>
                  </a:lnTo>
                  <a:lnTo>
                    <a:pt x="728" y="488"/>
                  </a:lnTo>
                  <a:lnTo>
                    <a:pt x="764" y="576"/>
                  </a:lnTo>
                  <a:lnTo>
                    <a:pt x="794" y="664"/>
                  </a:lnTo>
                  <a:lnTo>
                    <a:pt x="815" y="757"/>
                  </a:lnTo>
                  <a:lnTo>
                    <a:pt x="829" y="850"/>
                  </a:lnTo>
                  <a:lnTo>
                    <a:pt x="838" y="948"/>
                  </a:lnTo>
                  <a:lnTo>
                    <a:pt x="838" y="2047"/>
                  </a:lnTo>
                  <a:lnTo>
                    <a:pt x="842" y="2116"/>
                  </a:lnTo>
                  <a:lnTo>
                    <a:pt x="856" y="2184"/>
                  </a:lnTo>
                  <a:lnTo>
                    <a:pt x="874" y="2242"/>
                  </a:lnTo>
                  <a:lnTo>
                    <a:pt x="903" y="2302"/>
                  </a:lnTo>
                  <a:lnTo>
                    <a:pt x="937" y="2355"/>
                  </a:lnTo>
                  <a:lnTo>
                    <a:pt x="981" y="2405"/>
                  </a:lnTo>
                  <a:lnTo>
                    <a:pt x="1030" y="2442"/>
                  </a:lnTo>
                  <a:lnTo>
                    <a:pt x="1083" y="2477"/>
                  </a:lnTo>
                  <a:lnTo>
                    <a:pt x="1140" y="2502"/>
                  </a:lnTo>
                  <a:lnTo>
                    <a:pt x="1200" y="2515"/>
                  </a:lnTo>
                  <a:lnTo>
                    <a:pt x="1260" y="2523"/>
                  </a:lnTo>
                  <a:lnTo>
                    <a:pt x="1206" y="2530"/>
                  </a:lnTo>
                  <a:lnTo>
                    <a:pt x="1147" y="2543"/>
                  </a:lnTo>
                  <a:lnTo>
                    <a:pt x="1090" y="2569"/>
                  </a:lnTo>
                  <a:lnTo>
                    <a:pt x="1037" y="2598"/>
                  </a:lnTo>
                  <a:lnTo>
                    <a:pt x="987" y="2640"/>
                  </a:lnTo>
                  <a:lnTo>
                    <a:pt x="943" y="2687"/>
                  </a:lnTo>
                  <a:lnTo>
                    <a:pt x="908" y="2739"/>
                  </a:lnTo>
                  <a:lnTo>
                    <a:pt x="877" y="2798"/>
                  </a:lnTo>
                  <a:lnTo>
                    <a:pt x="858" y="2859"/>
                  </a:lnTo>
                  <a:lnTo>
                    <a:pt x="842" y="2923"/>
                  </a:lnTo>
                  <a:lnTo>
                    <a:pt x="838" y="2991"/>
                  </a:lnTo>
                  <a:lnTo>
                    <a:pt x="838" y="4104"/>
                  </a:lnTo>
                  <a:close/>
                </a:path>
              </a:pathLst>
            </a:custGeom>
            <a:solidFill>
              <a:srgbClr val="5F5F5F"/>
            </a:solidFill>
            <a:ln w="0">
              <a:noFill/>
              <a:round/>
              <a:headEnd/>
              <a:tailEnd/>
            </a:ln>
          </p:spPr>
          <p:txBody>
            <a:bodyPr/>
            <a:lstStyle/>
            <a:p>
              <a:pPr algn="r" latinLnBrk="0">
                <a:defRPr/>
              </a:pPr>
              <a:endParaRPr lang="ko-KR" altLang="en-US" kern="0" spc="-10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4" name="Freeform 75">
              <a:extLst>
                <a:ext uri="{FF2B5EF4-FFF2-40B4-BE49-F238E27FC236}">
                  <a16:creationId xmlns:a16="http://schemas.microsoft.com/office/drawing/2014/main" id="{5F3FD085-4E8A-2D17-C0F4-C95AAC1C882B}"/>
                </a:ext>
              </a:extLst>
            </p:cNvPr>
            <p:cNvSpPr>
              <a:spLocks/>
            </p:cNvSpPr>
            <p:nvPr/>
          </p:nvSpPr>
          <p:spPr bwMode="gray">
            <a:xfrm>
              <a:off x="8131309" y="3183139"/>
              <a:ext cx="76367" cy="756000"/>
            </a:xfrm>
            <a:custGeom>
              <a:avLst/>
              <a:gdLst>
                <a:gd name="T0" fmla="*/ 2147483647 w 1260"/>
                <a:gd name="T1" fmla="*/ 2147483647 h 5054"/>
                <a:gd name="T2" fmla="*/ 2147483647 w 1260"/>
                <a:gd name="T3" fmla="*/ 2147483647 h 5054"/>
                <a:gd name="T4" fmla="*/ 2147483647 w 1260"/>
                <a:gd name="T5" fmla="*/ 2147483647 h 5054"/>
                <a:gd name="T6" fmla="*/ 2147483647 w 1260"/>
                <a:gd name="T7" fmla="*/ 2147483647 h 5054"/>
                <a:gd name="T8" fmla="*/ 2147483647 w 1260"/>
                <a:gd name="T9" fmla="*/ 2147483647 h 5054"/>
                <a:gd name="T10" fmla="*/ 2147483647 w 1260"/>
                <a:gd name="T11" fmla="*/ 2147483647 h 5054"/>
                <a:gd name="T12" fmla="*/ 2147483647 w 1260"/>
                <a:gd name="T13" fmla="*/ 2147483647 h 5054"/>
                <a:gd name="T14" fmla="*/ 2147483647 w 1260"/>
                <a:gd name="T15" fmla="*/ 2147483647 h 5054"/>
                <a:gd name="T16" fmla="*/ 2147483647 w 1260"/>
                <a:gd name="T17" fmla="*/ 2147483647 h 5054"/>
                <a:gd name="T18" fmla="*/ 2147483647 w 1260"/>
                <a:gd name="T19" fmla="*/ 2147483647 h 5054"/>
                <a:gd name="T20" fmla="*/ 2147483647 w 1260"/>
                <a:gd name="T21" fmla="*/ 2147483647 h 5054"/>
                <a:gd name="T22" fmla="*/ 2147483647 w 1260"/>
                <a:gd name="T23" fmla="*/ 2147483647 h 5054"/>
                <a:gd name="T24" fmla="*/ 2147483647 w 1260"/>
                <a:gd name="T25" fmla="*/ 2147483647 h 5054"/>
                <a:gd name="T26" fmla="*/ 2147483647 w 1260"/>
                <a:gd name="T27" fmla="*/ 2147483647 h 5054"/>
                <a:gd name="T28" fmla="*/ 2147483647 w 1260"/>
                <a:gd name="T29" fmla="*/ 2147483647 h 5054"/>
                <a:gd name="T30" fmla="*/ 2147483647 w 1260"/>
                <a:gd name="T31" fmla="*/ 2147483647 h 5054"/>
                <a:gd name="T32" fmla="*/ 2147483647 w 1260"/>
                <a:gd name="T33" fmla="*/ 2147483647 h 5054"/>
                <a:gd name="T34" fmla="*/ 2147483647 w 1260"/>
                <a:gd name="T35" fmla="*/ 2147483647 h 5054"/>
                <a:gd name="T36" fmla="*/ 2147483647 w 1260"/>
                <a:gd name="T37" fmla="*/ 2147483647 h 5054"/>
                <a:gd name="T38" fmla="*/ 2147483647 w 1260"/>
                <a:gd name="T39" fmla="*/ 2147483647 h 5054"/>
                <a:gd name="T40" fmla="*/ 2147483647 w 1260"/>
                <a:gd name="T41" fmla="*/ 2147483647 h 5054"/>
                <a:gd name="T42" fmla="*/ 2147483647 w 1260"/>
                <a:gd name="T43" fmla="*/ 2147483647 h 5054"/>
                <a:gd name="T44" fmla="*/ 2147483647 w 1260"/>
                <a:gd name="T45" fmla="*/ 2147483647 h 5054"/>
                <a:gd name="T46" fmla="*/ 2147483647 w 1260"/>
                <a:gd name="T47" fmla="*/ 2147483647 h 5054"/>
                <a:gd name="T48" fmla="*/ 2147483647 w 1260"/>
                <a:gd name="T49" fmla="*/ 2147483647 h 5054"/>
                <a:gd name="T50" fmla="*/ 2147483647 w 1260"/>
                <a:gd name="T51" fmla="*/ 2147483647 h 5054"/>
                <a:gd name="T52" fmla="*/ 2147483647 w 1260"/>
                <a:gd name="T53" fmla="*/ 2147483647 h 5054"/>
                <a:gd name="T54" fmla="*/ 2147483647 w 1260"/>
                <a:gd name="T55" fmla="*/ 2147483647 h 5054"/>
                <a:gd name="T56" fmla="*/ 2147483647 w 1260"/>
                <a:gd name="T57" fmla="*/ 2147483647 h 5054"/>
                <a:gd name="T58" fmla="*/ 2147483647 w 1260"/>
                <a:gd name="T59" fmla="*/ 2147483647 h 5054"/>
                <a:gd name="T60" fmla="*/ 2147483647 w 1260"/>
                <a:gd name="T61" fmla="*/ 2147483647 h 5054"/>
                <a:gd name="T62" fmla="*/ 2147483647 w 1260"/>
                <a:gd name="T63" fmla="*/ 2147483647 h 5054"/>
                <a:gd name="T64" fmla="*/ 2147483647 w 1260"/>
                <a:gd name="T65" fmla="*/ 2147483647 h 5054"/>
                <a:gd name="T66" fmla="*/ 2147483647 w 1260"/>
                <a:gd name="T67" fmla="*/ 2147483647 h 5054"/>
                <a:gd name="T68" fmla="*/ 2147483647 w 1260"/>
                <a:gd name="T69" fmla="*/ 2147483647 h 5054"/>
                <a:gd name="T70" fmla="*/ 2147483647 w 1260"/>
                <a:gd name="T71" fmla="*/ 2147483647 h 5054"/>
                <a:gd name="T72" fmla="*/ 2147483647 w 1260"/>
                <a:gd name="T73" fmla="*/ 2147483647 h 5054"/>
                <a:gd name="T74" fmla="*/ 2147483647 w 1260"/>
                <a:gd name="T75" fmla="*/ 2147483647 h 5054"/>
                <a:gd name="T76" fmla="*/ 2147483647 w 1260"/>
                <a:gd name="T77" fmla="*/ 2147483647 h 5054"/>
                <a:gd name="T78" fmla="*/ 2147483647 w 1260"/>
                <a:gd name="T79" fmla="*/ 2147483647 h 5054"/>
                <a:gd name="T80" fmla="*/ 2147483647 w 1260"/>
                <a:gd name="T81" fmla="*/ 2147483647 h 5054"/>
                <a:gd name="T82" fmla="*/ 2147483647 w 1260"/>
                <a:gd name="T83" fmla="*/ 2147483647 h 5054"/>
                <a:gd name="T84" fmla="*/ 2147483647 w 1260"/>
                <a:gd name="T85" fmla="*/ 2147483647 h 5054"/>
                <a:gd name="T86" fmla="*/ 2147483647 w 1260"/>
                <a:gd name="T87" fmla="*/ 2147483647 h 5054"/>
                <a:gd name="T88" fmla="*/ 2147483647 w 1260"/>
                <a:gd name="T89" fmla="*/ 2147483647 h 5054"/>
                <a:gd name="T90" fmla="*/ 2147483647 w 1260"/>
                <a:gd name="T91" fmla="*/ 2147483647 h 5054"/>
                <a:gd name="T92" fmla="*/ 2147483647 w 1260"/>
                <a:gd name="T93" fmla="*/ 2147483647 h 5054"/>
                <a:gd name="T94" fmla="*/ 2147483647 w 1260"/>
                <a:gd name="T95" fmla="*/ 2147483647 h 5054"/>
                <a:gd name="T96" fmla="*/ 2147483647 w 1260"/>
                <a:gd name="T97" fmla="*/ 2147483647 h 5054"/>
                <a:gd name="T98" fmla="*/ 2147483647 w 1260"/>
                <a:gd name="T99" fmla="*/ 2147483647 h 5054"/>
                <a:gd name="T100" fmla="*/ 2147483647 w 1260"/>
                <a:gd name="T101" fmla="*/ 2147483647 h 5054"/>
                <a:gd name="T102" fmla="*/ 2147483647 w 1260"/>
                <a:gd name="T103" fmla="*/ 2147483647 h 5054"/>
                <a:gd name="T104" fmla="*/ 2147483647 w 1260"/>
                <a:gd name="T105" fmla="*/ 2147483647 h 5054"/>
                <a:gd name="T106" fmla="*/ 2147483647 w 1260"/>
                <a:gd name="T107" fmla="*/ 2147483647 h 50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260"/>
                <a:gd name="T163" fmla="*/ 0 h 5054"/>
                <a:gd name="T164" fmla="*/ 1260 w 1260"/>
                <a:gd name="T165" fmla="*/ 5054 h 505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260" h="5054">
                  <a:moveTo>
                    <a:pt x="838" y="4104"/>
                  </a:moveTo>
                  <a:lnTo>
                    <a:pt x="829" y="4197"/>
                  </a:lnTo>
                  <a:lnTo>
                    <a:pt x="815" y="4292"/>
                  </a:lnTo>
                  <a:lnTo>
                    <a:pt x="794" y="4386"/>
                  </a:lnTo>
                  <a:lnTo>
                    <a:pt x="764" y="4473"/>
                  </a:lnTo>
                  <a:lnTo>
                    <a:pt x="728" y="4561"/>
                  </a:lnTo>
                  <a:lnTo>
                    <a:pt x="680" y="4642"/>
                  </a:lnTo>
                  <a:lnTo>
                    <a:pt x="629" y="4720"/>
                  </a:lnTo>
                  <a:lnTo>
                    <a:pt x="571" y="4788"/>
                  </a:lnTo>
                  <a:lnTo>
                    <a:pt x="505" y="4850"/>
                  </a:lnTo>
                  <a:lnTo>
                    <a:pt x="437" y="4906"/>
                  </a:lnTo>
                  <a:lnTo>
                    <a:pt x="364" y="4951"/>
                  </a:lnTo>
                  <a:lnTo>
                    <a:pt x="290" y="4992"/>
                  </a:lnTo>
                  <a:lnTo>
                    <a:pt x="206" y="5019"/>
                  </a:lnTo>
                  <a:lnTo>
                    <a:pt x="123" y="5040"/>
                  </a:lnTo>
                  <a:lnTo>
                    <a:pt x="40" y="5050"/>
                  </a:lnTo>
                  <a:lnTo>
                    <a:pt x="0" y="5054"/>
                  </a:lnTo>
                  <a:lnTo>
                    <a:pt x="66" y="5048"/>
                  </a:lnTo>
                  <a:lnTo>
                    <a:pt x="136" y="5034"/>
                  </a:lnTo>
                  <a:lnTo>
                    <a:pt x="206" y="5006"/>
                  </a:lnTo>
                  <a:lnTo>
                    <a:pt x="270" y="4975"/>
                  </a:lnTo>
                  <a:lnTo>
                    <a:pt x="332" y="4934"/>
                  </a:lnTo>
                  <a:lnTo>
                    <a:pt x="388" y="4882"/>
                  </a:lnTo>
                  <a:lnTo>
                    <a:pt x="435" y="4828"/>
                  </a:lnTo>
                  <a:lnTo>
                    <a:pt x="479" y="4763"/>
                  </a:lnTo>
                  <a:lnTo>
                    <a:pt x="517" y="4695"/>
                  </a:lnTo>
                  <a:lnTo>
                    <a:pt x="546" y="4619"/>
                  </a:lnTo>
                  <a:lnTo>
                    <a:pt x="567" y="4545"/>
                  </a:lnTo>
                  <a:lnTo>
                    <a:pt x="582" y="4467"/>
                  </a:lnTo>
                  <a:lnTo>
                    <a:pt x="585" y="4391"/>
                  </a:lnTo>
                  <a:lnTo>
                    <a:pt x="585" y="3098"/>
                  </a:lnTo>
                  <a:lnTo>
                    <a:pt x="590" y="3024"/>
                  </a:lnTo>
                  <a:lnTo>
                    <a:pt x="604" y="2951"/>
                  </a:lnTo>
                  <a:lnTo>
                    <a:pt x="629" y="2882"/>
                  </a:lnTo>
                  <a:lnTo>
                    <a:pt x="655" y="2815"/>
                  </a:lnTo>
                  <a:lnTo>
                    <a:pt x="693" y="2756"/>
                  </a:lnTo>
                  <a:lnTo>
                    <a:pt x="738" y="2699"/>
                  </a:lnTo>
                  <a:lnTo>
                    <a:pt x="785" y="2648"/>
                  </a:lnTo>
                  <a:lnTo>
                    <a:pt x="839" y="2607"/>
                  </a:lnTo>
                  <a:lnTo>
                    <a:pt x="897" y="2574"/>
                  </a:lnTo>
                  <a:lnTo>
                    <a:pt x="960" y="2549"/>
                  </a:lnTo>
                  <a:lnTo>
                    <a:pt x="1026" y="2537"/>
                  </a:lnTo>
                  <a:lnTo>
                    <a:pt x="1090" y="2527"/>
                  </a:lnTo>
                  <a:lnTo>
                    <a:pt x="1026" y="2515"/>
                  </a:lnTo>
                  <a:lnTo>
                    <a:pt x="960" y="2502"/>
                  </a:lnTo>
                  <a:lnTo>
                    <a:pt x="897" y="2477"/>
                  </a:lnTo>
                  <a:lnTo>
                    <a:pt x="839" y="2442"/>
                  </a:lnTo>
                  <a:lnTo>
                    <a:pt x="785" y="2401"/>
                  </a:lnTo>
                  <a:lnTo>
                    <a:pt x="738" y="2354"/>
                  </a:lnTo>
                  <a:lnTo>
                    <a:pt x="693" y="2296"/>
                  </a:lnTo>
                  <a:lnTo>
                    <a:pt x="655" y="2235"/>
                  </a:lnTo>
                  <a:lnTo>
                    <a:pt x="629" y="2170"/>
                  </a:lnTo>
                  <a:lnTo>
                    <a:pt x="604" y="2100"/>
                  </a:lnTo>
                  <a:lnTo>
                    <a:pt x="590" y="2026"/>
                  </a:lnTo>
                  <a:lnTo>
                    <a:pt x="585" y="1951"/>
                  </a:lnTo>
                  <a:lnTo>
                    <a:pt x="585" y="660"/>
                  </a:lnTo>
                  <a:lnTo>
                    <a:pt x="582" y="585"/>
                  </a:lnTo>
                  <a:lnTo>
                    <a:pt x="567" y="506"/>
                  </a:lnTo>
                  <a:lnTo>
                    <a:pt x="546" y="427"/>
                  </a:lnTo>
                  <a:lnTo>
                    <a:pt x="517" y="354"/>
                  </a:lnTo>
                  <a:lnTo>
                    <a:pt x="479" y="289"/>
                  </a:lnTo>
                  <a:lnTo>
                    <a:pt x="435" y="226"/>
                  </a:lnTo>
                  <a:lnTo>
                    <a:pt x="388" y="169"/>
                  </a:lnTo>
                  <a:lnTo>
                    <a:pt x="332" y="118"/>
                  </a:lnTo>
                  <a:lnTo>
                    <a:pt x="270" y="76"/>
                  </a:lnTo>
                  <a:lnTo>
                    <a:pt x="206" y="44"/>
                  </a:lnTo>
                  <a:lnTo>
                    <a:pt x="136" y="19"/>
                  </a:lnTo>
                  <a:lnTo>
                    <a:pt x="66" y="3"/>
                  </a:lnTo>
                  <a:lnTo>
                    <a:pt x="0" y="0"/>
                  </a:lnTo>
                  <a:lnTo>
                    <a:pt x="40" y="3"/>
                  </a:lnTo>
                  <a:lnTo>
                    <a:pt x="123" y="9"/>
                  </a:lnTo>
                  <a:lnTo>
                    <a:pt x="206" y="29"/>
                  </a:lnTo>
                  <a:lnTo>
                    <a:pt x="290" y="61"/>
                  </a:lnTo>
                  <a:lnTo>
                    <a:pt x="364" y="100"/>
                  </a:lnTo>
                  <a:lnTo>
                    <a:pt x="437" y="147"/>
                  </a:lnTo>
                  <a:lnTo>
                    <a:pt x="505" y="203"/>
                  </a:lnTo>
                  <a:lnTo>
                    <a:pt x="571" y="264"/>
                  </a:lnTo>
                  <a:lnTo>
                    <a:pt x="629" y="333"/>
                  </a:lnTo>
                  <a:lnTo>
                    <a:pt x="680" y="408"/>
                  </a:lnTo>
                  <a:lnTo>
                    <a:pt x="728" y="488"/>
                  </a:lnTo>
                  <a:lnTo>
                    <a:pt x="764" y="576"/>
                  </a:lnTo>
                  <a:lnTo>
                    <a:pt x="794" y="664"/>
                  </a:lnTo>
                  <a:lnTo>
                    <a:pt x="815" y="757"/>
                  </a:lnTo>
                  <a:lnTo>
                    <a:pt x="829" y="850"/>
                  </a:lnTo>
                  <a:lnTo>
                    <a:pt x="838" y="948"/>
                  </a:lnTo>
                  <a:lnTo>
                    <a:pt x="838" y="2047"/>
                  </a:lnTo>
                  <a:lnTo>
                    <a:pt x="842" y="2116"/>
                  </a:lnTo>
                  <a:lnTo>
                    <a:pt x="856" y="2184"/>
                  </a:lnTo>
                  <a:lnTo>
                    <a:pt x="874" y="2242"/>
                  </a:lnTo>
                  <a:lnTo>
                    <a:pt x="903" y="2302"/>
                  </a:lnTo>
                  <a:lnTo>
                    <a:pt x="937" y="2355"/>
                  </a:lnTo>
                  <a:lnTo>
                    <a:pt x="981" y="2405"/>
                  </a:lnTo>
                  <a:lnTo>
                    <a:pt x="1030" y="2442"/>
                  </a:lnTo>
                  <a:lnTo>
                    <a:pt x="1083" y="2477"/>
                  </a:lnTo>
                  <a:lnTo>
                    <a:pt x="1140" y="2502"/>
                  </a:lnTo>
                  <a:lnTo>
                    <a:pt x="1200" y="2515"/>
                  </a:lnTo>
                  <a:lnTo>
                    <a:pt x="1260" y="2523"/>
                  </a:lnTo>
                  <a:lnTo>
                    <a:pt x="1206" y="2530"/>
                  </a:lnTo>
                  <a:lnTo>
                    <a:pt x="1147" y="2543"/>
                  </a:lnTo>
                  <a:lnTo>
                    <a:pt x="1090" y="2569"/>
                  </a:lnTo>
                  <a:lnTo>
                    <a:pt x="1037" y="2598"/>
                  </a:lnTo>
                  <a:lnTo>
                    <a:pt x="987" y="2640"/>
                  </a:lnTo>
                  <a:lnTo>
                    <a:pt x="943" y="2687"/>
                  </a:lnTo>
                  <a:lnTo>
                    <a:pt x="908" y="2739"/>
                  </a:lnTo>
                  <a:lnTo>
                    <a:pt x="877" y="2798"/>
                  </a:lnTo>
                  <a:lnTo>
                    <a:pt x="858" y="2859"/>
                  </a:lnTo>
                  <a:lnTo>
                    <a:pt x="842" y="2923"/>
                  </a:lnTo>
                  <a:lnTo>
                    <a:pt x="838" y="2991"/>
                  </a:lnTo>
                  <a:lnTo>
                    <a:pt x="838" y="4104"/>
                  </a:lnTo>
                  <a:close/>
                </a:path>
              </a:pathLst>
            </a:custGeom>
            <a:solidFill>
              <a:srgbClr val="5F5F5F"/>
            </a:solidFill>
            <a:ln w="0">
              <a:noFill/>
              <a:round/>
              <a:headEnd/>
              <a:tailEnd/>
            </a:ln>
          </p:spPr>
          <p:txBody>
            <a:bodyPr/>
            <a:lstStyle/>
            <a:p>
              <a:pPr algn="r" latinLnBrk="0">
                <a:defRPr/>
              </a:pPr>
              <a:endParaRPr lang="ko-KR" altLang="en-US" kern="0" spc="-10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5" name="Freeform 75">
              <a:extLst>
                <a:ext uri="{FF2B5EF4-FFF2-40B4-BE49-F238E27FC236}">
                  <a16:creationId xmlns:a16="http://schemas.microsoft.com/office/drawing/2014/main" id="{7A02366E-A0FF-39A8-7FAB-4019AB244FAF}"/>
                </a:ext>
              </a:extLst>
            </p:cNvPr>
            <p:cNvSpPr>
              <a:spLocks/>
            </p:cNvSpPr>
            <p:nvPr/>
          </p:nvSpPr>
          <p:spPr bwMode="gray">
            <a:xfrm>
              <a:off x="8621739" y="2614510"/>
              <a:ext cx="76367" cy="756000"/>
            </a:xfrm>
            <a:custGeom>
              <a:avLst/>
              <a:gdLst>
                <a:gd name="T0" fmla="*/ 2147483647 w 1260"/>
                <a:gd name="T1" fmla="*/ 2147483647 h 5054"/>
                <a:gd name="T2" fmla="*/ 2147483647 w 1260"/>
                <a:gd name="T3" fmla="*/ 2147483647 h 5054"/>
                <a:gd name="T4" fmla="*/ 2147483647 w 1260"/>
                <a:gd name="T5" fmla="*/ 2147483647 h 5054"/>
                <a:gd name="T6" fmla="*/ 2147483647 w 1260"/>
                <a:gd name="T7" fmla="*/ 2147483647 h 5054"/>
                <a:gd name="T8" fmla="*/ 2147483647 w 1260"/>
                <a:gd name="T9" fmla="*/ 2147483647 h 5054"/>
                <a:gd name="T10" fmla="*/ 2147483647 w 1260"/>
                <a:gd name="T11" fmla="*/ 2147483647 h 5054"/>
                <a:gd name="T12" fmla="*/ 2147483647 w 1260"/>
                <a:gd name="T13" fmla="*/ 2147483647 h 5054"/>
                <a:gd name="T14" fmla="*/ 2147483647 w 1260"/>
                <a:gd name="T15" fmla="*/ 2147483647 h 5054"/>
                <a:gd name="T16" fmla="*/ 2147483647 w 1260"/>
                <a:gd name="T17" fmla="*/ 2147483647 h 5054"/>
                <a:gd name="T18" fmla="*/ 2147483647 w 1260"/>
                <a:gd name="T19" fmla="*/ 2147483647 h 5054"/>
                <a:gd name="T20" fmla="*/ 2147483647 w 1260"/>
                <a:gd name="T21" fmla="*/ 2147483647 h 5054"/>
                <a:gd name="T22" fmla="*/ 2147483647 w 1260"/>
                <a:gd name="T23" fmla="*/ 2147483647 h 5054"/>
                <a:gd name="T24" fmla="*/ 2147483647 w 1260"/>
                <a:gd name="T25" fmla="*/ 2147483647 h 5054"/>
                <a:gd name="T26" fmla="*/ 2147483647 w 1260"/>
                <a:gd name="T27" fmla="*/ 2147483647 h 5054"/>
                <a:gd name="T28" fmla="*/ 2147483647 w 1260"/>
                <a:gd name="T29" fmla="*/ 2147483647 h 5054"/>
                <a:gd name="T30" fmla="*/ 2147483647 w 1260"/>
                <a:gd name="T31" fmla="*/ 2147483647 h 5054"/>
                <a:gd name="T32" fmla="*/ 2147483647 w 1260"/>
                <a:gd name="T33" fmla="*/ 2147483647 h 5054"/>
                <a:gd name="T34" fmla="*/ 2147483647 w 1260"/>
                <a:gd name="T35" fmla="*/ 2147483647 h 5054"/>
                <a:gd name="T36" fmla="*/ 2147483647 w 1260"/>
                <a:gd name="T37" fmla="*/ 2147483647 h 5054"/>
                <a:gd name="T38" fmla="*/ 2147483647 w 1260"/>
                <a:gd name="T39" fmla="*/ 2147483647 h 5054"/>
                <a:gd name="T40" fmla="*/ 2147483647 w 1260"/>
                <a:gd name="T41" fmla="*/ 2147483647 h 5054"/>
                <a:gd name="T42" fmla="*/ 2147483647 w 1260"/>
                <a:gd name="T43" fmla="*/ 2147483647 h 5054"/>
                <a:gd name="T44" fmla="*/ 2147483647 w 1260"/>
                <a:gd name="T45" fmla="*/ 2147483647 h 5054"/>
                <a:gd name="T46" fmla="*/ 2147483647 w 1260"/>
                <a:gd name="T47" fmla="*/ 2147483647 h 5054"/>
                <a:gd name="T48" fmla="*/ 2147483647 w 1260"/>
                <a:gd name="T49" fmla="*/ 2147483647 h 5054"/>
                <a:gd name="T50" fmla="*/ 2147483647 w 1260"/>
                <a:gd name="T51" fmla="*/ 2147483647 h 5054"/>
                <a:gd name="T52" fmla="*/ 2147483647 w 1260"/>
                <a:gd name="T53" fmla="*/ 2147483647 h 5054"/>
                <a:gd name="T54" fmla="*/ 2147483647 w 1260"/>
                <a:gd name="T55" fmla="*/ 2147483647 h 5054"/>
                <a:gd name="T56" fmla="*/ 2147483647 w 1260"/>
                <a:gd name="T57" fmla="*/ 2147483647 h 5054"/>
                <a:gd name="T58" fmla="*/ 2147483647 w 1260"/>
                <a:gd name="T59" fmla="*/ 2147483647 h 5054"/>
                <a:gd name="T60" fmla="*/ 2147483647 w 1260"/>
                <a:gd name="T61" fmla="*/ 2147483647 h 5054"/>
                <a:gd name="T62" fmla="*/ 2147483647 w 1260"/>
                <a:gd name="T63" fmla="*/ 2147483647 h 5054"/>
                <a:gd name="T64" fmla="*/ 2147483647 w 1260"/>
                <a:gd name="T65" fmla="*/ 2147483647 h 5054"/>
                <a:gd name="T66" fmla="*/ 2147483647 w 1260"/>
                <a:gd name="T67" fmla="*/ 2147483647 h 5054"/>
                <a:gd name="T68" fmla="*/ 2147483647 w 1260"/>
                <a:gd name="T69" fmla="*/ 2147483647 h 5054"/>
                <a:gd name="T70" fmla="*/ 2147483647 w 1260"/>
                <a:gd name="T71" fmla="*/ 2147483647 h 5054"/>
                <a:gd name="T72" fmla="*/ 2147483647 w 1260"/>
                <a:gd name="T73" fmla="*/ 2147483647 h 5054"/>
                <a:gd name="T74" fmla="*/ 2147483647 w 1260"/>
                <a:gd name="T75" fmla="*/ 2147483647 h 5054"/>
                <a:gd name="T76" fmla="*/ 2147483647 w 1260"/>
                <a:gd name="T77" fmla="*/ 2147483647 h 5054"/>
                <a:gd name="T78" fmla="*/ 2147483647 w 1260"/>
                <a:gd name="T79" fmla="*/ 2147483647 h 5054"/>
                <a:gd name="T80" fmla="*/ 2147483647 w 1260"/>
                <a:gd name="T81" fmla="*/ 2147483647 h 5054"/>
                <a:gd name="T82" fmla="*/ 2147483647 w 1260"/>
                <a:gd name="T83" fmla="*/ 2147483647 h 5054"/>
                <a:gd name="T84" fmla="*/ 2147483647 w 1260"/>
                <a:gd name="T85" fmla="*/ 2147483647 h 5054"/>
                <a:gd name="T86" fmla="*/ 2147483647 w 1260"/>
                <a:gd name="T87" fmla="*/ 2147483647 h 5054"/>
                <a:gd name="T88" fmla="*/ 2147483647 w 1260"/>
                <a:gd name="T89" fmla="*/ 2147483647 h 5054"/>
                <a:gd name="T90" fmla="*/ 2147483647 w 1260"/>
                <a:gd name="T91" fmla="*/ 2147483647 h 5054"/>
                <a:gd name="T92" fmla="*/ 2147483647 w 1260"/>
                <a:gd name="T93" fmla="*/ 2147483647 h 5054"/>
                <a:gd name="T94" fmla="*/ 2147483647 w 1260"/>
                <a:gd name="T95" fmla="*/ 2147483647 h 5054"/>
                <a:gd name="T96" fmla="*/ 2147483647 w 1260"/>
                <a:gd name="T97" fmla="*/ 2147483647 h 5054"/>
                <a:gd name="T98" fmla="*/ 2147483647 w 1260"/>
                <a:gd name="T99" fmla="*/ 2147483647 h 5054"/>
                <a:gd name="T100" fmla="*/ 2147483647 w 1260"/>
                <a:gd name="T101" fmla="*/ 2147483647 h 5054"/>
                <a:gd name="T102" fmla="*/ 2147483647 w 1260"/>
                <a:gd name="T103" fmla="*/ 2147483647 h 5054"/>
                <a:gd name="T104" fmla="*/ 2147483647 w 1260"/>
                <a:gd name="T105" fmla="*/ 2147483647 h 5054"/>
                <a:gd name="T106" fmla="*/ 2147483647 w 1260"/>
                <a:gd name="T107" fmla="*/ 2147483647 h 50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260"/>
                <a:gd name="T163" fmla="*/ 0 h 5054"/>
                <a:gd name="T164" fmla="*/ 1260 w 1260"/>
                <a:gd name="T165" fmla="*/ 5054 h 505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260" h="5054">
                  <a:moveTo>
                    <a:pt x="838" y="4104"/>
                  </a:moveTo>
                  <a:lnTo>
                    <a:pt x="829" y="4197"/>
                  </a:lnTo>
                  <a:lnTo>
                    <a:pt x="815" y="4292"/>
                  </a:lnTo>
                  <a:lnTo>
                    <a:pt x="794" y="4386"/>
                  </a:lnTo>
                  <a:lnTo>
                    <a:pt x="764" y="4473"/>
                  </a:lnTo>
                  <a:lnTo>
                    <a:pt x="728" y="4561"/>
                  </a:lnTo>
                  <a:lnTo>
                    <a:pt x="680" y="4642"/>
                  </a:lnTo>
                  <a:lnTo>
                    <a:pt x="629" y="4720"/>
                  </a:lnTo>
                  <a:lnTo>
                    <a:pt x="571" y="4788"/>
                  </a:lnTo>
                  <a:lnTo>
                    <a:pt x="505" y="4850"/>
                  </a:lnTo>
                  <a:lnTo>
                    <a:pt x="437" y="4906"/>
                  </a:lnTo>
                  <a:lnTo>
                    <a:pt x="364" y="4951"/>
                  </a:lnTo>
                  <a:lnTo>
                    <a:pt x="290" y="4992"/>
                  </a:lnTo>
                  <a:lnTo>
                    <a:pt x="206" y="5019"/>
                  </a:lnTo>
                  <a:lnTo>
                    <a:pt x="123" y="5040"/>
                  </a:lnTo>
                  <a:lnTo>
                    <a:pt x="40" y="5050"/>
                  </a:lnTo>
                  <a:lnTo>
                    <a:pt x="0" y="5054"/>
                  </a:lnTo>
                  <a:lnTo>
                    <a:pt x="66" y="5048"/>
                  </a:lnTo>
                  <a:lnTo>
                    <a:pt x="136" y="5034"/>
                  </a:lnTo>
                  <a:lnTo>
                    <a:pt x="206" y="5006"/>
                  </a:lnTo>
                  <a:lnTo>
                    <a:pt x="270" y="4975"/>
                  </a:lnTo>
                  <a:lnTo>
                    <a:pt x="332" y="4934"/>
                  </a:lnTo>
                  <a:lnTo>
                    <a:pt x="388" y="4882"/>
                  </a:lnTo>
                  <a:lnTo>
                    <a:pt x="435" y="4828"/>
                  </a:lnTo>
                  <a:lnTo>
                    <a:pt x="479" y="4763"/>
                  </a:lnTo>
                  <a:lnTo>
                    <a:pt x="517" y="4695"/>
                  </a:lnTo>
                  <a:lnTo>
                    <a:pt x="546" y="4619"/>
                  </a:lnTo>
                  <a:lnTo>
                    <a:pt x="567" y="4545"/>
                  </a:lnTo>
                  <a:lnTo>
                    <a:pt x="582" y="4467"/>
                  </a:lnTo>
                  <a:lnTo>
                    <a:pt x="585" y="4391"/>
                  </a:lnTo>
                  <a:lnTo>
                    <a:pt x="585" y="3098"/>
                  </a:lnTo>
                  <a:lnTo>
                    <a:pt x="590" y="3024"/>
                  </a:lnTo>
                  <a:lnTo>
                    <a:pt x="604" y="2951"/>
                  </a:lnTo>
                  <a:lnTo>
                    <a:pt x="629" y="2882"/>
                  </a:lnTo>
                  <a:lnTo>
                    <a:pt x="655" y="2815"/>
                  </a:lnTo>
                  <a:lnTo>
                    <a:pt x="693" y="2756"/>
                  </a:lnTo>
                  <a:lnTo>
                    <a:pt x="738" y="2699"/>
                  </a:lnTo>
                  <a:lnTo>
                    <a:pt x="785" y="2648"/>
                  </a:lnTo>
                  <a:lnTo>
                    <a:pt x="839" y="2607"/>
                  </a:lnTo>
                  <a:lnTo>
                    <a:pt x="897" y="2574"/>
                  </a:lnTo>
                  <a:lnTo>
                    <a:pt x="960" y="2549"/>
                  </a:lnTo>
                  <a:lnTo>
                    <a:pt x="1026" y="2537"/>
                  </a:lnTo>
                  <a:lnTo>
                    <a:pt x="1090" y="2527"/>
                  </a:lnTo>
                  <a:lnTo>
                    <a:pt x="1026" y="2515"/>
                  </a:lnTo>
                  <a:lnTo>
                    <a:pt x="960" y="2502"/>
                  </a:lnTo>
                  <a:lnTo>
                    <a:pt x="897" y="2477"/>
                  </a:lnTo>
                  <a:lnTo>
                    <a:pt x="839" y="2442"/>
                  </a:lnTo>
                  <a:lnTo>
                    <a:pt x="785" y="2401"/>
                  </a:lnTo>
                  <a:lnTo>
                    <a:pt x="738" y="2354"/>
                  </a:lnTo>
                  <a:lnTo>
                    <a:pt x="693" y="2296"/>
                  </a:lnTo>
                  <a:lnTo>
                    <a:pt x="655" y="2235"/>
                  </a:lnTo>
                  <a:lnTo>
                    <a:pt x="629" y="2170"/>
                  </a:lnTo>
                  <a:lnTo>
                    <a:pt x="604" y="2100"/>
                  </a:lnTo>
                  <a:lnTo>
                    <a:pt x="590" y="2026"/>
                  </a:lnTo>
                  <a:lnTo>
                    <a:pt x="585" y="1951"/>
                  </a:lnTo>
                  <a:lnTo>
                    <a:pt x="585" y="660"/>
                  </a:lnTo>
                  <a:lnTo>
                    <a:pt x="582" y="585"/>
                  </a:lnTo>
                  <a:lnTo>
                    <a:pt x="567" y="506"/>
                  </a:lnTo>
                  <a:lnTo>
                    <a:pt x="546" y="427"/>
                  </a:lnTo>
                  <a:lnTo>
                    <a:pt x="517" y="354"/>
                  </a:lnTo>
                  <a:lnTo>
                    <a:pt x="479" y="289"/>
                  </a:lnTo>
                  <a:lnTo>
                    <a:pt x="435" y="226"/>
                  </a:lnTo>
                  <a:lnTo>
                    <a:pt x="388" y="169"/>
                  </a:lnTo>
                  <a:lnTo>
                    <a:pt x="332" y="118"/>
                  </a:lnTo>
                  <a:lnTo>
                    <a:pt x="270" y="76"/>
                  </a:lnTo>
                  <a:lnTo>
                    <a:pt x="206" y="44"/>
                  </a:lnTo>
                  <a:lnTo>
                    <a:pt x="136" y="19"/>
                  </a:lnTo>
                  <a:lnTo>
                    <a:pt x="66" y="3"/>
                  </a:lnTo>
                  <a:lnTo>
                    <a:pt x="0" y="0"/>
                  </a:lnTo>
                  <a:lnTo>
                    <a:pt x="40" y="3"/>
                  </a:lnTo>
                  <a:lnTo>
                    <a:pt x="123" y="9"/>
                  </a:lnTo>
                  <a:lnTo>
                    <a:pt x="206" y="29"/>
                  </a:lnTo>
                  <a:lnTo>
                    <a:pt x="290" y="61"/>
                  </a:lnTo>
                  <a:lnTo>
                    <a:pt x="364" y="100"/>
                  </a:lnTo>
                  <a:lnTo>
                    <a:pt x="437" y="147"/>
                  </a:lnTo>
                  <a:lnTo>
                    <a:pt x="505" y="203"/>
                  </a:lnTo>
                  <a:lnTo>
                    <a:pt x="571" y="264"/>
                  </a:lnTo>
                  <a:lnTo>
                    <a:pt x="629" y="333"/>
                  </a:lnTo>
                  <a:lnTo>
                    <a:pt x="680" y="408"/>
                  </a:lnTo>
                  <a:lnTo>
                    <a:pt x="728" y="488"/>
                  </a:lnTo>
                  <a:lnTo>
                    <a:pt x="764" y="576"/>
                  </a:lnTo>
                  <a:lnTo>
                    <a:pt x="794" y="664"/>
                  </a:lnTo>
                  <a:lnTo>
                    <a:pt x="815" y="757"/>
                  </a:lnTo>
                  <a:lnTo>
                    <a:pt x="829" y="850"/>
                  </a:lnTo>
                  <a:lnTo>
                    <a:pt x="838" y="948"/>
                  </a:lnTo>
                  <a:lnTo>
                    <a:pt x="838" y="2047"/>
                  </a:lnTo>
                  <a:lnTo>
                    <a:pt x="842" y="2116"/>
                  </a:lnTo>
                  <a:lnTo>
                    <a:pt x="856" y="2184"/>
                  </a:lnTo>
                  <a:lnTo>
                    <a:pt x="874" y="2242"/>
                  </a:lnTo>
                  <a:lnTo>
                    <a:pt x="903" y="2302"/>
                  </a:lnTo>
                  <a:lnTo>
                    <a:pt x="937" y="2355"/>
                  </a:lnTo>
                  <a:lnTo>
                    <a:pt x="981" y="2405"/>
                  </a:lnTo>
                  <a:lnTo>
                    <a:pt x="1030" y="2442"/>
                  </a:lnTo>
                  <a:lnTo>
                    <a:pt x="1083" y="2477"/>
                  </a:lnTo>
                  <a:lnTo>
                    <a:pt x="1140" y="2502"/>
                  </a:lnTo>
                  <a:lnTo>
                    <a:pt x="1200" y="2515"/>
                  </a:lnTo>
                  <a:lnTo>
                    <a:pt x="1260" y="2523"/>
                  </a:lnTo>
                  <a:lnTo>
                    <a:pt x="1206" y="2530"/>
                  </a:lnTo>
                  <a:lnTo>
                    <a:pt x="1147" y="2543"/>
                  </a:lnTo>
                  <a:lnTo>
                    <a:pt x="1090" y="2569"/>
                  </a:lnTo>
                  <a:lnTo>
                    <a:pt x="1037" y="2598"/>
                  </a:lnTo>
                  <a:lnTo>
                    <a:pt x="987" y="2640"/>
                  </a:lnTo>
                  <a:lnTo>
                    <a:pt x="943" y="2687"/>
                  </a:lnTo>
                  <a:lnTo>
                    <a:pt x="908" y="2739"/>
                  </a:lnTo>
                  <a:lnTo>
                    <a:pt x="877" y="2798"/>
                  </a:lnTo>
                  <a:lnTo>
                    <a:pt x="858" y="2859"/>
                  </a:lnTo>
                  <a:lnTo>
                    <a:pt x="842" y="2923"/>
                  </a:lnTo>
                  <a:lnTo>
                    <a:pt x="838" y="2991"/>
                  </a:lnTo>
                  <a:lnTo>
                    <a:pt x="838" y="4104"/>
                  </a:lnTo>
                  <a:close/>
                </a:path>
              </a:pathLst>
            </a:custGeom>
            <a:solidFill>
              <a:srgbClr val="5F5F5F"/>
            </a:solidFill>
            <a:ln w="0">
              <a:noFill/>
              <a:round/>
              <a:headEnd/>
              <a:tailEnd/>
            </a:ln>
          </p:spPr>
          <p:txBody>
            <a:bodyPr/>
            <a:lstStyle/>
            <a:p>
              <a:pPr algn="r" latinLnBrk="0">
                <a:defRPr/>
              </a:pPr>
              <a:endParaRPr lang="ko-KR" altLang="en-US" kern="0" spc="-10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6" name="Text Box 35">
              <a:extLst>
                <a:ext uri="{FF2B5EF4-FFF2-40B4-BE49-F238E27FC236}">
                  <a16:creationId xmlns:a16="http://schemas.microsoft.com/office/drawing/2014/main" id="{6D880B27-F281-90BB-83F7-6B01EFA443C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7197576" y="3179164"/>
              <a:ext cx="368691" cy="153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defTabSz="939800" fontAlgn="b">
                <a:spcBef>
                  <a:spcPct val="40000"/>
                </a:spcBef>
                <a:defRPr kumimoji="1" sz="10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나눔고딕 ExtraBold"/>
                </a:defRPr>
              </a:lvl1pPr>
            </a:lstStyle>
            <a:p>
              <a:r>
                <a:rPr lang="en-US" altLang="ko-KR" spc="-100" dirty="0"/>
                <a:t>Overlap</a:t>
              </a: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7442823E-9070-3838-0312-3454DA5BA40A}"/>
              </a:ext>
            </a:extLst>
          </p:cNvPr>
          <p:cNvGrpSpPr/>
          <p:nvPr/>
        </p:nvGrpSpPr>
        <p:grpSpPr>
          <a:xfrm>
            <a:off x="6591572" y="2034268"/>
            <a:ext cx="3024000" cy="4095070"/>
            <a:chOff x="6591572" y="2034142"/>
            <a:chExt cx="3024000" cy="3670414"/>
          </a:xfrm>
        </p:grpSpPr>
        <p:sp>
          <p:nvSpPr>
            <p:cNvPr id="100" name="Rectangle 6">
              <a:extLst>
                <a:ext uri="{FF2B5EF4-FFF2-40B4-BE49-F238E27FC236}">
                  <a16:creationId xmlns:a16="http://schemas.microsoft.com/office/drawing/2014/main" id="{1304ED1E-774C-7ABE-96F6-9CA0CF7C0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1572" y="2037380"/>
              <a:ext cx="3024000" cy="286232"/>
            </a:xfrm>
            <a:prstGeom prst="rect">
              <a:avLst/>
            </a:prstGeom>
            <a:solidFill>
              <a:srgbClr val="595959"/>
            </a:solidFill>
            <a:ln w="9525" algn="ctr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 latinLnBrk="0">
                <a:lnSpc>
                  <a:spcPct val="90000"/>
                </a:lnSpc>
              </a:pPr>
              <a:r>
                <a:rPr lang="en-US" altLang="ko-KR" sz="1400" b="1" kern="0" spc="-100" dirty="0">
                  <a:solidFill>
                    <a:srgbClr val="FFFFFF"/>
                  </a:solidFill>
                  <a:latin typeface="+mn-ea"/>
                </a:rPr>
                <a:t>Option 3. Broad Band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EAA567CC-2DFE-FD4F-D301-04EEFB792BF3}"/>
                </a:ext>
              </a:extLst>
            </p:cNvPr>
            <p:cNvSpPr/>
            <p:nvPr/>
          </p:nvSpPr>
          <p:spPr>
            <a:xfrm>
              <a:off x="6591572" y="2034142"/>
              <a:ext cx="3024000" cy="3670414"/>
            </a:xfrm>
            <a:prstGeom prst="rect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6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0E539F09-C4B2-9234-27D6-9BE9C7FFF5DA}"/>
              </a:ext>
            </a:extLst>
          </p:cNvPr>
          <p:cNvGrpSpPr/>
          <p:nvPr/>
        </p:nvGrpSpPr>
        <p:grpSpPr>
          <a:xfrm>
            <a:off x="273050" y="1621172"/>
            <a:ext cx="9359900" cy="319435"/>
            <a:chOff x="488950" y="1879556"/>
            <a:chExt cx="8928100" cy="300521"/>
          </a:xfrm>
        </p:grpSpPr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6ABFDF1A-A8FA-AEC9-8B8A-1D234B5359F9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8466AE06-E4A7-0ABA-B53E-27AC658B342C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kumimoji="1" lang="en-US" altLang="ko-KR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Range Spread </a:t>
              </a: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설계 시 고려사항</a:t>
              </a:r>
            </a:p>
          </p:txBody>
        </p:sp>
      </p:grpSp>
      <p:sp>
        <p:nvSpPr>
          <p:cNvPr id="105" name="Freeform 5">
            <a:extLst>
              <a:ext uri="{FF2B5EF4-FFF2-40B4-BE49-F238E27FC236}">
                <a16:creationId xmlns:a16="http://schemas.microsoft.com/office/drawing/2014/main" id="{53611C49-C4AD-4AAB-8B9D-92B04A75703D}"/>
              </a:ext>
            </a:extLst>
          </p:cNvPr>
          <p:cNvSpPr>
            <a:spLocks/>
          </p:cNvSpPr>
          <p:nvPr/>
        </p:nvSpPr>
        <p:spPr bwMode="auto">
          <a:xfrm>
            <a:off x="311777" y="2053345"/>
            <a:ext cx="215783" cy="212950"/>
          </a:xfrm>
          <a:custGeom>
            <a:avLst/>
            <a:gdLst>
              <a:gd name="T0" fmla="*/ 459 w 1695"/>
              <a:gd name="T1" fmla="*/ 1612 h 1634"/>
              <a:gd name="T2" fmla="*/ 333 w 1695"/>
              <a:gd name="T3" fmla="*/ 1355 h 1634"/>
              <a:gd name="T4" fmla="*/ 53 w 1695"/>
              <a:gd name="T5" fmla="*/ 944 h 1634"/>
              <a:gd name="T6" fmla="*/ 9 w 1695"/>
              <a:gd name="T7" fmla="*/ 938 h 1634"/>
              <a:gd name="T8" fmla="*/ 60 w 1695"/>
              <a:gd name="T9" fmla="*/ 854 h 1634"/>
              <a:gd name="T10" fmla="*/ 314 w 1695"/>
              <a:gd name="T11" fmla="*/ 815 h 1634"/>
              <a:gd name="T12" fmla="*/ 484 w 1695"/>
              <a:gd name="T13" fmla="*/ 1010 h 1634"/>
              <a:gd name="T14" fmla="*/ 519 w 1695"/>
              <a:gd name="T15" fmla="*/ 1058 h 1634"/>
              <a:gd name="T16" fmla="*/ 614 w 1695"/>
              <a:gd name="T17" fmla="*/ 938 h 1634"/>
              <a:gd name="T18" fmla="*/ 1043 w 1695"/>
              <a:gd name="T19" fmla="*/ 432 h 1634"/>
              <a:gd name="T20" fmla="*/ 1615 w 1695"/>
              <a:gd name="T21" fmla="*/ 18 h 1634"/>
              <a:gd name="T22" fmla="*/ 1684 w 1695"/>
              <a:gd name="T23" fmla="*/ 14 h 1634"/>
              <a:gd name="T24" fmla="*/ 1695 w 1695"/>
              <a:gd name="T25" fmla="*/ 36 h 1634"/>
              <a:gd name="T26" fmla="*/ 1608 w 1695"/>
              <a:gd name="T27" fmla="*/ 128 h 1634"/>
              <a:gd name="T28" fmla="*/ 1007 w 1695"/>
              <a:gd name="T29" fmla="*/ 804 h 1634"/>
              <a:gd name="T30" fmla="*/ 754 w 1695"/>
              <a:gd name="T31" fmla="*/ 1209 h 1634"/>
              <a:gd name="T32" fmla="*/ 629 w 1695"/>
              <a:gd name="T33" fmla="*/ 1442 h 1634"/>
              <a:gd name="T34" fmla="*/ 491 w 1695"/>
              <a:gd name="T35" fmla="*/ 1634 h 1634"/>
              <a:gd name="T36" fmla="*/ 459 w 1695"/>
              <a:gd name="T37" fmla="*/ 1612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95" h="1634">
                <a:moveTo>
                  <a:pt x="459" y="1612"/>
                </a:moveTo>
                <a:cubicBezTo>
                  <a:pt x="432" y="1584"/>
                  <a:pt x="397" y="1513"/>
                  <a:pt x="333" y="1355"/>
                </a:cubicBezTo>
                <a:cubicBezTo>
                  <a:pt x="208" y="1043"/>
                  <a:pt x="141" y="946"/>
                  <a:pt x="53" y="944"/>
                </a:cubicBezTo>
                <a:cubicBezTo>
                  <a:pt x="32" y="944"/>
                  <a:pt x="12" y="941"/>
                  <a:pt x="9" y="938"/>
                </a:cubicBezTo>
                <a:cubicBezTo>
                  <a:pt x="0" y="929"/>
                  <a:pt x="30" y="880"/>
                  <a:pt x="60" y="854"/>
                </a:cubicBezTo>
                <a:cubicBezTo>
                  <a:pt x="141" y="784"/>
                  <a:pt x="237" y="770"/>
                  <a:pt x="314" y="815"/>
                </a:cubicBezTo>
                <a:cubicBezTo>
                  <a:pt x="359" y="842"/>
                  <a:pt x="437" y="932"/>
                  <a:pt x="484" y="1010"/>
                </a:cubicBezTo>
                <a:cubicBezTo>
                  <a:pt x="500" y="1037"/>
                  <a:pt x="516" y="1058"/>
                  <a:pt x="519" y="1058"/>
                </a:cubicBezTo>
                <a:cubicBezTo>
                  <a:pt x="522" y="1059"/>
                  <a:pt x="565" y="1004"/>
                  <a:pt x="614" y="938"/>
                </a:cubicBezTo>
                <a:cubicBezTo>
                  <a:pt x="751" y="752"/>
                  <a:pt x="894" y="584"/>
                  <a:pt x="1043" y="432"/>
                </a:cubicBezTo>
                <a:cubicBezTo>
                  <a:pt x="1275" y="197"/>
                  <a:pt x="1442" y="76"/>
                  <a:pt x="1615" y="18"/>
                </a:cubicBezTo>
                <a:cubicBezTo>
                  <a:pt x="1669" y="0"/>
                  <a:pt x="1673" y="0"/>
                  <a:pt x="1684" y="14"/>
                </a:cubicBezTo>
                <a:cubicBezTo>
                  <a:pt x="1690" y="23"/>
                  <a:pt x="1695" y="33"/>
                  <a:pt x="1695" y="36"/>
                </a:cubicBezTo>
                <a:cubicBezTo>
                  <a:pt x="1695" y="40"/>
                  <a:pt x="1656" y="81"/>
                  <a:pt x="1608" y="128"/>
                </a:cubicBezTo>
                <a:cubicBezTo>
                  <a:pt x="1400" y="329"/>
                  <a:pt x="1145" y="615"/>
                  <a:pt x="1007" y="804"/>
                </a:cubicBezTo>
                <a:cubicBezTo>
                  <a:pt x="929" y="911"/>
                  <a:pt x="826" y="1075"/>
                  <a:pt x="754" y="1209"/>
                </a:cubicBezTo>
                <a:cubicBezTo>
                  <a:pt x="724" y="1265"/>
                  <a:pt x="668" y="1369"/>
                  <a:pt x="629" y="1442"/>
                </a:cubicBezTo>
                <a:cubicBezTo>
                  <a:pt x="561" y="1568"/>
                  <a:pt x="514" y="1634"/>
                  <a:pt x="491" y="1634"/>
                </a:cubicBezTo>
                <a:cubicBezTo>
                  <a:pt x="485" y="1634"/>
                  <a:pt x="471" y="1624"/>
                  <a:pt x="459" y="161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3600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D897-6DF0-E6A0-7A76-4ADD3BA0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364EF2F-B0F9-7B24-1B6F-3679C481AD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직급별 초임을 기준으로 임금구간을 설계하여 시장임금조사 및 승진관리와 연계성을 강화하고</a:t>
            </a:r>
            <a:r>
              <a:rPr lang="en-US" altLang="ko-KR" dirty="0"/>
              <a:t>, </a:t>
            </a:r>
            <a:r>
              <a:rPr lang="ko-KR" altLang="en-US" dirty="0"/>
              <a:t>직급별 밴드운영의 실효성을 높여 합리적이고 체계적인 임금체계를 확립함</a:t>
            </a:r>
            <a:r>
              <a:rPr lang="en-US" altLang="ko-KR" dirty="0"/>
              <a:t>.</a:t>
            </a:r>
            <a:endParaRPr lang="ko-KR" altLang="en-US" dirty="0">
              <a:ln>
                <a:solidFill>
                  <a:schemeClr val="tx1">
                    <a:alpha val="5000"/>
                  </a:schemeClr>
                </a:solidFill>
              </a:ln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3B64D0D-C4D9-F9BF-804F-21D9BAF416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ABCA45-DECE-5D00-30F6-65E5AECE0F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7A9273A-CDCD-F090-DE9A-63E0FA3E9F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073E51-B72E-A6AF-7758-87B1087B3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5247073"/>
            <a:ext cx="9359899" cy="4640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endParaRPr lang="ko-KR" altLang="en-US" sz="140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위쪽/아래쪽 화살표 87">
            <a:extLst>
              <a:ext uri="{FF2B5EF4-FFF2-40B4-BE49-F238E27FC236}">
                <a16:creationId xmlns:a16="http://schemas.microsoft.com/office/drawing/2014/main" id="{65ADE25B-EA48-AB1C-7D92-9B25CF92A6C4}"/>
              </a:ext>
            </a:extLst>
          </p:cNvPr>
          <p:cNvSpPr/>
          <p:nvPr/>
        </p:nvSpPr>
        <p:spPr>
          <a:xfrm>
            <a:off x="1760451" y="2746793"/>
            <a:ext cx="1403350" cy="1520420"/>
          </a:xfrm>
          <a:prstGeom prst="upDownArrow">
            <a:avLst>
              <a:gd name="adj1" fmla="val 75339"/>
              <a:gd name="adj2" fmla="val 0"/>
            </a:avLst>
          </a:prstGeom>
          <a:solidFill>
            <a:srgbClr val="EDF2F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8" name="Text Box 28">
            <a:extLst>
              <a:ext uri="{FF2B5EF4-FFF2-40B4-BE49-F238E27FC236}">
                <a16:creationId xmlns:a16="http://schemas.microsoft.com/office/drawing/2014/main" id="{2166EDF1-C43C-B6B3-A420-AA96AB148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2454" y="3125879"/>
            <a:ext cx="1149354" cy="15971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050" dirty="0"/>
              <a:t>기준점 </a:t>
            </a:r>
            <a:r>
              <a:rPr lang="en-US" altLang="ko-KR" sz="1050" dirty="0"/>
              <a:t>× (1+α/2%)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38143D0-5CBB-9C41-E330-6DF5FA3FA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693" y="2120899"/>
            <a:ext cx="4392000" cy="4011365"/>
          </a:xfrm>
          <a:prstGeom prst="rect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4000" tIns="46800" rIns="54000" bIns="46800" numCol="1" anchor="ctr" anchorCtr="0" compatLnSpc="1">
            <a:prstTxWarp prst="textNoShape">
              <a:avLst/>
            </a:prstTxWarp>
          </a:bodyPr>
          <a:lstStyle/>
          <a:p>
            <a:pPr algn="r" latinLnBrk="0">
              <a:spcBef>
                <a:spcPct val="0"/>
              </a:spcBef>
            </a:pPr>
            <a:endParaRPr lang="ko-KR" altLang="en-US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39C3873-9FDE-5295-4054-76CF92E43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650" y="2120899"/>
            <a:ext cx="4392000" cy="4011365"/>
          </a:xfrm>
          <a:prstGeom prst="rect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4000" tIns="46800" rIns="54000" bIns="46800" numCol="1" anchor="ctr" anchorCtr="0" compatLnSpc="1">
            <a:prstTxWarp prst="textNoShape">
              <a:avLst/>
            </a:prstTxWarp>
          </a:bodyPr>
          <a:lstStyle/>
          <a:p>
            <a:pPr algn="r" latinLnBrk="0">
              <a:spcBef>
                <a:spcPct val="0"/>
              </a:spcBef>
            </a:pPr>
            <a:endParaRPr lang="ko-KR" altLang="en-US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554501E0-36ED-707B-C86B-F4607D51ED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8537" y="5296069"/>
            <a:ext cx="4140000" cy="72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가장 일반적인 방식으로 급여관리가 유연하며 직원들의 이해가 용이함</a:t>
            </a:r>
            <a:br>
              <a:rPr lang="en-US" altLang="ko-KR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</a:br>
            <a:endParaRPr lang="en-US" altLang="ko-KR" sz="1100" b="1" dirty="0">
              <a:solidFill>
                <a:srgbClr val="000000"/>
              </a:solidFill>
              <a:latin typeface="+mn-ea"/>
              <a:cs typeface="굴림" pitchFamily="50" charset="-127"/>
            </a:endParaRP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밴드 하한 구역 또는 최소값이 무의미해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sz="1100" b="1" dirty="0" err="1">
                <a:solidFill>
                  <a:srgbClr val="000000"/>
                </a:solidFill>
                <a:latin typeface="+mn-ea"/>
                <a:cs typeface="굴림" pitchFamily="50" charset="-127"/>
              </a:rPr>
              <a:t>밴드자체의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 유용성이 적음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015803A5-4F47-D525-3136-BD9ED57433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8537" y="4604570"/>
            <a:ext cx="4140000" cy="56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각 직급별 평균을 보상기준점으로 밴드의 상한과 하한을 동일 비율로 구성하는 방식</a:t>
            </a: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보상기준점이 밴드의 중심에 위치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46B58BFD-B5F4-0DD6-9C22-C44094D6759E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8025" y="5296069"/>
            <a:ext cx="4140000" cy="72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각 직급별 초임중심 관리로 직급별 시장임금조사 및 승진관리 등 밴드운영의 실효성이 높음</a:t>
            </a:r>
            <a:br>
              <a:rPr lang="en-US" altLang="ko-KR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</a:br>
            <a:endParaRPr lang="en-US" altLang="ko-KR" sz="1100" b="1" dirty="0">
              <a:solidFill>
                <a:srgbClr val="000000"/>
              </a:solidFill>
              <a:latin typeface="+mn-ea"/>
              <a:cs typeface="굴림" pitchFamily="50" charset="-127"/>
            </a:endParaRP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상한으로는 </a:t>
            </a:r>
            <a:r>
              <a:rPr lang="ko-KR" altLang="en-US" sz="1100" b="1" dirty="0" err="1">
                <a:solidFill>
                  <a:srgbClr val="000000"/>
                </a:solidFill>
                <a:latin typeface="+mn-ea"/>
                <a:cs typeface="굴림" pitchFamily="50" charset="-127"/>
              </a:rPr>
              <a:t>밴드운영이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 유연하나 하한으로는 유연하지 않음</a:t>
            </a:r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13F772B3-9211-73F4-807E-4DD56E5CFF22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8025" y="4604570"/>
            <a:ext cx="4140000" cy="56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각 직급별 초임을 보상기준점으로 표준체류연한 및 상위고과 인상률 등을 고려하여 급여밴드를 구성하는 방식</a:t>
            </a: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굴림" pitchFamily="50" charset="-127"/>
              </a:rPr>
              <a:t>보상기준점이 밴드의 초임에 위치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8F5553-3A40-BF09-122A-2D08CAEFDAB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0650" y="2120899"/>
            <a:ext cx="4392000" cy="309591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Option 1.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직급별 초임 중심 </a:t>
            </a:r>
            <a:r>
              <a:rPr lang="ko-KR" altLang="en-US" sz="1400" b="1" kern="0" spc="-100">
                <a:solidFill>
                  <a:srgbClr val="FFFFFF"/>
                </a:solidFill>
                <a:latin typeface="+mn-ea"/>
              </a:rPr>
              <a:t>설계 </a:t>
            </a: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(</a:t>
            </a:r>
            <a:r>
              <a:rPr lang="ko-KR" altLang="en-US" sz="1400" b="1" kern="0" spc="-100">
                <a:solidFill>
                  <a:srgbClr val="FFFFFF"/>
                </a:solidFill>
                <a:latin typeface="+mn-ea"/>
              </a:rPr>
              <a:t>귀납적 방식</a:t>
            </a: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)</a:t>
            </a:r>
            <a:endParaRPr lang="ko-KR" altLang="en-US" sz="1400" b="1" kern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321E45-DBFC-4BCE-D8AA-C9CA9801009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235693" y="2120899"/>
            <a:ext cx="4392000" cy="309591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Option 2.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직급별 평균 중심 설계</a:t>
            </a: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 (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연역적 방식</a:t>
            </a: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)</a:t>
            </a:r>
            <a:endParaRPr lang="ko-KR" altLang="en-US" sz="1400" b="1" kern="0" spc="-100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7D235FD-7EC7-CB96-B8E9-1C93EE86D40D}"/>
              </a:ext>
            </a:extLst>
          </p:cNvPr>
          <p:cNvGrpSpPr/>
          <p:nvPr/>
        </p:nvGrpSpPr>
        <p:grpSpPr>
          <a:xfrm>
            <a:off x="2349911" y="2688745"/>
            <a:ext cx="623250" cy="1616481"/>
            <a:chOff x="2402299" y="2300143"/>
            <a:chExt cx="623250" cy="1798902"/>
          </a:xfrm>
        </p:grpSpPr>
        <p:sp>
          <p:nvSpPr>
            <p:cNvPr id="18" name="Oval 40">
              <a:extLst>
                <a:ext uri="{FF2B5EF4-FFF2-40B4-BE49-F238E27FC236}">
                  <a16:creationId xmlns:a16="http://schemas.microsoft.com/office/drawing/2014/main" id="{2ACEBA66-EE3D-DE03-F565-375AD0E24C00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2402299" y="3724807"/>
              <a:ext cx="108000" cy="1063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9" name="Oval 41">
              <a:extLst>
                <a:ext uri="{FF2B5EF4-FFF2-40B4-BE49-F238E27FC236}">
                  <a16:creationId xmlns:a16="http://schemas.microsoft.com/office/drawing/2014/main" id="{80DF4BBA-E261-CE37-4504-67347BC50BC5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2402299" y="3189005"/>
              <a:ext cx="108000" cy="1063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0" name="Text Box 45">
              <a:extLst>
                <a:ext uri="{FF2B5EF4-FFF2-40B4-BE49-F238E27FC236}">
                  <a16:creationId xmlns:a16="http://schemas.microsoft.com/office/drawing/2014/main" id="{5F8FD750-0232-422D-86A2-59A6FAAD6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023" y="3523803"/>
              <a:ext cx="179536" cy="15234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2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년</a:t>
              </a:r>
            </a:p>
          </p:txBody>
        </p:sp>
        <p:sp>
          <p:nvSpPr>
            <p:cNvPr id="21" name="Text Box 46">
              <a:extLst>
                <a:ext uri="{FF2B5EF4-FFF2-40B4-BE49-F238E27FC236}">
                  <a16:creationId xmlns:a16="http://schemas.microsoft.com/office/drawing/2014/main" id="{C2836AB2-FA42-2806-F16F-E4B031D79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023" y="3256140"/>
              <a:ext cx="179536" cy="15234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3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년</a:t>
              </a:r>
            </a:p>
          </p:txBody>
        </p:sp>
        <p:sp>
          <p:nvSpPr>
            <p:cNvPr id="22" name="Text Box 47">
              <a:extLst>
                <a:ext uri="{FF2B5EF4-FFF2-40B4-BE49-F238E27FC236}">
                  <a16:creationId xmlns:a16="http://schemas.microsoft.com/office/drawing/2014/main" id="{885C96D4-B733-EFBB-EAA8-565AB293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446" y="2667516"/>
              <a:ext cx="375103" cy="14196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kern="0" dirty="0">
                  <a:solidFill>
                    <a:srgbClr val="000000"/>
                  </a:solidFill>
                  <a:latin typeface="+mn-ea"/>
                </a:rPr>
                <a:t>(n-1)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년</a:t>
              </a:r>
            </a:p>
          </p:txBody>
        </p:sp>
        <p:sp>
          <p:nvSpPr>
            <p:cNvPr id="23" name="Oval 49">
              <a:extLst>
                <a:ext uri="{FF2B5EF4-FFF2-40B4-BE49-F238E27FC236}">
                  <a16:creationId xmlns:a16="http://schemas.microsoft.com/office/drawing/2014/main" id="{DE9A6896-D47A-CC63-774C-7F7441740680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2402299" y="2564036"/>
              <a:ext cx="108000" cy="1063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4" name="Oval 50">
              <a:extLst>
                <a:ext uri="{FF2B5EF4-FFF2-40B4-BE49-F238E27FC236}">
                  <a16:creationId xmlns:a16="http://schemas.microsoft.com/office/drawing/2014/main" id="{E5A34A41-AC0A-84E2-2057-59F5B1173746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2402299" y="2300143"/>
              <a:ext cx="108000" cy="1063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cxnSp>
          <p:nvCxnSpPr>
            <p:cNvPr id="25" name="AutoShape 42">
              <a:extLst>
                <a:ext uri="{FF2B5EF4-FFF2-40B4-BE49-F238E27FC236}">
                  <a16:creationId xmlns:a16="http://schemas.microsoft.com/office/drawing/2014/main" id="{D95279AF-C4BF-243A-E500-DA504AF55E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23363" y="3771158"/>
              <a:ext cx="2694" cy="267900"/>
            </a:xfrm>
            <a:prstGeom prst="curvedConnector3">
              <a:avLst>
                <a:gd name="adj1" fmla="val 37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6" name="AutoShape 43">
              <a:extLst>
                <a:ext uri="{FF2B5EF4-FFF2-40B4-BE49-F238E27FC236}">
                  <a16:creationId xmlns:a16="http://schemas.microsoft.com/office/drawing/2014/main" id="{B10442EF-A818-E889-049A-26A10DF3C9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523363" y="3503257"/>
              <a:ext cx="2694" cy="267901"/>
            </a:xfrm>
            <a:prstGeom prst="curvedConnector3">
              <a:avLst>
                <a:gd name="adj1" fmla="val -36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7" name="AutoShape 44">
              <a:extLst>
                <a:ext uri="{FF2B5EF4-FFF2-40B4-BE49-F238E27FC236}">
                  <a16:creationId xmlns:a16="http://schemas.microsoft.com/office/drawing/2014/main" id="{AA9233C7-4F3A-4213-4DE3-D2B4FA3449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23363" y="3235356"/>
              <a:ext cx="2694" cy="267901"/>
            </a:xfrm>
            <a:prstGeom prst="curvedConnector3">
              <a:avLst>
                <a:gd name="adj1" fmla="val 37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8" name="AutoShape 51">
              <a:extLst>
                <a:ext uri="{FF2B5EF4-FFF2-40B4-BE49-F238E27FC236}">
                  <a16:creationId xmlns:a16="http://schemas.microsoft.com/office/drawing/2014/main" id="{55C8AFFC-78FE-81FD-A66B-89DFCCBB0E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22018" y="2610387"/>
              <a:ext cx="5385" cy="267901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cxnSp>
          <p:nvCxnSpPr>
            <p:cNvPr id="29" name="AutoShape 52">
              <a:extLst>
                <a:ext uri="{FF2B5EF4-FFF2-40B4-BE49-F238E27FC236}">
                  <a16:creationId xmlns:a16="http://schemas.microsoft.com/office/drawing/2014/main" id="{C6198433-8530-03FA-F1A3-0BA95543DE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22018" y="2346494"/>
              <a:ext cx="5385" cy="267901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0" name="Text Box 53">
              <a:extLst>
                <a:ext uri="{FF2B5EF4-FFF2-40B4-BE49-F238E27FC236}">
                  <a16:creationId xmlns:a16="http://schemas.microsoft.com/office/drawing/2014/main" id="{0F8AA925-0666-CC9C-E8A9-033003840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023" y="2396810"/>
              <a:ext cx="179536" cy="15234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kern="0" noProof="0" dirty="0">
                  <a:solidFill>
                    <a:srgbClr val="000000"/>
                  </a:solidFill>
                  <a:latin typeface="+mn-ea"/>
                </a:rPr>
                <a:t>n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년</a:t>
              </a:r>
            </a:p>
          </p:txBody>
        </p:sp>
        <p:sp>
          <p:nvSpPr>
            <p:cNvPr id="31" name="Text Box 55">
              <a:extLst>
                <a:ext uri="{FF2B5EF4-FFF2-40B4-BE49-F238E27FC236}">
                  <a16:creationId xmlns:a16="http://schemas.microsoft.com/office/drawing/2014/main" id="{6B486CDC-8293-D972-3DAC-9086DEF4C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023" y="3820229"/>
              <a:ext cx="179536" cy="15234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L="285750" marR="0" lvl="0" indent="-285750" algn="ctr" defTabSz="914400" rtl="0" eaLnBrk="1" fontAlgn="auto" latinLnBrk="0" hangingPunct="1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1</a:t>
              </a:r>
              <a:r>
                <a:rPr kumimoji="1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년</a:t>
              </a:r>
            </a:p>
          </p:txBody>
        </p:sp>
        <p:sp>
          <p:nvSpPr>
            <p:cNvPr id="32" name="Oval 60">
              <a:extLst>
                <a:ext uri="{FF2B5EF4-FFF2-40B4-BE49-F238E27FC236}">
                  <a16:creationId xmlns:a16="http://schemas.microsoft.com/office/drawing/2014/main" id="{5EC0EC6D-B93B-02BD-09C4-80D2DEA18731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2402299" y="3456906"/>
              <a:ext cx="108000" cy="1063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3" name="Oval 66">
              <a:extLst>
                <a:ext uri="{FF2B5EF4-FFF2-40B4-BE49-F238E27FC236}">
                  <a16:creationId xmlns:a16="http://schemas.microsoft.com/office/drawing/2014/main" id="{52616423-8EE0-2B07-CA1B-FA4C2E2514E6}"/>
                </a:ext>
              </a:extLst>
            </p:cNvPr>
            <p:cNvSpPr>
              <a:spLocks noChangeAspect="1" noChangeArrowheads="1"/>
            </p:cNvSpPr>
            <p:nvPr/>
          </p:nvSpPr>
          <p:spPr bwMode="gray">
            <a:xfrm>
              <a:off x="2402299" y="3992707"/>
              <a:ext cx="108000" cy="1063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02817B1-9563-E142-1DDC-DBCC97418CA1}"/>
              </a:ext>
            </a:extLst>
          </p:cNvPr>
          <p:cNvSpPr txBox="1"/>
          <p:nvPr/>
        </p:nvSpPr>
        <p:spPr>
          <a:xfrm>
            <a:off x="3270507" y="4171251"/>
            <a:ext cx="902491" cy="16732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en-US" altLang="ko-KR" sz="1100" b="1" dirty="0"/>
              <a:t>Pay Band </a:t>
            </a:r>
            <a:r>
              <a:rPr lang="ko-KR" altLang="en-US" sz="1100" b="1" dirty="0"/>
              <a:t>하한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39A8D1-91D4-633E-9833-F8B1BF4131DA}"/>
              </a:ext>
            </a:extLst>
          </p:cNvPr>
          <p:cNvSpPr txBox="1"/>
          <p:nvPr/>
        </p:nvSpPr>
        <p:spPr>
          <a:xfrm>
            <a:off x="3270507" y="2653662"/>
            <a:ext cx="902491" cy="16732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en-US" altLang="ko-KR" sz="1100" b="1" dirty="0"/>
              <a:t>Pay Band </a:t>
            </a:r>
            <a:r>
              <a:rPr lang="ko-KR" altLang="en-US" sz="1100" b="1" dirty="0"/>
              <a:t>상한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02D2F09-DE12-E1A6-13FC-F2F19BC6869B}"/>
              </a:ext>
            </a:extLst>
          </p:cNvPr>
          <p:cNvGrpSpPr/>
          <p:nvPr/>
        </p:nvGrpSpPr>
        <p:grpSpPr>
          <a:xfrm>
            <a:off x="1914586" y="3157185"/>
            <a:ext cx="1191425" cy="316857"/>
            <a:chOff x="1866414" y="2227086"/>
            <a:chExt cx="1191425" cy="352615"/>
          </a:xfrm>
        </p:grpSpPr>
        <p:sp>
          <p:nvSpPr>
            <p:cNvPr id="37" name="이중 물결 36">
              <a:extLst>
                <a:ext uri="{FF2B5EF4-FFF2-40B4-BE49-F238E27FC236}">
                  <a16:creationId xmlns:a16="http://schemas.microsoft.com/office/drawing/2014/main" id="{5DE47EFB-ACD8-531B-6234-E4F1151DD687}"/>
                </a:ext>
              </a:extLst>
            </p:cNvPr>
            <p:cNvSpPr/>
            <p:nvPr/>
          </p:nvSpPr>
          <p:spPr>
            <a:xfrm>
              <a:off x="1866414" y="2227086"/>
              <a:ext cx="1191425" cy="352615"/>
            </a:xfrm>
            <a:prstGeom prst="doubleWave">
              <a:avLst>
                <a:gd name="adj1" fmla="val 8898"/>
                <a:gd name="adj2" fmla="val 0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lang="ko-KR" altLang="en-US" sz="1200" dirty="0" err="1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4CF579E-3B79-2BC8-AD31-E3B6F3475674}"/>
                </a:ext>
              </a:extLst>
            </p:cNvPr>
            <p:cNvSpPr txBox="1"/>
            <p:nvPr/>
          </p:nvSpPr>
          <p:spPr>
            <a:xfrm>
              <a:off x="2407624" y="2329292"/>
              <a:ext cx="109004" cy="15234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vert="eaVert" wrap="none" lIns="0" tIns="0" rIns="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9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en-US" altLang="ko-KR" dirty="0"/>
                <a:t>…</a:t>
              </a:r>
              <a:endParaRPr lang="ko-KR" altLang="en-US" dirty="0"/>
            </a:p>
          </p:txBody>
        </p: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22EC144-C1B0-A526-9099-D881AD8BC972}"/>
              </a:ext>
            </a:extLst>
          </p:cNvPr>
          <p:cNvCxnSpPr/>
          <p:nvPr/>
        </p:nvCxnSpPr>
        <p:spPr>
          <a:xfrm>
            <a:off x="273050" y="4492302"/>
            <a:ext cx="935464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6684282-46E3-F186-0FB1-E30D4D69C67A}"/>
              </a:ext>
            </a:extLst>
          </p:cNvPr>
          <p:cNvSpPr txBox="1"/>
          <p:nvPr/>
        </p:nvSpPr>
        <p:spPr>
          <a:xfrm>
            <a:off x="352928" y="4750579"/>
            <a:ext cx="266098" cy="16732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/>
              <a:t>개요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C5A4E5-F77E-4740-F69E-CF57AE9EADF1}"/>
              </a:ext>
            </a:extLst>
          </p:cNvPr>
          <p:cNvSpPr txBox="1"/>
          <p:nvPr/>
        </p:nvSpPr>
        <p:spPr>
          <a:xfrm>
            <a:off x="352928" y="5378305"/>
            <a:ext cx="266098" cy="16732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/>
              <a:t>장점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9964C3-7B0E-ED38-E206-29AEA2FA0CE9}"/>
              </a:ext>
            </a:extLst>
          </p:cNvPr>
          <p:cNvSpPr txBox="1"/>
          <p:nvPr/>
        </p:nvSpPr>
        <p:spPr>
          <a:xfrm>
            <a:off x="352928" y="5842345"/>
            <a:ext cx="266098" cy="16732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/>
              <a:t>단점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B666E1-EE38-20D0-A12E-7F86300CADDA}"/>
              </a:ext>
            </a:extLst>
          </p:cNvPr>
          <p:cNvSpPr txBox="1"/>
          <p:nvPr/>
        </p:nvSpPr>
        <p:spPr>
          <a:xfrm>
            <a:off x="7913410" y="4171251"/>
            <a:ext cx="902491" cy="16732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en-US" altLang="ko-KR" sz="1100" b="1" dirty="0"/>
              <a:t>Pay Band </a:t>
            </a:r>
            <a:r>
              <a:rPr lang="ko-KR" altLang="en-US" sz="1100" b="1" dirty="0"/>
              <a:t>하한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09F0B8-FD45-F6AA-E553-408D731706BB}"/>
              </a:ext>
            </a:extLst>
          </p:cNvPr>
          <p:cNvSpPr txBox="1"/>
          <p:nvPr/>
        </p:nvSpPr>
        <p:spPr>
          <a:xfrm>
            <a:off x="7905224" y="2653662"/>
            <a:ext cx="902491" cy="16732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en-US" altLang="ko-KR" sz="1100" b="1" dirty="0"/>
              <a:t>Pay Band </a:t>
            </a:r>
            <a:r>
              <a:rPr lang="ko-KR" altLang="en-US" sz="1100" b="1" dirty="0"/>
              <a:t>상한</a:t>
            </a:r>
          </a:p>
        </p:txBody>
      </p:sp>
      <p:sp>
        <p:nvSpPr>
          <p:cNvPr id="45" name="위쪽/아래쪽 화살표 122">
            <a:extLst>
              <a:ext uri="{FF2B5EF4-FFF2-40B4-BE49-F238E27FC236}">
                <a16:creationId xmlns:a16="http://schemas.microsoft.com/office/drawing/2014/main" id="{3EE976A4-D810-14CE-29A3-46601D5E6D2A}"/>
              </a:ext>
            </a:extLst>
          </p:cNvPr>
          <p:cNvSpPr/>
          <p:nvPr/>
        </p:nvSpPr>
        <p:spPr>
          <a:xfrm>
            <a:off x="6401097" y="2746793"/>
            <a:ext cx="1403350" cy="1520420"/>
          </a:xfrm>
          <a:prstGeom prst="upDownArrow">
            <a:avLst>
              <a:gd name="adj1" fmla="val 64479"/>
              <a:gd name="adj2" fmla="val 0"/>
            </a:avLst>
          </a:prstGeom>
          <a:solidFill>
            <a:srgbClr val="EDF2F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46" name="Line 19">
            <a:extLst>
              <a:ext uri="{FF2B5EF4-FFF2-40B4-BE49-F238E27FC236}">
                <a16:creationId xmlns:a16="http://schemas.microsoft.com/office/drawing/2014/main" id="{6FADF654-AE1E-BE14-EBEF-ACC607F81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2697" y="3507003"/>
            <a:ext cx="215501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" name="Oval 21">
            <a:extLst>
              <a:ext uri="{FF2B5EF4-FFF2-40B4-BE49-F238E27FC236}">
                <a16:creationId xmlns:a16="http://schemas.microsoft.com/office/drawing/2014/main" id="{3BD3468E-30DF-FE44-51C3-B59E29B90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772" y="3458479"/>
            <a:ext cx="108000" cy="9704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8" name="Oval 50">
            <a:extLst>
              <a:ext uri="{FF2B5EF4-FFF2-40B4-BE49-F238E27FC236}">
                <a16:creationId xmlns:a16="http://schemas.microsoft.com/office/drawing/2014/main" id="{42FE6D99-4F31-4E3C-7A58-FA7024ECC572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7048772" y="4216826"/>
            <a:ext cx="108000" cy="9555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9" name="Oval 50">
            <a:extLst>
              <a:ext uri="{FF2B5EF4-FFF2-40B4-BE49-F238E27FC236}">
                <a16:creationId xmlns:a16="http://schemas.microsoft.com/office/drawing/2014/main" id="{98145B25-B76E-5C2F-BC82-E3FEE04A5994}"/>
              </a:ext>
            </a:extLst>
          </p:cNvPr>
          <p:cNvSpPr>
            <a:spLocks noChangeAspect="1" noChangeArrowheads="1"/>
          </p:cNvSpPr>
          <p:nvPr/>
        </p:nvSpPr>
        <p:spPr bwMode="gray">
          <a:xfrm>
            <a:off x="7048772" y="2699082"/>
            <a:ext cx="108000" cy="9555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35E9F997-7E61-BAA3-7AE9-C5C1397D20CD}"/>
              </a:ext>
            </a:extLst>
          </p:cNvPr>
          <p:cNvCxnSpPr/>
          <p:nvPr/>
        </p:nvCxnSpPr>
        <p:spPr>
          <a:xfrm>
            <a:off x="7102772" y="3617728"/>
            <a:ext cx="0" cy="56831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C3D681B-AF6A-FC2D-BBDD-4A2142A7F74E}"/>
              </a:ext>
            </a:extLst>
          </p:cNvPr>
          <p:cNvCxnSpPr/>
          <p:nvPr/>
        </p:nvCxnSpPr>
        <p:spPr>
          <a:xfrm flipV="1">
            <a:off x="7102772" y="2824004"/>
            <a:ext cx="0" cy="56831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2" name="Text Box 29">
            <a:extLst>
              <a:ext uri="{FF2B5EF4-FFF2-40B4-BE49-F238E27FC236}">
                <a16:creationId xmlns:a16="http://schemas.microsoft.com/office/drawing/2014/main" id="{3B2F9C96-39BD-1996-AB60-80103C15F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634" y="3418070"/>
            <a:ext cx="1074013" cy="15971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050" dirty="0"/>
              <a:t>기준점 </a:t>
            </a:r>
            <a:r>
              <a:rPr lang="en-US" altLang="ko-KR" sz="1050" dirty="0"/>
              <a:t>× (1+x%)</a:t>
            </a:r>
            <a:r>
              <a:rPr lang="en-US" altLang="ko-KR" sz="1050" baseline="30000" dirty="0"/>
              <a:t>n</a:t>
            </a:r>
          </a:p>
        </p:txBody>
      </p:sp>
      <p:sp>
        <p:nvSpPr>
          <p:cNvPr id="53" name="Text Box 28">
            <a:extLst>
              <a:ext uri="{FF2B5EF4-FFF2-40B4-BE49-F238E27FC236}">
                <a16:creationId xmlns:a16="http://schemas.microsoft.com/office/drawing/2014/main" id="{29A601AE-16AF-9A6B-ADA1-6EC65B9D8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2492" y="3680311"/>
            <a:ext cx="1109278" cy="15971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050" dirty="0"/>
              <a:t>기준점 </a:t>
            </a:r>
            <a:r>
              <a:rPr lang="en-US" altLang="ko-KR" sz="1050" dirty="0"/>
              <a:t>× (1-α/2%)</a:t>
            </a:r>
          </a:p>
        </p:txBody>
      </p:sp>
      <p:sp>
        <p:nvSpPr>
          <p:cNvPr id="54" name="직사각형 200">
            <a:extLst>
              <a:ext uri="{FF2B5EF4-FFF2-40B4-BE49-F238E27FC236}">
                <a16:creationId xmlns:a16="http://schemas.microsoft.com/office/drawing/2014/main" id="{8D946322-4C6C-E52B-7030-E784F9D50763}"/>
              </a:ext>
            </a:extLst>
          </p:cNvPr>
          <p:cNvSpPr/>
          <p:nvPr/>
        </p:nvSpPr>
        <p:spPr>
          <a:xfrm>
            <a:off x="801538" y="2186734"/>
            <a:ext cx="199038" cy="177921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5" name="직사각형 200">
            <a:extLst>
              <a:ext uri="{FF2B5EF4-FFF2-40B4-BE49-F238E27FC236}">
                <a16:creationId xmlns:a16="http://schemas.microsoft.com/office/drawing/2014/main" id="{027CDFBC-EDB0-4D60-A653-6E7C2D160B23}"/>
              </a:ext>
            </a:extLst>
          </p:cNvPr>
          <p:cNvSpPr/>
          <p:nvPr/>
        </p:nvSpPr>
        <p:spPr>
          <a:xfrm>
            <a:off x="5318693" y="2186734"/>
            <a:ext cx="199038" cy="177921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6" name="Freeform 5">
            <a:extLst>
              <a:ext uri="{FF2B5EF4-FFF2-40B4-BE49-F238E27FC236}">
                <a16:creationId xmlns:a16="http://schemas.microsoft.com/office/drawing/2014/main" id="{B9B2449D-7357-77FF-829A-C2D4A955D314}"/>
              </a:ext>
            </a:extLst>
          </p:cNvPr>
          <p:cNvSpPr>
            <a:spLocks/>
          </p:cNvSpPr>
          <p:nvPr/>
        </p:nvSpPr>
        <p:spPr bwMode="auto">
          <a:xfrm>
            <a:off x="820101" y="2137221"/>
            <a:ext cx="215783" cy="191355"/>
          </a:xfrm>
          <a:custGeom>
            <a:avLst/>
            <a:gdLst>
              <a:gd name="T0" fmla="*/ 459 w 1695"/>
              <a:gd name="T1" fmla="*/ 1612 h 1634"/>
              <a:gd name="T2" fmla="*/ 333 w 1695"/>
              <a:gd name="T3" fmla="*/ 1355 h 1634"/>
              <a:gd name="T4" fmla="*/ 53 w 1695"/>
              <a:gd name="T5" fmla="*/ 944 h 1634"/>
              <a:gd name="T6" fmla="*/ 9 w 1695"/>
              <a:gd name="T7" fmla="*/ 938 h 1634"/>
              <a:gd name="T8" fmla="*/ 60 w 1695"/>
              <a:gd name="T9" fmla="*/ 854 h 1634"/>
              <a:gd name="T10" fmla="*/ 314 w 1695"/>
              <a:gd name="T11" fmla="*/ 815 h 1634"/>
              <a:gd name="T12" fmla="*/ 484 w 1695"/>
              <a:gd name="T13" fmla="*/ 1010 h 1634"/>
              <a:gd name="T14" fmla="*/ 519 w 1695"/>
              <a:gd name="T15" fmla="*/ 1058 h 1634"/>
              <a:gd name="T16" fmla="*/ 614 w 1695"/>
              <a:gd name="T17" fmla="*/ 938 h 1634"/>
              <a:gd name="T18" fmla="*/ 1043 w 1695"/>
              <a:gd name="T19" fmla="*/ 432 h 1634"/>
              <a:gd name="T20" fmla="*/ 1615 w 1695"/>
              <a:gd name="T21" fmla="*/ 18 h 1634"/>
              <a:gd name="T22" fmla="*/ 1684 w 1695"/>
              <a:gd name="T23" fmla="*/ 14 h 1634"/>
              <a:gd name="T24" fmla="*/ 1695 w 1695"/>
              <a:gd name="T25" fmla="*/ 36 h 1634"/>
              <a:gd name="T26" fmla="*/ 1608 w 1695"/>
              <a:gd name="T27" fmla="*/ 128 h 1634"/>
              <a:gd name="T28" fmla="*/ 1007 w 1695"/>
              <a:gd name="T29" fmla="*/ 804 h 1634"/>
              <a:gd name="T30" fmla="*/ 754 w 1695"/>
              <a:gd name="T31" fmla="*/ 1209 h 1634"/>
              <a:gd name="T32" fmla="*/ 629 w 1695"/>
              <a:gd name="T33" fmla="*/ 1442 h 1634"/>
              <a:gd name="T34" fmla="*/ 491 w 1695"/>
              <a:gd name="T35" fmla="*/ 1634 h 1634"/>
              <a:gd name="T36" fmla="*/ 459 w 1695"/>
              <a:gd name="T37" fmla="*/ 1612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95" h="1634">
                <a:moveTo>
                  <a:pt x="459" y="1612"/>
                </a:moveTo>
                <a:cubicBezTo>
                  <a:pt x="432" y="1584"/>
                  <a:pt x="397" y="1513"/>
                  <a:pt x="333" y="1355"/>
                </a:cubicBezTo>
                <a:cubicBezTo>
                  <a:pt x="208" y="1043"/>
                  <a:pt x="141" y="946"/>
                  <a:pt x="53" y="944"/>
                </a:cubicBezTo>
                <a:cubicBezTo>
                  <a:pt x="32" y="944"/>
                  <a:pt x="12" y="941"/>
                  <a:pt x="9" y="938"/>
                </a:cubicBezTo>
                <a:cubicBezTo>
                  <a:pt x="0" y="929"/>
                  <a:pt x="30" y="880"/>
                  <a:pt x="60" y="854"/>
                </a:cubicBezTo>
                <a:cubicBezTo>
                  <a:pt x="141" y="784"/>
                  <a:pt x="237" y="770"/>
                  <a:pt x="314" y="815"/>
                </a:cubicBezTo>
                <a:cubicBezTo>
                  <a:pt x="359" y="842"/>
                  <a:pt x="437" y="932"/>
                  <a:pt x="484" y="1010"/>
                </a:cubicBezTo>
                <a:cubicBezTo>
                  <a:pt x="500" y="1037"/>
                  <a:pt x="516" y="1058"/>
                  <a:pt x="519" y="1058"/>
                </a:cubicBezTo>
                <a:cubicBezTo>
                  <a:pt x="522" y="1059"/>
                  <a:pt x="565" y="1004"/>
                  <a:pt x="614" y="938"/>
                </a:cubicBezTo>
                <a:cubicBezTo>
                  <a:pt x="751" y="752"/>
                  <a:pt x="894" y="584"/>
                  <a:pt x="1043" y="432"/>
                </a:cubicBezTo>
                <a:cubicBezTo>
                  <a:pt x="1275" y="197"/>
                  <a:pt x="1442" y="76"/>
                  <a:pt x="1615" y="18"/>
                </a:cubicBezTo>
                <a:cubicBezTo>
                  <a:pt x="1669" y="0"/>
                  <a:pt x="1673" y="0"/>
                  <a:pt x="1684" y="14"/>
                </a:cubicBezTo>
                <a:cubicBezTo>
                  <a:pt x="1690" y="23"/>
                  <a:pt x="1695" y="33"/>
                  <a:pt x="1695" y="36"/>
                </a:cubicBezTo>
                <a:cubicBezTo>
                  <a:pt x="1695" y="40"/>
                  <a:pt x="1656" y="81"/>
                  <a:pt x="1608" y="128"/>
                </a:cubicBezTo>
                <a:cubicBezTo>
                  <a:pt x="1400" y="329"/>
                  <a:pt x="1145" y="615"/>
                  <a:pt x="1007" y="804"/>
                </a:cubicBezTo>
                <a:cubicBezTo>
                  <a:pt x="929" y="911"/>
                  <a:pt x="826" y="1075"/>
                  <a:pt x="754" y="1209"/>
                </a:cubicBezTo>
                <a:cubicBezTo>
                  <a:pt x="724" y="1265"/>
                  <a:pt x="668" y="1369"/>
                  <a:pt x="629" y="1442"/>
                </a:cubicBezTo>
                <a:cubicBezTo>
                  <a:pt x="561" y="1568"/>
                  <a:pt x="514" y="1634"/>
                  <a:pt x="491" y="1634"/>
                </a:cubicBezTo>
                <a:cubicBezTo>
                  <a:pt x="485" y="1634"/>
                  <a:pt x="471" y="1624"/>
                  <a:pt x="459" y="161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F6E2B8E-024E-F20B-227A-FBEFF67DB16D}"/>
              </a:ext>
            </a:extLst>
          </p:cNvPr>
          <p:cNvGrpSpPr/>
          <p:nvPr/>
        </p:nvGrpSpPr>
        <p:grpSpPr>
          <a:xfrm>
            <a:off x="273050" y="1621172"/>
            <a:ext cx="9359900" cy="319435"/>
            <a:chOff x="488950" y="1879556"/>
            <a:chExt cx="8928100" cy="300521"/>
          </a:xfrm>
        </p:grpSpPr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BC4E734C-DBAC-DF1F-3ADC-51AB883CDB50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C062F4F2-522F-1FA9-64AA-BF2FC3D7AE00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kumimoji="1" lang="en-US" altLang="ko-KR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Pay Band </a:t>
              </a: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설계 방법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2455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8619-0280-C9C2-C9B1-B8F430157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158568B-0C38-00B2-3436-88A35173D5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임금 불합리성 해소와 시장 경쟁력 강화를 위해 범위기본급</a:t>
            </a:r>
            <a:r>
              <a:rPr lang="en-US" altLang="ko-KR" dirty="0"/>
              <a:t>(Pay-Band)</a:t>
            </a:r>
            <a:r>
              <a:rPr lang="ko-KR" altLang="en-US" dirty="0"/>
              <a:t>형 임금체계를 도입하여 역할등급별 합리적 보상 구조를 마련함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2795BC6-DA44-9D0C-7C7A-8A8666D91C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E956A1-05F3-ABFB-4A99-A183B19F9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E1CF0C0-5350-6FB8-0EB6-2CAA60B230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1CB497-A317-4636-4941-CEDE4D4B4CAF}"/>
              </a:ext>
            </a:extLst>
          </p:cNvPr>
          <p:cNvGrpSpPr/>
          <p:nvPr/>
        </p:nvGrpSpPr>
        <p:grpSpPr>
          <a:xfrm>
            <a:off x="848301" y="2923813"/>
            <a:ext cx="1874522" cy="1569206"/>
            <a:chOff x="738503" y="2851930"/>
            <a:chExt cx="1874522" cy="156920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1955256-BF90-2729-3465-5C79AB69A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1739" y="3250558"/>
              <a:ext cx="376189" cy="785214"/>
              <a:chOff x="3642" y="3128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C114D70E-BD48-DA48-8112-04FE1676830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8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24" name="AutoShape 6">
                <a:extLst>
                  <a:ext uri="{FF2B5EF4-FFF2-40B4-BE49-F238E27FC236}">
                    <a16:creationId xmlns:a16="http://schemas.microsoft.com/office/drawing/2014/main" id="{EDD04901-4768-5712-0050-113B61B740DB}"/>
                  </a:ext>
                </a:extLst>
              </p:cNvPr>
              <p:cNvCxnSpPr>
                <a:cxnSpLocks noChangeShapeType="1"/>
                <a:stCxn id="23" idx="1"/>
                <a:endCxn id="23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39E5C6F-7FAB-B3C6-78A9-88B2812E2F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3025" y="2851931"/>
              <a:ext cx="376189" cy="785214"/>
              <a:chOff x="3642" y="3122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21" name="Rectangle 8">
                <a:extLst>
                  <a:ext uri="{FF2B5EF4-FFF2-40B4-BE49-F238E27FC236}">
                    <a16:creationId xmlns:a16="http://schemas.microsoft.com/office/drawing/2014/main" id="{6554F717-E9CD-A072-C145-0BF7B043EA9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2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22" name="AutoShape 9">
                <a:extLst>
                  <a:ext uri="{FF2B5EF4-FFF2-40B4-BE49-F238E27FC236}">
                    <a16:creationId xmlns:a16="http://schemas.microsoft.com/office/drawing/2014/main" id="{F9998E22-C104-AAAA-F701-621CF340F7D2}"/>
                  </a:ext>
                </a:extLst>
              </p:cNvPr>
              <p:cNvCxnSpPr>
                <a:cxnSpLocks noChangeShapeType="1"/>
                <a:stCxn id="21" idx="1"/>
                <a:endCxn id="21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3C05047D-3B47-94C2-E42E-C45EAF378D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0460" y="3635922"/>
              <a:ext cx="376189" cy="785214"/>
              <a:chOff x="3642" y="3122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19" name="Rectangle 11">
                <a:extLst>
                  <a:ext uri="{FF2B5EF4-FFF2-40B4-BE49-F238E27FC236}">
                    <a16:creationId xmlns:a16="http://schemas.microsoft.com/office/drawing/2014/main" id="{DE2ED518-3970-921F-1EC2-6944168F53B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2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20" name="AutoShape 12">
                <a:extLst>
                  <a:ext uri="{FF2B5EF4-FFF2-40B4-BE49-F238E27FC236}">
                    <a16:creationId xmlns:a16="http://schemas.microsoft.com/office/drawing/2014/main" id="{988CD241-0016-1DD1-4FBD-7E1BF078865F}"/>
                  </a:ext>
                </a:extLst>
              </p:cNvPr>
              <p:cNvCxnSpPr>
                <a:cxnSpLocks noChangeShapeType="1"/>
                <a:stCxn id="19" idx="1"/>
                <a:endCxn id="19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D7474126-CBBF-620D-C3FC-6D7F999B042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738503" y="2851930"/>
              <a:ext cx="1874522" cy="1423998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7179308-13E5-0817-9A79-D17C8770C553}"/>
                </a:ext>
              </a:extLst>
            </p:cNvPr>
            <p:cNvGrpSpPr/>
            <p:nvPr/>
          </p:nvGrpSpPr>
          <p:grpSpPr>
            <a:xfrm>
              <a:off x="776814" y="3637563"/>
              <a:ext cx="1000360" cy="399985"/>
              <a:chOff x="1228630" y="3890104"/>
              <a:chExt cx="969963" cy="98877"/>
            </a:xfrm>
          </p:grpSpPr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70A14934-5E45-9129-0C03-3C8DA33E212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7" name="Line 71">
                <a:extLst>
                  <a:ext uri="{FF2B5EF4-FFF2-40B4-BE49-F238E27FC236}">
                    <a16:creationId xmlns:a16="http://schemas.microsoft.com/office/drawing/2014/main" id="{B5461804-8819-F65A-E3FA-78EB95727DE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91089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8" name="Rectangle 34" descr="어두운 상향 대각선">
                <a:extLst>
                  <a:ext uri="{FF2B5EF4-FFF2-40B4-BE49-F238E27FC236}">
                    <a16:creationId xmlns:a16="http://schemas.microsoft.com/office/drawing/2014/main" id="{E86B46F5-9EE4-F53C-29E9-778C1A022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0104"/>
                <a:ext cx="847089" cy="97892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0549352-CC26-E034-9DFF-EFB88B336B36}"/>
                </a:ext>
              </a:extLst>
            </p:cNvPr>
            <p:cNvGrpSpPr/>
            <p:nvPr/>
          </p:nvGrpSpPr>
          <p:grpSpPr>
            <a:xfrm>
              <a:off x="1284591" y="3254870"/>
              <a:ext cx="1010247" cy="381187"/>
              <a:chOff x="1228630" y="3891089"/>
              <a:chExt cx="979549" cy="97892"/>
            </a:xfrm>
          </p:grpSpPr>
          <p:sp>
            <p:nvSpPr>
              <p:cNvPr id="13" name="Rectangle 34" descr="어두운 상향 대각선">
                <a:extLst>
                  <a:ext uri="{FF2B5EF4-FFF2-40B4-BE49-F238E27FC236}">
                    <a16:creationId xmlns:a16="http://schemas.microsoft.com/office/drawing/2014/main" id="{AC130C44-9DFA-170B-AB8B-F1999CF45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1090" y="3893788"/>
                <a:ext cx="847089" cy="92451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14" name="Line 70">
                <a:extLst>
                  <a:ext uri="{FF2B5EF4-FFF2-40B4-BE49-F238E27FC236}">
                    <a16:creationId xmlns:a16="http://schemas.microsoft.com/office/drawing/2014/main" id="{FFC7EAA6-5E54-5E38-6E50-3DB3BBF0CEE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" name="Line 71">
                <a:extLst>
                  <a:ext uri="{FF2B5EF4-FFF2-40B4-BE49-F238E27FC236}">
                    <a16:creationId xmlns:a16="http://schemas.microsoft.com/office/drawing/2014/main" id="{DD4AEDE5-C64D-E2AB-BF3A-77C6062738F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91089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25" name="Oval 81">
            <a:extLst>
              <a:ext uri="{FF2B5EF4-FFF2-40B4-BE49-F238E27FC236}">
                <a16:creationId xmlns:a16="http://schemas.microsoft.com/office/drawing/2014/main" id="{0F7B0D8B-55D3-FABE-F316-EF230EBA2E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62243" y="3747109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Oval 81">
            <a:extLst>
              <a:ext uri="{FF2B5EF4-FFF2-40B4-BE49-F238E27FC236}">
                <a16:creationId xmlns:a16="http://schemas.microsoft.com/office/drawing/2014/main" id="{B6ACFBEF-B85B-9A64-3299-462DEB896A8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02935" y="3713370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EED2ED0-3920-1A0D-40EA-A9283AA27D70}"/>
              </a:ext>
            </a:extLst>
          </p:cNvPr>
          <p:cNvGrpSpPr/>
          <p:nvPr/>
        </p:nvGrpSpPr>
        <p:grpSpPr>
          <a:xfrm>
            <a:off x="273050" y="5770712"/>
            <a:ext cx="9240751" cy="337087"/>
            <a:chOff x="273050" y="5770712"/>
            <a:chExt cx="9240751" cy="337087"/>
          </a:xfrm>
        </p:grpSpPr>
        <p:sp>
          <p:nvSpPr>
            <p:cNvPr id="28" name="화살표: 오른쪽 153">
              <a:extLst>
                <a:ext uri="{FF2B5EF4-FFF2-40B4-BE49-F238E27FC236}">
                  <a16:creationId xmlns:a16="http://schemas.microsoft.com/office/drawing/2014/main" id="{F4B22993-E3DB-AA39-9333-4490E0001F81}"/>
                </a:ext>
              </a:extLst>
            </p:cNvPr>
            <p:cNvSpPr/>
            <p:nvPr/>
          </p:nvSpPr>
          <p:spPr>
            <a:xfrm>
              <a:off x="273050" y="5770712"/>
              <a:ext cx="9240751" cy="337087"/>
            </a:xfrm>
            <a:prstGeom prst="rightArrow">
              <a:avLst>
                <a:gd name="adj1" fmla="val 50000"/>
                <a:gd name="adj2" fmla="val 67483"/>
              </a:avLst>
            </a:prstGeom>
            <a:solidFill>
              <a:srgbClr val="D9D9D9"/>
            </a:solidFill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ts val="16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F8F8056-2D2C-2BCE-823F-411AB9A8CAD0}"/>
                </a:ext>
              </a:extLst>
            </p:cNvPr>
            <p:cNvSpPr/>
            <p:nvPr/>
          </p:nvSpPr>
          <p:spPr>
            <a:xfrm>
              <a:off x="293224" y="5844624"/>
              <a:ext cx="925546" cy="1892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marL="0" marR="0" lvl="0" indent="0" defTabSz="914400" rtl="0" eaLnBrk="1" fontAlgn="base" latinLnBrk="0" hangingPunct="1">
                <a:lnSpc>
                  <a:spcPct val="100000"/>
                </a:lnSpc>
                <a:spcBef>
                  <a:spcPts val="1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1" kern="0" spc="-100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연봉제</a:t>
              </a:r>
              <a:r>
                <a:rPr kumimoji="1" lang="ko-KR" altLang="en-US" sz="900" b="1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도입 초기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D7B1074-411C-9335-AB3C-73F13A32DCE1}"/>
                </a:ext>
              </a:extLst>
            </p:cNvPr>
            <p:cNvSpPr/>
            <p:nvPr/>
          </p:nvSpPr>
          <p:spPr>
            <a:xfrm>
              <a:off x="8518023" y="5844624"/>
              <a:ext cx="764914" cy="1892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r" fontAlgn="base" latinLnBrk="0">
                <a:spcBef>
                  <a:spcPts val="100"/>
                </a:spcBef>
                <a:spcAft>
                  <a:spcPct val="0"/>
                </a:spcAft>
              </a:pPr>
              <a:r>
                <a:rPr kumimoji="1" lang="ko-KR" altLang="en-US" sz="900" b="1" kern="0" spc="-100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성숙기</a:t>
              </a: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CB6E3AC-53EC-C5C5-1F51-9B033BE98D3D}"/>
                </a:ext>
              </a:extLst>
            </p:cNvPr>
            <p:cNvSpPr/>
            <p:nvPr/>
          </p:nvSpPr>
          <p:spPr>
            <a:xfrm>
              <a:off x="4811214" y="5804427"/>
              <a:ext cx="266707" cy="269656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540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eaVert"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ko-KR" altLang="en-US" sz="14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DA6094E-8117-C5EC-E2D3-064AB87DAADC}"/>
                </a:ext>
              </a:extLst>
            </p:cNvPr>
            <p:cNvSpPr/>
            <p:nvPr/>
          </p:nvSpPr>
          <p:spPr>
            <a:xfrm>
              <a:off x="1652209" y="5804427"/>
              <a:ext cx="266707" cy="269656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540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eaVert"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ko-KR" altLang="en-US" sz="14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2BCB87B8-9076-AF13-77E6-2C79AEA60718}"/>
                </a:ext>
              </a:extLst>
            </p:cNvPr>
            <p:cNvSpPr/>
            <p:nvPr/>
          </p:nvSpPr>
          <p:spPr>
            <a:xfrm>
              <a:off x="7970219" y="5804427"/>
              <a:ext cx="266707" cy="269656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25400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eaVert"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ko-KR" altLang="en-US" sz="14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itchFamily="34" charset="0"/>
                <a:ea typeface="나눔고딕" panose="020D0604000000000000" pitchFamily="50" charset="-127"/>
                <a:cs typeface="+mn-cs"/>
              </a:endParaRPr>
            </a:p>
          </p:txBody>
        </p:sp>
      </p:grpSp>
      <p:sp>
        <p:nvSpPr>
          <p:cNvPr id="34" name="Text Box 12">
            <a:extLst>
              <a:ext uri="{FF2B5EF4-FFF2-40B4-BE49-F238E27FC236}">
                <a16:creationId xmlns:a16="http://schemas.microsoft.com/office/drawing/2014/main" id="{6D480C46-9344-DAB0-1D30-B7FE85B96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99" y="4752464"/>
            <a:ext cx="2779126" cy="857089"/>
          </a:xfrm>
          <a:prstGeom prst="rect">
            <a:avLst/>
          </a:prstGeom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kumimoji="1" lang="ko-KR" altLang="en-US" kern="0" dirty="0"/>
              <a:t>직급 간 임금격차가 거의 없는 경우 급여수준 차별화를 유도</a:t>
            </a:r>
            <a:endParaRPr kumimoji="1" lang="en-US" altLang="ko-KR" kern="0" dirty="0"/>
          </a:p>
          <a:p>
            <a:r>
              <a:rPr lang="ko-KR" altLang="en-US" dirty="0"/>
              <a:t>연봉제 도입 초기 주로 적용</a:t>
            </a:r>
            <a:endParaRPr lang="en-US" altLang="ko-KR" dirty="0"/>
          </a:p>
          <a:p>
            <a:r>
              <a:rPr lang="ko-KR" altLang="en-US" dirty="0"/>
              <a:t>근속 및 </a:t>
            </a:r>
            <a:r>
              <a:rPr lang="ko-KR" altLang="en-US" dirty="0" err="1"/>
              <a:t>연공성</a:t>
            </a:r>
            <a:r>
              <a:rPr lang="ko-KR" altLang="en-US" dirty="0"/>
              <a:t> 중시 기업</a:t>
            </a:r>
            <a:endParaRPr lang="en-US" altLang="ko-KR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95AFBDD-FA49-DB74-E833-B24B8ACE4DF8}"/>
              </a:ext>
            </a:extLst>
          </p:cNvPr>
          <p:cNvGrpSpPr/>
          <p:nvPr/>
        </p:nvGrpSpPr>
        <p:grpSpPr>
          <a:xfrm>
            <a:off x="496216" y="2450365"/>
            <a:ext cx="2578691" cy="2206979"/>
            <a:chOff x="890492" y="2523026"/>
            <a:chExt cx="2414588" cy="2263238"/>
          </a:xfrm>
        </p:grpSpPr>
        <p:sp>
          <p:nvSpPr>
            <p:cNvPr id="36" name="Line 15">
              <a:extLst>
                <a:ext uri="{FF2B5EF4-FFF2-40B4-BE49-F238E27FC236}">
                  <a16:creationId xmlns:a16="http://schemas.microsoft.com/office/drawing/2014/main" id="{7F2164E6-79E5-EC0E-3685-F11F6989B6D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893667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Line 16">
              <a:extLst>
                <a:ext uri="{FF2B5EF4-FFF2-40B4-BE49-F238E27FC236}">
                  <a16:creationId xmlns:a16="http://schemas.microsoft.com/office/drawing/2014/main" id="{FB819EB5-B942-028F-FED3-D4964D4DB76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890492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8" name="Rectangle 6">
            <a:extLst>
              <a:ext uri="{FF2B5EF4-FFF2-40B4-BE49-F238E27FC236}">
                <a16:creationId xmlns:a16="http://schemas.microsoft.com/office/drawing/2014/main" id="{F9CB5700-12B2-5CF7-ACE1-55AA48AA6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62" y="2037507"/>
            <a:ext cx="3024000" cy="286232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Option 1.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정률 </a:t>
            </a:r>
            <a:r>
              <a:rPr lang="ko-KR" altLang="en-US" sz="1400" b="1" kern="0" spc="-100">
                <a:solidFill>
                  <a:srgbClr val="FFFFFF"/>
                </a:solidFill>
                <a:latin typeface="+mn-ea"/>
              </a:rPr>
              <a:t>인상 방식</a:t>
            </a:r>
            <a:endParaRPr lang="en-US" altLang="ko-KR" sz="1400" b="1" kern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FEB93EC-9C4E-522F-55D2-D78F6593D35C}"/>
              </a:ext>
            </a:extLst>
          </p:cNvPr>
          <p:cNvSpPr/>
          <p:nvPr/>
        </p:nvSpPr>
        <p:spPr>
          <a:xfrm>
            <a:off x="273562" y="2034269"/>
            <a:ext cx="3024000" cy="3670414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0" name="Text Box 12">
            <a:extLst>
              <a:ext uri="{FF2B5EF4-FFF2-40B4-BE49-F238E27FC236}">
                <a16:creationId xmlns:a16="http://schemas.microsoft.com/office/drawing/2014/main" id="{5FAE421F-027C-B4A4-552A-79EE77656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5004" y="4752464"/>
            <a:ext cx="2779126" cy="805793"/>
          </a:xfrm>
          <a:prstGeom prst="rect">
            <a:avLst/>
          </a:prstGeom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lang="ko-KR" altLang="en-US" dirty="0"/>
              <a:t>동일 직급 내 임금격차가 큰 경우 </a:t>
            </a:r>
            <a:r>
              <a:rPr lang="ko-KR" altLang="en-US" dirty="0" err="1"/>
              <a:t>고연봉자의</a:t>
            </a:r>
            <a:r>
              <a:rPr lang="ko-KR" altLang="en-US" dirty="0"/>
              <a:t> 급여수준을</a:t>
            </a:r>
            <a:r>
              <a:rPr lang="en-US" altLang="ko-KR" dirty="0"/>
              <a:t> </a:t>
            </a:r>
            <a:r>
              <a:rPr kumimoji="1" lang="en-US" altLang="ko-KR" kern="0" dirty="0"/>
              <a:t>Band </a:t>
            </a:r>
            <a:r>
              <a:rPr kumimoji="1" lang="ko-KR" altLang="en-US" kern="0" dirty="0"/>
              <a:t>내 위치할 수 있도록 유도</a:t>
            </a:r>
            <a:endParaRPr lang="en-US" altLang="ko-KR" dirty="0"/>
          </a:p>
          <a:p>
            <a:r>
              <a:rPr lang="ko-KR" altLang="en-US" dirty="0"/>
              <a:t>연봉제 안정기에 주로 적용</a:t>
            </a:r>
            <a:endParaRPr lang="en-US" altLang="ko-KR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EF9DFB3-0716-202E-9BC4-E86A496DADEB}"/>
              </a:ext>
            </a:extLst>
          </p:cNvPr>
          <p:cNvGrpSpPr/>
          <p:nvPr/>
        </p:nvGrpSpPr>
        <p:grpSpPr>
          <a:xfrm>
            <a:off x="3655221" y="2450365"/>
            <a:ext cx="2578691" cy="2206979"/>
            <a:chOff x="3822603" y="2523026"/>
            <a:chExt cx="2414588" cy="2263238"/>
          </a:xfrm>
        </p:grpSpPr>
        <p:sp>
          <p:nvSpPr>
            <p:cNvPr id="42" name="Line 15">
              <a:extLst>
                <a:ext uri="{FF2B5EF4-FFF2-40B4-BE49-F238E27FC236}">
                  <a16:creationId xmlns:a16="http://schemas.microsoft.com/office/drawing/2014/main" id="{78A03F49-4447-F963-2A34-5C4EA1E4AA5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825778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Line 16">
              <a:extLst>
                <a:ext uri="{FF2B5EF4-FFF2-40B4-BE49-F238E27FC236}">
                  <a16:creationId xmlns:a16="http://schemas.microsoft.com/office/drawing/2014/main" id="{9C9E6905-5711-CEE7-369C-2A68DC53A17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822603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A54902B-8B26-FBCD-BF34-9AD961659F36}"/>
              </a:ext>
            </a:extLst>
          </p:cNvPr>
          <p:cNvGrpSpPr/>
          <p:nvPr/>
        </p:nvGrpSpPr>
        <p:grpSpPr>
          <a:xfrm>
            <a:off x="7259375" y="2606467"/>
            <a:ext cx="1688394" cy="1886552"/>
            <a:chOff x="4143235" y="2513788"/>
            <a:chExt cx="1640529" cy="2115383"/>
          </a:xfrm>
        </p:grpSpPr>
        <p:grpSp>
          <p:nvGrpSpPr>
            <p:cNvPr id="45" name="Group 4">
              <a:extLst>
                <a:ext uri="{FF2B5EF4-FFF2-40B4-BE49-F238E27FC236}">
                  <a16:creationId xmlns:a16="http://schemas.microsoft.com/office/drawing/2014/main" id="{6FE6A771-9FFF-B4AF-EE63-524F8A9305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0023" y="3219812"/>
              <a:ext cx="365524" cy="773353"/>
              <a:chOff x="3642" y="3125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61" name="Rectangle 5">
                <a:extLst>
                  <a:ext uri="{FF2B5EF4-FFF2-40B4-BE49-F238E27FC236}">
                    <a16:creationId xmlns:a16="http://schemas.microsoft.com/office/drawing/2014/main" id="{0FAB45F3-173D-FFB4-C27E-7B362ECB155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5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62" name="AutoShape 6">
                <a:extLst>
                  <a:ext uri="{FF2B5EF4-FFF2-40B4-BE49-F238E27FC236}">
                    <a16:creationId xmlns:a16="http://schemas.microsoft.com/office/drawing/2014/main" id="{E1B3DF8D-BAAA-BDD6-4891-40CCE5417BBE}"/>
                  </a:ext>
                </a:extLst>
              </p:cNvPr>
              <p:cNvCxnSpPr>
                <a:cxnSpLocks noChangeShapeType="1"/>
                <a:stCxn id="61" idx="1"/>
                <a:endCxn id="61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46" name="Group 7">
              <a:extLst>
                <a:ext uri="{FF2B5EF4-FFF2-40B4-BE49-F238E27FC236}">
                  <a16:creationId xmlns:a16="http://schemas.microsoft.com/office/drawing/2014/main" id="{60B8A6A2-6386-0368-FC52-E84B3F12EF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6814" y="2598375"/>
              <a:ext cx="365524" cy="773354"/>
              <a:chOff x="3642" y="3125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59" name="Rectangle 8">
                <a:extLst>
                  <a:ext uri="{FF2B5EF4-FFF2-40B4-BE49-F238E27FC236}">
                    <a16:creationId xmlns:a16="http://schemas.microsoft.com/office/drawing/2014/main" id="{26F59E73-627C-91CD-DCA4-D4E64A38E56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5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60" name="AutoShape 9">
                <a:extLst>
                  <a:ext uri="{FF2B5EF4-FFF2-40B4-BE49-F238E27FC236}">
                    <a16:creationId xmlns:a16="http://schemas.microsoft.com/office/drawing/2014/main" id="{19BF311E-E1B5-B966-0E4E-817FACB7466D}"/>
                  </a:ext>
                </a:extLst>
              </p:cNvPr>
              <p:cNvCxnSpPr>
                <a:cxnSpLocks noChangeShapeType="1"/>
                <a:stCxn id="59" idx="1"/>
                <a:endCxn id="59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47" name="Group 10">
              <a:extLst>
                <a:ext uri="{FF2B5EF4-FFF2-40B4-BE49-F238E27FC236}">
                  <a16:creationId xmlns:a16="http://schemas.microsoft.com/office/drawing/2014/main" id="{38BFAA63-D91D-6C98-AD0F-66EB1B3CE8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3237" y="3855817"/>
              <a:ext cx="365524" cy="773354"/>
              <a:chOff x="3642" y="3125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57" name="Rectangle 11">
                <a:extLst>
                  <a:ext uri="{FF2B5EF4-FFF2-40B4-BE49-F238E27FC236}">
                    <a16:creationId xmlns:a16="http://schemas.microsoft.com/office/drawing/2014/main" id="{0E821FEC-51DD-0087-7156-89215F38CEB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5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58" name="AutoShape 12">
                <a:extLst>
                  <a:ext uri="{FF2B5EF4-FFF2-40B4-BE49-F238E27FC236}">
                    <a16:creationId xmlns:a16="http://schemas.microsoft.com/office/drawing/2014/main" id="{A781CAC4-8AD0-59DE-84B4-4C08ECDAE5EB}"/>
                  </a:ext>
                </a:extLst>
              </p:cNvPr>
              <p:cNvCxnSpPr>
                <a:cxnSpLocks noChangeShapeType="1"/>
                <a:stCxn id="57" idx="1"/>
                <a:endCxn id="57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48" name="Line 64">
              <a:extLst>
                <a:ext uri="{FF2B5EF4-FFF2-40B4-BE49-F238E27FC236}">
                  <a16:creationId xmlns:a16="http://schemas.microsoft.com/office/drawing/2014/main" id="{DABFC721-A4D2-4785-B46C-823B2572002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4168682" y="2513788"/>
              <a:ext cx="1615082" cy="2076511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EEDC1C9B-0288-2349-E941-5FBC222E25EA}"/>
                </a:ext>
              </a:extLst>
            </p:cNvPr>
            <p:cNvGrpSpPr/>
            <p:nvPr/>
          </p:nvGrpSpPr>
          <p:grpSpPr>
            <a:xfrm>
              <a:off x="4640012" y="3218527"/>
              <a:ext cx="972000" cy="151119"/>
              <a:chOff x="1228630" y="3886249"/>
              <a:chExt cx="969963" cy="102732"/>
            </a:xfrm>
          </p:grpSpPr>
          <p:sp>
            <p:nvSpPr>
              <p:cNvPr id="54" name="Line 70">
                <a:extLst>
                  <a:ext uri="{FF2B5EF4-FFF2-40B4-BE49-F238E27FC236}">
                    <a16:creationId xmlns:a16="http://schemas.microsoft.com/office/drawing/2014/main" id="{1BDF6F56-1F84-DCA8-50E0-21FDC49BA52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5" name="Line 71">
                <a:extLst>
                  <a:ext uri="{FF2B5EF4-FFF2-40B4-BE49-F238E27FC236}">
                    <a16:creationId xmlns:a16="http://schemas.microsoft.com/office/drawing/2014/main" id="{D0694FE6-D2CD-6B87-72E4-3C8D3EBA4AD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86249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" name="Rectangle 34" descr="어두운 상향 대각선">
                <a:extLst>
                  <a:ext uri="{FF2B5EF4-FFF2-40B4-BE49-F238E27FC236}">
                    <a16:creationId xmlns:a16="http://schemas.microsoft.com/office/drawing/2014/main" id="{87A8805D-8BC7-FA87-EE57-DCF316757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5017"/>
                <a:ext cx="847089" cy="88706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55948A92-B707-28EA-5E98-380B0AFC6DC9}"/>
                </a:ext>
              </a:extLst>
            </p:cNvPr>
            <p:cNvGrpSpPr/>
            <p:nvPr/>
          </p:nvGrpSpPr>
          <p:grpSpPr>
            <a:xfrm>
              <a:off x="4143235" y="3855533"/>
              <a:ext cx="972000" cy="136880"/>
              <a:chOff x="1228630" y="3891089"/>
              <a:chExt cx="969963" cy="93052"/>
            </a:xfrm>
          </p:grpSpPr>
          <p:sp>
            <p:nvSpPr>
              <p:cNvPr id="51" name="Line 70">
                <a:extLst>
                  <a:ext uri="{FF2B5EF4-FFF2-40B4-BE49-F238E27FC236}">
                    <a16:creationId xmlns:a16="http://schemas.microsoft.com/office/drawing/2014/main" id="{7692029B-2822-AE1D-8775-509DFE81D18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414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2" name="Line 71">
                <a:extLst>
                  <a:ext uri="{FF2B5EF4-FFF2-40B4-BE49-F238E27FC236}">
                    <a16:creationId xmlns:a16="http://schemas.microsoft.com/office/drawing/2014/main" id="{ACF8264E-CCA1-417A-59F6-43E2D6F4319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91089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3" name="Rectangle 34" descr="어두운 상향 대각선">
                <a:extLst>
                  <a:ext uri="{FF2B5EF4-FFF2-40B4-BE49-F238E27FC236}">
                    <a16:creationId xmlns:a16="http://schemas.microsoft.com/office/drawing/2014/main" id="{20E8A059-2A5E-98BE-6270-E3C6FE52E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5017"/>
                <a:ext cx="847089" cy="88706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</p:grpSp>
      <p:sp>
        <p:nvSpPr>
          <p:cNvPr id="63" name="Rectangle 6">
            <a:extLst>
              <a:ext uri="{FF2B5EF4-FFF2-40B4-BE49-F238E27FC236}">
                <a16:creationId xmlns:a16="http://schemas.microsoft.com/office/drawing/2014/main" id="{159951C4-0751-02C5-FE20-5E4C41776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567" y="2037252"/>
            <a:ext cx="3024000" cy="286232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Option 2.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직급별 정액 인상 방식</a:t>
            </a:r>
            <a:endParaRPr lang="en-US" altLang="ko-KR" sz="1400" b="1" kern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DD44F43-CC8F-015B-D15B-37FEDC12F088}"/>
              </a:ext>
            </a:extLst>
          </p:cNvPr>
          <p:cNvSpPr/>
          <p:nvPr/>
        </p:nvSpPr>
        <p:spPr>
          <a:xfrm>
            <a:off x="3432567" y="2034269"/>
            <a:ext cx="3024000" cy="3670414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5" name="Text Box 12">
            <a:extLst>
              <a:ext uri="{FF2B5EF4-FFF2-40B4-BE49-F238E27FC236}">
                <a16:creationId xmlns:a16="http://schemas.microsoft.com/office/drawing/2014/main" id="{DFDD7D64-6887-1B66-CBA5-9AD14EA97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009" y="4752464"/>
            <a:ext cx="2779127" cy="805793"/>
          </a:xfrm>
          <a:prstGeom prst="rect">
            <a:avLst/>
          </a:prstGeom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kumimoji="1" lang="ko-KR" altLang="en-US" kern="0" dirty="0"/>
              <a:t>직급 간 임금격차가 큰 경우 </a:t>
            </a:r>
            <a:r>
              <a:rPr kumimoji="1" lang="ko-KR" altLang="en-US" kern="0" dirty="0" err="1"/>
              <a:t>상위직급</a:t>
            </a:r>
            <a:r>
              <a:rPr kumimoji="1" lang="ko-KR" altLang="en-US" kern="0" dirty="0"/>
              <a:t> </a:t>
            </a:r>
            <a:r>
              <a:rPr kumimoji="1" lang="ko-KR" altLang="en-US" kern="0" dirty="0" err="1"/>
              <a:t>고연봉자의</a:t>
            </a:r>
            <a:r>
              <a:rPr kumimoji="1" lang="ko-KR" altLang="en-US" kern="0" dirty="0"/>
              <a:t> 급여수준을 </a:t>
            </a:r>
            <a:r>
              <a:rPr kumimoji="1" lang="en-US" altLang="ko-KR" kern="0" dirty="0"/>
              <a:t>Band </a:t>
            </a:r>
            <a:r>
              <a:rPr kumimoji="1" lang="ko-KR" altLang="en-US" kern="0" dirty="0"/>
              <a:t>내 위치할 수 있도록 유도</a:t>
            </a:r>
            <a:r>
              <a:rPr kumimoji="1" lang="en-US" altLang="ko-KR" kern="0" dirty="0"/>
              <a:t>(</a:t>
            </a:r>
            <a:r>
              <a:rPr lang="ko-KR" altLang="en-US" dirty="0"/>
              <a:t>간접적 </a:t>
            </a:r>
            <a:r>
              <a:rPr lang="ko-KR" altLang="en-US" dirty="0" err="1"/>
              <a:t>임금피크제</a:t>
            </a:r>
            <a:r>
              <a:rPr lang="en-US" altLang="ko-KR" dirty="0"/>
              <a:t>)</a:t>
            </a:r>
            <a:endParaRPr kumimoji="1" lang="en-US" altLang="ko-KR" kern="0" dirty="0"/>
          </a:p>
          <a:p>
            <a:r>
              <a:rPr lang="ko-KR" altLang="en-US" dirty="0"/>
              <a:t>연봉제 성숙기에 주로 적용</a:t>
            </a:r>
            <a:endParaRPr lang="en-US" altLang="ko-KR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B2EF178E-6225-10A4-4056-E715132A5166}"/>
              </a:ext>
            </a:extLst>
          </p:cNvPr>
          <p:cNvGrpSpPr/>
          <p:nvPr/>
        </p:nvGrpSpPr>
        <p:grpSpPr>
          <a:xfrm>
            <a:off x="6814227" y="2450365"/>
            <a:ext cx="2578691" cy="2206979"/>
            <a:chOff x="6813041" y="2523026"/>
            <a:chExt cx="2414588" cy="2263238"/>
          </a:xfrm>
        </p:grpSpPr>
        <p:sp>
          <p:nvSpPr>
            <p:cNvPr id="67" name="Line 15">
              <a:extLst>
                <a:ext uri="{FF2B5EF4-FFF2-40B4-BE49-F238E27FC236}">
                  <a16:creationId xmlns:a16="http://schemas.microsoft.com/office/drawing/2014/main" id="{90857579-39C7-D241-B7BA-874B4E7A98D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814629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Line 16">
              <a:extLst>
                <a:ext uri="{FF2B5EF4-FFF2-40B4-BE49-F238E27FC236}">
                  <a16:creationId xmlns:a16="http://schemas.microsoft.com/office/drawing/2014/main" id="{5914AC08-B0AB-72A3-D014-1195E598991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6813041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0D05603-6D96-6603-A4CC-6E6161D17251}"/>
              </a:ext>
            </a:extLst>
          </p:cNvPr>
          <p:cNvGrpSpPr/>
          <p:nvPr/>
        </p:nvGrpSpPr>
        <p:grpSpPr>
          <a:xfrm>
            <a:off x="4085940" y="2789880"/>
            <a:ext cx="1717254" cy="1703139"/>
            <a:chOff x="7129774" y="2506678"/>
            <a:chExt cx="1668570" cy="2053968"/>
          </a:xfrm>
        </p:grpSpPr>
        <p:grpSp>
          <p:nvGrpSpPr>
            <p:cNvPr id="70" name="Group 4">
              <a:extLst>
                <a:ext uri="{FF2B5EF4-FFF2-40B4-BE49-F238E27FC236}">
                  <a16:creationId xmlns:a16="http://schemas.microsoft.com/office/drawing/2014/main" id="{D0640DF2-B792-F7EF-4A27-15E1841872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36982" y="3184328"/>
              <a:ext cx="365524" cy="785214"/>
              <a:chOff x="3642" y="3128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86" name="Rectangle 5">
                <a:extLst>
                  <a:ext uri="{FF2B5EF4-FFF2-40B4-BE49-F238E27FC236}">
                    <a16:creationId xmlns:a16="http://schemas.microsoft.com/office/drawing/2014/main" id="{1F8A3C5C-3385-5B75-7961-2031072FEDF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8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87" name="AutoShape 6">
                <a:extLst>
                  <a:ext uri="{FF2B5EF4-FFF2-40B4-BE49-F238E27FC236}">
                    <a16:creationId xmlns:a16="http://schemas.microsoft.com/office/drawing/2014/main" id="{236E67D0-5D47-EE8F-58B3-8A2E87A15FC1}"/>
                  </a:ext>
                </a:extLst>
              </p:cNvPr>
              <p:cNvCxnSpPr>
                <a:cxnSpLocks noChangeShapeType="1"/>
                <a:stCxn id="86" idx="1"/>
                <a:endCxn id="86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71" name="Group 7">
              <a:extLst>
                <a:ext uri="{FF2B5EF4-FFF2-40B4-BE49-F238E27FC236}">
                  <a16:creationId xmlns:a16="http://schemas.microsoft.com/office/drawing/2014/main" id="{ECBCF14D-4768-0752-4521-2EC4ED02DC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33773" y="2587581"/>
              <a:ext cx="365524" cy="785214"/>
              <a:chOff x="3642" y="3122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84" name="Rectangle 8">
                <a:extLst>
                  <a:ext uri="{FF2B5EF4-FFF2-40B4-BE49-F238E27FC236}">
                    <a16:creationId xmlns:a16="http://schemas.microsoft.com/office/drawing/2014/main" id="{3D6D2CDA-22EC-25E0-8986-51EE33A0361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2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85" name="AutoShape 9">
                <a:extLst>
                  <a:ext uri="{FF2B5EF4-FFF2-40B4-BE49-F238E27FC236}">
                    <a16:creationId xmlns:a16="http://schemas.microsoft.com/office/drawing/2014/main" id="{F33438EB-48C0-5C95-F17C-19A6B43622B3}"/>
                  </a:ext>
                </a:extLst>
              </p:cNvPr>
              <p:cNvCxnSpPr>
                <a:cxnSpLocks noChangeShapeType="1"/>
                <a:stCxn id="84" idx="1"/>
                <a:endCxn id="84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72" name="Group 10">
              <a:extLst>
                <a:ext uri="{FF2B5EF4-FFF2-40B4-BE49-F238E27FC236}">
                  <a16:creationId xmlns:a16="http://schemas.microsoft.com/office/drawing/2014/main" id="{B6F983C6-9FA1-8A65-F0A9-EC838CF09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40198" y="3775432"/>
              <a:ext cx="365524" cy="785214"/>
              <a:chOff x="3642" y="3122"/>
              <a:chExt cx="440" cy="468"/>
            </a:xfrm>
            <a:solidFill>
              <a:schemeClr val="bg1">
                <a:lumMod val="95000"/>
              </a:schemeClr>
            </a:solidFill>
          </p:grpSpPr>
          <p:sp>
            <p:nvSpPr>
              <p:cNvPr id="82" name="Rectangle 11">
                <a:extLst>
                  <a:ext uri="{FF2B5EF4-FFF2-40B4-BE49-F238E27FC236}">
                    <a16:creationId xmlns:a16="http://schemas.microsoft.com/office/drawing/2014/main" id="{08FF4333-73CD-7DD0-1CA4-57895F181E0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642" y="3122"/>
                <a:ext cx="440" cy="4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atinLnBrk="0">
                  <a:defRPr/>
                </a:pPr>
                <a:endParaRPr kumimoji="1" lang="en-GB" altLang="ko-KR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cxnSp>
            <p:nvCxnSpPr>
              <p:cNvPr id="83" name="AutoShape 12">
                <a:extLst>
                  <a:ext uri="{FF2B5EF4-FFF2-40B4-BE49-F238E27FC236}">
                    <a16:creationId xmlns:a16="http://schemas.microsoft.com/office/drawing/2014/main" id="{44247889-480F-F243-9D29-5046EF728C21}"/>
                  </a:ext>
                </a:extLst>
              </p:cNvPr>
              <p:cNvCxnSpPr>
                <a:cxnSpLocks noChangeShapeType="1"/>
                <a:stCxn id="82" idx="1"/>
                <a:endCxn id="82" idx="3"/>
              </p:cNvCxnSpPr>
              <p:nvPr/>
            </p:nvCxnSpPr>
            <p:spPr bwMode="gray">
              <a:xfrm rot="10800000" flipH="1">
                <a:off x="3642" y="3359"/>
                <a:ext cx="440" cy="1"/>
              </a:xfrm>
              <a:prstGeom prst="straightConnector1">
                <a:avLst/>
              </a:prstGeom>
              <a:grp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73" name="Line 64">
              <a:extLst>
                <a:ext uri="{FF2B5EF4-FFF2-40B4-BE49-F238E27FC236}">
                  <a16:creationId xmlns:a16="http://schemas.microsoft.com/office/drawing/2014/main" id="{CBCEEAF7-341F-CAC0-3F92-CF6714BD8E9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7154354" y="2506678"/>
              <a:ext cx="1643990" cy="2022326"/>
            </a:xfrm>
            <a:prstGeom prst="lin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E2DD26F0-7205-1688-40D5-51F08FAA09D7}"/>
                </a:ext>
              </a:extLst>
            </p:cNvPr>
            <p:cNvGrpSpPr/>
            <p:nvPr/>
          </p:nvGrpSpPr>
          <p:grpSpPr>
            <a:xfrm>
              <a:off x="7129774" y="3774694"/>
              <a:ext cx="972000" cy="190712"/>
              <a:chOff x="1228630" y="3891089"/>
              <a:chExt cx="969963" cy="97892"/>
            </a:xfrm>
          </p:grpSpPr>
          <p:sp>
            <p:nvSpPr>
              <p:cNvPr id="79" name="Line 70">
                <a:extLst>
                  <a:ext uri="{FF2B5EF4-FFF2-40B4-BE49-F238E27FC236}">
                    <a16:creationId xmlns:a16="http://schemas.microsoft.com/office/drawing/2014/main" id="{C2DC6F57-77D8-DC17-8FD7-246A44C8650A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0" name="Line 71">
                <a:extLst>
                  <a:ext uri="{FF2B5EF4-FFF2-40B4-BE49-F238E27FC236}">
                    <a16:creationId xmlns:a16="http://schemas.microsoft.com/office/drawing/2014/main" id="{34C6A802-87CE-057B-259B-278BB81570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91089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1" name="Rectangle 34" descr="어두운 상향 대각선">
                <a:extLst>
                  <a:ext uri="{FF2B5EF4-FFF2-40B4-BE49-F238E27FC236}">
                    <a16:creationId xmlns:a16="http://schemas.microsoft.com/office/drawing/2014/main" id="{604F6E7C-E53F-68DD-FB93-4BA971322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5011"/>
                <a:ext cx="847089" cy="88706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EBC4AE7C-8432-E3D8-0D37-591440C78E0B}"/>
                </a:ext>
              </a:extLst>
            </p:cNvPr>
            <p:cNvGrpSpPr/>
            <p:nvPr/>
          </p:nvGrpSpPr>
          <p:grpSpPr>
            <a:xfrm>
              <a:off x="7623155" y="3183535"/>
              <a:ext cx="972000" cy="190712"/>
              <a:chOff x="1228630" y="3891089"/>
              <a:chExt cx="969963" cy="97892"/>
            </a:xfrm>
          </p:grpSpPr>
          <p:sp>
            <p:nvSpPr>
              <p:cNvPr id="76" name="Line 70">
                <a:extLst>
                  <a:ext uri="{FF2B5EF4-FFF2-40B4-BE49-F238E27FC236}">
                    <a16:creationId xmlns:a16="http://schemas.microsoft.com/office/drawing/2014/main" id="{679E97B0-B2A1-EDB9-86BD-6AB523987C1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988981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7" name="Line 71">
                <a:extLst>
                  <a:ext uri="{FF2B5EF4-FFF2-40B4-BE49-F238E27FC236}">
                    <a16:creationId xmlns:a16="http://schemas.microsoft.com/office/drawing/2014/main" id="{409A9C8D-3727-E483-B399-A21E9942CB4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228630" y="3891089"/>
                <a:ext cx="969963" cy="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lIns="90000" tIns="46800" rIns="90000" bIns="46800" anchor="ctr"/>
              <a:lstStyle/>
              <a:p>
                <a:pPr eaLnBrk="1" hangingPunct="1">
                  <a:buFont typeface="Wingdings" pitchFamily="2" charset="2"/>
                  <a:buNone/>
                  <a:defRPr/>
                </a:pPr>
                <a:endParaRPr kumimoji="1" lang="ko-KR" altLang="en-US" sz="1000" kern="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8" name="Rectangle 34" descr="어두운 상향 대각선">
                <a:extLst>
                  <a:ext uri="{FF2B5EF4-FFF2-40B4-BE49-F238E27FC236}">
                    <a16:creationId xmlns:a16="http://schemas.microsoft.com/office/drawing/2014/main" id="{270400A3-1DDC-1FF9-408E-D805FCA1D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746" y="3897456"/>
                <a:ext cx="847089" cy="88706"/>
              </a:xfrm>
              <a:prstGeom prst="rect">
                <a:avLst/>
              </a:prstGeom>
              <a:pattFill prst="wdUpDiag">
                <a:fgClr>
                  <a:schemeClr val="tx1">
                    <a:lumMod val="65000"/>
                    <a:lumOff val="35000"/>
                    <a:alpha val="50195"/>
                  </a:schemeClr>
                </a:fgClr>
                <a:bgClr>
                  <a:srgbClr val="FFFFFF">
                    <a:alpha val="50195"/>
                  </a:srgbClr>
                </a:bgClr>
              </a:pattFill>
              <a:ln w="28575" algn="ctr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r" latinLnBrk="0">
                  <a:defRPr/>
                </a:pPr>
                <a:endParaRPr lang="ko-KR" altLang="en-US" kern="0" spc="-1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</p:grpSp>
      <p:sp>
        <p:nvSpPr>
          <p:cNvPr id="88" name="Rectangle 6">
            <a:extLst>
              <a:ext uri="{FF2B5EF4-FFF2-40B4-BE49-F238E27FC236}">
                <a16:creationId xmlns:a16="http://schemas.microsoft.com/office/drawing/2014/main" id="{D4F07A9A-718B-18A3-B40E-231EEFA4A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572" y="2037507"/>
            <a:ext cx="3024000" cy="286232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Option 3.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정액 인상 방식</a:t>
            </a:r>
            <a:endParaRPr lang="en-US" altLang="ko-KR" sz="1400" b="1" kern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0E76EFF-F0AE-D9E1-2645-B6059539182A}"/>
              </a:ext>
            </a:extLst>
          </p:cNvPr>
          <p:cNvSpPr/>
          <p:nvPr/>
        </p:nvSpPr>
        <p:spPr>
          <a:xfrm>
            <a:off x="6591572" y="2034269"/>
            <a:ext cx="3024000" cy="3670414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0" name="Freeform 5">
            <a:extLst>
              <a:ext uri="{FF2B5EF4-FFF2-40B4-BE49-F238E27FC236}">
                <a16:creationId xmlns:a16="http://schemas.microsoft.com/office/drawing/2014/main" id="{5CFABBFD-449D-AABD-BB4B-3767D00C9173}"/>
              </a:ext>
            </a:extLst>
          </p:cNvPr>
          <p:cNvSpPr>
            <a:spLocks/>
          </p:cNvSpPr>
          <p:nvPr/>
        </p:nvSpPr>
        <p:spPr bwMode="auto">
          <a:xfrm>
            <a:off x="1716740" y="5800091"/>
            <a:ext cx="215783" cy="212950"/>
          </a:xfrm>
          <a:custGeom>
            <a:avLst/>
            <a:gdLst>
              <a:gd name="T0" fmla="*/ 459 w 1695"/>
              <a:gd name="T1" fmla="*/ 1612 h 1634"/>
              <a:gd name="T2" fmla="*/ 333 w 1695"/>
              <a:gd name="T3" fmla="*/ 1355 h 1634"/>
              <a:gd name="T4" fmla="*/ 53 w 1695"/>
              <a:gd name="T5" fmla="*/ 944 h 1634"/>
              <a:gd name="T6" fmla="*/ 9 w 1695"/>
              <a:gd name="T7" fmla="*/ 938 h 1634"/>
              <a:gd name="T8" fmla="*/ 60 w 1695"/>
              <a:gd name="T9" fmla="*/ 854 h 1634"/>
              <a:gd name="T10" fmla="*/ 314 w 1695"/>
              <a:gd name="T11" fmla="*/ 815 h 1634"/>
              <a:gd name="T12" fmla="*/ 484 w 1695"/>
              <a:gd name="T13" fmla="*/ 1010 h 1634"/>
              <a:gd name="T14" fmla="*/ 519 w 1695"/>
              <a:gd name="T15" fmla="*/ 1058 h 1634"/>
              <a:gd name="T16" fmla="*/ 614 w 1695"/>
              <a:gd name="T17" fmla="*/ 938 h 1634"/>
              <a:gd name="T18" fmla="*/ 1043 w 1695"/>
              <a:gd name="T19" fmla="*/ 432 h 1634"/>
              <a:gd name="T20" fmla="*/ 1615 w 1695"/>
              <a:gd name="T21" fmla="*/ 18 h 1634"/>
              <a:gd name="T22" fmla="*/ 1684 w 1695"/>
              <a:gd name="T23" fmla="*/ 14 h 1634"/>
              <a:gd name="T24" fmla="*/ 1695 w 1695"/>
              <a:gd name="T25" fmla="*/ 36 h 1634"/>
              <a:gd name="T26" fmla="*/ 1608 w 1695"/>
              <a:gd name="T27" fmla="*/ 128 h 1634"/>
              <a:gd name="T28" fmla="*/ 1007 w 1695"/>
              <a:gd name="T29" fmla="*/ 804 h 1634"/>
              <a:gd name="T30" fmla="*/ 754 w 1695"/>
              <a:gd name="T31" fmla="*/ 1209 h 1634"/>
              <a:gd name="T32" fmla="*/ 629 w 1695"/>
              <a:gd name="T33" fmla="*/ 1442 h 1634"/>
              <a:gd name="T34" fmla="*/ 491 w 1695"/>
              <a:gd name="T35" fmla="*/ 1634 h 1634"/>
              <a:gd name="T36" fmla="*/ 459 w 1695"/>
              <a:gd name="T37" fmla="*/ 1612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95" h="1634">
                <a:moveTo>
                  <a:pt x="459" y="1612"/>
                </a:moveTo>
                <a:cubicBezTo>
                  <a:pt x="432" y="1584"/>
                  <a:pt x="397" y="1513"/>
                  <a:pt x="333" y="1355"/>
                </a:cubicBezTo>
                <a:cubicBezTo>
                  <a:pt x="208" y="1043"/>
                  <a:pt x="141" y="946"/>
                  <a:pt x="53" y="944"/>
                </a:cubicBezTo>
                <a:cubicBezTo>
                  <a:pt x="32" y="944"/>
                  <a:pt x="12" y="941"/>
                  <a:pt x="9" y="938"/>
                </a:cubicBezTo>
                <a:cubicBezTo>
                  <a:pt x="0" y="929"/>
                  <a:pt x="30" y="880"/>
                  <a:pt x="60" y="854"/>
                </a:cubicBezTo>
                <a:cubicBezTo>
                  <a:pt x="141" y="784"/>
                  <a:pt x="237" y="770"/>
                  <a:pt x="314" y="815"/>
                </a:cubicBezTo>
                <a:cubicBezTo>
                  <a:pt x="359" y="842"/>
                  <a:pt x="437" y="932"/>
                  <a:pt x="484" y="1010"/>
                </a:cubicBezTo>
                <a:cubicBezTo>
                  <a:pt x="500" y="1037"/>
                  <a:pt x="516" y="1058"/>
                  <a:pt x="519" y="1058"/>
                </a:cubicBezTo>
                <a:cubicBezTo>
                  <a:pt x="522" y="1059"/>
                  <a:pt x="565" y="1004"/>
                  <a:pt x="614" y="938"/>
                </a:cubicBezTo>
                <a:cubicBezTo>
                  <a:pt x="751" y="752"/>
                  <a:pt x="894" y="584"/>
                  <a:pt x="1043" y="432"/>
                </a:cubicBezTo>
                <a:cubicBezTo>
                  <a:pt x="1275" y="197"/>
                  <a:pt x="1442" y="76"/>
                  <a:pt x="1615" y="18"/>
                </a:cubicBezTo>
                <a:cubicBezTo>
                  <a:pt x="1669" y="0"/>
                  <a:pt x="1673" y="0"/>
                  <a:pt x="1684" y="14"/>
                </a:cubicBezTo>
                <a:cubicBezTo>
                  <a:pt x="1690" y="23"/>
                  <a:pt x="1695" y="33"/>
                  <a:pt x="1695" y="36"/>
                </a:cubicBezTo>
                <a:cubicBezTo>
                  <a:pt x="1695" y="40"/>
                  <a:pt x="1656" y="81"/>
                  <a:pt x="1608" y="128"/>
                </a:cubicBezTo>
                <a:cubicBezTo>
                  <a:pt x="1400" y="329"/>
                  <a:pt x="1145" y="615"/>
                  <a:pt x="1007" y="804"/>
                </a:cubicBezTo>
                <a:cubicBezTo>
                  <a:pt x="929" y="911"/>
                  <a:pt x="826" y="1075"/>
                  <a:pt x="754" y="1209"/>
                </a:cubicBezTo>
                <a:cubicBezTo>
                  <a:pt x="724" y="1265"/>
                  <a:pt x="668" y="1369"/>
                  <a:pt x="629" y="1442"/>
                </a:cubicBezTo>
                <a:cubicBezTo>
                  <a:pt x="561" y="1568"/>
                  <a:pt x="514" y="1634"/>
                  <a:pt x="491" y="1634"/>
                </a:cubicBezTo>
                <a:cubicBezTo>
                  <a:pt x="485" y="1634"/>
                  <a:pt x="471" y="1624"/>
                  <a:pt x="459" y="161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1" name="Oval 81">
            <a:extLst>
              <a:ext uri="{FF2B5EF4-FFF2-40B4-BE49-F238E27FC236}">
                <a16:creationId xmlns:a16="http://schemas.microsoft.com/office/drawing/2014/main" id="{C951B8BB-F229-2974-CDA2-41A0A87D13D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56290" y="3618728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Oval 81">
            <a:extLst>
              <a:ext uri="{FF2B5EF4-FFF2-40B4-BE49-F238E27FC236}">
                <a16:creationId xmlns:a16="http://schemas.microsoft.com/office/drawing/2014/main" id="{F0CC28CC-5082-99E3-7887-866CDE3B176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17165" y="3675541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Oval 81">
            <a:extLst>
              <a:ext uri="{FF2B5EF4-FFF2-40B4-BE49-F238E27FC236}">
                <a16:creationId xmlns:a16="http://schemas.microsoft.com/office/drawing/2014/main" id="{5BB912E7-1464-F185-BD50-851AE0CC8B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9161" y="3839335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Oval 81">
            <a:extLst>
              <a:ext uri="{FF2B5EF4-FFF2-40B4-BE49-F238E27FC236}">
                <a16:creationId xmlns:a16="http://schemas.microsoft.com/office/drawing/2014/main" id="{EFB54FCE-BFAE-7EB0-6CD9-E355CE20EE9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52386" y="3734920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Oval 81">
            <a:extLst>
              <a:ext uri="{FF2B5EF4-FFF2-40B4-BE49-F238E27FC236}">
                <a16:creationId xmlns:a16="http://schemas.microsoft.com/office/drawing/2014/main" id="{3E8D134E-5CB8-A336-6535-2A89B917A1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25056" y="3815190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Oval 81">
            <a:extLst>
              <a:ext uri="{FF2B5EF4-FFF2-40B4-BE49-F238E27FC236}">
                <a16:creationId xmlns:a16="http://schemas.microsoft.com/office/drawing/2014/main" id="{1BF06E83-55CC-3F0D-1FF6-880AAE633E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86231" y="3761637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Oval 81">
            <a:extLst>
              <a:ext uri="{FF2B5EF4-FFF2-40B4-BE49-F238E27FC236}">
                <a16:creationId xmlns:a16="http://schemas.microsoft.com/office/drawing/2014/main" id="{96425763-C8EA-FA14-3F8A-8B50B6AE70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34380" y="3794651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49CF87A5-44AC-713D-F7FB-9FCBB4C859D2}"/>
              </a:ext>
            </a:extLst>
          </p:cNvPr>
          <p:cNvGrpSpPr/>
          <p:nvPr/>
        </p:nvGrpSpPr>
        <p:grpSpPr>
          <a:xfrm>
            <a:off x="2115231" y="3437513"/>
            <a:ext cx="190043" cy="232356"/>
            <a:chOff x="2115231" y="3437513"/>
            <a:chExt cx="190043" cy="232356"/>
          </a:xfrm>
        </p:grpSpPr>
        <p:sp>
          <p:nvSpPr>
            <p:cNvPr id="99" name="Oval 81">
              <a:extLst>
                <a:ext uri="{FF2B5EF4-FFF2-40B4-BE49-F238E27FC236}">
                  <a16:creationId xmlns:a16="http://schemas.microsoft.com/office/drawing/2014/main" id="{F668CAD9-7732-7D38-DA09-F618538AFD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92902" y="3525362"/>
              <a:ext cx="51912" cy="51413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Oval 81">
              <a:extLst>
                <a:ext uri="{FF2B5EF4-FFF2-40B4-BE49-F238E27FC236}">
                  <a16:creationId xmlns:a16="http://schemas.microsoft.com/office/drawing/2014/main" id="{4A7936B3-AF4D-724F-2C04-175E36AFEA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92902" y="3437513"/>
              <a:ext cx="51912" cy="51413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Oval 81">
              <a:extLst>
                <a:ext uri="{FF2B5EF4-FFF2-40B4-BE49-F238E27FC236}">
                  <a16:creationId xmlns:a16="http://schemas.microsoft.com/office/drawing/2014/main" id="{596B7138-40F3-CBE7-BC94-CCFED3C807B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15231" y="3506564"/>
              <a:ext cx="51912" cy="51413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Oval 81">
              <a:extLst>
                <a:ext uri="{FF2B5EF4-FFF2-40B4-BE49-F238E27FC236}">
                  <a16:creationId xmlns:a16="http://schemas.microsoft.com/office/drawing/2014/main" id="{DCB1929B-E2CC-7854-6BC7-30C31D3968D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92902" y="3618456"/>
              <a:ext cx="51912" cy="51413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Oval 81">
              <a:extLst>
                <a:ext uri="{FF2B5EF4-FFF2-40B4-BE49-F238E27FC236}">
                  <a16:creationId xmlns:a16="http://schemas.microsoft.com/office/drawing/2014/main" id="{B1CE6B9A-6952-C8D8-EB44-A5C71CD101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53362" y="3559892"/>
              <a:ext cx="51912" cy="51413"/>
            </a:xfrm>
            <a:prstGeom prst="ellipse">
              <a:avLst/>
            </a:prstGeom>
            <a:solidFill>
              <a:srgbClr val="000000"/>
            </a:solidFill>
            <a:ln w="9525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4" name="Oval 81">
            <a:extLst>
              <a:ext uri="{FF2B5EF4-FFF2-40B4-BE49-F238E27FC236}">
                <a16:creationId xmlns:a16="http://schemas.microsoft.com/office/drawing/2014/main" id="{0CE057E2-6E92-03F6-65DD-F5981D2A93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61724" y="4398501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Oval 81">
            <a:extLst>
              <a:ext uri="{FF2B5EF4-FFF2-40B4-BE49-F238E27FC236}">
                <a16:creationId xmlns:a16="http://schemas.microsoft.com/office/drawing/2014/main" id="{36957F2A-17B9-A089-06CC-9024F416B94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3226" y="4347088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Oval 81">
            <a:extLst>
              <a:ext uri="{FF2B5EF4-FFF2-40B4-BE49-F238E27FC236}">
                <a16:creationId xmlns:a16="http://schemas.microsoft.com/office/drawing/2014/main" id="{E0496B56-E032-FADD-F2E1-6D734DB27E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35768" y="4281779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Oval 81">
            <a:extLst>
              <a:ext uri="{FF2B5EF4-FFF2-40B4-BE49-F238E27FC236}">
                <a16:creationId xmlns:a16="http://schemas.microsoft.com/office/drawing/2014/main" id="{F44DBE77-90B4-8181-7E7D-6ABB9896545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97270" y="4043951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Oval 81">
            <a:extLst>
              <a:ext uri="{FF2B5EF4-FFF2-40B4-BE49-F238E27FC236}">
                <a16:creationId xmlns:a16="http://schemas.microsoft.com/office/drawing/2014/main" id="{DDA20515-CF39-DDC6-103B-994FD18501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09812" y="3858798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Oval 81">
            <a:extLst>
              <a:ext uri="{FF2B5EF4-FFF2-40B4-BE49-F238E27FC236}">
                <a16:creationId xmlns:a16="http://schemas.microsoft.com/office/drawing/2014/main" id="{C7AA192D-5C68-F7BC-BD3E-D4B27B7D0D1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04231" y="3600690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Oval 81">
            <a:extLst>
              <a:ext uri="{FF2B5EF4-FFF2-40B4-BE49-F238E27FC236}">
                <a16:creationId xmlns:a16="http://schemas.microsoft.com/office/drawing/2014/main" id="{7E50AD77-FD59-154C-975F-7DDA11D899D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98649" y="3382812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Oval 81">
            <a:extLst>
              <a:ext uri="{FF2B5EF4-FFF2-40B4-BE49-F238E27FC236}">
                <a16:creationId xmlns:a16="http://schemas.microsoft.com/office/drawing/2014/main" id="{01E67426-213A-2EE1-70A1-6E76ED33443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27044" y="3758603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Oval 81">
            <a:extLst>
              <a:ext uri="{FF2B5EF4-FFF2-40B4-BE49-F238E27FC236}">
                <a16:creationId xmlns:a16="http://schemas.microsoft.com/office/drawing/2014/main" id="{498B51C9-17D8-7F32-A79B-AF211FBD67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50549" y="3907713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Oval 81">
            <a:extLst>
              <a:ext uri="{FF2B5EF4-FFF2-40B4-BE49-F238E27FC236}">
                <a16:creationId xmlns:a16="http://schemas.microsoft.com/office/drawing/2014/main" id="{65B2BF5D-50B4-E386-2971-E41A8AE5D4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84637" y="3426648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Oval 81">
            <a:extLst>
              <a:ext uri="{FF2B5EF4-FFF2-40B4-BE49-F238E27FC236}">
                <a16:creationId xmlns:a16="http://schemas.microsoft.com/office/drawing/2014/main" id="{2E785DB9-5EE1-26BB-742B-E1A9453480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43441" y="3309926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5" name="Oval 81">
            <a:extLst>
              <a:ext uri="{FF2B5EF4-FFF2-40B4-BE49-F238E27FC236}">
                <a16:creationId xmlns:a16="http://schemas.microsoft.com/office/drawing/2014/main" id="{ED1800A8-C0C5-B0D2-788C-9B0C4807D2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04943" y="3072098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Oval 81">
            <a:extLst>
              <a:ext uri="{FF2B5EF4-FFF2-40B4-BE49-F238E27FC236}">
                <a16:creationId xmlns:a16="http://schemas.microsoft.com/office/drawing/2014/main" id="{3C9D9EC9-C7F4-8054-F7A2-3C6BF30CD0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17485" y="2886945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Oval 81">
            <a:extLst>
              <a:ext uri="{FF2B5EF4-FFF2-40B4-BE49-F238E27FC236}">
                <a16:creationId xmlns:a16="http://schemas.microsoft.com/office/drawing/2014/main" id="{39844D4E-5266-D969-DACC-AC8DD103A2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63243" y="3696349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8" name="Oval 81">
            <a:extLst>
              <a:ext uri="{FF2B5EF4-FFF2-40B4-BE49-F238E27FC236}">
                <a16:creationId xmlns:a16="http://schemas.microsoft.com/office/drawing/2014/main" id="{7D9A62DC-210B-CE14-C422-C1199F69C9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4328" y="2885705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Oval 81">
            <a:extLst>
              <a:ext uri="{FF2B5EF4-FFF2-40B4-BE49-F238E27FC236}">
                <a16:creationId xmlns:a16="http://schemas.microsoft.com/office/drawing/2014/main" id="{A77F3986-A0AE-F030-AEBF-BBB3EA27F4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4328" y="2797856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Oval 81">
            <a:extLst>
              <a:ext uri="{FF2B5EF4-FFF2-40B4-BE49-F238E27FC236}">
                <a16:creationId xmlns:a16="http://schemas.microsoft.com/office/drawing/2014/main" id="{E11C62B5-E8B6-E22A-FB19-B5FF24CBF31A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4328" y="2866907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Oval 81">
            <a:extLst>
              <a:ext uri="{FF2B5EF4-FFF2-40B4-BE49-F238E27FC236}">
                <a16:creationId xmlns:a16="http://schemas.microsoft.com/office/drawing/2014/main" id="{18FA2AFA-1A45-DD27-AC59-6DDE7E21D4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4328" y="2978799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2" name="Oval 81">
            <a:extLst>
              <a:ext uri="{FF2B5EF4-FFF2-40B4-BE49-F238E27FC236}">
                <a16:creationId xmlns:a16="http://schemas.microsoft.com/office/drawing/2014/main" id="{86E96241-D8E6-C2F9-DFCE-F7D82C99CB4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4328" y="2920235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Oval 81">
            <a:extLst>
              <a:ext uri="{FF2B5EF4-FFF2-40B4-BE49-F238E27FC236}">
                <a16:creationId xmlns:a16="http://schemas.microsoft.com/office/drawing/2014/main" id="{8134C05D-F4E7-96D3-0E3A-778008A9F4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46004" y="3466799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4" name="Oval 81">
            <a:extLst>
              <a:ext uri="{FF2B5EF4-FFF2-40B4-BE49-F238E27FC236}">
                <a16:creationId xmlns:a16="http://schemas.microsoft.com/office/drawing/2014/main" id="{AB8FEE42-6CCF-586C-6E8C-66B88C93203B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46004" y="3378950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5" name="Oval 81">
            <a:extLst>
              <a:ext uri="{FF2B5EF4-FFF2-40B4-BE49-F238E27FC236}">
                <a16:creationId xmlns:a16="http://schemas.microsoft.com/office/drawing/2014/main" id="{5575D6BC-661A-95C3-DE0A-0FA4AB8D0D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46004" y="3448001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6" name="Oval 81">
            <a:extLst>
              <a:ext uri="{FF2B5EF4-FFF2-40B4-BE49-F238E27FC236}">
                <a16:creationId xmlns:a16="http://schemas.microsoft.com/office/drawing/2014/main" id="{F51EAEED-62CF-E477-64BF-BAAD5E9A96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46004" y="3559893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7" name="Oval 81">
            <a:extLst>
              <a:ext uri="{FF2B5EF4-FFF2-40B4-BE49-F238E27FC236}">
                <a16:creationId xmlns:a16="http://schemas.microsoft.com/office/drawing/2014/main" id="{256E1C07-AB6D-ED56-FF94-B9839F3824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46004" y="3501329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Oval 81">
            <a:extLst>
              <a:ext uri="{FF2B5EF4-FFF2-40B4-BE49-F238E27FC236}">
                <a16:creationId xmlns:a16="http://schemas.microsoft.com/office/drawing/2014/main" id="{0EE59AF7-74AE-5348-A2CC-61E59173D9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28953" y="4090335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Oval 81">
            <a:extLst>
              <a:ext uri="{FF2B5EF4-FFF2-40B4-BE49-F238E27FC236}">
                <a16:creationId xmlns:a16="http://schemas.microsoft.com/office/drawing/2014/main" id="{C2C73041-BFE2-7FE1-F9F5-C23FFAACDC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28953" y="4002486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0" name="Oval 81">
            <a:extLst>
              <a:ext uri="{FF2B5EF4-FFF2-40B4-BE49-F238E27FC236}">
                <a16:creationId xmlns:a16="http://schemas.microsoft.com/office/drawing/2014/main" id="{CAAF126D-96DD-AE0E-821E-76EBD4BF97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28953" y="4348210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1" name="Oval 81">
            <a:extLst>
              <a:ext uri="{FF2B5EF4-FFF2-40B4-BE49-F238E27FC236}">
                <a16:creationId xmlns:a16="http://schemas.microsoft.com/office/drawing/2014/main" id="{FEE50370-DACA-121E-0F25-B0F2F6E43D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28953" y="4183429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2" name="Oval 81">
            <a:extLst>
              <a:ext uri="{FF2B5EF4-FFF2-40B4-BE49-F238E27FC236}">
                <a16:creationId xmlns:a16="http://schemas.microsoft.com/office/drawing/2014/main" id="{9DB65DA6-1320-239C-B47E-391BE46C5B8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28953" y="4124865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Oval 81">
            <a:extLst>
              <a:ext uri="{FF2B5EF4-FFF2-40B4-BE49-F238E27FC236}">
                <a16:creationId xmlns:a16="http://schemas.microsoft.com/office/drawing/2014/main" id="{01628C0F-48B0-6D0A-DE63-5D6B8828F6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4328" y="3072553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Oval 81">
            <a:extLst>
              <a:ext uri="{FF2B5EF4-FFF2-40B4-BE49-F238E27FC236}">
                <a16:creationId xmlns:a16="http://schemas.microsoft.com/office/drawing/2014/main" id="{2D01AC63-B1D9-C3A3-A37A-9F30CA921F23}"/>
              </a:ext>
            </a:extLst>
          </p:cNvPr>
          <p:cNvSpPr>
            <a:spLocks noChangeArrowheads="1"/>
          </p:cNvSpPr>
          <p:nvPr/>
        </p:nvSpPr>
        <p:spPr bwMode="gray">
          <a:xfrm>
            <a:off x="8046004" y="3711507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5" name="Oval 81">
            <a:extLst>
              <a:ext uri="{FF2B5EF4-FFF2-40B4-BE49-F238E27FC236}">
                <a16:creationId xmlns:a16="http://schemas.microsoft.com/office/drawing/2014/main" id="{D7360100-8397-837E-FCCD-F06D4EC7FE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4328" y="3135859"/>
            <a:ext cx="51912" cy="51413"/>
          </a:xfrm>
          <a:prstGeom prst="ellipse">
            <a:avLst/>
          </a:prstGeom>
          <a:solidFill>
            <a:srgbClr val="000000"/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3E854DAA-C5C8-D1CD-F2D9-669E60DEB58B}"/>
              </a:ext>
            </a:extLst>
          </p:cNvPr>
          <p:cNvGrpSpPr/>
          <p:nvPr/>
        </p:nvGrpSpPr>
        <p:grpSpPr>
          <a:xfrm>
            <a:off x="273050" y="1621172"/>
            <a:ext cx="9359900" cy="319435"/>
            <a:chOff x="488950" y="1879556"/>
            <a:chExt cx="8928100" cy="300521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C49A5A79-22F8-2C67-3895-7B73A8CB0D66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0A24749-59D9-7395-7483-C6FBD31BBB83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기준인상 방식</a:t>
              </a:r>
            </a:p>
          </p:txBody>
        </p:sp>
      </p:grpSp>
      <p:sp>
        <p:nvSpPr>
          <p:cNvPr id="139" name="직사각형 200">
            <a:extLst>
              <a:ext uri="{FF2B5EF4-FFF2-40B4-BE49-F238E27FC236}">
                <a16:creationId xmlns:a16="http://schemas.microsoft.com/office/drawing/2014/main" id="{9D079291-45FF-37A8-E917-3F2115C98260}"/>
              </a:ext>
            </a:extLst>
          </p:cNvPr>
          <p:cNvSpPr/>
          <p:nvPr/>
        </p:nvSpPr>
        <p:spPr>
          <a:xfrm>
            <a:off x="6668102" y="2079131"/>
            <a:ext cx="180000" cy="180000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0" name="직사각형 200">
            <a:extLst>
              <a:ext uri="{FF2B5EF4-FFF2-40B4-BE49-F238E27FC236}">
                <a16:creationId xmlns:a16="http://schemas.microsoft.com/office/drawing/2014/main" id="{76E35A9D-F106-7EBB-FA27-DF1ABE1A3994}"/>
              </a:ext>
            </a:extLst>
          </p:cNvPr>
          <p:cNvSpPr/>
          <p:nvPr/>
        </p:nvSpPr>
        <p:spPr>
          <a:xfrm>
            <a:off x="3507109" y="2079131"/>
            <a:ext cx="180000" cy="180000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1" name="직사각형 200">
            <a:extLst>
              <a:ext uri="{FF2B5EF4-FFF2-40B4-BE49-F238E27FC236}">
                <a16:creationId xmlns:a16="http://schemas.microsoft.com/office/drawing/2014/main" id="{AD642645-A42D-2D3F-38A1-DE70DBD55CE3}"/>
              </a:ext>
            </a:extLst>
          </p:cNvPr>
          <p:cNvSpPr/>
          <p:nvPr/>
        </p:nvSpPr>
        <p:spPr>
          <a:xfrm>
            <a:off x="346115" y="2079131"/>
            <a:ext cx="180000" cy="180000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2" name="Freeform 5">
            <a:extLst>
              <a:ext uri="{FF2B5EF4-FFF2-40B4-BE49-F238E27FC236}">
                <a16:creationId xmlns:a16="http://schemas.microsoft.com/office/drawing/2014/main" id="{36292EF3-3CAD-D454-6988-4C0CC2B3B28C}"/>
              </a:ext>
            </a:extLst>
          </p:cNvPr>
          <p:cNvSpPr>
            <a:spLocks/>
          </p:cNvSpPr>
          <p:nvPr/>
        </p:nvSpPr>
        <p:spPr bwMode="auto">
          <a:xfrm>
            <a:off x="355640" y="2018925"/>
            <a:ext cx="215783" cy="212950"/>
          </a:xfrm>
          <a:custGeom>
            <a:avLst/>
            <a:gdLst>
              <a:gd name="T0" fmla="*/ 459 w 1695"/>
              <a:gd name="T1" fmla="*/ 1612 h 1634"/>
              <a:gd name="T2" fmla="*/ 333 w 1695"/>
              <a:gd name="T3" fmla="*/ 1355 h 1634"/>
              <a:gd name="T4" fmla="*/ 53 w 1695"/>
              <a:gd name="T5" fmla="*/ 944 h 1634"/>
              <a:gd name="T6" fmla="*/ 9 w 1695"/>
              <a:gd name="T7" fmla="*/ 938 h 1634"/>
              <a:gd name="T8" fmla="*/ 60 w 1695"/>
              <a:gd name="T9" fmla="*/ 854 h 1634"/>
              <a:gd name="T10" fmla="*/ 314 w 1695"/>
              <a:gd name="T11" fmla="*/ 815 h 1634"/>
              <a:gd name="T12" fmla="*/ 484 w 1695"/>
              <a:gd name="T13" fmla="*/ 1010 h 1634"/>
              <a:gd name="T14" fmla="*/ 519 w 1695"/>
              <a:gd name="T15" fmla="*/ 1058 h 1634"/>
              <a:gd name="T16" fmla="*/ 614 w 1695"/>
              <a:gd name="T17" fmla="*/ 938 h 1634"/>
              <a:gd name="T18" fmla="*/ 1043 w 1695"/>
              <a:gd name="T19" fmla="*/ 432 h 1634"/>
              <a:gd name="T20" fmla="*/ 1615 w 1695"/>
              <a:gd name="T21" fmla="*/ 18 h 1634"/>
              <a:gd name="T22" fmla="*/ 1684 w 1695"/>
              <a:gd name="T23" fmla="*/ 14 h 1634"/>
              <a:gd name="T24" fmla="*/ 1695 w 1695"/>
              <a:gd name="T25" fmla="*/ 36 h 1634"/>
              <a:gd name="T26" fmla="*/ 1608 w 1695"/>
              <a:gd name="T27" fmla="*/ 128 h 1634"/>
              <a:gd name="T28" fmla="*/ 1007 w 1695"/>
              <a:gd name="T29" fmla="*/ 804 h 1634"/>
              <a:gd name="T30" fmla="*/ 754 w 1695"/>
              <a:gd name="T31" fmla="*/ 1209 h 1634"/>
              <a:gd name="T32" fmla="*/ 629 w 1695"/>
              <a:gd name="T33" fmla="*/ 1442 h 1634"/>
              <a:gd name="T34" fmla="*/ 491 w 1695"/>
              <a:gd name="T35" fmla="*/ 1634 h 1634"/>
              <a:gd name="T36" fmla="*/ 459 w 1695"/>
              <a:gd name="T37" fmla="*/ 1612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95" h="1634">
                <a:moveTo>
                  <a:pt x="459" y="1612"/>
                </a:moveTo>
                <a:cubicBezTo>
                  <a:pt x="432" y="1584"/>
                  <a:pt x="397" y="1513"/>
                  <a:pt x="333" y="1355"/>
                </a:cubicBezTo>
                <a:cubicBezTo>
                  <a:pt x="208" y="1043"/>
                  <a:pt x="141" y="946"/>
                  <a:pt x="53" y="944"/>
                </a:cubicBezTo>
                <a:cubicBezTo>
                  <a:pt x="32" y="944"/>
                  <a:pt x="12" y="941"/>
                  <a:pt x="9" y="938"/>
                </a:cubicBezTo>
                <a:cubicBezTo>
                  <a:pt x="0" y="929"/>
                  <a:pt x="30" y="880"/>
                  <a:pt x="60" y="854"/>
                </a:cubicBezTo>
                <a:cubicBezTo>
                  <a:pt x="141" y="784"/>
                  <a:pt x="237" y="770"/>
                  <a:pt x="314" y="815"/>
                </a:cubicBezTo>
                <a:cubicBezTo>
                  <a:pt x="359" y="842"/>
                  <a:pt x="437" y="932"/>
                  <a:pt x="484" y="1010"/>
                </a:cubicBezTo>
                <a:cubicBezTo>
                  <a:pt x="500" y="1037"/>
                  <a:pt x="516" y="1058"/>
                  <a:pt x="519" y="1058"/>
                </a:cubicBezTo>
                <a:cubicBezTo>
                  <a:pt x="522" y="1059"/>
                  <a:pt x="565" y="1004"/>
                  <a:pt x="614" y="938"/>
                </a:cubicBezTo>
                <a:cubicBezTo>
                  <a:pt x="751" y="752"/>
                  <a:pt x="894" y="584"/>
                  <a:pt x="1043" y="432"/>
                </a:cubicBezTo>
                <a:cubicBezTo>
                  <a:pt x="1275" y="197"/>
                  <a:pt x="1442" y="76"/>
                  <a:pt x="1615" y="18"/>
                </a:cubicBezTo>
                <a:cubicBezTo>
                  <a:pt x="1669" y="0"/>
                  <a:pt x="1673" y="0"/>
                  <a:pt x="1684" y="14"/>
                </a:cubicBezTo>
                <a:cubicBezTo>
                  <a:pt x="1690" y="23"/>
                  <a:pt x="1695" y="33"/>
                  <a:pt x="1695" y="36"/>
                </a:cubicBezTo>
                <a:cubicBezTo>
                  <a:pt x="1695" y="40"/>
                  <a:pt x="1656" y="81"/>
                  <a:pt x="1608" y="128"/>
                </a:cubicBezTo>
                <a:cubicBezTo>
                  <a:pt x="1400" y="329"/>
                  <a:pt x="1145" y="615"/>
                  <a:pt x="1007" y="804"/>
                </a:cubicBezTo>
                <a:cubicBezTo>
                  <a:pt x="929" y="911"/>
                  <a:pt x="826" y="1075"/>
                  <a:pt x="754" y="1209"/>
                </a:cubicBezTo>
                <a:cubicBezTo>
                  <a:pt x="724" y="1265"/>
                  <a:pt x="668" y="1369"/>
                  <a:pt x="629" y="1442"/>
                </a:cubicBezTo>
                <a:cubicBezTo>
                  <a:pt x="561" y="1568"/>
                  <a:pt x="514" y="1634"/>
                  <a:pt x="491" y="1634"/>
                </a:cubicBezTo>
                <a:cubicBezTo>
                  <a:pt x="485" y="1634"/>
                  <a:pt x="471" y="1624"/>
                  <a:pt x="459" y="161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6836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F82881-96BB-4C66-663C-BE00A54C94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4A2BAE2-735B-6BCF-C381-7CAF4C6B0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975770"/>
              </p:ext>
            </p:extLst>
          </p:nvPr>
        </p:nvGraphicFramePr>
        <p:xfrm>
          <a:off x="273049" y="4405312"/>
          <a:ext cx="9359898" cy="1921000"/>
        </p:xfrm>
        <a:graphic>
          <a:graphicData uri="http://schemas.openxmlformats.org/drawingml/2006/table">
            <a:tbl>
              <a:tblPr/>
              <a:tblGrid>
                <a:gridCol w="989694">
                  <a:extLst>
                    <a:ext uri="{9D8B030D-6E8A-4147-A177-3AD203B41FA5}">
                      <a16:colId xmlns:a16="http://schemas.microsoft.com/office/drawing/2014/main" val="902834142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481500385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4124181011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337964746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2250582962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616516966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679491238"/>
                    </a:ext>
                  </a:extLst>
                </a:gridCol>
              </a:tblGrid>
              <a:tr h="214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G1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G2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G3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G4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G5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G6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314682"/>
                  </a:ext>
                </a:extLst>
              </a:tr>
              <a:tr h="221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해당 인원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6636058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최대값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344617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최소값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47,000,000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018429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평균값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41,444,444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49,333,333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214194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중위값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57,000,000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95302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임금폭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0262717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상승폭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7903086"/>
                  </a:ext>
                </a:extLst>
              </a:tr>
              <a:tr h="221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중복률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8245510"/>
                  </a:ext>
                </a:extLst>
              </a:tr>
            </a:tbl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69813E99-498F-4E6E-A954-A13D8168F4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280164"/>
              </p:ext>
            </p:extLst>
          </p:nvPr>
        </p:nvGraphicFramePr>
        <p:xfrm>
          <a:off x="273050" y="1628775"/>
          <a:ext cx="9359900" cy="2771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F02E9A71-ABE4-D283-A1FB-7A36833A3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</a:t>
            </a:r>
            <a:r>
              <a:rPr lang="ko-KR" altLang="en-US" dirty="0"/>
              <a:t> 직급 개편</a:t>
            </a:r>
            <a:r>
              <a:rPr lang="en-US" altLang="ko-KR" dirty="0"/>
              <a:t>(G1 ~ G6)</a:t>
            </a:r>
            <a:r>
              <a:rPr lang="ko-KR" altLang="en-US" dirty="0"/>
              <a:t>에 따른 현재 임금 정보는 다음과 같이</a:t>
            </a:r>
            <a:r>
              <a:rPr lang="en-US" altLang="ko-KR" dirty="0"/>
              <a:t> </a:t>
            </a:r>
            <a:r>
              <a:rPr lang="ko-KR" altLang="en-US" dirty="0"/>
              <a:t>구성되어 있음</a:t>
            </a:r>
            <a:r>
              <a:rPr lang="en-US" altLang="ko-KR" dirty="0"/>
              <a:t>. </a:t>
            </a:r>
            <a:r>
              <a:rPr lang="ko-KR" altLang="en-US" dirty="0"/>
              <a:t>직급별 임금 폭</a:t>
            </a:r>
            <a:r>
              <a:rPr lang="en-US" altLang="ko-KR" dirty="0"/>
              <a:t>, </a:t>
            </a:r>
            <a:r>
              <a:rPr lang="ko-KR" altLang="en-US" dirty="0" err="1"/>
              <a:t>중복률이</a:t>
            </a:r>
            <a:r>
              <a:rPr lang="ko-KR" altLang="en-US" dirty="0"/>
              <a:t> 매우 높으며</a:t>
            </a:r>
            <a:r>
              <a:rPr lang="en-US" altLang="ko-KR" dirty="0"/>
              <a:t>, </a:t>
            </a:r>
            <a:r>
              <a:rPr lang="ko-KR" altLang="en-US" dirty="0"/>
              <a:t>중간계층</a:t>
            </a:r>
            <a:r>
              <a:rPr lang="en-US" altLang="ko-KR" dirty="0"/>
              <a:t>(G3, G4)</a:t>
            </a:r>
            <a:r>
              <a:rPr lang="ko-KR" altLang="en-US" dirty="0"/>
              <a:t>의 상승폭이 저조함에 따라 장기근속 및 승급</a:t>
            </a:r>
            <a:r>
              <a:rPr lang="en-US" altLang="ko-KR" dirty="0"/>
              <a:t>, </a:t>
            </a:r>
            <a:r>
              <a:rPr lang="ko-KR" altLang="en-US" dirty="0"/>
              <a:t>승진에 대한 동기요인이 작동하지 못하고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A735CC3F-0236-0D01-3564-A6F13319FD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F963B9D2-44CF-69B3-0DD8-0F68744663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15135443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DBA8-9824-2A2B-7940-72FEEFC7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E67321-D624-0450-CB6E-2CF14ABC72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3467FC5-731C-7CF9-85A3-4092506A3841}"/>
              </a:ext>
            </a:extLst>
          </p:cNvPr>
          <p:cNvGraphicFramePr>
            <a:graphicFrameLocks noGrp="1"/>
          </p:cNvGraphicFramePr>
          <p:nvPr/>
        </p:nvGraphicFramePr>
        <p:xfrm>
          <a:off x="273049" y="4405312"/>
          <a:ext cx="9359898" cy="1921000"/>
        </p:xfrm>
        <a:graphic>
          <a:graphicData uri="http://schemas.openxmlformats.org/drawingml/2006/table">
            <a:tbl>
              <a:tblPr/>
              <a:tblGrid>
                <a:gridCol w="989694">
                  <a:extLst>
                    <a:ext uri="{9D8B030D-6E8A-4147-A177-3AD203B41FA5}">
                      <a16:colId xmlns:a16="http://schemas.microsoft.com/office/drawing/2014/main" val="902834142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481500385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4124181011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337964746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2250582962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616516966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679491238"/>
                    </a:ext>
                  </a:extLst>
                </a:gridCol>
              </a:tblGrid>
              <a:tr h="214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G1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G2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G3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G4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G5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G6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314682"/>
                  </a:ext>
                </a:extLst>
              </a:tr>
              <a:tr h="221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해당 인원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6636058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최대값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344617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최소값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42,000,000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47,000,000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018429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평균값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41,444,444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49,333,333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214194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중위값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57,000,000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95302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임금폭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0262717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상승폭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7903086"/>
                  </a:ext>
                </a:extLst>
              </a:tr>
              <a:tr h="221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중복률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8245510"/>
                  </a:ext>
                </a:extLst>
              </a:tr>
            </a:tbl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E1834C95-CC98-7EAB-6C3D-115D6F82EA4A}"/>
              </a:ext>
            </a:extLst>
          </p:cNvPr>
          <p:cNvGraphicFramePr>
            <a:graphicFrameLocks/>
          </p:cNvGraphicFramePr>
          <p:nvPr/>
        </p:nvGraphicFramePr>
        <p:xfrm>
          <a:off x="273046" y="1628775"/>
          <a:ext cx="9359904" cy="2776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A5A42587-7D09-7E33-2C94-2C50160809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 lvl="0"/>
            <a:r>
              <a:rPr lang="ko-KR" altLang="en-US" dirty="0"/>
              <a:t>시장 경쟁력과 내부 형평성을 반영하여</a:t>
            </a:r>
            <a:r>
              <a:rPr lang="en-US" altLang="ko-KR" dirty="0"/>
              <a:t>, G3·G4 </a:t>
            </a:r>
            <a:r>
              <a:rPr lang="ko-KR" altLang="en-US" dirty="0"/>
              <a:t>구간의 상승폭을 확대하고 </a:t>
            </a:r>
            <a:r>
              <a:rPr lang="en-US" altLang="ko-KR" dirty="0"/>
              <a:t>G1·G2 </a:t>
            </a:r>
            <a:r>
              <a:rPr lang="ko-KR" altLang="en-US" dirty="0"/>
              <a:t>및 </a:t>
            </a:r>
            <a:r>
              <a:rPr lang="en-US" altLang="ko-KR" dirty="0"/>
              <a:t>G5·G6 </a:t>
            </a:r>
            <a:r>
              <a:rPr lang="ko-KR" altLang="en-US" dirty="0"/>
              <a:t>구간은 완만히 설정함으로써 중간 계층 인력 확보와 직무별 보상 균형을 동시에 달성하는 보상정책선을 수립함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BD8E3221-4462-CB3F-22B0-F463F17028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8F42DD37-1BD4-A007-AC8F-C0ACF36ACC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30002097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5AAE-9ED2-3E82-4953-744786B3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C493C67-8E4C-8816-195B-FFE851E73E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Fixed Rate </a:t>
            </a:r>
            <a:r>
              <a:rPr lang="ko-KR" altLang="en-US" dirty="0"/>
              <a:t>방식을 채택하여 보상 재원의 관리 효율성을 높이고</a:t>
            </a:r>
            <a:r>
              <a:rPr lang="en-US" altLang="ko-KR" dirty="0"/>
              <a:t>, </a:t>
            </a:r>
            <a:r>
              <a:rPr lang="ko-KR" altLang="en-US" dirty="0"/>
              <a:t>평가등급 간 일정한 차등폭을 유지함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DC8934A-4306-AE6F-A4FF-775D9ECDC5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B70097-0D70-63DD-B144-111EBDE55B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6A02AF8-751E-4BEC-376C-1B07BB7416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3" name="Group 42">
            <a:extLst>
              <a:ext uri="{FF2B5EF4-FFF2-40B4-BE49-F238E27FC236}">
                <a16:creationId xmlns:a16="http://schemas.microsoft.com/office/drawing/2014/main" id="{96C3A81F-BBE3-C490-B6DE-50F26D9D7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12175"/>
              </p:ext>
            </p:extLst>
          </p:nvPr>
        </p:nvGraphicFramePr>
        <p:xfrm>
          <a:off x="1010458" y="3209589"/>
          <a:ext cx="3705679" cy="932375"/>
        </p:xfrm>
        <a:graphic>
          <a:graphicData uri="http://schemas.openxmlformats.org/drawingml/2006/table">
            <a:tbl>
              <a:tblPr/>
              <a:tblGrid>
                <a:gridCol w="71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7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평가등급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3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인상률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1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1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1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1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1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54000" marR="54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42">
            <a:extLst>
              <a:ext uri="{FF2B5EF4-FFF2-40B4-BE49-F238E27FC236}">
                <a16:creationId xmlns:a16="http://schemas.microsoft.com/office/drawing/2014/main" id="{83FFEB97-DA3D-82B7-BA86-7F7ADEEF4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328142"/>
              </p:ext>
            </p:extLst>
          </p:nvPr>
        </p:nvGraphicFramePr>
        <p:xfrm>
          <a:off x="5705269" y="3209589"/>
          <a:ext cx="3705679" cy="932375"/>
        </p:xfrm>
        <a:graphic>
          <a:graphicData uri="http://schemas.openxmlformats.org/drawingml/2006/table">
            <a:tbl>
              <a:tblPr/>
              <a:tblGrid>
                <a:gridCol w="71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7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7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평가등급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3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인상률</a:t>
                      </a: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100" b="1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9.0%</a:t>
                      </a:r>
                      <a:endParaRPr lang="ko-KR" b="1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100" b="1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6.0%</a:t>
                      </a:r>
                      <a:endParaRPr lang="ko-KR" b="1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100" b="1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4.0%</a:t>
                      </a:r>
                      <a:endParaRPr lang="ko-KR" b="1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100" b="1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2.7%</a:t>
                      </a:r>
                      <a:endParaRPr lang="ko-KR" b="1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1100" b="1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1.8%</a:t>
                      </a:r>
                      <a:endParaRPr lang="ko-KR" b="1" dirty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5A2800BC-9E2D-DFCA-3365-1A77742D1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4703634"/>
            <a:ext cx="9359899" cy="70775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endParaRPr lang="ko-KR" altLang="en-US" sz="14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77AB18B-9E5F-C28F-4AE7-98D4869DA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693" y="1996357"/>
            <a:ext cx="4392000" cy="4135908"/>
          </a:xfrm>
          <a:prstGeom prst="rect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4000" tIns="46800" rIns="54000" bIns="46800" numCol="1" anchor="ctr" anchorCtr="0" compatLnSpc="1">
            <a:prstTxWarp prst="textNoShape">
              <a:avLst/>
            </a:prstTxWarp>
          </a:bodyPr>
          <a:lstStyle/>
          <a:p>
            <a:pPr algn="r" latinLnBrk="0">
              <a:spcBef>
                <a:spcPct val="0"/>
              </a:spcBef>
            </a:pP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E5B968D-BFC9-7298-9175-5A09000D6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650" y="1996357"/>
            <a:ext cx="4392000" cy="4135908"/>
          </a:xfrm>
          <a:prstGeom prst="rect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4000" tIns="46800" rIns="54000" bIns="46800" numCol="1" anchor="ctr" anchorCtr="0" compatLnSpc="1">
            <a:prstTxWarp prst="textNoShape">
              <a:avLst/>
            </a:prstTxWarp>
          </a:bodyPr>
          <a:lstStyle/>
          <a:p>
            <a:pPr algn="r" latinLnBrk="0">
              <a:spcBef>
                <a:spcPct val="0"/>
              </a:spcBef>
            </a:pP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247BAF44-63CB-CB6D-D335-976869446D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8537" y="4766271"/>
            <a:ext cx="4140000" cy="13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noAutofit/>
          </a:bodyPr>
          <a:lstStyle/>
          <a:p>
            <a:pPr marL="88900" lvl="0" indent="-88900" fontAlgn="base" latinLnBrk="0">
              <a:lnSpc>
                <a:spcPct val="106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상위 </a:t>
            </a:r>
            <a:r>
              <a:rPr kumimoji="1" lang="ko-KR" altLang="en-US" sz="1100" b="1" kern="0" spc="-1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평가등급에</a:t>
            </a: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상대적으로 높은 인상률이 적용되어 </a:t>
            </a:r>
            <a:r>
              <a:rPr kumimoji="1" lang="ko-KR" altLang="en-US" sz="1100" b="1" kern="0" spc="-1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고성과에</a:t>
            </a: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대한 동기부여 강화</a:t>
            </a:r>
          </a:p>
          <a:p>
            <a:pPr marL="88900" lvl="0" indent="-88900" fontAlgn="base" latinLnBrk="0">
              <a:lnSpc>
                <a:spcPct val="106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시스템적으로 마이너스</a:t>
            </a:r>
            <a:r>
              <a:rPr kumimoji="1" lang="en-US" altLang="ko-KR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(-) </a:t>
            </a: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인상률 제거 가능</a:t>
            </a:r>
            <a:b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</a:br>
            <a:endParaRPr lang="en-US" altLang="ko-KR" sz="11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  <a:p>
            <a:pPr marL="88900" lvl="0" indent="-88900" fontAlgn="base" latinLnBrk="0">
              <a:lnSpc>
                <a:spcPct val="106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동일 상위 </a:t>
            </a:r>
            <a:r>
              <a:rPr kumimoji="1" lang="ko-KR" altLang="en-US" sz="1100" b="1" kern="0" spc="-1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등급이어도</a:t>
            </a: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기준 인상률이 높은 시기에 받는 경우가 유리해 형평성 이슈 발생</a:t>
            </a:r>
          </a:p>
          <a:p>
            <a:pPr marL="88900" lvl="0" indent="-88900" fontAlgn="base" latinLnBrk="0">
              <a:lnSpc>
                <a:spcPct val="106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등급간 인상률 격차가 지나치게 커질 수 있음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1D181490-BD2B-59D1-0176-508404EA79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8537" y="4396649"/>
            <a:ext cx="4140000" cy="20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88900" lvl="0" indent="-88900" fontAlgn="base" latinLnBrk="0">
              <a:lnSpc>
                <a:spcPct val="106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등급 간 인상률 차등을 일정 배율로 설정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59555978-32ED-0805-7966-7A11463083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8025" y="4766271"/>
            <a:ext cx="4140000" cy="9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54000" tIns="18000" rIns="54000" bIns="18000" numCol="1" anchor="t" anchorCtr="0" compatLnSpc="1">
            <a:prstTxWarp prst="textNoShape">
              <a:avLst/>
            </a:prstTxWarp>
            <a:noAutofit/>
          </a:bodyPr>
          <a:lstStyle/>
          <a:p>
            <a:pPr marL="88900" lvl="0" indent="-88900" fontAlgn="base" latinLnBrk="0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보상재원의</a:t>
            </a: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관리가 상대적으로 용이</a:t>
            </a:r>
          </a:p>
          <a:p>
            <a:pPr marL="88900" lvl="0" indent="-88900" fontAlgn="base" latinLnBrk="0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동일 등급을 받을 경우 기준 인상률에 관계 없이 일정한 </a:t>
            </a:r>
            <a:r>
              <a:rPr kumimoji="1" lang="ko-KR" altLang="en-US" sz="1100" b="1" kern="0" spc="-1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차등폭</a:t>
            </a: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유지</a:t>
            </a:r>
            <a:b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</a:br>
            <a:endParaRPr lang="en-US" altLang="ko-KR" sz="11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  <a:p>
            <a:pPr marL="88900" lvl="0" indent="-88900" fontAlgn="base" latinLnBrk="0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인상률이 낮을 경우 하위 등급에 마이너스</a:t>
            </a:r>
            <a:r>
              <a:rPr kumimoji="1" lang="en-US" altLang="ko-KR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(-) </a:t>
            </a: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인상률</a:t>
            </a:r>
            <a:br>
              <a:rPr kumimoji="1" lang="en-US" altLang="ko-KR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en-US" altLang="ko-KR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or </a:t>
            </a: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동결 가능성 존재 가능</a:t>
            </a:r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37177136-1265-CA7B-78CF-78CB0FE10EB3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8025" y="4396649"/>
            <a:ext cx="4140000" cy="20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88900" lvl="0" indent="-88900" fontAlgn="base" latinLnBrk="0">
              <a:lnSpc>
                <a:spcPct val="106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kumimoji="1" lang="ko-KR" altLang="en-US" sz="1100" b="1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등급 간 인상률 차등을 일정 수치로 설정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ACE85A-C9C8-CA53-854F-443B634A63E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0650" y="1996357"/>
            <a:ext cx="4392000" cy="319203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Option 1. Fixed Rate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방식</a:t>
            </a:r>
          </a:p>
        </p:txBody>
      </p:sp>
      <p:sp>
        <p:nvSpPr>
          <p:cNvPr id="16" name="직사각형 200">
            <a:extLst>
              <a:ext uri="{FF2B5EF4-FFF2-40B4-BE49-F238E27FC236}">
                <a16:creationId xmlns:a16="http://schemas.microsoft.com/office/drawing/2014/main" id="{6654C2AC-850D-E188-238E-D8436362D554}"/>
              </a:ext>
            </a:extLst>
          </p:cNvPr>
          <p:cNvSpPr/>
          <p:nvPr/>
        </p:nvSpPr>
        <p:spPr>
          <a:xfrm>
            <a:off x="5323112" y="2073876"/>
            <a:ext cx="199038" cy="183445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72A079-B12D-586C-BAA9-F6C37BCEE20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235693" y="1996357"/>
            <a:ext cx="4392000" cy="319203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Option 2. Multiple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방식</a:t>
            </a:r>
          </a:p>
        </p:txBody>
      </p:sp>
      <p:sp>
        <p:nvSpPr>
          <p:cNvPr id="18" name="직사각형 200">
            <a:extLst>
              <a:ext uri="{FF2B5EF4-FFF2-40B4-BE49-F238E27FC236}">
                <a16:creationId xmlns:a16="http://schemas.microsoft.com/office/drawing/2014/main" id="{FB81BA97-ADE9-A5C1-5876-27AB86C36470}"/>
              </a:ext>
            </a:extLst>
          </p:cNvPr>
          <p:cNvSpPr/>
          <p:nvPr/>
        </p:nvSpPr>
        <p:spPr>
          <a:xfrm>
            <a:off x="5318693" y="2064236"/>
            <a:ext cx="199038" cy="183445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FED1FD-25D4-E927-465A-CAC21CE308DC}"/>
              </a:ext>
            </a:extLst>
          </p:cNvPr>
          <p:cNvSpPr txBox="1"/>
          <p:nvPr/>
        </p:nvSpPr>
        <p:spPr>
          <a:xfrm>
            <a:off x="352928" y="4403836"/>
            <a:ext cx="266098" cy="17350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A1AF62-F85C-D223-2AFC-74F170F46595}"/>
              </a:ext>
            </a:extLst>
          </p:cNvPr>
          <p:cNvSpPr txBox="1"/>
          <p:nvPr/>
        </p:nvSpPr>
        <p:spPr>
          <a:xfrm>
            <a:off x="352928" y="4934448"/>
            <a:ext cx="266098" cy="17350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C034BB-3652-C854-8026-BBFFDBEB1651}"/>
              </a:ext>
            </a:extLst>
          </p:cNvPr>
          <p:cNvSpPr txBox="1"/>
          <p:nvPr/>
        </p:nvSpPr>
        <p:spPr>
          <a:xfrm>
            <a:off x="352928" y="5592069"/>
            <a:ext cx="266098" cy="17350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단점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30404D7-B3A4-6F33-9BAA-D4210E5D3084}"/>
              </a:ext>
            </a:extLst>
          </p:cNvPr>
          <p:cNvGrpSpPr/>
          <p:nvPr/>
        </p:nvGrpSpPr>
        <p:grpSpPr>
          <a:xfrm>
            <a:off x="2011259" y="2699838"/>
            <a:ext cx="2474675" cy="651521"/>
            <a:chOff x="2594755" y="2427510"/>
            <a:chExt cx="2474675" cy="703212"/>
          </a:xfrm>
        </p:grpSpPr>
        <p:sp>
          <p:nvSpPr>
            <p:cNvPr id="23" name="원호 22">
              <a:extLst>
                <a:ext uri="{FF2B5EF4-FFF2-40B4-BE49-F238E27FC236}">
                  <a16:creationId xmlns:a16="http://schemas.microsoft.com/office/drawing/2014/main" id="{CCE84C4A-D015-CFF6-C55D-B184198C2010}"/>
                </a:ext>
              </a:extLst>
            </p:cNvPr>
            <p:cNvSpPr/>
            <p:nvPr/>
          </p:nvSpPr>
          <p:spPr>
            <a:xfrm flipH="1">
              <a:off x="3275836" y="2699655"/>
              <a:ext cx="431067" cy="431067"/>
            </a:xfrm>
            <a:prstGeom prst="arc">
              <a:avLst>
                <a:gd name="adj1" fmla="val 10797545"/>
                <a:gd name="adj2" fmla="val 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BCBD2BE-8501-93D0-A6F5-443FE14E83B1}"/>
                </a:ext>
              </a:extLst>
            </p:cNvPr>
            <p:cNvSpPr txBox="1"/>
            <p:nvPr/>
          </p:nvSpPr>
          <p:spPr>
            <a:xfrm>
              <a:off x="3812134" y="2427510"/>
              <a:ext cx="631371" cy="304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-1%</a:t>
              </a:r>
              <a:endParaRPr kumimoji="1" lang="ko-KR" altLang="en-US" sz="12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110A051-0458-A437-04DC-C0A401A221AC}"/>
                </a:ext>
              </a:extLst>
            </p:cNvPr>
            <p:cNvSpPr txBox="1"/>
            <p:nvPr/>
          </p:nvSpPr>
          <p:spPr>
            <a:xfrm>
              <a:off x="4438059" y="2427510"/>
              <a:ext cx="631371" cy="304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-1%</a:t>
              </a:r>
              <a:endParaRPr kumimoji="1" lang="ko-KR" altLang="en-US" sz="12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453550F-BC88-50A8-26B3-5A28366745D0}"/>
                </a:ext>
              </a:extLst>
            </p:cNvPr>
            <p:cNvSpPr txBox="1"/>
            <p:nvPr/>
          </p:nvSpPr>
          <p:spPr>
            <a:xfrm>
              <a:off x="2594755" y="2427510"/>
              <a:ext cx="631371" cy="304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+1%</a:t>
              </a:r>
              <a:endParaRPr kumimoji="1" lang="ko-KR" altLang="en-US" sz="12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BD120E9-7599-5F3B-D276-045B01DC027E}"/>
                </a:ext>
              </a:extLst>
            </p:cNvPr>
            <p:cNvSpPr txBox="1"/>
            <p:nvPr/>
          </p:nvSpPr>
          <p:spPr>
            <a:xfrm>
              <a:off x="3186208" y="2427510"/>
              <a:ext cx="631371" cy="304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+1%</a:t>
              </a:r>
              <a:endParaRPr kumimoji="1" lang="ko-KR" altLang="en-US" sz="12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원호 27">
              <a:extLst>
                <a:ext uri="{FF2B5EF4-FFF2-40B4-BE49-F238E27FC236}">
                  <a16:creationId xmlns:a16="http://schemas.microsoft.com/office/drawing/2014/main" id="{8DBFB859-339C-064F-E13C-358BF87F609A}"/>
                </a:ext>
              </a:extLst>
            </p:cNvPr>
            <p:cNvSpPr/>
            <p:nvPr/>
          </p:nvSpPr>
          <p:spPr>
            <a:xfrm flipH="1">
              <a:off x="2666236" y="2699655"/>
              <a:ext cx="431067" cy="431067"/>
            </a:xfrm>
            <a:prstGeom prst="arc">
              <a:avLst>
                <a:gd name="adj1" fmla="val 10797545"/>
                <a:gd name="adj2" fmla="val 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원호 28">
              <a:extLst>
                <a:ext uri="{FF2B5EF4-FFF2-40B4-BE49-F238E27FC236}">
                  <a16:creationId xmlns:a16="http://schemas.microsoft.com/office/drawing/2014/main" id="{AC7019C6-C714-07FA-1E75-CB46066AF9A0}"/>
                </a:ext>
              </a:extLst>
            </p:cNvPr>
            <p:cNvSpPr/>
            <p:nvPr/>
          </p:nvSpPr>
          <p:spPr>
            <a:xfrm>
              <a:off x="3896324" y="2699655"/>
              <a:ext cx="431067" cy="431067"/>
            </a:xfrm>
            <a:prstGeom prst="arc">
              <a:avLst>
                <a:gd name="adj1" fmla="val 10797545"/>
                <a:gd name="adj2" fmla="val 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원호 29">
              <a:extLst>
                <a:ext uri="{FF2B5EF4-FFF2-40B4-BE49-F238E27FC236}">
                  <a16:creationId xmlns:a16="http://schemas.microsoft.com/office/drawing/2014/main" id="{EE866279-DFD0-64AB-2191-ACE75008A5E6}"/>
                </a:ext>
              </a:extLst>
            </p:cNvPr>
            <p:cNvSpPr/>
            <p:nvPr/>
          </p:nvSpPr>
          <p:spPr>
            <a:xfrm>
              <a:off x="4516810" y="2699655"/>
              <a:ext cx="431067" cy="431067"/>
            </a:xfrm>
            <a:prstGeom prst="arc">
              <a:avLst>
                <a:gd name="adj1" fmla="val 10797545"/>
                <a:gd name="adj2" fmla="val 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1" name="원호 30">
            <a:extLst>
              <a:ext uri="{FF2B5EF4-FFF2-40B4-BE49-F238E27FC236}">
                <a16:creationId xmlns:a16="http://schemas.microsoft.com/office/drawing/2014/main" id="{25BDB15A-C9D8-BE3D-9326-49026BEEBBBB}"/>
              </a:ext>
            </a:extLst>
          </p:cNvPr>
          <p:cNvSpPr/>
          <p:nvPr/>
        </p:nvSpPr>
        <p:spPr>
          <a:xfrm flipH="1">
            <a:off x="7387151" y="2951978"/>
            <a:ext cx="431067" cy="399380"/>
          </a:xfrm>
          <a:prstGeom prst="arc">
            <a:avLst>
              <a:gd name="adj1" fmla="val 10797545"/>
              <a:gd name="adj2" fmla="val 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29D11F-9378-1F6F-84E6-C48A57CC8FFA}"/>
              </a:ext>
            </a:extLst>
          </p:cNvPr>
          <p:cNvSpPr txBox="1"/>
          <p:nvPr/>
        </p:nvSpPr>
        <p:spPr>
          <a:xfrm>
            <a:off x="7923449" y="2699838"/>
            <a:ext cx="631371" cy="281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÷1.5</a:t>
            </a:r>
            <a:endParaRPr kumimoji="1" lang="ko-KR" altLang="en-US" sz="12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8F1701-7867-889E-F1F4-7C87C8BF4AC6}"/>
              </a:ext>
            </a:extLst>
          </p:cNvPr>
          <p:cNvSpPr txBox="1"/>
          <p:nvPr/>
        </p:nvSpPr>
        <p:spPr>
          <a:xfrm>
            <a:off x="8536674" y="2699838"/>
            <a:ext cx="631371" cy="281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÷1.5</a:t>
            </a:r>
            <a:endParaRPr kumimoji="1" lang="ko-KR" altLang="en-US" sz="12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46FC42-1877-AB4F-ADAB-7E8C61F7EAA3}"/>
              </a:ext>
            </a:extLst>
          </p:cNvPr>
          <p:cNvSpPr txBox="1"/>
          <p:nvPr/>
        </p:nvSpPr>
        <p:spPr>
          <a:xfrm>
            <a:off x="6706070" y="2699838"/>
            <a:ext cx="631371" cy="281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×1.5</a:t>
            </a:r>
            <a:endParaRPr kumimoji="1" lang="ko-KR" altLang="en-US" sz="12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F25128-F7B2-C58A-8A91-29B9B81E54D0}"/>
              </a:ext>
            </a:extLst>
          </p:cNvPr>
          <p:cNvSpPr txBox="1"/>
          <p:nvPr/>
        </p:nvSpPr>
        <p:spPr>
          <a:xfrm>
            <a:off x="7310223" y="2699838"/>
            <a:ext cx="631371" cy="281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×1.5</a:t>
            </a:r>
            <a:endParaRPr kumimoji="1" lang="ko-KR" altLang="en-US" sz="12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원호 35">
            <a:extLst>
              <a:ext uri="{FF2B5EF4-FFF2-40B4-BE49-F238E27FC236}">
                <a16:creationId xmlns:a16="http://schemas.microsoft.com/office/drawing/2014/main" id="{7A93F48E-35A1-C61E-D598-AC92E6DE8BE6}"/>
              </a:ext>
            </a:extLst>
          </p:cNvPr>
          <p:cNvSpPr/>
          <p:nvPr/>
        </p:nvSpPr>
        <p:spPr>
          <a:xfrm flipH="1">
            <a:off x="6777551" y="2951978"/>
            <a:ext cx="431067" cy="399380"/>
          </a:xfrm>
          <a:prstGeom prst="arc">
            <a:avLst>
              <a:gd name="adj1" fmla="val 10797545"/>
              <a:gd name="adj2" fmla="val 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BE9DE740-1A61-E122-7DC8-3E8FF6589D05}"/>
              </a:ext>
            </a:extLst>
          </p:cNvPr>
          <p:cNvSpPr/>
          <p:nvPr/>
        </p:nvSpPr>
        <p:spPr>
          <a:xfrm>
            <a:off x="8007639" y="2951978"/>
            <a:ext cx="431067" cy="399380"/>
          </a:xfrm>
          <a:prstGeom prst="arc">
            <a:avLst>
              <a:gd name="adj1" fmla="val 10797545"/>
              <a:gd name="adj2" fmla="val 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원호 37">
            <a:extLst>
              <a:ext uri="{FF2B5EF4-FFF2-40B4-BE49-F238E27FC236}">
                <a16:creationId xmlns:a16="http://schemas.microsoft.com/office/drawing/2014/main" id="{8ACFE5C1-82D5-22E2-D24C-01B877957403}"/>
              </a:ext>
            </a:extLst>
          </p:cNvPr>
          <p:cNvSpPr/>
          <p:nvPr/>
        </p:nvSpPr>
        <p:spPr>
          <a:xfrm>
            <a:off x="8628125" y="2951978"/>
            <a:ext cx="431067" cy="399380"/>
          </a:xfrm>
          <a:prstGeom prst="arc">
            <a:avLst>
              <a:gd name="adj1" fmla="val 10797545"/>
              <a:gd name="adj2" fmla="val 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001395CE-C241-B153-9283-84A226536AFE}"/>
              </a:ext>
            </a:extLst>
          </p:cNvPr>
          <p:cNvCxnSpPr/>
          <p:nvPr/>
        </p:nvCxnSpPr>
        <p:spPr>
          <a:xfrm>
            <a:off x="273050" y="4273714"/>
            <a:ext cx="935464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40" name="직사각형 200">
            <a:extLst>
              <a:ext uri="{FF2B5EF4-FFF2-40B4-BE49-F238E27FC236}">
                <a16:creationId xmlns:a16="http://schemas.microsoft.com/office/drawing/2014/main" id="{665C0C6C-74AA-99DC-9445-D1559D7A95E1}"/>
              </a:ext>
            </a:extLst>
          </p:cNvPr>
          <p:cNvSpPr/>
          <p:nvPr/>
        </p:nvSpPr>
        <p:spPr>
          <a:xfrm>
            <a:off x="801538" y="2064236"/>
            <a:ext cx="199038" cy="183445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Freeform 5">
            <a:extLst>
              <a:ext uri="{FF2B5EF4-FFF2-40B4-BE49-F238E27FC236}">
                <a16:creationId xmlns:a16="http://schemas.microsoft.com/office/drawing/2014/main" id="{58BDF289-5622-3723-DC46-96A88573DCFE}"/>
              </a:ext>
            </a:extLst>
          </p:cNvPr>
          <p:cNvSpPr>
            <a:spLocks/>
          </p:cNvSpPr>
          <p:nvPr/>
        </p:nvSpPr>
        <p:spPr bwMode="auto">
          <a:xfrm>
            <a:off x="820101" y="2013186"/>
            <a:ext cx="215783" cy="197297"/>
          </a:xfrm>
          <a:custGeom>
            <a:avLst/>
            <a:gdLst>
              <a:gd name="T0" fmla="*/ 459 w 1695"/>
              <a:gd name="T1" fmla="*/ 1612 h 1634"/>
              <a:gd name="T2" fmla="*/ 333 w 1695"/>
              <a:gd name="T3" fmla="*/ 1355 h 1634"/>
              <a:gd name="T4" fmla="*/ 53 w 1695"/>
              <a:gd name="T5" fmla="*/ 944 h 1634"/>
              <a:gd name="T6" fmla="*/ 9 w 1695"/>
              <a:gd name="T7" fmla="*/ 938 h 1634"/>
              <a:gd name="T8" fmla="*/ 60 w 1695"/>
              <a:gd name="T9" fmla="*/ 854 h 1634"/>
              <a:gd name="T10" fmla="*/ 314 w 1695"/>
              <a:gd name="T11" fmla="*/ 815 h 1634"/>
              <a:gd name="T12" fmla="*/ 484 w 1695"/>
              <a:gd name="T13" fmla="*/ 1010 h 1634"/>
              <a:gd name="T14" fmla="*/ 519 w 1695"/>
              <a:gd name="T15" fmla="*/ 1058 h 1634"/>
              <a:gd name="T16" fmla="*/ 614 w 1695"/>
              <a:gd name="T17" fmla="*/ 938 h 1634"/>
              <a:gd name="T18" fmla="*/ 1043 w 1695"/>
              <a:gd name="T19" fmla="*/ 432 h 1634"/>
              <a:gd name="T20" fmla="*/ 1615 w 1695"/>
              <a:gd name="T21" fmla="*/ 18 h 1634"/>
              <a:gd name="T22" fmla="*/ 1684 w 1695"/>
              <a:gd name="T23" fmla="*/ 14 h 1634"/>
              <a:gd name="T24" fmla="*/ 1695 w 1695"/>
              <a:gd name="T25" fmla="*/ 36 h 1634"/>
              <a:gd name="T26" fmla="*/ 1608 w 1695"/>
              <a:gd name="T27" fmla="*/ 128 h 1634"/>
              <a:gd name="T28" fmla="*/ 1007 w 1695"/>
              <a:gd name="T29" fmla="*/ 804 h 1634"/>
              <a:gd name="T30" fmla="*/ 754 w 1695"/>
              <a:gd name="T31" fmla="*/ 1209 h 1634"/>
              <a:gd name="T32" fmla="*/ 629 w 1695"/>
              <a:gd name="T33" fmla="*/ 1442 h 1634"/>
              <a:gd name="T34" fmla="*/ 491 w 1695"/>
              <a:gd name="T35" fmla="*/ 1634 h 1634"/>
              <a:gd name="T36" fmla="*/ 459 w 1695"/>
              <a:gd name="T37" fmla="*/ 1612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95" h="1634">
                <a:moveTo>
                  <a:pt x="459" y="1612"/>
                </a:moveTo>
                <a:cubicBezTo>
                  <a:pt x="432" y="1584"/>
                  <a:pt x="397" y="1513"/>
                  <a:pt x="333" y="1355"/>
                </a:cubicBezTo>
                <a:cubicBezTo>
                  <a:pt x="208" y="1043"/>
                  <a:pt x="141" y="946"/>
                  <a:pt x="53" y="944"/>
                </a:cubicBezTo>
                <a:cubicBezTo>
                  <a:pt x="32" y="944"/>
                  <a:pt x="12" y="941"/>
                  <a:pt x="9" y="938"/>
                </a:cubicBezTo>
                <a:cubicBezTo>
                  <a:pt x="0" y="929"/>
                  <a:pt x="30" y="880"/>
                  <a:pt x="60" y="854"/>
                </a:cubicBezTo>
                <a:cubicBezTo>
                  <a:pt x="141" y="784"/>
                  <a:pt x="237" y="770"/>
                  <a:pt x="314" y="815"/>
                </a:cubicBezTo>
                <a:cubicBezTo>
                  <a:pt x="359" y="842"/>
                  <a:pt x="437" y="932"/>
                  <a:pt x="484" y="1010"/>
                </a:cubicBezTo>
                <a:cubicBezTo>
                  <a:pt x="500" y="1037"/>
                  <a:pt x="516" y="1058"/>
                  <a:pt x="519" y="1058"/>
                </a:cubicBezTo>
                <a:cubicBezTo>
                  <a:pt x="522" y="1059"/>
                  <a:pt x="565" y="1004"/>
                  <a:pt x="614" y="938"/>
                </a:cubicBezTo>
                <a:cubicBezTo>
                  <a:pt x="751" y="752"/>
                  <a:pt x="894" y="584"/>
                  <a:pt x="1043" y="432"/>
                </a:cubicBezTo>
                <a:cubicBezTo>
                  <a:pt x="1275" y="197"/>
                  <a:pt x="1442" y="76"/>
                  <a:pt x="1615" y="18"/>
                </a:cubicBezTo>
                <a:cubicBezTo>
                  <a:pt x="1669" y="0"/>
                  <a:pt x="1673" y="0"/>
                  <a:pt x="1684" y="14"/>
                </a:cubicBezTo>
                <a:cubicBezTo>
                  <a:pt x="1690" y="23"/>
                  <a:pt x="1695" y="33"/>
                  <a:pt x="1695" y="36"/>
                </a:cubicBezTo>
                <a:cubicBezTo>
                  <a:pt x="1695" y="40"/>
                  <a:pt x="1656" y="81"/>
                  <a:pt x="1608" y="128"/>
                </a:cubicBezTo>
                <a:cubicBezTo>
                  <a:pt x="1400" y="329"/>
                  <a:pt x="1145" y="615"/>
                  <a:pt x="1007" y="804"/>
                </a:cubicBezTo>
                <a:cubicBezTo>
                  <a:pt x="929" y="911"/>
                  <a:pt x="826" y="1075"/>
                  <a:pt x="754" y="1209"/>
                </a:cubicBezTo>
                <a:cubicBezTo>
                  <a:pt x="724" y="1265"/>
                  <a:pt x="668" y="1369"/>
                  <a:pt x="629" y="1442"/>
                </a:cubicBezTo>
                <a:cubicBezTo>
                  <a:pt x="561" y="1568"/>
                  <a:pt x="514" y="1634"/>
                  <a:pt x="491" y="1634"/>
                </a:cubicBezTo>
                <a:cubicBezTo>
                  <a:pt x="485" y="1634"/>
                  <a:pt x="471" y="1624"/>
                  <a:pt x="459" y="161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2A58B1B-20BC-B0DA-2F15-333BE4AA5EFA}"/>
              </a:ext>
            </a:extLst>
          </p:cNvPr>
          <p:cNvGrpSpPr/>
          <p:nvPr/>
        </p:nvGrpSpPr>
        <p:grpSpPr>
          <a:xfrm>
            <a:off x="273050" y="1621172"/>
            <a:ext cx="9359900" cy="319435"/>
            <a:chOff x="488950" y="1879556"/>
            <a:chExt cx="8928100" cy="300521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C59B3CE3-1843-1BCF-4A38-C73AB378242A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4A5FECF-D3BC-176C-954D-D4261FE1ABA0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평가결과에 따른 차등인상 방식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750753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2B89-6DB6-D562-C5A9-CE5A010E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61481F1-1427-9F4E-C81D-6F4A4A0727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Band </a:t>
            </a:r>
            <a:r>
              <a:rPr lang="ko-KR" altLang="en-US" dirty="0"/>
              <a:t>내 보상구간을 별도로 설정하지 않고 단순화된 인상률을 적용함으로써</a:t>
            </a:r>
            <a:r>
              <a:rPr lang="en-US" altLang="ko-KR" dirty="0"/>
              <a:t>, </a:t>
            </a:r>
            <a:r>
              <a:rPr lang="ko-KR" altLang="en-US" dirty="0"/>
              <a:t>제도 운영의 관리 용이성을 높이고 직원들의 이해도 및 수용도를 제고하여 보상제도의 일관성과 투명성을 강화함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8D0A3E4-81D9-1734-5F65-1497209C7A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B43072-653F-DA3C-B323-F18C3F7837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F0C8D2-0954-9016-BA34-9FAADAF01A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3" name="Group 42">
            <a:extLst>
              <a:ext uri="{FF2B5EF4-FFF2-40B4-BE49-F238E27FC236}">
                <a16:creationId xmlns:a16="http://schemas.microsoft.com/office/drawing/2014/main" id="{1FF997D5-41D3-3E12-E599-E386F2F58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758456"/>
              </p:ext>
            </p:extLst>
          </p:nvPr>
        </p:nvGraphicFramePr>
        <p:xfrm>
          <a:off x="927991" y="2884353"/>
          <a:ext cx="2642133" cy="1458576"/>
        </p:xfrm>
        <a:graphic>
          <a:graphicData uri="http://schemas.openxmlformats.org/drawingml/2006/table">
            <a:tbl>
              <a:tblPr/>
              <a:tblGrid>
                <a:gridCol w="648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88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8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5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평가등급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60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1st Zone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21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2nd Zone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50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2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3rd Zone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50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7%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04340"/>
                  </a:ext>
                </a:extLst>
              </a:tr>
            </a:tbl>
          </a:graphicData>
        </a:graphic>
      </p:graphicFrame>
      <p:graphicFrame>
        <p:nvGraphicFramePr>
          <p:cNvPr id="5" name="Group 42">
            <a:extLst>
              <a:ext uri="{FF2B5EF4-FFF2-40B4-BE49-F238E27FC236}">
                <a16:creationId xmlns:a16="http://schemas.microsoft.com/office/drawing/2014/main" id="{3A65EC74-8EE8-5387-2704-3E06712A1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027601"/>
              </p:ext>
            </p:extLst>
          </p:nvPr>
        </p:nvGraphicFramePr>
        <p:xfrm>
          <a:off x="5629495" y="3123583"/>
          <a:ext cx="2329750" cy="83208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7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2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평가등급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인상률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4291B47C-83D7-2B6B-100D-C636BF542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4990146"/>
            <a:ext cx="9359899" cy="54391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endParaRPr lang="ko-KR" altLang="en-US" sz="14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070FE1A-ED2C-7C36-9A9B-B50CEFBCF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693" y="1996357"/>
            <a:ext cx="4392000" cy="4135908"/>
          </a:xfrm>
          <a:prstGeom prst="rect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4000" tIns="46800" rIns="54000" bIns="46800" numCol="1" anchor="ctr" anchorCtr="0" compatLnSpc="1">
            <a:prstTxWarp prst="textNoShape">
              <a:avLst/>
            </a:prstTxWarp>
          </a:bodyPr>
          <a:lstStyle/>
          <a:p>
            <a:pPr algn="r" latinLnBrk="0">
              <a:spcBef>
                <a:spcPct val="0"/>
              </a:spcBef>
            </a:pP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43AE32AA-C77C-996D-E8CE-6FEA09174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650" y="1996357"/>
            <a:ext cx="4392000" cy="4135908"/>
          </a:xfrm>
          <a:prstGeom prst="rect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4000" tIns="46800" rIns="54000" bIns="46800" numCol="1" anchor="ctr" anchorCtr="0" compatLnSpc="1">
            <a:prstTxWarp prst="textNoShape">
              <a:avLst/>
            </a:prstTxWarp>
          </a:bodyPr>
          <a:lstStyle/>
          <a:p>
            <a:pPr algn="r" latinLnBrk="0">
              <a:spcBef>
                <a:spcPct val="0"/>
              </a:spcBef>
            </a:pP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3F7B371-4BBC-C075-350C-123D9B5185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8537" y="5049487"/>
            <a:ext cx="4140000" cy="851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Band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관리가 용이하여 직원들의 이해도 및 수용도 높음</a:t>
            </a:r>
          </a:p>
          <a:p>
            <a:pPr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</a:pPr>
            <a:b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</a:br>
            <a:endParaRPr lang="en-US" altLang="ko-KR" sz="11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지속적 </a:t>
            </a:r>
            <a:r>
              <a:rPr lang="ko-KR" altLang="en-US" sz="1100" b="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고성과자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 또는 </a:t>
            </a:r>
            <a:r>
              <a:rPr lang="ko-KR" altLang="en-US" sz="1100" b="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저성과자의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 경우 </a:t>
            </a:r>
            <a: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Outlier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발생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8B12D04C-AA5B-B1B5-237C-E3EB6C22D9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8537" y="4667894"/>
            <a:ext cx="4140000" cy="210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Pay Band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내 구간을 설정하지 않고 동일한 인상률 </a:t>
            </a:r>
            <a: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or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인상액 적용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50BFB8DA-07C9-A590-4D5E-E2B792395D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8025" y="5049487"/>
            <a:ext cx="4140000" cy="108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급여수준을 </a:t>
            </a:r>
            <a: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Band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내 위치할 수 있도록 유도</a:t>
            </a: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상위 직급 장기체류자의 보상 상승폭 완화</a:t>
            </a:r>
            <a:b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</a:br>
            <a:endParaRPr lang="en-US" altLang="ko-KR" sz="11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지속적으로 </a:t>
            </a:r>
            <a:r>
              <a:rPr lang="ko-KR" altLang="en-US" sz="1100" b="1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고성과를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 창출하는 직원의 동기부여 어려움</a:t>
            </a: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Band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운영이 복잡해 질 수 있음</a:t>
            </a:r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F0566DCE-CA88-4C83-6B88-6DFD6FE90115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8025" y="4667894"/>
            <a:ext cx="4140000" cy="210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Pay Band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 내 보상 구간에 따라 인상률 </a:t>
            </a:r>
            <a:r>
              <a:rPr lang="en-US" altLang="ko-KR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or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인상액을 차별화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B8241C-3150-DC31-F06C-7914A43ABC2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0650" y="1996357"/>
            <a:ext cx="4392000" cy="319203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Option 1. Band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 보상구간</a:t>
            </a:r>
            <a:r>
              <a:rPr lang="en-US" altLang="ko-KR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(Pay Zone)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383C71-6CDB-AA86-1683-E309EABD1D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235693" y="1996357"/>
            <a:ext cx="4392000" cy="319203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Option 2. Band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 </a:t>
            </a:r>
            <a:r>
              <a:rPr lang="ko-KR" altLang="en-US" sz="1400" b="1" kern="0" spc="-100" dirty="0" err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보상구간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1" kern="0" spc="-100" dirty="0" err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미설정</a:t>
            </a:r>
            <a:endParaRPr lang="ko-KR" altLang="en-US" sz="1400" b="1" kern="0" spc="-1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2802F9D-CA6F-A396-9C03-CA4F15471F88}"/>
              </a:ext>
            </a:extLst>
          </p:cNvPr>
          <p:cNvCxnSpPr/>
          <p:nvPr/>
        </p:nvCxnSpPr>
        <p:spPr>
          <a:xfrm>
            <a:off x="273050" y="4556109"/>
            <a:ext cx="935464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8068FD-9DAA-721E-7D27-C43C49704C07}"/>
              </a:ext>
            </a:extLst>
          </p:cNvPr>
          <p:cNvSpPr txBox="1"/>
          <p:nvPr/>
        </p:nvSpPr>
        <p:spPr>
          <a:xfrm>
            <a:off x="352928" y="4681645"/>
            <a:ext cx="266098" cy="17350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C65B-723C-B511-D7C7-5479D3B3AC8D}"/>
              </a:ext>
            </a:extLst>
          </p:cNvPr>
          <p:cNvSpPr txBox="1"/>
          <p:nvPr/>
        </p:nvSpPr>
        <p:spPr>
          <a:xfrm>
            <a:off x="352928" y="5175842"/>
            <a:ext cx="266098" cy="17350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9BFAF0-9E3B-1703-2250-A789DB93170E}"/>
              </a:ext>
            </a:extLst>
          </p:cNvPr>
          <p:cNvSpPr txBox="1"/>
          <p:nvPr/>
        </p:nvSpPr>
        <p:spPr>
          <a:xfrm>
            <a:off x="352928" y="5745097"/>
            <a:ext cx="266098" cy="17350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단점</a:t>
            </a: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A4E77D4A-CAF3-F411-69C2-09A7B23BC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5980" y="2689773"/>
            <a:ext cx="855401" cy="16588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 Box 47">
            <a:extLst>
              <a:ext uri="{FF2B5EF4-FFF2-40B4-BE49-F238E27FC236}">
                <a16:creationId xmlns:a16="http://schemas.microsoft.com/office/drawing/2014/main" id="{B6E9E54F-5C06-F040-424B-292349DC21F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162069" y="2482068"/>
            <a:ext cx="563222" cy="17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none" lIns="36000" tIns="0" rIns="36000" bIns="0" numCol="1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b="1" u="sng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Pay Band</a:t>
            </a:r>
            <a:endParaRPr kumimoji="1" lang="ko-KR" altLang="ko-KR" sz="1300" kern="0" spc="-1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6B0F275-FB19-9C2D-4491-B09B3E433A06}"/>
              </a:ext>
            </a:extLst>
          </p:cNvPr>
          <p:cNvCxnSpPr/>
          <p:nvPr/>
        </p:nvCxnSpPr>
        <p:spPr>
          <a:xfrm>
            <a:off x="4015980" y="3195751"/>
            <a:ext cx="855436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ACC884D-CDBB-2021-65CA-3B0ACD035DEB}"/>
              </a:ext>
            </a:extLst>
          </p:cNvPr>
          <p:cNvGrpSpPr/>
          <p:nvPr/>
        </p:nvGrpSpPr>
        <p:grpSpPr>
          <a:xfrm>
            <a:off x="4317018" y="3881830"/>
            <a:ext cx="552450" cy="374242"/>
            <a:chOff x="2265730" y="3870261"/>
            <a:chExt cx="552450" cy="462369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BF158151-B52F-6210-0091-F26628201641}"/>
                </a:ext>
              </a:extLst>
            </p:cNvPr>
            <p:cNvSpPr/>
            <p:nvPr/>
          </p:nvSpPr>
          <p:spPr>
            <a:xfrm>
              <a:off x="2310638" y="4192523"/>
              <a:ext cx="123371" cy="140107"/>
            </a:xfrm>
            <a:prstGeom prst="ellipse">
              <a:avLst/>
            </a:prstGeom>
            <a:solidFill>
              <a:srgbClr val="314152">
                <a:lumMod val="75000"/>
              </a:srgbClr>
            </a:solidFill>
            <a:ln w="25400" cap="flat" cmpd="sng" algn="ctr">
              <a:solidFill>
                <a:srgbClr val="31415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BB63D59-0146-4FB1-CABE-F4C11BF03E13}"/>
                </a:ext>
              </a:extLst>
            </p:cNvPr>
            <p:cNvSpPr/>
            <p:nvPr/>
          </p:nvSpPr>
          <p:spPr>
            <a:xfrm>
              <a:off x="2310638" y="3870261"/>
              <a:ext cx="123371" cy="140107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314152">
                  <a:lumMod val="75000"/>
                </a:srgb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A1D0C56D-48DF-BBE9-92D4-F3A77F44AF72}"/>
                </a:ext>
              </a:extLst>
            </p:cNvPr>
            <p:cNvCxnSpPr>
              <a:stCxn id="25" idx="0"/>
              <a:endCxn id="26" idx="4"/>
            </p:cNvCxnSpPr>
            <p:nvPr/>
          </p:nvCxnSpPr>
          <p:spPr>
            <a:xfrm flipV="1">
              <a:off x="2372324" y="4010370"/>
              <a:ext cx="0" cy="18215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1526E7-055C-60BC-0309-67CF05DF3213}"/>
                </a:ext>
              </a:extLst>
            </p:cNvPr>
            <p:cNvSpPr txBox="1"/>
            <p:nvPr/>
          </p:nvSpPr>
          <p:spPr>
            <a:xfrm>
              <a:off x="2265730" y="3972312"/>
              <a:ext cx="552450" cy="328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5%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9" name="Text Box 47">
            <a:extLst>
              <a:ext uri="{FF2B5EF4-FFF2-40B4-BE49-F238E27FC236}">
                <a16:creationId xmlns:a16="http://schemas.microsoft.com/office/drawing/2014/main" id="{FB621CD8-BEF2-2AC8-97BF-F63AB03393F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559665" y="2482068"/>
            <a:ext cx="563222" cy="17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none" lIns="36000" tIns="0" rIns="36000" bIns="0" numCol="1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b="1" u="sng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Pay Band</a:t>
            </a:r>
            <a:endParaRPr kumimoji="1" lang="ko-KR" altLang="ko-KR" sz="1300" kern="0" spc="-1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30" name="Text Box 47">
            <a:extLst>
              <a:ext uri="{FF2B5EF4-FFF2-40B4-BE49-F238E27FC236}">
                <a16:creationId xmlns:a16="http://schemas.microsoft.com/office/drawing/2014/main" id="{12CECEAE-02CD-1FF2-F2A7-5707910F0A0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838403" y="2681907"/>
            <a:ext cx="821306" cy="172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none" lIns="36000" tIns="0" rIns="3600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algn="ctr" fontAlgn="base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defRPr kumimoji="1" sz="1100" b="1" u="sng" kern="0" spc="-1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defRPr>
            </a:lvl1pPr>
          </a:lstStyle>
          <a:p>
            <a:r>
              <a:rPr lang="ko-KR" altLang="en-US" dirty="0"/>
              <a:t>기본급 인상률</a:t>
            </a:r>
            <a:endParaRPr lang="ko-KR" altLang="ko-KR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0B1FBE2-020B-10D4-8BD0-881A6E76C1AF}"/>
              </a:ext>
            </a:extLst>
          </p:cNvPr>
          <p:cNvSpPr/>
          <p:nvPr/>
        </p:nvSpPr>
        <p:spPr>
          <a:xfrm>
            <a:off x="2384425" y="2914418"/>
            <a:ext cx="373063" cy="1428511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678EA5-50F0-3E6B-6543-2DAA4EEC5B2C}"/>
              </a:ext>
            </a:extLst>
          </p:cNvPr>
          <p:cNvSpPr/>
          <p:nvPr/>
        </p:nvSpPr>
        <p:spPr>
          <a:xfrm>
            <a:off x="6894227" y="3141565"/>
            <a:ext cx="332850" cy="814098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 Box 47">
            <a:extLst>
              <a:ext uri="{FF2B5EF4-FFF2-40B4-BE49-F238E27FC236}">
                <a16:creationId xmlns:a16="http://schemas.microsoft.com/office/drawing/2014/main" id="{FC9264A0-B829-5760-8463-BABC772576D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383716" y="2916293"/>
            <a:ext cx="821306" cy="172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none" lIns="36000" tIns="0" rIns="36000" bIns="0" numCol="1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u="sng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기본급 인상률</a:t>
            </a:r>
            <a:endParaRPr kumimoji="1" lang="ko-KR" altLang="ko-KR" sz="1300" kern="0" spc="-1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7E900A00-FCE5-D934-E700-F4403BA20726}"/>
              </a:ext>
            </a:extLst>
          </p:cNvPr>
          <p:cNvSpPr/>
          <p:nvPr/>
        </p:nvSpPr>
        <p:spPr>
          <a:xfrm rot="5400000">
            <a:off x="3583535" y="3469834"/>
            <a:ext cx="435359" cy="115669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ts val="16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974D6DE-A5BA-109F-0A40-4EAE970A1966}"/>
              </a:ext>
            </a:extLst>
          </p:cNvPr>
          <p:cNvSpPr/>
          <p:nvPr/>
        </p:nvSpPr>
        <p:spPr>
          <a:xfrm rot="5400000">
            <a:off x="7974633" y="3469835"/>
            <a:ext cx="435359" cy="115669"/>
          </a:xfrm>
          <a:prstGeom prst="triangle">
            <a:avLst/>
          </a:prstGeom>
          <a:solidFill>
            <a:srgbClr val="595959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ts val="16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96FD6BB2-64C2-A1EC-0714-FDE528FB5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576" y="2689773"/>
            <a:ext cx="855401" cy="165883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79DEF7-AA77-60D3-6BBE-08133424BB20}"/>
              </a:ext>
            </a:extLst>
          </p:cNvPr>
          <p:cNvSpPr txBox="1"/>
          <p:nvPr/>
        </p:nvSpPr>
        <p:spPr>
          <a:xfrm>
            <a:off x="8627298" y="3360511"/>
            <a:ext cx="383759" cy="282005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1" i="0" u="none" strike="noStrike" kern="0" cap="none" spc="-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  <a:endParaRPr kumimoji="1" lang="ko-KR" altLang="en-US" sz="1300" b="1" i="0" u="none" strike="noStrike" kern="0" cap="none" spc="-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78A2BB2-65E3-E64D-7134-89B8C1F8FDCC}"/>
              </a:ext>
            </a:extLst>
          </p:cNvPr>
          <p:cNvCxnSpPr/>
          <p:nvPr/>
        </p:nvCxnSpPr>
        <p:spPr>
          <a:xfrm>
            <a:off x="4015980" y="3774462"/>
            <a:ext cx="855436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615B3A3-EF06-6A1B-D789-BAB4753163D4}"/>
              </a:ext>
            </a:extLst>
          </p:cNvPr>
          <p:cNvGrpSpPr/>
          <p:nvPr/>
        </p:nvGrpSpPr>
        <p:grpSpPr>
          <a:xfrm>
            <a:off x="4317018" y="3292852"/>
            <a:ext cx="552450" cy="374242"/>
            <a:chOff x="2265730" y="3870261"/>
            <a:chExt cx="552450" cy="462369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3240A80-6A01-58A5-C92B-E81D4AB60639}"/>
                </a:ext>
              </a:extLst>
            </p:cNvPr>
            <p:cNvSpPr/>
            <p:nvPr/>
          </p:nvSpPr>
          <p:spPr>
            <a:xfrm>
              <a:off x="2310638" y="4192523"/>
              <a:ext cx="123371" cy="140107"/>
            </a:xfrm>
            <a:prstGeom prst="ellipse">
              <a:avLst/>
            </a:prstGeom>
            <a:solidFill>
              <a:srgbClr val="314152">
                <a:lumMod val="75000"/>
              </a:srgbClr>
            </a:solidFill>
            <a:ln w="25400" cap="flat" cmpd="sng" algn="ctr">
              <a:solidFill>
                <a:srgbClr val="31415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DC0D9FC-7F28-6C34-5F29-F7D9204550DD}"/>
                </a:ext>
              </a:extLst>
            </p:cNvPr>
            <p:cNvSpPr/>
            <p:nvPr/>
          </p:nvSpPr>
          <p:spPr>
            <a:xfrm>
              <a:off x="2310638" y="3870261"/>
              <a:ext cx="123371" cy="140107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314152">
                  <a:lumMod val="75000"/>
                </a:srgb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2762F83-6BC4-0597-804D-BC6286870D40}"/>
                </a:ext>
              </a:extLst>
            </p:cNvPr>
            <p:cNvCxnSpPr>
              <a:stCxn id="40" idx="0"/>
              <a:endCxn id="41" idx="4"/>
            </p:cNvCxnSpPr>
            <p:nvPr/>
          </p:nvCxnSpPr>
          <p:spPr>
            <a:xfrm flipV="1">
              <a:off x="2372324" y="4010370"/>
              <a:ext cx="0" cy="18215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473B61D-6CC2-C04D-115B-94D5CF75E70E}"/>
                </a:ext>
              </a:extLst>
            </p:cNvPr>
            <p:cNvSpPr txBox="1"/>
            <p:nvPr/>
          </p:nvSpPr>
          <p:spPr>
            <a:xfrm>
              <a:off x="2265730" y="3972312"/>
              <a:ext cx="552450" cy="328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kern="0" spc="-1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%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5A839E0-4DA0-F514-425F-21E6D6EB5076}"/>
              </a:ext>
            </a:extLst>
          </p:cNvPr>
          <p:cNvGrpSpPr/>
          <p:nvPr/>
        </p:nvGrpSpPr>
        <p:grpSpPr>
          <a:xfrm>
            <a:off x="4317018" y="2768562"/>
            <a:ext cx="552450" cy="374242"/>
            <a:chOff x="2265730" y="3870261"/>
            <a:chExt cx="552450" cy="462369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BA356D0-D9F6-DA91-3FBC-7CFFE117646C}"/>
                </a:ext>
              </a:extLst>
            </p:cNvPr>
            <p:cNvSpPr/>
            <p:nvPr/>
          </p:nvSpPr>
          <p:spPr>
            <a:xfrm>
              <a:off x="2310638" y="4192523"/>
              <a:ext cx="123371" cy="140107"/>
            </a:xfrm>
            <a:prstGeom prst="ellipse">
              <a:avLst/>
            </a:prstGeom>
            <a:solidFill>
              <a:srgbClr val="314152">
                <a:lumMod val="75000"/>
              </a:srgbClr>
            </a:solidFill>
            <a:ln w="25400" cap="flat" cmpd="sng" algn="ctr">
              <a:solidFill>
                <a:srgbClr val="31415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DE44E8F-CEFE-38AF-3CE8-CC7AE66B87AC}"/>
                </a:ext>
              </a:extLst>
            </p:cNvPr>
            <p:cNvSpPr/>
            <p:nvPr/>
          </p:nvSpPr>
          <p:spPr>
            <a:xfrm>
              <a:off x="2310638" y="3870261"/>
              <a:ext cx="123371" cy="140107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314152">
                  <a:lumMod val="75000"/>
                </a:srgb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043848B-C9CA-9B0D-B005-AD2D28BFA060}"/>
                </a:ext>
              </a:extLst>
            </p:cNvPr>
            <p:cNvCxnSpPr>
              <a:stCxn id="45" idx="0"/>
              <a:endCxn id="46" idx="4"/>
            </p:cNvCxnSpPr>
            <p:nvPr/>
          </p:nvCxnSpPr>
          <p:spPr>
            <a:xfrm flipV="1">
              <a:off x="2372324" y="4010370"/>
              <a:ext cx="0" cy="18215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62CEBC6-6631-E737-870C-36312B550B01}"/>
                </a:ext>
              </a:extLst>
            </p:cNvPr>
            <p:cNvSpPr txBox="1"/>
            <p:nvPr/>
          </p:nvSpPr>
          <p:spPr>
            <a:xfrm>
              <a:off x="2265730" y="3972312"/>
              <a:ext cx="552450" cy="328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kern="0" spc="-1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%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1A81081-96B5-4D29-17A8-CE48F4C62625}"/>
              </a:ext>
            </a:extLst>
          </p:cNvPr>
          <p:cNvGrpSpPr/>
          <p:nvPr/>
        </p:nvGrpSpPr>
        <p:grpSpPr>
          <a:xfrm>
            <a:off x="8703827" y="3857319"/>
            <a:ext cx="552450" cy="374242"/>
            <a:chOff x="2265730" y="3870261"/>
            <a:chExt cx="552450" cy="462369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E88EFBAF-C7E2-1AFC-2AB0-EE0E30D24A6E}"/>
                </a:ext>
              </a:extLst>
            </p:cNvPr>
            <p:cNvSpPr/>
            <p:nvPr/>
          </p:nvSpPr>
          <p:spPr>
            <a:xfrm>
              <a:off x="2310638" y="4192523"/>
              <a:ext cx="123371" cy="140107"/>
            </a:xfrm>
            <a:prstGeom prst="ellipse">
              <a:avLst/>
            </a:prstGeom>
            <a:solidFill>
              <a:srgbClr val="314152">
                <a:lumMod val="75000"/>
              </a:srgbClr>
            </a:solidFill>
            <a:ln w="25400" cap="flat" cmpd="sng" algn="ctr">
              <a:solidFill>
                <a:srgbClr val="31415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E86CB82-FBBF-5CCB-29A2-435768ACDF58}"/>
                </a:ext>
              </a:extLst>
            </p:cNvPr>
            <p:cNvSpPr/>
            <p:nvPr/>
          </p:nvSpPr>
          <p:spPr>
            <a:xfrm>
              <a:off x="2310638" y="3870261"/>
              <a:ext cx="123371" cy="140107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314152">
                  <a:lumMod val="75000"/>
                </a:srgb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353FB563-9D4C-72D1-2AEE-2B4BA6ADA7E4}"/>
                </a:ext>
              </a:extLst>
            </p:cNvPr>
            <p:cNvCxnSpPr>
              <a:stCxn id="50" idx="0"/>
              <a:endCxn id="51" idx="4"/>
            </p:cNvCxnSpPr>
            <p:nvPr/>
          </p:nvCxnSpPr>
          <p:spPr>
            <a:xfrm flipV="1">
              <a:off x="2372324" y="4010370"/>
              <a:ext cx="0" cy="18215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581CD9C-2C95-4D8D-3597-E34D485DDE15}"/>
                </a:ext>
              </a:extLst>
            </p:cNvPr>
            <p:cNvSpPr txBox="1"/>
            <p:nvPr/>
          </p:nvSpPr>
          <p:spPr>
            <a:xfrm>
              <a:off x="2265730" y="3972312"/>
              <a:ext cx="552450" cy="328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kern="0" spc="-1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%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C9AB91F-B7BE-4EC1-EFC1-A8A0C232F2FC}"/>
              </a:ext>
            </a:extLst>
          </p:cNvPr>
          <p:cNvGrpSpPr/>
          <p:nvPr/>
        </p:nvGrpSpPr>
        <p:grpSpPr>
          <a:xfrm>
            <a:off x="8703827" y="2753026"/>
            <a:ext cx="552450" cy="374242"/>
            <a:chOff x="2265730" y="3870261"/>
            <a:chExt cx="552450" cy="462369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DBDAB066-9B5A-4462-466B-50958AC8E89D}"/>
                </a:ext>
              </a:extLst>
            </p:cNvPr>
            <p:cNvSpPr/>
            <p:nvPr/>
          </p:nvSpPr>
          <p:spPr>
            <a:xfrm>
              <a:off x="2310638" y="4192523"/>
              <a:ext cx="123371" cy="140107"/>
            </a:xfrm>
            <a:prstGeom prst="ellipse">
              <a:avLst/>
            </a:prstGeom>
            <a:solidFill>
              <a:srgbClr val="314152">
                <a:lumMod val="75000"/>
              </a:srgbClr>
            </a:solidFill>
            <a:ln w="25400" cap="flat" cmpd="sng" algn="ctr">
              <a:solidFill>
                <a:srgbClr val="314152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7B5AEBEF-7932-9050-9CE1-4D084A6C4645}"/>
                </a:ext>
              </a:extLst>
            </p:cNvPr>
            <p:cNvSpPr/>
            <p:nvPr/>
          </p:nvSpPr>
          <p:spPr>
            <a:xfrm>
              <a:off x="2310638" y="3870261"/>
              <a:ext cx="123371" cy="140107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314152">
                  <a:lumMod val="75000"/>
                </a:srgb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B7D10126-4A8D-9CD1-A7DE-111173A99F13}"/>
                </a:ext>
              </a:extLst>
            </p:cNvPr>
            <p:cNvCxnSpPr>
              <a:stCxn id="55" idx="0"/>
              <a:endCxn id="56" idx="4"/>
            </p:cNvCxnSpPr>
            <p:nvPr/>
          </p:nvCxnSpPr>
          <p:spPr>
            <a:xfrm flipV="1">
              <a:off x="2372324" y="4010370"/>
              <a:ext cx="0" cy="18215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7BA2940-A4E2-04B7-98F7-5B1D5C8AFBDC}"/>
                </a:ext>
              </a:extLst>
            </p:cNvPr>
            <p:cNvSpPr txBox="1"/>
            <p:nvPr/>
          </p:nvSpPr>
          <p:spPr>
            <a:xfrm>
              <a:off x="2265730" y="3972312"/>
              <a:ext cx="552450" cy="328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100" b="1" kern="0" spc="-1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r>
                <a:rPr kumimoji="1" lang="en-US" altLang="ko-KR" sz="1100" b="1" i="0" u="none" strike="noStrike" kern="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%</a:t>
              </a:r>
              <a:endParaRPr kumimoji="1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9" name="직사각형 200">
            <a:extLst>
              <a:ext uri="{FF2B5EF4-FFF2-40B4-BE49-F238E27FC236}">
                <a16:creationId xmlns:a16="http://schemas.microsoft.com/office/drawing/2014/main" id="{E8EE2F98-476D-144A-AF5A-C7A54F39F30F}"/>
              </a:ext>
            </a:extLst>
          </p:cNvPr>
          <p:cNvSpPr/>
          <p:nvPr/>
        </p:nvSpPr>
        <p:spPr>
          <a:xfrm>
            <a:off x="801538" y="2064236"/>
            <a:ext cx="199038" cy="183445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200">
            <a:extLst>
              <a:ext uri="{FF2B5EF4-FFF2-40B4-BE49-F238E27FC236}">
                <a16:creationId xmlns:a16="http://schemas.microsoft.com/office/drawing/2014/main" id="{A02761C3-06C6-5B78-21DD-4810CB613131}"/>
              </a:ext>
            </a:extLst>
          </p:cNvPr>
          <p:cNvSpPr/>
          <p:nvPr/>
        </p:nvSpPr>
        <p:spPr>
          <a:xfrm>
            <a:off x="5318693" y="2064236"/>
            <a:ext cx="199038" cy="183445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Freeform 5">
            <a:extLst>
              <a:ext uri="{FF2B5EF4-FFF2-40B4-BE49-F238E27FC236}">
                <a16:creationId xmlns:a16="http://schemas.microsoft.com/office/drawing/2014/main" id="{03C935F4-7207-6FDB-0AA5-C279B797760B}"/>
              </a:ext>
            </a:extLst>
          </p:cNvPr>
          <p:cNvSpPr>
            <a:spLocks/>
          </p:cNvSpPr>
          <p:nvPr/>
        </p:nvSpPr>
        <p:spPr bwMode="auto">
          <a:xfrm>
            <a:off x="5322333" y="2007628"/>
            <a:ext cx="215783" cy="197297"/>
          </a:xfrm>
          <a:custGeom>
            <a:avLst/>
            <a:gdLst>
              <a:gd name="T0" fmla="*/ 459 w 1695"/>
              <a:gd name="T1" fmla="*/ 1612 h 1634"/>
              <a:gd name="T2" fmla="*/ 333 w 1695"/>
              <a:gd name="T3" fmla="*/ 1355 h 1634"/>
              <a:gd name="T4" fmla="*/ 53 w 1695"/>
              <a:gd name="T5" fmla="*/ 944 h 1634"/>
              <a:gd name="T6" fmla="*/ 9 w 1695"/>
              <a:gd name="T7" fmla="*/ 938 h 1634"/>
              <a:gd name="T8" fmla="*/ 60 w 1695"/>
              <a:gd name="T9" fmla="*/ 854 h 1634"/>
              <a:gd name="T10" fmla="*/ 314 w 1695"/>
              <a:gd name="T11" fmla="*/ 815 h 1634"/>
              <a:gd name="T12" fmla="*/ 484 w 1695"/>
              <a:gd name="T13" fmla="*/ 1010 h 1634"/>
              <a:gd name="T14" fmla="*/ 519 w 1695"/>
              <a:gd name="T15" fmla="*/ 1058 h 1634"/>
              <a:gd name="T16" fmla="*/ 614 w 1695"/>
              <a:gd name="T17" fmla="*/ 938 h 1634"/>
              <a:gd name="T18" fmla="*/ 1043 w 1695"/>
              <a:gd name="T19" fmla="*/ 432 h 1634"/>
              <a:gd name="T20" fmla="*/ 1615 w 1695"/>
              <a:gd name="T21" fmla="*/ 18 h 1634"/>
              <a:gd name="T22" fmla="*/ 1684 w 1695"/>
              <a:gd name="T23" fmla="*/ 14 h 1634"/>
              <a:gd name="T24" fmla="*/ 1695 w 1695"/>
              <a:gd name="T25" fmla="*/ 36 h 1634"/>
              <a:gd name="T26" fmla="*/ 1608 w 1695"/>
              <a:gd name="T27" fmla="*/ 128 h 1634"/>
              <a:gd name="T28" fmla="*/ 1007 w 1695"/>
              <a:gd name="T29" fmla="*/ 804 h 1634"/>
              <a:gd name="T30" fmla="*/ 754 w 1695"/>
              <a:gd name="T31" fmla="*/ 1209 h 1634"/>
              <a:gd name="T32" fmla="*/ 629 w 1695"/>
              <a:gd name="T33" fmla="*/ 1442 h 1634"/>
              <a:gd name="T34" fmla="*/ 491 w 1695"/>
              <a:gd name="T35" fmla="*/ 1634 h 1634"/>
              <a:gd name="T36" fmla="*/ 459 w 1695"/>
              <a:gd name="T37" fmla="*/ 1612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95" h="1634">
                <a:moveTo>
                  <a:pt x="459" y="1612"/>
                </a:moveTo>
                <a:cubicBezTo>
                  <a:pt x="432" y="1584"/>
                  <a:pt x="397" y="1513"/>
                  <a:pt x="333" y="1355"/>
                </a:cubicBezTo>
                <a:cubicBezTo>
                  <a:pt x="208" y="1043"/>
                  <a:pt x="141" y="946"/>
                  <a:pt x="53" y="944"/>
                </a:cubicBezTo>
                <a:cubicBezTo>
                  <a:pt x="32" y="944"/>
                  <a:pt x="12" y="941"/>
                  <a:pt x="9" y="938"/>
                </a:cubicBezTo>
                <a:cubicBezTo>
                  <a:pt x="0" y="929"/>
                  <a:pt x="30" y="880"/>
                  <a:pt x="60" y="854"/>
                </a:cubicBezTo>
                <a:cubicBezTo>
                  <a:pt x="141" y="784"/>
                  <a:pt x="237" y="770"/>
                  <a:pt x="314" y="815"/>
                </a:cubicBezTo>
                <a:cubicBezTo>
                  <a:pt x="359" y="842"/>
                  <a:pt x="437" y="932"/>
                  <a:pt x="484" y="1010"/>
                </a:cubicBezTo>
                <a:cubicBezTo>
                  <a:pt x="500" y="1037"/>
                  <a:pt x="516" y="1058"/>
                  <a:pt x="519" y="1058"/>
                </a:cubicBezTo>
                <a:cubicBezTo>
                  <a:pt x="522" y="1059"/>
                  <a:pt x="565" y="1004"/>
                  <a:pt x="614" y="938"/>
                </a:cubicBezTo>
                <a:cubicBezTo>
                  <a:pt x="751" y="752"/>
                  <a:pt x="894" y="584"/>
                  <a:pt x="1043" y="432"/>
                </a:cubicBezTo>
                <a:cubicBezTo>
                  <a:pt x="1275" y="197"/>
                  <a:pt x="1442" y="76"/>
                  <a:pt x="1615" y="18"/>
                </a:cubicBezTo>
                <a:cubicBezTo>
                  <a:pt x="1669" y="0"/>
                  <a:pt x="1673" y="0"/>
                  <a:pt x="1684" y="14"/>
                </a:cubicBezTo>
                <a:cubicBezTo>
                  <a:pt x="1690" y="23"/>
                  <a:pt x="1695" y="33"/>
                  <a:pt x="1695" y="36"/>
                </a:cubicBezTo>
                <a:cubicBezTo>
                  <a:pt x="1695" y="40"/>
                  <a:pt x="1656" y="81"/>
                  <a:pt x="1608" y="128"/>
                </a:cubicBezTo>
                <a:cubicBezTo>
                  <a:pt x="1400" y="329"/>
                  <a:pt x="1145" y="615"/>
                  <a:pt x="1007" y="804"/>
                </a:cubicBezTo>
                <a:cubicBezTo>
                  <a:pt x="929" y="911"/>
                  <a:pt x="826" y="1075"/>
                  <a:pt x="754" y="1209"/>
                </a:cubicBezTo>
                <a:cubicBezTo>
                  <a:pt x="724" y="1265"/>
                  <a:pt x="668" y="1369"/>
                  <a:pt x="629" y="1442"/>
                </a:cubicBezTo>
                <a:cubicBezTo>
                  <a:pt x="561" y="1568"/>
                  <a:pt x="514" y="1634"/>
                  <a:pt x="491" y="1634"/>
                </a:cubicBezTo>
                <a:cubicBezTo>
                  <a:pt x="485" y="1634"/>
                  <a:pt x="471" y="1624"/>
                  <a:pt x="459" y="161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B577E31-F3F8-6410-A226-144C18AEAFEE}"/>
              </a:ext>
            </a:extLst>
          </p:cNvPr>
          <p:cNvGrpSpPr/>
          <p:nvPr/>
        </p:nvGrpSpPr>
        <p:grpSpPr>
          <a:xfrm>
            <a:off x="273050" y="1621172"/>
            <a:ext cx="9359900" cy="319435"/>
            <a:chOff x="488950" y="1879556"/>
            <a:chExt cx="8928100" cy="300521"/>
          </a:xfrm>
        </p:grpSpPr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205C4F6A-5240-C025-F808-47E0490AD73C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733DF28C-F748-8655-B0D9-89E90DF28E9C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kumimoji="1" lang="en-US" altLang="ko-KR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Band </a:t>
              </a: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내 보상구간 설정 방안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70695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8C678-35AF-805A-D22C-81A2FBB7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3D0907E-EDC9-6808-130A-0C645B195E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승진에 따른 인상 방식은 정률 인상방식을 채택하여 직급별 보상관리의 일관성을 확보하고</a:t>
            </a:r>
            <a:r>
              <a:rPr lang="en-US" altLang="ko-KR" dirty="0"/>
              <a:t>, </a:t>
            </a:r>
            <a:r>
              <a:rPr lang="ko-KR" altLang="en-US" dirty="0"/>
              <a:t>평가결과에 따른 공정한 차등 보상을 구현함으로써 제도의 수용성과 안정성을 높임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9F8A379-B1E8-0A5B-3035-C92D145637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C54AA8-EFDC-E66D-8DC2-A34ACABA3D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2843C9B-94F2-7EDE-DC21-F936AC5595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4" name="Text Box 12">
            <a:extLst>
              <a:ext uri="{FF2B5EF4-FFF2-40B4-BE49-F238E27FC236}">
                <a16:creationId xmlns:a16="http://schemas.microsoft.com/office/drawing/2014/main" id="{6633972D-17D7-44E3-3218-D8BD8BA76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137" y="4711189"/>
            <a:ext cx="2536497" cy="1357739"/>
          </a:xfrm>
          <a:prstGeom prst="rect">
            <a:avLst/>
          </a:prstGeom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pPr latinLnBrk="1">
              <a:lnSpc>
                <a:spcPct val="120000"/>
              </a:lnSpc>
            </a:pPr>
            <a:r>
              <a:rPr kumimoji="1" lang="ko-KR" altLang="en-US" kern="0" spc="-100" dirty="0"/>
              <a:t>승진 시 별도의 승진 인상액 없이 </a:t>
            </a:r>
            <a:r>
              <a:rPr kumimoji="1" lang="en-US" altLang="ko-KR" kern="0" spc="-100" dirty="0"/>
              <a:t>Pay Band </a:t>
            </a:r>
            <a:r>
              <a:rPr kumimoji="1" lang="ko-KR" altLang="en-US" kern="0" spc="-100" dirty="0"/>
              <a:t>수평 이동</a:t>
            </a:r>
            <a:endParaRPr kumimoji="1" lang="en-US" altLang="ko-KR" kern="0" spc="-100" dirty="0"/>
          </a:p>
          <a:p>
            <a:pPr latinLnBrk="1">
              <a:lnSpc>
                <a:spcPct val="120000"/>
              </a:lnSpc>
            </a:pPr>
            <a:r>
              <a:rPr kumimoji="1" lang="ko-KR" altLang="en-US" kern="0" spc="-100" dirty="0"/>
              <a:t>강력한 성과중심주의로의 전환 유도</a:t>
            </a:r>
            <a:endParaRPr kumimoji="1" lang="en-US" altLang="ko-KR" kern="0" spc="-100" dirty="0"/>
          </a:p>
          <a:p>
            <a:pPr latinLnBrk="1">
              <a:lnSpc>
                <a:spcPct val="120000"/>
              </a:lnSpc>
            </a:pPr>
            <a:r>
              <a:rPr kumimoji="1" lang="ko-KR" altLang="en-US" kern="0" spc="-100" dirty="0"/>
              <a:t>내부 반발 가능성</a:t>
            </a:r>
            <a:r>
              <a:rPr kumimoji="1" lang="en-US" altLang="ko-KR" kern="0" spc="-100" dirty="0"/>
              <a:t>, </a:t>
            </a:r>
            <a:r>
              <a:rPr kumimoji="1" lang="ko-KR" altLang="en-US" kern="0" spc="-100" dirty="0"/>
              <a:t>기존에 승진한 직원과의</a:t>
            </a:r>
            <a:br>
              <a:rPr kumimoji="1" lang="en-US" altLang="ko-KR" kern="0" spc="-100" dirty="0"/>
            </a:br>
            <a:r>
              <a:rPr kumimoji="1" lang="ko-KR" altLang="en-US" kern="0" spc="-100" dirty="0"/>
              <a:t>형평성 이슈 존재</a:t>
            </a:r>
            <a:br>
              <a:rPr kumimoji="1" lang="en-US" altLang="ko-KR" kern="0" spc="-100" dirty="0"/>
            </a:br>
            <a:r>
              <a:rPr kumimoji="1" lang="ko-KR" altLang="en-US" kern="0" spc="-100" dirty="0"/>
              <a:t>→ 기존 </a:t>
            </a:r>
            <a:r>
              <a:rPr kumimoji="1" lang="ko-KR" altLang="en-US" kern="0" spc="-100" dirty="0" err="1"/>
              <a:t>승진인상</a:t>
            </a:r>
            <a:r>
              <a:rPr kumimoji="1" lang="ko-KR" altLang="en-US" kern="0" spc="-100" dirty="0"/>
              <a:t> 재원의 활용방안마련 필요</a:t>
            </a:r>
            <a:endParaRPr kumimoji="1" lang="en-US" altLang="ko-KR" kern="0" spc="-100" dirty="0"/>
          </a:p>
        </p:txBody>
      </p:sp>
      <p:sp>
        <p:nvSpPr>
          <p:cNvPr id="145" name="Text Box 12">
            <a:extLst>
              <a:ext uri="{FF2B5EF4-FFF2-40B4-BE49-F238E27FC236}">
                <a16:creationId xmlns:a16="http://schemas.microsoft.com/office/drawing/2014/main" id="{92B7C3D1-9E53-AF50-9C2C-0CDDD1801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27" y="4711189"/>
            <a:ext cx="2536496" cy="1205903"/>
          </a:xfrm>
          <a:prstGeom prst="rect">
            <a:avLst/>
          </a:prstGeom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ko-KR" altLang="en-US" kern="0" spc="-100" dirty="0"/>
              <a:t>승진 시 </a:t>
            </a:r>
            <a:r>
              <a:rPr kumimoji="1" lang="ko-KR" altLang="en-US" kern="0" spc="-100" dirty="0" err="1"/>
              <a:t>기준인상률</a:t>
            </a:r>
            <a:r>
              <a:rPr kumimoji="1" lang="en-US" altLang="ko-KR" kern="0" spc="-100" dirty="0"/>
              <a:t>(</a:t>
            </a:r>
            <a:r>
              <a:rPr kumimoji="1" lang="ko-KR" altLang="en-US" kern="0" spc="-100" dirty="0"/>
              <a:t>액</a:t>
            </a:r>
            <a:r>
              <a:rPr kumimoji="1" lang="en-US" altLang="ko-KR" kern="0" spc="-100" dirty="0"/>
              <a:t>)</a:t>
            </a:r>
            <a:r>
              <a:rPr kumimoji="1" lang="ko-KR" altLang="en-US" kern="0" spc="-100" dirty="0"/>
              <a:t>에 일정 비율을 가산</a:t>
            </a:r>
            <a:endParaRPr kumimoji="1" lang="en-US" altLang="ko-KR" kern="0" spc="-100" dirty="0"/>
          </a:p>
          <a:p>
            <a:pPr>
              <a:lnSpc>
                <a:spcPct val="120000"/>
              </a:lnSpc>
            </a:pPr>
            <a:r>
              <a:rPr kumimoji="1" lang="en-US" altLang="ko-KR" kern="0" spc="-100" dirty="0"/>
              <a:t>Pay Zone </a:t>
            </a:r>
            <a:r>
              <a:rPr kumimoji="1" lang="ko-KR" altLang="en-US" kern="0" spc="-100" dirty="0"/>
              <a:t>운영 시 </a:t>
            </a:r>
            <a:r>
              <a:rPr kumimoji="1" lang="en-US" altLang="ko-KR" kern="0" spc="-100" dirty="0"/>
              <a:t>Pay band </a:t>
            </a:r>
            <a:r>
              <a:rPr kumimoji="1" lang="ko-KR" altLang="en-US" kern="0" spc="-100" dirty="0" err="1"/>
              <a:t>위치별</a:t>
            </a:r>
            <a:r>
              <a:rPr kumimoji="1" lang="ko-KR" altLang="en-US" kern="0" spc="-100" dirty="0"/>
              <a:t> 승진인상률이 차등 적용됨</a:t>
            </a:r>
            <a:endParaRPr kumimoji="1" lang="en-US" altLang="ko-KR" kern="0" spc="-100" dirty="0"/>
          </a:p>
          <a:p>
            <a:pPr>
              <a:lnSpc>
                <a:spcPct val="120000"/>
              </a:lnSpc>
            </a:pPr>
            <a:r>
              <a:rPr kumimoji="1" lang="ko-KR" altLang="en-US" kern="0" spc="-100" dirty="0"/>
              <a:t>역할 상승에 대한 동기부여 효과가 큼</a:t>
            </a:r>
            <a:endParaRPr kumimoji="1" lang="en-US" altLang="ko-KR" kern="0" spc="-100" dirty="0"/>
          </a:p>
          <a:p>
            <a:pPr>
              <a:lnSpc>
                <a:spcPct val="120000"/>
              </a:lnSpc>
            </a:pPr>
            <a:r>
              <a:rPr kumimoji="1" lang="ko-KR" altLang="en-US" kern="0" spc="-100" dirty="0"/>
              <a:t>성과향상보다 승진에 주목할 수 있음</a:t>
            </a:r>
            <a:endParaRPr kumimoji="1" lang="en-US" altLang="ko-KR" kern="0" spc="-100" dirty="0"/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BB6FD7B-E92E-8CCF-70B3-6779FFA4B2A6}"/>
              </a:ext>
            </a:extLst>
          </p:cNvPr>
          <p:cNvGrpSpPr/>
          <p:nvPr/>
        </p:nvGrpSpPr>
        <p:grpSpPr>
          <a:xfrm>
            <a:off x="496216" y="2450365"/>
            <a:ext cx="2578691" cy="2058677"/>
            <a:chOff x="890492" y="2523026"/>
            <a:chExt cx="2414588" cy="2263238"/>
          </a:xfrm>
        </p:grpSpPr>
        <p:sp>
          <p:nvSpPr>
            <p:cNvPr id="147" name="Line 15">
              <a:extLst>
                <a:ext uri="{FF2B5EF4-FFF2-40B4-BE49-F238E27FC236}">
                  <a16:creationId xmlns:a16="http://schemas.microsoft.com/office/drawing/2014/main" id="{9FE633FE-B5A6-9F18-463F-12BC8B2FEAC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893667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8" name="Line 16">
              <a:extLst>
                <a:ext uri="{FF2B5EF4-FFF2-40B4-BE49-F238E27FC236}">
                  <a16:creationId xmlns:a16="http://schemas.microsoft.com/office/drawing/2014/main" id="{DC9722F4-454F-A22B-5CF3-7023315EA1C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890492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49" name="Rectangle 6">
            <a:extLst>
              <a:ext uri="{FF2B5EF4-FFF2-40B4-BE49-F238E27FC236}">
                <a16:creationId xmlns:a16="http://schemas.microsoft.com/office/drawing/2014/main" id="{F2083A2B-1500-F1F7-0B3E-DF78BA17D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46" y="2037738"/>
            <a:ext cx="3024000" cy="319348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Option 1.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정률 </a:t>
            </a:r>
            <a:r>
              <a:rPr lang="ko-KR" altLang="en-US" sz="1400" b="1" kern="0" spc="-100">
                <a:solidFill>
                  <a:srgbClr val="FFFFFF"/>
                </a:solidFill>
                <a:latin typeface="+mn-ea"/>
              </a:rPr>
              <a:t>인상 방식</a:t>
            </a:r>
            <a:endParaRPr lang="en-US" altLang="ko-KR" sz="1400" b="1" kern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23DDE8BF-0790-A62E-D8E2-7881D74B96AF}"/>
              </a:ext>
            </a:extLst>
          </p:cNvPr>
          <p:cNvSpPr/>
          <p:nvPr/>
        </p:nvSpPr>
        <p:spPr>
          <a:xfrm>
            <a:off x="279846" y="2034268"/>
            <a:ext cx="3024000" cy="4095069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51" name="Text Box 12">
            <a:extLst>
              <a:ext uri="{FF2B5EF4-FFF2-40B4-BE49-F238E27FC236}">
                <a16:creationId xmlns:a16="http://schemas.microsoft.com/office/drawing/2014/main" id="{043A258C-5CC5-29C9-627C-ED51357D5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1132" y="4711189"/>
            <a:ext cx="2536496" cy="1154606"/>
          </a:xfrm>
          <a:prstGeom prst="rect">
            <a:avLst/>
          </a:prstGeom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pPr>
              <a:lnSpc>
                <a:spcPct val="120000"/>
              </a:lnSpc>
            </a:pPr>
            <a:r>
              <a:rPr lang="ko-KR" altLang="en-US" spc="-100" dirty="0"/>
              <a:t>승진 시 일정 금액의 승진 가산금을 지급</a:t>
            </a:r>
            <a:endParaRPr lang="en-US" altLang="ko-KR" spc="-100" dirty="0"/>
          </a:p>
          <a:p>
            <a:pPr>
              <a:lnSpc>
                <a:spcPct val="120000"/>
              </a:lnSpc>
            </a:pPr>
            <a:r>
              <a:rPr lang="ko-KR" altLang="en-US" spc="-100" dirty="0"/>
              <a:t>승진에 대한 기대감을 충족시키면서 지나치게 인건비가 높아지는 현상을 방지</a:t>
            </a:r>
            <a:endParaRPr lang="en-US" altLang="ko-KR" spc="-100" dirty="0"/>
          </a:p>
          <a:p>
            <a:pPr>
              <a:lnSpc>
                <a:spcPct val="120000"/>
              </a:lnSpc>
            </a:pPr>
            <a:r>
              <a:rPr lang="ko-KR" altLang="en-US" spc="-100" dirty="0" err="1"/>
              <a:t>고성과자의</a:t>
            </a:r>
            <a:r>
              <a:rPr lang="ko-KR" altLang="en-US" spc="-100" dirty="0"/>
              <a:t> 역할 상승</a:t>
            </a:r>
            <a:r>
              <a:rPr lang="en-US" altLang="ko-KR" spc="-100" dirty="0"/>
              <a:t>/</a:t>
            </a:r>
            <a:r>
              <a:rPr lang="ko-KR" altLang="en-US" spc="-100" dirty="0"/>
              <a:t>성장에 대한 동기부여 어려움</a:t>
            </a:r>
            <a:endParaRPr lang="en-US" altLang="ko-KR" spc="-100" dirty="0"/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59085900-0AAE-9D2E-E718-3F07BEF22D10}"/>
              </a:ext>
            </a:extLst>
          </p:cNvPr>
          <p:cNvGrpSpPr/>
          <p:nvPr/>
        </p:nvGrpSpPr>
        <p:grpSpPr>
          <a:xfrm>
            <a:off x="3655221" y="2450365"/>
            <a:ext cx="2578691" cy="2058677"/>
            <a:chOff x="3822603" y="2523026"/>
            <a:chExt cx="2414588" cy="2263238"/>
          </a:xfrm>
        </p:grpSpPr>
        <p:sp>
          <p:nvSpPr>
            <p:cNvPr id="153" name="Line 15">
              <a:extLst>
                <a:ext uri="{FF2B5EF4-FFF2-40B4-BE49-F238E27FC236}">
                  <a16:creationId xmlns:a16="http://schemas.microsoft.com/office/drawing/2014/main" id="{05590C17-43D7-146E-255A-969B801B44A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825778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4" name="Line 16">
              <a:extLst>
                <a:ext uri="{FF2B5EF4-FFF2-40B4-BE49-F238E27FC236}">
                  <a16:creationId xmlns:a16="http://schemas.microsoft.com/office/drawing/2014/main" id="{DF0B18DD-4FD5-3AFA-9F8C-E9164A2B4DF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822603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55" name="Rectangle 6">
            <a:extLst>
              <a:ext uri="{FF2B5EF4-FFF2-40B4-BE49-F238E27FC236}">
                <a16:creationId xmlns:a16="http://schemas.microsoft.com/office/drawing/2014/main" id="{2600B18D-689B-F8F0-6B92-E160F4519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355" y="2037738"/>
            <a:ext cx="3024000" cy="319348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Option 2.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정액 인상 방식</a:t>
            </a:r>
            <a:endParaRPr lang="en-US" altLang="ko-KR" sz="1400" b="1" kern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54AE2A70-EC10-D4AB-D2B5-820C33F02F5C}"/>
              </a:ext>
            </a:extLst>
          </p:cNvPr>
          <p:cNvSpPr/>
          <p:nvPr/>
        </p:nvSpPr>
        <p:spPr>
          <a:xfrm>
            <a:off x="3434355" y="2034268"/>
            <a:ext cx="3024000" cy="4095069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F3973EC2-C4F2-CE0C-AA37-D34465D3D769}"/>
              </a:ext>
            </a:extLst>
          </p:cNvPr>
          <p:cNvGrpSpPr/>
          <p:nvPr/>
        </p:nvGrpSpPr>
        <p:grpSpPr>
          <a:xfrm>
            <a:off x="6814227" y="2450365"/>
            <a:ext cx="2578691" cy="2058677"/>
            <a:chOff x="6813041" y="2523026"/>
            <a:chExt cx="2414588" cy="2263238"/>
          </a:xfrm>
        </p:grpSpPr>
        <p:sp>
          <p:nvSpPr>
            <p:cNvPr id="158" name="Line 15">
              <a:extLst>
                <a:ext uri="{FF2B5EF4-FFF2-40B4-BE49-F238E27FC236}">
                  <a16:creationId xmlns:a16="http://schemas.microsoft.com/office/drawing/2014/main" id="{6D819B13-6DD8-CF03-42E7-E698D647268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6814629" y="2523026"/>
              <a:ext cx="0" cy="22632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9" name="Line 16">
              <a:extLst>
                <a:ext uri="{FF2B5EF4-FFF2-40B4-BE49-F238E27FC236}">
                  <a16:creationId xmlns:a16="http://schemas.microsoft.com/office/drawing/2014/main" id="{3CBB4C68-7CAF-0506-C7C7-D8774D8F800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6813041" y="4784877"/>
              <a:ext cx="24145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eaLnBrk="1" hangingPunct="1">
                <a:buFont typeface="Wingdings" pitchFamily="2" charset="2"/>
                <a:buNone/>
                <a:defRPr/>
              </a:pPr>
              <a:endParaRPr kumimoji="1" lang="ko-KR" altLang="en-US" sz="1000" kern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60" name="Rectangle 6">
            <a:extLst>
              <a:ext uri="{FF2B5EF4-FFF2-40B4-BE49-F238E27FC236}">
                <a16:creationId xmlns:a16="http://schemas.microsoft.com/office/drawing/2014/main" id="{B1245D27-F901-0852-D7F4-C3CB921B6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5416" y="2037738"/>
            <a:ext cx="3024000" cy="319348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latinLnBrk="0">
              <a:lnSpc>
                <a:spcPct val="90000"/>
              </a:lnSpc>
            </a:pP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Option 3. 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수평 이동</a:t>
            </a:r>
            <a:r>
              <a:rPr lang="en-US" altLang="ko-KR" sz="1400" b="1" kern="0" spc="-100" dirty="0">
                <a:solidFill>
                  <a:srgbClr val="FFFFFF"/>
                </a:solidFill>
                <a:latin typeface="+mn-ea"/>
              </a:rPr>
              <a:t>(Sliding)</a:t>
            </a:r>
            <a:r>
              <a:rPr lang="ko-KR" altLang="en-US" sz="1400" b="1" kern="0" spc="-100" dirty="0">
                <a:solidFill>
                  <a:srgbClr val="FFFFFF"/>
                </a:solidFill>
                <a:latin typeface="+mn-ea"/>
              </a:rPr>
              <a:t> 방식</a:t>
            </a:r>
            <a:endParaRPr lang="en-US" altLang="ko-KR" sz="1400" b="1" kern="0" spc="-1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FD96CC76-4B3C-935D-C4CD-0CB7473513EA}"/>
              </a:ext>
            </a:extLst>
          </p:cNvPr>
          <p:cNvSpPr/>
          <p:nvPr/>
        </p:nvSpPr>
        <p:spPr>
          <a:xfrm>
            <a:off x="6595416" y="2034268"/>
            <a:ext cx="3024000" cy="4095069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1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65" name="Rectangle 16">
            <a:extLst>
              <a:ext uri="{FF2B5EF4-FFF2-40B4-BE49-F238E27FC236}">
                <a16:creationId xmlns:a16="http://schemas.microsoft.com/office/drawing/2014/main" id="{0A9E2B72-F90F-5BC8-4ED3-BA8BCAB211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96542" y="3136464"/>
            <a:ext cx="498683" cy="1230575"/>
          </a:xfrm>
          <a:prstGeom prst="rect">
            <a:avLst/>
          </a:prstGeom>
          <a:solidFill>
            <a:srgbClr val="DCE6F2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Rectangle 17">
            <a:extLst>
              <a:ext uri="{FF2B5EF4-FFF2-40B4-BE49-F238E27FC236}">
                <a16:creationId xmlns:a16="http://schemas.microsoft.com/office/drawing/2014/main" id="{548FFC09-2F6E-9481-17E7-B9A364669A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5193909" y="2636315"/>
            <a:ext cx="498683" cy="1232041"/>
          </a:xfrm>
          <a:prstGeom prst="rect">
            <a:avLst/>
          </a:prstGeom>
          <a:solidFill>
            <a:srgbClr val="DCE6F2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Oval 19">
            <a:extLst>
              <a:ext uri="{FF2B5EF4-FFF2-40B4-BE49-F238E27FC236}">
                <a16:creationId xmlns:a16="http://schemas.microsoft.com/office/drawing/2014/main" id="{AFBAEFF7-B2ED-F35A-2D18-1032D96E59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03348" y="3633681"/>
            <a:ext cx="83603" cy="82800"/>
          </a:xfrm>
          <a:prstGeom prst="ellipse">
            <a:avLst/>
          </a:prstGeom>
          <a:solidFill>
            <a:srgbClr val="000000"/>
          </a:solidFill>
          <a:ln w="2921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Oval 20">
            <a:extLst>
              <a:ext uri="{FF2B5EF4-FFF2-40B4-BE49-F238E27FC236}">
                <a16:creationId xmlns:a16="http://schemas.microsoft.com/office/drawing/2014/main" id="{24A0D375-8609-7209-1E9F-606D70B81B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00715" y="3384340"/>
            <a:ext cx="83603" cy="82800"/>
          </a:xfrm>
          <a:prstGeom prst="ellipse">
            <a:avLst/>
          </a:prstGeom>
          <a:solidFill>
            <a:srgbClr val="000000"/>
          </a:solidFill>
          <a:ln w="2921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9" name="Oval 21">
            <a:extLst>
              <a:ext uri="{FF2B5EF4-FFF2-40B4-BE49-F238E27FC236}">
                <a16:creationId xmlns:a16="http://schemas.microsoft.com/office/drawing/2014/main" id="{2D5972AB-13D3-A414-D6C2-7EB38590E6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03348" y="4215967"/>
            <a:ext cx="83603" cy="82800"/>
          </a:xfrm>
          <a:prstGeom prst="ellipse">
            <a:avLst/>
          </a:prstGeom>
          <a:solidFill>
            <a:srgbClr val="000000"/>
          </a:solidFill>
          <a:ln w="2921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0" name="Oval 22">
            <a:extLst>
              <a:ext uri="{FF2B5EF4-FFF2-40B4-BE49-F238E27FC236}">
                <a16:creationId xmlns:a16="http://schemas.microsoft.com/office/drawing/2014/main" id="{6010A085-6FA0-40B9-A0A5-D79E5A490D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00715" y="3968092"/>
            <a:ext cx="83603" cy="83602"/>
          </a:xfrm>
          <a:prstGeom prst="ellips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Oval 23">
            <a:extLst>
              <a:ext uri="{FF2B5EF4-FFF2-40B4-BE49-F238E27FC236}">
                <a16:creationId xmlns:a16="http://schemas.microsoft.com/office/drawing/2014/main" id="{EED825E2-92E5-F4F6-BC8C-780D9DFA05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00715" y="3815554"/>
            <a:ext cx="83603" cy="82800"/>
          </a:xfrm>
          <a:prstGeom prst="ellipse">
            <a:avLst/>
          </a:prstGeom>
          <a:solidFill>
            <a:srgbClr val="000000"/>
          </a:solidFill>
          <a:ln w="2921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72" name="AutoShape 24">
            <a:extLst>
              <a:ext uri="{FF2B5EF4-FFF2-40B4-BE49-F238E27FC236}">
                <a16:creationId xmlns:a16="http://schemas.microsoft.com/office/drawing/2014/main" id="{242B2AE5-2BE0-DBD4-38A1-5084A597A615}"/>
              </a:ext>
            </a:extLst>
          </p:cNvPr>
          <p:cNvCxnSpPr>
            <a:cxnSpLocks noChangeShapeType="1"/>
            <a:stCxn id="167" idx="6"/>
            <a:endCxn id="168" idx="2"/>
          </p:cNvCxnSpPr>
          <p:nvPr/>
        </p:nvCxnSpPr>
        <p:spPr bwMode="gray">
          <a:xfrm flipV="1">
            <a:off x="4486951" y="3425740"/>
            <a:ext cx="913764" cy="249341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cxnSp>
        <p:nvCxnSpPr>
          <p:cNvPr id="173" name="AutoShape 25">
            <a:extLst>
              <a:ext uri="{FF2B5EF4-FFF2-40B4-BE49-F238E27FC236}">
                <a16:creationId xmlns:a16="http://schemas.microsoft.com/office/drawing/2014/main" id="{BAA8680C-55CA-B0DD-0EBE-7D4AF3BD3EA3}"/>
              </a:ext>
            </a:extLst>
          </p:cNvPr>
          <p:cNvCxnSpPr>
            <a:cxnSpLocks noChangeShapeType="1"/>
            <a:stCxn id="169" idx="6"/>
            <a:endCxn id="170" idx="2"/>
          </p:cNvCxnSpPr>
          <p:nvPr/>
        </p:nvCxnSpPr>
        <p:spPr bwMode="gray">
          <a:xfrm flipV="1">
            <a:off x="4486951" y="4009893"/>
            <a:ext cx="913764" cy="247474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cxnSp>
        <p:nvCxnSpPr>
          <p:cNvPr id="174" name="AutoShape 26">
            <a:extLst>
              <a:ext uri="{FF2B5EF4-FFF2-40B4-BE49-F238E27FC236}">
                <a16:creationId xmlns:a16="http://schemas.microsoft.com/office/drawing/2014/main" id="{B0A996A9-9C96-2F2B-92A4-35CB7E4750B8}"/>
              </a:ext>
            </a:extLst>
          </p:cNvPr>
          <p:cNvCxnSpPr>
            <a:cxnSpLocks noChangeShapeType="1"/>
            <a:stCxn id="170" idx="0"/>
            <a:endCxn id="171" idx="4"/>
          </p:cNvCxnSpPr>
          <p:nvPr/>
        </p:nvCxnSpPr>
        <p:spPr bwMode="gray">
          <a:xfrm flipV="1">
            <a:off x="5442517" y="3898354"/>
            <a:ext cx="0" cy="69738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sp>
        <p:nvSpPr>
          <p:cNvPr id="175" name="Rectangle 27">
            <a:extLst>
              <a:ext uri="{FF2B5EF4-FFF2-40B4-BE49-F238E27FC236}">
                <a16:creationId xmlns:a16="http://schemas.microsoft.com/office/drawing/2014/main" id="{2CAB2AF9-56C7-2E2D-7942-EE344B5014A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78829" y="3312470"/>
            <a:ext cx="345264" cy="2330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+ α</a:t>
            </a:r>
            <a:endParaRPr kumimoji="1" lang="en-GB" altLang="ko-KR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" name="Rectangle 28">
            <a:extLst>
              <a:ext uri="{FF2B5EF4-FFF2-40B4-BE49-F238E27FC236}">
                <a16:creationId xmlns:a16="http://schemas.microsoft.com/office/drawing/2014/main" id="{BFDB6CC9-26C0-FD46-9AB4-AD6BF82601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55547" y="3136464"/>
            <a:ext cx="498683" cy="1230575"/>
          </a:xfrm>
          <a:prstGeom prst="rect">
            <a:avLst/>
          </a:prstGeom>
          <a:solidFill>
            <a:srgbClr val="DCE6F2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" name="Rectangle 29">
            <a:extLst>
              <a:ext uri="{FF2B5EF4-FFF2-40B4-BE49-F238E27FC236}">
                <a16:creationId xmlns:a16="http://schemas.microsoft.com/office/drawing/2014/main" id="{6FDBEE2B-CB49-89A9-6AF2-2B57CCDC9E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8352914" y="2636315"/>
            <a:ext cx="498683" cy="1232041"/>
          </a:xfrm>
          <a:prstGeom prst="rect">
            <a:avLst/>
          </a:prstGeom>
          <a:solidFill>
            <a:srgbClr val="DCE6F2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Oval 30">
            <a:extLst>
              <a:ext uri="{FF2B5EF4-FFF2-40B4-BE49-F238E27FC236}">
                <a16:creationId xmlns:a16="http://schemas.microsoft.com/office/drawing/2014/main" id="{A0630448-1D58-EEE2-9637-B2B891B7D97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62353" y="3423941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" name="Oval 31">
            <a:extLst>
              <a:ext uri="{FF2B5EF4-FFF2-40B4-BE49-F238E27FC236}">
                <a16:creationId xmlns:a16="http://schemas.microsoft.com/office/drawing/2014/main" id="{F2C26579-16A8-7AB6-7231-84D9701616AA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9720" y="3423941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0" name="Oval 32">
            <a:extLst>
              <a:ext uri="{FF2B5EF4-FFF2-40B4-BE49-F238E27FC236}">
                <a16:creationId xmlns:a16="http://schemas.microsoft.com/office/drawing/2014/main" id="{7209650A-F3F3-69EF-2E1F-494BA5C27F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62353" y="3991560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Oval 33">
            <a:extLst>
              <a:ext uri="{FF2B5EF4-FFF2-40B4-BE49-F238E27FC236}">
                <a16:creationId xmlns:a16="http://schemas.microsoft.com/office/drawing/2014/main" id="{3E5E1CCD-B4C6-FFBF-45C5-5349EA225C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9720" y="3991560"/>
            <a:ext cx="83603" cy="83602"/>
          </a:xfrm>
          <a:prstGeom prst="ellips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Oval 34">
            <a:extLst>
              <a:ext uri="{FF2B5EF4-FFF2-40B4-BE49-F238E27FC236}">
                <a16:creationId xmlns:a16="http://schemas.microsoft.com/office/drawing/2014/main" id="{DF708880-EE63-1F03-DD48-E66D894371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59720" y="3815554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3" name="AutoShape 35">
            <a:extLst>
              <a:ext uri="{FF2B5EF4-FFF2-40B4-BE49-F238E27FC236}">
                <a16:creationId xmlns:a16="http://schemas.microsoft.com/office/drawing/2014/main" id="{5A28BD19-B29C-8BBB-2180-3CB5FB415C72}"/>
              </a:ext>
            </a:extLst>
          </p:cNvPr>
          <p:cNvCxnSpPr>
            <a:cxnSpLocks noChangeShapeType="1"/>
            <a:stCxn id="178" idx="6"/>
            <a:endCxn id="179" idx="2"/>
          </p:cNvCxnSpPr>
          <p:nvPr/>
        </p:nvCxnSpPr>
        <p:spPr bwMode="gray">
          <a:xfrm>
            <a:off x="7645956" y="3465341"/>
            <a:ext cx="913764" cy="0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cxnSp>
        <p:nvCxnSpPr>
          <p:cNvPr id="184" name="AutoShape 36">
            <a:extLst>
              <a:ext uri="{FF2B5EF4-FFF2-40B4-BE49-F238E27FC236}">
                <a16:creationId xmlns:a16="http://schemas.microsoft.com/office/drawing/2014/main" id="{49F25D3C-9D93-D884-DBC6-615C1F490B15}"/>
              </a:ext>
            </a:extLst>
          </p:cNvPr>
          <p:cNvCxnSpPr>
            <a:cxnSpLocks noChangeShapeType="1"/>
            <a:stCxn id="180" idx="6"/>
            <a:endCxn id="181" idx="2"/>
          </p:cNvCxnSpPr>
          <p:nvPr/>
        </p:nvCxnSpPr>
        <p:spPr bwMode="gray">
          <a:xfrm>
            <a:off x="7645956" y="4032960"/>
            <a:ext cx="913764" cy="401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cxnSp>
        <p:nvCxnSpPr>
          <p:cNvPr id="185" name="AutoShape 37">
            <a:extLst>
              <a:ext uri="{FF2B5EF4-FFF2-40B4-BE49-F238E27FC236}">
                <a16:creationId xmlns:a16="http://schemas.microsoft.com/office/drawing/2014/main" id="{C551C4C7-50F9-B617-8B64-17074B22772B}"/>
              </a:ext>
            </a:extLst>
          </p:cNvPr>
          <p:cNvCxnSpPr>
            <a:cxnSpLocks noChangeShapeType="1"/>
            <a:stCxn id="181" idx="0"/>
            <a:endCxn id="182" idx="4"/>
          </p:cNvCxnSpPr>
          <p:nvPr/>
        </p:nvCxnSpPr>
        <p:spPr bwMode="gray">
          <a:xfrm flipV="1">
            <a:off x="8601522" y="3898354"/>
            <a:ext cx="0" cy="93206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sp>
        <p:nvSpPr>
          <p:cNvPr id="186" name="Rectangle 38">
            <a:extLst>
              <a:ext uri="{FF2B5EF4-FFF2-40B4-BE49-F238E27FC236}">
                <a16:creationId xmlns:a16="http://schemas.microsoft.com/office/drawing/2014/main" id="{18EC6188-0657-726F-CA67-EA29B413BF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30763" y="3268469"/>
            <a:ext cx="537624" cy="2330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Sliding</a:t>
            </a:r>
            <a:endParaRPr kumimoji="1" lang="en-GB" altLang="ko-KR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" name="Rectangle 40">
            <a:extLst>
              <a:ext uri="{FF2B5EF4-FFF2-40B4-BE49-F238E27FC236}">
                <a16:creationId xmlns:a16="http://schemas.microsoft.com/office/drawing/2014/main" id="{3A81418B-EFD5-F5EB-10A5-B9B6FF45F2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7537" y="3136464"/>
            <a:ext cx="498683" cy="1230575"/>
          </a:xfrm>
          <a:prstGeom prst="rect">
            <a:avLst/>
          </a:prstGeom>
          <a:solidFill>
            <a:srgbClr val="DCE6F2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" name="Rectangle 41">
            <a:extLst>
              <a:ext uri="{FF2B5EF4-FFF2-40B4-BE49-F238E27FC236}">
                <a16:creationId xmlns:a16="http://schemas.microsoft.com/office/drawing/2014/main" id="{FDCF53D3-4D4B-CB35-7495-058F2D62C6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34904" y="2636315"/>
            <a:ext cx="498683" cy="1232041"/>
          </a:xfrm>
          <a:prstGeom prst="rect">
            <a:avLst/>
          </a:prstGeom>
          <a:solidFill>
            <a:srgbClr val="DCE6F2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" name="Oval 43">
            <a:extLst>
              <a:ext uri="{FF2B5EF4-FFF2-40B4-BE49-F238E27FC236}">
                <a16:creationId xmlns:a16="http://schemas.microsoft.com/office/drawing/2014/main" id="{30ABDCD5-51B8-99AC-80C8-5F588B43E9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49044" y="2757690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0" name="Rectangle 45">
            <a:extLst>
              <a:ext uri="{FF2B5EF4-FFF2-40B4-BE49-F238E27FC236}">
                <a16:creationId xmlns:a16="http://schemas.microsoft.com/office/drawing/2014/main" id="{AB0DE83C-CB40-E3C3-EF0E-461B0A6057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56391" y="3382924"/>
            <a:ext cx="470298" cy="2330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lvl="0" fontAlgn="b" latinLnBrk="0">
              <a:spcBef>
                <a:spcPct val="50000"/>
              </a:spcBef>
              <a:defRPr/>
            </a:pPr>
            <a:r>
              <a:rPr kumimoji="1" lang="en-US" altLang="ko-KR" sz="900" b="1" kern="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α%</a:t>
            </a:r>
            <a:endParaRPr kumimoji="1" lang="en-GB" altLang="ko-KR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91" name="Group 79">
            <a:extLst>
              <a:ext uri="{FF2B5EF4-FFF2-40B4-BE49-F238E27FC236}">
                <a16:creationId xmlns:a16="http://schemas.microsoft.com/office/drawing/2014/main" id="{CC50A269-0DD8-AA1C-D141-12ACCD0257CA}"/>
              </a:ext>
            </a:extLst>
          </p:cNvPr>
          <p:cNvGrpSpPr>
            <a:grpSpLocks/>
          </p:cNvGrpSpPr>
          <p:nvPr/>
        </p:nvGrpSpPr>
        <p:grpSpPr bwMode="auto">
          <a:xfrm>
            <a:off x="1037537" y="3550078"/>
            <a:ext cx="498683" cy="422414"/>
            <a:chOff x="4572" y="1830"/>
            <a:chExt cx="1020" cy="288"/>
          </a:xfrm>
        </p:grpSpPr>
        <p:sp>
          <p:nvSpPr>
            <p:cNvPr id="192" name="Line 76">
              <a:extLst>
                <a:ext uri="{FF2B5EF4-FFF2-40B4-BE49-F238E27FC236}">
                  <a16:creationId xmlns:a16="http://schemas.microsoft.com/office/drawing/2014/main" id="{F250C689-C351-CC41-FE9D-2C8544347E9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572" y="2118"/>
              <a:ext cx="1020" cy="0"/>
            </a:xfrm>
            <a:prstGeom prst="line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3" name="Line 78">
              <a:extLst>
                <a:ext uri="{FF2B5EF4-FFF2-40B4-BE49-F238E27FC236}">
                  <a16:creationId xmlns:a16="http://schemas.microsoft.com/office/drawing/2014/main" id="{F2E8586C-F37C-47C5-B91B-EB5E3080AC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572" y="1830"/>
              <a:ext cx="1020" cy="0"/>
            </a:xfrm>
            <a:prstGeom prst="line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94" name="Oval 80">
            <a:extLst>
              <a:ext uri="{FF2B5EF4-FFF2-40B4-BE49-F238E27FC236}">
                <a16:creationId xmlns:a16="http://schemas.microsoft.com/office/drawing/2014/main" id="{09757F8D-C78F-B80E-6F4F-4365EDA8D7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51677" y="3443970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5" name="Oval 81">
            <a:extLst>
              <a:ext uri="{FF2B5EF4-FFF2-40B4-BE49-F238E27FC236}">
                <a16:creationId xmlns:a16="http://schemas.microsoft.com/office/drawing/2014/main" id="{13FB2A44-BA31-8597-A829-F17F3D8E072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49044" y="3346498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6" name="AutoShape 82">
            <a:extLst>
              <a:ext uri="{FF2B5EF4-FFF2-40B4-BE49-F238E27FC236}">
                <a16:creationId xmlns:a16="http://schemas.microsoft.com/office/drawing/2014/main" id="{9C432953-587B-D665-F17A-86D4CBEB0FB9}"/>
              </a:ext>
            </a:extLst>
          </p:cNvPr>
          <p:cNvCxnSpPr>
            <a:cxnSpLocks noChangeShapeType="1"/>
            <a:stCxn id="194" idx="6"/>
          </p:cNvCxnSpPr>
          <p:nvPr/>
        </p:nvCxnSpPr>
        <p:spPr bwMode="gray">
          <a:xfrm flipV="1">
            <a:off x="1335280" y="2831618"/>
            <a:ext cx="913764" cy="653752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sp>
        <p:nvSpPr>
          <p:cNvPr id="197" name="Oval 83">
            <a:extLst>
              <a:ext uri="{FF2B5EF4-FFF2-40B4-BE49-F238E27FC236}">
                <a16:creationId xmlns:a16="http://schemas.microsoft.com/office/drawing/2014/main" id="{2CBAE446-2484-7B36-2991-1FEBECD9E5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51677" y="3867182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8" name="AutoShape 85">
            <a:extLst>
              <a:ext uri="{FF2B5EF4-FFF2-40B4-BE49-F238E27FC236}">
                <a16:creationId xmlns:a16="http://schemas.microsoft.com/office/drawing/2014/main" id="{A516827C-0417-8632-59ED-1BEE1C170F54}"/>
              </a:ext>
            </a:extLst>
          </p:cNvPr>
          <p:cNvCxnSpPr>
            <a:cxnSpLocks noChangeShapeType="1"/>
            <a:stCxn id="197" idx="6"/>
            <a:endCxn id="195" idx="3"/>
          </p:cNvCxnSpPr>
          <p:nvPr/>
        </p:nvCxnSpPr>
        <p:spPr bwMode="gray">
          <a:xfrm flipV="1">
            <a:off x="1335280" y="3417172"/>
            <a:ext cx="926007" cy="491410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sp>
        <p:nvSpPr>
          <p:cNvPr id="199" name="Oval 88">
            <a:extLst>
              <a:ext uri="{FF2B5EF4-FFF2-40B4-BE49-F238E27FC236}">
                <a16:creationId xmlns:a16="http://schemas.microsoft.com/office/drawing/2014/main" id="{486A5A46-51AC-8F03-2168-B7422F4D63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51677" y="4283436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0" name="AutoShape 90">
            <a:extLst>
              <a:ext uri="{FF2B5EF4-FFF2-40B4-BE49-F238E27FC236}">
                <a16:creationId xmlns:a16="http://schemas.microsoft.com/office/drawing/2014/main" id="{8201BCE3-4AD0-9BB7-2C45-F2EE293F11AB}"/>
              </a:ext>
            </a:extLst>
          </p:cNvPr>
          <p:cNvCxnSpPr>
            <a:cxnSpLocks noChangeShapeType="1"/>
            <a:stCxn id="199" idx="6"/>
            <a:endCxn id="201" idx="2"/>
          </p:cNvCxnSpPr>
          <p:nvPr/>
        </p:nvCxnSpPr>
        <p:spPr bwMode="gray">
          <a:xfrm flipV="1">
            <a:off x="1335280" y="3992293"/>
            <a:ext cx="913764" cy="332543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sp>
        <p:nvSpPr>
          <p:cNvPr id="201" name="Oval 92">
            <a:extLst>
              <a:ext uri="{FF2B5EF4-FFF2-40B4-BE49-F238E27FC236}">
                <a16:creationId xmlns:a16="http://schemas.microsoft.com/office/drawing/2014/main" id="{FF405EAF-F3EA-99E2-CA09-25B68D6D8B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49044" y="3950492"/>
            <a:ext cx="83603" cy="83602"/>
          </a:xfrm>
          <a:prstGeom prst="ellipse">
            <a:avLst/>
          </a:prstGeom>
          <a:noFill/>
          <a:ln w="9525" algn="ctr">
            <a:solidFill>
              <a:schemeClr val="tx1">
                <a:lumMod val="50000"/>
                <a:lumOff val="50000"/>
              </a:schemeClr>
            </a:solidFill>
            <a:prstDash val="sysDot"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2" name="Oval 93">
            <a:extLst>
              <a:ext uri="{FF2B5EF4-FFF2-40B4-BE49-F238E27FC236}">
                <a16:creationId xmlns:a16="http://schemas.microsoft.com/office/drawing/2014/main" id="{B3D4C0F8-EA9F-7CC6-8231-CB1A67F541A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49044" y="3815554"/>
            <a:ext cx="83603" cy="82800"/>
          </a:xfrm>
          <a:prstGeom prst="ellipse">
            <a:avLst/>
          </a:prstGeom>
          <a:solidFill>
            <a:srgbClr val="000000"/>
          </a:solidFill>
          <a:ln w="9525" algn="ctr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3" name="AutoShape 94">
            <a:extLst>
              <a:ext uri="{FF2B5EF4-FFF2-40B4-BE49-F238E27FC236}">
                <a16:creationId xmlns:a16="http://schemas.microsoft.com/office/drawing/2014/main" id="{E56557D1-7B42-82CC-D43A-A0BD95A09834}"/>
              </a:ext>
            </a:extLst>
          </p:cNvPr>
          <p:cNvCxnSpPr>
            <a:cxnSpLocks noChangeShapeType="1"/>
            <a:stCxn id="201" idx="0"/>
            <a:endCxn id="202" idx="4"/>
          </p:cNvCxnSpPr>
          <p:nvPr/>
        </p:nvCxnSpPr>
        <p:spPr bwMode="gray">
          <a:xfrm flipV="1">
            <a:off x="2290846" y="3898354"/>
            <a:ext cx="0" cy="52138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sm" len="sm"/>
          </a:ln>
          <a:effectLst/>
        </p:spPr>
      </p:cxn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BCE962B7-22A0-C6C3-0CF9-17360D0F559F}"/>
              </a:ext>
            </a:extLst>
          </p:cNvPr>
          <p:cNvGrpSpPr/>
          <p:nvPr/>
        </p:nvGrpSpPr>
        <p:grpSpPr>
          <a:xfrm>
            <a:off x="360742" y="4756634"/>
            <a:ext cx="6643267" cy="1129269"/>
            <a:chOff x="360742" y="4785209"/>
            <a:chExt cx="6643267" cy="1129269"/>
          </a:xfrm>
          <a:solidFill>
            <a:srgbClr val="FFDA65"/>
          </a:solidFill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43000900-8DF4-79B0-570E-1C27047EFCE8}"/>
                </a:ext>
              </a:extLst>
            </p:cNvPr>
            <p:cNvSpPr txBox="1"/>
            <p:nvPr/>
          </p:nvSpPr>
          <p:spPr>
            <a:xfrm>
              <a:off x="360742" y="4785209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9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sz="1000" b="1" dirty="0"/>
                <a:t>개요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87FB1BF1-1BA7-1191-0C71-96CED453E3AA}"/>
                </a:ext>
              </a:extLst>
            </p:cNvPr>
            <p:cNvSpPr txBox="1"/>
            <p:nvPr/>
          </p:nvSpPr>
          <p:spPr>
            <a:xfrm>
              <a:off x="360742" y="5478296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9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sz="1000" b="1" dirty="0"/>
                <a:t>장점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7D33CDA-C2EA-7A71-6973-39BB15C46464}"/>
                </a:ext>
              </a:extLst>
            </p:cNvPr>
            <p:cNvSpPr txBox="1"/>
            <p:nvPr/>
          </p:nvSpPr>
          <p:spPr>
            <a:xfrm>
              <a:off x="360742" y="5727193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9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sz="1000" b="1" dirty="0"/>
                <a:t>단점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3E8AA93-8618-FEE4-E8B5-10A82BF6B073}"/>
                </a:ext>
              </a:extLst>
            </p:cNvPr>
            <p:cNvSpPr txBox="1"/>
            <p:nvPr/>
          </p:nvSpPr>
          <p:spPr>
            <a:xfrm>
              <a:off x="3516708" y="4785209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dirty="0"/>
                <a:t>개요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303FB1FC-132D-04B3-4223-FAC4199E6BAB}"/>
                </a:ext>
              </a:extLst>
            </p:cNvPr>
            <p:cNvSpPr txBox="1"/>
            <p:nvPr/>
          </p:nvSpPr>
          <p:spPr>
            <a:xfrm>
              <a:off x="3516708" y="5054495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dirty="0"/>
                <a:t>장점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52E0F21-6E8E-8DDE-D0B0-00A660D2C763}"/>
                </a:ext>
              </a:extLst>
            </p:cNvPr>
            <p:cNvSpPr txBox="1"/>
            <p:nvPr/>
          </p:nvSpPr>
          <p:spPr>
            <a:xfrm>
              <a:off x="3516708" y="5478295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dirty="0"/>
                <a:t>단점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FCE0A1F-7EF5-4718-C0BF-FB4810021104}"/>
                </a:ext>
              </a:extLst>
            </p:cNvPr>
            <p:cNvSpPr txBox="1"/>
            <p:nvPr/>
          </p:nvSpPr>
          <p:spPr>
            <a:xfrm>
              <a:off x="6675713" y="4785209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dirty="0"/>
                <a:t>개요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BC0C55BF-BFA2-1CA4-D3A4-FA48048103EA}"/>
                </a:ext>
              </a:extLst>
            </p:cNvPr>
            <p:cNvSpPr txBox="1"/>
            <p:nvPr/>
          </p:nvSpPr>
          <p:spPr>
            <a:xfrm>
              <a:off x="6675713" y="5225375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dirty="0"/>
                <a:t>장점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DFEA688-F828-2AB4-7D0B-DA65A9D4D65D}"/>
                </a:ext>
              </a:extLst>
            </p:cNvPr>
            <p:cNvSpPr txBox="1"/>
            <p:nvPr/>
          </p:nvSpPr>
          <p:spPr>
            <a:xfrm>
              <a:off x="6675713" y="5474272"/>
              <a:ext cx="328296" cy="187285"/>
            </a:xfrm>
            <a:prstGeom prst="roundRect">
              <a:avLst/>
            </a:prstGeom>
            <a:grp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36000" tIns="0" rIns="36000" bIns="0">
              <a:spAutoFit/>
            </a:bodyPr>
            <a:lstStyle>
              <a:defPPr>
                <a:defRPr lang="ko-KR"/>
              </a:defPPr>
              <a:lvl1pPr marL="285750" marR="0" lvl="0" indent="-285750" algn="ctr" fontAlgn="auto" latinLnBrk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1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defRPr>
              </a:lvl1pPr>
            </a:lstStyle>
            <a:p>
              <a:r>
                <a:rPr lang="ko-KR" altLang="en-US" dirty="0"/>
                <a:t>단점</a:t>
              </a:r>
            </a:p>
          </p:txBody>
        </p:sp>
      </p:grpSp>
      <p:sp>
        <p:nvSpPr>
          <p:cNvPr id="214" name="직사각형 200">
            <a:extLst>
              <a:ext uri="{FF2B5EF4-FFF2-40B4-BE49-F238E27FC236}">
                <a16:creationId xmlns:a16="http://schemas.microsoft.com/office/drawing/2014/main" id="{3B0F3A18-5DA2-5787-47A8-D4815846F3AA}"/>
              </a:ext>
            </a:extLst>
          </p:cNvPr>
          <p:cNvSpPr/>
          <p:nvPr/>
        </p:nvSpPr>
        <p:spPr>
          <a:xfrm>
            <a:off x="6668102" y="2107412"/>
            <a:ext cx="180000" cy="180000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5" name="직사각형 200">
            <a:extLst>
              <a:ext uri="{FF2B5EF4-FFF2-40B4-BE49-F238E27FC236}">
                <a16:creationId xmlns:a16="http://schemas.microsoft.com/office/drawing/2014/main" id="{BD0FAE03-046F-3F47-63DA-9913D7585F13}"/>
              </a:ext>
            </a:extLst>
          </p:cNvPr>
          <p:cNvSpPr/>
          <p:nvPr/>
        </p:nvSpPr>
        <p:spPr>
          <a:xfrm>
            <a:off x="3507109" y="2107412"/>
            <a:ext cx="180000" cy="180000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6" name="직사각형 200">
            <a:extLst>
              <a:ext uri="{FF2B5EF4-FFF2-40B4-BE49-F238E27FC236}">
                <a16:creationId xmlns:a16="http://schemas.microsoft.com/office/drawing/2014/main" id="{7DA65AC7-915C-96D2-7A07-2541F89598AD}"/>
              </a:ext>
            </a:extLst>
          </p:cNvPr>
          <p:cNvSpPr/>
          <p:nvPr/>
        </p:nvSpPr>
        <p:spPr>
          <a:xfrm>
            <a:off x="346115" y="2107412"/>
            <a:ext cx="180000" cy="180000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7" name="Freeform 5">
            <a:extLst>
              <a:ext uri="{FF2B5EF4-FFF2-40B4-BE49-F238E27FC236}">
                <a16:creationId xmlns:a16="http://schemas.microsoft.com/office/drawing/2014/main" id="{94F9242A-2FD4-D83F-DB17-CD6AF5ACB7A6}"/>
              </a:ext>
            </a:extLst>
          </p:cNvPr>
          <p:cNvSpPr>
            <a:spLocks/>
          </p:cNvSpPr>
          <p:nvPr/>
        </p:nvSpPr>
        <p:spPr bwMode="auto">
          <a:xfrm>
            <a:off x="355640" y="2047206"/>
            <a:ext cx="215783" cy="212950"/>
          </a:xfrm>
          <a:custGeom>
            <a:avLst/>
            <a:gdLst>
              <a:gd name="T0" fmla="*/ 459 w 1695"/>
              <a:gd name="T1" fmla="*/ 1612 h 1634"/>
              <a:gd name="T2" fmla="*/ 333 w 1695"/>
              <a:gd name="T3" fmla="*/ 1355 h 1634"/>
              <a:gd name="T4" fmla="*/ 53 w 1695"/>
              <a:gd name="T5" fmla="*/ 944 h 1634"/>
              <a:gd name="T6" fmla="*/ 9 w 1695"/>
              <a:gd name="T7" fmla="*/ 938 h 1634"/>
              <a:gd name="T8" fmla="*/ 60 w 1695"/>
              <a:gd name="T9" fmla="*/ 854 h 1634"/>
              <a:gd name="T10" fmla="*/ 314 w 1695"/>
              <a:gd name="T11" fmla="*/ 815 h 1634"/>
              <a:gd name="T12" fmla="*/ 484 w 1695"/>
              <a:gd name="T13" fmla="*/ 1010 h 1634"/>
              <a:gd name="T14" fmla="*/ 519 w 1695"/>
              <a:gd name="T15" fmla="*/ 1058 h 1634"/>
              <a:gd name="T16" fmla="*/ 614 w 1695"/>
              <a:gd name="T17" fmla="*/ 938 h 1634"/>
              <a:gd name="T18" fmla="*/ 1043 w 1695"/>
              <a:gd name="T19" fmla="*/ 432 h 1634"/>
              <a:gd name="T20" fmla="*/ 1615 w 1695"/>
              <a:gd name="T21" fmla="*/ 18 h 1634"/>
              <a:gd name="T22" fmla="*/ 1684 w 1695"/>
              <a:gd name="T23" fmla="*/ 14 h 1634"/>
              <a:gd name="T24" fmla="*/ 1695 w 1695"/>
              <a:gd name="T25" fmla="*/ 36 h 1634"/>
              <a:gd name="T26" fmla="*/ 1608 w 1695"/>
              <a:gd name="T27" fmla="*/ 128 h 1634"/>
              <a:gd name="T28" fmla="*/ 1007 w 1695"/>
              <a:gd name="T29" fmla="*/ 804 h 1634"/>
              <a:gd name="T30" fmla="*/ 754 w 1695"/>
              <a:gd name="T31" fmla="*/ 1209 h 1634"/>
              <a:gd name="T32" fmla="*/ 629 w 1695"/>
              <a:gd name="T33" fmla="*/ 1442 h 1634"/>
              <a:gd name="T34" fmla="*/ 491 w 1695"/>
              <a:gd name="T35" fmla="*/ 1634 h 1634"/>
              <a:gd name="T36" fmla="*/ 459 w 1695"/>
              <a:gd name="T37" fmla="*/ 1612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95" h="1634">
                <a:moveTo>
                  <a:pt x="459" y="1612"/>
                </a:moveTo>
                <a:cubicBezTo>
                  <a:pt x="432" y="1584"/>
                  <a:pt x="397" y="1513"/>
                  <a:pt x="333" y="1355"/>
                </a:cubicBezTo>
                <a:cubicBezTo>
                  <a:pt x="208" y="1043"/>
                  <a:pt x="141" y="946"/>
                  <a:pt x="53" y="944"/>
                </a:cubicBezTo>
                <a:cubicBezTo>
                  <a:pt x="32" y="944"/>
                  <a:pt x="12" y="941"/>
                  <a:pt x="9" y="938"/>
                </a:cubicBezTo>
                <a:cubicBezTo>
                  <a:pt x="0" y="929"/>
                  <a:pt x="30" y="880"/>
                  <a:pt x="60" y="854"/>
                </a:cubicBezTo>
                <a:cubicBezTo>
                  <a:pt x="141" y="784"/>
                  <a:pt x="237" y="770"/>
                  <a:pt x="314" y="815"/>
                </a:cubicBezTo>
                <a:cubicBezTo>
                  <a:pt x="359" y="842"/>
                  <a:pt x="437" y="932"/>
                  <a:pt x="484" y="1010"/>
                </a:cubicBezTo>
                <a:cubicBezTo>
                  <a:pt x="500" y="1037"/>
                  <a:pt x="516" y="1058"/>
                  <a:pt x="519" y="1058"/>
                </a:cubicBezTo>
                <a:cubicBezTo>
                  <a:pt x="522" y="1059"/>
                  <a:pt x="565" y="1004"/>
                  <a:pt x="614" y="938"/>
                </a:cubicBezTo>
                <a:cubicBezTo>
                  <a:pt x="751" y="752"/>
                  <a:pt x="894" y="584"/>
                  <a:pt x="1043" y="432"/>
                </a:cubicBezTo>
                <a:cubicBezTo>
                  <a:pt x="1275" y="197"/>
                  <a:pt x="1442" y="76"/>
                  <a:pt x="1615" y="18"/>
                </a:cubicBezTo>
                <a:cubicBezTo>
                  <a:pt x="1669" y="0"/>
                  <a:pt x="1673" y="0"/>
                  <a:pt x="1684" y="14"/>
                </a:cubicBezTo>
                <a:cubicBezTo>
                  <a:pt x="1690" y="23"/>
                  <a:pt x="1695" y="33"/>
                  <a:pt x="1695" y="36"/>
                </a:cubicBezTo>
                <a:cubicBezTo>
                  <a:pt x="1695" y="40"/>
                  <a:pt x="1656" y="81"/>
                  <a:pt x="1608" y="128"/>
                </a:cubicBezTo>
                <a:cubicBezTo>
                  <a:pt x="1400" y="329"/>
                  <a:pt x="1145" y="615"/>
                  <a:pt x="1007" y="804"/>
                </a:cubicBezTo>
                <a:cubicBezTo>
                  <a:pt x="929" y="911"/>
                  <a:pt x="826" y="1075"/>
                  <a:pt x="754" y="1209"/>
                </a:cubicBezTo>
                <a:cubicBezTo>
                  <a:pt x="724" y="1265"/>
                  <a:pt x="668" y="1369"/>
                  <a:pt x="629" y="1442"/>
                </a:cubicBezTo>
                <a:cubicBezTo>
                  <a:pt x="561" y="1568"/>
                  <a:pt x="514" y="1634"/>
                  <a:pt x="491" y="1634"/>
                </a:cubicBezTo>
                <a:cubicBezTo>
                  <a:pt x="485" y="1634"/>
                  <a:pt x="471" y="1624"/>
                  <a:pt x="459" y="1612"/>
                </a:cubicBezTo>
                <a:close/>
              </a:path>
            </a:pathLst>
          </a:custGeom>
          <a:solidFill>
            <a:srgbClr val="FF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6FDE18AB-5313-FC96-AB1C-5730C4C9623E}"/>
              </a:ext>
            </a:extLst>
          </p:cNvPr>
          <p:cNvGrpSpPr/>
          <p:nvPr/>
        </p:nvGrpSpPr>
        <p:grpSpPr>
          <a:xfrm>
            <a:off x="273050" y="1621172"/>
            <a:ext cx="9359900" cy="319435"/>
            <a:chOff x="488950" y="1879556"/>
            <a:chExt cx="8928100" cy="300521"/>
          </a:xfrm>
        </p:grpSpPr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B14B66DA-5B3F-A5C0-FE4B-79EAC780C42B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306F8C92-D708-683F-15CA-D492E5310FB1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승진인상 방식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38874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3124-429B-688F-4A34-6DED2972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057EE1-7942-32A6-6B59-8EE407EC50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평가 등급별 차등 인상률을 적용하여 성과와 보상을 직접적으로 연계함으로써 보상의 공정성과 합리성을 확보하고</a:t>
            </a:r>
            <a:r>
              <a:rPr lang="en-US" altLang="ko-KR" dirty="0"/>
              <a:t>, </a:t>
            </a:r>
            <a:r>
              <a:rPr lang="ko-KR" altLang="en-US" dirty="0"/>
              <a:t>직원들의 동기부여와 성과 창출을 동시에 강화함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8517232-FCA5-721D-30DA-C96E9B1A6C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8E5480-7CD7-F376-6094-EC6B9F4729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790C081-1093-7143-DD96-362925754B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9D995C0-20D6-AD45-5A7C-23668289A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5762625"/>
            <a:ext cx="9359900" cy="366713"/>
          </a:xfrm>
          <a:prstGeom prst="rect">
            <a:avLst/>
          </a:prstGeom>
          <a:solidFill>
            <a:srgbClr val="595959"/>
          </a:solidFill>
          <a:ln>
            <a:solidFill>
              <a:sysClr val="window" lastClr="FFFFFF">
                <a:lumMod val="50000"/>
              </a:sysClr>
            </a:solidFill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latinLnBrk="0">
              <a:spcBef>
                <a:spcPct val="0"/>
              </a:spcBef>
              <a:defRPr/>
            </a:pPr>
            <a:r>
              <a:rPr lang="ko-KR" altLang="en-US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∴ </a:t>
            </a:r>
            <a:r>
              <a:rPr lang="ko-KR" altLang="en-US" sz="1400" b="1" kern="0" spc="-100" dirty="0" err="1">
                <a:solidFill>
                  <a:schemeClr val="bg1"/>
                </a:solidFill>
                <a:latin typeface="+mn-ea"/>
                <a:cs typeface="굴림" pitchFamily="50" charset="-127"/>
              </a:rPr>
              <a:t>당해년도</a:t>
            </a:r>
            <a:r>
              <a:rPr lang="ko-KR" altLang="en-US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 기본연봉 </a:t>
            </a:r>
            <a:r>
              <a:rPr lang="en-US" altLang="ko-KR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= </a:t>
            </a:r>
            <a:r>
              <a:rPr lang="ko-KR" altLang="en-US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전년도 기본연봉 </a:t>
            </a:r>
            <a:r>
              <a:rPr lang="en-US" altLang="ko-KR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× ( 1 + </a:t>
            </a:r>
            <a:r>
              <a:rPr lang="ko-KR" altLang="en-US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테이블 인상률 </a:t>
            </a:r>
            <a:r>
              <a:rPr lang="en-US" altLang="ko-KR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+ </a:t>
            </a:r>
            <a:r>
              <a:rPr lang="ko-KR" altLang="en-US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승진 인상률 </a:t>
            </a:r>
            <a:r>
              <a:rPr lang="en-US" altLang="ko-KR" sz="1400" b="1" kern="0" spc="-100" dirty="0">
                <a:solidFill>
                  <a:schemeClr val="bg1"/>
                </a:solidFill>
                <a:latin typeface="+mn-ea"/>
                <a:cs typeface="굴림" pitchFamily="50" charset="-127"/>
              </a:rPr>
              <a:t>)</a:t>
            </a:r>
          </a:p>
        </p:txBody>
      </p:sp>
      <p:graphicFrame>
        <p:nvGraphicFramePr>
          <p:cNvPr id="5" name="Group 42">
            <a:extLst>
              <a:ext uri="{FF2B5EF4-FFF2-40B4-BE49-F238E27FC236}">
                <a16:creationId xmlns:a16="http://schemas.microsoft.com/office/drawing/2014/main" id="{2A9664EF-9472-54FD-63F9-80811F226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728454"/>
              </p:ext>
            </p:extLst>
          </p:nvPr>
        </p:nvGraphicFramePr>
        <p:xfrm>
          <a:off x="5361621" y="2512750"/>
          <a:ext cx="4174531" cy="1849157"/>
        </p:xfrm>
        <a:graphic>
          <a:graphicData uri="http://schemas.openxmlformats.org/drawingml/2006/table">
            <a:tbl>
              <a:tblPr/>
              <a:tblGrid>
                <a:gridCol w="813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493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평가등급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비중</a:t>
                      </a: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93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(10%)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(15%)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(50%)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(15%)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(10%)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326941"/>
                  </a:ext>
                </a:extLst>
              </a:tr>
              <a:tr h="7192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인상률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50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5E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0">
                        <a:buFontTx/>
                        <a:buNone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2%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9B90275-20BA-38D8-D8AB-AEE0905083BF}"/>
              </a:ext>
            </a:extLst>
          </p:cNvPr>
          <p:cNvSpPr/>
          <p:nvPr/>
        </p:nvSpPr>
        <p:spPr>
          <a:xfrm>
            <a:off x="6734748" y="2163706"/>
            <a:ext cx="1428276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29292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latinLnBrk="0">
              <a:spcBef>
                <a:spcPct val="50000"/>
              </a:spcBef>
              <a:buFont typeface="맑은 고딕" pitchFamily="50" charset="-127"/>
              <a:buNone/>
            </a:pPr>
            <a:r>
              <a:rPr lang="en-US" altLang="ko-KR" sz="1300" b="1" kern="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300" b="1" kern="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기본연봉 </a:t>
            </a:r>
            <a:r>
              <a:rPr lang="ko-KR" altLang="en-US" sz="1300" b="1" kern="0" spc="-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인상테이블</a:t>
            </a:r>
            <a:r>
              <a:rPr lang="en-US" altLang="ko-KR" sz="1300" b="1" kern="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</p:txBody>
      </p:sp>
      <p:sp>
        <p:nvSpPr>
          <p:cNvPr id="9" name="모서리가 둥근 직사각형 45">
            <a:extLst>
              <a:ext uri="{FF2B5EF4-FFF2-40B4-BE49-F238E27FC236}">
                <a16:creationId xmlns:a16="http://schemas.microsoft.com/office/drawing/2014/main" id="{DB00AEA2-8A6C-98A7-FF49-44791070F61C}"/>
              </a:ext>
            </a:extLst>
          </p:cNvPr>
          <p:cNvSpPr/>
          <p:nvPr/>
        </p:nvSpPr>
        <p:spPr>
          <a:xfrm>
            <a:off x="443872" y="2166314"/>
            <a:ext cx="1089176" cy="591664"/>
          </a:xfrm>
          <a:prstGeom prst="roundRect">
            <a:avLst>
              <a:gd name="adj" fmla="val 11414"/>
            </a:avLst>
          </a:prstGeom>
          <a:solidFill>
            <a:srgbClr val="F2F2F2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spcBef>
                <a:spcPct val="0"/>
              </a:spcBef>
            </a:pPr>
            <a:r>
              <a:rPr lang="ko-KR" altLang="en-US" sz="1200" b="1" kern="0" spc="-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인상률</a:t>
            </a:r>
            <a:endParaRPr lang="en-US" altLang="ko-KR" sz="1200" b="1" kern="0" spc="-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 latinLnBrk="0">
              <a:spcBef>
                <a:spcPct val="0"/>
              </a:spcBef>
            </a:pPr>
            <a:r>
              <a:rPr lang="en-US" altLang="ko-KR" sz="1200" b="1" kern="0" spc="-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(x)</a:t>
            </a:r>
            <a:endParaRPr lang="ko-KR" altLang="en-US" sz="1200" b="1" kern="0" spc="-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8378F579-98F3-E2C8-2D56-CAF1FF2A8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231" y="2155919"/>
            <a:ext cx="3484188" cy="80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일괄적인 </a:t>
            </a:r>
            <a:r>
              <a:rPr lang="en-US" altLang="ko-KR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Base-up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없으며</a:t>
            </a:r>
            <a:r>
              <a:rPr lang="en-US" altLang="ko-KR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매년</a:t>
            </a:r>
            <a:r>
              <a:rPr lang="en-US" altLang="ko-KR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허용 가능한 예산 범위 내에서 정책적으로 </a:t>
            </a:r>
            <a:r>
              <a:rPr lang="ko-KR" altLang="en-US" b="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기준인상률</a:t>
            </a:r>
            <a:r>
              <a:rPr lang="en-US" altLang="ko-KR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(x)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설정</a:t>
            </a:r>
            <a:endParaRPr lang="en-US" altLang="ko-KR" b="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직급 간 적정 임금 격차를 확보하기 위해 전 직급 동일한 인상률을 적용하는 </a:t>
            </a:r>
            <a:r>
              <a:rPr lang="ko-KR" altLang="en-US" b="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정률인상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방식 채택</a:t>
            </a:r>
          </a:p>
        </p:txBody>
      </p:sp>
      <p:sp>
        <p:nvSpPr>
          <p:cNvPr id="11" name="모서리가 둥근 직사각형 47">
            <a:extLst>
              <a:ext uri="{FF2B5EF4-FFF2-40B4-BE49-F238E27FC236}">
                <a16:creationId xmlns:a16="http://schemas.microsoft.com/office/drawing/2014/main" id="{E5BF2D8D-FD2A-2247-D8AC-D89BCFF3AE60}"/>
              </a:ext>
            </a:extLst>
          </p:cNvPr>
          <p:cNvSpPr/>
          <p:nvPr/>
        </p:nvSpPr>
        <p:spPr>
          <a:xfrm>
            <a:off x="443872" y="4863801"/>
            <a:ext cx="1089176" cy="591664"/>
          </a:xfrm>
          <a:prstGeom prst="roundRect">
            <a:avLst>
              <a:gd name="adj" fmla="val 1141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spcBef>
                <a:spcPct val="0"/>
              </a:spcBef>
            </a:pPr>
            <a:r>
              <a:rPr lang="ko-KR" altLang="en-US" sz="1200" b="1" kern="0" spc="-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승진 인상률</a:t>
            </a:r>
            <a:endParaRPr lang="en-US" altLang="ko-KR" sz="1200" b="1" kern="0" spc="-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모서리가 둥근 직사각형 48">
            <a:extLst>
              <a:ext uri="{FF2B5EF4-FFF2-40B4-BE49-F238E27FC236}">
                <a16:creationId xmlns:a16="http://schemas.microsoft.com/office/drawing/2014/main" id="{B70EF4A6-1D75-E10C-14C6-741515D9A22C}"/>
              </a:ext>
            </a:extLst>
          </p:cNvPr>
          <p:cNvSpPr/>
          <p:nvPr/>
        </p:nvSpPr>
        <p:spPr>
          <a:xfrm>
            <a:off x="443872" y="3264323"/>
            <a:ext cx="1089176" cy="591664"/>
          </a:xfrm>
          <a:prstGeom prst="roundRect">
            <a:avLst>
              <a:gd name="adj" fmla="val 1141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spcBef>
                <a:spcPct val="0"/>
              </a:spcBef>
            </a:pPr>
            <a:r>
              <a:rPr lang="ko-KR" altLang="en-US" sz="1200" b="1" kern="0" spc="-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인상률</a:t>
            </a: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E9F6C9E2-6B2F-B179-E210-ADB1761B8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231" y="3264323"/>
            <a:ext cx="3622612" cy="121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성과평가 도입 초기인 점을 감안하여 인상률 산정이 용이하고 직원들의 이해도가 높은 </a:t>
            </a:r>
            <a:r>
              <a:rPr lang="en-US" altLang="ko-KR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Fixed Rate 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방식 채택</a:t>
            </a:r>
          </a:p>
          <a:p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평가등급 간 차등 폭을 작게 설정함</a:t>
            </a:r>
            <a:r>
              <a:rPr lang="en-US" altLang="ko-KR" spc="-5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(1%)</a:t>
            </a:r>
          </a:p>
          <a:p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다만 동일한 역할을 수행하는 구성원들 간 임금격차를 해소하기 위해 </a:t>
            </a:r>
            <a:r>
              <a:rPr lang="en-US" altLang="ko-KR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Pay Band 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 보상 구간</a:t>
            </a:r>
            <a:r>
              <a:rPr lang="en-US" altLang="ko-KR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(Pay Zone)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설정하고</a:t>
            </a:r>
            <a:br>
              <a:rPr lang="en-US" altLang="ko-KR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 수준에 따라 임금인상률을 차별화함</a:t>
            </a:r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D066249A-6168-BD3F-9CFB-8F041FDC4169}"/>
              </a:ext>
            </a:extLst>
          </p:cNvPr>
          <p:cNvSpPr>
            <a:spLocks noChangeShapeType="1"/>
          </p:cNvSpPr>
          <p:nvPr/>
        </p:nvSpPr>
        <p:spPr bwMode="gray">
          <a:xfrm>
            <a:off x="366050" y="4671989"/>
            <a:ext cx="9170102" cy="0"/>
          </a:xfrm>
          <a:prstGeom prst="line">
            <a:avLst/>
          </a:prstGeom>
          <a:noFill/>
          <a:ln w="9525">
            <a:solidFill>
              <a:srgbClr val="4D4D4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CEE165BC-5A0C-A6A4-7628-377C7DC75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230" y="4839907"/>
            <a:ext cx="7722213" cy="677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54000" bIns="1800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  <a:defRPr sz="1100" b="1">
                <a:solidFill>
                  <a:srgbClr val="000000"/>
                </a:solidFill>
                <a:latin typeface="+mn-ea"/>
                <a:cs typeface="굴림" pitchFamily="50" charset="-127"/>
              </a:defRPr>
            </a:lvl1pPr>
          </a:lstStyle>
          <a:p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승진 시 상위 역할 수행에 대한 보상명목으로 지급하는 임금 인상률</a:t>
            </a:r>
            <a:endParaRPr lang="en-US" altLang="ko-KR" b="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b="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역할급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 초기인 점을 감안하여 역할 상승 및 성장에 대한 동기부여 효과가 큰 </a:t>
            </a:r>
            <a:r>
              <a:rPr lang="ko-KR" altLang="en-US" b="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정률인상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방식 채택</a:t>
            </a:r>
            <a:endParaRPr lang="en-US" altLang="ko-KR" b="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승진 시 테이블 인상률에 </a:t>
            </a:r>
            <a:r>
              <a:rPr lang="en-US" altLang="ko-KR" spc="-5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1%</a:t>
            </a:r>
            <a:r>
              <a:rPr lang="ko-KR" altLang="en-US" b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가산하기로 함</a:t>
            </a:r>
          </a:p>
        </p:txBody>
      </p:sp>
      <p:sp>
        <p:nvSpPr>
          <p:cNvPr id="16" name="Oval 66">
            <a:extLst>
              <a:ext uri="{FF2B5EF4-FFF2-40B4-BE49-F238E27FC236}">
                <a16:creationId xmlns:a16="http://schemas.microsoft.com/office/drawing/2014/main" id="{7BB45C12-BBF6-E731-929A-4F6DD09681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7140" y="2094006"/>
            <a:ext cx="183962" cy="183962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FFFFFF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/>
            <a:r>
              <a:rPr lang="en-US" altLang="ko-KR" sz="10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en-GB" altLang="ko-KR" sz="1000" b="1" kern="0" spc="-1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67">
            <a:extLst>
              <a:ext uri="{FF2B5EF4-FFF2-40B4-BE49-F238E27FC236}">
                <a16:creationId xmlns:a16="http://schemas.microsoft.com/office/drawing/2014/main" id="{0A972C1E-54C7-0C65-D1A8-A5DE2BDC0E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7140" y="3210560"/>
            <a:ext cx="183962" cy="183962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FFFFFF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/>
            <a:r>
              <a:rPr lang="en-US" altLang="ko-KR" sz="10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en-GB" altLang="ko-KR" sz="1000" b="1" kern="0" spc="-1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Oval 79">
            <a:extLst>
              <a:ext uri="{FF2B5EF4-FFF2-40B4-BE49-F238E27FC236}">
                <a16:creationId xmlns:a16="http://schemas.microsoft.com/office/drawing/2014/main" id="{FB71BCCD-1001-628F-79BF-39352427B8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7140" y="4799038"/>
            <a:ext cx="183962" cy="183962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FFFFFF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/>
            <a:r>
              <a:rPr lang="en-US" altLang="ko-KR" sz="1000" b="1" kern="0" spc="-1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en-GB" altLang="ko-KR" sz="1000" b="1" kern="0" spc="-100" dirty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6E1845D5-0DB7-ABAE-4437-BF29ED9CF758}"/>
              </a:ext>
            </a:extLst>
          </p:cNvPr>
          <p:cNvSpPr>
            <a:spLocks noChangeShapeType="1"/>
          </p:cNvSpPr>
          <p:nvPr/>
        </p:nvSpPr>
        <p:spPr bwMode="gray">
          <a:xfrm>
            <a:off x="366050" y="3066924"/>
            <a:ext cx="4680369" cy="0"/>
          </a:xfrm>
          <a:prstGeom prst="line">
            <a:avLst/>
          </a:prstGeom>
          <a:noFill/>
          <a:ln w="9525">
            <a:solidFill>
              <a:srgbClr val="4D4D4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 Box 47">
            <a:extLst>
              <a:ext uri="{FF2B5EF4-FFF2-40B4-BE49-F238E27FC236}">
                <a16:creationId xmlns:a16="http://schemas.microsoft.com/office/drawing/2014/main" id="{DF50359F-96E3-CD7A-9D23-3E585BE1DD8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004743" y="2348613"/>
            <a:ext cx="547193" cy="141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none" lIns="36000" tIns="0" rIns="36000" bIns="0" numCol="1" anchor="t" anchorCtr="0" compatLnSpc="1">
            <a:prstTxWarp prst="textNoShape">
              <a:avLst/>
            </a:prstTxWarp>
            <a:spAutoFit/>
          </a:bodyPr>
          <a:lstStyle/>
          <a:p>
            <a:pPr algn="r" fontAlgn="base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900" b="1" kern="0" spc="-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(</a:t>
            </a:r>
            <a:r>
              <a:rPr kumimoji="1" lang="ko-KR" altLang="en-US" sz="900" b="1" kern="0" spc="-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단위 </a:t>
            </a:r>
            <a:r>
              <a:rPr kumimoji="1" lang="en-US" altLang="ko-KR" sz="900" b="1" kern="0" spc="-5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굴림" pitchFamily="50" charset="-127"/>
              </a:rPr>
              <a:t>: %)</a:t>
            </a:r>
            <a:endParaRPr kumimoji="1" lang="ko-KR" altLang="ko-KR" sz="1050" b="1" kern="0" spc="-5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2A7C97E-763C-A393-A044-44E2F63811C9}"/>
              </a:ext>
            </a:extLst>
          </p:cNvPr>
          <p:cNvGrpSpPr/>
          <p:nvPr/>
        </p:nvGrpSpPr>
        <p:grpSpPr>
          <a:xfrm>
            <a:off x="273050" y="1621172"/>
            <a:ext cx="9359900" cy="319435"/>
            <a:chOff x="488950" y="1879556"/>
            <a:chExt cx="8928100" cy="300521"/>
          </a:xfrm>
        </p:grpSpPr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A216B83-0EF1-7805-4C07-0B127DEC3135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D9858BC-B4E1-5D3C-C36F-873BA739B43A}"/>
                </a:ext>
              </a:extLst>
            </p:cNvPr>
            <p:cNvSpPr/>
            <p:nvPr/>
          </p:nvSpPr>
          <p:spPr>
            <a:xfrm>
              <a:off x="488950" y="1879556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kumimoji="1" lang="ko-KR" altLang="en-US" sz="1400" b="1" kern="0" spc="-10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기본연봉 조정 기준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018479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BC26-9D5C-7D05-6854-A3CE55A19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146C45-118E-BDED-B18A-E349E1C458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F83B18D-17DD-6A72-2D2F-3536051E3B6C}"/>
              </a:ext>
            </a:extLst>
          </p:cNvPr>
          <p:cNvGraphicFramePr>
            <a:graphicFrameLocks noGrp="1"/>
          </p:cNvGraphicFramePr>
          <p:nvPr/>
        </p:nvGraphicFramePr>
        <p:xfrm>
          <a:off x="273049" y="4405312"/>
          <a:ext cx="9359898" cy="1921000"/>
        </p:xfrm>
        <a:graphic>
          <a:graphicData uri="http://schemas.openxmlformats.org/drawingml/2006/table">
            <a:tbl>
              <a:tblPr/>
              <a:tblGrid>
                <a:gridCol w="989694">
                  <a:extLst>
                    <a:ext uri="{9D8B030D-6E8A-4147-A177-3AD203B41FA5}">
                      <a16:colId xmlns:a16="http://schemas.microsoft.com/office/drawing/2014/main" val="902834142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481500385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4124181011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337964746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2250582962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616516966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679491238"/>
                    </a:ext>
                  </a:extLst>
                </a:gridCol>
              </a:tblGrid>
              <a:tr h="214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G1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G2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G3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G4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G5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G6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314682"/>
                  </a:ext>
                </a:extLst>
              </a:tr>
              <a:tr h="221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해당 인원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6636058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최대값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63,000,000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73,000,000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72,000,000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344617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최소값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49,000,000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018429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평균값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59,000,000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66,666,667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65,750,000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214194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중위값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53,000,000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69,000,000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68,500,000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95302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임금폭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0262717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상승폭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7903086"/>
                  </a:ext>
                </a:extLst>
              </a:tr>
              <a:tr h="221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중복률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8245510"/>
                  </a:ext>
                </a:extLst>
              </a:tr>
            </a:tbl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ED236648-7021-736C-27C6-ED452006C6B9}"/>
              </a:ext>
            </a:extLst>
          </p:cNvPr>
          <p:cNvGraphicFramePr>
            <a:graphicFrameLocks/>
          </p:cNvGraphicFramePr>
          <p:nvPr/>
        </p:nvGraphicFramePr>
        <p:xfrm>
          <a:off x="273049" y="1628776"/>
          <a:ext cx="9359897" cy="2771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텍스트 개체 틀 1">
            <a:extLst>
              <a:ext uri="{FF2B5EF4-FFF2-40B4-BE49-F238E27FC236}">
                <a16:creationId xmlns:a16="http://schemas.microsoft.com/office/drawing/2014/main" id="{4AC6C713-8F44-DFD9-4359-D10257D4C2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 lvl="0"/>
            <a:r>
              <a:rPr lang="ko-KR" altLang="en-US" dirty="0" err="1"/>
              <a:t>역할급</a:t>
            </a:r>
            <a:r>
              <a:rPr lang="ko-KR" altLang="en-US" dirty="0"/>
              <a:t> </a:t>
            </a:r>
            <a:r>
              <a:rPr lang="en-US" altLang="ko-KR" dirty="0"/>
              <a:t>Pay-Band </a:t>
            </a:r>
            <a:r>
              <a:rPr lang="ko-KR" altLang="en-US" dirty="0" err="1"/>
              <a:t>설계안</a:t>
            </a:r>
            <a:r>
              <a:rPr lang="ko-KR" altLang="en-US" dirty="0"/>
              <a:t> 적용 시뮬레이션을 통해 향후 </a:t>
            </a:r>
            <a:r>
              <a:rPr lang="en-US" altLang="ko-KR" dirty="0"/>
              <a:t>1</a:t>
            </a:r>
            <a:r>
              <a:rPr lang="ko-KR" altLang="en-US" dirty="0"/>
              <a:t>년</a:t>
            </a:r>
            <a:r>
              <a:rPr lang="en-US" altLang="ko-KR" dirty="0"/>
              <a:t>, 2</a:t>
            </a:r>
            <a:r>
              <a:rPr lang="ko-KR" altLang="en-US" dirty="0"/>
              <a:t>년 뒤 임금 구조 변화를 예측한 결과</a:t>
            </a:r>
            <a:r>
              <a:rPr lang="en-US" altLang="ko-KR" dirty="0"/>
              <a:t>, </a:t>
            </a:r>
            <a:r>
              <a:rPr lang="ko-KR" altLang="en-US" dirty="0"/>
              <a:t>중간 계층</a:t>
            </a:r>
            <a:r>
              <a:rPr lang="en-US" altLang="ko-KR" dirty="0"/>
              <a:t>(G3~G4)</a:t>
            </a:r>
            <a:r>
              <a:rPr lang="ko-KR" altLang="en-US" dirty="0"/>
              <a:t>의 성장 폭이 강화되어 인력 확보와 유지에 긍정적으로 작용하며</a:t>
            </a:r>
            <a:r>
              <a:rPr lang="en-US" altLang="ko-KR" dirty="0"/>
              <a:t>, </a:t>
            </a:r>
            <a:r>
              <a:rPr lang="ko-KR" altLang="en-US" dirty="0"/>
              <a:t>상위 직급</a:t>
            </a:r>
            <a:r>
              <a:rPr lang="en-US" altLang="ko-KR" dirty="0"/>
              <a:t>(G5~G6)</a:t>
            </a:r>
            <a:r>
              <a:rPr lang="ko-KR" altLang="en-US" dirty="0"/>
              <a:t>은 완만한 보상 곡선을 유지하여 조직 내 보상 형평성과 지속 가능성을 동시에 확보함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텍스트 개체 틀 5">
            <a:extLst>
              <a:ext uri="{FF2B5EF4-FFF2-40B4-BE49-F238E27FC236}">
                <a16:creationId xmlns:a16="http://schemas.microsoft.com/office/drawing/2014/main" id="{3B6D49B5-F383-E16E-ADD7-A88201374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79DE230B-5F89-5E70-0748-AB3D621268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13127896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BA38C-6EC9-977F-8A1C-85D17D26C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518950-DB94-4C51-DC58-1498D9AB47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F223233-030B-0E88-7D17-27391C7CA744}"/>
              </a:ext>
            </a:extLst>
          </p:cNvPr>
          <p:cNvGraphicFramePr>
            <a:graphicFrameLocks noGrp="1"/>
          </p:cNvGraphicFramePr>
          <p:nvPr/>
        </p:nvGraphicFramePr>
        <p:xfrm>
          <a:off x="273049" y="4405312"/>
          <a:ext cx="9359898" cy="1921000"/>
        </p:xfrm>
        <a:graphic>
          <a:graphicData uri="http://schemas.openxmlformats.org/drawingml/2006/table">
            <a:tbl>
              <a:tblPr/>
              <a:tblGrid>
                <a:gridCol w="989694">
                  <a:extLst>
                    <a:ext uri="{9D8B030D-6E8A-4147-A177-3AD203B41FA5}">
                      <a16:colId xmlns:a16="http://schemas.microsoft.com/office/drawing/2014/main" val="902834142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481500385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4124181011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337964746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2250582962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1616516966"/>
                    </a:ext>
                  </a:extLst>
                </a:gridCol>
                <a:gridCol w="1395034">
                  <a:extLst>
                    <a:ext uri="{9D8B030D-6E8A-4147-A177-3AD203B41FA5}">
                      <a16:colId xmlns:a16="http://schemas.microsoft.com/office/drawing/2014/main" val="679491238"/>
                    </a:ext>
                  </a:extLst>
                </a:gridCol>
              </a:tblGrid>
              <a:tr h="2140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G1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G2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G3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G4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G5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u="none" strike="noStrike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G6</a:t>
                      </a:r>
                    </a:p>
                  </a:txBody>
                  <a:tcPr marL="9525" marR="9525" marT="9525" marB="0" anchor="ctr"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314682"/>
                  </a:ext>
                </a:extLst>
              </a:tr>
              <a:tr h="221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해당 인원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6636058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최대값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39,000,000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74,000,000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344617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최소값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36,000,000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38,000,000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56,000,000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018429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평균값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37,333,333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45,200,000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61,714,286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69,000,000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67,500,000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214194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중위값</a:t>
                      </a:r>
                      <a:endParaRPr lang="ko-KR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37,000,000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49,000,000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55,000,000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72,000,000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70,500,000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0953022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임금폭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0262717"/>
                  </a:ext>
                </a:extLst>
              </a:tr>
              <a:tr h="210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>
                          <a:effectLst/>
                        </a:rPr>
                        <a:t>상승폭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7903086"/>
                  </a:ext>
                </a:extLst>
              </a:tr>
              <a:tr h="2216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kern="1200" dirty="0" err="1">
                          <a:effectLst/>
                        </a:rPr>
                        <a:t>중복률</a:t>
                      </a:r>
                      <a:endParaRPr 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106%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8245510"/>
                  </a:ext>
                </a:extLst>
              </a:tr>
            </a:tbl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89DC99D-87F8-ED18-856B-D1EA99B474F6}"/>
              </a:ext>
            </a:extLst>
          </p:cNvPr>
          <p:cNvGraphicFramePr>
            <a:graphicFrameLocks/>
          </p:cNvGraphicFramePr>
          <p:nvPr/>
        </p:nvGraphicFramePr>
        <p:xfrm>
          <a:off x="273046" y="1628776"/>
          <a:ext cx="9359904" cy="2771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텍스트 개체 틀 1">
            <a:extLst>
              <a:ext uri="{FF2B5EF4-FFF2-40B4-BE49-F238E27FC236}">
                <a16:creationId xmlns:a16="http://schemas.microsoft.com/office/drawing/2014/main" id="{38A09B7C-1BFE-8AB4-AF0E-BA7A34B3E5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 lvl="0"/>
            <a:r>
              <a:rPr lang="ko-KR" altLang="en-US" dirty="0" err="1"/>
              <a:t>역할급</a:t>
            </a:r>
            <a:r>
              <a:rPr lang="ko-KR" altLang="en-US" dirty="0"/>
              <a:t> </a:t>
            </a:r>
            <a:r>
              <a:rPr lang="en-US" altLang="ko-KR" dirty="0"/>
              <a:t>Pay-Band </a:t>
            </a:r>
            <a:r>
              <a:rPr lang="ko-KR" altLang="en-US" dirty="0" err="1"/>
              <a:t>설계안</a:t>
            </a:r>
            <a:r>
              <a:rPr lang="ko-KR" altLang="en-US" dirty="0"/>
              <a:t> 적용 시뮬레이션을 통해 향후 </a:t>
            </a:r>
            <a:r>
              <a:rPr lang="en-US" altLang="ko-KR" dirty="0"/>
              <a:t>1</a:t>
            </a:r>
            <a:r>
              <a:rPr lang="ko-KR" altLang="en-US" dirty="0"/>
              <a:t>년</a:t>
            </a:r>
            <a:r>
              <a:rPr lang="en-US" altLang="ko-KR" dirty="0"/>
              <a:t>, 2</a:t>
            </a:r>
            <a:r>
              <a:rPr lang="ko-KR" altLang="en-US" dirty="0"/>
              <a:t>년 뒤 임금 구조 변화를 예측한 결과</a:t>
            </a:r>
            <a:r>
              <a:rPr lang="en-US" altLang="ko-KR" dirty="0"/>
              <a:t>, </a:t>
            </a:r>
            <a:r>
              <a:rPr lang="ko-KR" altLang="en-US" dirty="0"/>
              <a:t>중간 계층</a:t>
            </a:r>
            <a:r>
              <a:rPr lang="en-US" altLang="ko-KR" dirty="0"/>
              <a:t>(G3~G4)</a:t>
            </a:r>
            <a:r>
              <a:rPr lang="ko-KR" altLang="en-US" dirty="0"/>
              <a:t>의 성장 폭이 강화되어 인력 확보와 유지에 긍정적으로 작용하며</a:t>
            </a:r>
            <a:r>
              <a:rPr lang="en-US" altLang="ko-KR" dirty="0"/>
              <a:t>, </a:t>
            </a:r>
            <a:r>
              <a:rPr lang="ko-KR" altLang="en-US" dirty="0"/>
              <a:t>상위 직급</a:t>
            </a:r>
            <a:r>
              <a:rPr lang="en-US" altLang="ko-KR" dirty="0"/>
              <a:t>(G5~G6)</a:t>
            </a:r>
            <a:r>
              <a:rPr lang="ko-KR" altLang="en-US" dirty="0"/>
              <a:t>은 완만한 보상 곡선을 유지하여 조직 내 보상 형평성과 지속 가능성을 동시에 확보함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텍스트 개체 틀 5">
            <a:extLst>
              <a:ext uri="{FF2B5EF4-FFF2-40B4-BE49-F238E27FC236}">
                <a16:creationId xmlns:a16="http://schemas.microsoft.com/office/drawing/2014/main" id="{35E79A15-205A-D0EF-6020-7956487B56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18A1FBE5-C787-DC23-A4FF-C4A7265E28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179949174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840B5-37BB-3541-CDAA-D3144346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B4EA561-8980-31A5-C54B-11C96E87CD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4" name="직사각형 15">
            <a:extLst>
              <a:ext uri="{FF2B5EF4-FFF2-40B4-BE49-F238E27FC236}">
                <a16:creationId xmlns:a16="http://schemas.microsoft.com/office/drawing/2014/main" id="{BA7ADFD6-824E-2FAC-3355-34DE253B1E74}"/>
              </a:ext>
            </a:extLst>
          </p:cNvPr>
          <p:cNvSpPr/>
          <p:nvPr/>
        </p:nvSpPr>
        <p:spPr>
          <a:xfrm>
            <a:off x="2016491" y="2942345"/>
            <a:ext cx="1884302" cy="1603923"/>
          </a:xfrm>
          <a:custGeom>
            <a:avLst/>
            <a:gdLst>
              <a:gd name="connsiteX0" fmla="*/ 0 w 749053"/>
              <a:gd name="connsiteY0" fmla="*/ 0 h 1036226"/>
              <a:gd name="connsiteX1" fmla="*/ 749053 w 749053"/>
              <a:gd name="connsiteY1" fmla="*/ 0 h 1036226"/>
              <a:gd name="connsiteX2" fmla="*/ 749053 w 749053"/>
              <a:gd name="connsiteY2" fmla="*/ 1036226 h 1036226"/>
              <a:gd name="connsiteX3" fmla="*/ 0 w 749053"/>
              <a:gd name="connsiteY3" fmla="*/ 1036226 h 1036226"/>
              <a:gd name="connsiteX4" fmla="*/ 0 w 749053"/>
              <a:gd name="connsiteY4" fmla="*/ 0 h 103622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0 w 756673"/>
              <a:gd name="connsiteY3" fmla="*/ 1036226 h 4015646"/>
              <a:gd name="connsiteX4" fmla="*/ 0 w 756673"/>
              <a:gd name="connsiteY4" fmla="*/ 0 h 401564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4763 w 756673"/>
              <a:gd name="connsiteY3" fmla="*/ 1040994 h 4015646"/>
              <a:gd name="connsiteX4" fmla="*/ 0 w 756673"/>
              <a:gd name="connsiteY4" fmla="*/ 0 h 401564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4763 w 756673"/>
              <a:gd name="connsiteY3" fmla="*/ 1017155 h 4015646"/>
              <a:gd name="connsiteX4" fmla="*/ 0 w 756673"/>
              <a:gd name="connsiteY4" fmla="*/ 0 h 4015646"/>
              <a:gd name="connsiteX0" fmla="*/ 0 w 756673"/>
              <a:gd name="connsiteY0" fmla="*/ 2949799 h 6965445"/>
              <a:gd name="connsiteX1" fmla="*/ 749053 w 756673"/>
              <a:gd name="connsiteY1" fmla="*/ 0 h 6965445"/>
              <a:gd name="connsiteX2" fmla="*/ 756673 w 756673"/>
              <a:gd name="connsiteY2" fmla="*/ 6965445 h 6965445"/>
              <a:gd name="connsiteX3" fmla="*/ 4763 w 756673"/>
              <a:gd name="connsiteY3" fmla="*/ 3966954 h 6965445"/>
              <a:gd name="connsiteX4" fmla="*/ 0 w 756673"/>
              <a:gd name="connsiteY4" fmla="*/ 2949799 h 6965445"/>
              <a:gd name="connsiteX0" fmla="*/ 0 w 766197"/>
              <a:gd name="connsiteY0" fmla="*/ 2521615 h 6965445"/>
              <a:gd name="connsiteX1" fmla="*/ 758577 w 766197"/>
              <a:gd name="connsiteY1" fmla="*/ 0 h 6965445"/>
              <a:gd name="connsiteX2" fmla="*/ 766197 w 766197"/>
              <a:gd name="connsiteY2" fmla="*/ 6965445 h 6965445"/>
              <a:gd name="connsiteX3" fmla="*/ 14287 w 766197"/>
              <a:gd name="connsiteY3" fmla="*/ 3966954 h 6965445"/>
              <a:gd name="connsiteX4" fmla="*/ 0 w 766197"/>
              <a:gd name="connsiteY4" fmla="*/ 2521615 h 6965445"/>
              <a:gd name="connsiteX0" fmla="*/ 0 w 766197"/>
              <a:gd name="connsiteY0" fmla="*/ 637593 h 5081423"/>
              <a:gd name="connsiteX1" fmla="*/ 710959 w 766197"/>
              <a:gd name="connsiteY1" fmla="*/ 0 h 5081423"/>
              <a:gd name="connsiteX2" fmla="*/ 766197 w 766197"/>
              <a:gd name="connsiteY2" fmla="*/ 5081423 h 5081423"/>
              <a:gd name="connsiteX3" fmla="*/ 14287 w 766197"/>
              <a:gd name="connsiteY3" fmla="*/ 2082932 h 5081423"/>
              <a:gd name="connsiteX4" fmla="*/ 0 w 766197"/>
              <a:gd name="connsiteY4" fmla="*/ 637593 h 5081423"/>
              <a:gd name="connsiteX0" fmla="*/ 0 w 715405"/>
              <a:gd name="connsiteY0" fmla="*/ 637593 h 5509612"/>
              <a:gd name="connsiteX1" fmla="*/ 710959 w 715405"/>
              <a:gd name="connsiteY1" fmla="*/ 0 h 5509612"/>
              <a:gd name="connsiteX2" fmla="*/ 715405 w 715405"/>
              <a:gd name="connsiteY2" fmla="*/ 5509612 h 5509612"/>
              <a:gd name="connsiteX3" fmla="*/ 14287 w 715405"/>
              <a:gd name="connsiteY3" fmla="*/ 2082932 h 5509612"/>
              <a:gd name="connsiteX4" fmla="*/ 0 w 715405"/>
              <a:gd name="connsiteY4" fmla="*/ 637593 h 5509612"/>
              <a:gd name="connsiteX0" fmla="*/ 20709 w 736114"/>
              <a:gd name="connsiteY0" fmla="*/ 637593 h 5509612"/>
              <a:gd name="connsiteX1" fmla="*/ 731668 w 736114"/>
              <a:gd name="connsiteY1" fmla="*/ 0 h 5509612"/>
              <a:gd name="connsiteX2" fmla="*/ 736114 w 736114"/>
              <a:gd name="connsiteY2" fmla="*/ 5509612 h 5509612"/>
              <a:gd name="connsiteX3" fmla="*/ 76 w 736114"/>
              <a:gd name="connsiteY3" fmla="*/ 1611928 h 5509612"/>
              <a:gd name="connsiteX4" fmla="*/ 20709 w 736114"/>
              <a:gd name="connsiteY4" fmla="*/ 637593 h 5509612"/>
              <a:gd name="connsiteX0" fmla="*/ 20709 w 731668"/>
              <a:gd name="connsiteY0" fmla="*/ 637593 h 4910151"/>
              <a:gd name="connsiteX1" fmla="*/ 731668 w 731668"/>
              <a:gd name="connsiteY1" fmla="*/ 0 h 4910151"/>
              <a:gd name="connsiteX2" fmla="*/ 682147 w 731668"/>
              <a:gd name="connsiteY2" fmla="*/ 4910151 h 4910151"/>
              <a:gd name="connsiteX3" fmla="*/ 76 w 731668"/>
              <a:gd name="connsiteY3" fmla="*/ 1611928 h 4910151"/>
              <a:gd name="connsiteX4" fmla="*/ 20709 w 731668"/>
              <a:gd name="connsiteY4" fmla="*/ 637593 h 4910151"/>
              <a:gd name="connsiteX0" fmla="*/ 0 w 710959"/>
              <a:gd name="connsiteY0" fmla="*/ 637593 h 4910151"/>
              <a:gd name="connsiteX1" fmla="*/ 710959 w 710959"/>
              <a:gd name="connsiteY1" fmla="*/ 0 h 4910151"/>
              <a:gd name="connsiteX2" fmla="*/ 661438 w 710959"/>
              <a:gd name="connsiteY2" fmla="*/ 4910151 h 4910151"/>
              <a:gd name="connsiteX3" fmla="*/ 19154 w 710959"/>
              <a:gd name="connsiteY3" fmla="*/ 3054204 h 4910151"/>
              <a:gd name="connsiteX4" fmla="*/ 0 w 710959"/>
              <a:gd name="connsiteY4" fmla="*/ 637593 h 4910151"/>
              <a:gd name="connsiteX0" fmla="*/ 8353 w 691958"/>
              <a:gd name="connsiteY0" fmla="*/ 2046327 h 4910151"/>
              <a:gd name="connsiteX1" fmla="*/ 691958 w 691958"/>
              <a:gd name="connsiteY1" fmla="*/ 0 h 4910151"/>
              <a:gd name="connsiteX2" fmla="*/ 642437 w 691958"/>
              <a:gd name="connsiteY2" fmla="*/ 4910151 h 4910151"/>
              <a:gd name="connsiteX3" fmla="*/ 153 w 691958"/>
              <a:gd name="connsiteY3" fmla="*/ 3054204 h 4910151"/>
              <a:gd name="connsiteX4" fmla="*/ 8353 w 691958"/>
              <a:gd name="connsiteY4" fmla="*/ 2046327 h 4910151"/>
              <a:gd name="connsiteX0" fmla="*/ 8353 w 691958"/>
              <a:gd name="connsiteY0" fmla="*/ 2046327 h 8635374"/>
              <a:gd name="connsiteX1" fmla="*/ 691958 w 691958"/>
              <a:gd name="connsiteY1" fmla="*/ 0 h 8635374"/>
              <a:gd name="connsiteX2" fmla="*/ 544027 w 691958"/>
              <a:gd name="connsiteY2" fmla="*/ 8635374 h 8635374"/>
              <a:gd name="connsiteX3" fmla="*/ 153 w 691958"/>
              <a:gd name="connsiteY3" fmla="*/ 3054204 h 8635374"/>
              <a:gd name="connsiteX4" fmla="*/ 8353 w 691958"/>
              <a:gd name="connsiteY4" fmla="*/ 2046327 h 8635374"/>
              <a:gd name="connsiteX0" fmla="*/ 8353 w 606246"/>
              <a:gd name="connsiteY0" fmla="*/ 0 h 6589047"/>
              <a:gd name="connsiteX1" fmla="*/ 606246 w 606246"/>
              <a:gd name="connsiteY1" fmla="*/ 2749365 h 6589047"/>
              <a:gd name="connsiteX2" fmla="*/ 544027 w 606246"/>
              <a:gd name="connsiteY2" fmla="*/ 6589047 h 6589047"/>
              <a:gd name="connsiteX3" fmla="*/ 153 w 606246"/>
              <a:gd name="connsiteY3" fmla="*/ 1007877 h 6589047"/>
              <a:gd name="connsiteX4" fmla="*/ 8353 w 606246"/>
              <a:gd name="connsiteY4" fmla="*/ 0 h 6589047"/>
              <a:gd name="connsiteX0" fmla="*/ 5230 w 606298"/>
              <a:gd name="connsiteY0" fmla="*/ 0 h 5903951"/>
              <a:gd name="connsiteX1" fmla="*/ 606298 w 606298"/>
              <a:gd name="connsiteY1" fmla="*/ 2064269 h 5903951"/>
              <a:gd name="connsiteX2" fmla="*/ 544079 w 606298"/>
              <a:gd name="connsiteY2" fmla="*/ 5903951 h 5903951"/>
              <a:gd name="connsiteX3" fmla="*/ 205 w 606298"/>
              <a:gd name="connsiteY3" fmla="*/ 322781 h 5903951"/>
              <a:gd name="connsiteX4" fmla="*/ 5230 w 606298"/>
              <a:gd name="connsiteY4" fmla="*/ 0 h 5903951"/>
              <a:gd name="connsiteX0" fmla="*/ 5230 w 707883"/>
              <a:gd name="connsiteY0" fmla="*/ 0 h 5903951"/>
              <a:gd name="connsiteX1" fmla="*/ 707883 w 707883"/>
              <a:gd name="connsiteY1" fmla="*/ 1850177 h 5903951"/>
              <a:gd name="connsiteX2" fmla="*/ 544079 w 707883"/>
              <a:gd name="connsiteY2" fmla="*/ 5903951 h 5903951"/>
              <a:gd name="connsiteX3" fmla="*/ 205 w 707883"/>
              <a:gd name="connsiteY3" fmla="*/ 322781 h 5903951"/>
              <a:gd name="connsiteX4" fmla="*/ 5230 w 707883"/>
              <a:gd name="connsiteY4" fmla="*/ 0 h 5903951"/>
              <a:gd name="connsiteX0" fmla="*/ 22816 w 707749"/>
              <a:gd name="connsiteY0" fmla="*/ 0 h 6503416"/>
              <a:gd name="connsiteX1" fmla="*/ 707749 w 707749"/>
              <a:gd name="connsiteY1" fmla="*/ 2449642 h 6503416"/>
              <a:gd name="connsiteX2" fmla="*/ 543945 w 707749"/>
              <a:gd name="connsiteY2" fmla="*/ 6503416 h 6503416"/>
              <a:gd name="connsiteX3" fmla="*/ 71 w 707749"/>
              <a:gd name="connsiteY3" fmla="*/ 922246 h 6503416"/>
              <a:gd name="connsiteX4" fmla="*/ 22816 w 707749"/>
              <a:gd name="connsiteY4" fmla="*/ 0 h 6503416"/>
              <a:gd name="connsiteX0" fmla="*/ 22816 w 707749"/>
              <a:gd name="connsiteY0" fmla="*/ 0 h 6503416"/>
              <a:gd name="connsiteX1" fmla="*/ 707749 w 707749"/>
              <a:gd name="connsiteY1" fmla="*/ 2449642 h 6503416"/>
              <a:gd name="connsiteX2" fmla="*/ 543945 w 707749"/>
              <a:gd name="connsiteY2" fmla="*/ 6503416 h 6503416"/>
              <a:gd name="connsiteX3" fmla="*/ 71 w 707749"/>
              <a:gd name="connsiteY3" fmla="*/ 408420 h 6503416"/>
              <a:gd name="connsiteX4" fmla="*/ 22816 w 707749"/>
              <a:gd name="connsiteY4" fmla="*/ 0 h 6503416"/>
              <a:gd name="connsiteX0" fmla="*/ 47589 w 707715"/>
              <a:gd name="connsiteY0" fmla="*/ 0 h 7060061"/>
              <a:gd name="connsiteX1" fmla="*/ 707715 w 707715"/>
              <a:gd name="connsiteY1" fmla="*/ 3006287 h 7060061"/>
              <a:gd name="connsiteX2" fmla="*/ 543911 w 707715"/>
              <a:gd name="connsiteY2" fmla="*/ 7060061 h 7060061"/>
              <a:gd name="connsiteX3" fmla="*/ 37 w 707715"/>
              <a:gd name="connsiteY3" fmla="*/ 965065 h 7060061"/>
              <a:gd name="connsiteX4" fmla="*/ 47589 w 707715"/>
              <a:gd name="connsiteY4" fmla="*/ 0 h 7060061"/>
              <a:gd name="connsiteX0" fmla="*/ 26350 w 686476"/>
              <a:gd name="connsiteY0" fmla="*/ 0 h 7060061"/>
              <a:gd name="connsiteX1" fmla="*/ 686476 w 686476"/>
              <a:gd name="connsiteY1" fmla="*/ 3006287 h 7060061"/>
              <a:gd name="connsiteX2" fmla="*/ 522672 w 686476"/>
              <a:gd name="connsiteY2" fmla="*/ 7060061 h 7060061"/>
              <a:gd name="connsiteX3" fmla="*/ 62 w 686476"/>
              <a:gd name="connsiteY3" fmla="*/ 579697 h 7060061"/>
              <a:gd name="connsiteX4" fmla="*/ 26350 w 686476"/>
              <a:gd name="connsiteY4" fmla="*/ 0 h 706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6476" h="7060061">
                <a:moveTo>
                  <a:pt x="26350" y="0"/>
                </a:moveTo>
                <a:lnTo>
                  <a:pt x="686476" y="3006287"/>
                </a:lnTo>
                <a:lnTo>
                  <a:pt x="522672" y="7060061"/>
                </a:lnTo>
                <a:lnTo>
                  <a:pt x="62" y="579697"/>
                </a:lnTo>
                <a:cubicBezTo>
                  <a:pt x="-1526" y="232699"/>
                  <a:pt x="27938" y="346998"/>
                  <a:pt x="2635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lumMod val="65000"/>
                  <a:alpha val="26000"/>
                </a:schemeClr>
              </a:gs>
            </a:gsLst>
            <a:lin ang="108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25" name="직사각형 15">
            <a:extLst>
              <a:ext uri="{FF2B5EF4-FFF2-40B4-BE49-F238E27FC236}">
                <a16:creationId xmlns:a16="http://schemas.microsoft.com/office/drawing/2014/main" id="{072BE028-C8B5-AD37-9E1C-B6E4DB708AD7}"/>
              </a:ext>
            </a:extLst>
          </p:cNvPr>
          <p:cNvSpPr/>
          <p:nvPr/>
        </p:nvSpPr>
        <p:spPr>
          <a:xfrm>
            <a:off x="1673676" y="2312461"/>
            <a:ext cx="2055854" cy="833399"/>
          </a:xfrm>
          <a:custGeom>
            <a:avLst/>
            <a:gdLst>
              <a:gd name="connsiteX0" fmla="*/ 0 w 749053"/>
              <a:gd name="connsiteY0" fmla="*/ 0 h 1036226"/>
              <a:gd name="connsiteX1" fmla="*/ 749053 w 749053"/>
              <a:gd name="connsiteY1" fmla="*/ 0 h 1036226"/>
              <a:gd name="connsiteX2" fmla="*/ 749053 w 749053"/>
              <a:gd name="connsiteY2" fmla="*/ 1036226 h 1036226"/>
              <a:gd name="connsiteX3" fmla="*/ 0 w 749053"/>
              <a:gd name="connsiteY3" fmla="*/ 1036226 h 1036226"/>
              <a:gd name="connsiteX4" fmla="*/ 0 w 749053"/>
              <a:gd name="connsiteY4" fmla="*/ 0 h 103622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0 w 756673"/>
              <a:gd name="connsiteY3" fmla="*/ 1036226 h 4015646"/>
              <a:gd name="connsiteX4" fmla="*/ 0 w 756673"/>
              <a:gd name="connsiteY4" fmla="*/ 0 h 401564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4763 w 756673"/>
              <a:gd name="connsiteY3" fmla="*/ 1040994 h 4015646"/>
              <a:gd name="connsiteX4" fmla="*/ 0 w 756673"/>
              <a:gd name="connsiteY4" fmla="*/ 0 h 401564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4763 w 756673"/>
              <a:gd name="connsiteY3" fmla="*/ 1017155 h 4015646"/>
              <a:gd name="connsiteX4" fmla="*/ 0 w 756673"/>
              <a:gd name="connsiteY4" fmla="*/ 0 h 4015646"/>
              <a:gd name="connsiteX0" fmla="*/ 0 w 756673"/>
              <a:gd name="connsiteY0" fmla="*/ 2949799 h 6965445"/>
              <a:gd name="connsiteX1" fmla="*/ 749053 w 756673"/>
              <a:gd name="connsiteY1" fmla="*/ 0 h 6965445"/>
              <a:gd name="connsiteX2" fmla="*/ 756673 w 756673"/>
              <a:gd name="connsiteY2" fmla="*/ 6965445 h 6965445"/>
              <a:gd name="connsiteX3" fmla="*/ 4763 w 756673"/>
              <a:gd name="connsiteY3" fmla="*/ 3966954 h 6965445"/>
              <a:gd name="connsiteX4" fmla="*/ 0 w 756673"/>
              <a:gd name="connsiteY4" fmla="*/ 2949799 h 6965445"/>
              <a:gd name="connsiteX0" fmla="*/ 0 w 766197"/>
              <a:gd name="connsiteY0" fmla="*/ 2521615 h 6965445"/>
              <a:gd name="connsiteX1" fmla="*/ 758577 w 766197"/>
              <a:gd name="connsiteY1" fmla="*/ 0 h 6965445"/>
              <a:gd name="connsiteX2" fmla="*/ 766197 w 766197"/>
              <a:gd name="connsiteY2" fmla="*/ 6965445 h 6965445"/>
              <a:gd name="connsiteX3" fmla="*/ 14287 w 766197"/>
              <a:gd name="connsiteY3" fmla="*/ 3966954 h 6965445"/>
              <a:gd name="connsiteX4" fmla="*/ 0 w 766197"/>
              <a:gd name="connsiteY4" fmla="*/ 2521615 h 6965445"/>
              <a:gd name="connsiteX0" fmla="*/ 0 w 766197"/>
              <a:gd name="connsiteY0" fmla="*/ 637593 h 5081423"/>
              <a:gd name="connsiteX1" fmla="*/ 710959 w 766197"/>
              <a:gd name="connsiteY1" fmla="*/ 0 h 5081423"/>
              <a:gd name="connsiteX2" fmla="*/ 766197 w 766197"/>
              <a:gd name="connsiteY2" fmla="*/ 5081423 h 5081423"/>
              <a:gd name="connsiteX3" fmla="*/ 14287 w 766197"/>
              <a:gd name="connsiteY3" fmla="*/ 2082932 h 5081423"/>
              <a:gd name="connsiteX4" fmla="*/ 0 w 766197"/>
              <a:gd name="connsiteY4" fmla="*/ 637593 h 5081423"/>
              <a:gd name="connsiteX0" fmla="*/ 0 w 715405"/>
              <a:gd name="connsiteY0" fmla="*/ 637593 h 5509612"/>
              <a:gd name="connsiteX1" fmla="*/ 710959 w 715405"/>
              <a:gd name="connsiteY1" fmla="*/ 0 h 5509612"/>
              <a:gd name="connsiteX2" fmla="*/ 715405 w 715405"/>
              <a:gd name="connsiteY2" fmla="*/ 5509612 h 5509612"/>
              <a:gd name="connsiteX3" fmla="*/ 14287 w 715405"/>
              <a:gd name="connsiteY3" fmla="*/ 2082932 h 5509612"/>
              <a:gd name="connsiteX4" fmla="*/ 0 w 715405"/>
              <a:gd name="connsiteY4" fmla="*/ 637593 h 5509612"/>
              <a:gd name="connsiteX0" fmla="*/ 20709 w 736114"/>
              <a:gd name="connsiteY0" fmla="*/ 637593 h 5509612"/>
              <a:gd name="connsiteX1" fmla="*/ 731668 w 736114"/>
              <a:gd name="connsiteY1" fmla="*/ 0 h 5509612"/>
              <a:gd name="connsiteX2" fmla="*/ 736114 w 736114"/>
              <a:gd name="connsiteY2" fmla="*/ 5509612 h 5509612"/>
              <a:gd name="connsiteX3" fmla="*/ 76 w 736114"/>
              <a:gd name="connsiteY3" fmla="*/ 1611928 h 5509612"/>
              <a:gd name="connsiteX4" fmla="*/ 20709 w 736114"/>
              <a:gd name="connsiteY4" fmla="*/ 637593 h 5509612"/>
              <a:gd name="connsiteX0" fmla="*/ 20709 w 731668"/>
              <a:gd name="connsiteY0" fmla="*/ 637593 h 4910151"/>
              <a:gd name="connsiteX1" fmla="*/ 731668 w 731668"/>
              <a:gd name="connsiteY1" fmla="*/ 0 h 4910151"/>
              <a:gd name="connsiteX2" fmla="*/ 682147 w 731668"/>
              <a:gd name="connsiteY2" fmla="*/ 4910151 h 4910151"/>
              <a:gd name="connsiteX3" fmla="*/ 76 w 731668"/>
              <a:gd name="connsiteY3" fmla="*/ 1611928 h 4910151"/>
              <a:gd name="connsiteX4" fmla="*/ 20709 w 731668"/>
              <a:gd name="connsiteY4" fmla="*/ 637593 h 4910151"/>
              <a:gd name="connsiteX0" fmla="*/ 0 w 710959"/>
              <a:gd name="connsiteY0" fmla="*/ 637593 h 4910151"/>
              <a:gd name="connsiteX1" fmla="*/ 710959 w 710959"/>
              <a:gd name="connsiteY1" fmla="*/ 0 h 4910151"/>
              <a:gd name="connsiteX2" fmla="*/ 661438 w 710959"/>
              <a:gd name="connsiteY2" fmla="*/ 4910151 h 4910151"/>
              <a:gd name="connsiteX3" fmla="*/ 19154 w 710959"/>
              <a:gd name="connsiteY3" fmla="*/ 3054204 h 4910151"/>
              <a:gd name="connsiteX4" fmla="*/ 0 w 710959"/>
              <a:gd name="connsiteY4" fmla="*/ 637593 h 4910151"/>
              <a:gd name="connsiteX0" fmla="*/ 8353 w 691958"/>
              <a:gd name="connsiteY0" fmla="*/ 2046327 h 4910151"/>
              <a:gd name="connsiteX1" fmla="*/ 691958 w 691958"/>
              <a:gd name="connsiteY1" fmla="*/ 0 h 4910151"/>
              <a:gd name="connsiteX2" fmla="*/ 642437 w 691958"/>
              <a:gd name="connsiteY2" fmla="*/ 4910151 h 4910151"/>
              <a:gd name="connsiteX3" fmla="*/ 153 w 691958"/>
              <a:gd name="connsiteY3" fmla="*/ 3054204 h 4910151"/>
              <a:gd name="connsiteX4" fmla="*/ 8353 w 691958"/>
              <a:gd name="connsiteY4" fmla="*/ 2046327 h 4910151"/>
              <a:gd name="connsiteX0" fmla="*/ 8353 w 660213"/>
              <a:gd name="connsiteY0" fmla="*/ 804586 h 3668410"/>
              <a:gd name="connsiteX1" fmla="*/ 660213 w 660213"/>
              <a:gd name="connsiteY1" fmla="*/ 0 h 3668410"/>
              <a:gd name="connsiteX2" fmla="*/ 642437 w 660213"/>
              <a:gd name="connsiteY2" fmla="*/ 3668410 h 3668410"/>
              <a:gd name="connsiteX3" fmla="*/ 153 w 660213"/>
              <a:gd name="connsiteY3" fmla="*/ 1812463 h 3668410"/>
              <a:gd name="connsiteX4" fmla="*/ 8353 w 660213"/>
              <a:gd name="connsiteY4" fmla="*/ 804586 h 3668410"/>
              <a:gd name="connsiteX0" fmla="*/ 0 w 664558"/>
              <a:gd name="connsiteY0" fmla="*/ 804586 h 3668410"/>
              <a:gd name="connsiteX1" fmla="*/ 664558 w 664558"/>
              <a:gd name="connsiteY1" fmla="*/ 0 h 3668410"/>
              <a:gd name="connsiteX2" fmla="*/ 646782 w 664558"/>
              <a:gd name="connsiteY2" fmla="*/ 3668410 h 3668410"/>
              <a:gd name="connsiteX3" fmla="*/ 4498 w 664558"/>
              <a:gd name="connsiteY3" fmla="*/ 1812463 h 3668410"/>
              <a:gd name="connsiteX4" fmla="*/ 0 w 664558"/>
              <a:gd name="connsiteY4" fmla="*/ 804586 h 3668410"/>
              <a:gd name="connsiteX0" fmla="*/ 0 w 667733"/>
              <a:gd name="connsiteY0" fmla="*/ 1189955 h 3668410"/>
              <a:gd name="connsiteX1" fmla="*/ 667733 w 667733"/>
              <a:gd name="connsiteY1" fmla="*/ 0 h 3668410"/>
              <a:gd name="connsiteX2" fmla="*/ 649957 w 667733"/>
              <a:gd name="connsiteY2" fmla="*/ 3668410 h 3668410"/>
              <a:gd name="connsiteX3" fmla="*/ 7673 w 667733"/>
              <a:gd name="connsiteY3" fmla="*/ 1812463 h 3668410"/>
              <a:gd name="connsiteX4" fmla="*/ 0 w 667733"/>
              <a:gd name="connsiteY4" fmla="*/ 1189955 h 3668410"/>
              <a:gd name="connsiteX0" fmla="*/ 11495 w 679228"/>
              <a:gd name="connsiteY0" fmla="*/ 1189955 h 3668410"/>
              <a:gd name="connsiteX1" fmla="*/ 679228 w 679228"/>
              <a:gd name="connsiteY1" fmla="*/ 0 h 3668410"/>
              <a:gd name="connsiteX2" fmla="*/ 661452 w 679228"/>
              <a:gd name="connsiteY2" fmla="*/ 3668410 h 3668410"/>
              <a:gd name="connsiteX3" fmla="*/ 121 w 679228"/>
              <a:gd name="connsiteY3" fmla="*/ 1898099 h 3668410"/>
              <a:gd name="connsiteX4" fmla="*/ 11495 w 679228"/>
              <a:gd name="connsiteY4" fmla="*/ 1189955 h 3668410"/>
              <a:gd name="connsiteX0" fmla="*/ 0 w 667733"/>
              <a:gd name="connsiteY0" fmla="*/ 1189955 h 3668410"/>
              <a:gd name="connsiteX1" fmla="*/ 667733 w 667733"/>
              <a:gd name="connsiteY1" fmla="*/ 0 h 3668410"/>
              <a:gd name="connsiteX2" fmla="*/ 649957 w 667733"/>
              <a:gd name="connsiteY2" fmla="*/ 3668410 h 3668410"/>
              <a:gd name="connsiteX3" fmla="*/ 4499 w 667733"/>
              <a:gd name="connsiteY3" fmla="*/ 2326287 h 3668410"/>
              <a:gd name="connsiteX4" fmla="*/ 0 w 667733"/>
              <a:gd name="connsiteY4" fmla="*/ 1189955 h 3668410"/>
              <a:gd name="connsiteX0" fmla="*/ 0 w 667733"/>
              <a:gd name="connsiteY0" fmla="*/ 1404051 h 3668410"/>
              <a:gd name="connsiteX1" fmla="*/ 667733 w 667733"/>
              <a:gd name="connsiteY1" fmla="*/ 0 h 3668410"/>
              <a:gd name="connsiteX2" fmla="*/ 649957 w 667733"/>
              <a:gd name="connsiteY2" fmla="*/ 3668410 h 3668410"/>
              <a:gd name="connsiteX3" fmla="*/ 4499 w 667733"/>
              <a:gd name="connsiteY3" fmla="*/ 2326287 h 3668410"/>
              <a:gd name="connsiteX4" fmla="*/ 0 w 667733"/>
              <a:gd name="connsiteY4" fmla="*/ 1404051 h 3668410"/>
              <a:gd name="connsiteX0" fmla="*/ 0 w 667733"/>
              <a:gd name="connsiteY0" fmla="*/ 1404051 h 3668410"/>
              <a:gd name="connsiteX1" fmla="*/ 667733 w 667733"/>
              <a:gd name="connsiteY1" fmla="*/ 0 h 3668410"/>
              <a:gd name="connsiteX2" fmla="*/ 649957 w 667733"/>
              <a:gd name="connsiteY2" fmla="*/ 3668410 h 3668410"/>
              <a:gd name="connsiteX3" fmla="*/ 4499 w 667733"/>
              <a:gd name="connsiteY3" fmla="*/ 2240647 h 3668410"/>
              <a:gd name="connsiteX4" fmla="*/ 0 w 667733"/>
              <a:gd name="connsiteY4" fmla="*/ 1404051 h 3668410"/>
              <a:gd name="connsiteX0" fmla="*/ 24139 w 663301"/>
              <a:gd name="connsiteY0" fmla="*/ 590499 h 3668410"/>
              <a:gd name="connsiteX1" fmla="*/ 663301 w 663301"/>
              <a:gd name="connsiteY1" fmla="*/ 0 h 3668410"/>
              <a:gd name="connsiteX2" fmla="*/ 645525 w 663301"/>
              <a:gd name="connsiteY2" fmla="*/ 3668410 h 3668410"/>
              <a:gd name="connsiteX3" fmla="*/ 67 w 663301"/>
              <a:gd name="connsiteY3" fmla="*/ 2240647 h 3668410"/>
              <a:gd name="connsiteX4" fmla="*/ 24139 w 663301"/>
              <a:gd name="connsiteY4" fmla="*/ 590499 h 3668410"/>
              <a:gd name="connsiteX0" fmla="*/ 27307 w 666469"/>
              <a:gd name="connsiteY0" fmla="*/ 590499 h 3668410"/>
              <a:gd name="connsiteX1" fmla="*/ 666469 w 666469"/>
              <a:gd name="connsiteY1" fmla="*/ 0 h 3668410"/>
              <a:gd name="connsiteX2" fmla="*/ 648693 w 666469"/>
              <a:gd name="connsiteY2" fmla="*/ 3668410 h 3668410"/>
              <a:gd name="connsiteX3" fmla="*/ 60 w 666469"/>
              <a:gd name="connsiteY3" fmla="*/ 1384274 h 3668410"/>
              <a:gd name="connsiteX4" fmla="*/ 27307 w 666469"/>
              <a:gd name="connsiteY4" fmla="*/ 590499 h 3668410"/>
              <a:gd name="connsiteX0" fmla="*/ 27307 w 666469"/>
              <a:gd name="connsiteY0" fmla="*/ 162310 h 3668410"/>
              <a:gd name="connsiteX1" fmla="*/ 666469 w 666469"/>
              <a:gd name="connsiteY1" fmla="*/ 0 h 3668410"/>
              <a:gd name="connsiteX2" fmla="*/ 648693 w 666469"/>
              <a:gd name="connsiteY2" fmla="*/ 3668410 h 3668410"/>
              <a:gd name="connsiteX3" fmla="*/ 60 w 666469"/>
              <a:gd name="connsiteY3" fmla="*/ 1384274 h 3668410"/>
              <a:gd name="connsiteX4" fmla="*/ 27307 w 666469"/>
              <a:gd name="connsiteY4" fmla="*/ 162310 h 3668410"/>
              <a:gd name="connsiteX0" fmla="*/ 24139 w 663301"/>
              <a:gd name="connsiteY0" fmla="*/ 162310 h 3668410"/>
              <a:gd name="connsiteX1" fmla="*/ 663301 w 663301"/>
              <a:gd name="connsiteY1" fmla="*/ 0 h 3668410"/>
              <a:gd name="connsiteX2" fmla="*/ 645525 w 663301"/>
              <a:gd name="connsiteY2" fmla="*/ 3668410 h 3668410"/>
              <a:gd name="connsiteX3" fmla="*/ 67 w 663301"/>
              <a:gd name="connsiteY3" fmla="*/ 1041721 h 3668410"/>
              <a:gd name="connsiteX4" fmla="*/ 24139 w 663301"/>
              <a:gd name="connsiteY4" fmla="*/ 162310 h 3668410"/>
              <a:gd name="connsiteX0" fmla="*/ 0 w 670907"/>
              <a:gd name="connsiteY0" fmla="*/ 419222 h 3668410"/>
              <a:gd name="connsiteX1" fmla="*/ 670907 w 670907"/>
              <a:gd name="connsiteY1" fmla="*/ 0 h 3668410"/>
              <a:gd name="connsiteX2" fmla="*/ 653131 w 670907"/>
              <a:gd name="connsiteY2" fmla="*/ 3668410 h 3668410"/>
              <a:gd name="connsiteX3" fmla="*/ 7673 w 670907"/>
              <a:gd name="connsiteY3" fmla="*/ 1041721 h 3668410"/>
              <a:gd name="connsiteX4" fmla="*/ 0 w 670907"/>
              <a:gd name="connsiteY4" fmla="*/ 419222 h 366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907" h="3668410">
                <a:moveTo>
                  <a:pt x="0" y="419222"/>
                </a:moveTo>
                <a:lnTo>
                  <a:pt x="670907" y="0"/>
                </a:lnTo>
                <a:cubicBezTo>
                  <a:pt x="664982" y="1222803"/>
                  <a:pt x="659056" y="2445607"/>
                  <a:pt x="653131" y="3668410"/>
                </a:cubicBezTo>
                <a:lnTo>
                  <a:pt x="7673" y="1041721"/>
                </a:lnTo>
                <a:cubicBezTo>
                  <a:pt x="6085" y="694723"/>
                  <a:pt x="1588" y="766220"/>
                  <a:pt x="0" y="4192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lumMod val="65000"/>
                  <a:alpha val="20000"/>
                </a:schemeClr>
              </a:gs>
            </a:gsLst>
            <a:lin ang="1200000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26" name="직사각형 15">
            <a:extLst>
              <a:ext uri="{FF2B5EF4-FFF2-40B4-BE49-F238E27FC236}">
                <a16:creationId xmlns:a16="http://schemas.microsoft.com/office/drawing/2014/main" id="{2AAB0C79-ADC2-08B3-41D9-275548DA033E}"/>
              </a:ext>
            </a:extLst>
          </p:cNvPr>
          <p:cNvSpPr/>
          <p:nvPr/>
        </p:nvSpPr>
        <p:spPr>
          <a:xfrm>
            <a:off x="1869738" y="4912468"/>
            <a:ext cx="2120361" cy="1115501"/>
          </a:xfrm>
          <a:custGeom>
            <a:avLst/>
            <a:gdLst>
              <a:gd name="connsiteX0" fmla="*/ 0 w 749053"/>
              <a:gd name="connsiteY0" fmla="*/ 0 h 1036226"/>
              <a:gd name="connsiteX1" fmla="*/ 749053 w 749053"/>
              <a:gd name="connsiteY1" fmla="*/ 0 h 1036226"/>
              <a:gd name="connsiteX2" fmla="*/ 749053 w 749053"/>
              <a:gd name="connsiteY2" fmla="*/ 1036226 h 1036226"/>
              <a:gd name="connsiteX3" fmla="*/ 0 w 749053"/>
              <a:gd name="connsiteY3" fmla="*/ 1036226 h 1036226"/>
              <a:gd name="connsiteX4" fmla="*/ 0 w 749053"/>
              <a:gd name="connsiteY4" fmla="*/ 0 h 103622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0 w 756673"/>
              <a:gd name="connsiteY3" fmla="*/ 1036226 h 4015646"/>
              <a:gd name="connsiteX4" fmla="*/ 0 w 756673"/>
              <a:gd name="connsiteY4" fmla="*/ 0 h 401564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4763 w 756673"/>
              <a:gd name="connsiteY3" fmla="*/ 1040994 h 4015646"/>
              <a:gd name="connsiteX4" fmla="*/ 0 w 756673"/>
              <a:gd name="connsiteY4" fmla="*/ 0 h 4015646"/>
              <a:gd name="connsiteX0" fmla="*/ 0 w 756673"/>
              <a:gd name="connsiteY0" fmla="*/ 0 h 4015646"/>
              <a:gd name="connsiteX1" fmla="*/ 749053 w 756673"/>
              <a:gd name="connsiteY1" fmla="*/ 0 h 4015646"/>
              <a:gd name="connsiteX2" fmla="*/ 756673 w 756673"/>
              <a:gd name="connsiteY2" fmla="*/ 4015646 h 4015646"/>
              <a:gd name="connsiteX3" fmla="*/ 4763 w 756673"/>
              <a:gd name="connsiteY3" fmla="*/ 1017155 h 4015646"/>
              <a:gd name="connsiteX4" fmla="*/ 0 w 756673"/>
              <a:gd name="connsiteY4" fmla="*/ 0 h 4015646"/>
              <a:gd name="connsiteX0" fmla="*/ 0 w 756673"/>
              <a:gd name="connsiteY0" fmla="*/ 2949799 h 6965445"/>
              <a:gd name="connsiteX1" fmla="*/ 749053 w 756673"/>
              <a:gd name="connsiteY1" fmla="*/ 0 h 6965445"/>
              <a:gd name="connsiteX2" fmla="*/ 756673 w 756673"/>
              <a:gd name="connsiteY2" fmla="*/ 6965445 h 6965445"/>
              <a:gd name="connsiteX3" fmla="*/ 4763 w 756673"/>
              <a:gd name="connsiteY3" fmla="*/ 3966954 h 6965445"/>
              <a:gd name="connsiteX4" fmla="*/ 0 w 756673"/>
              <a:gd name="connsiteY4" fmla="*/ 2949799 h 6965445"/>
              <a:gd name="connsiteX0" fmla="*/ 0 w 766197"/>
              <a:gd name="connsiteY0" fmla="*/ 2521615 h 6965445"/>
              <a:gd name="connsiteX1" fmla="*/ 758577 w 766197"/>
              <a:gd name="connsiteY1" fmla="*/ 0 h 6965445"/>
              <a:gd name="connsiteX2" fmla="*/ 766197 w 766197"/>
              <a:gd name="connsiteY2" fmla="*/ 6965445 h 6965445"/>
              <a:gd name="connsiteX3" fmla="*/ 14287 w 766197"/>
              <a:gd name="connsiteY3" fmla="*/ 3966954 h 6965445"/>
              <a:gd name="connsiteX4" fmla="*/ 0 w 766197"/>
              <a:gd name="connsiteY4" fmla="*/ 2521615 h 6965445"/>
              <a:gd name="connsiteX0" fmla="*/ 0 w 766197"/>
              <a:gd name="connsiteY0" fmla="*/ 637593 h 5081423"/>
              <a:gd name="connsiteX1" fmla="*/ 710959 w 766197"/>
              <a:gd name="connsiteY1" fmla="*/ 0 h 5081423"/>
              <a:gd name="connsiteX2" fmla="*/ 766197 w 766197"/>
              <a:gd name="connsiteY2" fmla="*/ 5081423 h 5081423"/>
              <a:gd name="connsiteX3" fmla="*/ 14287 w 766197"/>
              <a:gd name="connsiteY3" fmla="*/ 2082932 h 5081423"/>
              <a:gd name="connsiteX4" fmla="*/ 0 w 766197"/>
              <a:gd name="connsiteY4" fmla="*/ 637593 h 5081423"/>
              <a:gd name="connsiteX0" fmla="*/ 0 w 715405"/>
              <a:gd name="connsiteY0" fmla="*/ 637593 h 5509612"/>
              <a:gd name="connsiteX1" fmla="*/ 710959 w 715405"/>
              <a:gd name="connsiteY1" fmla="*/ 0 h 5509612"/>
              <a:gd name="connsiteX2" fmla="*/ 715405 w 715405"/>
              <a:gd name="connsiteY2" fmla="*/ 5509612 h 5509612"/>
              <a:gd name="connsiteX3" fmla="*/ 14287 w 715405"/>
              <a:gd name="connsiteY3" fmla="*/ 2082932 h 5509612"/>
              <a:gd name="connsiteX4" fmla="*/ 0 w 715405"/>
              <a:gd name="connsiteY4" fmla="*/ 637593 h 5509612"/>
              <a:gd name="connsiteX0" fmla="*/ 20709 w 736114"/>
              <a:gd name="connsiteY0" fmla="*/ 637593 h 5509612"/>
              <a:gd name="connsiteX1" fmla="*/ 731668 w 736114"/>
              <a:gd name="connsiteY1" fmla="*/ 0 h 5509612"/>
              <a:gd name="connsiteX2" fmla="*/ 736114 w 736114"/>
              <a:gd name="connsiteY2" fmla="*/ 5509612 h 5509612"/>
              <a:gd name="connsiteX3" fmla="*/ 76 w 736114"/>
              <a:gd name="connsiteY3" fmla="*/ 1611928 h 5509612"/>
              <a:gd name="connsiteX4" fmla="*/ 20709 w 736114"/>
              <a:gd name="connsiteY4" fmla="*/ 637593 h 5509612"/>
              <a:gd name="connsiteX0" fmla="*/ 20709 w 731668"/>
              <a:gd name="connsiteY0" fmla="*/ 637593 h 4910151"/>
              <a:gd name="connsiteX1" fmla="*/ 731668 w 731668"/>
              <a:gd name="connsiteY1" fmla="*/ 0 h 4910151"/>
              <a:gd name="connsiteX2" fmla="*/ 682147 w 731668"/>
              <a:gd name="connsiteY2" fmla="*/ 4910151 h 4910151"/>
              <a:gd name="connsiteX3" fmla="*/ 76 w 731668"/>
              <a:gd name="connsiteY3" fmla="*/ 1611928 h 4910151"/>
              <a:gd name="connsiteX4" fmla="*/ 20709 w 731668"/>
              <a:gd name="connsiteY4" fmla="*/ 637593 h 4910151"/>
              <a:gd name="connsiteX0" fmla="*/ 0 w 710959"/>
              <a:gd name="connsiteY0" fmla="*/ 637593 h 4910151"/>
              <a:gd name="connsiteX1" fmla="*/ 710959 w 710959"/>
              <a:gd name="connsiteY1" fmla="*/ 0 h 4910151"/>
              <a:gd name="connsiteX2" fmla="*/ 661438 w 710959"/>
              <a:gd name="connsiteY2" fmla="*/ 4910151 h 4910151"/>
              <a:gd name="connsiteX3" fmla="*/ 19154 w 710959"/>
              <a:gd name="connsiteY3" fmla="*/ 3054204 h 4910151"/>
              <a:gd name="connsiteX4" fmla="*/ 0 w 710959"/>
              <a:gd name="connsiteY4" fmla="*/ 637593 h 4910151"/>
              <a:gd name="connsiteX0" fmla="*/ 8353 w 691958"/>
              <a:gd name="connsiteY0" fmla="*/ 2046327 h 4910151"/>
              <a:gd name="connsiteX1" fmla="*/ 691958 w 691958"/>
              <a:gd name="connsiteY1" fmla="*/ 0 h 4910151"/>
              <a:gd name="connsiteX2" fmla="*/ 642437 w 691958"/>
              <a:gd name="connsiteY2" fmla="*/ 4910151 h 4910151"/>
              <a:gd name="connsiteX3" fmla="*/ 153 w 691958"/>
              <a:gd name="connsiteY3" fmla="*/ 3054204 h 4910151"/>
              <a:gd name="connsiteX4" fmla="*/ 8353 w 691958"/>
              <a:gd name="connsiteY4" fmla="*/ 2046327 h 4910151"/>
              <a:gd name="connsiteX0" fmla="*/ 8353 w 691958"/>
              <a:gd name="connsiteY0" fmla="*/ 2046327 h 4910151"/>
              <a:gd name="connsiteX1" fmla="*/ 691958 w 691958"/>
              <a:gd name="connsiteY1" fmla="*/ 0 h 4910151"/>
              <a:gd name="connsiteX2" fmla="*/ 642437 w 691958"/>
              <a:gd name="connsiteY2" fmla="*/ 4910151 h 4910151"/>
              <a:gd name="connsiteX3" fmla="*/ 153 w 691958"/>
              <a:gd name="connsiteY3" fmla="*/ 2840112 h 4910151"/>
              <a:gd name="connsiteX4" fmla="*/ 8353 w 691958"/>
              <a:gd name="connsiteY4" fmla="*/ 2046327 h 4910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1958" h="4910151">
                <a:moveTo>
                  <a:pt x="8353" y="2046327"/>
                </a:moveTo>
                <a:lnTo>
                  <a:pt x="691958" y="0"/>
                </a:lnTo>
                <a:lnTo>
                  <a:pt x="642437" y="4910151"/>
                </a:lnTo>
                <a:lnTo>
                  <a:pt x="153" y="2840112"/>
                </a:lnTo>
                <a:cubicBezTo>
                  <a:pt x="-1435" y="2493114"/>
                  <a:pt x="9941" y="2393325"/>
                  <a:pt x="8353" y="204632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5000">
                <a:schemeClr val="bg1">
                  <a:lumMod val="65000"/>
                  <a:alpha val="24000"/>
                </a:schemeClr>
              </a:gs>
            </a:gsLst>
            <a:lin ang="108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C58F211-A8D0-4611-2ED3-B85D19FE39CB}"/>
              </a:ext>
            </a:extLst>
          </p:cNvPr>
          <p:cNvGrpSpPr/>
          <p:nvPr/>
        </p:nvGrpSpPr>
        <p:grpSpPr>
          <a:xfrm>
            <a:off x="273050" y="1706043"/>
            <a:ext cx="9359900" cy="246027"/>
            <a:chOff x="454025" y="1628718"/>
            <a:chExt cx="8985250" cy="246027"/>
          </a:xfrm>
        </p:grpSpPr>
        <p:sp>
          <p:nvSpPr>
            <p:cNvPr id="28" name="Line 5">
              <a:extLst>
                <a:ext uri="{FF2B5EF4-FFF2-40B4-BE49-F238E27FC236}">
                  <a16:creationId xmlns:a16="http://schemas.microsoft.com/office/drawing/2014/main" id="{8607DE37-6F1E-FE98-CFE5-4151B99BB99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54025" y="1874745"/>
              <a:ext cx="8985250" cy="0"/>
            </a:xfrm>
            <a:prstGeom prst="line">
              <a:avLst/>
            </a:prstGeom>
            <a:noFill/>
            <a:ln w="63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none" lIns="36000" tIns="36000" rIns="3600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1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39D43F03-8181-0485-B0D4-586F7FDD20F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061842" y="1628718"/>
              <a:ext cx="1769665" cy="204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latinLnBrk="0">
                <a:lnSpc>
                  <a:spcPct val="95000"/>
                </a:lnSpc>
                <a:spcBef>
                  <a:spcPct val="50000"/>
                </a:spcBef>
                <a:buClr>
                  <a:srgbClr val="000000"/>
                </a:buClr>
                <a:defRPr/>
              </a:pPr>
              <a:r>
                <a:rPr lang="ko-KR" altLang="en-US" sz="1400" b="1" kern="0" dirty="0">
                  <a:solidFill>
                    <a:srgbClr val="000000"/>
                  </a:solidFill>
                  <a:latin typeface="+mn-ea"/>
                </a:rPr>
                <a:t>유형별 </a:t>
              </a:r>
              <a:r>
                <a:rPr lang="en-US" altLang="ko-KR" sz="1400" b="1" kern="0" dirty="0">
                  <a:solidFill>
                    <a:srgbClr val="000000"/>
                  </a:solidFill>
                  <a:latin typeface="+mn-ea"/>
                </a:rPr>
                <a:t>Outlier </a:t>
              </a:r>
              <a:r>
                <a:rPr lang="ko-KR" altLang="en-US" sz="1400" b="1" kern="0" dirty="0">
                  <a:solidFill>
                    <a:srgbClr val="000000"/>
                  </a:solidFill>
                  <a:latin typeface="+mn-ea"/>
                </a:rPr>
                <a:t>관리방안</a:t>
              </a:r>
            </a:p>
          </p:txBody>
        </p:sp>
      </p:grpSp>
      <p:sp>
        <p:nvSpPr>
          <p:cNvPr id="30" name="Rectangle 104">
            <a:extLst>
              <a:ext uri="{FF2B5EF4-FFF2-40B4-BE49-F238E27FC236}">
                <a16:creationId xmlns:a16="http://schemas.microsoft.com/office/drawing/2014/main" id="{C4DDA3CA-7366-E44D-C5AE-49FB3AFF5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695" y="2105528"/>
            <a:ext cx="5204255" cy="677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0" bIns="18000" numCol="1" anchor="t" anchorCtr="0" compatLnSpc="1">
            <a:prstTxWarp prst="textNoShape">
              <a:avLst/>
            </a:prstTxWarp>
            <a:no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현재 보상 수준이 시장 및 내부 기준 대비 과도하게 높은 상태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신규 인상 제한 또는 최소화 정책을 적용하여 조직 전체 보상 형평성 유지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성과 관리 및 역할 재조정을 통해 장기적으로 적정 수준으로 유도</a:t>
            </a:r>
            <a:endParaRPr lang="en-US" altLang="ko-KR" sz="1200" dirty="0">
              <a:latin typeface="Arial" panose="020B0604020202020204" pitchFamily="34" charset="0"/>
            </a:endParaRPr>
          </a:p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en-US" altLang="ko-KR" sz="1200" dirty="0">
                <a:latin typeface="Arial" panose="020B0604020202020204" pitchFamily="34" charset="0"/>
              </a:rPr>
              <a:t>Pay Band </a:t>
            </a:r>
            <a:r>
              <a:rPr lang="ko-KR" altLang="en-US" sz="1200" dirty="0">
                <a:latin typeface="Arial" panose="020B0604020202020204" pitchFamily="34" charset="0"/>
              </a:rPr>
              <a:t>초과 인력으로</a:t>
            </a:r>
            <a:r>
              <a:rPr lang="en-US" altLang="ko-KR" sz="1200" dirty="0">
                <a:latin typeface="Arial" panose="020B0604020202020204" pitchFamily="34" charset="0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</a:rPr>
              <a:t>보상 관리의 합리성과 재원 효율성을 확보하기 위해 제한적 인상 운영 필요</a:t>
            </a:r>
            <a:endParaRPr lang="ko-KR" altLang="en-AU" sz="1200" dirty="0">
              <a:latin typeface="Arial" panose="020B0604020202020204" pitchFamily="34" charset="0"/>
            </a:endParaRPr>
          </a:p>
        </p:txBody>
      </p:sp>
      <p:sp>
        <p:nvSpPr>
          <p:cNvPr id="31" name="Rectangle 106">
            <a:extLst>
              <a:ext uri="{FF2B5EF4-FFF2-40B4-BE49-F238E27FC236}">
                <a16:creationId xmlns:a16="http://schemas.microsoft.com/office/drawing/2014/main" id="{36377CA4-0E6B-9F0D-1880-747B50E53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695" y="5137949"/>
            <a:ext cx="5204255" cy="61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0" bIns="18000" numCol="1" anchor="t" anchorCtr="0" compatLnSpc="1">
            <a:prstTxWarp prst="textNoShape">
              <a:avLst/>
            </a:prstTxWarp>
            <a:no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현재 보상 수준이 기준 대비 낮아 시장 경쟁력 확보에 불리할 수 있는 상태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우수 인재 확보 및 유지 차원에서 </a:t>
            </a:r>
            <a:r>
              <a:rPr lang="ko-KR" altLang="ko-KR" sz="1200" dirty="0" err="1">
                <a:latin typeface="Arial" panose="020B0604020202020204" pitchFamily="34" charset="0"/>
              </a:rPr>
              <a:t>선별적·집중적</a:t>
            </a:r>
            <a:r>
              <a:rPr lang="ko-KR" altLang="ko-KR" sz="1200" dirty="0">
                <a:latin typeface="Arial" panose="020B0604020202020204" pitchFamily="34" charset="0"/>
              </a:rPr>
              <a:t> 보상 필요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성장 가능성과 성과 수준을 고려하여 인상률을 차등적으로 확대 적용</a:t>
            </a:r>
          </a:p>
        </p:txBody>
      </p:sp>
      <p:sp>
        <p:nvSpPr>
          <p:cNvPr id="32" name="Rectangle 140">
            <a:extLst>
              <a:ext uri="{FF2B5EF4-FFF2-40B4-BE49-F238E27FC236}">
                <a16:creationId xmlns:a16="http://schemas.microsoft.com/office/drawing/2014/main" id="{E966BB94-B65E-F30B-9B11-9C87CF041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8695" y="3453483"/>
            <a:ext cx="5204255" cy="1096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18000" rIns="0" bIns="18000" numCol="1" anchor="t" anchorCtr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ts val="1400"/>
              </a:lnSpc>
              <a:spcBef>
                <a:spcPts val="400"/>
              </a:spcBef>
              <a:buClr>
                <a:srgbClr val="000000"/>
              </a:buClr>
              <a:buSzPts val="1100"/>
              <a:buFont typeface="맑은 고딕" pitchFamily="50" charset="-127"/>
              <a:buChar char="•"/>
            </a:pPr>
            <a:r>
              <a:rPr lang="en-US" altLang="ko-KR" sz="1200" dirty="0"/>
              <a:t>Pay Band </a:t>
            </a:r>
            <a:r>
              <a:rPr lang="ko-KR" altLang="en-US" sz="1200" dirty="0"/>
              <a:t>내 적정 위치 인력으로</a:t>
            </a:r>
            <a:r>
              <a:rPr lang="en-US" altLang="ko-KR" sz="1200" dirty="0"/>
              <a:t>, </a:t>
            </a:r>
            <a:r>
              <a:rPr lang="ko-KR" altLang="en-US" sz="1200" dirty="0"/>
              <a:t>표준적 보상 관리와 동기부여 균형 유지</a:t>
            </a:r>
            <a:endParaRPr lang="en-US" altLang="ko-KR" sz="120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조직 내 보상 수준이 적정하게 유지되는 핵심 집단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 err="1">
                <a:latin typeface="Arial" panose="020B0604020202020204" pitchFamily="34" charset="0"/>
              </a:rPr>
              <a:t>Pay</a:t>
            </a:r>
            <a:r>
              <a:rPr lang="ko-KR" altLang="ko-KR" sz="1200" dirty="0">
                <a:latin typeface="Arial" panose="020B0604020202020204" pitchFamily="34" charset="0"/>
              </a:rPr>
              <a:t> </a:t>
            </a:r>
            <a:r>
              <a:rPr lang="ko-KR" altLang="ko-KR" sz="1200" dirty="0" err="1">
                <a:latin typeface="Arial" panose="020B0604020202020204" pitchFamily="34" charset="0"/>
              </a:rPr>
              <a:t>Band</a:t>
            </a:r>
            <a:r>
              <a:rPr lang="ko-KR" altLang="ko-KR" sz="1200" dirty="0">
                <a:latin typeface="Arial" panose="020B0604020202020204" pitchFamily="34" charset="0"/>
              </a:rPr>
              <a:t> 기준에 따라 정상적인 </a:t>
            </a:r>
            <a:r>
              <a:rPr lang="ko-KR" altLang="ko-KR" sz="1200" dirty="0" err="1">
                <a:latin typeface="Arial" panose="020B0604020202020204" pitchFamily="34" charset="0"/>
              </a:rPr>
              <a:t>인상·승급</a:t>
            </a:r>
            <a:r>
              <a:rPr lang="ko-KR" altLang="ko-KR" sz="1200" dirty="0">
                <a:latin typeface="Arial" panose="020B0604020202020204" pitchFamily="34" charset="0"/>
              </a:rPr>
              <a:t> 관리가 가능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200" dirty="0">
                <a:latin typeface="Arial" panose="020B0604020202020204" pitchFamily="34" charset="0"/>
              </a:rPr>
              <a:t>성과 차별화에 따른 보상 설계로 동기부여를 강화하며, 인력 유지 및 경쟁력 확보의 중심축 역할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9746F83-A93F-B529-0DCD-05B50240C005}"/>
              </a:ext>
            </a:extLst>
          </p:cNvPr>
          <p:cNvGrpSpPr/>
          <p:nvPr/>
        </p:nvGrpSpPr>
        <p:grpSpPr>
          <a:xfrm>
            <a:off x="3327603" y="3217868"/>
            <a:ext cx="6040170" cy="1506327"/>
            <a:chOff x="3124206" y="3276236"/>
            <a:chExt cx="6243567" cy="1506327"/>
          </a:xfrm>
        </p:grpSpPr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1500A492-7EDE-2337-5A30-777BE6D4652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124206" y="3276236"/>
              <a:ext cx="6243567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A5599309-A42A-3C92-9CB1-19BE927938D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124206" y="4782563"/>
              <a:ext cx="6243567" cy="0"/>
            </a:xfrm>
            <a:prstGeom prst="line">
              <a:avLst/>
            </a:prstGeom>
            <a:noFill/>
            <a:ln w="9525">
              <a:solidFill>
                <a:srgbClr val="4D4D4D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BBE781F-B1E8-3AA1-7BE3-2FEE97C0C05C}"/>
              </a:ext>
            </a:extLst>
          </p:cNvPr>
          <p:cNvSpPr txBox="1"/>
          <p:nvPr/>
        </p:nvSpPr>
        <p:spPr>
          <a:xfrm>
            <a:off x="493621" y="5050393"/>
            <a:ext cx="527096" cy="15739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dirty="0"/>
              <a:t>하한</a:t>
            </a:r>
            <a:r>
              <a:rPr lang="en-US" altLang="ko-KR" sz="1100" b="1" dirty="0"/>
              <a:t>(Min)</a:t>
            </a:r>
            <a:endParaRPr lang="ko-KR" altLang="en-US" sz="1100" b="1" dirty="0"/>
          </a:p>
        </p:txBody>
      </p:sp>
      <p:sp>
        <p:nvSpPr>
          <p:cNvPr id="37" name="위쪽/아래쪽 화살표 100">
            <a:extLst>
              <a:ext uri="{FF2B5EF4-FFF2-40B4-BE49-F238E27FC236}">
                <a16:creationId xmlns:a16="http://schemas.microsoft.com/office/drawing/2014/main" id="{E1FEBA87-DA34-DC68-B427-E5031C3AC762}"/>
              </a:ext>
            </a:extLst>
          </p:cNvPr>
          <p:cNvSpPr/>
          <p:nvPr/>
        </p:nvSpPr>
        <p:spPr>
          <a:xfrm>
            <a:off x="1211109" y="3247053"/>
            <a:ext cx="1152000" cy="1914709"/>
          </a:xfrm>
          <a:prstGeom prst="upDownArrow">
            <a:avLst>
              <a:gd name="adj1" fmla="val 48366"/>
              <a:gd name="adj2" fmla="val 0"/>
            </a:avLst>
          </a:pr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69000">
                <a:schemeClr val="bg1">
                  <a:lumMod val="65000"/>
                  <a:alpha val="43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Pay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Band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58F810-7860-3C6B-CB4C-6CD3FC0A8225}"/>
              </a:ext>
            </a:extLst>
          </p:cNvPr>
          <p:cNvSpPr txBox="1"/>
          <p:nvPr/>
        </p:nvSpPr>
        <p:spPr>
          <a:xfrm>
            <a:off x="480749" y="3158626"/>
            <a:ext cx="552840" cy="15739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100" b="1" dirty="0"/>
              <a:t>상한</a:t>
            </a:r>
            <a:r>
              <a:rPr lang="en-US" altLang="ko-KR" sz="1100" b="1" dirty="0"/>
              <a:t>(Max)</a:t>
            </a:r>
            <a:endParaRPr lang="ko-KR" altLang="en-US" sz="1100" b="1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78726B8-06FF-A3ED-4130-F6A9BEFFB26F}"/>
              </a:ext>
            </a:extLst>
          </p:cNvPr>
          <p:cNvSpPr/>
          <p:nvPr/>
        </p:nvSpPr>
        <p:spPr>
          <a:xfrm>
            <a:off x="1366981" y="2265290"/>
            <a:ext cx="386087" cy="386087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4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Red</a:t>
            </a:r>
            <a:endParaRPr kumimoji="0" lang="ko-KR" altLang="en-US" sz="1100" b="1" i="0" u="none" strike="noStrike" kern="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AD6BF55-8725-32D5-DD00-2FF41C3EAC6B}"/>
              </a:ext>
            </a:extLst>
          </p:cNvPr>
          <p:cNvSpPr/>
          <p:nvPr/>
        </p:nvSpPr>
        <p:spPr>
          <a:xfrm>
            <a:off x="1710721" y="2742840"/>
            <a:ext cx="386087" cy="386087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C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4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altLang="ko-KR" sz="1100" b="1" kern="0" spc="-50" noProof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Gold</a:t>
            </a:r>
            <a:endParaRPr kumimoji="0" lang="ko-KR" altLang="en-US" sz="1100" b="1" i="0" u="none" strike="noStrike" kern="0" cap="none" spc="-50" normalizeH="0" noProof="0" dirty="0">
              <a:ln>
                <a:noFill/>
              </a:ln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EC05EC13-18D2-554D-B631-EFE5EFA289AC}"/>
              </a:ext>
            </a:extLst>
          </p:cNvPr>
          <p:cNvSpPr/>
          <p:nvPr/>
        </p:nvSpPr>
        <p:spPr>
          <a:xfrm>
            <a:off x="1549589" y="5283790"/>
            <a:ext cx="386466" cy="386466"/>
          </a:xfrm>
          <a:prstGeom prst="ellipse">
            <a:avLst/>
          </a:prstGeom>
          <a:solidFill>
            <a:srgbClr val="91DA00">
              <a:alpha val="80392"/>
            </a:srgbClr>
          </a:solidFill>
          <a:ln w="41275">
            <a:solidFill>
              <a:srgbClr val="6699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4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altLang="ko-KR" sz="1100" b="1" kern="0" spc="-50" noProof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Green</a:t>
            </a:r>
            <a:endParaRPr kumimoji="0" lang="ko-KR" altLang="en-US" sz="1100" b="1" i="0" u="none" strike="noStrike" kern="0" cap="none" spc="-50" normalizeH="0" noProof="0" dirty="0">
              <a:ln>
                <a:noFill/>
              </a:ln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9DF09A8-84ED-A909-C1D4-437E2BB17851}"/>
              </a:ext>
            </a:extLst>
          </p:cNvPr>
          <p:cNvSpPr/>
          <p:nvPr/>
        </p:nvSpPr>
        <p:spPr>
          <a:xfrm>
            <a:off x="3594926" y="2235108"/>
            <a:ext cx="647418" cy="647418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  <a:miter lim="800000"/>
            <a:headEnd/>
            <a:tailEnd/>
          </a:ln>
          <a:effectLst>
            <a:outerShdw blurRad="38100" dist="381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4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Red</a:t>
            </a:r>
            <a:br>
              <a:rPr lang="en-US" altLang="ko-KR" sz="1100" b="1" kern="0" spc="-5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100" b="1" kern="0" spc="-5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Circle</a:t>
            </a:r>
            <a:endParaRPr kumimoji="0" lang="en-US" altLang="ko-KR" sz="1100" b="1" i="0" u="none" strike="noStrike" kern="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331E91D-1B48-0FC8-D438-23316D69E0F9}"/>
              </a:ext>
            </a:extLst>
          </p:cNvPr>
          <p:cNvSpPr/>
          <p:nvPr/>
        </p:nvSpPr>
        <p:spPr>
          <a:xfrm>
            <a:off x="3603608" y="3648125"/>
            <a:ext cx="647418" cy="647418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C000"/>
            </a:solidFill>
            <a:miter lim="800000"/>
            <a:headEnd/>
            <a:tailEnd/>
          </a:ln>
          <a:effectLst>
            <a:outerShdw blurRad="38100" dist="38100" dir="5400000" sx="90000" sy="-19000" rotWithShape="0">
              <a:schemeClr val="tx1">
                <a:alpha val="15000"/>
              </a:scheme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latinLnBrk="0">
              <a:lnSpc>
                <a:spcPct val="110000"/>
              </a:lnSpc>
              <a:spcBef>
                <a:spcPct val="40000"/>
              </a:spcBef>
              <a:buClr>
                <a:srgbClr val="000000"/>
              </a:buClr>
            </a:pPr>
            <a:r>
              <a:rPr lang="en-US" altLang="ko-KR" sz="1100" b="1" kern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Gold</a:t>
            </a:r>
            <a:br>
              <a:rPr lang="en-US" altLang="ko-KR" sz="1100" b="1" kern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100" b="1" kern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Circle</a:t>
            </a:r>
            <a:endParaRPr lang="ko-KR" altLang="en-US" sz="1100" b="1" kern="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2536F8-EF7C-C2DA-FE68-2C227AF2C44C}"/>
              </a:ext>
            </a:extLst>
          </p:cNvPr>
          <p:cNvSpPr/>
          <p:nvPr/>
        </p:nvSpPr>
        <p:spPr>
          <a:xfrm>
            <a:off x="3587330" y="5089946"/>
            <a:ext cx="647418" cy="647418"/>
          </a:xfrm>
          <a:prstGeom prst="ellipse">
            <a:avLst/>
          </a:prstGeom>
          <a:solidFill>
            <a:srgbClr val="669900">
              <a:alpha val="75000"/>
            </a:srgbClr>
          </a:solidFill>
          <a:ln w="41275">
            <a:solidFill>
              <a:srgbClr val="669900"/>
            </a:solidFill>
            <a:miter lim="800000"/>
            <a:headEnd/>
            <a:tailEnd/>
          </a:ln>
          <a:effectLst>
            <a:outerShdw blurRad="38100" dist="38100" dir="5400000" sx="90000" sy="-19000" rotWithShape="0">
              <a:schemeClr val="tx1">
                <a:alpha val="15000"/>
              </a:scheme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latinLnBrk="0">
              <a:lnSpc>
                <a:spcPct val="110000"/>
              </a:lnSpc>
              <a:spcBef>
                <a:spcPct val="40000"/>
              </a:spcBef>
              <a:buClr>
                <a:srgbClr val="000000"/>
              </a:buClr>
            </a:pPr>
            <a:r>
              <a:rPr lang="en-US" altLang="ko-KR" sz="1100" b="1" kern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Green</a:t>
            </a:r>
            <a:br>
              <a:rPr lang="en-US" altLang="ko-KR" sz="1100" b="1" kern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100" b="1" kern="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Circle</a:t>
            </a:r>
            <a:endParaRPr lang="ko-KR" altLang="en-US" sz="1100" b="1" kern="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D48E004-7C9B-B287-774E-B620B17F44E5}"/>
              </a:ext>
            </a:extLst>
          </p:cNvPr>
          <p:cNvCxnSpPr/>
          <p:nvPr/>
        </p:nvCxnSpPr>
        <p:spPr>
          <a:xfrm>
            <a:off x="273050" y="6129338"/>
            <a:ext cx="9359900" cy="0"/>
          </a:xfrm>
          <a:prstGeom prst="line">
            <a:avLst/>
          </a:prstGeom>
          <a:noFill/>
          <a:ln w="6350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BF53F0F-5CFB-5BBD-E74C-AFDA998B3BE1}"/>
              </a:ext>
            </a:extLst>
          </p:cNvPr>
          <p:cNvSpPr txBox="1"/>
          <p:nvPr/>
        </p:nvSpPr>
        <p:spPr>
          <a:xfrm>
            <a:off x="593021" y="2948829"/>
            <a:ext cx="328296" cy="174516"/>
          </a:xfrm>
          <a:prstGeom prst="roundRect">
            <a:avLst/>
          </a:prstGeom>
          <a:solidFill>
            <a:srgbClr val="595959"/>
          </a:solidFill>
          <a:ln w="28575" algn="ctr">
            <a:noFill/>
            <a:miter lim="800000"/>
            <a:headEnd/>
            <a:tailEnd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000" b="1" dirty="0">
                <a:solidFill>
                  <a:schemeClr val="bg1"/>
                </a:solidFill>
              </a:rPr>
              <a:t>초과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7595E3-02F4-59DA-E4AD-562ECE0A9DA7}"/>
              </a:ext>
            </a:extLst>
          </p:cNvPr>
          <p:cNvSpPr txBox="1"/>
          <p:nvPr/>
        </p:nvSpPr>
        <p:spPr>
          <a:xfrm>
            <a:off x="593021" y="5272096"/>
            <a:ext cx="328296" cy="174516"/>
          </a:xfrm>
          <a:prstGeom prst="roundRect">
            <a:avLst/>
          </a:prstGeom>
          <a:solidFill>
            <a:srgbClr val="595959"/>
          </a:solidFill>
          <a:ln w="28575" algn="ctr">
            <a:noFill/>
            <a:miter lim="800000"/>
            <a:headEnd/>
            <a:tailEnd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285750" marR="0" lvl="0" indent="-285750" algn="ctr" fontAlgn="auto" latinLnBrk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9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defRPr>
            </a:lvl1pPr>
          </a:lstStyle>
          <a:p>
            <a:r>
              <a:rPr lang="ko-KR" altLang="en-US" sz="1000" b="1" dirty="0">
                <a:solidFill>
                  <a:schemeClr val="bg1"/>
                </a:solidFill>
              </a:rPr>
              <a:t>미달</a:t>
            </a:r>
          </a:p>
        </p:txBody>
      </p:sp>
      <p:sp>
        <p:nvSpPr>
          <p:cNvPr id="12" name="텍스트 개체 틀 1">
            <a:extLst>
              <a:ext uri="{FF2B5EF4-FFF2-40B4-BE49-F238E27FC236}">
                <a16:creationId xmlns:a16="http://schemas.microsoft.com/office/drawing/2014/main" id="{00EF85CD-C628-533D-24A1-F8467025E1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 lvl="0"/>
            <a:r>
              <a:rPr lang="en-US" altLang="ko-KR" dirty="0"/>
              <a:t>Pay Band </a:t>
            </a:r>
            <a:r>
              <a:rPr lang="ko-KR" altLang="en-US" dirty="0"/>
              <a:t>기반 보상 운영 시</a:t>
            </a:r>
            <a:r>
              <a:rPr lang="en-US" altLang="ko-KR" dirty="0"/>
              <a:t>, </a:t>
            </a:r>
            <a:r>
              <a:rPr lang="ko-KR" altLang="en-US" dirty="0"/>
              <a:t>직원의 위치를 </a:t>
            </a:r>
            <a:r>
              <a:rPr lang="en-US" altLang="ko-KR" dirty="0" err="1"/>
              <a:t>Red·Gold·Green</a:t>
            </a:r>
            <a:r>
              <a:rPr lang="en-US" altLang="ko-KR" dirty="0"/>
              <a:t> Circle</a:t>
            </a:r>
            <a:r>
              <a:rPr lang="ko-KR" altLang="en-US" dirty="0"/>
              <a:t>로 관리하여 보상 수준의 적정성</a:t>
            </a:r>
            <a:r>
              <a:rPr lang="en-US" altLang="ko-KR" dirty="0"/>
              <a:t>·</a:t>
            </a:r>
            <a:r>
              <a:rPr lang="ko-KR" altLang="en-US" dirty="0"/>
              <a:t>공정성을 확보하고</a:t>
            </a:r>
            <a:r>
              <a:rPr lang="en-US" altLang="ko-KR" dirty="0"/>
              <a:t>, </a:t>
            </a:r>
            <a:r>
              <a:rPr lang="ko-KR" altLang="en-US" dirty="0"/>
              <a:t>초과</a:t>
            </a:r>
            <a:r>
              <a:rPr lang="en-US" altLang="ko-KR" dirty="0"/>
              <a:t>·</a:t>
            </a:r>
            <a:r>
              <a:rPr lang="ko-KR" altLang="en-US" dirty="0"/>
              <a:t>미달 인력에 대한 체계적 관리가 가능함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00E9A994-3661-69ED-38BA-FC0AC5445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임금체계 설계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093A08C0-CDBC-2493-9D23-BE44E2D04E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 err="1"/>
              <a:t>역할급</a:t>
            </a:r>
            <a:r>
              <a:rPr lang="ko-KR" altLang="en-US" dirty="0"/>
              <a:t> 설계 및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41948977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D4C7-C7FC-3C55-1145-F998E7EE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C890DE0-B75C-A076-AA2F-E951D9C391ED}"/>
              </a:ext>
            </a:extLst>
          </p:cNvPr>
          <p:cNvSpPr/>
          <p:nvPr/>
        </p:nvSpPr>
        <p:spPr>
          <a:xfrm>
            <a:off x="273600" y="3364623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4056B0-E790-E627-B128-37DDCC9B82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2913" y="1820415"/>
            <a:ext cx="7492047" cy="2401887"/>
          </a:xfrm>
        </p:spPr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/>
              <a:t>현황진단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>
                <a:solidFill>
                  <a:schemeClr val="bg1"/>
                </a:solidFill>
              </a:rPr>
              <a:t>제도설계 </a:t>
            </a:r>
            <a:r>
              <a:rPr lang="en-US" altLang="ko-KR" dirty="0">
                <a:solidFill>
                  <a:prstClr val="white"/>
                </a:solidFill>
              </a:rPr>
              <a:t>[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임금체계 재설계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ko-KR" altLang="en-US" dirty="0">
                <a:solidFill>
                  <a:prstClr val="white"/>
                </a:solidFill>
              </a:rPr>
              <a:t>평가체계 설계</a:t>
            </a:r>
            <a:r>
              <a:rPr lang="en-US" altLang="ko-KR" dirty="0">
                <a:solidFill>
                  <a:prstClr val="white"/>
                </a:solidFill>
              </a:rPr>
              <a:t>]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/>
              <a:t>변화관리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10301401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115A-A5BE-4989-DE1B-0FC4B514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66CE9C-ACE0-CA74-1189-D5E46D5BA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경영진 재량 중심의 단편적 평가 방식을 탈피하고</a:t>
            </a:r>
            <a:r>
              <a:rPr lang="en-US" altLang="ko-KR" dirty="0"/>
              <a:t>, </a:t>
            </a:r>
            <a:r>
              <a:rPr lang="ko-KR" altLang="en-US" dirty="0"/>
              <a:t>조직 성과</a:t>
            </a:r>
            <a:r>
              <a:rPr lang="en-US" altLang="ko-KR" dirty="0"/>
              <a:t>·</a:t>
            </a:r>
            <a:r>
              <a:rPr lang="ko-KR" altLang="en-US" dirty="0"/>
              <a:t>역할</a:t>
            </a:r>
            <a:r>
              <a:rPr lang="en-US" altLang="ko-KR" dirty="0"/>
              <a:t>·</a:t>
            </a:r>
            <a:r>
              <a:rPr lang="ko-KR" altLang="en-US" dirty="0"/>
              <a:t>역량을 통합적으로 반영하는 성장 피드백 중심의 평가체계를 설계하여</a:t>
            </a:r>
            <a:r>
              <a:rPr lang="en-US" altLang="ko-KR" dirty="0"/>
              <a:t>, </a:t>
            </a:r>
            <a:r>
              <a:rPr lang="ko-KR" altLang="en-US" dirty="0"/>
              <a:t>전 직원이 공정하게 평가받고 성과와 보상</a:t>
            </a:r>
            <a:r>
              <a:rPr lang="en-US" altLang="ko-KR" dirty="0"/>
              <a:t>·</a:t>
            </a:r>
            <a:r>
              <a:rPr lang="ko-KR" altLang="en-US" dirty="0"/>
              <a:t>승진</a:t>
            </a:r>
            <a:r>
              <a:rPr lang="en-US" altLang="ko-KR" dirty="0"/>
              <a:t>·</a:t>
            </a:r>
            <a:r>
              <a:rPr lang="ko-KR" altLang="en-US" dirty="0"/>
              <a:t>역량개발이 유기적으로 연계되는 체계를 구축하였음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E662841-5F31-D94B-4494-419B370A65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BE0888-75FE-E5FE-136A-64CEE9581D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제도설계 및 개선 요약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97689C8-9DB8-EC5E-3F54-CD7B7574E0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F64A3FD7-534D-8C07-2820-C437556221D0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45AB4F47-3219-1F15-224D-A718097111BB}"/>
                </a:ext>
              </a:extLst>
            </p:cNvPr>
            <p:cNvSpPr/>
            <p:nvPr userDrawn="1"/>
          </p:nvSpPr>
          <p:spPr>
            <a:xfrm>
              <a:off x="2888436" y="1626519"/>
              <a:ext cx="1200425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제도설계 및 개선 요약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31AA3A6-AF5C-4C07-C2E0-25A9B11E935D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AA595B9-0C9F-1668-7334-9E724B5B8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249971"/>
              </p:ext>
            </p:extLst>
          </p:nvPr>
        </p:nvGraphicFramePr>
        <p:xfrm>
          <a:off x="273050" y="2133600"/>
          <a:ext cx="3150933" cy="4016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8349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  <a:gridCol w="2082584">
                  <a:extLst>
                    <a:ext uri="{9D8B030D-6E8A-4147-A177-3AD203B41FA5}">
                      <a16:colId xmlns:a16="http://schemas.microsoft.com/office/drawing/2014/main" val="3095484276"/>
                    </a:ext>
                  </a:extLst>
                </a:gridCol>
              </a:tblGrid>
              <a:tr h="377060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컨설팅 요구사항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5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평가체계 설계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  <a:tr h="547661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추진배경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성과중심 아닌 재량적 운영 중심 평가체계</a:t>
                      </a:r>
                      <a:endParaRPr kumimoji="0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피드백 기반 제도 </a:t>
                      </a:r>
                      <a:r>
                        <a:rPr kumimoji="0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/>
                          <a:ea typeface="나눔바른고딕"/>
                          <a:cs typeface="+mn-cs"/>
                        </a:rPr>
                        <a:t>미구축</a:t>
                      </a:r>
                      <a:endParaRPr kumimoji="0" lang="ko-KR" altLang="en-US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849871"/>
                  </a:ext>
                </a:extLst>
              </a:tr>
              <a:tr h="664103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제도설계방향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성장 피드백 중심 평가 프로세스 도입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구성원 수용성 중심 설계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431435"/>
                  </a:ext>
                </a:extLst>
              </a:tr>
              <a:tr h="986980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과업 범위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모형 설계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요소 설계</a:t>
                      </a:r>
                      <a:endParaRPr lang="en-US" altLang="ko-KR" sz="900" u="none" strike="noStrike" kern="1200" spc="-5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72000" indent="-72000" algn="l" rtl="0" fontAlgn="ctr" latinLnBrk="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 방안 마련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02061"/>
                  </a:ext>
                </a:extLst>
              </a:tr>
              <a:tr h="471324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KPI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900" u="none" strike="noStrike" spc="-50" baseline="0" dirty="0">
                          <a:effectLst/>
                          <a:latin typeface="+mn-ea"/>
                          <a:ea typeface="+mn-ea"/>
                        </a:rPr>
                        <a:t>평가체계 도입 여부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085514"/>
                  </a:ext>
                </a:extLst>
              </a:tr>
              <a:tr h="484728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산출방식</a:t>
                      </a:r>
                      <a:endParaRPr lang="en-US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이행과제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개선과제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)*100</a:t>
                      </a:r>
                      <a:endParaRPr lang="ko-KR" altLang="en-US" sz="900" u="none" strike="noStrike" spc="-5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001859"/>
                  </a:ext>
                </a:extLst>
              </a:tr>
              <a:tr h="484728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목표</a:t>
                      </a:r>
                      <a:endParaRPr lang="en-US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900" u="none" strike="noStrike" spc="-50" baseline="0" dirty="0">
                          <a:effectLst/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900" u="none" strike="noStrike" spc="-5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305708"/>
                  </a:ext>
                </a:extLst>
              </a:tr>
            </a:tbl>
          </a:graphicData>
        </a:graphic>
      </p:graphicFrame>
      <p:pic>
        <p:nvPicPr>
          <p:cNvPr id="8" name="그림 4" descr="arrow.png">
            <a:extLst>
              <a:ext uri="{FF2B5EF4-FFF2-40B4-BE49-F238E27FC236}">
                <a16:creationId xmlns:a16="http://schemas.microsoft.com/office/drawing/2014/main" id="{EC643E5B-56F2-0C44-D7C8-4CEB8987986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24"/>
          <a:stretch/>
        </p:blipFill>
        <p:spPr bwMode="auto">
          <a:xfrm>
            <a:off x="3286424" y="2424173"/>
            <a:ext cx="741092" cy="318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0666D58-C455-406D-16EC-5F0ED3CE9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774991"/>
              </p:ext>
            </p:extLst>
          </p:nvPr>
        </p:nvGraphicFramePr>
        <p:xfrm>
          <a:off x="4114800" y="2108228"/>
          <a:ext cx="5518151" cy="4053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3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332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050" b="1" u="none" strike="noStrike" kern="12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050" b="1" u="none" strike="noStrike" kern="12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현행 제도</a:t>
                      </a:r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050" b="1" u="none" strike="noStrike" kern="12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설계안</a:t>
                      </a:r>
                      <a:endParaRPr lang="ko-KR" altLang="en-US" sz="1050" b="1" u="none" strike="noStrike" kern="12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55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제도</a:t>
                      </a:r>
                      <a:endParaRPr lang="ko-KR" altLang="en-US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ko-KR" altLang="en-US" sz="11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경영진 재량</a:t>
                      </a:r>
                      <a:endParaRPr lang="ko-KR" altLang="en-US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 성과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역량 통합 평가체계 설계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32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적용대상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직원</a:t>
                      </a:r>
                      <a:endParaRPr lang="ko-KR" altLang="en-US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직원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61234"/>
                  </a:ext>
                </a:extLst>
              </a:tr>
              <a:tr h="580089"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운영방식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vert="eaVert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평가방식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목표관리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(MBO) +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역량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 혼합 방식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평가권</a:t>
                      </a:r>
                      <a:endParaRPr lang="ko-KR" altLang="en-US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평가자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직상위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조직장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평가점수 및 등급 부여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평가자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차상위 </a:t>
                      </a:r>
                      <a:r>
                        <a:rPr lang="ko-KR" altLang="en-US" sz="1100" b="0" kern="1200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조직장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평가등급 조정 및 확정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911319"/>
                  </a:ext>
                </a:extLst>
              </a:tr>
              <a:tr h="3816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평가횟수</a:t>
                      </a:r>
                      <a:br>
                        <a:rPr lang="en-US" altLang="ko-KR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시기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 </a:t>
                      </a:r>
                      <a:r>
                        <a:rPr lang="en-US" altLang="ko-KR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 평가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반기별 업적 및 역량 동시 평가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744745"/>
                  </a:ext>
                </a:extLst>
              </a:tr>
              <a:tr h="5539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평가그룹</a:t>
                      </a:r>
                      <a:endParaRPr lang="ko-KR" altLang="en-US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반기별로 본인이 속한 부서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023019"/>
                  </a:ext>
                </a:extLst>
              </a:tr>
              <a:tr h="38165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평가결과 활용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조기승진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임금 인상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상반기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50% :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하반기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50%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으로 합산하여 도출한 최종 절대평가 등급에 따라 기본연봉 인상 실시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327777"/>
                  </a:ext>
                </a:extLst>
              </a:tr>
              <a:tr h="379381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산출물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성과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역량 평가표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평가체계 운영 및 관리 방안</a:t>
                      </a: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052501"/>
                  </a:ext>
                </a:extLst>
              </a:tr>
              <a:tr h="209332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ko-KR" altLang="en-US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정부지원사업연계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latinLnBrk="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1100" b="0" kern="12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104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93358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6605-175F-580D-5EE6-ACC36DF9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25EAC3-DB38-72F2-DB43-EC37429F71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1">
            <a:extLst>
              <a:ext uri="{FF2B5EF4-FFF2-40B4-BE49-F238E27FC236}">
                <a16:creationId xmlns:a16="http://schemas.microsoft.com/office/drawing/2014/main" id="{60EA455D-E995-37A8-3050-0F0868BC27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베이시스소프트에</a:t>
            </a:r>
            <a:r>
              <a:rPr lang="ko-KR" altLang="en-US" dirty="0"/>
              <a:t> 적합한 평가체계를 구축하기 위해 임금체계와 연계된 평가 모형을 설계하고</a:t>
            </a:r>
            <a:r>
              <a:rPr lang="en-US" altLang="ko-KR" dirty="0"/>
              <a:t>, </a:t>
            </a:r>
            <a:r>
              <a:rPr lang="ko-KR" altLang="en-US" dirty="0"/>
              <a:t>평가 요소를 정의하며</a:t>
            </a:r>
            <a:r>
              <a:rPr lang="en-US" altLang="ko-KR" dirty="0"/>
              <a:t>, </a:t>
            </a:r>
            <a:r>
              <a:rPr lang="ko-KR" altLang="en-US" dirty="0"/>
              <a:t>운영 방안을 설계하여</a:t>
            </a:r>
            <a:r>
              <a:rPr lang="en-US" altLang="ko-KR" dirty="0"/>
              <a:t> </a:t>
            </a:r>
            <a:r>
              <a:rPr lang="ko-KR" altLang="en-US" dirty="0"/>
              <a:t>현업에 바로 적용 및 활용할 수 있도록 컨설팅을 수행하였음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5" name="텍스트 개체 틀 5">
            <a:extLst>
              <a:ext uri="{FF2B5EF4-FFF2-40B4-BE49-F238E27FC236}">
                <a16:creationId xmlns:a16="http://schemas.microsoft.com/office/drawing/2014/main" id="{BBB0167A-7AB9-FAF1-0E34-2015CED24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08095" y="389512"/>
            <a:ext cx="3824855" cy="324327"/>
          </a:xfrm>
        </p:spPr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36" name="텍스트 개체 틀 3">
            <a:extLst>
              <a:ext uri="{FF2B5EF4-FFF2-40B4-BE49-F238E27FC236}">
                <a16:creationId xmlns:a16="http://schemas.microsoft.com/office/drawing/2014/main" id="{4B0AB08A-43E4-894B-5540-470862469D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3050" y="389512"/>
            <a:ext cx="5490040" cy="324327"/>
          </a:xfrm>
        </p:spPr>
        <p:txBody>
          <a:bodyPr/>
          <a:lstStyle/>
          <a:p>
            <a:r>
              <a:rPr lang="ko-KR" altLang="en-US" dirty="0"/>
              <a:t>제도설계 프로세스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FEF2CA3-6BE3-1D88-8A5C-CFDDC35B789E}"/>
              </a:ext>
            </a:extLst>
          </p:cNvPr>
          <p:cNvGrpSpPr/>
          <p:nvPr/>
        </p:nvGrpSpPr>
        <p:grpSpPr>
          <a:xfrm>
            <a:off x="273049" y="1654446"/>
            <a:ext cx="9359899" cy="300521"/>
            <a:chOff x="488950" y="1868339"/>
            <a:chExt cx="8928100" cy="300521"/>
          </a:xfrm>
        </p:grpSpPr>
        <p:cxnSp>
          <p:nvCxnSpPr>
            <p:cNvPr id="38" name="직선 연결선 8">
              <a:extLst>
                <a:ext uri="{FF2B5EF4-FFF2-40B4-BE49-F238E27FC236}">
                  <a16:creationId xmlns:a16="http://schemas.microsoft.com/office/drawing/2014/main" id="{24EC00B1-B78B-FD30-84DF-3569A9AF7DC6}"/>
                </a:ext>
              </a:extLst>
            </p:cNvPr>
            <p:cNvCxnSpPr/>
            <p:nvPr/>
          </p:nvCxnSpPr>
          <p:spPr>
            <a:xfrm>
              <a:off x="488950" y="2168860"/>
              <a:ext cx="89281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36B3CC9-4777-F339-1C32-4CACE431267B}"/>
                </a:ext>
              </a:extLst>
            </p:cNvPr>
            <p:cNvSpPr/>
            <p:nvPr/>
          </p:nvSpPr>
          <p:spPr>
            <a:xfrm>
              <a:off x="488950" y="1868339"/>
              <a:ext cx="8928099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1588" marR="0" lvl="1" indent="0" algn="ctr" defTabSz="712788" rtl="0" eaLnBrk="1" fontAlgn="auto" latinLnBrk="0" hangingPunct="1">
                <a:lnSpc>
                  <a:spcPct val="110000"/>
                </a:lnSpc>
                <a:spcBef>
                  <a:spcPts val="3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평가체계 설계 프로세스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793F1B2-1827-2397-1D85-3B4ACA579256}"/>
              </a:ext>
            </a:extLst>
          </p:cNvPr>
          <p:cNvSpPr txBox="1"/>
          <p:nvPr/>
        </p:nvSpPr>
        <p:spPr>
          <a:xfrm>
            <a:off x="292288" y="3079760"/>
            <a:ext cx="2709026" cy="118226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171450" lvl="0" indent="-171450">
              <a:buFont typeface="Wingdings" panose="05000000000000000000" pitchFamily="2" charset="2"/>
              <a:buChar char="ü"/>
              <a:defRPr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ko-KR" dirty="0"/>
              <a:t>평가 </a:t>
            </a:r>
            <a:r>
              <a:rPr lang="ko-KR" altLang="en-US" dirty="0"/>
              <a:t>모형</a:t>
            </a:r>
            <a:r>
              <a:rPr lang="ko-KR" altLang="ko-KR" dirty="0"/>
              <a:t> </a:t>
            </a:r>
            <a:r>
              <a:rPr lang="ko-KR" altLang="en-US" dirty="0"/>
              <a:t>설계</a:t>
            </a:r>
            <a:r>
              <a:rPr lang="ko-KR" altLang="ko-KR" dirty="0"/>
              <a:t> (성과 중심, 역량 강화, 보상 연계 등)</a:t>
            </a:r>
          </a:p>
          <a:p>
            <a:r>
              <a:rPr lang="ko-KR" altLang="ko-KR" dirty="0"/>
              <a:t>평가 대상 및 범위 정의 (전사/</a:t>
            </a:r>
            <a:r>
              <a:rPr lang="ko-KR" altLang="ko-KR" dirty="0" err="1"/>
              <a:t>직군별</a:t>
            </a:r>
            <a:r>
              <a:rPr lang="ko-KR" altLang="ko-KR" dirty="0"/>
              <a:t>/직무별)</a:t>
            </a:r>
          </a:p>
          <a:p>
            <a:r>
              <a:rPr lang="ko-KR" altLang="ko-KR" dirty="0"/>
              <a:t>평가 방식 결정 (다면 평가, 목표관리 등)</a:t>
            </a:r>
          </a:p>
          <a:p>
            <a:r>
              <a:rPr lang="ko-KR" altLang="ko-KR" dirty="0"/>
              <a:t>평가 등급 체계 설계 (예: S-A-B-C-D, 5등급 체계)</a:t>
            </a:r>
          </a:p>
        </p:txBody>
      </p:sp>
      <p:sp>
        <p:nvSpPr>
          <p:cNvPr id="41" name="모서리가 둥근 직사각형 23">
            <a:extLst>
              <a:ext uri="{FF2B5EF4-FFF2-40B4-BE49-F238E27FC236}">
                <a16:creationId xmlns:a16="http://schemas.microsoft.com/office/drawing/2014/main" id="{17DD4D80-50D2-586E-40CD-55D07F0B9483}"/>
              </a:ext>
            </a:extLst>
          </p:cNvPr>
          <p:cNvSpPr/>
          <p:nvPr/>
        </p:nvSpPr>
        <p:spPr>
          <a:xfrm>
            <a:off x="311525" y="2739049"/>
            <a:ext cx="2709026" cy="295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주요 추진 내용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69EE4B-6214-379C-0DD7-7FB3D8A1F697}"/>
              </a:ext>
            </a:extLst>
          </p:cNvPr>
          <p:cNvSpPr txBox="1"/>
          <p:nvPr/>
        </p:nvSpPr>
        <p:spPr>
          <a:xfrm>
            <a:off x="273050" y="4725160"/>
            <a:ext cx="2709026" cy="32801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인사담당자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근로자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컨설턴트</a:t>
            </a:r>
          </a:p>
        </p:txBody>
      </p:sp>
      <p:sp>
        <p:nvSpPr>
          <p:cNvPr id="43" name="모서리가 둥근 직사각형 25">
            <a:extLst>
              <a:ext uri="{FF2B5EF4-FFF2-40B4-BE49-F238E27FC236}">
                <a16:creationId xmlns:a16="http://schemas.microsoft.com/office/drawing/2014/main" id="{672AD81B-D974-0938-77B6-7753E0B26325}"/>
              </a:ext>
            </a:extLst>
          </p:cNvPr>
          <p:cNvSpPr/>
          <p:nvPr/>
        </p:nvSpPr>
        <p:spPr>
          <a:xfrm>
            <a:off x="292288" y="4384448"/>
            <a:ext cx="2709026" cy="2950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참여자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CA484E-47F1-4042-8D9C-17B079EE5425}"/>
              </a:ext>
            </a:extLst>
          </p:cNvPr>
          <p:cNvSpPr txBox="1"/>
          <p:nvPr/>
        </p:nvSpPr>
        <p:spPr>
          <a:xfrm>
            <a:off x="292288" y="5550426"/>
            <a:ext cx="2709026" cy="66749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ko-KR" dirty="0"/>
              <a:t>평가 모형 </a:t>
            </a:r>
            <a:r>
              <a:rPr lang="ko-KR" altLang="ko-KR" dirty="0" err="1"/>
              <a:t>설계안</a:t>
            </a:r>
            <a:r>
              <a:rPr lang="ko-KR" altLang="ko-KR" dirty="0"/>
              <a:t> (</a:t>
            </a:r>
            <a:r>
              <a:rPr lang="ko-KR" altLang="ko-KR" dirty="0" err="1"/>
              <a:t>Framework</a:t>
            </a:r>
            <a:r>
              <a:rPr lang="ko-KR" altLang="ko-KR" dirty="0"/>
              <a:t>)</a:t>
            </a:r>
          </a:p>
          <a:p>
            <a:r>
              <a:rPr lang="ko-KR" altLang="ko-KR" dirty="0"/>
              <a:t>평가 등급 기준표 (예: 등급별 정의, 분포 비율)</a:t>
            </a:r>
          </a:p>
        </p:txBody>
      </p:sp>
      <p:sp>
        <p:nvSpPr>
          <p:cNvPr id="45" name="모서리가 둥근 직사각형 30">
            <a:extLst>
              <a:ext uri="{FF2B5EF4-FFF2-40B4-BE49-F238E27FC236}">
                <a16:creationId xmlns:a16="http://schemas.microsoft.com/office/drawing/2014/main" id="{73F84E2C-B488-2367-5865-0B0BBB2EBCC0}"/>
              </a:ext>
            </a:extLst>
          </p:cNvPr>
          <p:cNvSpPr/>
          <p:nvPr/>
        </p:nvSpPr>
        <p:spPr>
          <a:xfrm>
            <a:off x="311525" y="5209715"/>
            <a:ext cx="2709026" cy="29504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산출물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8387F1-3D42-C8EB-8A17-4D777D37DF05}"/>
              </a:ext>
            </a:extLst>
          </p:cNvPr>
          <p:cNvSpPr txBox="1"/>
          <p:nvPr/>
        </p:nvSpPr>
        <p:spPr>
          <a:xfrm>
            <a:off x="3494170" y="3085449"/>
            <a:ext cx="2709026" cy="118226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171450" lvl="0" indent="-171450">
              <a:buFont typeface="Wingdings" panose="05000000000000000000" pitchFamily="2" charset="2"/>
              <a:buChar char="ü"/>
              <a:defRPr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ko-KR" dirty="0"/>
              <a:t>성과 평가 요소 정의 (KPI 달성도, 프로젝트 결과, 재무/</a:t>
            </a:r>
            <a:r>
              <a:rPr lang="ko-KR" altLang="ko-KR" dirty="0" err="1"/>
              <a:t>비재무</a:t>
            </a:r>
            <a:r>
              <a:rPr lang="ko-KR" altLang="ko-KR" dirty="0"/>
              <a:t> 성과 등)</a:t>
            </a:r>
          </a:p>
          <a:p>
            <a:r>
              <a:rPr lang="ko-KR" altLang="en-US" dirty="0"/>
              <a:t>역할 및 역량 </a:t>
            </a:r>
            <a:r>
              <a:rPr lang="ko-KR" altLang="ko-KR" dirty="0"/>
              <a:t>평가 요소 정의 (</a:t>
            </a:r>
            <a:r>
              <a:rPr lang="ko-KR" altLang="en-US" dirty="0"/>
              <a:t>역할 평가 요소</a:t>
            </a:r>
            <a:r>
              <a:rPr lang="en-US" altLang="ko-KR" dirty="0"/>
              <a:t>, </a:t>
            </a:r>
            <a:r>
              <a:rPr lang="ko-KR" altLang="en-US" dirty="0"/>
              <a:t>역량 평가 요소</a:t>
            </a:r>
            <a:r>
              <a:rPr lang="ko-KR" altLang="ko-KR" dirty="0"/>
              <a:t>)</a:t>
            </a:r>
          </a:p>
          <a:p>
            <a:r>
              <a:rPr lang="ko-KR" altLang="ko-KR" dirty="0"/>
              <a:t>직급/직무별 가중치 차등 설계</a:t>
            </a:r>
          </a:p>
        </p:txBody>
      </p:sp>
      <p:sp>
        <p:nvSpPr>
          <p:cNvPr id="47" name="모서리가 둥근 직사각형 32">
            <a:extLst>
              <a:ext uri="{FF2B5EF4-FFF2-40B4-BE49-F238E27FC236}">
                <a16:creationId xmlns:a16="http://schemas.microsoft.com/office/drawing/2014/main" id="{D3097BB1-4D0D-A262-8A91-7DF2BD608C6F}"/>
              </a:ext>
            </a:extLst>
          </p:cNvPr>
          <p:cNvSpPr/>
          <p:nvPr/>
        </p:nvSpPr>
        <p:spPr>
          <a:xfrm>
            <a:off x="3513408" y="2744738"/>
            <a:ext cx="2709026" cy="295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주요 추진 내용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D13739-8CDB-72F6-CA2B-DDC59BB63AEB}"/>
              </a:ext>
            </a:extLst>
          </p:cNvPr>
          <p:cNvSpPr txBox="1"/>
          <p:nvPr/>
        </p:nvSpPr>
        <p:spPr>
          <a:xfrm>
            <a:off x="3474932" y="4730849"/>
            <a:ext cx="2709026" cy="32801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경영진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인사담당자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lang="ko-KR" altLang="en-US" sz="9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컨설턴트</a:t>
            </a:r>
          </a:p>
        </p:txBody>
      </p:sp>
      <p:sp>
        <p:nvSpPr>
          <p:cNvPr id="49" name="모서리가 둥근 직사각형 34">
            <a:extLst>
              <a:ext uri="{FF2B5EF4-FFF2-40B4-BE49-F238E27FC236}">
                <a16:creationId xmlns:a16="http://schemas.microsoft.com/office/drawing/2014/main" id="{C8B6D317-18F8-4B11-B746-ECC66D197950}"/>
              </a:ext>
            </a:extLst>
          </p:cNvPr>
          <p:cNvSpPr/>
          <p:nvPr/>
        </p:nvSpPr>
        <p:spPr>
          <a:xfrm>
            <a:off x="3494170" y="4390137"/>
            <a:ext cx="2709026" cy="2950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참여자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F59A82-A1A6-912F-B27D-B15A6DF23B9C}"/>
              </a:ext>
            </a:extLst>
          </p:cNvPr>
          <p:cNvSpPr txBox="1"/>
          <p:nvPr/>
        </p:nvSpPr>
        <p:spPr>
          <a:xfrm>
            <a:off x="3494170" y="5556115"/>
            <a:ext cx="2709026" cy="66749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171450" lvl="0" indent="-171450">
              <a:buFont typeface="Wingdings" panose="05000000000000000000" pitchFamily="2" charset="2"/>
              <a:buChar char="ü"/>
              <a:defRPr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ko-KR" dirty="0"/>
              <a:t>성과평가 지표 </a:t>
            </a:r>
            <a:r>
              <a:rPr lang="ko-KR" altLang="ko-KR" dirty="0" err="1"/>
              <a:t>Pool</a:t>
            </a:r>
            <a:r>
              <a:rPr lang="ko-KR" altLang="ko-KR" dirty="0"/>
              <a:t> (직무/부서별 KPI 샘플)</a:t>
            </a:r>
          </a:p>
          <a:p>
            <a:r>
              <a:rPr lang="ko-KR" altLang="ko-KR" dirty="0"/>
              <a:t>역량평가 매트릭스 (역량 정의 + 행동지표)</a:t>
            </a:r>
          </a:p>
          <a:p>
            <a:r>
              <a:rPr lang="ko-KR" altLang="ko-KR" dirty="0"/>
              <a:t>가중치 </a:t>
            </a:r>
            <a:r>
              <a:rPr lang="ko-KR" altLang="ko-KR" dirty="0" err="1"/>
              <a:t>설계표</a:t>
            </a:r>
            <a:r>
              <a:rPr lang="ko-KR" altLang="ko-KR" dirty="0"/>
              <a:t> (</a:t>
            </a:r>
            <a:r>
              <a:rPr lang="ko-KR" altLang="ko-KR" dirty="0" err="1"/>
              <a:t>직군·직급별</a:t>
            </a:r>
            <a:r>
              <a:rPr lang="ko-KR" altLang="ko-KR" dirty="0"/>
              <a:t> 반영 비율)</a:t>
            </a:r>
          </a:p>
        </p:txBody>
      </p:sp>
      <p:sp>
        <p:nvSpPr>
          <p:cNvPr id="51" name="모서리가 둥근 직사각형 52">
            <a:extLst>
              <a:ext uri="{FF2B5EF4-FFF2-40B4-BE49-F238E27FC236}">
                <a16:creationId xmlns:a16="http://schemas.microsoft.com/office/drawing/2014/main" id="{11AE9180-3523-FFF4-8348-DD13AABC13FC}"/>
              </a:ext>
            </a:extLst>
          </p:cNvPr>
          <p:cNvSpPr/>
          <p:nvPr/>
        </p:nvSpPr>
        <p:spPr>
          <a:xfrm>
            <a:off x="3513408" y="5215404"/>
            <a:ext cx="2709026" cy="29504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산출물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E48A9D-58DE-ADA0-C46E-F383C7D7ADA1}"/>
              </a:ext>
            </a:extLst>
          </p:cNvPr>
          <p:cNvSpPr txBox="1"/>
          <p:nvPr/>
        </p:nvSpPr>
        <p:spPr>
          <a:xfrm>
            <a:off x="6678736" y="3079760"/>
            <a:ext cx="2709026" cy="1182261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171450" lvl="0" indent="-171450">
              <a:buFont typeface="Wingdings" panose="05000000000000000000" pitchFamily="2" charset="2"/>
              <a:buChar char="ü"/>
              <a:defRPr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ko-KR" dirty="0"/>
              <a:t>평가 주기 설정 (연 1회, 반기별, 분기별 등)</a:t>
            </a:r>
          </a:p>
          <a:p>
            <a:r>
              <a:rPr lang="ko-KR" altLang="ko-KR" dirty="0"/>
              <a:t>평가 절차 수립 (목표 설정 → 중간 점검 → 평가 실시 → 결과 피드백)</a:t>
            </a:r>
          </a:p>
          <a:p>
            <a:r>
              <a:rPr lang="ko-KR" altLang="ko-KR" dirty="0"/>
              <a:t>평가자 교육 및 가이드라인 제공 → </a:t>
            </a:r>
            <a:r>
              <a:rPr lang="ko-KR" altLang="ko-KR" dirty="0" err="1"/>
              <a:t>공정성·일관성</a:t>
            </a:r>
            <a:r>
              <a:rPr lang="ko-KR" altLang="ko-KR" dirty="0"/>
              <a:t> 확보</a:t>
            </a:r>
          </a:p>
          <a:p>
            <a:r>
              <a:rPr lang="ko-KR" altLang="ko-KR" dirty="0"/>
              <a:t>평가 결과의 활용 방안 설계</a:t>
            </a:r>
          </a:p>
        </p:txBody>
      </p:sp>
      <p:sp>
        <p:nvSpPr>
          <p:cNvPr id="53" name="모서리가 둥근 직사각형 54">
            <a:extLst>
              <a:ext uri="{FF2B5EF4-FFF2-40B4-BE49-F238E27FC236}">
                <a16:creationId xmlns:a16="http://schemas.microsoft.com/office/drawing/2014/main" id="{78A3C6F4-0665-8C5F-4E28-3FE219570D04}"/>
              </a:ext>
            </a:extLst>
          </p:cNvPr>
          <p:cNvSpPr/>
          <p:nvPr/>
        </p:nvSpPr>
        <p:spPr>
          <a:xfrm>
            <a:off x="6697974" y="2739049"/>
            <a:ext cx="2709026" cy="295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주요 추진 내용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FFFB53-DC49-97B8-FE57-934BF6D2EFF1}"/>
              </a:ext>
            </a:extLst>
          </p:cNvPr>
          <p:cNvSpPr txBox="1"/>
          <p:nvPr/>
        </p:nvSpPr>
        <p:spPr>
          <a:xfrm>
            <a:off x="6659499" y="4725160"/>
            <a:ext cx="2709026" cy="328012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경영진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인사담당자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컨설턴트</a:t>
            </a:r>
          </a:p>
        </p:txBody>
      </p:sp>
      <p:sp>
        <p:nvSpPr>
          <p:cNvPr id="55" name="모서리가 둥근 직사각형 56">
            <a:extLst>
              <a:ext uri="{FF2B5EF4-FFF2-40B4-BE49-F238E27FC236}">
                <a16:creationId xmlns:a16="http://schemas.microsoft.com/office/drawing/2014/main" id="{9BAEB8ED-7431-C365-864E-EC2DC2D00660}"/>
              </a:ext>
            </a:extLst>
          </p:cNvPr>
          <p:cNvSpPr/>
          <p:nvPr/>
        </p:nvSpPr>
        <p:spPr>
          <a:xfrm>
            <a:off x="6678736" y="4384448"/>
            <a:ext cx="2709026" cy="2950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참여자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EDD122-7B99-A4D3-B341-8A26E58DD717}"/>
              </a:ext>
            </a:extLst>
          </p:cNvPr>
          <p:cNvSpPr txBox="1"/>
          <p:nvPr/>
        </p:nvSpPr>
        <p:spPr>
          <a:xfrm>
            <a:off x="6678736" y="5550426"/>
            <a:ext cx="2709026" cy="667493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171450" lvl="0" indent="-171450">
              <a:buFont typeface="Wingdings" panose="05000000000000000000" pitchFamily="2" charset="2"/>
              <a:buChar char="ü"/>
              <a:defRPr sz="9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연간 평가 운영 프로세스</a:t>
            </a:r>
            <a:r>
              <a:rPr lang="en-US" altLang="ko-KR" dirty="0"/>
              <a:t>(Flow Chart)</a:t>
            </a:r>
          </a:p>
        </p:txBody>
      </p:sp>
      <p:sp>
        <p:nvSpPr>
          <p:cNvPr id="57" name="모서리가 둥근 직사각형 58">
            <a:extLst>
              <a:ext uri="{FF2B5EF4-FFF2-40B4-BE49-F238E27FC236}">
                <a16:creationId xmlns:a16="http://schemas.microsoft.com/office/drawing/2014/main" id="{2671C449-64A6-478A-6EF4-7EAD6697220B}"/>
              </a:ext>
            </a:extLst>
          </p:cNvPr>
          <p:cNvSpPr/>
          <p:nvPr/>
        </p:nvSpPr>
        <p:spPr>
          <a:xfrm>
            <a:off x="6697974" y="5209715"/>
            <a:ext cx="2709026" cy="29504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kumimoji="1" lang="ko-KR" altLang="en-US" sz="1050" dirty="0">
                <a:solidFill>
                  <a:schemeClr val="tx2">
                    <a:lumMod val="50000"/>
                  </a:schemeClr>
                </a:solidFill>
              </a:rPr>
              <a:t>산출물</a:t>
            </a:r>
          </a:p>
        </p:txBody>
      </p:sp>
      <p:sp>
        <p:nvSpPr>
          <p:cNvPr id="58" name="오각형[P] 60">
            <a:extLst>
              <a:ext uri="{FF2B5EF4-FFF2-40B4-BE49-F238E27FC236}">
                <a16:creationId xmlns:a16="http://schemas.microsoft.com/office/drawing/2014/main" id="{3D5CA65B-CCE4-FD8D-E419-494E7199E8D6}"/>
              </a:ext>
            </a:extLst>
          </p:cNvPr>
          <p:cNvSpPr/>
          <p:nvPr/>
        </p:nvSpPr>
        <p:spPr>
          <a:xfrm>
            <a:off x="324492" y="2053952"/>
            <a:ext cx="2960354" cy="593647"/>
          </a:xfrm>
          <a:prstGeom prst="homePlate">
            <a:avLst>
              <a:gd name="adj" fmla="val 32837"/>
            </a:avLst>
          </a:prstGeom>
          <a:solidFill>
            <a:schemeClr val="tx2">
              <a:lumMod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kumimoji="1"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59" name="자유형 61">
            <a:extLst>
              <a:ext uri="{FF2B5EF4-FFF2-40B4-BE49-F238E27FC236}">
                <a16:creationId xmlns:a16="http://schemas.microsoft.com/office/drawing/2014/main" id="{516F60D4-2471-7787-B922-2AA47C7D7F36}"/>
              </a:ext>
            </a:extLst>
          </p:cNvPr>
          <p:cNvSpPr/>
          <p:nvPr/>
        </p:nvSpPr>
        <p:spPr>
          <a:xfrm>
            <a:off x="324492" y="2047190"/>
            <a:ext cx="2876014" cy="204773"/>
          </a:xfrm>
          <a:custGeom>
            <a:avLst/>
            <a:gdLst>
              <a:gd name="connsiteX0" fmla="*/ 0 w 2508725"/>
              <a:gd name="connsiteY0" fmla="*/ 0 h 315415"/>
              <a:gd name="connsiteX1" fmla="*/ 2337044 w 2508725"/>
              <a:gd name="connsiteY1" fmla="*/ 0 h 315415"/>
              <a:gd name="connsiteX2" fmla="*/ 2508725 w 2508725"/>
              <a:gd name="connsiteY2" fmla="*/ 315415 h 315415"/>
              <a:gd name="connsiteX3" fmla="*/ 0 w 2508725"/>
              <a:gd name="connsiteY3" fmla="*/ 315415 h 31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8725" h="315415">
                <a:moveTo>
                  <a:pt x="0" y="0"/>
                </a:moveTo>
                <a:lnTo>
                  <a:pt x="2337044" y="0"/>
                </a:lnTo>
                <a:lnTo>
                  <a:pt x="2508725" y="315415"/>
                </a:lnTo>
                <a:lnTo>
                  <a:pt x="0" y="315415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 sz="1050" dirty="0">
              <a:solidFill>
                <a:schemeClr val="bg1"/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8C290450-8914-6F98-F2B3-124DDA88C154}"/>
              </a:ext>
            </a:extLst>
          </p:cNvPr>
          <p:cNvGrpSpPr/>
          <p:nvPr/>
        </p:nvGrpSpPr>
        <p:grpSpPr>
          <a:xfrm>
            <a:off x="324492" y="2053951"/>
            <a:ext cx="2960354" cy="593648"/>
            <a:chOff x="764109" y="2053951"/>
            <a:chExt cx="2087593" cy="593648"/>
          </a:xfrm>
        </p:grpSpPr>
        <p:sp>
          <p:nvSpPr>
            <p:cNvPr id="61" name="오각형[P] 62">
              <a:extLst>
                <a:ext uri="{FF2B5EF4-FFF2-40B4-BE49-F238E27FC236}">
                  <a16:creationId xmlns:a16="http://schemas.microsoft.com/office/drawing/2014/main" id="{6E73723B-DB99-F08B-00BF-85043E37922B}"/>
                </a:ext>
              </a:extLst>
            </p:cNvPr>
            <p:cNvSpPr/>
            <p:nvPr/>
          </p:nvSpPr>
          <p:spPr>
            <a:xfrm>
              <a:off x="764109" y="2053952"/>
              <a:ext cx="2087593" cy="593647"/>
            </a:xfrm>
            <a:prstGeom prst="homePlate">
              <a:avLst>
                <a:gd name="adj" fmla="val 33961"/>
              </a:avLst>
            </a:prstGeom>
            <a:solidFill>
              <a:schemeClr val="tx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en-US" altLang="ko-KR" sz="14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kumimoji="1" lang="ko-KR" altLang="en-US" sz="1400" b="1" dirty="0">
                  <a:solidFill>
                    <a:schemeClr val="bg1"/>
                  </a:solidFill>
                  <a:latin typeface="+mn-ea"/>
                </a:rPr>
                <a:t>평가 모형 설계</a:t>
              </a:r>
            </a:p>
          </p:txBody>
        </p:sp>
        <p:sp>
          <p:nvSpPr>
            <p:cNvPr id="62" name="자유형 63">
              <a:extLst>
                <a:ext uri="{FF2B5EF4-FFF2-40B4-BE49-F238E27FC236}">
                  <a16:creationId xmlns:a16="http://schemas.microsoft.com/office/drawing/2014/main" id="{17F7A2B4-86F4-7D27-7328-DCAEE1B7AAA0}"/>
                </a:ext>
              </a:extLst>
            </p:cNvPr>
            <p:cNvSpPr/>
            <p:nvPr/>
          </p:nvSpPr>
          <p:spPr>
            <a:xfrm>
              <a:off x="764109" y="2053951"/>
              <a:ext cx="2025291" cy="204774"/>
            </a:xfrm>
            <a:custGeom>
              <a:avLst/>
              <a:gdLst>
                <a:gd name="connsiteX0" fmla="*/ 0 w 2508725"/>
                <a:gd name="connsiteY0" fmla="*/ 0 h 315415"/>
                <a:gd name="connsiteX1" fmla="*/ 2337044 w 2508725"/>
                <a:gd name="connsiteY1" fmla="*/ 0 h 315415"/>
                <a:gd name="connsiteX2" fmla="*/ 2508725 w 2508725"/>
                <a:gd name="connsiteY2" fmla="*/ 315415 h 315415"/>
                <a:gd name="connsiteX3" fmla="*/ 0 w 2508725"/>
                <a:gd name="connsiteY3" fmla="*/ 315415 h 31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725" h="315415">
                  <a:moveTo>
                    <a:pt x="0" y="0"/>
                  </a:moveTo>
                  <a:lnTo>
                    <a:pt x="2337044" y="0"/>
                  </a:lnTo>
                  <a:lnTo>
                    <a:pt x="2508725" y="315415"/>
                  </a:lnTo>
                  <a:lnTo>
                    <a:pt x="0" y="315415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en-US" altLang="ko-KR" sz="1050" b="1" dirty="0">
                  <a:solidFill>
                    <a:schemeClr val="tx2">
                      <a:lumMod val="50000"/>
                    </a:schemeClr>
                  </a:solidFill>
                </a:rPr>
                <a:t>Step 1</a:t>
              </a:r>
              <a:endParaRPr kumimoji="1" lang="ko-KR" altLang="en-US" sz="105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48C638AF-5EE2-ED8F-F09D-7340003A8794}"/>
              </a:ext>
            </a:extLst>
          </p:cNvPr>
          <p:cNvGrpSpPr/>
          <p:nvPr/>
        </p:nvGrpSpPr>
        <p:grpSpPr>
          <a:xfrm>
            <a:off x="3488030" y="2070467"/>
            <a:ext cx="2960354" cy="593648"/>
            <a:chOff x="764109" y="2053951"/>
            <a:chExt cx="2087593" cy="593648"/>
          </a:xfrm>
        </p:grpSpPr>
        <p:sp>
          <p:nvSpPr>
            <p:cNvPr id="70" name="오각형[P] 87">
              <a:extLst>
                <a:ext uri="{FF2B5EF4-FFF2-40B4-BE49-F238E27FC236}">
                  <a16:creationId xmlns:a16="http://schemas.microsoft.com/office/drawing/2014/main" id="{49C7FC44-A400-341B-716B-CEBDB0945B15}"/>
                </a:ext>
              </a:extLst>
            </p:cNvPr>
            <p:cNvSpPr/>
            <p:nvPr/>
          </p:nvSpPr>
          <p:spPr>
            <a:xfrm>
              <a:off x="764109" y="2053952"/>
              <a:ext cx="2087593" cy="593647"/>
            </a:xfrm>
            <a:prstGeom prst="homePlate">
              <a:avLst>
                <a:gd name="adj" fmla="val 33961"/>
              </a:avLst>
            </a:prstGeom>
            <a:solidFill>
              <a:schemeClr val="tx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en-US" altLang="ko-KR" sz="14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kumimoji="1" lang="ko-KR" altLang="en-US" sz="1400" b="1" dirty="0">
                  <a:solidFill>
                    <a:schemeClr val="bg1"/>
                  </a:solidFill>
                  <a:latin typeface="+mn-ea"/>
                </a:rPr>
                <a:t>평가 요소 설계</a:t>
              </a:r>
            </a:p>
          </p:txBody>
        </p:sp>
        <p:sp>
          <p:nvSpPr>
            <p:cNvPr id="71" name="자유형 88">
              <a:extLst>
                <a:ext uri="{FF2B5EF4-FFF2-40B4-BE49-F238E27FC236}">
                  <a16:creationId xmlns:a16="http://schemas.microsoft.com/office/drawing/2014/main" id="{D00A8EF0-35BA-37CF-16EF-4D94CE5D09D9}"/>
                </a:ext>
              </a:extLst>
            </p:cNvPr>
            <p:cNvSpPr/>
            <p:nvPr/>
          </p:nvSpPr>
          <p:spPr>
            <a:xfrm>
              <a:off x="764109" y="2053951"/>
              <a:ext cx="2025291" cy="204774"/>
            </a:xfrm>
            <a:custGeom>
              <a:avLst/>
              <a:gdLst>
                <a:gd name="connsiteX0" fmla="*/ 0 w 2508725"/>
                <a:gd name="connsiteY0" fmla="*/ 0 h 315415"/>
                <a:gd name="connsiteX1" fmla="*/ 2337044 w 2508725"/>
                <a:gd name="connsiteY1" fmla="*/ 0 h 315415"/>
                <a:gd name="connsiteX2" fmla="*/ 2508725 w 2508725"/>
                <a:gd name="connsiteY2" fmla="*/ 315415 h 315415"/>
                <a:gd name="connsiteX3" fmla="*/ 0 w 2508725"/>
                <a:gd name="connsiteY3" fmla="*/ 315415 h 31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725" h="315415">
                  <a:moveTo>
                    <a:pt x="0" y="0"/>
                  </a:moveTo>
                  <a:lnTo>
                    <a:pt x="2337044" y="0"/>
                  </a:lnTo>
                  <a:lnTo>
                    <a:pt x="2508725" y="315415"/>
                  </a:lnTo>
                  <a:lnTo>
                    <a:pt x="0" y="315415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en-US" altLang="ko-KR" sz="1050" b="1" dirty="0">
                  <a:solidFill>
                    <a:schemeClr val="tx2">
                      <a:lumMod val="50000"/>
                    </a:schemeClr>
                  </a:solidFill>
                </a:rPr>
                <a:t>Step 2</a:t>
              </a:r>
              <a:endParaRPr kumimoji="1" lang="ko-KR" altLang="en-US" sz="105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F81A50D-6B8C-333D-51ED-865CB1AAA1F2}"/>
              </a:ext>
            </a:extLst>
          </p:cNvPr>
          <p:cNvGrpSpPr/>
          <p:nvPr/>
        </p:nvGrpSpPr>
        <p:grpSpPr>
          <a:xfrm>
            <a:off x="6672596" y="2077982"/>
            <a:ext cx="2960354" cy="593648"/>
            <a:chOff x="764109" y="2053951"/>
            <a:chExt cx="2087593" cy="593648"/>
          </a:xfrm>
        </p:grpSpPr>
        <p:sp>
          <p:nvSpPr>
            <p:cNvPr id="73" name="오각형[P] 90">
              <a:extLst>
                <a:ext uri="{FF2B5EF4-FFF2-40B4-BE49-F238E27FC236}">
                  <a16:creationId xmlns:a16="http://schemas.microsoft.com/office/drawing/2014/main" id="{7F09DD12-2B99-916B-B757-D2443264686C}"/>
                </a:ext>
              </a:extLst>
            </p:cNvPr>
            <p:cNvSpPr/>
            <p:nvPr/>
          </p:nvSpPr>
          <p:spPr>
            <a:xfrm>
              <a:off x="764109" y="2053952"/>
              <a:ext cx="2087593" cy="593647"/>
            </a:xfrm>
            <a:prstGeom prst="homePlate">
              <a:avLst>
                <a:gd name="adj" fmla="val 33961"/>
              </a:avLst>
            </a:prstGeom>
            <a:solidFill>
              <a:schemeClr val="tx2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kumimoji="1" lang="en-US" altLang="ko-KR" sz="14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kumimoji="1" lang="ko-KR" altLang="en-US" sz="1400" b="1" dirty="0">
                  <a:solidFill>
                    <a:schemeClr val="bg1"/>
                  </a:solidFill>
                  <a:latin typeface="+mn-ea"/>
                </a:rPr>
                <a:t>운영 방안 마련</a:t>
              </a:r>
            </a:p>
          </p:txBody>
        </p:sp>
        <p:sp>
          <p:nvSpPr>
            <p:cNvPr id="74" name="자유형 91">
              <a:extLst>
                <a:ext uri="{FF2B5EF4-FFF2-40B4-BE49-F238E27FC236}">
                  <a16:creationId xmlns:a16="http://schemas.microsoft.com/office/drawing/2014/main" id="{0716D45A-C2A1-69A3-B665-0BBDCAB88B3D}"/>
                </a:ext>
              </a:extLst>
            </p:cNvPr>
            <p:cNvSpPr/>
            <p:nvPr/>
          </p:nvSpPr>
          <p:spPr>
            <a:xfrm>
              <a:off x="764109" y="2053951"/>
              <a:ext cx="2025291" cy="204774"/>
            </a:xfrm>
            <a:custGeom>
              <a:avLst/>
              <a:gdLst>
                <a:gd name="connsiteX0" fmla="*/ 0 w 2508725"/>
                <a:gd name="connsiteY0" fmla="*/ 0 h 315415"/>
                <a:gd name="connsiteX1" fmla="*/ 2337044 w 2508725"/>
                <a:gd name="connsiteY1" fmla="*/ 0 h 315415"/>
                <a:gd name="connsiteX2" fmla="*/ 2508725 w 2508725"/>
                <a:gd name="connsiteY2" fmla="*/ 315415 h 315415"/>
                <a:gd name="connsiteX3" fmla="*/ 0 w 2508725"/>
                <a:gd name="connsiteY3" fmla="*/ 315415 h 31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8725" h="315415">
                  <a:moveTo>
                    <a:pt x="0" y="0"/>
                  </a:moveTo>
                  <a:lnTo>
                    <a:pt x="2337044" y="0"/>
                  </a:lnTo>
                  <a:lnTo>
                    <a:pt x="2508725" y="315415"/>
                  </a:lnTo>
                  <a:lnTo>
                    <a:pt x="0" y="315415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en-US" altLang="ko-KR" sz="1050" b="1" dirty="0">
                  <a:solidFill>
                    <a:schemeClr val="tx2">
                      <a:lumMod val="50000"/>
                    </a:schemeClr>
                  </a:solidFill>
                </a:rPr>
                <a:t>Step 3</a:t>
              </a:r>
              <a:endParaRPr kumimoji="1" lang="ko-KR" altLang="en-US" sz="105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6546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86C3-B869-6511-4F01-7D78308F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134ADE1-227E-52E3-4254-99FB970A46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베이시스소프트의</a:t>
            </a:r>
            <a:r>
              <a:rPr lang="ko-KR" altLang="en-US" dirty="0"/>
              <a:t> 전사 </a:t>
            </a:r>
            <a:r>
              <a:rPr lang="en-US" altLang="ko-KR" dirty="0"/>
              <a:t>KPI </a:t>
            </a:r>
            <a:r>
              <a:rPr lang="ko-KR" altLang="en-US" dirty="0"/>
              <a:t>기반 업적평가와 직무별 역할</a:t>
            </a:r>
            <a:r>
              <a:rPr lang="en-US" altLang="ko-KR" dirty="0"/>
              <a:t>·</a:t>
            </a:r>
            <a:r>
              <a:rPr lang="ko-KR" altLang="en-US" dirty="0"/>
              <a:t>공통역량 평가를 통합하여 조직성과와 개인성과를 연계하고</a:t>
            </a:r>
            <a:r>
              <a:rPr lang="en-US" altLang="ko-KR" dirty="0"/>
              <a:t>, </a:t>
            </a:r>
            <a:r>
              <a:rPr lang="ko-KR" altLang="en-US" dirty="0"/>
              <a:t>평가등급별 차등 인상률을 반영하는 평가체계를 설계했음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1604CEF-FEBD-BEB4-95FF-2B2A63BA0D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A0B353-1C17-4A97-A45B-0897F62C18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[S1] </a:t>
            </a:r>
            <a:r>
              <a:rPr lang="ko-KR" altLang="en-US" dirty="0"/>
              <a:t>평가 모형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7ED09F0-D8A2-6719-1B2C-AA64606297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6DEA3AFB-37B2-663C-B4C8-EAD7CE01AA69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6F138C98-ED71-EF77-5779-1AF63F5F21CE}"/>
                </a:ext>
              </a:extLst>
            </p:cNvPr>
            <p:cNvSpPr/>
            <p:nvPr userDrawn="1"/>
          </p:nvSpPr>
          <p:spPr>
            <a:xfrm>
              <a:off x="3053606" y="1626519"/>
              <a:ext cx="870093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평가 모형 설계 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90C89115-0C66-8957-68BC-D00FC85A0A63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8848DCE-8CC0-EED6-9FEC-CE16211CDBA0}"/>
              </a:ext>
            </a:extLst>
          </p:cNvPr>
          <p:cNvGrpSpPr/>
          <p:nvPr/>
        </p:nvGrpSpPr>
        <p:grpSpPr>
          <a:xfrm>
            <a:off x="272950" y="2152965"/>
            <a:ext cx="9360000" cy="3967979"/>
            <a:chOff x="273050" y="2018269"/>
            <a:chExt cx="9359899" cy="4102676"/>
          </a:xfrm>
        </p:grpSpPr>
        <p:sp>
          <p:nvSpPr>
            <p:cNvPr id="3" name="Oval 23">
              <a:extLst>
                <a:ext uri="{FF2B5EF4-FFF2-40B4-BE49-F238E27FC236}">
                  <a16:creationId xmlns:a16="http://schemas.microsoft.com/office/drawing/2014/main" id="{85D6D13C-B275-603B-14E6-9CF5DE4C2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4457" y="5641459"/>
              <a:ext cx="2830238" cy="479486"/>
            </a:xfrm>
            <a:prstGeom prst="ellipse">
              <a:avLst/>
            </a:prstGeom>
            <a:solidFill>
              <a:sysClr val="window" lastClr="FFFFFF"/>
            </a:solidFill>
            <a:ln w="15875">
              <a:solidFill>
                <a:schemeClr val="tx2"/>
              </a:solidFill>
              <a:round/>
              <a:headEnd/>
              <a:tailEnd type="none" w="med" len="lg"/>
            </a:ln>
            <a:effectLst/>
          </p:spPr>
          <p:txBody>
            <a:bodyPr lIns="0" tIns="72000" rIns="0" bIns="7200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채용 </a:t>
              </a:r>
              <a:r>
                <a:rPr kumimoji="0" lang="en-US" altLang="ko-KR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/ </a:t>
              </a:r>
              <a:r>
                <a:rPr kumimoji="0" lang="ko-KR" altLang="en-US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이동 </a:t>
              </a:r>
              <a:r>
                <a:rPr kumimoji="0" lang="en-US" altLang="ko-KR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/ </a:t>
              </a:r>
              <a:r>
                <a:rPr kumimoji="0" lang="ko-KR" altLang="en-US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승진 </a:t>
              </a:r>
              <a:r>
                <a:rPr kumimoji="0" lang="en-US" altLang="ko-KR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/ </a:t>
              </a:r>
              <a:r>
                <a:rPr kumimoji="0" lang="ko-KR" altLang="en-US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교육훈련 등</a:t>
              </a:r>
              <a:endParaRPr kumimoji="0" lang="en-US" altLang="ko-KR" sz="1200" i="0" u="none" strike="noStrike" kern="0" cap="none" spc="-10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9CBC0C-CB63-3AC7-3429-1BDECA11B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939" y="3905754"/>
              <a:ext cx="6238010" cy="1278776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  <a:ln w="19050">
              <a:noFill/>
              <a:miter lim="800000"/>
              <a:headEnd/>
              <a:tailEnd type="none" w="med" len="lg"/>
            </a:ln>
            <a:effectLst/>
          </p:spPr>
          <p:txBody>
            <a:bodyPr wrap="none" lIns="72000" tIns="72000" rIns="72000" bIns="72000" anchor="ctr"/>
            <a:lstStyle/>
            <a:p>
              <a:pPr algn="ctr" latinLnBrk="0">
                <a:lnSpc>
                  <a:spcPct val="104000"/>
                </a:lnSpc>
                <a:spcBef>
                  <a:spcPct val="20000"/>
                </a:spcBef>
                <a:buClr>
                  <a:srgbClr val="000000"/>
                </a:buClr>
              </a:pPr>
              <a:endParaRPr lang="ko-KR" altLang="en-US" sz="1100" kern="0" spc="-1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Rectangle 5">
              <a:extLst>
                <a:ext uri="{FF2B5EF4-FFF2-40B4-BE49-F238E27FC236}">
                  <a16:creationId xmlns:a16="http://schemas.microsoft.com/office/drawing/2014/main" id="{70D7EDD2-423F-7F2A-D5D5-17AC7EDA6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" y="3905753"/>
              <a:ext cx="4837241" cy="127877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19050">
              <a:noFill/>
              <a:miter lim="800000"/>
              <a:headEnd/>
              <a:tailEnd type="none" w="med" len="lg"/>
            </a:ln>
            <a:effectLst/>
          </p:spPr>
          <p:txBody>
            <a:bodyPr wrap="none" lIns="72000" tIns="72000" rIns="72000" bIns="72000" anchor="ctr"/>
            <a:lstStyle/>
            <a:p>
              <a:pPr marL="0" marR="0" lvl="0" indent="0" algn="ctr" defTabSz="914400" eaLnBrk="1" fontAlgn="auto" latinLnBrk="0" hangingPunct="1">
                <a:lnSpc>
                  <a:spcPct val="104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ko-KR" altLang="en-US" sz="1100" i="0" u="none" strike="noStrike" kern="0" cap="none" spc="-10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Rectangle 6">
              <a:extLst>
                <a:ext uri="{FF2B5EF4-FFF2-40B4-BE49-F238E27FC236}">
                  <a16:creationId xmlns:a16="http://schemas.microsoft.com/office/drawing/2014/main" id="{6E803E7A-C02C-4F28-DA39-EAE4A288DAD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849" y="3439427"/>
              <a:ext cx="2024767" cy="37775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400" kern="0" spc="-1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업적평가</a:t>
              </a:r>
            </a:p>
          </p:txBody>
        </p:sp>
        <p:sp>
          <p:nvSpPr>
            <p:cNvPr id="65" name="Rectangle 7">
              <a:extLst>
                <a:ext uri="{FF2B5EF4-FFF2-40B4-BE49-F238E27FC236}">
                  <a16:creationId xmlns:a16="http://schemas.microsoft.com/office/drawing/2014/main" id="{C8E4912C-034F-B47C-10D7-EAE9DE13933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59903" y="2018269"/>
              <a:ext cx="2586191" cy="295770"/>
            </a:xfrm>
            <a:prstGeom prst="rect">
              <a:avLst/>
            </a:prstGeom>
            <a:solidFill>
              <a:schemeClr val="tx2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lIns="90480" tIns="46033" rIns="90480" bIns="46033" anchor="ctr"/>
            <a:lstStyle>
              <a:lvl1pPr algn="l" defTabSz="895350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452438" algn="l" defTabSz="895350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904875" algn="l" defTabSz="895350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358900" algn="l" defTabSz="895350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1811338" algn="l" defTabSz="895350" latinLnBrk="1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268538" defTabSz="8953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725738" defTabSz="8953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182938" defTabSz="8953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640138" defTabSz="8953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ctr" defTabSz="89535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전사 미션 </a:t>
              </a:r>
              <a:r>
                <a:rPr kumimoji="0" lang="en-US" altLang="ko-KR" sz="1400" i="0" u="none" strike="noStrike" kern="0" cap="none" spc="-10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/ </a:t>
              </a:r>
              <a:r>
                <a:rPr kumimoji="0" lang="ko-KR" altLang="en-US" sz="1400" i="0" u="none" strike="noStrike" kern="0" cap="none" spc="-10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비전 </a:t>
              </a:r>
              <a:r>
                <a:rPr kumimoji="0" lang="en-US" altLang="ko-KR" sz="1400" i="0" u="none" strike="noStrike" kern="0" cap="none" spc="-10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/ </a:t>
              </a:r>
              <a:r>
                <a:rPr kumimoji="0" lang="ko-KR" altLang="en-US" sz="1400" i="0" u="none" strike="noStrike" kern="0" cap="none" spc="-10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</a:t>
              </a: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819242CB-DFE6-54D8-A2CE-A18A8ED382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5028" y="4370562"/>
              <a:ext cx="1590092" cy="3526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전사 </a:t>
              </a:r>
            </a:p>
          </p:txBody>
        </p:sp>
        <p:sp>
          <p:nvSpPr>
            <p:cNvPr id="68" name="Rectangle 12">
              <a:extLst>
                <a:ext uri="{FF2B5EF4-FFF2-40B4-BE49-F238E27FC236}">
                  <a16:creationId xmlns:a16="http://schemas.microsoft.com/office/drawing/2014/main" id="{DC0DDB92-DB64-C40B-F3A5-86CE724CE8A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534282" y="4370562"/>
              <a:ext cx="1470322" cy="3526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역할</a:t>
              </a:r>
              <a:endParaRPr kumimoji="0" lang="en-US" altLang="ko-KR" sz="1400" i="0" u="none" strike="noStrike" kern="0" cap="none" spc="-10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Rectangle 13">
              <a:extLst>
                <a:ext uri="{FF2B5EF4-FFF2-40B4-BE49-F238E27FC236}">
                  <a16:creationId xmlns:a16="http://schemas.microsoft.com/office/drawing/2014/main" id="{91669FF7-6B34-687B-E4A8-A92C271F3B0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6849" y="2814089"/>
              <a:ext cx="2024767" cy="37775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spcBef>
                  <a:spcPct val="0"/>
                </a:spcBef>
                <a:defRPr/>
              </a:pPr>
              <a:r>
                <a:rPr lang="ko-KR" altLang="en-US" sz="1400" kern="0" spc="-100" dirty="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조직목표</a:t>
              </a:r>
            </a:p>
          </p:txBody>
        </p:sp>
        <p:sp>
          <p:nvSpPr>
            <p:cNvPr id="70" name="Rectangle 14">
              <a:extLst>
                <a:ext uri="{FF2B5EF4-FFF2-40B4-BE49-F238E27FC236}">
                  <a16:creationId xmlns:a16="http://schemas.microsoft.com/office/drawing/2014/main" id="{3D640804-3806-9661-AB4E-404040C0C3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788276" y="3439427"/>
              <a:ext cx="2024078" cy="377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역량평가</a:t>
              </a:r>
            </a:p>
          </p:txBody>
        </p:sp>
        <p:sp>
          <p:nvSpPr>
            <p:cNvPr id="71" name="Rectangle 15">
              <a:extLst>
                <a:ext uri="{FF2B5EF4-FFF2-40B4-BE49-F238E27FC236}">
                  <a16:creationId xmlns:a16="http://schemas.microsoft.com/office/drawing/2014/main" id="{1B8C7F1E-F2DC-9CAB-C9B9-5C19B89F2D2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11386" y="4370562"/>
              <a:ext cx="1558636" cy="35269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핵심</a:t>
              </a:r>
              <a:r>
                <a:rPr kumimoji="0" lang="en-US" altLang="ko-KR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kumimoji="0" lang="ko-KR" altLang="en-US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공통</a:t>
              </a:r>
              <a:r>
                <a:rPr kumimoji="0" lang="en-US" altLang="ko-KR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kumimoji="0" lang="ko-KR" altLang="en-US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역량 </a:t>
              </a:r>
            </a:p>
          </p:txBody>
        </p:sp>
        <p:sp>
          <p:nvSpPr>
            <p:cNvPr id="73" name="Rectangle 17">
              <a:extLst>
                <a:ext uri="{FF2B5EF4-FFF2-40B4-BE49-F238E27FC236}">
                  <a16:creationId xmlns:a16="http://schemas.microsoft.com/office/drawing/2014/main" id="{A3E7AB79-FB31-4493-C9F7-7305FC349C4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74365" y="4370562"/>
              <a:ext cx="1558636" cy="35269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직무역량</a:t>
              </a:r>
            </a:p>
          </p:txBody>
        </p:sp>
        <p:sp>
          <p:nvSpPr>
            <p:cNvPr id="74" name="Rectangle 18">
              <a:extLst>
                <a:ext uri="{FF2B5EF4-FFF2-40B4-BE49-F238E27FC236}">
                  <a16:creationId xmlns:a16="http://schemas.microsoft.com/office/drawing/2014/main" id="{A5741701-5C30-B443-8C48-58F63367C6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788276" y="2814089"/>
              <a:ext cx="2024078" cy="3777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조직역량</a:t>
              </a:r>
            </a:p>
          </p:txBody>
        </p:sp>
        <p:cxnSp>
          <p:nvCxnSpPr>
            <p:cNvPr id="75" name="AutoShape 19">
              <a:extLst>
                <a:ext uri="{FF2B5EF4-FFF2-40B4-BE49-F238E27FC236}">
                  <a16:creationId xmlns:a16="http://schemas.microsoft.com/office/drawing/2014/main" id="{3B3AB4BA-F8FC-98CE-3AF9-EB2302F1D5AE}"/>
                </a:ext>
              </a:extLst>
            </p:cNvPr>
            <p:cNvCxnSpPr>
              <a:cxnSpLocks noChangeShapeType="1"/>
              <a:stCxn id="69" idx="2"/>
              <a:endCxn id="64" idx="0"/>
            </p:cNvCxnSpPr>
            <p:nvPr/>
          </p:nvCxnSpPr>
          <p:spPr bwMode="gray">
            <a:xfrm>
              <a:off x="1289235" y="3191841"/>
              <a:ext cx="0" cy="247586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6" name="Text Box 20">
              <a:extLst>
                <a:ext uri="{FF2B5EF4-FFF2-40B4-BE49-F238E27FC236}">
                  <a16:creationId xmlns:a16="http://schemas.microsoft.com/office/drawing/2014/main" id="{511FB597-BE21-DF35-F893-29533B701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028" y="4786852"/>
              <a:ext cx="2908961" cy="3608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med" len="lg"/>
            </a:ln>
            <a:effectLst/>
          </p:spPr>
          <p:txBody>
            <a:bodyPr wrap="square" lIns="72000" tIns="72000" rIns="72000" bIns="7200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조직 성과관리체계</a:t>
              </a:r>
            </a:p>
          </p:txBody>
        </p:sp>
        <p:sp>
          <p:nvSpPr>
            <p:cNvPr id="77" name="Text Box 21">
              <a:extLst>
                <a:ext uri="{FF2B5EF4-FFF2-40B4-BE49-F238E27FC236}">
                  <a16:creationId xmlns:a16="http://schemas.microsoft.com/office/drawing/2014/main" id="{1B2FD4D2-5182-0A97-3020-297F76733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452" y="4814282"/>
              <a:ext cx="2460059" cy="3608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med" len="lg"/>
            </a:ln>
            <a:effectLst/>
          </p:spPr>
          <p:txBody>
            <a:bodyPr wrap="square" lIns="72000" tIns="72000" rIns="72000" bIns="72000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i="0" u="none" strike="noStrike" kern="0" cap="none" spc="-100" normalizeH="0" baseline="0" noProof="0" dirty="0"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개인 성과관리체계</a:t>
              </a:r>
            </a:p>
          </p:txBody>
        </p:sp>
        <p:sp>
          <p:nvSpPr>
            <p:cNvPr id="78" name="Oval 22">
              <a:extLst>
                <a:ext uri="{FF2B5EF4-FFF2-40B4-BE49-F238E27FC236}">
                  <a16:creationId xmlns:a16="http://schemas.microsoft.com/office/drawing/2014/main" id="{A3CFA96D-FD81-7D5A-0137-6CAC2D93A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132" y="5645803"/>
              <a:ext cx="2827527" cy="467892"/>
            </a:xfrm>
            <a:prstGeom prst="ellipse">
              <a:avLst/>
            </a:prstGeom>
            <a:solidFill>
              <a:sysClr val="window" lastClr="FFFFFF"/>
            </a:solidFill>
            <a:ln w="15875">
              <a:solidFill>
                <a:schemeClr val="tx2"/>
              </a:solidFill>
              <a:round/>
              <a:headEnd/>
              <a:tailEnd type="none" w="med" len="lg"/>
            </a:ln>
            <a:effectLst/>
          </p:spPr>
          <p:txBody>
            <a:bodyPr wrap="none" lIns="72000" tIns="72000" rIns="72000" bIns="7200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보상</a:t>
              </a:r>
              <a:br>
                <a:rPr kumimoji="0" lang="en-US" altLang="ko-KR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0" lang="en-US" altLang="ko-KR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kumimoji="0" lang="ko-KR" altLang="en-US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기본급 </a:t>
              </a:r>
              <a:r>
                <a:rPr kumimoji="0" lang="en-US" altLang="ko-KR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/ </a:t>
              </a:r>
              <a:r>
                <a:rPr kumimoji="0" lang="ko-KR" altLang="en-US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성과급</a:t>
              </a:r>
              <a:r>
                <a:rPr kumimoji="0" lang="en-US" altLang="ko-KR" sz="1200" i="0" u="none" strike="noStrike" kern="0" cap="none" spc="-100" normalizeH="0" baseline="0" noProof="0" dirty="0"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</a:p>
          </p:txBody>
        </p:sp>
        <p:cxnSp>
          <p:nvCxnSpPr>
            <p:cNvPr id="79" name="AutoShape 24">
              <a:extLst>
                <a:ext uri="{FF2B5EF4-FFF2-40B4-BE49-F238E27FC236}">
                  <a16:creationId xmlns:a16="http://schemas.microsoft.com/office/drawing/2014/main" id="{E11997DC-A21D-68FB-5C5C-868E1B1DFF8A}"/>
                </a:ext>
              </a:extLst>
            </p:cNvPr>
            <p:cNvCxnSpPr>
              <a:cxnSpLocks noChangeShapeType="1"/>
              <a:stCxn id="65" idx="2"/>
              <a:endCxn id="69" idx="0"/>
            </p:cNvCxnSpPr>
            <p:nvPr/>
          </p:nvCxnSpPr>
          <p:spPr bwMode="auto">
            <a:xfrm rot="5400000">
              <a:off x="2871091" y="732181"/>
              <a:ext cx="500050" cy="3663766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AutoShape 25">
              <a:extLst>
                <a:ext uri="{FF2B5EF4-FFF2-40B4-BE49-F238E27FC236}">
                  <a16:creationId xmlns:a16="http://schemas.microsoft.com/office/drawing/2014/main" id="{B6C2A6A5-37C4-FB0F-B0C0-7056E49F47D8}"/>
                </a:ext>
              </a:extLst>
            </p:cNvPr>
            <p:cNvCxnSpPr>
              <a:cxnSpLocks noChangeShapeType="1"/>
              <a:stCxn id="65" idx="2"/>
              <a:endCxn id="74" idx="0"/>
            </p:cNvCxnSpPr>
            <p:nvPr/>
          </p:nvCxnSpPr>
          <p:spPr bwMode="auto">
            <a:xfrm rot="16200000" flipH="1">
              <a:off x="6126632" y="1140405"/>
              <a:ext cx="500050" cy="2847317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AutoShape 26">
              <a:extLst>
                <a:ext uri="{FF2B5EF4-FFF2-40B4-BE49-F238E27FC236}">
                  <a16:creationId xmlns:a16="http://schemas.microsoft.com/office/drawing/2014/main" id="{744C6A3D-74C0-89DF-A9BE-EED6AB980163}"/>
                </a:ext>
              </a:extLst>
            </p:cNvPr>
            <p:cNvCxnSpPr>
              <a:cxnSpLocks noChangeShapeType="1"/>
              <a:stCxn id="74" idx="2"/>
              <a:endCxn id="70" idx="0"/>
            </p:cNvCxnSpPr>
            <p:nvPr/>
          </p:nvCxnSpPr>
          <p:spPr bwMode="auto">
            <a:xfrm>
              <a:off x="7800316" y="3191841"/>
              <a:ext cx="0" cy="247586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AutoShape 27">
              <a:extLst>
                <a:ext uri="{FF2B5EF4-FFF2-40B4-BE49-F238E27FC236}">
                  <a16:creationId xmlns:a16="http://schemas.microsoft.com/office/drawing/2014/main" id="{874D663E-DEDD-DC7F-A4BC-BA157C6E3DA3}"/>
                </a:ext>
              </a:extLst>
            </p:cNvPr>
            <p:cNvCxnSpPr>
              <a:cxnSpLocks noChangeShapeType="1"/>
              <a:stCxn id="70" idx="2"/>
              <a:endCxn id="71" idx="0"/>
            </p:cNvCxnSpPr>
            <p:nvPr/>
          </p:nvCxnSpPr>
          <p:spPr bwMode="auto">
            <a:xfrm rot="5400000">
              <a:off x="7068818" y="3639065"/>
              <a:ext cx="553384" cy="909611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AutoShape 29">
              <a:extLst>
                <a:ext uri="{FF2B5EF4-FFF2-40B4-BE49-F238E27FC236}">
                  <a16:creationId xmlns:a16="http://schemas.microsoft.com/office/drawing/2014/main" id="{0CCA2285-BB65-2ABF-95DF-095AD1C22E4B}"/>
                </a:ext>
              </a:extLst>
            </p:cNvPr>
            <p:cNvCxnSpPr>
              <a:cxnSpLocks noChangeShapeType="1"/>
              <a:stCxn id="70" idx="2"/>
              <a:endCxn id="73" idx="0"/>
            </p:cNvCxnSpPr>
            <p:nvPr/>
          </p:nvCxnSpPr>
          <p:spPr bwMode="auto">
            <a:xfrm rot="16200000" flipH="1">
              <a:off x="7950307" y="3667186"/>
              <a:ext cx="553384" cy="853368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AutoShape 30">
              <a:extLst>
                <a:ext uri="{FF2B5EF4-FFF2-40B4-BE49-F238E27FC236}">
                  <a16:creationId xmlns:a16="http://schemas.microsoft.com/office/drawing/2014/main" id="{FB469B24-0368-981B-E63C-E58E65D021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48052" y="5182493"/>
              <a:ext cx="0" cy="46318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AutoShape 31">
              <a:extLst>
                <a:ext uri="{FF2B5EF4-FFF2-40B4-BE49-F238E27FC236}">
                  <a16:creationId xmlns:a16="http://schemas.microsoft.com/office/drawing/2014/main" id="{758DC5E5-E633-200D-70CF-A4A5CFFF55BD}"/>
                </a:ext>
              </a:extLst>
            </p:cNvPr>
            <p:cNvCxnSpPr>
              <a:cxnSpLocks noChangeShapeType="1"/>
              <a:stCxn id="63" idx="2"/>
              <a:endCxn id="78" idx="0"/>
            </p:cNvCxnSpPr>
            <p:nvPr/>
          </p:nvCxnSpPr>
          <p:spPr bwMode="auto">
            <a:xfrm rot="16200000" flipH="1">
              <a:off x="3048647" y="4827553"/>
              <a:ext cx="461273" cy="1175225"/>
            </a:xfrm>
            <a:prstGeom prst="bentConnector3">
              <a:avLst>
                <a:gd name="adj1" fmla="val 64868"/>
              </a:avLst>
            </a:prstGeom>
            <a:noFill/>
            <a:ln w="1270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AutoShape 32">
              <a:extLst>
                <a:ext uri="{FF2B5EF4-FFF2-40B4-BE49-F238E27FC236}">
                  <a16:creationId xmlns:a16="http://schemas.microsoft.com/office/drawing/2014/main" id="{E05BE137-6AD7-236D-4620-81C406E5BAAF}"/>
                </a:ext>
              </a:extLst>
            </p:cNvPr>
            <p:cNvCxnSpPr>
              <a:cxnSpLocks noChangeShapeType="1"/>
              <a:stCxn id="77" idx="2"/>
              <a:endCxn id="78" idx="0"/>
            </p:cNvCxnSpPr>
            <p:nvPr/>
          </p:nvCxnSpPr>
          <p:spPr bwMode="auto">
            <a:xfrm rot="5400000">
              <a:off x="5423854" y="3618174"/>
              <a:ext cx="470671" cy="3584586"/>
            </a:xfrm>
            <a:prstGeom prst="bentConnector3">
              <a:avLst>
                <a:gd name="adj1" fmla="val 64571"/>
              </a:avLst>
            </a:prstGeom>
            <a:noFill/>
            <a:ln w="1270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AutoShape 33">
              <a:extLst>
                <a:ext uri="{FF2B5EF4-FFF2-40B4-BE49-F238E27FC236}">
                  <a16:creationId xmlns:a16="http://schemas.microsoft.com/office/drawing/2014/main" id="{4EA5CD81-ABC9-1C17-8F48-54734095CE96}"/>
                </a:ext>
              </a:extLst>
            </p:cNvPr>
            <p:cNvCxnSpPr>
              <a:cxnSpLocks noChangeShapeType="1"/>
              <a:stCxn id="64" idx="2"/>
              <a:endCxn id="66" idx="0"/>
            </p:cNvCxnSpPr>
            <p:nvPr/>
          </p:nvCxnSpPr>
          <p:spPr bwMode="auto">
            <a:xfrm rot="16200000" flipH="1">
              <a:off x="1012961" y="4093449"/>
              <a:ext cx="553384" cy="840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AutoShape 27">
              <a:extLst>
                <a:ext uri="{FF2B5EF4-FFF2-40B4-BE49-F238E27FC236}">
                  <a16:creationId xmlns:a16="http://schemas.microsoft.com/office/drawing/2014/main" id="{0A1C7504-3C3A-8F09-EA32-7EBC96102883}"/>
                </a:ext>
              </a:extLst>
            </p:cNvPr>
            <p:cNvCxnSpPr>
              <a:cxnSpLocks noChangeShapeType="1"/>
              <a:stCxn id="70" idx="1"/>
              <a:endCxn id="68" idx="0"/>
            </p:cNvCxnSpPr>
            <p:nvPr/>
          </p:nvCxnSpPr>
          <p:spPr bwMode="auto">
            <a:xfrm rot="10800000" flipV="1">
              <a:off x="4269444" y="3628302"/>
              <a:ext cx="2518833" cy="742259"/>
            </a:xfrm>
            <a:prstGeom prst="bentConnector2">
              <a:avLst/>
            </a:prstGeom>
            <a:noFill/>
            <a:ln w="12700">
              <a:solidFill>
                <a:schemeClr val="accent4">
                  <a:lumMod val="75000"/>
                </a:schemeClr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AutoShape 27">
              <a:extLst>
                <a:ext uri="{FF2B5EF4-FFF2-40B4-BE49-F238E27FC236}">
                  <a16:creationId xmlns:a16="http://schemas.microsoft.com/office/drawing/2014/main" id="{E8C1709E-6803-77BE-6AD0-00BFED55C6C1}"/>
                </a:ext>
              </a:extLst>
            </p:cNvPr>
            <p:cNvCxnSpPr>
              <a:cxnSpLocks noChangeShapeType="1"/>
              <a:stCxn id="64" idx="3"/>
              <a:endCxn id="68" idx="0"/>
            </p:cNvCxnSpPr>
            <p:nvPr/>
          </p:nvCxnSpPr>
          <p:spPr bwMode="auto">
            <a:xfrm>
              <a:off x="2301616" y="3628303"/>
              <a:ext cx="1967827" cy="742259"/>
            </a:xfrm>
            <a:prstGeom prst="bentConnector2">
              <a:avLst/>
            </a:prstGeom>
            <a:noFill/>
            <a:ln w="12700">
              <a:solidFill>
                <a:schemeClr val="accent4">
                  <a:lumMod val="75000"/>
                </a:schemeClr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2" name="AutoShape 32">
              <a:extLst>
                <a:ext uri="{FF2B5EF4-FFF2-40B4-BE49-F238E27FC236}">
                  <a16:creationId xmlns:a16="http://schemas.microsoft.com/office/drawing/2014/main" id="{0E572E3F-66BC-76B9-15AA-CB366B7A26A3}"/>
                </a:ext>
              </a:extLst>
            </p:cNvPr>
            <p:cNvCxnSpPr>
              <a:cxnSpLocks noChangeShapeType="1"/>
              <a:stCxn id="68" idx="2"/>
              <a:endCxn id="78" idx="0"/>
            </p:cNvCxnSpPr>
            <p:nvPr/>
          </p:nvCxnSpPr>
          <p:spPr bwMode="auto">
            <a:xfrm rot="5400000">
              <a:off x="3606896" y="4983256"/>
              <a:ext cx="922548" cy="402547"/>
            </a:xfrm>
            <a:prstGeom prst="bentConnector3">
              <a:avLst>
                <a:gd name="adj1" fmla="val 62390"/>
              </a:avLst>
            </a:prstGeom>
            <a:noFill/>
            <a:ln w="12700">
              <a:solidFill>
                <a:schemeClr val="accent4">
                  <a:lumMod val="75000"/>
                </a:schemeClr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5" name="AutoShape 32">
              <a:extLst>
                <a:ext uri="{FF2B5EF4-FFF2-40B4-BE49-F238E27FC236}">
                  <a16:creationId xmlns:a16="http://schemas.microsoft.com/office/drawing/2014/main" id="{FA6251DE-7DC4-E98A-4B2E-AF60F986001B}"/>
                </a:ext>
              </a:extLst>
            </p:cNvPr>
            <p:cNvCxnSpPr>
              <a:cxnSpLocks noChangeShapeType="1"/>
              <a:stCxn id="68" idx="2"/>
              <a:endCxn id="3" idx="0"/>
            </p:cNvCxnSpPr>
            <p:nvPr/>
          </p:nvCxnSpPr>
          <p:spPr bwMode="auto">
            <a:xfrm rot="16200000" flipH="1">
              <a:off x="5600407" y="3392290"/>
              <a:ext cx="918204" cy="3580133"/>
            </a:xfrm>
            <a:prstGeom prst="bentConnector3">
              <a:avLst>
                <a:gd name="adj1" fmla="val 63278"/>
              </a:avLst>
            </a:prstGeom>
            <a:noFill/>
            <a:ln w="12700">
              <a:solidFill>
                <a:schemeClr val="accent4">
                  <a:lumMod val="75000"/>
                </a:schemeClr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3456146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624FB-6E20-F718-03D6-595872AFF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E226DA2-50A0-C1B0-BC70-443EB6628F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 err="1"/>
              <a:t>베이시스소프트는</a:t>
            </a:r>
            <a:r>
              <a:rPr lang="ko-KR" altLang="en-US" dirty="0"/>
              <a:t> 아직 평가체계 운영 경험이 축적되지 않은 단계이므로</a:t>
            </a:r>
            <a:r>
              <a:rPr lang="en-US" altLang="ko-KR" dirty="0"/>
              <a:t>, </a:t>
            </a:r>
            <a:r>
              <a:rPr lang="ko-KR" altLang="en-US" dirty="0"/>
              <a:t>초기에는 전사 차원의 </a:t>
            </a:r>
            <a:r>
              <a:rPr lang="en-US" altLang="ko-KR" dirty="0"/>
              <a:t>KPI</a:t>
            </a:r>
            <a:r>
              <a:rPr lang="ko-KR" altLang="en-US" dirty="0"/>
              <a:t>만을 설정</a:t>
            </a:r>
            <a:r>
              <a:rPr lang="en-US" altLang="ko-KR" dirty="0"/>
              <a:t>·</a:t>
            </a:r>
            <a:r>
              <a:rPr lang="ko-KR" altLang="en-US" dirty="0"/>
              <a:t>관리하여 성과관리의 단순성과 실행력을 확보하고</a:t>
            </a:r>
            <a:r>
              <a:rPr lang="en-US" altLang="ko-KR" dirty="0"/>
              <a:t>, </a:t>
            </a:r>
            <a:r>
              <a:rPr lang="ko-KR" altLang="en-US" dirty="0"/>
              <a:t>조직 목표 달성 경험을 축적한 이후 점진적으로 팀</a:t>
            </a:r>
            <a:r>
              <a:rPr lang="en-US" altLang="ko-KR" dirty="0"/>
              <a:t>·</a:t>
            </a:r>
            <a:r>
              <a:rPr lang="ko-KR" altLang="en-US" dirty="0"/>
              <a:t>개인 단위로 확대 적용함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9167145-EF90-18FB-2B9F-AFD3D970C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1E6B37-C0D5-34CE-C74E-2C61FBB0DA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[S1] </a:t>
            </a:r>
            <a:r>
              <a:rPr lang="ko-KR" altLang="en-US" dirty="0"/>
              <a:t>평가 모형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645A66A-7FDF-F611-0D4A-D7EACD94F7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D919A988-14C1-2FA7-5B30-779E9A86000B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03EA27FA-0664-1934-3E9D-928779FD5CBD}"/>
                </a:ext>
              </a:extLst>
            </p:cNvPr>
            <p:cNvSpPr/>
            <p:nvPr userDrawn="1"/>
          </p:nvSpPr>
          <p:spPr>
            <a:xfrm>
              <a:off x="2915969" y="1626519"/>
              <a:ext cx="1145369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(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전사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)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업적평가설계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14BB2F97-00E7-7F61-419B-607562D5C12C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3A441D0-5503-822D-A591-C03AC50A0653}"/>
              </a:ext>
            </a:extLst>
          </p:cNvPr>
          <p:cNvGrpSpPr/>
          <p:nvPr/>
        </p:nvGrpSpPr>
        <p:grpSpPr>
          <a:xfrm>
            <a:off x="260989" y="2140283"/>
            <a:ext cx="9329350" cy="4070017"/>
            <a:chOff x="260989" y="1678531"/>
            <a:chExt cx="9329350" cy="4310788"/>
          </a:xfrm>
        </p:grpSpPr>
        <p:sp>
          <p:nvSpPr>
            <p:cNvPr id="21" name="Rectangle 7" descr="밝은 상향 대각선">
              <a:extLst>
                <a:ext uri="{FF2B5EF4-FFF2-40B4-BE49-F238E27FC236}">
                  <a16:creationId xmlns:a16="http://schemas.microsoft.com/office/drawing/2014/main" id="{39891EAB-51F7-99F3-3C44-82540662F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759" y="2208436"/>
              <a:ext cx="1106001" cy="476250"/>
            </a:xfrm>
            <a:prstGeom prst="rect">
              <a:avLst/>
            </a:prstGeom>
            <a:solidFill>
              <a:srgbClr val="595959">
                <a:lumMod val="20000"/>
                <a:lumOff val="80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49D6922-52DF-5896-18E8-4521B247CFA8}"/>
                </a:ext>
              </a:extLst>
            </p:cNvPr>
            <p:cNvGrpSpPr/>
            <p:nvPr/>
          </p:nvGrpSpPr>
          <p:grpSpPr>
            <a:xfrm>
              <a:off x="260989" y="2146550"/>
              <a:ext cx="716863" cy="3842769"/>
              <a:chOff x="260989" y="2146551"/>
              <a:chExt cx="716863" cy="3668686"/>
            </a:xfrm>
          </p:grpSpPr>
          <p:sp>
            <p:nvSpPr>
              <p:cNvPr id="233" name="Line 40">
                <a:extLst>
                  <a:ext uri="{FF2B5EF4-FFF2-40B4-BE49-F238E27FC236}">
                    <a16:creationId xmlns:a16="http://schemas.microsoft.com/office/drawing/2014/main" id="{A90C0BB0-C906-134C-63E3-683399F85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545" y="2146551"/>
                <a:ext cx="2857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4" name="Line 41">
                <a:extLst>
                  <a:ext uri="{FF2B5EF4-FFF2-40B4-BE49-F238E27FC236}">
                    <a16:creationId xmlns:a16="http://schemas.microsoft.com/office/drawing/2014/main" id="{3A7BFF37-842C-3F6A-0212-6E245BEDB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545" y="4714631"/>
                <a:ext cx="2857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5" name="Line 42">
                <a:extLst>
                  <a:ext uri="{FF2B5EF4-FFF2-40B4-BE49-F238E27FC236}">
                    <a16:creationId xmlns:a16="http://schemas.microsoft.com/office/drawing/2014/main" id="{08BCED7A-7FC7-1D05-F9BD-A8BC1BE681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420" y="2146551"/>
                <a:ext cx="0" cy="25598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6" name="Line 43">
                <a:extLst>
                  <a:ext uri="{FF2B5EF4-FFF2-40B4-BE49-F238E27FC236}">
                    <a16:creationId xmlns:a16="http://schemas.microsoft.com/office/drawing/2014/main" id="{16399766-A3B2-2A39-DDC3-D550DFF139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420" y="4709673"/>
                <a:ext cx="0" cy="10973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7" name="Text Box 44">
                <a:extLst>
                  <a:ext uri="{FF2B5EF4-FFF2-40B4-BE49-F238E27FC236}">
                    <a16:creationId xmlns:a16="http://schemas.microsoft.com/office/drawing/2014/main" id="{1515FB1B-F159-BE29-79E9-D61FA7E00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989" y="5012092"/>
                <a:ext cx="716863" cy="606871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</a:t>
                </a:r>
                <a:b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성과관리</a:t>
                </a:r>
                <a:b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영역</a:t>
                </a:r>
              </a:p>
            </p:txBody>
          </p:sp>
          <p:sp>
            <p:nvSpPr>
              <p:cNvPr id="238" name="Text Box 45">
                <a:extLst>
                  <a:ext uri="{FF2B5EF4-FFF2-40B4-BE49-F238E27FC236}">
                    <a16:creationId xmlns:a16="http://schemas.microsoft.com/office/drawing/2014/main" id="{0F5E1001-01C4-B88A-6279-34E4D4B84D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989" y="2974926"/>
                <a:ext cx="716863" cy="60687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1" fontAlgn="ctr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조직</a:t>
                </a:r>
                <a:b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성과관리</a:t>
                </a:r>
                <a:b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kumimoji="1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>
                        <a:lumMod val="75000"/>
                      </a:srgbClr>
                    </a:solidFill>
                    <a:effectLst/>
                    <a:uLnTx/>
                    <a:uFillTx/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영역</a:t>
                </a:r>
              </a:p>
            </p:txBody>
          </p:sp>
          <p:sp>
            <p:nvSpPr>
              <p:cNvPr id="239" name="Line 58">
                <a:extLst>
                  <a:ext uri="{FF2B5EF4-FFF2-40B4-BE49-F238E27FC236}">
                    <a16:creationId xmlns:a16="http://schemas.microsoft.com/office/drawing/2014/main" id="{D2D321F5-8B24-B608-C4F2-F36CD68EE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545" y="5815237"/>
                <a:ext cx="2857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E9556D08-C58C-9C0E-C32E-B35C99912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196" y="1678531"/>
              <a:ext cx="421397" cy="228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 algn="ctr" fontAlgn="base" latinLnBrk="0">
                <a:spcBef>
                  <a:spcPct val="50000"/>
                </a:spcBef>
                <a:spcAft>
                  <a:spcPct val="0"/>
                </a:spcAft>
                <a:defRPr kumimoji="1" sz="1400" b="1" kern="0">
                  <a:solidFill>
                    <a:srgbClr val="000000"/>
                  </a:solidFill>
                  <a:latin typeface="+mn-ea"/>
                  <a:cs typeface="굴림" pitchFamily="50" charset="-127"/>
                </a:defRPr>
              </a:lvl1pPr>
            </a:lstStyle>
            <a:p>
              <a:r>
                <a:rPr lang="en-US" altLang="ko-KR" b="0" kern="12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Level</a:t>
              </a:r>
            </a:p>
          </p:txBody>
        </p:sp>
        <p:sp>
          <p:nvSpPr>
            <p:cNvPr id="24" name="Oval 60">
              <a:extLst>
                <a:ext uri="{FF2B5EF4-FFF2-40B4-BE49-F238E27FC236}">
                  <a16:creationId xmlns:a16="http://schemas.microsoft.com/office/drawing/2014/main" id="{07DF1814-B1F9-D873-9791-55015C56C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602" y="2121124"/>
              <a:ext cx="661987" cy="622300"/>
            </a:xfrm>
            <a:prstGeom prst="ellipse">
              <a:avLst/>
            </a:prstGeom>
            <a:solidFill>
              <a:srgbClr val="17365D"/>
            </a:solidFill>
            <a:ln w="9525">
              <a:solidFill>
                <a:sysClr val="window" lastClr="FFFFFF"/>
              </a:solidFill>
              <a:round/>
              <a:headEnd/>
              <a:tailEnd/>
            </a:ln>
            <a:effectLst>
              <a:outerShdw dist="35921" dir="2700000" algn="ctr" rotWithShape="0">
                <a:srgbClr val="727272"/>
              </a:outerShdw>
            </a:effectLst>
          </p:spPr>
          <p:txBody>
            <a:bodyPr wrap="none" lIns="18000" rIns="18000" anchor="ctr"/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전사</a:t>
              </a:r>
            </a:p>
          </p:txBody>
        </p:sp>
        <p:sp>
          <p:nvSpPr>
            <p:cNvPr id="25" name="Oval 61">
              <a:extLst>
                <a:ext uri="{FF2B5EF4-FFF2-40B4-BE49-F238E27FC236}">
                  <a16:creationId xmlns:a16="http://schemas.microsoft.com/office/drawing/2014/main" id="{D0D94260-4071-FFE8-8090-851F2A1E8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602" y="3746265"/>
              <a:ext cx="661987" cy="62230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ysClr val="window" lastClr="FFFFFF"/>
              </a:solidFill>
              <a:round/>
              <a:headEnd/>
              <a:tailEnd/>
            </a:ln>
            <a:effectLst>
              <a:outerShdw dist="35921" dir="2700000" algn="ctr" rotWithShape="0">
                <a:srgbClr val="727272"/>
              </a:outerShdw>
            </a:effectLst>
          </p:spPr>
          <p:txBody>
            <a:bodyPr wrap="none" lIns="18000" rIns="18000" anchor="ctr"/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부문</a:t>
              </a:r>
              <a:r>
                <a:rPr kumimoji="1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팀</a:t>
              </a:r>
            </a:p>
          </p:txBody>
        </p:sp>
        <p:sp>
          <p:nvSpPr>
            <p:cNvPr id="26" name="Oval 62">
              <a:extLst>
                <a:ext uri="{FF2B5EF4-FFF2-40B4-BE49-F238E27FC236}">
                  <a16:creationId xmlns:a16="http://schemas.microsoft.com/office/drawing/2014/main" id="{AE228A1A-54AE-B85E-A49B-B3B7091B6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602" y="5283831"/>
              <a:ext cx="661987" cy="62230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ysClr val="window" lastClr="FFFFFF"/>
              </a:solidFill>
              <a:round/>
              <a:headEnd/>
              <a:tailEnd/>
            </a:ln>
            <a:effectLst>
              <a:outerShdw dist="35921" dir="2700000" algn="ctr" rotWithShape="0">
                <a:srgbClr val="727272"/>
              </a:outerShdw>
            </a:effectLst>
          </p:spPr>
          <p:txBody>
            <a:bodyPr wrap="none" lIns="18000" rIns="18000" anchor="ctr"/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개인</a:t>
              </a:r>
            </a:p>
          </p:txBody>
        </p:sp>
        <p:sp>
          <p:nvSpPr>
            <p:cNvPr id="27" name="Rectangle 8" descr="밝은 상향 대각선">
              <a:extLst>
                <a:ext uri="{FF2B5EF4-FFF2-40B4-BE49-F238E27FC236}">
                  <a16:creationId xmlns:a16="http://schemas.microsoft.com/office/drawing/2014/main" id="{A82096A2-14EE-BEF8-2FDB-33F630B1D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584" y="3824052"/>
              <a:ext cx="1781178" cy="476250"/>
            </a:xfrm>
            <a:prstGeom prst="rect">
              <a:avLst/>
            </a:prstGeom>
            <a:solidFill>
              <a:srgbClr val="595959">
                <a:lumMod val="20000"/>
                <a:lumOff val="80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Rectangle 9" descr="밝은 상향 대각선">
              <a:extLst>
                <a:ext uri="{FF2B5EF4-FFF2-40B4-BE49-F238E27FC236}">
                  <a16:creationId xmlns:a16="http://schemas.microsoft.com/office/drawing/2014/main" id="{2ADA322B-15E2-4926-7ED7-1976A2108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6989" y="5386152"/>
              <a:ext cx="2417772" cy="476250"/>
            </a:xfrm>
            <a:prstGeom prst="rect">
              <a:avLst/>
            </a:prstGeom>
            <a:solidFill>
              <a:srgbClr val="595959">
                <a:lumMod val="20000"/>
                <a:lumOff val="80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9BCE6ED2-7748-2205-63F0-C400ACF77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678" y="2208436"/>
              <a:ext cx="728225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업무목표 </a:t>
              </a:r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D600B33D-5781-4BED-2CE8-72111E457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678" y="3822465"/>
              <a:ext cx="728225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단위조직</a:t>
              </a:r>
              <a:b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목표</a:t>
              </a:r>
            </a:p>
          </p:txBody>
        </p:sp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7637BBCA-6632-2F36-7D59-5D4B625BA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4678" y="5384565"/>
              <a:ext cx="728225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개인 목표</a:t>
              </a:r>
            </a:p>
          </p:txBody>
        </p:sp>
        <p:sp>
          <p:nvSpPr>
            <p:cNvPr id="160" name="Rectangle 16">
              <a:extLst>
                <a:ext uri="{FF2B5EF4-FFF2-40B4-BE49-F238E27FC236}">
                  <a16:creationId xmlns:a16="http://schemas.microsoft.com/office/drawing/2014/main" id="{FAA2A84C-E558-57CC-3255-B91F56178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510" y="2208436"/>
              <a:ext cx="728224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업무계획</a:t>
              </a:r>
            </a:p>
          </p:txBody>
        </p:sp>
        <p:sp>
          <p:nvSpPr>
            <p:cNvPr id="164" name="Rectangle 17">
              <a:extLst>
                <a:ext uri="{FF2B5EF4-FFF2-40B4-BE49-F238E27FC236}">
                  <a16:creationId xmlns:a16="http://schemas.microsoft.com/office/drawing/2014/main" id="{D4EC93DA-B580-691D-69E6-06B2D1FFD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510" y="3822465"/>
              <a:ext cx="728224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단위조직</a:t>
              </a:r>
              <a:b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업무계획</a:t>
              </a:r>
            </a:p>
          </p:txBody>
        </p:sp>
        <p:sp>
          <p:nvSpPr>
            <p:cNvPr id="165" name="Rectangle 18">
              <a:extLst>
                <a:ext uri="{FF2B5EF4-FFF2-40B4-BE49-F238E27FC236}">
                  <a16:creationId xmlns:a16="http://schemas.microsoft.com/office/drawing/2014/main" id="{E521DE36-036A-5CC4-7DA0-028F96F2D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510" y="5384565"/>
              <a:ext cx="728224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개인 업무</a:t>
              </a:r>
              <a:b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수행 계획</a:t>
              </a:r>
            </a:p>
          </p:txBody>
        </p:sp>
        <p:sp>
          <p:nvSpPr>
            <p:cNvPr id="166" name="Rectangle 19">
              <a:extLst>
                <a:ext uri="{FF2B5EF4-FFF2-40B4-BE49-F238E27FC236}">
                  <a16:creationId xmlns:a16="http://schemas.microsoft.com/office/drawing/2014/main" id="{B37BCFE7-69EF-B23B-26CA-BB9283E2C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342" y="2208436"/>
              <a:ext cx="728225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Strategy</a:t>
              </a:r>
            </a:p>
          </p:txBody>
        </p:sp>
        <p:sp>
          <p:nvSpPr>
            <p:cNvPr id="167" name="Rectangle 20">
              <a:extLst>
                <a:ext uri="{FF2B5EF4-FFF2-40B4-BE49-F238E27FC236}">
                  <a16:creationId xmlns:a16="http://schemas.microsoft.com/office/drawing/2014/main" id="{CF6C64A1-D59C-7CC9-6951-DB82DA203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342" y="3822465"/>
              <a:ext cx="728225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R &amp; R</a:t>
              </a:r>
            </a:p>
          </p:txBody>
        </p:sp>
        <p:sp>
          <p:nvSpPr>
            <p:cNvPr id="168" name="Rectangle 21">
              <a:extLst>
                <a:ext uri="{FF2B5EF4-FFF2-40B4-BE49-F238E27FC236}">
                  <a16:creationId xmlns:a16="http://schemas.microsoft.com/office/drawing/2014/main" id="{7C93DA37-8077-49DC-D3E8-E35D65C4D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342" y="5384565"/>
              <a:ext cx="728225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Task</a:t>
              </a:r>
            </a:p>
          </p:txBody>
        </p:sp>
        <p:sp>
          <p:nvSpPr>
            <p:cNvPr id="169" name="Rectangle 22">
              <a:extLst>
                <a:ext uri="{FF2B5EF4-FFF2-40B4-BE49-F238E27FC236}">
                  <a16:creationId xmlns:a16="http://schemas.microsoft.com/office/drawing/2014/main" id="{F5AC60E6-16F8-AEE1-EF57-154470A96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047" y="2208436"/>
              <a:ext cx="728224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Vision/</a:t>
              </a:r>
              <a:b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Mission</a:t>
              </a: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3E9C717A-5808-4A79-7B2E-24396A83B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047" y="3822465"/>
              <a:ext cx="728224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Mission</a:t>
              </a: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6011C0C4-907C-7BF7-D876-90863F57A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047" y="5384565"/>
              <a:ext cx="728224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Job</a:t>
              </a:r>
            </a:p>
          </p:txBody>
        </p:sp>
        <p:cxnSp>
          <p:nvCxnSpPr>
            <p:cNvPr id="172" name="AutoShape 25">
              <a:extLst>
                <a:ext uri="{FF2B5EF4-FFF2-40B4-BE49-F238E27FC236}">
                  <a16:creationId xmlns:a16="http://schemas.microsoft.com/office/drawing/2014/main" id="{C7154C18-0CC2-CFA1-CB53-F32E5E8925B3}"/>
                </a:ext>
              </a:extLst>
            </p:cNvPr>
            <p:cNvCxnSpPr>
              <a:cxnSpLocks noChangeShapeType="1"/>
              <a:stCxn id="166" idx="3"/>
              <a:endCxn id="160" idx="1"/>
            </p:cNvCxnSpPr>
            <p:nvPr/>
          </p:nvCxnSpPr>
          <p:spPr bwMode="auto">
            <a:xfrm>
              <a:off x="3600568" y="2449736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3" name="AutoShape 26">
              <a:extLst>
                <a:ext uri="{FF2B5EF4-FFF2-40B4-BE49-F238E27FC236}">
                  <a16:creationId xmlns:a16="http://schemas.microsoft.com/office/drawing/2014/main" id="{0CC74744-A806-93C8-C8C6-5F181CC9F5C0}"/>
                </a:ext>
              </a:extLst>
            </p:cNvPr>
            <p:cNvCxnSpPr>
              <a:cxnSpLocks noChangeShapeType="1"/>
              <a:stCxn id="167" idx="3"/>
              <a:endCxn id="164" idx="1"/>
            </p:cNvCxnSpPr>
            <p:nvPr/>
          </p:nvCxnSpPr>
          <p:spPr bwMode="auto">
            <a:xfrm>
              <a:off x="3600568" y="4063765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" name="AutoShape 27">
              <a:extLst>
                <a:ext uri="{FF2B5EF4-FFF2-40B4-BE49-F238E27FC236}">
                  <a16:creationId xmlns:a16="http://schemas.microsoft.com/office/drawing/2014/main" id="{0C4BDED1-6153-2A10-7666-A93C220D5CD9}"/>
                </a:ext>
              </a:extLst>
            </p:cNvPr>
            <p:cNvCxnSpPr>
              <a:cxnSpLocks noChangeShapeType="1"/>
              <a:stCxn id="168" idx="3"/>
              <a:endCxn id="165" idx="1"/>
            </p:cNvCxnSpPr>
            <p:nvPr/>
          </p:nvCxnSpPr>
          <p:spPr bwMode="auto">
            <a:xfrm>
              <a:off x="3600568" y="5625865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AutoShape 32">
              <a:extLst>
                <a:ext uri="{FF2B5EF4-FFF2-40B4-BE49-F238E27FC236}">
                  <a16:creationId xmlns:a16="http://schemas.microsoft.com/office/drawing/2014/main" id="{B3500AE4-9D13-9C7B-3A7C-E880B6ABF5AF}"/>
                </a:ext>
              </a:extLst>
            </p:cNvPr>
            <p:cNvCxnSpPr>
              <a:cxnSpLocks noChangeShapeType="1"/>
              <a:stCxn id="169" idx="3"/>
              <a:endCxn id="166" idx="1"/>
            </p:cNvCxnSpPr>
            <p:nvPr/>
          </p:nvCxnSpPr>
          <p:spPr bwMode="auto">
            <a:xfrm>
              <a:off x="2602272" y="2449736"/>
              <a:ext cx="27007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6" name="AutoShape 33">
              <a:extLst>
                <a:ext uri="{FF2B5EF4-FFF2-40B4-BE49-F238E27FC236}">
                  <a16:creationId xmlns:a16="http://schemas.microsoft.com/office/drawing/2014/main" id="{640D5BDA-A0FB-7256-CBAF-2F5EB7255A88}"/>
                </a:ext>
              </a:extLst>
            </p:cNvPr>
            <p:cNvCxnSpPr>
              <a:cxnSpLocks noChangeShapeType="1"/>
              <a:stCxn id="170" idx="3"/>
              <a:endCxn id="167" idx="1"/>
            </p:cNvCxnSpPr>
            <p:nvPr/>
          </p:nvCxnSpPr>
          <p:spPr bwMode="auto">
            <a:xfrm>
              <a:off x="2602272" y="4063765"/>
              <a:ext cx="27007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7" name="AutoShape 34">
              <a:extLst>
                <a:ext uri="{FF2B5EF4-FFF2-40B4-BE49-F238E27FC236}">
                  <a16:creationId xmlns:a16="http://schemas.microsoft.com/office/drawing/2014/main" id="{11E896F7-6D21-5533-3172-B54A16A8074C}"/>
                </a:ext>
              </a:extLst>
            </p:cNvPr>
            <p:cNvCxnSpPr>
              <a:cxnSpLocks noChangeShapeType="1"/>
              <a:stCxn id="171" idx="3"/>
              <a:endCxn id="168" idx="1"/>
            </p:cNvCxnSpPr>
            <p:nvPr/>
          </p:nvCxnSpPr>
          <p:spPr bwMode="auto">
            <a:xfrm>
              <a:off x="2602272" y="5625865"/>
              <a:ext cx="27007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8" name="Rectangle 35">
              <a:extLst>
                <a:ext uri="{FF2B5EF4-FFF2-40B4-BE49-F238E27FC236}">
                  <a16:creationId xmlns:a16="http://schemas.microsoft.com/office/drawing/2014/main" id="{1B894B88-A5EF-17C7-7C39-9E67EA4AE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845" y="2208436"/>
              <a:ext cx="728224" cy="482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2"/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전사 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KPI</a:t>
              </a:r>
            </a:p>
          </p:txBody>
        </p:sp>
        <p:sp>
          <p:nvSpPr>
            <p:cNvPr id="179" name="Rectangle 36">
              <a:extLst>
                <a:ext uri="{FF2B5EF4-FFF2-40B4-BE49-F238E27FC236}">
                  <a16:creationId xmlns:a16="http://schemas.microsoft.com/office/drawing/2014/main" id="{81D80724-301E-DBF0-7D51-491E652F4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845" y="3822465"/>
              <a:ext cx="728224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단위조직</a:t>
              </a:r>
              <a:b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KPI</a:t>
              </a:r>
            </a:p>
          </p:txBody>
        </p:sp>
        <p:sp>
          <p:nvSpPr>
            <p:cNvPr id="180" name="Rectangle 37">
              <a:extLst>
                <a:ext uri="{FF2B5EF4-FFF2-40B4-BE49-F238E27FC236}">
                  <a16:creationId xmlns:a16="http://schemas.microsoft.com/office/drawing/2014/main" id="{35EA8EB4-32E8-1517-E5EB-5D8B27EF8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0845" y="5384565"/>
              <a:ext cx="728224" cy="4826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>
                  <a:lumMod val="50000"/>
                  <a:lumOff val="50000"/>
                </a:sysClr>
              </a:solidFill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개인</a:t>
              </a:r>
              <a:b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평가지표</a:t>
              </a:r>
            </a:p>
          </p:txBody>
        </p:sp>
        <p:cxnSp>
          <p:nvCxnSpPr>
            <p:cNvPr id="181" name="AutoShape 48">
              <a:extLst>
                <a:ext uri="{FF2B5EF4-FFF2-40B4-BE49-F238E27FC236}">
                  <a16:creationId xmlns:a16="http://schemas.microsoft.com/office/drawing/2014/main" id="{CC52DEDF-0C60-8872-2740-B410AB0E7180}"/>
                </a:ext>
              </a:extLst>
            </p:cNvPr>
            <p:cNvCxnSpPr>
              <a:cxnSpLocks noChangeShapeType="1"/>
              <a:stCxn id="160" idx="3"/>
              <a:endCxn id="29" idx="1"/>
            </p:cNvCxnSpPr>
            <p:nvPr/>
          </p:nvCxnSpPr>
          <p:spPr bwMode="auto">
            <a:xfrm>
              <a:off x="4656735" y="2449736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2" name="AutoShape 49">
              <a:extLst>
                <a:ext uri="{FF2B5EF4-FFF2-40B4-BE49-F238E27FC236}">
                  <a16:creationId xmlns:a16="http://schemas.microsoft.com/office/drawing/2014/main" id="{B7A23E3B-56A0-9BEC-D0D9-E7CA11A395B0}"/>
                </a:ext>
              </a:extLst>
            </p:cNvPr>
            <p:cNvCxnSpPr>
              <a:cxnSpLocks noChangeShapeType="1"/>
              <a:stCxn id="29" idx="3"/>
              <a:endCxn id="178" idx="1"/>
            </p:cNvCxnSpPr>
            <p:nvPr/>
          </p:nvCxnSpPr>
          <p:spPr bwMode="auto">
            <a:xfrm>
              <a:off x="5712903" y="2449736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3" name="AutoShape 50">
              <a:extLst>
                <a:ext uri="{FF2B5EF4-FFF2-40B4-BE49-F238E27FC236}">
                  <a16:creationId xmlns:a16="http://schemas.microsoft.com/office/drawing/2014/main" id="{EB1768F5-EEFB-5BD3-A7F9-840FA3FC838E}"/>
                </a:ext>
              </a:extLst>
            </p:cNvPr>
            <p:cNvCxnSpPr>
              <a:cxnSpLocks noChangeShapeType="1"/>
              <a:stCxn id="164" idx="3"/>
              <a:endCxn id="30" idx="1"/>
            </p:cNvCxnSpPr>
            <p:nvPr/>
          </p:nvCxnSpPr>
          <p:spPr bwMode="auto">
            <a:xfrm>
              <a:off x="4656735" y="4063765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" name="AutoShape 51">
              <a:extLst>
                <a:ext uri="{FF2B5EF4-FFF2-40B4-BE49-F238E27FC236}">
                  <a16:creationId xmlns:a16="http://schemas.microsoft.com/office/drawing/2014/main" id="{DC2B4949-DAE5-B145-19C8-4D862BDF4D2D}"/>
                </a:ext>
              </a:extLst>
            </p:cNvPr>
            <p:cNvCxnSpPr>
              <a:cxnSpLocks noChangeShapeType="1"/>
              <a:stCxn id="30" idx="3"/>
              <a:endCxn id="179" idx="1"/>
            </p:cNvCxnSpPr>
            <p:nvPr/>
          </p:nvCxnSpPr>
          <p:spPr bwMode="auto">
            <a:xfrm>
              <a:off x="5712903" y="4063765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" name="AutoShape 52">
              <a:extLst>
                <a:ext uri="{FF2B5EF4-FFF2-40B4-BE49-F238E27FC236}">
                  <a16:creationId xmlns:a16="http://schemas.microsoft.com/office/drawing/2014/main" id="{AC50C764-DD79-3C04-F54E-090F67539F74}"/>
                </a:ext>
              </a:extLst>
            </p:cNvPr>
            <p:cNvCxnSpPr>
              <a:cxnSpLocks noChangeShapeType="1"/>
              <a:stCxn id="165" idx="3"/>
              <a:endCxn id="31" idx="1"/>
            </p:cNvCxnSpPr>
            <p:nvPr/>
          </p:nvCxnSpPr>
          <p:spPr bwMode="auto">
            <a:xfrm>
              <a:off x="4656735" y="5625865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AutoShape 53">
              <a:extLst>
                <a:ext uri="{FF2B5EF4-FFF2-40B4-BE49-F238E27FC236}">
                  <a16:creationId xmlns:a16="http://schemas.microsoft.com/office/drawing/2014/main" id="{C2E7EE5E-E98D-0128-135D-CB7687F51062}"/>
                </a:ext>
              </a:extLst>
            </p:cNvPr>
            <p:cNvCxnSpPr>
              <a:cxnSpLocks noChangeShapeType="1"/>
              <a:stCxn id="31" idx="3"/>
              <a:endCxn id="180" idx="1"/>
            </p:cNvCxnSpPr>
            <p:nvPr/>
          </p:nvCxnSpPr>
          <p:spPr bwMode="auto">
            <a:xfrm>
              <a:off x="5712903" y="5625865"/>
              <a:ext cx="32794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7" name="AutoShape 28">
              <a:extLst>
                <a:ext uri="{FF2B5EF4-FFF2-40B4-BE49-F238E27FC236}">
                  <a16:creationId xmlns:a16="http://schemas.microsoft.com/office/drawing/2014/main" id="{B5AA49F4-93FF-7905-9852-44DEFC4AAB32}"/>
                </a:ext>
              </a:extLst>
            </p:cNvPr>
            <p:cNvCxnSpPr>
              <a:cxnSpLocks noChangeShapeType="1"/>
              <a:endCxn id="164" idx="0"/>
            </p:cNvCxnSpPr>
            <p:nvPr/>
          </p:nvCxnSpPr>
          <p:spPr bwMode="auto">
            <a:xfrm>
              <a:off x="4292622" y="2691036"/>
              <a:ext cx="0" cy="11314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8" name="AutoShape 30">
              <a:extLst>
                <a:ext uri="{FF2B5EF4-FFF2-40B4-BE49-F238E27FC236}">
                  <a16:creationId xmlns:a16="http://schemas.microsoft.com/office/drawing/2014/main" id="{33AEC357-989A-1122-3766-A43BA24B7447}"/>
                </a:ext>
              </a:extLst>
            </p:cNvPr>
            <p:cNvCxnSpPr>
              <a:cxnSpLocks noChangeShapeType="1"/>
              <a:stCxn id="166" idx="2"/>
              <a:endCxn id="167" idx="0"/>
            </p:cNvCxnSpPr>
            <p:nvPr/>
          </p:nvCxnSpPr>
          <p:spPr bwMode="auto">
            <a:xfrm>
              <a:off x="3236455" y="2691036"/>
              <a:ext cx="0" cy="11314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" name="AutoShape 38">
              <a:extLst>
                <a:ext uri="{FF2B5EF4-FFF2-40B4-BE49-F238E27FC236}">
                  <a16:creationId xmlns:a16="http://schemas.microsoft.com/office/drawing/2014/main" id="{AE38D98B-B87C-9897-FEBE-4281F148B7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2238963" y="2691035"/>
              <a:ext cx="0" cy="11194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0" name="AutoShape 54">
              <a:extLst>
                <a:ext uri="{FF2B5EF4-FFF2-40B4-BE49-F238E27FC236}">
                  <a16:creationId xmlns:a16="http://schemas.microsoft.com/office/drawing/2014/main" id="{3E9931BE-456A-4ED8-2E8F-0FAD65E972B5}"/>
                </a:ext>
              </a:extLst>
            </p:cNvPr>
            <p:cNvCxnSpPr>
              <a:cxnSpLocks noChangeShapeType="1"/>
              <a:stCxn id="29" idx="2"/>
              <a:endCxn id="30" idx="0"/>
            </p:cNvCxnSpPr>
            <p:nvPr/>
          </p:nvCxnSpPr>
          <p:spPr bwMode="auto">
            <a:xfrm>
              <a:off x="5348791" y="2691036"/>
              <a:ext cx="0" cy="11314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1" name="AutoShape 56">
              <a:extLst>
                <a:ext uri="{FF2B5EF4-FFF2-40B4-BE49-F238E27FC236}">
                  <a16:creationId xmlns:a16="http://schemas.microsoft.com/office/drawing/2014/main" id="{E81644B9-ECAD-7C4C-99A1-CD002B2076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405762" y="2691035"/>
              <a:ext cx="0" cy="11194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2" name="AutoShape 29">
              <a:extLst>
                <a:ext uri="{FF2B5EF4-FFF2-40B4-BE49-F238E27FC236}">
                  <a16:creationId xmlns:a16="http://schemas.microsoft.com/office/drawing/2014/main" id="{4A530BA7-A331-0B2B-FD7D-362E2572C3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92622" y="4305065"/>
              <a:ext cx="0" cy="10795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3" name="AutoShape 31">
              <a:extLst>
                <a:ext uri="{FF2B5EF4-FFF2-40B4-BE49-F238E27FC236}">
                  <a16:creationId xmlns:a16="http://schemas.microsoft.com/office/drawing/2014/main" id="{A9AAFFDD-6AB3-A97B-E814-FCA0920B01C1}"/>
                </a:ext>
              </a:extLst>
            </p:cNvPr>
            <p:cNvCxnSpPr>
              <a:cxnSpLocks noChangeShapeType="1"/>
              <a:stCxn id="168" idx="0"/>
              <a:endCxn id="167" idx="2"/>
            </p:cNvCxnSpPr>
            <p:nvPr/>
          </p:nvCxnSpPr>
          <p:spPr bwMode="auto">
            <a:xfrm flipV="1">
              <a:off x="3236455" y="4305065"/>
              <a:ext cx="0" cy="10795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" name="AutoShape 39">
              <a:extLst>
                <a:ext uri="{FF2B5EF4-FFF2-40B4-BE49-F238E27FC236}">
                  <a16:creationId xmlns:a16="http://schemas.microsoft.com/office/drawing/2014/main" id="{264BE894-7F6E-C901-CA28-77B1B11757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2238963" y="4305065"/>
              <a:ext cx="0" cy="10795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" name="AutoShape 55">
              <a:extLst>
                <a:ext uri="{FF2B5EF4-FFF2-40B4-BE49-F238E27FC236}">
                  <a16:creationId xmlns:a16="http://schemas.microsoft.com/office/drawing/2014/main" id="{CB84227E-826B-1B2B-7318-81569061A8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348791" y="4305065"/>
              <a:ext cx="0" cy="10795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6" name="AutoShape 57">
              <a:extLst>
                <a:ext uri="{FF2B5EF4-FFF2-40B4-BE49-F238E27FC236}">
                  <a16:creationId xmlns:a16="http://schemas.microsoft.com/office/drawing/2014/main" id="{68E7C172-A708-1F0A-7FF9-BF1060EE59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04957" y="4305065"/>
              <a:ext cx="0" cy="10795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7" name="AutoShape 59">
              <a:extLst>
                <a:ext uri="{FF2B5EF4-FFF2-40B4-BE49-F238E27FC236}">
                  <a16:creationId xmlns:a16="http://schemas.microsoft.com/office/drawing/2014/main" id="{764E7F73-0272-A238-3553-0DE209A2C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932" y="2995836"/>
              <a:ext cx="1199240" cy="635668"/>
            </a:xfrm>
            <a:prstGeom prst="homePlate">
              <a:avLst>
                <a:gd name="adj" fmla="val 25623"/>
              </a:avLst>
            </a:prstGeom>
          </p:spPr>
          <p:txBody>
            <a:bodyPr>
              <a:spAutoFit/>
            </a:bodyPr>
            <a:lstStyle/>
            <a:p>
              <a:pPr algn="ctr" fontAlgn="ctr" latinLnBrk="0">
                <a:spcBef>
                  <a:spcPct val="50000"/>
                </a:spcBef>
                <a:spcAft>
                  <a:spcPct val="0"/>
                </a:spcAft>
              </a:pPr>
              <a:r>
                <a:rPr kumimoji="1" lang="ko-KR" altLang="en-US" sz="1100" kern="0" dirty="0">
                  <a:solidFill>
                    <a:srgbClr val="FF69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해당 단위</a:t>
              </a:r>
              <a:br>
                <a:rPr kumimoji="1" lang="ko-KR" altLang="en-US" sz="1100" kern="0" dirty="0">
                  <a:solidFill>
                    <a:srgbClr val="FF69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1" lang="ko-KR" altLang="en-US" sz="1100" kern="0" dirty="0">
                  <a:solidFill>
                    <a:srgbClr val="FF69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조직에서 관리 가능한가</a:t>
              </a:r>
              <a:r>
                <a:rPr kumimoji="1" lang="en-US" altLang="ko-KR" sz="1100" kern="0" dirty="0">
                  <a:solidFill>
                    <a:srgbClr val="FF69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?</a:t>
              </a:r>
            </a:p>
          </p:txBody>
        </p: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3EE4B70A-52B6-E8BD-BDBF-861D9A75B7D4}"/>
                </a:ext>
              </a:extLst>
            </p:cNvPr>
            <p:cNvGrpSpPr/>
            <p:nvPr/>
          </p:nvGrpSpPr>
          <p:grpSpPr>
            <a:xfrm rot="10800000">
              <a:off x="8551089" y="2579911"/>
              <a:ext cx="665531" cy="1204913"/>
              <a:chOff x="8543817" y="2598961"/>
              <a:chExt cx="665531" cy="1204913"/>
            </a:xfrm>
          </p:grpSpPr>
          <p:cxnSp>
            <p:nvCxnSpPr>
              <p:cNvPr id="230" name="AutoShape 100">
                <a:extLst>
                  <a:ext uri="{FF2B5EF4-FFF2-40B4-BE49-F238E27FC236}">
                    <a16:creationId xmlns:a16="http://schemas.microsoft.com/office/drawing/2014/main" id="{E0234CE7-49FD-32FC-C30E-0E86D02FA27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209348" y="2598961"/>
                <a:ext cx="0" cy="1204913"/>
              </a:xfrm>
              <a:prstGeom prst="straightConnector1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31" name="AutoShape 102">
                <a:extLst>
                  <a:ext uri="{FF2B5EF4-FFF2-40B4-BE49-F238E27FC236}">
                    <a16:creationId xmlns:a16="http://schemas.microsoft.com/office/drawing/2014/main" id="{D7F6258C-76A0-A69C-8947-23E212F6B5F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876583" y="2598961"/>
                <a:ext cx="0" cy="1204913"/>
              </a:xfrm>
              <a:prstGeom prst="straightConnector1">
                <a:avLst/>
              </a:prstGeom>
              <a:noFill/>
              <a:ln w="9525">
                <a:solidFill>
                  <a:sysClr val="windowText" lastClr="000000"/>
                </a:solidFill>
                <a:prstDash val="dash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32" name="AutoShape 104">
                <a:extLst>
                  <a:ext uri="{FF2B5EF4-FFF2-40B4-BE49-F238E27FC236}">
                    <a16:creationId xmlns:a16="http://schemas.microsoft.com/office/drawing/2014/main" id="{C75C5068-43E9-48B8-9518-4CA27FAF31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543817" y="2598961"/>
                <a:ext cx="332766" cy="1204913"/>
              </a:xfrm>
              <a:prstGeom prst="straightConnector1">
                <a:avLst/>
              </a:prstGeom>
              <a:noFill/>
              <a:ln w="9525">
                <a:solidFill>
                  <a:sysClr val="windowText" lastClr="000000"/>
                </a:solidFill>
                <a:prstDash val="dash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99" name="Oval 71">
              <a:extLst>
                <a:ext uri="{FF2B5EF4-FFF2-40B4-BE49-F238E27FC236}">
                  <a16:creationId xmlns:a16="http://schemas.microsoft.com/office/drawing/2014/main" id="{2C856AB0-BC9E-B380-C220-E89E72B82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530" y="2311624"/>
              <a:ext cx="290968" cy="287337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A</a:t>
              </a:r>
            </a:p>
          </p:txBody>
        </p:sp>
        <p:sp>
          <p:nvSpPr>
            <p:cNvPr id="200" name="Oval 72">
              <a:extLst>
                <a:ext uri="{FF2B5EF4-FFF2-40B4-BE49-F238E27FC236}">
                  <a16:creationId xmlns:a16="http://schemas.microsoft.com/office/drawing/2014/main" id="{F76FD2F4-C4B8-F902-BAE8-644515991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295" y="2311624"/>
              <a:ext cx="290969" cy="287337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</a:p>
          </p:txBody>
        </p:sp>
        <p:sp>
          <p:nvSpPr>
            <p:cNvPr id="201" name="Oval 73">
              <a:extLst>
                <a:ext uri="{FF2B5EF4-FFF2-40B4-BE49-F238E27FC236}">
                  <a16:creationId xmlns:a16="http://schemas.microsoft.com/office/drawing/2014/main" id="{1D3A8654-27F5-E1EE-EB16-B7615869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60" y="2311624"/>
              <a:ext cx="290968" cy="287337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C</a:t>
              </a:r>
            </a:p>
          </p:txBody>
        </p:sp>
        <p:sp>
          <p:nvSpPr>
            <p:cNvPr id="202" name="Oval 74">
              <a:extLst>
                <a:ext uri="{FF2B5EF4-FFF2-40B4-BE49-F238E27FC236}">
                  <a16:creationId xmlns:a16="http://schemas.microsoft.com/office/drawing/2014/main" id="{B5A9F69F-68C7-F45D-4E79-60503DF97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60" y="3924065"/>
              <a:ext cx="290968" cy="287337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C</a:t>
              </a:r>
            </a:p>
          </p:txBody>
        </p:sp>
        <p:sp>
          <p:nvSpPr>
            <p:cNvPr id="203" name="Oval 75">
              <a:extLst>
                <a:ext uri="{FF2B5EF4-FFF2-40B4-BE49-F238E27FC236}">
                  <a16:creationId xmlns:a16="http://schemas.microsoft.com/office/drawing/2014/main" id="{2F266B09-9421-205C-24D2-C22FBC2B1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60" y="5494102"/>
              <a:ext cx="290968" cy="287338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C</a:t>
              </a:r>
            </a:p>
          </p:txBody>
        </p:sp>
        <p:sp>
          <p:nvSpPr>
            <p:cNvPr id="204" name="Oval 76">
              <a:extLst>
                <a:ext uri="{FF2B5EF4-FFF2-40B4-BE49-F238E27FC236}">
                  <a16:creationId xmlns:a16="http://schemas.microsoft.com/office/drawing/2014/main" id="{C2346FEC-827D-3799-95C7-CD40789BD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295" y="3924065"/>
              <a:ext cx="290969" cy="287337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B’’</a:t>
              </a:r>
            </a:p>
          </p:txBody>
        </p:sp>
        <p:sp>
          <p:nvSpPr>
            <p:cNvPr id="205" name="Oval 77">
              <a:extLst>
                <a:ext uri="{FF2B5EF4-FFF2-40B4-BE49-F238E27FC236}">
                  <a16:creationId xmlns:a16="http://schemas.microsoft.com/office/drawing/2014/main" id="{2FF565CB-2BA3-959B-879C-BB4E9BC96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295" y="5494102"/>
              <a:ext cx="290969" cy="287338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B’’</a:t>
              </a:r>
            </a:p>
          </p:txBody>
        </p:sp>
        <p:sp>
          <p:nvSpPr>
            <p:cNvPr id="206" name="Oval 78">
              <a:extLst>
                <a:ext uri="{FF2B5EF4-FFF2-40B4-BE49-F238E27FC236}">
                  <a16:creationId xmlns:a16="http://schemas.microsoft.com/office/drawing/2014/main" id="{6AA44166-0499-4B9D-11BC-E9E17C863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530" y="3924065"/>
              <a:ext cx="290968" cy="287337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B’</a:t>
              </a:r>
            </a:p>
          </p:txBody>
        </p:sp>
        <p:sp>
          <p:nvSpPr>
            <p:cNvPr id="207" name="Oval 79">
              <a:extLst>
                <a:ext uri="{FF2B5EF4-FFF2-40B4-BE49-F238E27FC236}">
                  <a16:creationId xmlns:a16="http://schemas.microsoft.com/office/drawing/2014/main" id="{CE31F56A-DF9C-0322-7EFE-C543338B1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3607" y="3924065"/>
              <a:ext cx="290969" cy="287337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D</a:t>
              </a:r>
            </a:p>
          </p:txBody>
        </p:sp>
        <p:sp>
          <p:nvSpPr>
            <p:cNvPr id="208" name="Oval 80">
              <a:extLst>
                <a:ext uri="{FF2B5EF4-FFF2-40B4-BE49-F238E27FC236}">
                  <a16:creationId xmlns:a16="http://schemas.microsoft.com/office/drawing/2014/main" id="{2B3743EE-E5FA-3C36-43EE-D96EC6F4E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6372" y="3924065"/>
              <a:ext cx="290968" cy="287337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E</a:t>
              </a:r>
            </a:p>
          </p:txBody>
        </p:sp>
        <p:sp>
          <p:nvSpPr>
            <p:cNvPr id="209" name="Oval 81">
              <a:extLst>
                <a:ext uri="{FF2B5EF4-FFF2-40B4-BE49-F238E27FC236}">
                  <a16:creationId xmlns:a16="http://schemas.microsoft.com/office/drawing/2014/main" id="{576AB55E-5FD9-A1AA-84E5-C406B3FB7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3607" y="5494102"/>
              <a:ext cx="290969" cy="287338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D’</a:t>
              </a:r>
            </a:p>
          </p:txBody>
        </p:sp>
        <p:sp>
          <p:nvSpPr>
            <p:cNvPr id="210" name="Oval 82">
              <a:extLst>
                <a:ext uri="{FF2B5EF4-FFF2-40B4-BE49-F238E27FC236}">
                  <a16:creationId xmlns:a16="http://schemas.microsoft.com/office/drawing/2014/main" id="{7E17E335-70A7-ABCA-3FB2-3CF8828E8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6372" y="5494102"/>
              <a:ext cx="290968" cy="287338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E</a:t>
              </a:r>
            </a:p>
          </p:txBody>
        </p:sp>
        <p:sp>
          <p:nvSpPr>
            <p:cNvPr id="211" name="Oval 83">
              <a:extLst>
                <a:ext uri="{FF2B5EF4-FFF2-40B4-BE49-F238E27FC236}">
                  <a16:creationId xmlns:a16="http://schemas.microsoft.com/office/drawing/2014/main" id="{DB21E55E-5C71-8CE2-5208-E1E3C282C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0842" y="5494102"/>
              <a:ext cx="290968" cy="287338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G</a:t>
              </a:r>
            </a:p>
          </p:txBody>
        </p:sp>
        <p:sp>
          <p:nvSpPr>
            <p:cNvPr id="212" name="Oval 84">
              <a:extLst>
                <a:ext uri="{FF2B5EF4-FFF2-40B4-BE49-F238E27FC236}">
                  <a16:creationId xmlns:a16="http://schemas.microsoft.com/office/drawing/2014/main" id="{6498BB7F-FD44-2E91-504B-E41C5C84F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530" y="5494102"/>
              <a:ext cx="290968" cy="287338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</a:p>
          </p:txBody>
        </p:sp>
        <p:sp>
          <p:nvSpPr>
            <p:cNvPr id="213" name="Oval 85">
              <a:extLst>
                <a:ext uri="{FF2B5EF4-FFF2-40B4-BE49-F238E27FC236}">
                  <a16:creationId xmlns:a16="http://schemas.microsoft.com/office/drawing/2014/main" id="{0B46E627-DF06-EA8C-AB63-F5DAC7439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9685" y="5494102"/>
              <a:ext cx="290968" cy="287338"/>
            </a:xfrm>
            <a:prstGeom prst="ellipse">
              <a:avLst/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18000" rIns="18000" anchor="ctr" anchorCtr="1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F</a:t>
              </a:r>
            </a:p>
          </p:txBody>
        </p:sp>
        <p:sp>
          <p:nvSpPr>
            <p:cNvPr id="214" name="AutoShape 86">
              <a:extLst>
                <a:ext uri="{FF2B5EF4-FFF2-40B4-BE49-F238E27FC236}">
                  <a16:creationId xmlns:a16="http://schemas.microsoft.com/office/drawing/2014/main" id="{3A6F02DE-2FB0-DE85-2704-AE33B7F0A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2396" y="4627328"/>
              <a:ext cx="1199240" cy="635668"/>
            </a:xfrm>
            <a:prstGeom prst="homePlate">
              <a:avLst>
                <a:gd name="adj" fmla="val 25623"/>
              </a:avLst>
            </a:prstGeom>
          </p:spPr>
          <p:txBody>
            <a:bodyPr>
              <a:spAutoFit/>
            </a:bodyPr>
            <a:lstStyle>
              <a:lvl1pPr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algn="ctr" fontAlgn="ctr" latinLnBrk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ko-KR" altLang="en-US" sz="1100" kern="0" dirty="0">
                  <a:solidFill>
                    <a:srgbClr val="FF69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조직 내 개인 단위에서 관리 가능한가</a:t>
              </a:r>
              <a:r>
                <a:rPr kumimoji="1" lang="en-US" altLang="ko-KR" sz="1100" kern="0" dirty="0">
                  <a:solidFill>
                    <a:srgbClr val="FF69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?</a:t>
              </a:r>
            </a:p>
          </p:txBody>
        </p:sp>
        <p:cxnSp>
          <p:nvCxnSpPr>
            <p:cNvPr id="215" name="AutoShape 91">
              <a:extLst>
                <a:ext uri="{FF2B5EF4-FFF2-40B4-BE49-F238E27FC236}">
                  <a16:creationId xmlns:a16="http://schemas.microsoft.com/office/drawing/2014/main" id="{5B41CAEA-79B7-BE6D-4146-E322E11D9C17}"/>
                </a:ext>
              </a:extLst>
            </p:cNvPr>
            <p:cNvCxnSpPr>
              <a:cxnSpLocks noChangeShapeType="1"/>
              <a:stCxn id="178" idx="3"/>
              <a:endCxn id="21" idx="1"/>
            </p:cNvCxnSpPr>
            <p:nvPr/>
          </p:nvCxnSpPr>
          <p:spPr bwMode="auto">
            <a:xfrm flipV="1">
              <a:off x="6769069" y="2446561"/>
              <a:ext cx="1549690" cy="31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6" name="AutoShape 92">
              <a:extLst>
                <a:ext uri="{FF2B5EF4-FFF2-40B4-BE49-F238E27FC236}">
                  <a16:creationId xmlns:a16="http://schemas.microsoft.com/office/drawing/2014/main" id="{64404306-337B-258C-FE1A-A41C99742E08}"/>
                </a:ext>
              </a:extLst>
            </p:cNvPr>
            <p:cNvCxnSpPr>
              <a:cxnSpLocks noChangeShapeType="1"/>
              <a:stCxn id="179" idx="3"/>
              <a:endCxn id="27" idx="1"/>
            </p:cNvCxnSpPr>
            <p:nvPr/>
          </p:nvCxnSpPr>
          <p:spPr bwMode="auto">
            <a:xfrm flipV="1">
              <a:off x="6769070" y="4062177"/>
              <a:ext cx="874513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7" name="AutoShape 93">
              <a:extLst>
                <a:ext uri="{FF2B5EF4-FFF2-40B4-BE49-F238E27FC236}">
                  <a16:creationId xmlns:a16="http://schemas.microsoft.com/office/drawing/2014/main" id="{125896B7-16FE-0DF3-FFFD-0776936D034C}"/>
                </a:ext>
              </a:extLst>
            </p:cNvPr>
            <p:cNvCxnSpPr>
              <a:cxnSpLocks noChangeShapeType="1"/>
              <a:stCxn id="180" idx="3"/>
              <a:endCxn id="28" idx="1"/>
            </p:cNvCxnSpPr>
            <p:nvPr/>
          </p:nvCxnSpPr>
          <p:spPr bwMode="auto">
            <a:xfrm flipV="1">
              <a:off x="6769070" y="5624277"/>
              <a:ext cx="237919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8" name="AutoShape 101">
              <a:extLst>
                <a:ext uri="{FF2B5EF4-FFF2-40B4-BE49-F238E27FC236}">
                  <a16:creationId xmlns:a16="http://schemas.microsoft.com/office/drawing/2014/main" id="{FC7483E3-59AF-2D8A-41F5-65FAD8B8DD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7878167" y="4211402"/>
              <a:ext cx="0" cy="1282700"/>
            </a:xfrm>
            <a:prstGeom prst="straightConnector1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9" name="AutoShape 103">
              <a:extLst>
                <a:ext uri="{FF2B5EF4-FFF2-40B4-BE49-F238E27FC236}">
                  <a16:creationId xmlns:a16="http://schemas.microsoft.com/office/drawing/2014/main" id="{05318DDC-8587-4CE1-5D13-A8B5CEEF89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8210932" y="4211402"/>
              <a:ext cx="0" cy="1282700"/>
            </a:xfrm>
            <a:prstGeom prst="straightConnector1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0" name="AutoShape 105">
              <a:extLst>
                <a:ext uri="{FF2B5EF4-FFF2-40B4-BE49-F238E27FC236}">
                  <a16:creationId xmlns:a16="http://schemas.microsoft.com/office/drawing/2014/main" id="{9B6D40BD-A3AD-3BD9-2686-1F2D257AD8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8543698" y="4211402"/>
              <a:ext cx="0" cy="1282700"/>
            </a:xfrm>
            <a:prstGeom prst="straightConnector1">
              <a:avLst/>
            </a:prstGeom>
            <a:noFill/>
            <a:ln w="9525">
              <a:solidFill>
                <a:sysClr val="windowText" lastClr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1" name="AutoShape 106">
              <a:extLst>
                <a:ext uri="{FF2B5EF4-FFF2-40B4-BE49-F238E27FC236}">
                  <a16:creationId xmlns:a16="http://schemas.microsoft.com/office/drawing/2014/main" id="{A624C2B9-2A44-5AAB-569C-3F09D2A449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8874855" y="4211402"/>
              <a:ext cx="0" cy="1282700"/>
            </a:xfrm>
            <a:prstGeom prst="straightConnector1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2" name="AutoShape 107">
              <a:extLst>
                <a:ext uri="{FF2B5EF4-FFF2-40B4-BE49-F238E27FC236}">
                  <a16:creationId xmlns:a16="http://schemas.microsoft.com/office/drawing/2014/main" id="{B4336962-4961-8272-F80A-7A846472AD7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9207620" y="4211402"/>
              <a:ext cx="0" cy="1282700"/>
            </a:xfrm>
            <a:prstGeom prst="straightConnector1">
              <a:avLst/>
            </a:prstGeom>
            <a:noFill/>
            <a:ln w="9525">
              <a:solidFill>
                <a:sysClr val="windowText" lastClr="000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3" name="Text Box 46">
              <a:extLst>
                <a:ext uri="{FF2B5EF4-FFF2-40B4-BE49-F238E27FC236}">
                  <a16:creationId xmlns:a16="http://schemas.microsoft.com/office/drawing/2014/main" id="{DB7D0AFD-8C37-63F3-F856-F4AFAC582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420" y="1678531"/>
              <a:ext cx="2218556" cy="228189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 algn="ctr" fontAlgn="base" latinLnBrk="0">
                <a:spcBef>
                  <a:spcPct val="50000"/>
                </a:spcBef>
                <a:spcAft>
                  <a:spcPct val="0"/>
                </a:spcAft>
                <a:defRPr kumimoji="1" sz="1400" b="1" kern="0">
                  <a:solidFill>
                    <a:srgbClr val="000000"/>
                  </a:solidFill>
                  <a:latin typeface="+mn-ea"/>
                  <a:cs typeface="굴림" pitchFamily="50" charset="-127"/>
                </a:defRPr>
              </a:lvl1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목표 순차적 세분화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및 구체화</a:t>
              </a:r>
              <a:endParaRPr kumimoji="1" lang="en-US" altLang="ko-KR" sz="1400" b="0" i="0" u="none" strike="noStrike" kern="1200" cap="none" spc="0" normalizeH="0" baseline="0" noProof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224" name="Text Box 47">
              <a:extLst>
                <a:ext uri="{FF2B5EF4-FFF2-40B4-BE49-F238E27FC236}">
                  <a16:creationId xmlns:a16="http://schemas.microsoft.com/office/drawing/2014/main" id="{C72B8D78-E064-B0E6-6263-59EF139B8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2717" y="1678531"/>
              <a:ext cx="1651094" cy="228189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lvl="0" algn="ctr" fontAlgn="base" latinLnBrk="0">
                <a:spcBef>
                  <a:spcPct val="50000"/>
                </a:spcBef>
                <a:spcAft>
                  <a:spcPct val="0"/>
                </a:spcAft>
                <a:defRPr kumimoji="1" sz="1400" b="1" kern="0">
                  <a:solidFill>
                    <a:srgbClr val="000000"/>
                  </a:solidFill>
                  <a:latin typeface="+mn-ea"/>
                  <a:cs typeface="굴림" pitchFamily="50" charset="-127"/>
                </a:defRPr>
              </a:lvl1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KPI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정렬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(Alignment)</a:t>
              </a:r>
            </a:p>
          </p:txBody>
        </p:sp>
        <p:sp>
          <p:nvSpPr>
            <p:cNvPr id="225" name="Line 5">
              <a:extLst>
                <a:ext uri="{FF2B5EF4-FFF2-40B4-BE49-F238E27FC236}">
                  <a16:creationId xmlns:a16="http://schemas.microsoft.com/office/drawing/2014/main" id="{E945A20C-2611-607B-6317-102209C3B9D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986188" y="1954468"/>
              <a:ext cx="3604151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none" lIns="36000" tIns="36000" rIns="3600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6" name="Line 5">
              <a:extLst>
                <a:ext uri="{FF2B5EF4-FFF2-40B4-BE49-F238E27FC236}">
                  <a16:creationId xmlns:a16="http://schemas.microsoft.com/office/drawing/2014/main" id="{D5899375-15F2-4104-268C-98823C14D4D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798492" y="1953020"/>
              <a:ext cx="3914412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none" lIns="36000" tIns="36000" rIns="3600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7" name="Line 5">
              <a:extLst>
                <a:ext uri="{FF2B5EF4-FFF2-40B4-BE49-F238E27FC236}">
                  <a16:creationId xmlns:a16="http://schemas.microsoft.com/office/drawing/2014/main" id="{D05EC5AA-C13E-C95B-C30E-7EFF03639A4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57200" y="1953020"/>
              <a:ext cx="1131389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none" lIns="36000" tIns="36000" rIns="3600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6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6F6FEAE-03DD-8DA8-8B59-32C82E9F5019}"/>
                </a:ext>
              </a:extLst>
            </p:cNvPr>
            <p:cNvSpPr txBox="1"/>
            <p:nvPr/>
          </p:nvSpPr>
          <p:spPr>
            <a:xfrm>
              <a:off x="2629437" y="3043623"/>
              <a:ext cx="3287529" cy="3689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FF6900"/>
                  </a:solidFill>
                  <a:highlight>
                    <a:srgbClr val="FFEEE1"/>
                  </a:highlight>
                  <a:latin typeface="나눔고딕" panose="020D0604000000000000" pitchFamily="50" charset="-127"/>
                  <a:ea typeface="나눔고딕" panose="020D0604000000000000" pitchFamily="50" charset="-127"/>
                </a:rPr>
                <a:t>Top -down Approach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48367CF-52BD-3028-E4DC-F421424F2DFD}"/>
                </a:ext>
              </a:extLst>
            </p:cNvPr>
            <p:cNvSpPr txBox="1"/>
            <p:nvPr/>
          </p:nvSpPr>
          <p:spPr>
            <a:xfrm>
              <a:off x="2626162" y="4643823"/>
              <a:ext cx="3294079" cy="3689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FF6900"/>
                  </a:solidFill>
                  <a:highlight>
                    <a:srgbClr val="FFEEE1"/>
                  </a:highlight>
                  <a:latin typeface="나눔고딕" panose="020D0604000000000000" pitchFamily="50" charset="-127"/>
                  <a:ea typeface="나눔고딕" panose="020D0604000000000000" pitchFamily="50" charset="-127"/>
                </a:rPr>
                <a:t>Bottom -up Approach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5674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910F-3987-3AD2-D8D5-02ACA334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DBC9445-A9EC-C647-1DC3-F351891994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직무별 역할 정의를 기반으로 성과</a:t>
            </a:r>
            <a:r>
              <a:rPr lang="en-US" altLang="ko-KR" dirty="0"/>
              <a:t>·</a:t>
            </a:r>
            <a:r>
              <a:rPr lang="ko-KR" altLang="en-US" dirty="0"/>
              <a:t>책임</a:t>
            </a:r>
            <a:r>
              <a:rPr lang="en-US" altLang="ko-KR" dirty="0"/>
              <a:t>·</a:t>
            </a:r>
            <a:r>
              <a:rPr lang="ko-KR" altLang="en-US" dirty="0"/>
              <a:t>전문성을 종합 평가하고</a:t>
            </a:r>
            <a:r>
              <a:rPr lang="en-US" altLang="ko-KR" dirty="0"/>
              <a:t>, </a:t>
            </a:r>
            <a:r>
              <a:rPr lang="ko-KR" altLang="en-US" dirty="0"/>
              <a:t>평가 결과를 보상</a:t>
            </a:r>
            <a:r>
              <a:rPr lang="en-US" altLang="ko-KR" dirty="0"/>
              <a:t>·</a:t>
            </a:r>
            <a:r>
              <a:rPr lang="ko-KR" altLang="en-US" dirty="0"/>
              <a:t>승진</a:t>
            </a:r>
            <a:r>
              <a:rPr lang="en-US" altLang="ko-KR" dirty="0"/>
              <a:t>·</a:t>
            </a:r>
            <a:r>
              <a:rPr lang="ko-KR" altLang="en-US" dirty="0"/>
              <a:t>경력개발에 직접 연계하는 공정한 역할평가 체계를 설계함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A3FD94B-82CC-C70B-E558-24C8D5FFF2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FA06D4-6FA5-C937-C927-96FB7DF7D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[S1] </a:t>
            </a:r>
            <a:r>
              <a:rPr lang="ko-KR" altLang="en-US" dirty="0"/>
              <a:t>평가 모형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00BDD9E-657C-683F-2BA2-3E752768A0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EC7A7B8-5AF6-424C-A95E-4D5C258C6C91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55CC8579-163F-5806-B8E8-FE65864C0822}"/>
                </a:ext>
              </a:extLst>
            </p:cNvPr>
            <p:cNvSpPr/>
            <p:nvPr userDrawn="1"/>
          </p:nvSpPr>
          <p:spPr>
            <a:xfrm>
              <a:off x="2915964" y="1626519"/>
              <a:ext cx="1145369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(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개인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)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역할평가 설계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33F9565B-3293-9567-C50B-02C9B012B986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1320E9BA-E4FF-F6A1-6518-F42655065A9F}"/>
              </a:ext>
            </a:extLst>
          </p:cNvPr>
          <p:cNvGrpSpPr/>
          <p:nvPr/>
        </p:nvGrpSpPr>
        <p:grpSpPr>
          <a:xfrm>
            <a:off x="273050" y="2062872"/>
            <a:ext cx="6797677" cy="4066465"/>
            <a:chOff x="273050" y="2062872"/>
            <a:chExt cx="4535489" cy="406646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E360A5EB-5D2C-388B-7AC6-58F4B03BFE25}"/>
                </a:ext>
              </a:extLst>
            </p:cNvPr>
            <p:cNvSpPr/>
            <p:nvPr/>
          </p:nvSpPr>
          <p:spPr>
            <a:xfrm>
              <a:off x="1302743" y="2071552"/>
              <a:ext cx="3505796" cy="29793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BIM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컨설팅</a:t>
              </a:r>
              <a:endParaRPr lang="en-US" altLang="ko-KR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BB26DAE-CD59-13CE-A2B1-62A929502765}"/>
                </a:ext>
              </a:extLst>
            </p:cNvPr>
            <p:cNvSpPr/>
            <p:nvPr/>
          </p:nvSpPr>
          <p:spPr>
            <a:xfrm>
              <a:off x="723952" y="2472243"/>
              <a:ext cx="524376" cy="31964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900" dirty="0">
                  <a:latin typeface="+mj-ea"/>
                  <a:ea typeface="+mj-ea"/>
                </a:rPr>
                <a:t>역할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19A5B4-6D28-ED56-5887-A3E36671A4EA}"/>
                </a:ext>
              </a:extLst>
            </p:cNvPr>
            <p:cNvSpPr/>
            <p:nvPr/>
          </p:nvSpPr>
          <p:spPr>
            <a:xfrm>
              <a:off x="273051" y="2472243"/>
              <a:ext cx="375628" cy="31964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900" dirty="0">
                  <a:latin typeface="+mj-ea"/>
                  <a:ea typeface="+mj-ea"/>
                </a:rPr>
                <a:t>직급</a:t>
              </a:r>
              <a:endParaRPr lang="en-US" altLang="ko-KR" sz="900"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500">
                  <a:latin typeface="+mj-ea"/>
                  <a:ea typeface="+mj-ea"/>
                </a:rPr>
                <a:t>(</a:t>
              </a:r>
              <a:r>
                <a:rPr lang="ko-KR" altLang="en-US" sz="500">
                  <a:latin typeface="+mj-ea"/>
                  <a:ea typeface="+mj-ea"/>
                </a:rPr>
                <a:t>역할 </a:t>
              </a:r>
              <a:r>
                <a:rPr lang="ko-KR" altLang="en-US" sz="500" dirty="0">
                  <a:latin typeface="+mj-ea"/>
                  <a:ea typeface="+mj-ea"/>
                </a:rPr>
                <a:t>등급</a:t>
              </a:r>
              <a:r>
                <a:rPr lang="en-US" altLang="ko-KR" sz="500">
                  <a:latin typeface="+mj-ea"/>
                  <a:ea typeface="+mj-ea"/>
                </a:rPr>
                <a:t>)</a:t>
              </a:r>
              <a:endParaRPr lang="en-US" altLang="ko-KR" sz="500" dirty="0">
                <a:latin typeface="+mj-ea"/>
                <a:ea typeface="+mj-ea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8154621-3C85-9B50-6991-CB84E4D0984D}"/>
                </a:ext>
              </a:extLst>
            </p:cNvPr>
            <p:cNvSpPr/>
            <p:nvPr/>
          </p:nvSpPr>
          <p:spPr>
            <a:xfrm>
              <a:off x="1302742" y="2472243"/>
              <a:ext cx="3505796" cy="319640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000" dirty="0">
                  <a:latin typeface="+mj-ea"/>
                  <a:ea typeface="+mj-ea"/>
                </a:rPr>
                <a:t>역할 등급 정의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AD51C1F2-53C6-13A3-4B64-2DF27A87D40B}"/>
                </a:ext>
              </a:extLst>
            </p:cNvPr>
            <p:cNvSpPr/>
            <p:nvPr/>
          </p:nvSpPr>
          <p:spPr>
            <a:xfrm>
              <a:off x="723952" y="2846645"/>
              <a:ext cx="524376" cy="4490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사업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조직 </a:t>
              </a:r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관리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F408F01-DE91-BB3C-4D9E-0C923B7FCEAF}"/>
                </a:ext>
              </a:extLst>
            </p:cNvPr>
            <p:cNvSpPr/>
            <p:nvPr/>
          </p:nvSpPr>
          <p:spPr>
            <a:xfrm>
              <a:off x="273051" y="2843804"/>
              <a:ext cx="375628" cy="4490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G6</a:t>
              </a:r>
              <a:endParaRPr lang="ko-KR" altLang="en-US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881115B2-394D-40B7-F9CD-95BEFCC5A23B}"/>
                </a:ext>
              </a:extLst>
            </p:cNvPr>
            <p:cNvSpPr/>
            <p:nvPr/>
          </p:nvSpPr>
          <p:spPr>
            <a:xfrm>
              <a:off x="1302743" y="2843804"/>
              <a:ext cx="3505796" cy="4490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BIM 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컨설팅 전략과 서비스 체계를 총괄하며 대외 협력과 사업 확장을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책임지는 역할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  <a:endParaRPr lang="en-US" altLang="ko-KR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DB58D4C4-55E1-FCD3-D0EC-8CFE1A7C18C7}"/>
                </a:ext>
              </a:extLst>
            </p:cNvPr>
            <p:cNvSpPr/>
            <p:nvPr/>
          </p:nvSpPr>
          <p:spPr>
            <a:xfrm>
              <a:off x="723952" y="3864481"/>
              <a:ext cx="524376" cy="37575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800" dirty="0">
                  <a:solidFill>
                    <a:schemeClr val="tx1"/>
                  </a:solidFill>
                  <a:latin typeface="+mj-ea"/>
                </a:rPr>
                <a:t>실무</a:t>
              </a:r>
              <a:endParaRPr lang="en-US" altLang="ko-KR" sz="800">
                <a:solidFill>
                  <a:schemeClr val="tx1"/>
                </a:solidFill>
                <a:latin typeface="+mj-ea"/>
              </a:endParaRPr>
            </a:p>
            <a:p>
              <a:pPr algn="ctr" latinLnBrk="0"/>
              <a:r>
                <a:rPr lang="ko-KR" altLang="en-US" sz="800">
                  <a:solidFill>
                    <a:schemeClr val="tx1"/>
                  </a:solidFill>
                  <a:latin typeface="+mj-ea"/>
                </a:rPr>
                <a:t>스페셜리스트</a:t>
              </a:r>
              <a:endParaRPr lang="ko-KR" altLang="en-US" sz="800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B6DB5283-70C8-1AD8-AD78-AF4A81CCB59E}"/>
                </a:ext>
              </a:extLst>
            </p:cNvPr>
            <p:cNvSpPr/>
            <p:nvPr/>
          </p:nvSpPr>
          <p:spPr>
            <a:xfrm>
              <a:off x="273051" y="3864481"/>
              <a:ext cx="375628" cy="37575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G5-S</a:t>
              </a:r>
              <a:endParaRPr lang="ko-KR" altLang="en-US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9B000DB2-CA78-1E2F-3E46-4C95BC1AA941}"/>
                </a:ext>
              </a:extLst>
            </p:cNvPr>
            <p:cNvSpPr/>
            <p:nvPr/>
          </p:nvSpPr>
          <p:spPr>
            <a:xfrm>
              <a:off x="1302743" y="3864481"/>
              <a:ext cx="3505796" cy="37575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BIM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설계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시뮬레이션</a:t>
              </a:r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검증 등 고난이도 과제를 전문적으로 수행하며 기술 자산화와 표준화를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주도하는 역할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  <a:endParaRPr lang="en-US" altLang="ko-KR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3F8FACF-6BB6-5CA2-3B2C-331A6A8E3123}"/>
                </a:ext>
              </a:extLst>
            </p:cNvPr>
            <p:cNvSpPr/>
            <p:nvPr/>
          </p:nvSpPr>
          <p:spPr>
            <a:xfrm>
              <a:off x="723952" y="4809029"/>
              <a:ext cx="524376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핵심 실무</a:t>
              </a: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4729EEFC-8CF2-9608-45FF-38DEBB0181CA}"/>
                </a:ext>
              </a:extLst>
            </p:cNvPr>
            <p:cNvSpPr/>
            <p:nvPr/>
          </p:nvSpPr>
          <p:spPr>
            <a:xfrm>
              <a:off x="273051" y="4809029"/>
              <a:ext cx="375628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G3</a:t>
              </a:r>
              <a:endParaRPr lang="ko-KR" altLang="en-US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6F8BA7D-1A1B-5DE2-36B3-82FE7DD2ADDD}"/>
                </a:ext>
              </a:extLst>
            </p:cNvPr>
            <p:cNvSpPr/>
            <p:nvPr/>
          </p:nvSpPr>
          <p:spPr>
            <a:xfrm>
              <a:off x="1302743" y="4809029"/>
              <a:ext cx="3505796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BIM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모델링</a:t>
              </a:r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구조 검토</a:t>
              </a:r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시뮬레이션 등 주요 과제를 수행하고 산출물 품질과 납기를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책임지는 역할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  <a:endParaRPr lang="en-US" altLang="ko-KR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A256E3F-9CE8-5555-F061-8DD892500AAA}"/>
                </a:ext>
              </a:extLst>
            </p:cNvPr>
            <p:cNvSpPr/>
            <p:nvPr/>
          </p:nvSpPr>
          <p:spPr>
            <a:xfrm>
              <a:off x="723952" y="3392208"/>
              <a:ext cx="524376" cy="37575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직무 관리</a:t>
              </a:r>
              <a:endParaRPr lang="en-US" altLang="ko-KR" sz="80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(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부서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)</a:t>
              </a:r>
              <a:endParaRPr lang="ko-KR" altLang="en-US" sz="8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1E0E3A6-BCFE-77F4-63AE-F77E9C90E34C}"/>
                </a:ext>
              </a:extLst>
            </p:cNvPr>
            <p:cNvSpPr/>
            <p:nvPr/>
          </p:nvSpPr>
          <p:spPr>
            <a:xfrm>
              <a:off x="273051" y="3392208"/>
              <a:ext cx="375628" cy="37575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900">
                  <a:solidFill>
                    <a:schemeClr val="tx1"/>
                  </a:solidFill>
                  <a:latin typeface="+mj-ea"/>
                </a:rPr>
                <a:t>G5-M</a:t>
              </a:r>
              <a:endParaRPr lang="ko-KR" altLang="en-US" sz="900" dirty="0">
                <a:solidFill>
                  <a:schemeClr val="tx1"/>
                </a:solidFill>
                <a:latin typeface="+mj-ea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ED442FE-7BC0-EBE5-70C3-0EFC689DDD7A}"/>
                </a:ext>
              </a:extLst>
            </p:cNvPr>
            <p:cNvSpPr/>
            <p:nvPr/>
          </p:nvSpPr>
          <p:spPr>
            <a:xfrm>
              <a:off x="1302743" y="3392208"/>
              <a:ext cx="3505796" cy="37575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BIM 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컨설팅 조직의 목표와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방향을 설정</a:t>
              </a:r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관리하고 프로젝트 포트폴리오 운영 및 성과 달성을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총괄하는 역할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  <a:endParaRPr lang="en-US" altLang="ko-KR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718EF1D4-4021-E665-08F5-6D2EEB0DEE37}"/>
                </a:ext>
              </a:extLst>
            </p:cNvPr>
            <p:cNvSpPr/>
            <p:nvPr/>
          </p:nvSpPr>
          <p:spPr>
            <a:xfrm>
              <a:off x="723952" y="5753578"/>
              <a:ext cx="524376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실무 보조</a:t>
              </a: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19546FDC-AF82-F2D9-4583-0DCD9ECCB50F}"/>
                </a:ext>
              </a:extLst>
            </p:cNvPr>
            <p:cNvSpPr/>
            <p:nvPr/>
          </p:nvSpPr>
          <p:spPr>
            <a:xfrm>
              <a:off x="273051" y="5753578"/>
              <a:ext cx="375628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G1</a:t>
              </a:r>
              <a:endParaRPr lang="ko-KR" altLang="en-US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6D59C9BC-61B8-D078-5D09-030A354EF799}"/>
                </a:ext>
              </a:extLst>
            </p:cNvPr>
            <p:cNvSpPr/>
            <p:nvPr/>
          </p:nvSpPr>
          <p:spPr>
            <a:xfrm>
              <a:off x="1302743" y="5753578"/>
              <a:ext cx="3505796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BIM 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모델링 기초 작업과 자료 정리를 담당하며 실무 진행을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보조하는 역할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  <a:endParaRPr lang="en-US" altLang="ko-KR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453A18E4-7FBC-7F95-D304-6A3F65736A01}"/>
                </a:ext>
              </a:extLst>
            </p:cNvPr>
            <p:cNvSpPr/>
            <p:nvPr/>
          </p:nvSpPr>
          <p:spPr>
            <a:xfrm>
              <a:off x="723952" y="5281302"/>
              <a:ext cx="524376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실무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E2A3166D-256D-F06B-8D01-E6AB08CCAE40}"/>
                </a:ext>
              </a:extLst>
            </p:cNvPr>
            <p:cNvSpPr/>
            <p:nvPr/>
          </p:nvSpPr>
          <p:spPr>
            <a:xfrm>
              <a:off x="273051" y="5281302"/>
              <a:ext cx="375628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G2</a:t>
              </a:r>
              <a:endParaRPr lang="ko-KR" altLang="en-US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F019262-134F-B48D-0B4E-7A51298588F4}"/>
                </a:ext>
              </a:extLst>
            </p:cNvPr>
            <p:cNvSpPr/>
            <p:nvPr/>
          </p:nvSpPr>
          <p:spPr>
            <a:xfrm>
              <a:off x="1302743" y="5281302"/>
              <a:ext cx="3505796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BIM 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모델링과 도면 작성 등 세부 실무를 독립적으로 수행하며 프로젝트 품질 확보를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지원하는 역할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  <a:endParaRPr lang="en-US" altLang="ko-KR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661C5C2-F43B-A76E-E536-50BD91418D71}"/>
                </a:ext>
              </a:extLst>
            </p:cNvPr>
            <p:cNvSpPr/>
            <p:nvPr/>
          </p:nvSpPr>
          <p:spPr>
            <a:xfrm>
              <a:off x="723952" y="4336754"/>
              <a:ext cx="524376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실무 책임</a:t>
              </a:r>
              <a:endParaRPr lang="en-US" altLang="ko-KR" sz="80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algn="ctr" latinLnBrk="0"/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(PM)</a:t>
              </a:r>
              <a:endParaRPr lang="ko-KR" altLang="en-US" sz="8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D4225D9E-4C5D-128A-DDD4-F57833EFF8D2}"/>
                </a:ext>
              </a:extLst>
            </p:cNvPr>
            <p:cNvSpPr/>
            <p:nvPr/>
          </p:nvSpPr>
          <p:spPr>
            <a:xfrm>
              <a:off x="273051" y="4336754"/>
              <a:ext cx="375628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G4</a:t>
              </a:r>
              <a:endParaRPr lang="ko-KR" altLang="en-US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34C2BC98-DFDB-6BDA-DDFC-B85FB02D07E3}"/>
                </a:ext>
              </a:extLst>
            </p:cNvPr>
            <p:cNvSpPr/>
            <p:nvPr/>
          </p:nvSpPr>
          <p:spPr>
            <a:xfrm>
              <a:off x="1302743" y="4336754"/>
              <a:ext cx="3505796" cy="37575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BIM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프로젝트를 기획</a:t>
              </a:r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운영하며 일정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품질</a:t>
              </a:r>
              <a:r>
                <a:rPr lang="en-US" altLang="ko-KR" sz="900" dirty="0">
                  <a:solidFill>
                    <a:schemeClr val="tx1"/>
                  </a:solidFill>
                  <a:latin typeface="+mj-ea"/>
                  <a:ea typeface="+mj-ea"/>
                </a:rPr>
                <a:t>·</a:t>
              </a:r>
              <a:r>
                <a:rPr lang="ko-KR" altLang="en-US" sz="900" dirty="0">
                  <a:solidFill>
                    <a:schemeClr val="tx1"/>
                  </a:solidFill>
                  <a:latin typeface="+mj-ea"/>
                  <a:ea typeface="+mj-ea"/>
                </a:rPr>
                <a:t>비용 관리와 산출물 보고를 </a:t>
              </a:r>
              <a:r>
                <a:rPr lang="ko-KR" altLang="en-US" sz="900">
                  <a:solidFill>
                    <a:schemeClr val="tx1"/>
                  </a:solidFill>
                  <a:latin typeface="+mj-ea"/>
                  <a:ea typeface="+mj-ea"/>
                </a:rPr>
                <a:t>책임지는 역할</a:t>
              </a:r>
              <a:r>
                <a:rPr lang="en-US" altLang="ko-KR" sz="900">
                  <a:solidFill>
                    <a:schemeClr val="tx1"/>
                  </a:solidFill>
                  <a:latin typeface="+mj-ea"/>
                  <a:ea typeface="+mj-ea"/>
                </a:rPr>
                <a:t>.</a:t>
              </a:r>
              <a:endParaRPr lang="en-US" altLang="ko-KR" sz="9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B8A2466-3782-C709-5018-3246BB4A93F5}"/>
                </a:ext>
              </a:extLst>
            </p:cNvPr>
            <p:cNvSpPr/>
            <p:nvPr/>
          </p:nvSpPr>
          <p:spPr>
            <a:xfrm>
              <a:off x="273050" y="2062872"/>
              <a:ext cx="975277" cy="306614"/>
            </a:xfrm>
            <a:prstGeom prst="rect">
              <a:avLst/>
            </a:prstGeom>
            <a:solidFill>
              <a:srgbClr val="5558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900" dirty="0">
                  <a:latin typeface="+mj-ea"/>
                  <a:ea typeface="+mj-ea"/>
                </a:rPr>
                <a:t>직무</a:t>
              </a:r>
              <a:endParaRPr lang="en-US" altLang="ko-KR" sz="500" dirty="0">
                <a:latin typeface="+mj-ea"/>
                <a:ea typeface="+mj-ea"/>
              </a:endParaRPr>
            </a:p>
          </p:txBody>
        </p: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2D8D6545-CF11-3354-5162-5FDA1CFF0A1B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설계 방안</a:t>
            </a:r>
          </a:p>
        </p:txBody>
      </p:sp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B99E8B44-96AC-E175-9570-962E784B3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37580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직무별 역할 정의에 기반한 성과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책임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전문성 평가 체계 구축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동일 직급 내에서도 역할 수준 차이를 반영하여 공정성 확보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결과를 기본 인상률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성과급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경력 개발에 직접 연계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평가지표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직무별 역할 정의 기반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KPI +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공통 역량지표 병행</a:t>
                      </a: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주기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 정기평가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 종료 시 보완평가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sp>
        <p:nvSpPr>
          <p:cNvPr id="166" name="Freeform 61">
            <a:extLst>
              <a:ext uri="{FF2B5EF4-FFF2-40B4-BE49-F238E27FC236}">
                <a16:creationId xmlns:a16="http://schemas.microsoft.com/office/drawing/2014/main" id="{AD59A6F8-62D0-57A1-4840-35E47651B77F}"/>
              </a:ext>
            </a:extLst>
          </p:cNvPr>
          <p:cNvSpPr>
            <a:spLocks/>
          </p:cNvSpPr>
          <p:nvPr/>
        </p:nvSpPr>
        <p:spPr bwMode="auto">
          <a:xfrm>
            <a:off x="7077076" y="2053338"/>
            <a:ext cx="612758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32664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114A-0B69-CA9A-9766-698E30262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B138F25-DD24-0EFE-286E-DA9B0A6F2A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조직 전략방향과 연계된 공통역량을 기반으로 개인별 역량평가를 설계하여</a:t>
            </a:r>
            <a:r>
              <a:rPr lang="en-US" altLang="ko-KR" dirty="0"/>
              <a:t>, </a:t>
            </a:r>
            <a:r>
              <a:rPr lang="ko-KR" altLang="en-US" dirty="0"/>
              <a:t>전략 실행력 제고와 인재육성을 동시에 달성할 수 있도록 평가 모형을 설계하였음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801B2CD-4CEC-FF8C-0766-4323E68F50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229554-BAF1-8B78-73EE-911ACF91EC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[S1] </a:t>
            </a:r>
            <a:r>
              <a:rPr lang="ko-KR" altLang="en-US" dirty="0"/>
              <a:t>평가 모형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6F75D5A-F6F4-2B78-5419-F2A968DC42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5E35D21E-499F-6599-4BB8-53C1EC85CED2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6789F49C-A3D0-8116-3012-370A1631AC22}"/>
                </a:ext>
              </a:extLst>
            </p:cNvPr>
            <p:cNvSpPr/>
            <p:nvPr userDrawn="1"/>
          </p:nvSpPr>
          <p:spPr>
            <a:xfrm>
              <a:off x="2888437" y="1626519"/>
              <a:ext cx="1200424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(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개인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)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 역량평가 설계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19AE4192-9446-FC5C-7780-B1236A452DA3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3D2E089C-D42A-C5AF-F0F7-1FCA35ACE914}"/>
              </a:ext>
            </a:extLst>
          </p:cNvPr>
          <p:cNvSpPr/>
          <p:nvPr/>
        </p:nvSpPr>
        <p:spPr>
          <a:xfrm>
            <a:off x="7689834" y="2092167"/>
            <a:ext cx="1949465" cy="314300"/>
          </a:xfrm>
          <a:prstGeom prst="rect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설계 방안</a:t>
            </a:r>
          </a:p>
        </p:txBody>
      </p:sp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FA131B4C-717E-42A7-7440-206A65C21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835963"/>
              </p:ext>
            </p:extLst>
          </p:nvPr>
        </p:nvGraphicFramePr>
        <p:xfrm>
          <a:off x="7696183" y="2406467"/>
          <a:ext cx="1943117" cy="3703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1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</a:tblGrid>
              <a:tr h="370356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전략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 연계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4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 전략과제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 프로세스 시스템화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AI/BIM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 강화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 프로그램 차별화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마케팅 영업전략 강화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공통역량 체계와 매핑하여 개인 평가항목 도출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공통역량 정의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문제해결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협업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디지털 역량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전문기술 학습 등 전략 실행에 필요한 역량을 핵심 평가요소로 설정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방식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 정기평가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 시 프로젝트 종료 후 보완평가 병행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결과 활용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 수준에 따라 기본 인상률 차등 반영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훈련 기회 제공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보직 이동 시 활용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</a:tbl>
          </a:graphicData>
        </a:graphic>
      </p:graphicFrame>
      <p:sp>
        <p:nvSpPr>
          <p:cNvPr id="166" name="Freeform 61">
            <a:extLst>
              <a:ext uri="{FF2B5EF4-FFF2-40B4-BE49-F238E27FC236}">
                <a16:creationId xmlns:a16="http://schemas.microsoft.com/office/drawing/2014/main" id="{ABE92FA5-43F9-D413-A0ED-5FFD95FA2087}"/>
              </a:ext>
            </a:extLst>
          </p:cNvPr>
          <p:cNvSpPr>
            <a:spLocks/>
          </p:cNvSpPr>
          <p:nvPr/>
        </p:nvSpPr>
        <p:spPr bwMode="auto">
          <a:xfrm>
            <a:off x="7077076" y="2053338"/>
            <a:ext cx="612758" cy="4076000"/>
          </a:xfrm>
          <a:custGeom>
            <a:avLst/>
            <a:gdLst>
              <a:gd name="T0" fmla="*/ 0 w 275"/>
              <a:gd name="T1" fmla="*/ 0 h 4562"/>
              <a:gd name="T2" fmla="*/ 0 w 275"/>
              <a:gd name="T3" fmla="*/ 2147483646 h 4562"/>
              <a:gd name="T4" fmla="*/ 2147483646 w 275"/>
              <a:gd name="T5" fmla="*/ 2147483646 h 4562"/>
              <a:gd name="T6" fmla="*/ 2147483646 w 275"/>
              <a:gd name="T7" fmla="*/ 2147483646 h 4562"/>
              <a:gd name="T8" fmla="*/ 0 w 275"/>
              <a:gd name="T9" fmla="*/ 0 h 45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"/>
              <a:gd name="T16" fmla="*/ 0 h 4562"/>
              <a:gd name="T17" fmla="*/ 275 w 275"/>
              <a:gd name="T18" fmla="*/ 4562 h 45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" h="4562">
                <a:moveTo>
                  <a:pt x="0" y="0"/>
                </a:moveTo>
                <a:lnTo>
                  <a:pt x="0" y="4562"/>
                </a:lnTo>
                <a:cubicBezTo>
                  <a:pt x="0" y="4562"/>
                  <a:pt x="64" y="4260"/>
                  <a:pt x="275" y="4096"/>
                </a:cubicBezTo>
                <a:cubicBezTo>
                  <a:pt x="275" y="4096"/>
                  <a:pt x="275" y="2281"/>
                  <a:pt x="275" y="466"/>
                </a:cubicBezTo>
                <a:cubicBezTo>
                  <a:pt x="55" y="310"/>
                  <a:pt x="0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67" name="그림 166">
            <a:extLst>
              <a:ext uri="{FF2B5EF4-FFF2-40B4-BE49-F238E27FC236}">
                <a16:creationId xmlns:a16="http://schemas.microsoft.com/office/drawing/2014/main" id="{72362F4E-E2BD-95E7-D226-6B9517B5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2092168"/>
            <a:ext cx="6804027" cy="400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856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325D-29EB-0135-B88A-4F5CC5AE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5C4A0B-65F8-265E-52E4-BD4D3E88A7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베이시스소프트는</a:t>
            </a:r>
            <a:r>
              <a:rPr lang="ko-KR" altLang="en-US" dirty="0"/>
              <a:t> 현재 평가체계를 운영한 경험이 없어</a:t>
            </a:r>
            <a:r>
              <a:rPr lang="en-US" altLang="ko-KR" dirty="0"/>
              <a:t> </a:t>
            </a:r>
            <a:r>
              <a:rPr lang="ko-KR" altLang="en-US" dirty="0"/>
              <a:t>전사 </a:t>
            </a:r>
            <a:r>
              <a:rPr lang="en-US" altLang="ko-KR" dirty="0"/>
              <a:t>KPI </a:t>
            </a:r>
            <a:r>
              <a:rPr lang="ko-KR" altLang="en-US" dirty="0"/>
              <a:t>기반 업적평가와 역할</a:t>
            </a:r>
            <a:r>
              <a:rPr lang="en-US" altLang="ko-KR" dirty="0"/>
              <a:t>·</a:t>
            </a:r>
            <a:r>
              <a:rPr lang="ko-KR" altLang="en-US" dirty="0"/>
              <a:t>공통역량 평가를 결합하여 공정성과 실행력을 강화하는 방향으로 평가 모형을 설계함</a:t>
            </a:r>
            <a:r>
              <a:rPr lang="en-US" altLang="ko-KR" dirty="0"/>
              <a:t>.</a:t>
            </a:r>
            <a:endParaRPr lang="ko-KR" altLang="en-US" spc="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2C0960D-231B-B6B0-0321-8AA0798A02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80B5A8-3323-8DD6-981E-D0D581BABD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[S1] </a:t>
            </a:r>
            <a:r>
              <a:rPr lang="ko-KR" altLang="en-US" dirty="0"/>
              <a:t>평가 모형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65A0E25-20B0-1768-AE1C-936EA022A0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701C239F-F400-A231-BB70-0AF105A82145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3701D999-0F6C-8D08-0462-4BCEDF60C30E}"/>
                </a:ext>
              </a:extLst>
            </p:cNvPr>
            <p:cNvSpPr/>
            <p:nvPr userDrawn="1"/>
          </p:nvSpPr>
          <p:spPr>
            <a:xfrm>
              <a:off x="2943500" y="1626519"/>
              <a:ext cx="1090314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평가 모형 설계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4BD7FA83-34A6-ABEE-1512-0FA046F83BEA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4" name="Rectangle 2">
            <a:extLst>
              <a:ext uri="{FF2B5EF4-FFF2-40B4-BE49-F238E27FC236}">
                <a16:creationId xmlns:a16="http://schemas.microsoft.com/office/drawing/2014/main" id="{410BE61F-09B2-1FF1-82EA-98DDEB85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5639265"/>
            <a:ext cx="994003" cy="433498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운영체계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/</a:t>
            </a:r>
          </a:p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solidFill>
                  <a:srgbClr val="FFFFFF"/>
                </a:solidFill>
                <a:latin typeface="+mn-ea"/>
              </a:rPr>
              <a:t>프로세스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5" name="Rectangle 2">
            <a:extLst>
              <a:ext uri="{FF2B5EF4-FFF2-40B4-BE49-F238E27FC236}">
                <a16:creationId xmlns:a16="http://schemas.microsoft.com/office/drawing/2014/main" id="{D07AA31D-4521-59EF-4B20-6980DD18E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40" y="5639265"/>
            <a:ext cx="8287437" cy="4452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171450" lvl="0" indent="-85725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운영체계 기준 마련</a:t>
            </a:r>
            <a:endParaRPr lang="en-US" altLang="ko-KR" sz="1050" kern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lvl="0" indent="-85725" latinLnBrk="0">
              <a:buFont typeface="Arial" panose="020B0604020202020204" pitchFamily="34" charset="0"/>
              <a:buChar char="•"/>
              <a:defRPr/>
            </a:pPr>
            <a:r>
              <a:rPr lang="ko-KR" altLang="en-US" sz="1050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프로세스 운영 방안 마련</a:t>
            </a:r>
            <a:endParaRPr lang="en-US" altLang="ko-KR" sz="1050" kern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5" name="Rectangle 2">
            <a:extLst>
              <a:ext uri="{FF2B5EF4-FFF2-40B4-BE49-F238E27FC236}">
                <a16:creationId xmlns:a16="http://schemas.microsoft.com/office/drawing/2014/main" id="{15A190FF-D63F-679B-9B65-5E6249300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59" y="2270520"/>
            <a:ext cx="8256591" cy="235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180975" lvl="0" latinLnBrk="0">
              <a:defRPr/>
            </a:pPr>
            <a:r>
              <a:rPr lang="en-US" altLang="ko-KR" sz="1050" kern="0" dirty="0">
                <a:latin typeface="+mn-ea"/>
              </a:rPr>
              <a:t>   OP 2. </a:t>
            </a:r>
            <a:r>
              <a:rPr lang="ko-KR" altLang="en-US" sz="1050" kern="0" dirty="0">
                <a:latin typeface="+mn-ea"/>
              </a:rPr>
              <a:t>팀</a:t>
            </a:r>
            <a:r>
              <a:rPr lang="en-US" altLang="ko-KR" sz="1050" kern="0" dirty="0">
                <a:latin typeface="+mn-ea"/>
              </a:rPr>
              <a:t>/</a:t>
            </a:r>
            <a:r>
              <a:rPr lang="ko-KR" altLang="en-US" sz="1050" kern="0" dirty="0">
                <a:latin typeface="+mn-ea"/>
              </a:rPr>
              <a:t>개인 단위 업적평가를 위한 팀</a:t>
            </a:r>
            <a:r>
              <a:rPr lang="en-US" altLang="ko-KR" sz="1050" kern="0" dirty="0">
                <a:latin typeface="+mn-ea"/>
              </a:rPr>
              <a:t>/</a:t>
            </a:r>
            <a:r>
              <a:rPr lang="ko-KR" altLang="en-US" sz="1050" kern="0" dirty="0">
                <a:latin typeface="+mn-ea"/>
              </a:rPr>
              <a:t>개인별 </a:t>
            </a:r>
            <a:r>
              <a:rPr lang="en-US" altLang="ko-KR" sz="1050" kern="0" dirty="0">
                <a:latin typeface="+mn-ea"/>
              </a:rPr>
              <a:t>KPI</a:t>
            </a:r>
          </a:p>
        </p:txBody>
      </p:sp>
      <p:sp>
        <p:nvSpPr>
          <p:cNvPr id="226" name="Rectangle 2">
            <a:extLst>
              <a:ext uri="{FF2B5EF4-FFF2-40B4-BE49-F238E27FC236}">
                <a16:creationId xmlns:a16="http://schemas.microsoft.com/office/drawing/2014/main" id="{E223F226-47B4-B85A-FE2C-69D697E40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59" y="1995328"/>
            <a:ext cx="8256591" cy="235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180975" lvl="0" latinLnBrk="0">
              <a:defRPr/>
            </a:pPr>
            <a:r>
              <a:rPr lang="en-US" altLang="ko-KR" sz="1050" b="1" kern="0" dirty="0">
                <a:latin typeface="+mn-ea"/>
              </a:rPr>
              <a:t>   OP 1. </a:t>
            </a:r>
            <a:r>
              <a:rPr lang="ko-KR" altLang="en-US" sz="1050" b="1" kern="0" dirty="0">
                <a:latin typeface="+mn-ea"/>
              </a:rPr>
              <a:t>전사 조직 업적평가를 위한 조직 </a:t>
            </a:r>
            <a:r>
              <a:rPr lang="en-US" altLang="ko-KR" sz="1050" b="1" kern="0" dirty="0">
                <a:latin typeface="+mn-ea"/>
              </a:rPr>
              <a:t>KPI</a:t>
            </a: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0993AD24-CC9F-0AF0-5C8F-86A3DBB3B251}"/>
              </a:ext>
            </a:extLst>
          </p:cNvPr>
          <p:cNvSpPr/>
          <p:nvPr/>
        </p:nvSpPr>
        <p:spPr bwMode="gray">
          <a:xfrm>
            <a:off x="1405158" y="2027697"/>
            <a:ext cx="205158" cy="137579"/>
          </a:xfrm>
          <a:prstGeom prst="rect">
            <a:avLst/>
          </a:prstGeom>
          <a:solidFill>
            <a:schemeClr val="bg1"/>
          </a:solidFill>
          <a:ln>
            <a:solidFill>
              <a:srgbClr val="3F3F3F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-92075" defTabSz="914400" eaLnBrk="1" fontAlgn="base" latinLnBrk="0" hangingPunct="1">
              <a:lnSpc>
                <a:spcPts val="16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맑은 고딕" pitchFamily="50" charset="-127"/>
              <a:buChar char="•"/>
              <a:tabLst/>
              <a:defRPr/>
            </a:pP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999893B6-161D-0861-C527-8DB4587CDA07}"/>
              </a:ext>
            </a:extLst>
          </p:cNvPr>
          <p:cNvSpPr/>
          <p:nvPr/>
        </p:nvSpPr>
        <p:spPr bwMode="gray">
          <a:xfrm>
            <a:off x="1405158" y="2307767"/>
            <a:ext cx="205158" cy="137579"/>
          </a:xfrm>
          <a:prstGeom prst="rect">
            <a:avLst/>
          </a:prstGeom>
          <a:solidFill>
            <a:schemeClr val="bg1"/>
          </a:solidFill>
          <a:ln>
            <a:solidFill>
              <a:srgbClr val="3F3F3F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-92075" defTabSz="914400" eaLnBrk="1" fontAlgn="base" latinLnBrk="0" hangingPunct="1">
              <a:lnSpc>
                <a:spcPts val="16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맑은 고딕" pitchFamily="50" charset="-127"/>
              <a:buChar char="•"/>
              <a:tabLst/>
              <a:defRPr/>
            </a:pP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229" name="Rectangle 2">
            <a:extLst>
              <a:ext uri="{FF2B5EF4-FFF2-40B4-BE49-F238E27FC236}">
                <a16:creationId xmlns:a16="http://schemas.microsoft.com/office/drawing/2014/main" id="{8215E1F8-6394-C20D-3D90-58DE9C1EF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04120"/>
            <a:ext cx="551858" cy="3542762"/>
          </a:xfrm>
          <a:prstGeom prst="rect">
            <a:avLst/>
          </a:prstGeom>
          <a:solidFill>
            <a:srgbClr val="595959"/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평가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요소</a:t>
            </a:r>
            <a:endParaRPr kumimoji="0" lang="en-US" altLang="ko-KR" sz="105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solidFill>
                  <a:srgbClr val="FFFFFF"/>
                </a:solidFill>
                <a:latin typeface="+mn-ea"/>
              </a:rPr>
              <a:t>구성</a:t>
            </a:r>
            <a:endParaRPr lang="en-US" altLang="ko-KR" sz="1050" b="1" kern="0" dirty="0">
              <a:solidFill>
                <a:srgbClr val="FFFFFF"/>
              </a:solidFill>
              <a:latin typeface="+mn-ea"/>
            </a:endParaRPr>
          </a:p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/</a:t>
            </a:r>
          </a:p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solidFill>
                  <a:srgbClr val="FFFFFF"/>
                </a:solidFill>
                <a:latin typeface="+mn-ea"/>
              </a:rPr>
              <a:t>반영</a:t>
            </a:r>
            <a:endParaRPr lang="en-US" altLang="ko-KR" sz="1050" b="1" kern="0" dirty="0">
              <a:solidFill>
                <a:srgbClr val="FFFFFF"/>
              </a:solidFill>
              <a:latin typeface="+mn-ea"/>
            </a:endParaRPr>
          </a:p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rPr>
              <a:t>비율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ED19ED57-2FF0-90DF-61B4-E236AB19B407}"/>
              </a:ext>
            </a:extLst>
          </p:cNvPr>
          <p:cNvSpPr/>
          <p:nvPr/>
        </p:nvSpPr>
        <p:spPr>
          <a:xfrm>
            <a:off x="1376343" y="2551564"/>
            <a:ext cx="8256567" cy="533234"/>
          </a:xfrm>
          <a:prstGeom prst="rect">
            <a:avLst/>
          </a:prstGeom>
          <a:solidFill>
            <a:srgbClr val="E8F4F8"/>
          </a:solidFill>
          <a:ln w="635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72000" tIns="0" rIns="108000" bIns="36000" anchor="ctr"/>
          <a:lstStyle/>
          <a:p>
            <a:pPr lvl="0" eaLnBrk="0" fontAlgn="base" latinLnBrk="0" hangingPunct="0"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kern="0" dirty="0">
                <a:solidFill>
                  <a:srgbClr val="1F497D"/>
                </a:solidFill>
                <a:latin typeface="+mn-ea"/>
              </a:rPr>
              <a:t>논의 결과</a:t>
            </a:r>
            <a:endParaRPr lang="en-US" altLang="ko-KR" sz="1000" b="1" kern="0" dirty="0">
              <a:solidFill>
                <a:srgbClr val="1F497D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dirty="0" err="1">
                <a:latin typeface="Arial" panose="020B0604020202020204" pitchFamily="34" charset="0"/>
              </a:rPr>
              <a:t>베이시스소프트의</a:t>
            </a:r>
            <a:r>
              <a:rPr lang="ko-KR" altLang="ko-KR" sz="1000" dirty="0">
                <a:latin typeface="Arial" panose="020B0604020202020204" pitchFamily="34" charset="0"/>
              </a:rPr>
              <a:t> 규모와 사업 특성상 </a:t>
            </a:r>
            <a:r>
              <a:rPr lang="ko-KR" altLang="ko-KR" sz="1000" b="1" dirty="0">
                <a:latin typeface="Arial" panose="020B0604020202020204" pitchFamily="34" charset="0"/>
              </a:rPr>
              <a:t>전사 차원의 </a:t>
            </a:r>
            <a:r>
              <a:rPr lang="ko-KR" altLang="ko-KR" sz="1000" b="1" dirty="0" err="1">
                <a:latin typeface="Arial" panose="020B0604020202020204" pitchFamily="34" charset="0"/>
              </a:rPr>
              <a:t>매출·영업이익</a:t>
            </a:r>
            <a:r>
              <a:rPr lang="ko-KR" altLang="ko-KR" sz="1000" b="1" dirty="0">
                <a:latin typeface="Arial" panose="020B0604020202020204" pitchFamily="34" charset="0"/>
              </a:rPr>
              <a:t> 중심 </a:t>
            </a:r>
            <a:r>
              <a:rPr lang="ko-KR" altLang="ko-KR" sz="1000" b="1" dirty="0" err="1">
                <a:latin typeface="Arial" panose="020B0604020202020204" pitchFamily="34" charset="0"/>
              </a:rPr>
              <a:t>KPI</a:t>
            </a:r>
            <a:r>
              <a:rPr lang="ko-KR" altLang="ko-KR" sz="1000" dirty="0" err="1">
                <a:latin typeface="Arial" panose="020B0604020202020204" pitchFamily="34" charset="0"/>
              </a:rPr>
              <a:t>가</a:t>
            </a:r>
            <a:r>
              <a:rPr lang="ko-KR" altLang="ko-KR" sz="1000" dirty="0">
                <a:latin typeface="Arial" panose="020B0604020202020204" pitchFamily="34" charset="0"/>
              </a:rPr>
              <a:t> 적합함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dirty="0">
                <a:latin typeface="Arial" panose="020B0604020202020204" pitchFamily="34" charset="0"/>
              </a:rPr>
              <a:t>팀/개인 단위 </a:t>
            </a:r>
            <a:r>
              <a:rPr lang="ko-KR" altLang="ko-KR" sz="1000" dirty="0" err="1">
                <a:latin typeface="Arial" panose="020B0604020202020204" pitchFamily="34" charset="0"/>
              </a:rPr>
              <a:t>KPI는</a:t>
            </a:r>
            <a:r>
              <a:rPr lang="ko-KR" altLang="ko-KR" sz="1000" dirty="0">
                <a:latin typeface="Arial" panose="020B0604020202020204" pitchFamily="34" charset="0"/>
              </a:rPr>
              <a:t> 업무의 변동성이 크고 데이터 축적이 미흡해 </a:t>
            </a:r>
            <a:r>
              <a:rPr lang="ko-KR" altLang="ko-KR" sz="1000" b="1" dirty="0">
                <a:latin typeface="Arial" panose="020B0604020202020204" pitchFamily="34" charset="0"/>
              </a:rPr>
              <a:t>성과 측정의 공정성 확보가 어려움</a:t>
            </a:r>
            <a:endParaRPr lang="ko-KR" altLang="ko-KR" sz="1000" dirty="0">
              <a:latin typeface="Arial" panose="020B0604020202020204" pitchFamily="34" charset="0"/>
            </a:endParaRPr>
          </a:p>
        </p:txBody>
      </p:sp>
      <p:pic>
        <p:nvPicPr>
          <p:cNvPr id="231" name="Picture 2" descr="C:\Users\노사발전재단\AppData\Local\Microsoft\Windows\Temporary Internet Files\Content.IE5\FPFBM047\MC900423567[1].wmf">
            <a:extLst>
              <a:ext uri="{FF2B5EF4-FFF2-40B4-BE49-F238E27FC236}">
                <a16:creationId xmlns:a16="http://schemas.microsoft.com/office/drawing/2014/main" id="{AC6E4C01-B9C2-0233-6D5F-F56CF0991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9216" y="1970624"/>
            <a:ext cx="153870" cy="151736"/>
          </a:xfrm>
          <a:prstGeom prst="rect">
            <a:avLst/>
          </a:prstGeom>
          <a:noFill/>
        </p:spPr>
      </p:pic>
      <p:sp>
        <p:nvSpPr>
          <p:cNvPr id="246" name="Rectangle 2">
            <a:extLst>
              <a:ext uri="{FF2B5EF4-FFF2-40B4-BE49-F238E27FC236}">
                <a16:creationId xmlns:a16="http://schemas.microsoft.com/office/drawing/2014/main" id="{D743D048-E741-041C-7B3F-0D85603E3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759" y="2004121"/>
            <a:ext cx="349286" cy="108067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solidFill>
                  <a:srgbClr val="FFFFFF"/>
                </a:solidFill>
                <a:latin typeface="+mn-ea"/>
              </a:rPr>
              <a:t>업적평가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38" name="Rectangle 2">
            <a:extLst>
              <a:ext uri="{FF2B5EF4-FFF2-40B4-BE49-F238E27FC236}">
                <a16:creationId xmlns:a16="http://schemas.microsoft.com/office/drawing/2014/main" id="{7F5A4F98-E15E-A9B3-E4A8-B64C99A77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59" y="4707459"/>
            <a:ext cx="8256591" cy="250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180975" lvl="0" latinLnBrk="0">
              <a:defRPr/>
            </a:pPr>
            <a:r>
              <a:rPr lang="en-US" altLang="ko-KR" sz="1050" kern="0" dirty="0">
                <a:latin typeface="+mn-ea"/>
              </a:rPr>
              <a:t>  OP 2. </a:t>
            </a:r>
            <a:r>
              <a:rPr lang="ko-KR" altLang="en-US" sz="1050" kern="0" dirty="0">
                <a:latin typeface="+mn-ea"/>
              </a:rPr>
              <a:t>전사 공통역량 </a:t>
            </a:r>
            <a:r>
              <a:rPr lang="en-US" altLang="ko-KR" sz="1050" kern="0" dirty="0">
                <a:latin typeface="+mn-ea"/>
              </a:rPr>
              <a:t>/ </a:t>
            </a:r>
            <a:r>
              <a:rPr lang="ko-KR" altLang="en-US" sz="1050" kern="0" dirty="0">
                <a:latin typeface="+mn-ea"/>
              </a:rPr>
              <a:t>리더십 역량 </a:t>
            </a:r>
            <a:r>
              <a:rPr lang="en-US" altLang="ko-KR" sz="1050" kern="0" dirty="0">
                <a:latin typeface="+mn-ea"/>
              </a:rPr>
              <a:t>/ </a:t>
            </a:r>
            <a:r>
              <a:rPr lang="ko-KR" altLang="en-US" sz="1050" kern="0" dirty="0">
                <a:latin typeface="+mn-ea"/>
              </a:rPr>
              <a:t>직무 역량</a:t>
            </a:r>
            <a:endParaRPr lang="en-US" altLang="ko-KR" sz="1050" b="1" kern="0" dirty="0">
              <a:latin typeface="+mn-ea"/>
            </a:endParaRPr>
          </a:p>
        </p:txBody>
      </p:sp>
      <p:sp>
        <p:nvSpPr>
          <p:cNvPr id="239" name="Rectangle 2">
            <a:extLst>
              <a:ext uri="{FF2B5EF4-FFF2-40B4-BE49-F238E27FC236}">
                <a16:creationId xmlns:a16="http://schemas.microsoft.com/office/drawing/2014/main" id="{CDA0BC50-B268-BEDD-1FE7-1E3032CE4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59" y="4415042"/>
            <a:ext cx="8256591" cy="250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180975" lvl="0" latinLnBrk="0">
              <a:defRPr/>
            </a:pPr>
            <a:r>
              <a:rPr lang="en-US" altLang="ko-KR" sz="1050" b="1" kern="0" dirty="0">
                <a:latin typeface="+mn-ea"/>
              </a:rPr>
              <a:t>  OP 1. </a:t>
            </a:r>
            <a:r>
              <a:rPr lang="ko-KR" altLang="en-US" sz="1050" b="1" kern="0" dirty="0">
                <a:latin typeface="+mn-ea"/>
              </a:rPr>
              <a:t>전사 공통역량</a:t>
            </a:r>
            <a:endParaRPr lang="en-US" altLang="ko-KR" sz="1050" kern="0" dirty="0"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1F8CBE51-34FA-CCF0-1FD8-CFEDFDFBF26D}"/>
              </a:ext>
            </a:extLst>
          </p:cNvPr>
          <p:cNvSpPr/>
          <p:nvPr/>
        </p:nvSpPr>
        <p:spPr bwMode="gray">
          <a:xfrm>
            <a:off x="1405158" y="4449437"/>
            <a:ext cx="205158" cy="146190"/>
          </a:xfrm>
          <a:prstGeom prst="rect">
            <a:avLst/>
          </a:prstGeom>
          <a:solidFill>
            <a:schemeClr val="bg1"/>
          </a:solidFill>
          <a:ln>
            <a:solidFill>
              <a:srgbClr val="3F3F3F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-92075" defTabSz="914400" eaLnBrk="1" fontAlgn="base" latinLnBrk="0" hangingPunct="1">
              <a:lnSpc>
                <a:spcPts val="16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맑은 고딕" pitchFamily="50" charset="-127"/>
              <a:buChar char="•"/>
              <a:tabLst/>
              <a:defRPr/>
            </a:pP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93F54D59-06B6-175B-1CE9-ADEA929BCA5D}"/>
              </a:ext>
            </a:extLst>
          </p:cNvPr>
          <p:cNvSpPr/>
          <p:nvPr/>
        </p:nvSpPr>
        <p:spPr bwMode="gray">
          <a:xfrm>
            <a:off x="1405158" y="4747036"/>
            <a:ext cx="205158" cy="146190"/>
          </a:xfrm>
          <a:prstGeom prst="rect">
            <a:avLst/>
          </a:prstGeom>
          <a:solidFill>
            <a:schemeClr val="bg1"/>
          </a:solidFill>
          <a:ln>
            <a:solidFill>
              <a:srgbClr val="3F3F3F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-92075" defTabSz="914400" eaLnBrk="1" fontAlgn="base" latinLnBrk="0" hangingPunct="1">
              <a:lnSpc>
                <a:spcPts val="16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맑은 고딕" pitchFamily="50" charset="-127"/>
              <a:buChar char="•"/>
              <a:tabLst/>
              <a:defRPr/>
            </a:pP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DCA8BD71-4C20-8AD6-4337-4155304D34F2}"/>
              </a:ext>
            </a:extLst>
          </p:cNvPr>
          <p:cNvSpPr/>
          <p:nvPr/>
        </p:nvSpPr>
        <p:spPr>
          <a:xfrm>
            <a:off x="1376343" y="5030317"/>
            <a:ext cx="8256567" cy="516570"/>
          </a:xfrm>
          <a:prstGeom prst="rect">
            <a:avLst/>
          </a:prstGeom>
          <a:solidFill>
            <a:srgbClr val="E8F4F8"/>
          </a:solidFill>
          <a:ln w="635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72000" tIns="0" rIns="108000" bIns="36000" anchor="ctr"/>
          <a:lstStyle/>
          <a:p>
            <a:pPr lvl="0" eaLnBrk="0" fontAlgn="base" latinLnBrk="0" hangingPunct="0"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kern="0" dirty="0">
                <a:solidFill>
                  <a:srgbClr val="1F497D"/>
                </a:solidFill>
                <a:latin typeface="+mn-ea"/>
              </a:rPr>
              <a:t>논의 결과</a:t>
            </a:r>
            <a:endParaRPr lang="en-US" altLang="ko-KR" sz="1000" b="1" kern="0" dirty="0">
              <a:solidFill>
                <a:srgbClr val="1F497D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dirty="0">
                <a:latin typeface="Arial" panose="020B0604020202020204" pitchFamily="34" charset="0"/>
              </a:rPr>
              <a:t>리더십/직무역량까지 확장할 경우 평가 체계가 과도하게 복잡해질 우려가 있음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dirty="0">
                <a:latin typeface="Arial" panose="020B0604020202020204" pitchFamily="34" charset="0"/>
              </a:rPr>
              <a:t>따라서 초기 단계에서는 </a:t>
            </a:r>
            <a:r>
              <a:rPr lang="ko-KR" altLang="ko-KR" sz="1000" b="1" dirty="0">
                <a:latin typeface="Arial" panose="020B0604020202020204" pitchFamily="34" charset="0"/>
              </a:rPr>
              <a:t>전사 공통역량(예: 직무 전문성, 협업, </a:t>
            </a:r>
            <a:r>
              <a:rPr lang="ko-KR" altLang="ko-KR" sz="1000" b="1" dirty="0" err="1">
                <a:latin typeface="Arial" panose="020B0604020202020204" pitchFamily="34" charset="0"/>
              </a:rPr>
              <a:t>윤리·책임감</a:t>
            </a:r>
            <a:r>
              <a:rPr lang="ko-KR" altLang="ko-KR" sz="1000" b="1" dirty="0">
                <a:latin typeface="Arial" panose="020B0604020202020204" pitchFamily="34" charset="0"/>
              </a:rPr>
              <a:t>, 혁신 역량 등)</a:t>
            </a:r>
            <a:r>
              <a:rPr lang="ko-KR" altLang="ko-KR" sz="1000" dirty="0">
                <a:latin typeface="Arial" panose="020B0604020202020204" pitchFamily="34" charset="0"/>
              </a:rPr>
              <a:t> 중심으로 설계</a:t>
            </a:r>
          </a:p>
        </p:txBody>
      </p:sp>
      <p:pic>
        <p:nvPicPr>
          <p:cNvPr id="243" name="Picture 2" descr="C:\Users\노사발전재단\AppData\Local\Microsoft\Windows\Temporary Internet Files\Content.IE5\FPFBM047\MC900423567[1].wmf">
            <a:extLst>
              <a:ext uri="{FF2B5EF4-FFF2-40B4-BE49-F238E27FC236}">
                <a16:creationId xmlns:a16="http://schemas.microsoft.com/office/drawing/2014/main" id="{D01692CC-A571-732E-5970-634E44AEC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9216" y="4422721"/>
            <a:ext cx="153870" cy="161233"/>
          </a:xfrm>
          <a:prstGeom prst="rect">
            <a:avLst/>
          </a:prstGeom>
          <a:noFill/>
        </p:spPr>
      </p:pic>
      <p:sp>
        <p:nvSpPr>
          <p:cNvPr id="232" name="Rectangle 2">
            <a:extLst>
              <a:ext uri="{FF2B5EF4-FFF2-40B4-BE49-F238E27FC236}">
                <a16:creationId xmlns:a16="http://schemas.microsoft.com/office/drawing/2014/main" id="{0FF79EF8-2D3F-C98E-7EA5-97D4F8E97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59" y="3497227"/>
            <a:ext cx="8256591" cy="2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180975" lvl="0" latinLnBrk="0">
              <a:defRPr/>
            </a:pPr>
            <a:r>
              <a:rPr lang="en-US" altLang="ko-KR" sz="1050" b="1" kern="0" dirty="0">
                <a:latin typeface="+mn-ea"/>
              </a:rPr>
              <a:t>   OP 2. </a:t>
            </a:r>
            <a:r>
              <a:rPr lang="ko-KR" altLang="en-US" sz="1050" b="1" kern="0" dirty="0">
                <a:latin typeface="+mn-ea"/>
              </a:rPr>
              <a:t>직무별 역할 등급별 정의 기준</a:t>
            </a:r>
            <a:endParaRPr lang="en-US" altLang="ko-KR" sz="1050" b="1" kern="0" dirty="0">
              <a:latin typeface="+mn-ea"/>
            </a:endParaRPr>
          </a:p>
        </p:txBody>
      </p:sp>
      <p:sp>
        <p:nvSpPr>
          <p:cNvPr id="233" name="Rectangle 2">
            <a:extLst>
              <a:ext uri="{FF2B5EF4-FFF2-40B4-BE49-F238E27FC236}">
                <a16:creationId xmlns:a16="http://schemas.microsoft.com/office/drawing/2014/main" id="{C6494A75-F6C8-D861-F456-6D333365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59" y="3173255"/>
            <a:ext cx="8256591" cy="2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180975" lvl="0" latinLnBrk="0">
              <a:defRPr/>
            </a:pPr>
            <a:r>
              <a:rPr lang="en-US" altLang="ko-KR" sz="1050" kern="0" dirty="0">
                <a:latin typeface="+mn-ea"/>
              </a:rPr>
              <a:t>   OP 1. </a:t>
            </a:r>
            <a:r>
              <a:rPr lang="ko-KR" altLang="en-US" sz="1050" kern="0" dirty="0">
                <a:latin typeface="+mn-ea"/>
              </a:rPr>
              <a:t>전사 공통 역할 등급별 정의 기준</a:t>
            </a:r>
            <a:endParaRPr lang="en-US" altLang="ko-KR" sz="1050" kern="0" dirty="0">
              <a:latin typeface="+mn-ea"/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485B144B-CA4E-3590-062A-090C640B1D76}"/>
              </a:ext>
            </a:extLst>
          </p:cNvPr>
          <p:cNvSpPr/>
          <p:nvPr/>
        </p:nvSpPr>
        <p:spPr bwMode="gray">
          <a:xfrm>
            <a:off x="1405158" y="3211362"/>
            <a:ext cx="205158" cy="161965"/>
          </a:xfrm>
          <a:prstGeom prst="rect">
            <a:avLst/>
          </a:prstGeom>
          <a:solidFill>
            <a:schemeClr val="bg1"/>
          </a:solidFill>
          <a:ln>
            <a:solidFill>
              <a:srgbClr val="3F3F3F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-92075" defTabSz="914400" eaLnBrk="1" fontAlgn="base" latinLnBrk="0" hangingPunct="1">
              <a:lnSpc>
                <a:spcPts val="16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맑은 고딕" pitchFamily="50" charset="-127"/>
              <a:buChar char="•"/>
              <a:tabLst/>
              <a:defRPr/>
            </a:pP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FAD08EDB-B864-1356-03CD-A61324408CD5}"/>
              </a:ext>
            </a:extLst>
          </p:cNvPr>
          <p:cNvSpPr/>
          <p:nvPr/>
        </p:nvSpPr>
        <p:spPr bwMode="gray">
          <a:xfrm>
            <a:off x="1405158" y="3541074"/>
            <a:ext cx="205158" cy="161965"/>
          </a:xfrm>
          <a:prstGeom prst="rect">
            <a:avLst/>
          </a:prstGeom>
          <a:solidFill>
            <a:schemeClr val="bg1"/>
          </a:solidFill>
          <a:ln>
            <a:solidFill>
              <a:srgbClr val="3F3F3F"/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marR="0" lvl="0" indent="-92075" defTabSz="914400" eaLnBrk="1" fontAlgn="base" latinLnBrk="0" hangingPunct="1">
              <a:lnSpc>
                <a:spcPts val="1600"/>
              </a:lnSpc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맑은 고딕" pitchFamily="50" charset="-127"/>
              <a:buChar char="•"/>
              <a:tabLst/>
              <a:defRPr/>
            </a:pP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69EB4149-D8B8-8B9F-3BB5-2932578CB5A5}"/>
              </a:ext>
            </a:extLst>
          </p:cNvPr>
          <p:cNvSpPr/>
          <p:nvPr/>
        </p:nvSpPr>
        <p:spPr>
          <a:xfrm>
            <a:off x="1376343" y="3823157"/>
            <a:ext cx="8256567" cy="494732"/>
          </a:xfrm>
          <a:prstGeom prst="rect">
            <a:avLst/>
          </a:prstGeom>
          <a:solidFill>
            <a:srgbClr val="E8F4F8"/>
          </a:solidFill>
          <a:ln w="635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72000" tIns="0" rIns="108000" bIns="36000" anchor="ctr"/>
          <a:lstStyle/>
          <a:p>
            <a:pPr lvl="0" eaLnBrk="0" fontAlgn="base" latinLnBrk="0" hangingPunct="0">
              <a:spcBef>
                <a:spcPts val="100"/>
              </a:spcBef>
              <a:spcAft>
                <a:spcPts val="100"/>
              </a:spcAft>
              <a:defRPr/>
            </a:pPr>
            <a:r>
              <a:rPr lang="ko-KR" altLang="en-US" sz="1000" b="1" kern="0" dirty="0">
                <a:solidFill>
                  <a:srgbClr val="1F497D"/>
                </a:solidFill>
                <a:latin typeface="+mn-ea"/>
              </a:rPr>
              <a:t>논의 결과</a:t>
            </a:r>
            <a:endParaRPr lang="en-US" altLang="ko-KR" sz="1000" b="1" kern="0" dirty="0">
              <a:solidFill>
                <a:srgbClr val="1F497D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dirty="0">
                <a:latin typeface="Arial" panose="020B0604020202020204" pitchFamily="34" charset="0"/>
              </a:rPr>
              <a:t>동일 직무 내에서도 </a:t>
            </a:r>
            <a:r>
              <a:rPr lang="ko-KR" altLang="ko-KR" sz="1000" b="1" dirty="0">
                <a:latin typeface="Arial" panose="020B0604020202020204" pitchFamily="34" charset="0"/>
              </a:rPr>
              <a:t>책임 수준과 역할 범위의 차이를 반영 가능</a:t>
            </a:r>
            <a:r>
              <a:rPr lang="ko-KR" altLang="ko-KR" sz="1000" dirty="0">
                <a:latin typeface="Arial" panose="020B0604020202020204" pitchFamily="34" charset="0"/>
              </a:rPr>
              <a:t> → 공정성 강화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000" dirty="0">
                <a:latin typeface="Arial" panose="020B0604020202020204" pitchFamily="34" charset="0"/>
              </a:rPr>
              <a:t>프로젝트 성과와 기여도를 반영할 수 있어 </a:t>
            </a:r>
            <a:r>
              <a:rPr lang="ko-KR" altLang="ko-KR" sz="1000" b="1" dirty="0">
                <a:latin typeface="Arial" panose="020B0604020202020204" pitchFamily="34" charset="0"/>
              </a:rPr>
              <a:t>직무 혼재도가 높은 환경에 적합</a:t>
            </a:r>
            <a:endParaRPr lang="ko-KR" altLang="ko-KR" sz="1000" dirty="0">
              <a:latin typeface="Arial" panose="020B0604020202020204" pitchFamily="34" charset="0"/>
            </a:endParaRPr>
          </a:p>
        </p:txBody>
      </p:sp>
      <p:pic>
        <p:nvPicPr>
          <p:cNvPr id="237" name="Picture 2" descr="C:\Users\노사발전재단\AppData\Local\Microsoft\Windows\Temporary Internet Files\Content.IE5\FPFBM047\MC900423567[1].wmf">
            <a:extLst>
              <a:ext uri="{FF2B5EF4-FFF2-40B4-BE49-F238E27FC236}">
                <a16:creationId xmlns:a16="http://schemas.microsoft.com/office/drawing/2014/main" id="{43C695E7-58F6-B43B-EBEE-ED31DAD93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9216" y="3487730"/>
            <a:ext cx="153870" cy="178632"/>
          </a:xfrm>
          <a:prstGeom prst="rect">
            <a:avLst/>
          </a:prstGeom>
          <a:noFill/>
        </p:spPr>
      </p:pic>
      <p:sp>
        <p:nvSpPr>
          <p:cNvPr id="247" name="Rectangle 2">
            <a:extLst>
              <a:ext uri="{FF2B5EF4-FFF2-40B4-BE49-F238E27FC236}">
                <a16:creationId xmlns:a16="http://schemas.microsoft.com/office/drawing/2014/main" id="{79295086-DFC5-9CD2-394B-A016299C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758" y="3173255"/>
            <a:ext cx="349286" cy="116776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solidFill>
                  <a:srgbClr val="FFFFFF"/>
                </a:solidFill>
                <a:latin typeface="+mn-ea"/>
              </a:rPr>
              <a:t>역할평가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8" name="Rectangle 2">
            <a:extLst>
              <a:ext uri="{FF2B5EF4-FFF2-40B4-BE49-F238E27FC236}">
                <a16:creationId xmlns:a16="http://schemas.microsoft.com/office/drawing/2014/main" id="{05B12123-8A91-034A-BF59-CF1A5E569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751" y="4415041"/>
            <a:ext cx="349286" cy="113184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R="0" lvl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kern="0" dirty="0">
                <a:solidFill>
                  <a:srgbClr val="FFFFFF"/>
                </a:solidFill>
                <a:latin typeface="+mn-ea"/>
              </a:rPr>
              <a:t>역량평가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14099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8B0F-C109-88AD-642A-12315CADC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3799A57-3CF1-7EF5-C87A-5EB3B6DB3A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 err="1"/>
              <a:t>베이시스소프트는</a:t>
            </a:r>
            <a:r>
              <a:rPr lang="ko-KR" altLang="en-US" dirty="0"/>
              <a:t> 아직 평가체계 운영 경험이 부족하므로</a:t>
            </a:r>
            <a:r>
              <a:rPr lang="en-US" altLang="ko-KR" dirty="0"/>
              <a:t>, </a:t>
            </a:r>
            <a:r>
              <a:rPr lang="ko-KR" altLang="en-US" dirty="0"/>
              <a:t>초기 단계에서는 </a:t>
            </a:r>
            <a:r>
              <a:rPr lang="ko-KR" altLang="en-US" b="1" dirty="0"/>
              <a:t>전사 차원의 핵심 성과목표</a:t>
            </a:r>
            <a:r>
              <a:rPr lang="en-US" altLang="ko-KR" b="1" dirty="0"/>
              <a:t>(KPI)</a:t>
            </a:r>
            <a:r>
              <a:rPr lang="ko-KR" altLang="en-US" b="1" dirty="0"/>
              <a:t>를 중심으로 성과평가를 도출</a:t>
            </a:r>
            <a:r>
              <a:rPr lang="ko-KR" altLang="en-US" dirty="0"/>
              <a:t>하여 조직 전체의 방향성과 성과 관리 기반을 우선적으로 확립함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ED4FF39-14D9-A370-52F4-4B50F5F03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382B8F-DC2F-C33C-6569-1F99968B4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평가 요소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8157A7F-0A1F-E0A9-8AF4-3E6FD8C7F1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26DFD20A-6702-4F69-1F2B-BCD95BC097C8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4DCEBFEA-54D5-57D0-C33F-F1327EE58183}"/>
                </a:ext>
              </a:extLst>
            </p:cNvPr>
            <p:cNvSpPr/>
            <p:nvPr userDrawn="1"/>
          </p:nvSpPr>
          <p:spPr>
            <a:xfrm>
              <a:off x="2564165" y="1626519"/>
              <a:ext cx="1848975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전사 성과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(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업적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)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평가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KPI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도출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02880529-AA47-D195-B5FD-2E189BC3375D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EC1F507-D199-BCB7-62E0-CAD154B4DF2E}"/>
              </a:ext>
            </a:extLst>
          </p:cNvPr>
          <p:cNvSpPr txBox="1"/>
          <p:nvPr/>
        </p:nvSpPr>
        <p:spPr>
          <a:xfrm>
            <a:off x="273050" y="2070100"/>
            <a:ext cx="9359900" cy="263525"/>
          </a:xfrm>
          <a:prstGeom prst="round2SameRect">
            <a:avLst>
              <a:gd name="adj1" fmla="val 42060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</a:ln>
          <a:effectLst/>
        </p:spPr>
        <p:txBody>
          <a:bodyPr lIns="72000" tIns="36000" rIns="36000" bIns="36000" rtlCol="0" anchor="ctr"/>
          <a:lstStyle>
            <a:defPPr>
              <a:defRPr lang="ko-KR"/>
            </a:defPPr>
            <a:lvl1pPr fontAlgn="base" latinLnBrk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defRPr kumimoji="1" sz="1200" kern="0">
                <a:solidFill>
                  <a:prstClr val="white"/>
                </a:solidFill>
                <a:latin typeface="+mn-ea"/>
              </a:defRPr>
            </a:lvl1pPr>
          </a:lstStyle>
          <a:p>
            <a:r>
              <a:rPr lang="ko-KR" altLang="en-US" dirty="0"/>
              <a:t>전사 성과</a:t>
            </a:r>
            <a:r>
              <a:rPr lang="en-US" altLang="ko-KR" dirty="0"/>
              <a:t>(</a:t>
            </a:r>
            <a:r>
              <a:rPr lang="ko-KR" altLang="en-US" dirty="0"/>
              <a:t>업적</a:t>
            </a:r>
            <a:r>
              <a:rPr lang="en-US" altLang="ko-KR" dirty="0"/>
              <a:t>)</a:t>
            </a:r>
            <a:r>
              <a:rPr lang="ko-KR" altLang="en-US" dirty="0"/>
              <a:t>평가 양식</a:t>
            </a:r>
            <a:r>
              <a:rPr lang="en-US" altLang="ko-KR" dirty="0"/>
              <a:t>(</a:t>
            </a:r>
            <a:r>
              <a:rPr lang="ko-KR" altLang="en-US" dirty="0"/>
              <a:t>업적평가 요소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Group 2">
            <a:extLst>
              <a:ext uri="{FF2B5EF4-FFF2-40B4-BE49-F238E27FC236}">
                <a16:creationId xmlns:a16="http://schemas.microsoft.com/office/drawing/2014/main" id="{D56E7E0B-DB8E-A476-D031-CB48E6552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258132"/>
              </p:ext>
            </p:extLst>
          </p:nvPr>
        </p:nvGraphicFramePr>
        <p:xfrm>
          <a:off x="273050" y="2324679"/>
          <a:ext cx="9359899" cy="3767929"/>
        </p:xfrm>
        <a:graphic>
          <a:graphicData uri="http://schemas.openxmlformats.org/drawingml/2006/table">
            <a:tbl>
              <a:tblPr/>
              <a:tblGrid>
                <a:gridCol w="391910">
                  <a:extLst>
                    <a:ext uri="{9D8B030D-6E8A-4147-A177-3AD203B41FA5}">
                      <a16:colId xmlns:a16="http://schemas.microsoft.com/office/drawing/2014/main" val="4191951330"/>
                    </a:ext>
                  </a:extLst>
                </a:gridCol>
                <a:gridCol w="171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914">
                  <a:extLst>
                    <a:ext uri="{9D8B030D-6E8A-4147-A177-3AD203B41FA5}">
                      <a16:colId xmlns:a16="http://schemas.microsoft.com/office/drawing/2014/main" val="2369212909"/>
                    </a:ext>
                  </a:extLst>
                </a:gridCol>
                <a:gridCol w="920137">
                  <a:extLst>
                    <a:ext uri="{9D8B030D-6E8A-4147-A177-3AD203B41FA5}">
                      <a16:colId xmlns:a16="http://schemas.microsoft.com/office/drawing/2014/main" val="2665520384"/>
                    </a:ext>
                  </a:extLst>
                </a:gridCol>
                <a:gridCol w="774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46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46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46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6633">
                  <a:extLst>
                    <a:ext uri="{9D8B030D-6E8A-4147-A177-3AD203B41FA5}">
                      <a16:colId xmlns:a16="http://schemas.microsoft.com/office/drawing/2014/main" val="1297995484"/>
                    </a:ext>
                  </a:extLst>
                </a:gridCol>
                <a:gridCol w="686633">
                  <a:extLst>
                    <a:ext uri="{9D8B030D-6E8A-4147-A177-3AD203B41FA5}">
                      <a16:colId xmlns:a16="http://schemas.microsoft.com/office/drawing/2014/main" val="3985389662"/>
                    </a:ext>
                  </a:extLst>
                </a:gridCol>
              </a:tblGrid>
              <a:tr h="60713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No.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KPI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측정방법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목표수준</a:t>
                      </a:r>
                    </a:p>
                  </a:txBody>
                  <a:tcPr marL="19050" marR="19050" marT="72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달성도별 등급 부여 기준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전년도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실적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가중치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1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Ａ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Ｂ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Ｃ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Ｄ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1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dirty="0"/>
                        <a:t>영업이익률 </a:t>
                      </a:r>
                      <a:r>
                        <a:rPr lang="en-US" altLang="ko-KR" sz="1000" dirty="0"/>
                        <a:t>(Operating Profit Margin)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/>
                        <a:t>영업이익 </a:t>
                      </a:r>
                      <a:r>
                        <a:rPr lang="en-US" altLang="ko-KR" sz="1000"/>
                        <a:t>÷ </a:t>
                      </a:r>
                      <a:r>
                        <a:rPr lang="ko-KR" altLang="en-US" sz="1000"/>
                        <a:t>매출액 </a:t>
                      </a:r>
                      <a:r>
                        <a:rPr lang="en-US" altLang="ko-KR" sz="1000"/>
                        <a:t>× 100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＋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12‰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15‰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12‰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10‰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8‰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6‰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１</a:t>
                      </a:r>
                      <a:r>
                        <a:rPr kumimoji="1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0.5%</a:t>
                      </a:r>
                      <a:endParaRPr kumimoji="1" lang="ko-KR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40%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6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dirty="0"/>
                        <a:t>매출 성장률 </a:t>
                      </a:r>
                      <a:r>
                        <a:rPr lang="en-US" altLang="ko-KR" sz="1000" dirty="0"/>
                        <a:t>(Revenue Growth Rate)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금년도 매출 </a:t>
                      </a:r>
                      <a:r>
                        <a:rPr lang="en-US" altLang="ko-KR" sz="1000"/>
                        <a:t>– </a:t>
                      </a:r>
                      <a:r>
                        <a:rPr lang="ko-KR" altLang="en-US" sz="1000"/>
                        <a:t>전년도 매출</a:t>
                      </a:r>
                      <a:r>
                        <a:rPr lang="en-US" altLang="ko-KR" sz="1000"/>
                        <a:t>) ÷ </a:t>
                      </a:r>
                      <a:r>
                        <a:rPr lang="ko-KR" altLang="en-US" sz="1000"/>
                        <a:t>전년도 매출 </a:t>
                      </a:r>
                      <a:r>
                        <a:rPr lang="en-US" altLang="ko-KR" sz="1000"/>
                        <a:t>× 100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＋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7‰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7%</a:t>
                      </a:r>
                      <a:endParaRPr kumimoji="1" lang="ko-KR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35%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6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dirty="0"/>
                        <a:t>프로젝트 납기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품질 </a:t>
                      </a:r>
                      <a:r>
                        <a:rPr lang="ko-KR" altLang="en-US" sz="1000" dirty="0" err="1"/>
                        <a:t>준수율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(Project Delivery &amp; Quality Compliance Rate)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/>
                        <a:t>납기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품질 기준 충족 프로젝트 </a:t>
                      </a:r>
                      <a:r>
                        <a:rPr lang="en-US" altLang="ko-KR" sz="1000"/>
                        <a:t>÷ </a:t>
                      </a:r>
                      <a:r>
                        <a:rPr lang="ko-KR" altLang="en-US" sz="1000"/>
                        <a:t>총 프로젝트 </a:t>
                      </a:r>
                      <a:r>
                        <a:rPr lang="en-US" altLang="ko-KR" sz="1000"/>
                        <a:t>× 100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바른고딕"/>
                        <a:ea typeface="나눔바른고딕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＋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92‰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93%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92%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91%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90%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89%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91%</a:t>
                      </a:r>
                      <a:endParaRPr kumimoji="1" lang="ko-KR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25%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298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30268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5A07-4555-A3F3-EB7C-79C39FCE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FA027B-4AF6-3320-57DF-0B7DBD5508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㈜</a:t>
            </a:r>
            <a:r>
              <a:rPr lang="ko-KR" altLang="en-US" dirty="0" err="1"/>
              <a:t>베이시스소프트는</a:t>
            </a:r>
            <a:r>
              <a:rPr lang="ko-KR" altLang="en-US" dirty="0"/>
              <a:t> 직무별 역할 정의에 따라 </a:t>
            </a:r>
            <a:r>
              <a:rPr lang="ko-KR" altLang="en-US" b="1" dirty="0"/>
              <a:t>직급</a:t>
            </a:r>
            <a:r>
              <a:rPr lang="en-US" altLang="ko-KR" b="1" dirty="0"/>
              <a:t>·</a:t>
            </a:r>
            <a:r>
              <a:rPr lang="ko-KR" altLang="en-US" b="1" dirty="0"/>
              <a:t>직무별 차별화된 역할 평가 기준을 도출</a:t>
            </a:r>
            <a:r>
              <a:rPr lang="ko-KR" altLang="en-US" dirty="0"/>
              <a:t>하였으며</a:t>
            </a:r>
            <a:r>
              <a:rPr lang="en-US" altLang="ko-KR" dirty="0"/>
              <a:t>, </a:t>
            </a:r>
            <a:r>
              <a:rPr lang="ko-KR" altLang="en-US" dirty="0"/>
              <a:t>각 직급별 책임</a:t>
            </a:r>
            <a:r>
              <a:rPr lang="en-US" altLang="ko-KR" dirty="0"/>
              <a:t>·</a:t>
            </a:r>
            <a:r>
              <a:rPr lang="ko-KR" altLang="en-US" dirty="0"/>
              <a:t>전문성</a:t>
            </a:r>
            <a:r>
              <a:rPr lang="en-US" altLang="ko-KR" dirty="0"/>
              <a:t>·</a:t>
            </a:r>
            <a:r>
              <a:rPr lang="ko-KR" altLang="en-US" dirty="0"/>
              <a:t>성과 기여도를 반영하여</a:t>
            </a:r>
            <a:r>
              <a:rPr lang="en-US" altLang="ko-KR" dirty="0"/>
              <a:t>, </a:t>
            </a:r>
            <a:r>
              <a:rPr lang="ko-KR" altLang="en-US" dirty="0"/>
              <a:t>동일 직무 내에서도 역할 수준의 차이를 공정하게 반영할 수 있는 기반을 마련하였음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2F5EA98-F3D5-EA95-3718-8A9A6CDF67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86B71C-491D-7F4C-1622-894FD9971E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평가 요소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CC928CC-C194-AC33-91CE-A9FA429095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0CD3FEF2-BC8F-B567-2BD9-FB8369189F16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7F1D94B2-7024-9054-A001-5CFF9EA4BE7F}"/>
                </a:ext>
              </a:extLst>
            </p:cNvPr>
            <p:cNvSpPr/>
            <p:nvPr userDrawn="1"/>
          </p:nvSpPr>
          <p:spPr>
            <a:xfrm>
              <a:off x="2256958" y="1626519"/>
              <a:ext cx="2463391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역할평가 요소 도출 결과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_BIM</a:t>
              </a:r>
              <a:r>
                <a:rPr lang="en-US" altLang="ko-KR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 </a:t>
              </a: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latin typeface="나눔바른고딕"/>
                  <a:ea typeface="나눔바른고딕"/>
                </a:rPr>
                <a:t>컨설팅 직무 예시</a:t>
              </a:r>
              <a:endParaRPr kumimoji="0" lang="ko-KR" altLang="en-US" sz="1400" b="0" i="0" u="none" strike="noStrike" kern="1200" cap="none" spc="0" normalizeH="0" baseline="0" noProof="0" dirty="0">
                <a:ln>
                  <a:solidFill>
                    <a:prstClr val="black">
                      <a:alpha val="5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바른고딕"/>
                <a:ea typeface="나눔바른고딕"/>
                <a:cs typeface="+mn-cs"/>
              </a:endParaRP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989910FF-37A1-1C9C-1F04-FFB15F3981B6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7698850-78DE-E23D-C08A-F9EF9E7C8494}"/>
              </a:ext>
            </a:extLst>
          </p:cNvPr>
          <p:cNvSpPr txBox="1"/>
          <p:nvPr/>
        </p:nvSpPr>
        <p:spPr>
          <a:xfrm>
            <a:off x="273050" y="2070100"/>
            <a:ext cx="9359900" cy="263525"/>
          </a:xfrm>
          <a:prstGeom prst="round2SameRect">
            <a:avLst>
              <a:gd name="adj1" fmla="val 42060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</a:ln>
          <a:effectLst/>
        </p:spPr>
        <p:txBody>
          <a:bodyPr lIns="72000" tIns="36000" rIns="36000" bIns="36000" rtlCol="0" anchor="ctr"/>
          <a:lstStyle>
            <a:defPPr>
              <a:defRPr lang="ko-KR"/>
            </a:defPPr>
            <a:lvl1pPr fontAlgn="base" latinLnBrk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defRPr kumimoji="1" sz="1200" kern="0">
                <a:solidFill>
                  <a:prstClr val="white"/>
                </a:solidFill>
                <a:latin typeface="+mn-ea"/>
              </a:defRPr>
            </a:lvl1pPr>
          </a:lstStyle>
          <a:p>
            <a:r>
              <a:rPr lang="ko-KR" altLang="en-US" dirty="0"/>
              <a:t>직무별 역할 평가 양식</a:t>
            </a:r>
            <a:r>
              <a:rPr lang="en-US" altLang="ko-KR" dirty="0"/>
              <a:t>(</a:t>
            </a:r>
            <a:r>
              <a:rPr lang="ko-KR" altLang="en-US" dirty="0"/>
              <a:t>역할 평가 요소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9" name="Group 2">
            <a:extLst>
              <a:ext uri="{FF2B5EF4-FFF2-40B4-BE49-F238E27FC236}">
                <a16:creationId xmlns:a16="http://schemas.microsoft.com/office/drawing/2014/main" id="{965E2EBA-7011-60E5-2D4C-51D049068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338634"/>
              </p:ext>
            </p:extLst>
          </p:nvPr>
        </p:nvGraphicFramePr>
        <p:xfrm>
          <a:off x="273048" y="2324678"/>
          <a:ext cx="9359899" cy="3767926"/>
        </p:xfrm>
        <a:graphic>
          <a:graphicData uri="http://schemas.openxmlformats.org/drawingml/2006/table">
            <a:tbl>
              <a:tblPr/>
              <a:tblGrid>
                <a:gridCol w="887417">
                  <a:extLst>
                    <a:ext uri="{9D8B030D-6E8A-4147-A177-3AD203B41FA5}">
                      <a16:colId xmlns:a16="http://schemas.microsoft.com/office/drawing/2014/main" val="4191951330"/>
                    </a:ext>
                  </a:extLst>
                </a:gridCol>
                <a:gridCol w="241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1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15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15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115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63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직급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역할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달성도별 등급 부여 기준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4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Ａ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Ｂ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Ｃ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Ｄ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G6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 관리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컨설팅 전략과 서비스 체계를 총괄하며 대외 협력과 사업 확장을 책임지는 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G5-M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 관리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부서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컨설팅 조직의 목표와 방향을 설정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관리하고 프로젝트 포트폴리오 운영 및 성과 달성을 총괄하는 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872438"/>
                  </a:ext>
                </a:extLst>
              </a:tr>
              <a:tr h="432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G5-S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 스페셜리스트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시뮬레이션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검증 등 고난이도 과제를 전문적으로 수행하며 기술 자산화와 표준화를 주도하는 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549599"/>
                  </a:ext>
                </a:extLst>
              </a:tr>
              <a:tr h="432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G4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 책임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(PM)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프로젝트를 기획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운영하며 일정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품질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비용 관리와 산출물 보고를 책임지는 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/>
                </a:tc>
                <a:extLst>
                  <a:ext uri="{0D108BD9-81ED-4DB2-BD59-A6C34878D82A}">
                    <a16:rowId xmlns:a16="http://schemas.microsoft.com/office/drawing/2014/main" val="3325366048"/>
                  </a:ext>
                </a:extLst>
              </a:tr>
              <a:tr h="432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G3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핵심 실무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모델링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구조 검토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시뮬레이션 등 주요 과제를 수행하고 산출물 품질과 납기를 책임지는 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G2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말과 글을 통해 명확하게 자신의 의견을 전달하고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상대방의 의견을 경청하며 적절히 반영하는 능력을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회의나 협업 시 효과적인 커뮤니케이션을 수행하는지도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883573"/>
                  </a:ext>
                </a:extLst>
              </a:tr>
              <a:tr h="432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G1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실무 보조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BIM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모델링 기초 작업과 자료 정리를 담당하며 실무 진행을 보조하는 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991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05063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9F2DD-E7CA-71F2-C51E-1D4D6675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A69FAB-B6C5-9936-9D5B-0E5152D4A0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조직 관점에서는 성과 달성에 필요한 핵심 행동 특성을</a:t>
            </a:r>
            <a:r>
              <a:rPr lang="en-US" altLang="ko-KR" dirty="0"/>
              <a:t>, </a:t>
            </a:r>
            <a:r>
              <a:rPr lang="ko-KR" altLang="en-US" dirty="0"/>
              <a:t>구성원 관점에서는 고성과자의 행동양식을 기준으로 삼아</a:t>
            </a:r>
            <a:r>
              <a:rPr lang="en-US" altLang="ko-KR" dirty="0"/>
              <a:t>, </a:t>
            </a:r>
            <a:r>
              <a:rPr lang="ko-KR" altLang="en-US" b="1" dirty="0"/>
              <a:t>개인 역량과 조직성과를 유기적으로 연계할 수 있는 평가 기반</a:t>
            </a:r>
            <a:r>
              <a:rPr lang="ko-KR" altLang="en-US" dirty="0"/>
              <a:t>을 마련하기 위해 역량평가</a:t>
            </a:r>
            <a:r>
              <a:rPr lang="en-US" altLang="ko-KR" dirty="0"/>
              <a:t>(</a:t>
            </a:r>
            <a:r>
              <a:rPr lang="ko-KR" altLang="en-US" dirty="0"/>
              <a:t>공통역량</a:t>
            </a:r>
            <a:r>
              <a:rPr lang="en-US" altLang="ko-KR" dirty="0"/>
              <a:t>) </a:t>
            </a:r>
            <a:r>
              <a:rPr lang="ko-KR" altLang="en-US" dirty="0"/>
              <a:t>요소를 도출하였음</a:t>
            </a:r>
            <a:r>
              <a:rPr lang="en-US" altLang="ko-KR" dirty="0"/>
              <a:t>.</a:t>
            </a:r>
            <a:endParaRPr lang="ko-KR" altLang="en-US" spc="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403649D-CFB4-D3BE-0AC1-935E16D91D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8C875B-B8A8-B1A3-7DF2-2EB7D7727D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평가 요소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B3CE3F1-B808-EB89-AEE7-B7EE2FF048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9AFC316F-C946-D1F6-9273-E34EA3449AF3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A9CD3A87-B5F2-D8FE-A686-F974DF7EB0DE}"/>
                </a:ext>
              </a:extLst>
            </p:cNvPr>
            <p:cNvSpPr/>
            <p:nvPr userDrawn="1"/>
          </p:nvSpPr>
          <p:spPr>
            <a:xfrm>
              <a:off x="2998553" y="1626519"/>
              <a:ext cx="980204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역량 개념 및 특성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403D015E-9200-E134-6ADC-C743A3E6C149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E351A9A6-13A0-66C9-C506-1CA74FA4A0D3}"/>
              </a:ext>
            </a:extLst>
          </p:cNvPr>
          <p:cNvSpPr/>
          <p:nvPr/>
        </p:nvSpPr>
        <p:spPr>
          <a:xfrm>
            <a:off x="5024438" y="2117123"/>
            <a:ext cx="4452937" cy="4083652"/>
          </a:xfrm>
          <a:prstGeom prst="rect">
            <a:avLst/>
          </a:prstGeom>
          <a:solidFill>
            <a:srgbClr val="F0F4F4"/>
          </a:solidFill>
          <a:ln w="12700">
            <a:solidFill>
              <a:srgbClr val="D0DBE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47" marR="0" lvl="0" indent="-92047" algn="l" defTabSz="914126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>
                <a:tab pos="92047" algn="l"/>
              </a:tabLst>
              <a:defRPr/>
            </a:pP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F1718ED-5234-1941-2676-480C91B7667F}"/>
              </a:ext>
            </a:extLst>
          </p:cNvPr>
          <p:cNvSpPr/>
          <p:nvPr/>
        </p:nvSpPr>
        <p:spPr>
          <a:xfrm>
            <a:off x="416263" y="2117123"/>
            <a:ext cx="4452937" cy="4083652"/>
          </a:xfrm>
          <a:prstGeom prst="rect">
            <a:avLst/>
          </a:prstGeom>
          <a:solidFill>
            <a:srgbClr val="F0F4F4"/>
          </a:solidFill>
          <a:ln w="12700">
            <a:solidFill>
              <a:srgbClr val="D0DBE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2047" marR="0" lvl="0" indent="-92047" algn="l" defTabSz="914126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>
                <a:tab pos="92047" algn="l"/>
              </a:tabLst>
              <a:defRPr/>
            </a:pPr>
            <a:endParaRPr kumimoji="0" lang="ko-KR" alt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24DBDC76-643F-4FDE-F6ED-115831074488}"/>
              </a:ext>
            </a:extLst>
          </p:cNvPr>
          <p:cNvGrpSpPr/>
          <p:nvPr/>
        </p:nvGrpSpPr>
        <p:grpSpPr>
          <a:xfrm>
            <a:off x="466688" y="2117123"/>
            <a:ext cx="1312555" cy="307776"/>
            <a:chOff x="-585027" y="2060575"/>
            <a:chExt cx="4692446" cy="307776"/>
          </a:xfrm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B08F26BC-D3A6-B054-B698-B079D4B470DC}"/>
                </a:ext>
              </a:extLst>
            </p:cNvPr>
            <p:cNvSpPr/>
            <p:nvPr/>
          </p:nvSpPr>
          <p:spPr>
            <a:xfrm>
              <a:off x="-217930" y="2060575"/>
              <a:ext cx="394279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762" lvl="0" algn="ctr" latinLnBrk="0">
                <a:spcBef>
                  <a:spcPts val="200"/>
                </a:spcBef>
                <a:defRPr/>
              </a:pPr>
              <a:r>
                <a:rPr kumimoji="1" lang="ko-KR" altLang="en-US" sz="1200" b="1" kern="0" dirty="0">
                  <a:latin typeface="+mj-ea"/>
                  <a:ea typeface="+mj-ea"/>
                </a:rPr>
                <a:t>역량 구성 요소</a:t>
              </a:r>
            </a:p>
          </p:txBody>
        </p: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ECA8AFC4-161F-973F-0B48-A88BB0B7B501}"/>
                </a:ext>
              </a:extLst>
            </p:cNvPr>
            <p:cNvCxnSpPr>
              <a:cxnSpLocks/>
            </p:cNvCxnSpPr>
            <p:nvPr/>
          </p:nvCxnSpPr>
          <p:spPr>
            <a:xfrm>
              <a:off x="-585027" y="2368351"/>
              <a:ext cx="469244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15567D9D-ABE1-1D47-BD3D-1DF26333F54A}"/>
              </a:ext>
            </a:extLst>
          </p:cNvPr>
          <p:cNvGrpSpPr/>
          <p:nvPr/>
        </p:nvGrpSpPr>
        <p:grpSpPr>
          <a:xfrm>
            <a:off x="4982707" y="2110015"/>
            <a:ext cx="2382626" cy="307776"/>
            <a:chOff x="-585027" y="2060575"/>
            <a:chExt cx="4692446" cy="307776"/>
          </a:xfrm>
        </p:grpSpPr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1566E423-E1A2-B921-C6DE-0593989AA321}"/>
                </a:ext>
              </a:extLst>
            </p:cNvPr>
            <p:cNvSpPr/>
            <p:nvPr/>
          </p:nvSpPr>
          <p:spPr>
            <a:xfrm>
              <a:off x="-585027" y="2060575"/>
              <a:ext cx="469244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762" lvl="0" algn="ctr" latinLnBrk="0">
                <a:spcBef>
                  <a:spcPts val="200"/>
                </a:spcBef>
                <a:defRPr/>
              </a:pPr>
              <a:r>
                <a:rPr kumimoji="1" lang="ko-KR" altLang="en-US" sz="1200" b="1" kern="0" dirty="0">
                  <a:latin typeface="+mj-ea"/>
                  <a:ea typeface="+mj-ea"/>
                </a:rPr>
                <a:t>역량평가 의의 및 구성</a:t>
              </a:r>
            </a:p>
          </p:txBody>
        </p: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C29C551A-25C2-FDE2-6935-EA6731323DDE}"/>
                </a:ext>
              </a:extLst>
            </p:cNvPr>
            <p:cNvCxnSpPr>
              <a:cxnSpLocks/>
            </p:cNvCxnSpPr>
            <p:nvPr/>
          </p:nvCxnSpPr>
          <p:spPr>
            <a:xfrm>
              <a:off x="-188379" y="2368351"/>
              <a:ext cx="405193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3" name="타원 192">
            <a:extLst>
              <a:ext uri="{FF2B5EF4-FFF2-40B4-BE49-F238E27FC236}">
                <a16:creationId xmlns:a16="http://schemas.microsoft.com/office/drawing/2014/main" id="{F6178D5E-4ACA-9263-1C1D-34B8D3883541}"/>
              </a:ext>
            </a:extLst>
          </p:cNvPr>
          <p:cNvSpPr/>
          <p:nvPr/>
        </p:nvSpPr>
        <p:spPr bwMode="auto">
          <a:xfrm>
            <a:off x="2372167" y="2654135"/>
            <a:ext cx="1498565" cy="1008112"/>
          </a:xfrm>
          <a:prstGeom prst="ellipse">
            <a:avLst/>
          </a:prstGeom>
          <a:pattFill prst="ltDn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t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DB51B982-74CD-FE47-329F-4D7A2D5FF21C}"/>
              </a:ext>
            </a:extLst>
          </p:cNvPr>
          <p:cNvGrpSpPr/>
          <p:nvPr/>
        </p:nvGrpSpPr>
        <p:grpSpPr>
          <a:xfrm>
            <a:off x="1877033" y="3237352"/>
            <a:ext cx="2654720" cy="2503735"/>
            <a:chOff x="1763688" y="3147541"/>
            <a:chExt cx="2412268" cy="2225675"/>
          </a:xfrm>
        </p:grpSpPr>
        <p:sp>
          <p:nvSpPr>
            <p:cNvPr id="195" name="AutoShape 72">
              <a:extLst>
                <a:ext uri="{FF2B5EF4-FFF2-40B4-BE49-F238E27FC236}">
                  <a16:creationId xmlns:a16="http://schemas.microsoft.com/office/drawing/2014/main" id="{5D1A013B-87AD-8EFF-D42F-AEA8EAE04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688" y="3147541"/>
              <a:ext cx="2284413" cy="2225675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rgbClr val="000000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endParaRPr lang="ko-KR" altLang="en-US">
                <a:latin typeface="+mj-ea"/>
                <a:ea typeface="+mj-ea"/>
              </a:endParaRPr>
            </a:p>
          </p:txBody>
        </p: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5BA72E1D-8B03-B9C2-0FBB-9690050BAFDD}"/>
                </a:ext>
              </a:extLst>
            </p:cNvPr>
            <p:cNvCxnSpPr/>
            <p:nvPr/>
          </p:nvCxnSpPr>
          <p:spPr bwMode="auto">
            <a:xfrm>
              <a:off x="2580267" y="3795613"/>
              <a:ext cx="658398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D2E3AFA0-F731-EDB1-FA41-49B26CD8D696}"/>
                </a:ext>
              </a:extLst>
            </p:cNvPr>
            <p:cNvCxnSpPr/>
            <p:nvPr/>
          </p:nvCxnSpPr>
          <p:spPr bwMode="auto">
            <a:xfrm>
              <a:off x="2173335" y="4587701"/>
              <a:ext cx="1474080" cy="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51A85312-6B18-4D91-F9FB-F54152D4EB5D}"/>
                </a:ext>
              </a:extLst>
            </p:cNvPr>
            <p:cNvCxnSpPr/>
            <p:nvPr/>
          </p:nvCxnSpPr>
          <p:spPr bwMode="auto">
            <a:xfrm>
              <a:off x="2905894" y="3795613"/>
              <a:ext cx="4481" cy="792088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410EAA14-E419-4526-E355-39966786F728}"/>
                </a:ext>
              </a:extLst>
            </p:cNvPr>
            <p:cNvSpPr/>
            <p:nvPr/>
          </p:nvSpPr>
          <p:spPr>
            <a:xfrm>
              <a:off x="2706713" y="3352711"/>
              <a:ext cx="557808" cy="3830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100" dirty="0">
                  <a:latin typeface="+mj-ea"/>
                  <a:ea typeface="+mj-ea"/>
                </a:rPr>
                <a:t>스킬</a:t>
              </a:r>
            </a:p>
            <a:p>
              <a:r>
                <a:rPr lang="en-US" altLang="ko-KR" sz="1100" dirty="0">
                  <a:latin typeface="+mj-ea"/>
                  <a:ea typeface="+mj-ea"/>
                </a:rPr>
                <a:t>Skills</a:t>
              </a:r>
              <a:endParaRPr lang="ko-KR" altLang="en-US" sz="1100" dirty="0">
                <a:latin typeface="+mj-ea"/>
                <a:ea typeface="+mj-ea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20D1A241-B7B6-914D-602C-E7AA0C21EB2F}"/>
                </a:ext>
              </a:extLst>
            </p:cNvPr>
            <p:cNvSpPr/>
            <p:nvPr/>
          </p:nvSpPr>
          <p:spPr>
            <a:xfrm>
              <a:off x="1991341" y="4001343"/>
              <a:ext cx="936104" cy="3830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ko-KR" altLang="en-US" sz="1100" dirty="0">
                  <a:latin typeface="+mj-ea"/>
                  <a:ea typeface="+mj-ea"/>
                </a:rPr>
                <a:t>지식</a:t>
              </a:r>
            </a:p>
            <a:p>
              <a:pPr algn="r"/>
              <a:r>
                <a:rPr lang="en-US" altLang="ko-KR" sz="1100" dirty="0">
                  <a:latin typeface="+mj-ea"/>
                  <a:ea typeface="+mj-ea"/>
                </a:rPr>
                <a:t>Knowledge</a:t>
              </a:r>
              <a:endParaRPr lang="ko-KR" altLang="en-US" sz="1100" dirty="0">
                <a:latin typeface="+mj-ea"/>
                <a:ea typeface="+mj-ea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17C0BE72-6F91-5966-62F1-FA66BA395C11}"/>
                </a:ext>
              </a:extLst>
            </p:cNvPr>
            <p:cNvSpPr/>
            <p:nvPr/>
          </p:nvSpPr>
          <p:spPr>
            <a:xfrm>
              <a:off x="3023828" y="3993748"/>
              <a:ext cx="1152128" cy="3830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100" dirty="0">
                  <a:latin typeface="+mj-ea"/>
                  <a:ea typeface="+mj-ea"/>
                </a:rPr>
                <a:t>태도</a:t>
              </a:r>
            </a:p>
            <a:p>
              <a:r>
                <a:rPr lang="en-US" altLang="ko-KR" sz="1100" dirty="0">
                  <a:latin typeface="+mj-ea"/>
                  <a:ea typeface="+mj-ea"/>
                </a:rPr>
                <a:t>Attitudes</a:t>
              </a:r>
              <a:endParaRPr lang="ko-KR" altLang="en-US" sz="1100" dirty="0">
                <a:latin typeface="+mj-ea"/>
                <a:ea typeface="+mj-ea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5768A886-1C03-1877-7137-99B66790C9C5}"/>
                </a:ext>
              </a:extLst>
            </p:cNvPr>
            <p:cNvSpPr/>
            <p:nvPr/>
          </p:nvSpPr>
          <p:spPr>
            <a:xfrm>
              <a:off x="1977692" y="4707617"/>
              <a:ext cx="1890312" cy="533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latin typeface="+mj-ea"/>
                  <a:ea typeface="+mj-ea"/>
                </a:rPr>
                <a:t>심리적 특성</a:t>
              </a:r>
            </a:p>
            <a:p>
              <a:pPr algn="ctr"/>
              <a:r>
                <a:rPr lang="en-US" altLang="ko-KR" sz="1100" dirty="0">
                  <a:latin typeface="+mj-ea"/>
                  <a:ea typeface="+mj-ea"/>
                </a:rPr>
                <a:t>Traits &amp; Motives</a:t>
              </a:r>
            </a:p>
            <a:p>
              <a:pPr algn="ctr"/>
              <a:r>
                <a:rPr lang="en-US" altLang="ko-KR" sz="1100" dirty="0">
                  <a:latin typeface="+mj-ea"/>
                  <a:ea typeface="+mj-ea"/>
                </a:rPr>
                <a:t>(</a:t>
              </a:r>
              <a:r>
                <a:rPr lang="ko-KR" altLang="en-US" sz="1100" dirty="0">
                  <a:latin typeface="+mj-ea"/>
                  <a:ea typeface="+mj-ea"/>
                </a:rPr>
                <a:t>적성</a:t>
              </a:r>
              <a:r>
                <a:rPr lang="en-US" altLang="ko-KR" sz="1100" dirty="0">
                  <a:latin typeface="+mj-ea"/>
                  <a:ea typeface="+mj-ea"/>
                </a:rPr>
                <a:t>, </a:t>
              </a:r>
              <a:r>
                <a:rPr lang="ko-KR" altLang="en-US" sz="1100" dirty="0">
                  <a:latin typeface="+mj-ea"/>
                  <a:ea typeface="+mj-ea"/>
                </a:rPr>
                <a:t>성격</a:t>
              </a:r>
              <a:r>
                <a:rPr lang="en-US" altLang="ko-KR" sz="1100" dirty="0">
                  <a:latin typeface="+mj-ea"/>
                  <a:ea typeface="+mj-ea"/>
                </a:rPr>
                <a:t>, </a:t>
              </a:r>
              <a:r>
                <a:rPr lang="ko-KR" altLang="en-US" sz="1100" dirty="0">
                  <a:latin typeface="+mj-ea"/>
                  <a:ea typeface="+mj-ea"/>
                </a:rPr>
                <a:t>동기</a:t>
              </a:r>
              <a:r>
                <a:rPr lang="en-US" altLang="ko-KR" sz="1100" dirty="0">
                  <a:latin typeface="+mj-ea"/>
                  <a:ea typeface="+mj-ea"/>
                </a:rPr>
                <a:t>, </a:t>
              </a:r>
              <a:r>
                <a:rPr lang="ko-KR" altLang="en-US" sz="1100" dirty="0">
                  <a:latin typeface="+mj-ea"/>
                  <a:ea typeface="+mj-ea"/>
                </a:rPr>
                <a:t>가치관</a:t>
              </a:r>
              <a:r>
                <a:rPr lang="en-US" altLang="ko-KR" sz="1100" dirty="0">
                  <a:latin typeface="+mj-ea"/>
                  <a:ea typeface="+mj-ea"/>
                </a:rPr>
                <a:t>…)</a:t>
              </a:r>
              <a:endParaRPr lang="ko-KR" altLang="en-US" sz="1100" dirty="0">
                <a:latin typeface="+mj-ea"/>
                <a:ea typeface="+mj-ea"/>
              </a:endParaRPr>
            </a:p>
          </p:txBody>
        </p:sp>
      </p:grp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C92A3748-523F-5E69-CA30-698B4B3198F1}"/>
              </a:ext>
            </a:extLst>
          </p:cNvPr>
          <p:cNvCxnSpPr/>
          <p:nvPr/>
        </p:nvCxnSpPr>
        <p:spPr bwMode="auto">
          <a:xfrm flipV="1">
            <a:off x="1188703" y="3129971"/>
            <a:ext cx="0" cy="23020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4F2128D7-FA29-0A67-0EA9-6D7DB59BBA0A}"/>
              </a:ext>
            </a:extLst>
          </p:cNvPr>
          <p:cNvCxnSpPr/>
          <p:nvPr/>
        </p:nvCxnSpPr>
        <p:spPr bwMode="auto">
          <a:xfrm>
            <a:off x="1012937" y="3118885"/>
            <a:ext cx="3600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D116B1DE-BF37-0F75-2C01-A13595F8C25F}"/>
              </a:ext>
            </a:extLst>
          </p:cNvPr>
          <p:cNvCxnSpPr/>
          <p:nvPr/>
        </p:nvCxnSpPr>
        <p:spPr bwMode="auto">
          <a:xfrm>
            <a:off x="1012937" y="5463027"/>
            <a:ext cx="3600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6BBC144B-0B37-1C85-5771-EF89E4937A52}"/>
              </a:ext>
            </a:extLst>
          </p:cNvPr>
          <p:cNvCxnSpPr/>
          <p:nvPr/>
        </p:nvCxnSpPr>
        <p:spPr bwMode="auto">
          <a:xfrm>
            <a:off x="1250714" y="3218079"/>
            <a:ext cx="1734308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75B1163A-0263-ADEC-55DD-5880DED85E23}"/>
              </a:ext>
            </a:extLst>
          </p:cNvPr>
          <p:cNvCxnSpPr/>
          <p:nvPr/>
        </p:nvCxnSpPr>
        <p:spPr bwMode="auto">
          <a:xfrm>
            <a:off x="1211104" y="4670939"/>
            <a:ext cx="1054527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B1E3823B-243B-5CB1-E258-6901B0340D70}"/>
              </a:ext>
            </a:extLst>
          </p:cNvPr>
          <p:cNvSpPr/>
          <p:nvPr/>
        </p:nvSpPr>
        <p:spPr>
          <a:xfrm>
            <a:off x="549139" y="2654135"/>
            <a:ext cx="12778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b="1" dirty="0">
                <a:latin typeface="+mj-ea"/>
                <a:ea typeface="+mj-ea"/>
              </a:rPr>
              <a:t>High</a:t>
            </a:r>
          </a:p>
          <a:p>
            <a:pPr algn="ctr"/>
            <a:r>
              <a:rPr lang="en-US" altLang="ko-KR" sz="1050" b="1" dirty="0">
                <a:latin typeface="+mj-ea"/>
                <a:ea typeface="+mj-ea"/>
              </a:rPr>
              <a:t>Tangibility</a:t>
            </a:r>
            <a:endParaRPr lang="ko-KR" altLang="en-US" sz="1050" dirty="0">
              <a:latin typeface="+mj-ea"/>
              <a:ea typeface="+mj-ea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9555C39A-07BF-69CD-4A83-69A30C83E037}"/>
              </a:ext>
            </a:extLst>
          </p:cNvPr>
          <p:cNvSpPr/>
          <p:nvPr/>
        </p:nvSpPr>
        <p:spPr>
          <a:xfrm>
            <a:off x="508881" y="5463027"/>
            <a:ext cx="13443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b="1" dirty="0">
                <a:latin typeface="+mj-ea"/>
                <a:ea typeface="+mj-ea"/>
              </a:rPr>
              <a:t>Low</a:t>
            </a:r>
          </a:p>
          <a:p>
            <a:pPr algn="ctr"/>
            <a:r>
              <a:rPr lang="en-US" altLang="ko-KR" sz="1050" b="1" dirty="0">
                <a:latin typeface="+mj-ea"/>
                <a:ea typeface="+mj-ea"/>
              </a:rPr>
              <a:t>Tangibility</a:t>
            </a:r>
            <a:endParaRPr lang="ko-KR" altLang="en-US" sz="1050" dirty="0">
              <a:latin typeface="+mj-ea"/>
              <a:ea typeface="+mj-ea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984C204B-528D-2883-BBCD-A8E77B2DEEF3}"/>
              </a:ext>
            </a:extLst>
          </p:cNvPr>
          <p:cNvSpPr/>
          <p:nvPr/>
        </p:nvSpPr>
        <p:spPr>
          <a:xfrm>
            <a:off x="554012" y="3227078"/>
            <a:ext cx="6270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관찰</a:t>
            </a:r>
          </a:p>
          <a:p>
            <a:r>
              <a:rPr lang="ko-KR" altLang="en-US" sz="1000" dirty="0">
                <a:latin typeface="+mj-ea"/>
                <a:ea typeface="+mj-ea"/>
              </a:rPr>
              <a:t>쉬움 </a:t>
            </a:r>
            <a:r>
              <a:rPr lang="en-US" altLang="ko-KR" sz="1000" dirty="0">
                <a:latin typeface="+mj-ea"/>
                <a:ea typeface="+mj-ea"/>
              </a:rPr>
              <a:t>=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F5BE0F29-2BD6-6A82-6494-9FFB2D661642}"/>
              </a:ext>
            </a:extLst>
          </p:cNvPr>
          <p:cNvSpPr/>
          <p:nvPr/>
        </p:nvSpPr>
        <p:spPr>
          <a:xfrm>
            <a:off x="1238088" y="3230779"/>
            <a:ext cx="6150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관찰</a:t>
            </a:r>
          </a:p>
          <a:p>
            <a:r>
              <a:rPr lang="ko-KR" altLang="en-US" sz="1000" dirty="0">
                <a:latin typeface="+mj-ea"/>
                <a:ea typeface="+mj-ea"/>
              </a:rPr>
              <a:t>쉬움 </a:t>
            </a:r>
            <a:r>
              <a:rPr lang="en-US" altLang="ko-KR" sz="1000" dirty="0">
                <a:latin typeface="+mj-ea"/>
                <a:ea typeface="+mj-ea"/>
              </a:rPr>
              <a:t>=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2FC366E0-E18D-C782-DEC3-8FC3A1F72B71}"/>
              </a:ext>
            </a:extLst>
          </p:cNvPr>
          <p:cNvSpPr/>
          <p:nvPr/>
        </p:nvSpPr>
        <p:spPr>
          <a:xfrm>
            <a:off x="1778149" y="3230779"/>
            <a:ext cx="4589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관찰</a:t>
            </a:r>
          </a:p>
          <a:p>
            <a:r>
              <a:rPr lang="ko-KR" altLang="en-US" sz="1000" dirty="0">
                <a:latin typeface="+mj-ea"/>
                <a:ea typeface="+mj-ea"/>
              </a:rPr>
              <a:t>쉬움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B1CA0FA-3787-4CF3-CC84-B54B112FCB34}"/>
              </a:ext>
            </a:extLst>
          </p:cNvPr>
          <p:cNvSpPr/>
          <p:nvPr/>
        </p:nvSpPr>
        <p:spPr>
          <a:xfrm>
            <a:off x="552462" y="4958971"/>
            <a:ext cx="698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관찰</a:t>
            </a:r>
          </a:p>
          <a:p>
            <a:r>
              <a:rPr lang="ko-KR" altLang="en-US" sz="1000" dirty="0">
                <a:latin typeface="+mj-ea"/>
                <a:ea typeface="+mj-ea"/>
              </a:rPr>
              <a:t>어려움 </a:t>
            </a:r>
            <a:r>
              <a:rPr lang="en-US" altLang="ko-KR" sz="1000" dirty="0">
                <a:latin typeface="+mj-ea"/>
                <a:ea typeface="+mj-ea"/>
              </a:rPr>
              <a:t>=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FB929674-EE54-7AE7-9610-43BCA336EA1F}"/>
              </a:ext>
            </a:extLst>
          </p:cNvPr>
          <p:cNvSpPr/>
          <p:nvPr/>
        </p:nvSpPr>
        <p:spPr>
          <a:xfrm>
            <a:off x="1236538" y="4962672"/>
            <a:ext cx="8205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평가</a:t>
            </a:r>
            <a:r>
              <a:rPr lang="en-US" altLang="ko-KR" sz="1000" dirty="0">
                <a:latin typeface="+mj-ea"/>
                <a:ea typeface="+mj-ea"/>
              </a:rPr>
              <a:t>/</a:t>
            </a:r>
            <a:r>
              <a:rPr lang="ko-KR" altLang="en-US" sz="1000" dirty="0">
                <a:latin typeface="+mj-ea"/>
                <a:ea typeface="+mj-ea"/>
              </a:rPr>
              <a:t>관리</a:t>
            </a:r>
            <a:endParaRPr lang="en-US" altLang="ko-KR" sz="1000" dirty="0">
              <a:latin typeface="+mj-ea"/>
              <a:ea typeface="+mj-ea"/>
            </a:endParaRPr>
          </a:p>
          <a:p>
            <a:r>
              <a:rPr lang="ko-KR" altLang="en-US" sz="1000" dirty="0">
                <a:latin typeface="+mj-ea"/>
                <a:ea typeface="+mj-ea"/>
              </a:rPr>
              <a:t>어려움 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C92A68CF-2A00-20B2-F3CF-89251F141C6C}"/>
              </a:ext>
            </a:extLst>
          </p:cNvPr>
          <p:cNvSpPr/>
          <p:nvPr/>
        </p:nvSpPr>
        <p:spPr>
          <a:xfrm>
            <a:off x="2405741" y="2729193"/>
            <a:ext cx="14939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>
                <a:latin typeface="+mj-ea"/>
                <a:ea typeface="+mj-ea"/>
              </a:rPr>
              <a:t>고성과</a:t>
            </a:r>
          </a:p>
          <a:p>
            <a:pPr algn="ctr"/>
            <a:r>
              <a:rPr lang="en-US" altLang="ko-KR" sz="1000" dirty="0">
                <a:latin typeface="+mj-ea"/>
                <a:ea typeface="+mj-ea"/>
              </a:rPr>
              <a:t>(High Performance)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216" name="오른쪽 대괄호 215">
            <a:extLst>
              <a:ext uri="{FF2B5EF4-FFF2-40B4-BE49-F238E27FC236}">
                <a16:creationId xmlns:a16="http://schemas.microsoft.com/office/drawing/2014/main" id="{D2CE1841-F55C-5984-3538-C13B87A37068}"/>
              </a:ext>
            </a:extLst>
          </p:cNvPr>
          <p:cNvSpPr/>
          <p:nvPr/>
        </p:nvSpPr>
        <p:spPr bwMode="auto">
          <a:xfrm>
            <a:off x="3981349" y="3237352"/>
            <a:ext cx="182217" cy="1561443"/>
          </a:xfrm>
          <a:prstGeom prst="rightBracket">
            <a:avLst>
              <a:gd name="adj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t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6EAE049C-40E7-1983-4F8A-75E07A50096D}"/>
              </a:ext>
            </a:extLst>
          </p:cNvPr>
          <p:cNvSpPr/>
          <p:nvPr/>
        </p:nvSpPr>
        <p:spPr>
          <a:xfrm>
            <a:off x="4029853" y="3374795"/>
            <a:ext cx="218307" cy="1323439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역</a:t>
            </a:r>
            <a:endParaRPr lang="en-US" altLang="ko-KR" sz="1000" dirty="0">
              <a:latin typeface="+mj-ea"/>
              <a:ea typeface="+mj-ea"/>
            </a:endParaRPr>
          </a:p>
          <a:p>
            <a:r>
              <a:rPr lang="ko-KR" altLang="en-US" sz="1000" dirty="0">
                <a:latin typeface="+mj-ea"/>
                <a:ea typeface="+mj-ea"/>
              </a:rPr>
              <a:t>량</a:t>
            </a:r>
            <a:endParaRPr lang="en-US" altLang="ko-KR" sz="1000" dirty="0">
              <a:latin typeface="+mj-ea"/>
              <a:ea typeface="+mj-ea"/>
            </a:endParaRPr>
          </a:p>
          <a:p>
            <a:r>
              <a:rPr lang="ko-KR" altLang="en-US" sz="1000" dirty="0">
                <a:latin typeface="+mj-ea"/>
                <a:ea typeface="+mj-ea"/>
              </a:rPr>
              <a:t>평</a:t>
            </a:r>
            <a:endParaRPr lang="en-US" altLang="ko-KR" sz="1000" dirty="0">
              <a:latin typeface="+mj-ea"/>
              <a:ea typeface="+mj-ea"/>
            </a:endParaRPr>
          </a:p>
          <a:p>
            <a:r>
              <a:rPr lang="ko-KR" altLang="en-US" sz="1000" dirty="0">
                <a:latin typeface="+mj-ea"/>
                <a:ea typeface="+mj-ea"/>
              </a:rPr>
              <a:t>가</a:t>
            </a:r>
          </a:p>
          <a:p>
            <a:r>
              <a:rPr lang="ko-KR" altLang="en-US" sz="1000" dirty="0">
                <a:latin typeface="+mj-ea"/>
                <a:ea typeface="+mj-ea"/>
              </a:rPr>
              <a:t>반</a:t>
            </a:r>
          </a:p>
          <a:p>
            <a:r>
              <a:rPr lang="ko-KR" altLang="en-US" sz="1000" dirty="0">
                <a:latin typeface="+mj-ea"/>
                <a:ea typeface="+mj-ea"/>
              </a:rPr>
              <a:t>영</a:t>
            </a:r>
            <a:endParaRPr lang="en-US" altLang="ko-KR" sz="1000" dirty="0">
              <a:latin typeface="+mj-ea"/>
              <a:ea typeface="+mj-ea"/>
            </a:endParaRPr>
          </a:p>
          <a:p>
            <a:r>
              <a:rPr lang="ko-KR" altLang="en-US" sz="1000" dirty="0">
                <a:latin typeface="+mj-ea"/>
                <a:ea typeface="+mj-ea"/>
              </a:rPr>
              <a:t>요</a:t>
            </a:r>
            <a:endParaRPr lang="en-US" altLang="ko-KR" sz="1000" dirty="0">
              <a:latin typeface="+mj-ea"/>
              <a:ea typeface="+mj-ea"/>
            </a:endParaRPr>
          </a:p>
          <a:p>
            <a:r>
              <a:rPr lang="ko-KR" altLang="en-US" sz="1000" dirty="0">
                <a:latin typeface="+mj-ea"/>
                <a:ea typeface="+mj-ea"/>
              </a:rPr>
              <a:t>소</a:t>
            </a:r>
          </a:p>
        </p:txBody>
      </p:sp>
      <p:sp>
        <p:nvSpPr>
          <p:cNvPr id="218" name="모서리가 둥근 직사각형 70">
            <a:extLst>
              <a:ext uri="{FF2B5EF4-FFF2-40B4-BE49-F238E27FC236}">
                <a16:creationId xmlns:a16="http://schemas.microsoft.com/office/drawing/2014/main" id="{89EF45BE-445F-B716-E0D7-56C56399D162}"/>
              </a:ext>
            </a:extLst>
          </p:cNvPr>
          <p:cNvSpPr/>
          <p:nvPr/>
        </p:nvSpPr>
        <p:spPr>
          <a:xfrm>
            <a:off x="5184108" y="2696812"/>
            <a:ext cx="4047086" cy="4775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0000" rIns="9000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  <a:latin typeface="+mj-ea"/>
                <a:ea typeface="+mj-ea"/>
              </a:rPr>
              <a:t>조직 규모 및 내부 여력이 </a:t>
            </a:r>
            <a:br>
              <a:rPr lang="en-US" altLang="ko-KR" sz="1050" b="1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ko-KR" altLang="en-US" sz="1050" b="1" dirty="0">
                <a:solidFill>
                  <a:schemeClr val="tx1"/>
                </a:solidFill>
                <a:latin typeface="+mj-ea"/>
                <a:ea typeface="+mj-ea"/>
              </a:rPr>
              <a:t>업적평가에 한계가 있는 조직에 유효</a:t>
            </a:r>
          </a:p>
        </p:txBody>
      </p:sp>
      <p:sp>
        <p:nvSpPr>
          <p:cNvPr id="219" name="모서리가 둥근 직사각형 71">
            <a:extLst>
              <a:ext uri="{FF2B5EF4-FFF2-40B4-BE49-F238E27FC236}">
                <a16:creationId xmlns:a16="http://schemas.microsoft.com/office/drawing/2014/main" id="{D2B58630-151D-31DE-FB16-3E371F38D364}"/>
              </a:ext>
            </a:extLst>
          </p:cNvPr>
          <p:cNvSpPr/>
          <p:nvPr/>
        </p:nvSpPr>
        <p:spPr>
          <a:xfrm>
            <a:off x="7408459" y="3299163"/>
            <a:ext cx="1695282" cy="384175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0000" rIns="90000" anchor="ctr"/>
          <a:lstStyle/>
          <a:p>
            <a:pPr algn="ctr" latinLnBrk="0">
              <a:buSzPct val="85000"/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조직원관점</a:t>
            </a:r>
          </a:p>
        </p:txBody>
      </p:sp>
      <p:sp>
        <p:nvSpPr>
          <p:cNvPr id="220" name="모서리가 둥근 직사각형 72">
            <a:extLst>
              <a:ext uri="{FF2B5EF4-FFF2-40B4-BE49-F238E27FC236}">
                <a16:creationId xmlns:a16="http://schemas.microsoft.com/office/drawing/2014/main" id="{900E9A74-8CCF-06A9-26CF-FC77A7B37EFF}"/>
              </a:ext>
            </a:extLst>
          </p:cNvPr>
          <p:cNvSpPr/>
          <p:nvPr/>
        </p:nvSpPr>
        <p:spPr>
          <a:xfrm>
            <a:off x="5316933" y="3299163"/>
            <a:ext cx="1696466" cy="384175"/>
          </a:xfrm>
          <a:prstGeom prst="round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0000" rIns="90000" anchor="ctr"/>
          <a:lstStyle/>
          <a:p>
            <a:pPr algn="ctr" latinLnBrk="0">
              <a:buSzPct val="85000"/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조직관점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ADC9A951-F306-C0AA-DB2C-541744C8D3A0}"/>
              </a:ext>
            </a:extLst>
          </p:cNvPr>
          <p:cNvSpPr/>
          <p:nvPr/>
        </p:nvSpPr>
        <p:spPr>
          <a:xfrm>
            <a:off x="5367178" y="3823022"/>
            <a:ext cx="16462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+mj-ea"/>
                <a:ea typeface="+mj-ea"/>
              </a:rPr>
              <a:t>조직구성원 개인에</a:t>
            </a:r>
          </a:p>
          <a:p>
            <a:r>
              <a:rPr lang="ko-KR" altLang="en-US" sz="1100" dirty="0">
                <a:latin typeface="+mj-ea"/>
                <a:ea typeface="+mj-ea"/>
              </a:rPr>
              <a:t>내재한 조직성과</a:t>
            </a:r>
          </a:p>
          <a:p>
            <a:r>
              <a:rPr lang="ko-KR" altLang="en-US" sz="1100" dirty="0">
                <a:latin typeface="+mj-ea"/>
                <a:ea typeface="+mj-ea"/>
              </a:rPr>
              <a:t>달성에 필요한</a:t>
            </a:r>
          </a:p>
          <a:p>
            <a:r>
              <a:rPr lang="ko-KR" altLang="en-US" sz="1100" dirty="0">
                <a:latin typeface="+mj-ea"/>
                <a:ea typeface="+mj-ea"/>
              </a:rPr>
              <a:t>핵심적인 행동 특성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95E7A298-05DD-D3D3-8C83-33B4B95916EB}"/>
              </a:ext>
            </a:extLst>
          </p:cNvPr>
          <p:cNvSpPr/>
          <p:nvPr/>
        </p:nvSpPr>
        <p:spPr>
          <a:xfrm>
            <a:off x="7408459" y="3809925"/>
            <a:ext cx="215189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+mj-ea"/>
                <a:ea typeface="+mj-ea"/>
              </a:rPr>
              <a:t>고성과자의 행동 특성</a:t>
            </a:r>
          </a:p>
          <a:p>
            <a:pPr marL="85725" indent="-85725">
              <a:buFontTx/>
              <a:buChar char="-"/>
            </a:pPr>
            <a:r>
              <a:rPr lang="ko-KR" altLang="en-US" sz="1100" dirty="0">
                <a:latin typeface="+mj-ea"/>
                <a:ea typeface="+mj-ea"/>
              </a:rPr>
              <a:t>조직 내 고성과자가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ko-KR" altLang="en-US" sz="1100" dirty="0">
                <a:latin typeface="+mj-ea"/>
                <a:ea typeface="+mj-ea"/>
              </a:rPr>
              <a:t>보다 자주 활용하거나 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ko-KR" altLang="en-US" sz="1100" dirty="0">
                <a:latin typeface="+mj-ea"/>
                <a:ea typeface="+mj-ea"/>
              </a:rPr>
              <a:t>나타내는 행동양식</a:t>
            </a:r>
            <a:endParaRPr lang="en-US" altLang="ko-KR" sz="1100" dirty="0">
              <a:latin typeface="+mj-ea"/>
              <a:ea typeface="+mj-ea"/>
            </a:endParaRPr>
          </a:p>
          <a:p>
            <a:pPr marL="85725" indent="-85725">
              <a:buFontTx/>
              <a:buChar char="-"/>
            </a:pPr>
            <a:r>
              <a:rPr lang="ko-KR" altLang="en-US" sz="1100" dirty="0">
                <a:latin typeface="+mj-ea"/>
                <a:ea typeface="+mj-ea"/>
              </a:rPr>
              <a:t>업무성과 달성에 보다</a:t>
            </a:r>
            <a:br>
              <a:rPr lang="en-US" altLang="ko-KR" sz="1100" dirty="0">
                <a:latin typeface="+mj-ea"/>
                <a:ea typeface="+mj-ea"/>
              </a:rPr>
            </a:br>
            <a:r>
              <a:rPr lang="ko-KR" altLang="en-US" sz="1100" dirty="0">
                <a:latin typeface="+mj-ea"/>
                <a:ea typeface="+mj-ea"/>
              </a:rPr>
              <a:t>효과적인 지식</a:t>
            </a:r>
            <a:r>
              <a:rPr lang="en-US" altLang="ko-KR" sz="1100" dirty="0">
                <a:latin typeface="+mj-ea"/>
                <a:ea typeface="+mj-ea"/>
              </a:rPr>
              <a:t>, </a:t>
            </a:r>
            <a:r>
              <a:rPr lang="ko-KR" altLang="en-US" sz="1100" dirty="0">
                <a:latin typeface="+mj-ea"/>
                <a:ea typeface="+mj-ea"/>
              </a:rPr>
              <a:t>기술</a:t>
            </a:r>
            <a:r>
              <a:rPr lang="en-US" altLang="ko-KR" sz="1100" dirty="0">
                <a:latin typeface="+mj-ea"/>
                <a:ea typeface="+mj-ea"/>
              </a:rPr>
              <a:t>, </a:t>
            </a:r>
            <a:r>
              <a:rPr lang="ko-KR" altLang="en-US" sz="1100" dirty="0">
                <a:latin typeface="+mj-ea"/>
                <a:ea typeface="+mj-ea"/>
              </a:rPr>
              <a:t>태도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0C06AFCA-61EF-783C-A9BA-DCA79AEFEBD2}"/>
              </a:ext>
            </a:extLst>
          </p:cNvPr>
          <p:cNvSpPr/>
          <p:nvPr/>
        </p:nvSpPr>
        <p:spPr>
          <a:xfrm>
            <a:off x="5184107" y="5398533"/>
            <a:ext cx="40700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b="1" i="1" dirty="0">
                <a:solidFill>
                  <a:srgbClr val="002060"/>
                </a:solidFill>
                <a:latin typeface="+mj-ea"/>
                <a:ea typeface="+mj-ea"/>
              </a:rPr>
              <a:t>조직성과 및 개인경력개발계획과</a:t>
            </a:r>
          </a:p>
          <a:p>
            <a:pPr algn="ctr"/>
            <a:r>
              <a:rPr lang="ko-KR" altLang="en-US" sz="1200" b="1" i="1" dirty="0">
                <a:solidFill>
                  <a:srgbClr val="002060"/>
                </a:solidFill>
                <a:latin typeface="+mj-ea"/>
                <a:ea typeface="+mj-ea"/>
              </a:rPr>
              <a:t>연계한 역량평가체계 구축</a:t>
            </a:r>
            <a:endParaRPr lang="ko-KR" altLang="en-US" sz="1200" i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224" name="이등변 삼각형 49">
            <a:extLst>
              <a:ext uri="{FF2B5EF4-FFF2-40B4-BE49-F238E27FC236}">
                <a16:creationId xmlns:a16="http://schemas.microsoft.com/office/drawing/2014/main" id="{65DDF7A6-ECAE-3051-18B5-A9365E67507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989671" y="5010283"/>
            <a:ext cx="2497137" cy="288256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959595"/>
              </a:gs>
              <a:gs pos="50000">
                <a:srgbClr val="D6D6D6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anchor="ctr"/>
          <a:lstStyle>
            <a:lvl1pPr eaLnBrk="0" hangingPunct="0"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ctr" eaLnBrk="1" hangingPunct="1"/>
            <a:endParaRPr lang="ko-KR" altLang="en-US" sz="12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4143540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A0F5-F2C0-5DE3-BD6E-42078D1A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3D80F7F-0F71-3A9C-863D-4B13FFEE14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조직 특성과 미래 성장전략을 반영하여 </a:t>
            </a:r>
            <a:r>
              <a:rPr lang="ko-KR" altLang="en-US" b="1" dirty="0"/>
              <a:t>업무</a:t>
            </a:r>
            <a:r>
              <a:rPr lang="en-US" altLang="ko-KR" b="1" dirty="0"/>
              <a:t>·</a:t>
            </a:r>
            <a:r>
              <a:rPr lang="ko-KR" altLang="en-US" b="1" dirty="0"/>
              <a:t>조직</a:t>
            </a:r>
            <a:r>
              <a:rPr lang="en-US" altLang="ko-KR" b="1" dirty="0"/>
              <a:t>·</a:t>
            </a:r>
            <a:r>
              <a:rPr lang="ko-KR" altLang="en-US" b="1" dirty="0"/>
              <a:t>인성 영역 전반의 핵심 역량군과 핵심 역량</a:t>
            </a:r>
            <a:r>
              <a:rPr lang="en-US" altLang="ko-KR" b="1" dirty="0"/>
              <a:t>(</a:t>
            </a:r>
            <a:r>
              <a:rPr lang="ko-KR" altLang="en-US" b="1" dirty="0"/>
              <a:t>공통역량</a:t>
            </a:r>
            <a:r>
              <a:rPr lang="en-US" altLang="ko-KR" b="1" dirty="0"/>
              <a:t>)</a:t>
            </a:r>
            <a:r>
              <a:rPr lang="ko-KR" altLang="en-US" b="1" dirty="0"/>
              <a:t>과 역량별 평가 요소를 도출하였음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EC4069A-4F6D-848B-8252-5E06B61587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4D265A-020F-B414-0B70-E452D204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평가 요소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AA4BF76-549D-AF04-6B31-08E76518DE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818BDE84-83B0-E747-C2CF-4A28EFD3D0A3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12A22CA0-46CA-5822-1C49-14F87FF4F32D}"/>
                </a:ext>
              </a:extLst>
            </p:cNvPr>
            <p:cNvSpPr/>
            <p:nvPr userDrawn="1"/>
          </p:nvSpPr>
          <p:spPr>
            <a:xfrm>
              <a:off x="2833389" y="1626519"/>
              <a:ext cx="1310536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역량평가 요소 도출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FE061C7B-6BB3-F92A-ADCD-215571AA44FD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Box 105">
            <a:extLst>
              <a:ext uri="{FF2B5EF4-FFF2-40B4-BE49-F238E27FC236}">
                <a16:creationId xmlns:a16="http://schemas.microsoft.com/office/drawing/2014/main" id="{A681A09F-5539-2B37-030E-B399BC194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2129000"/>
            <a:ext cx="735523" cy="27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b" latinLnBrk="0">
              <a:spcAft>
                <a:spcPct val="50000"/>
              </a:spcAft>
            </a:pPr>
            <a:r>
              <a:rPr lang="ko-KR" altLang="en-US" sz="1200" b="1" u="sng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역량군</a:t>
            </a:r>
            <a:endParaRPr lang="en-US" altLang="ko-KR" sz="1200" b="1" u="sng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 Box 105">
            <a:extLst>
              <a:ext uri="{FF2B5EF4-FFF2-40B4-BE49-F238E27FC236}">
                <a16:creationId xmlns:a16="http://schemas.microsoft.com/office/drawing/2014/main" id="{E85BFFEC-AF63-38C1-C2D7-E6209A69E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287" y="2130334"/>
            <a:ext cx="1260000" cy="27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b" latinLnBrk="0">
              <a:spcAft>
                <a:spcPct val="50000"/>
              </a:spcAft>
            </a:pPr>
            <a:r>
              <a:rPr lang="ko-KR" altLang="en-US" sz="1200" b="1" u="sng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핵심 역량</a:t>
            </a:r>
            <a:endParaRPr lang="en-US" altLang="ko-KR" sz="1200" b="1" u="sng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모서리가 둥근 직사각형 44">
            <a:extLst>
              <a:ext uri="{FF2B5EF4-FFF2-40B4-BE49-F238E27FC236}">
                <a16:creationId xmlns:a16="http://schemas.microsoft.com/office/drawing/2014/main" id="{4966D0D0-3E0B-81C2-70E6-C49323AF0004}"/>
              </a:ext>
            </a:extLst>
          </p:cNvPr>
          <p:cNvSpPr/>
          <p:nvPr/>
        </p:nvSpPr>
        <p:spPr bwMode="auto">
          <a:xfrm>
            <a:off x="273117" y="2565650"/>
            <a:ext cx="737527" cy="1710286"/>
          </a:xfrm>
          <a:prstGeom prst="roundRect">
            <a:avLst/>
          </a:prstGeom>
          <a:solidFill>
            <a:srgbClr val="17365D"/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업무 역량</a:t>
            </a:r>
          </a:p>
        </p:txBody>
      </p:sp>
      <p:sp>
        <p:nvSpPr>
          <p:cNvPr id="14" name="모서리가 둥근 직사각형 45">
            <a:extLst>
              <a:ext uri="{FF2B5EF4-FFF2-40B4-BE49-F238E27FC236}">
                <a16:creationId xmlns:a16="http://schemas.microsoft.com/office/drawing/2014/main" id="{5BE0D1C9-DA17-42A0-490C-EC81C5710F68}"/>
              </a:ext>
            </a:extLst>
          </p:cNvPr>
          <p:cNvSpPr/>
          <p:nvPr/>
        </p:nvSpPr>
        <p:spPr bwMode="auto">
          <a:xfrm>
            <a:off x="271046" y="4509676"/>
            <a:ext cx="737527" cy="1798581"/>
          </a:xfrm>
          <a:prstGeom prst="roundRect">
            <a:avLst/>
          </a:prstGeom>
          <a:solidFill>
            <a:srgbClr val="17365D"/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조직 역량</a:t>
            </a:r>
          </a:p>
        </p:txBody>
      </p:sp>
      <p:sp>
        <p:nvSpPr>
          <p:cNvPr id="15" name="모서리가 둥근 직사각형 46">
            <a:extLst>
              <a:ext uri="{FF2B5EF4-FFF2-40B4-BE49-F238E27FC236}">
                <a16:creationId xmlns:a16="http://schemas.microsoft.com/office/drawing/2014/main" id="{CBE84BE6-B58B-E265-561B-25ECFC50566D}"/>
              </a:ext>
            </a:extLst>
          </p:cNvPr>
          <p:cNvSpPr/>
          <p:nvPr/>
        </p:nvSpPr>
        <p:spPr bwMode="auto">
          <a:xfrm>
            <a:off x="5426160" y="2565651"/>
            <a:ext cx="737527" cy="1710286"/>
          </a:xfrm>
          <a:prstGeom prst="roundRect">
            <a:avLst/>
          </a:prstGeom>
          <a:solidFill>
            <a:srgbClr val="17365D"/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인성 역량</a:t>
            </a:r>
          </a:p>
        </p:txBody>
      </p:sp>
      <p:sp>
        <p:nvSpPr>
          <p:cNvPr id="231" name="모서리가 둥근 직사각형 46">
            <a:extLst>
              <a:ext uri="{FF2B5EF4-FFF2-40B4-BE49-F238E27FC236}">
                <a16:creationId xmlns:a16="http://schemas.microsoft.com/office/drawing/2014/main" id="{FCD07371-CA20-3FC0-0DF5-DFEE670E3BB1}"/>
              </a:ext>
            </a:extLst>
          </p:cNvPr>
          <p:cNvSpPr/>
          <p:nvPr/>
        </p:nvSpPr>
        <p:spPr bwMode="auto">
          <a:xfrm>
            <a:off x="5426160" y="4509675"/>
            <a:ext cx="737527" cy="1798581"/>
          </a:xfrm>
          <a:prstGeom prst="roundRect">
            <a:avLst/>
          </a:prstGeom>
          <a:solidFill>
            <a:srgbClr val="17365D"/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인성 역량</a:t>
            </a:r>
          </a:p>
        </p:txBody>
      </p:sp>
      <p:sp>
        <p:nvSpPr>
          <p:cNvPr id="233" name="모서리가 둥근 직사각형 44">
            <a:extLst>
              <a:ext uri="{FF2B5EF4-FFF2-40B4-BE49-F238E27FC236}">
                <a16:creationId xmlns:a16="http://schemas.microsoft.com/office/drawing/2014/main" id="{A23349CF-7FA0-7842-6CD6-AEDBEBD83B54}"/>
              </a:ext>
            </a:extLst>
          </p:cNvPr>
          <p:cNvSpPr/>
          <p:nvPr/>
        </p:nvSpPr>
        <p:spPr bwMode="auto">
          <a:xfrm>
            <a:off x="1227948" y="2573457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직무 전문성</a:t>
            </a:r>
          </a:p>
        </p:txBody>
      </p:sp>
      <p:sp>
        <p:nvSpPr>
          <p:cNvPr id="234" name="모서리가 둥근 직사각형 44">
            <a:extLst>
              <a:ext uri="{FF2B5EF4-FFF2-40B4-BE49-F238E27FC236}">
                <a16:creationId xmlns:a16="http://schemas.microsoft.com/office/drawing/2014/main" id="{EC6537C5-5793-2565-BC2B-833F759ACF87}"/>
              </a:ext>
            </a:extLst>
          </p:cNvPr>
          <p:cNvSpPr/>
          <p:nvPr/>
        </p:nvSpPr>
        <p:spPr bwMode="auto">
          <a:xfrm>
            <a:off x="1227948" y="3184674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분석력</a:t>
            </a:r>
          </a:p>
        </p:txBody>
      </p:sp>
      <p:sp>
        <p:nvSpPr>
          <p:cNvPr id="235" name="모서리가 둥근 직사각형 44">
            <a:extLst>
              <a:ext uri="{FF2B5EF4-FFF2-40B4-BE49-F238E27FC236}">
                <a16:creationId xmlns:a16="http://schemas.microsoft.com/office/drawing/2014/main" id="{0604F362-6CDA-48A0-6446-49138A311556}"/>
              </a:ext>
            </a:extLst>
          </p:cNvPr>
          <p:cNvSpPr/>
          <p:nvPr/>
        </p:nvSpPr>
        <p:spPr bwMode="auto">
          <a:xfrm>
            <a:off x="1227948" y="3794361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기획</a:t>
            </a:r>
            <a:r>
              <a:rPr lang="en-US" altLang="ko-KR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/</a:t>
            </a: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실행력</a:t>
            </a:r>
          </a:p>
        </p:txBody>
      </p:sp>
      <p:sp>
        <p:nvSpPr>
          <p:cNvPr id="236" name="모서리가 둥근 직사각형 44">
            <a:extLst>
              <a:ext uri="{FF2B5EF4-FFF2-40B4-BE49-F238E27FC236}">
                <a16:creationId xmlns:a16="http://schemas.microsoft.com/office/drawing/2014/main" id="{98870C4D-EEC7-5EE8-3D5F-AE0D107141F2}"/>
              </a:ext>
            </a:extLst>
          </p:cNvPr>
          <p:cNvSpPr/>
          <p:nvPr/>
        </p:nvSpPr>
        <p:spPr bwMode="auto">
          <a:xfrm>
            <a:off x="1227948" y="4504991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자원 및 시간 관리</a:t>
            </a:r>
          </a:p>
        </p:txBody>
      </p:sp>
      <p:sp>
        <p:nvSpPr>
          <p:cNvPr id="237" name="모서리가 둥근 직사각형 44">
            <a:extLst>
              <a:ext uri="{FF2B5EF4-FFF2-40B4-BE49-F238E27FC236}">
                <a16:creationId xmlns:a16="http://schemas.microsoft.com/office/drawing/2014/main" id="{7854E2BC-2419-3306-6E7E-3433A1730E6D}"/>
              </a:ext>
            </a:extLst>
          </p:cNvPr>
          <p:cNvSpPr/>
          <p:nvPr/>
        </p:nvSpPr>
        <p:spPr bwMode="auto">
          <a:xfrm>
            <a:off x="1227948" y="5116209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협업 능력</a:t>
            </a:r>
          </a:p>
        </p:txBody>
      </p:sp>
      <p:sp>
        <p:nvSpPr>
          <p:cNvPr id="238" name="모서리가 둥근 직사각형 44">
            <a:extLst>
              <a:ext uri="{FF2B5EF4-FFF2-40B4-BE49-F238E27FC236}">
                <a16:creationId xmlns:a16="http://schemas.microsoft.com/office/drawing/2014/main" id="{4592A1F8-4D0D-8B49-6F1B-C3B724E2E681}"/>
              </a:ext>
            </a:extLst>
          </p:cNvPr>
          <p:cNvSpPr/>
          <p:nvPr/>
        </p:nvSpPr>
        <p:spPr bwMode="auto">
          <a:xfrm>
            <a:off x="1227948" y="5725895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소통 능력</a:t>
            </a:r>
          </a:p>
        </p:txBody>
      </p: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E8F6C3E4-3C8D-779F-3392-E5DD7387B5BD}"/>
              </a:ext>
            </a:extLst>
          </p:cNvPr>
          <p:cNvGrpSpPr/>
          <p:nvPr/>
        </p:nvGrpSpPr>
        <p:grpSpPr>
          <a:xfrm>
            <a:off x="6380991" y="2573457"/>
            <a:ext cx="1550679" cy="1702480"/>
            <a:chOff x="6601186" y="2570304"/>
            <a:chExt cx="1445606" cy="651347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239" name="모서리가 둥근 직사각형 44">
              <a:extLst>
                <a:ext uri="{FF2B5EF4-FFF2-40B4-BE49-F238E27FC236}">
                  <a16:creationId xmlns:a16="http://schemas.microsoft.com/office/drawing/2014/main" id="{C86C6532-2A43-472E-4ADB-B59FD2C710D0}"/>
                </a:ext>
              </a:extLst>
            </p:cNvPr>
            <p:cNvSpPr/>
            <p:nvPr/>
          </p:nvSpPr>
          <p:spPr bwMode="auto">
            <a:xfrm>
              <a:off x="6601186" y="2570304"/>
              <a:ext cx="1445606" cy="287038"/>
            </a:xfrm>
            <a:prstGeom prst="roundRect">
              <a:avLst/>
            </a:prstGeom>
            <a:grpFill/>
            <a:ln>
              <a:noFill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" tIns="7200" rIns="7200" bIns="7200" rtlCol="0" anchor="ctr"/>
            <a:lstStyle/>
            <a:p>
              <a:pPr algn="ctr" fontAlgn="base" latinLnBrk="0">
                <a:lnSpc>
                  <a:spcPct val="130000"/>
                </a:lnSpc>
              </a:pPr>
              <a:r>
                <a:rPr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ea typeface="나눔고딕" panose="020D0604000000000000" pitchFamily="50" charset="-127"/>
                  <a:cs typeface="+mj-cs"/>
                </a:rPr>
                <a:t>윤리</a:t>
              </a:r>
              <a:r>
                <a:rPr lang="en-US" altLang="ko-KR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ea typeface="나눔고딕" panose="020D0604000000000000" pitchFamily="50" charset="-127"/>
                  <a:cs typeface="+mj-cs"/>
                </a:rPr>
                <a:t>/</a:t>
              </a:r>
              <a:r>
                <a:rPr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ea typeface="나눔고딕" panose="020D0604000000000000" pitchFamily="50" charset="-127"/>
                  <a:cs typeface="+mj-cs"/>
                </a:rPr>
                <a:t>책임감</a:t>
              </a:r>
            </a:p>
          </p:txBody>
        </p:sp>
        <p:sp>
          <p:nvSpPr>
            <p:cNvPr id="240" name="모서리가 둥근 직사각형 44">
              <a:extLst>
                <a:ext uri="{FF2B5EF4-FFF2-40B4-BE49-F238E27FC236}">
                  <a16:creationId xmlns:a16="http://schemas.microsoft.com/office/drawing/2014/main" id="{53FB2424-ED23-CDEE-E052-7542245F5DB6}"/>
                </a:ext>
              </a:extLst>
            </p:cNvPr>
            <p:cNvSpPr/>
            <p:nvPr/>
          </p:nvSpPr>
          <p:spPr bwMode="auto">
            <a:xfrm>
              <a:off x="6601186" y="2934613"/>
              <a:ext cx="1445606" cy="287038"/>
            </a:xfrm>
            <a:prstGeom prst="roundRect">
              <a:avLst/>
            </a:prstGeom>
            <a:grpFill/>
            <a:ln>
              <a:noFill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" tIns="7200" rIns="7200" bIns="7200" rtlCol="0" anchor="ctr"/>
            <a:lstStyle/>
            <a:p>
              <a:pPr algn="ctr" fontAlgn="base" latinLnBrk="0">
                <a:lnSpc>
                  <a:spcPct val="130000"/>
                </a:lnSpc>
              </a:pPr>
              <a:r>
                <a:rPr lang="ko-KR" altLang="en-US" sz="1400" b="1" kern="0" spc="-5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ea typeface="나눔고딕" panose="020D0604000000000000" pitchFamily="50" charset="-127"/>
                  <a:cs typeface="+mj-cs"/>
                </a:rPr>
                <a:t>업무 태도</a:t>
              </a:r>
            </a:p>
          </p:txBody>
        </p:sp>
      </p:grpSp>
      <p:sp>
        <p:nvSpPr>
          <p:cNvPr id="242" name="모서리가 둥근 직사각형 44">
            <a:extLst>
              <a:ext uri="{FF2B5EF4-FFF2-40B4-BE49-F238E27FC236}">
                <a16:creationId xmlns:a16="http://schemas.microsoft.com/office/drawing/2014/main" id="{0331BEAE-A3D1-D80A-C22E-7CCE2A653B62}"/>
              </a:ext>
            </a:extLst>
          </p:cNvPr>
          <p:cNvSpPr/>
          <p:nvPr/>
        </p:nvSpPr>
        <p:spPr bwMode="auto">
          <a:xfrm>
            <a:off x="6380991" y="4504991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혁신 역량</a:t>
            </a:r>
          </a:p>
        </p:txBody>
      </p:sp>
      <p:sp>
        <p:nvSpPr>
          <p:cNvPr id="243" name="모서리가 둥근 직사각형 44">
            <a:extLst>
              <a:ext uri="{FF2B5EF4-FFF2-40B4-BE49-F238E27FC236}">
                <a16:creationId xmlns:a16="http://schemas.microsoft.com/office/drawing/2014/main" id="{FE6A04D1-7616-81FD-3499-1ECA3A1811D9}"/>
              </a:ext>
            </a:extLst>
          </p:cNvPr>
          <p:cNvSpPr/>
          <p:nvPr/>
        </p:nvSpPr>
        <p:spPr bwMode="auto">
          <a:xfrm>
            <a:off x="6380991" y="5116209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프로세스 개선</a:t>
            </a:r>
          </a:p>
        </p:txBody>
      </p:sp>
      <p:sp>
        <p:nvSpPr>
          <p:cNvPr id="244" name="모서리가 둥근 직사각형 44">
            <a:extLst>
              <a:ext uri="{FF2B5EF4-FFF2-40B4-BE49-F238E27FC236}">
                <a16:creationId xmlns:a16="http://schemas.microsoft.com/office/drawing/2014/main" id="{6F95E269-BBC7-2CBC-40CC-9C9BA480D7FD}"/>
              </a:ext>
            </a:extLst>
          </p:cNvPr>
          <p:cNvSpPr/>
          <p:nvPr/>
        </p:nvSpPr>
        <p:spPr bwMode="auto">
          <a:xfrm>
            <a:off x="6380991" y="5725895"/>
            <a:ext cx="1550679" cy="4815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400" b="1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a typeface="나눔고딕" panose="020D0604000000000000" pitchFamily="50" charset="-127"/>
                <a:cs typeface="+mj-cs"/>
              </a:rPr>
              <a:t>지속가능 참여</a:t>
            </a:r>
          </a:p>
        </p:txBody>
      </p:sp>
      <p:sp>
        <p:nvSpPr>
          <p:cNvPr id="246" name="모서리가 둥근 직사각형 44">
            <a:extLst>
              <a:ext uri="{FF2B5EF4-FFF2-40B4-BE49-F238E27FC236}">
                <a16:creationId xmlns:a16="http://schemas.microsoft.com/office/drawing/2014/main" id="{1897C4DE-BB66-08E5-9BA2-3933D653EBCD}"/>
              </a:ext>
            </a:extLst>
          </p:cNvPr>
          <p:cNvSpPr/>
          <p:nvPr/>
        </p:nvSpPr>
        <p:spPr bwMode="auto">
          <a:xfrm>
            <a:off x="2927324" y="2573457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직무 기술 및 기술력</a:t>
            </a:r>
          </a:p>
        </p:txBody>
      </p:sp>
      <p:sp>
        <p:nvSpPr>
          <p:cNvPr id="247" name="모서리가 둥근 직사각형 44">
            <a:extLst>
              <a:ext uri="{FF2B5EF4-FFF2-40B4-BE49-F238E27FC236}">
                <a16:creationId xmlns:a16="http://schemas.microsoft.com/office/drawing/2014/main" id="{B62BF038-DA96-E411-5275-83E8FF5A664B}"/>
              </a:ext>
            </a:extLst>
          </p:cNvPr>
          <p:cNvSpPr/>
          <p:nvPr/>
        </p:nvSpPr>
        <p:spPr bwMode="auto">
          <a:xfrm>
            <a:off x="2927324" y="3184674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데이터 분석 및 활용</a:t>
            </a:r>
          </a:p>
        </p:txBody>
      </p:sp>
      <p:sp>
        <p:nvSpPr>
          <p:cNvPr id="248" name="모서리가 둥근 직사각형 44">
            <a:extLst>
              <a:ext uri="{FF2B5EF4-FFF2-40B4-BE49-F238E27FC236}">
                <a16:creationId xmlns:a16="http://schemas.microsoft.com/office/drawing/2014/main" id="{283EFFD1-41D7-13A8-8BFB-1973AE422684}"/>
              </a:ext>
            </a:extLst>
          </p:cNvPr>
          <p:cNvSpPr/>
          <p:nvPr/>
        </p:nvSpPr>
        <p:spPr bwMode="auto">
          <a:xfrm>
            <a:off x="2927324" y="3794361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목표 설정 및 실행</a:t>
            </a:r>
          </a:p>
        </p:txBody>
      </p:sp>
      <p:sp>
        <p:nvSpPr>
          <p:cNvPr id="249" name="모서리가 둥근 직사각형 44">
            <a:extLst>
              <a:ext uri="{FF2B5EF4-FFF2-40B4-BE49-F238E27FC236}">
                <a16:creationId xmlns:a16="http://schemas.microsoft.com/office/drawing/2014/main" id="{E1EC2E9C-D4C4-EAEC-0CA1-9D02345A7691}"/>
              </a:ext>
            </a:extLst>
          </p:cNvPr>
          <p:cNvSpPr/>
          <p:nvPr/>
        </p:nvSpPr>
        <p:spPr bwMode="auto">
          <a:xfrm>
            <a:off x="2927324" y="4504991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>
                <a:solidFill>
                  <a:schemeClr val="tx1"/>
                </a:solidFill>
              </a:rPr>
              <a:t>일정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우선순위 및 리소스 활용 능력</a:t>
            </a:r>
          </a:p>
        </p:txBody>
      </p:sp>
      <p:sp>
        <p:nvSpPr>
          <p:cNvPr id="250" name="모서리가 둥근 직사각형 44">
            <a:extLst>
              <a:ext uri="{FF2B5EF4-FFF2-40B4-BE49-F238E27FC236}">
                <a16:creationId xmlns:a16="http://schemas.microsoft.com/office/drawing/2014/main" id="{8D0AC697-169D-0DB2-1A99-F4F0C73F2C5C}"/>
              </a:ext>
            </a:extLst>
          </p:cNvPr>
          <p:cNvSpPr/>
          <p:nvPr/>
        </p:nvSpPr>
        <p:spPr bwMode="auto">
          <a:xfrm>
            <a:off x="2927324" y="5116209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팀워크 및 피드백 수용</a:t>
            </a:r>
          </a:p>
        </p:txBody>
      </p:sp>
      <p:sp>
        <p:nvSpPr>
          <p:cNvPr id="251" name="모서리가 둥근 직사각형 44">
            <a:extLst>
              <a:ext uri="{FF2B5EF4-FFF2-40B4-BE49-F238E27FC236}">
                <a16:creationId xmlns:a16="http://schemas.microsoft.com/office/drawing/2014/main" id="{BA623F03-9324-455F-EC6E-C759FC0998CE}"/>
              </a:ext>
            </a:extLst>
          </p:cNvPr>
          <p:cNvSpPr/>
          <p:nvPr/>
        </p:nvSpPr>
        <p:spPr bwMode="auto">
          <a:xfrm>
            <a:off x="2927324" y="5725895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의사소통 및 피드백 수용</a:t>
            </a: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4FC6C7AE-1477-B4C5-A575-E63F36D1F3FC}"/>
              </a:ext>
            </a:extLst>
          </p:cNvPr>
          <p:cNvGrpSpPr/>
          <p:nvPr/>
        </p:nvGrpSpPr>
        <p:grpSpPr>
          <a:xfrm>
            <a:off x="8080366" y="2573457"/>
            <a:ext cx="1550679" cy="1702480"/>
            <a:chOff x="6601186" y="2570304"/>
            <a:chExt cx="1445606" cy="651347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53" name="모서리가 둥근 직사각형 44">
              <a:extLst>
                <a:ext uri="{FF2B5EF4-FFF2-40B4-BE49-F238E27FC236}">
                  <a16:creationId xmlns:a16="http://schemas.microsoft.com/office/drawing/2014/main" id="{85BA7CB0-0634-4133-4104-B56946F69D36}"/>
                </a:ext>
              </a:extLst>
            </p:cNvPr>
            <p:cNvSpPr/>
            <p:nvPr/>
          </p:nvSpPr>
          <p:spPr bwMode="auto">
            <a:xfrm>
              <a:off x="6601186" y="2570304"/>
              <a:ext cx="1445606" cy="287038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" tIns="7200" rIns="7200" bIns="7200" rtlCol="0" anchor="ctr"/>
            <a:lstStyle/>
            <a:p>
              <a:pPr algn="ctr" fontAlgn="base" latinLnBrk="0">
                <a:lnSpc>
                  <a:spcPct val="130000"/>
                </a:lnSpc>
              </a:pPr>
              <a:r>
                <a:rPr lang="ko-KR" altLang="en-US" sz="1200">
                  <a:solidFill>
                    <a:schemeClr val="tx1"/>
                  </a:solidFill>
                </a:rPr>
                <a:t>윤리</a:t>
              </a:r>
              <a:r>
                <a:rPr lang="en-US" altLang="ko-KR" sz="1200" dirty="0">
                  <a:solidFill>
                    <a:schemeClr val="tx1"/>
                  </a:solidFill>
                </a:rPr>
                <a:t>/</a:t>
              </a:r>
              <a:r>
                <a:rPr lang="ko-KR" altLang="en-US" sz="1200" dirty="0">
                  <a:solidFill>
                    <a:schemeClr val="tx1"/>
                  </a:solidFill>
                </a:rPr>
                <a:t>책임감 및 조직의식</a:t>
              </a:r>
            </a:p>
          </p:txBody>
        </p:sp>
        <p:sp>
          <p:nvSpPr>
            <p:cNvPr id="254" name="모서리가 둥근 직사각형 44">
              <a:extLst>
                <a:ext uri="{FF2B5EF4-FFF2-40B4-BE49-F238E27FC236}">
                  <a16:creationId xmlns:a16="http://schemas.microsoft.com/office/drawing/2014/main" id="{9777B8EB-DF54-463F-61CB-AE058C8269F1}"/>
                </a:ext>
              </a:extLst>
            </p:cNvPr>
            <p:cNvSpPr/>
            <p:nvPr/>
          </p:nvSpPr>
          <p:spPr bwMode="auto">
            <a:xfrm>
              <a:off x="6601186" y="2934613"/>
              <a:ext cx="1445606" cy="287038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7200" tIns="7200" rIns="7200" bIns="7200" rtlCol="0" anchor="ctr"/>
            <a:lstStyle/>
            <a:p>
              <a:pPr algn="ctr" fontAlgn="base" latinLnBrk="0">
                <a:lnSpc>
                  <a:spcPct val="130000"/>
                </a:lnSpc>
              </a:pPr>
              <a:r>
                <a:rPr lang="ko-KR" altLang="en-US" sz="1200" dirty="0">
                  <a:solidFill>
                    <a:schemeClr val="tx1"/>
                  </a:solidFill>
                </a:rPr>
                <a:t>업무에 임하는 자세</a:t>
              </a:r>
            </a:p>
          </p:txBody>
        </p:sp>
      </p:grpSp>
      <p:sp>
        <p:nvSpPr>
          <p:cNvPr id="255" name="모서리가 둥근 직사각형 44">
            <a:extLst>
              <a:ext uri="{FF2B5EF4-FFF2-40B4-BE49-F238E27FC236}">
                <a16:creationId xmlns:a16="http://schemas.microsoft.com/office/drawing/2014/main" id="{F0E56793-51B0-5B73-5202-6B0A0A0DC15E}"/>
              </a:ext>
            </a:extLst>
          </p:cNvPr>
          <p:cNvSpPr/>
          <p:nvPr/>
        </p:nvSpPr>
        <p:spPr bwMode="auto">
          <a:xfrm>
            <a:off x="8080366" y="4504991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>
                <a:solidFill>
                  <a:schemeClr val="tx1"/>
                </a:solidFill>
              </a:rPr>
              <a:t>자동화</a:t>
            </a:r>
            <a:r>
              <a:rPr lang="en-US" altLang="ko-KR" sz="1200" dirty="0">
                <a:solidFill>
                  <a:schemeClr val="tx1"/>
                </a:solidFill>
              </a:rPr>
              <a:t>/AI </a:t>
            </a:r>
            <a:r>
              <a:rPr lang="ko-KR" altLang="en-US" sz="1200" dirty="0">
                <a:solidFill>
                  <a:schemeClr val="tx1"/>
                </a:solidFill>
              </a:rPr>
              <a:t>기술 활용</a:t>
            </a:r>
          </a:p>
        </p:txBody>
      </p:sp>
      <p:sp>
        <p:nvSpPr>
          <p:cNvPr id="160" name="모서리가 둥근 직사각형 44">
            <a:extLst>
              <a:ext uri="{FF2B5EF4-FFF2-40B4-BE49-F238E27FC236}">
                <a16:creationId xmlns:a16="http://schemas.microsoft.com/office/drawing/2014/main" id="{D98BECE3-4D92-FDF0-765E-EAD3C5B437E9}"/>
              </a:ext>
            </a:extLst>
          </p:cNvPr>
          <p:cNvSpPr/>
          <p:nvPr/>
        </p:nvSpPr>
        <p:spPr bwMode="auto">
          <a:xfrm>
            <a:off x="8080366" y="5116209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업무 방식 혁신 및 개선안 제안</a:t>
            </a:r>
          </a:p>
        </p:txBody>
      </p:sp>
      <p:sp>
        <p:nvSpPr>
          <p:cNvPr id="164" name="모서리가 둥근 직사각형 44">
            <a:extLst>
              <a:ext uri="{FF2B5EF4-FFF2-40B4-BE49-F238E27FC236}">
                <a16:creationId xmlns:a16="http://schemas.microsoft.com/office/drawing/2014/main" id="{188F9971-8E70-C061-0CC6-D340746C33AC}"/>
              </a:ext>
            </a:extLst>
          </p:cNvPr>
          <p:cNvSpPr/>
          <p:nvPr/>
        </p:nvSpPr>
        <p:spPr bwMode="auto">
          <a:xfrm>
            <a:off x="8080366" y="5725895"/>
            <a:ext cx="1550679" cy="4815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7200" tIns="7200" rIns="7200" bIns="7200" rtlCol="0" anchor="ctr"/>
          <a:lstStyle/>
          <a:p>
            <a:pPr algn="ctr" fontAlgn="base" latinLnBrk="0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장기적 성과 창출 및 조직 기여도</a:t>
            </a:r>
          </a:p>
        </p:txBody>
      </p:sp>
      <p:sp>
        <p:nvSpPr>
          <p:cNvPr id="174" name="Text Box 105">
            <a:extLst>
              <a:ext uri="{FF2B5EF4-FFF2-40B4-BE49-F238E27FC236}">
                <a16:creationId xmlns:a16="http://schemas.microsoft.com/office/drawing/2014/main" id="{191DDD91-3422-EBD2-39E8-93D5276F8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2663" y="2130334"/>
            <a:ext cx="1260000" cy="27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b" latinLnBrk="0">
              <a:spcAft>
                <a:spcPct val="50000"/>
              </a:spcAft>
            </a:pPr>
            <a:r>
              <a:rPr lang="ko-KR" altLang="en-US" sz="1200" b="1" u="sng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역량 평가 요소</a:t>
            </a:r>
            <a:endParaRPr lang="en-US" altLang="ko-KR" sz="1200" b="1" u="sng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" name="Text Box 105">
            <a:extLst>
              <a:ext uri="{FF2B5EF4-FFF2-40B4-BE49-F238E27FC236}">
                <a16:creationId xmlns:a16="http://schemas.microsoft.com/office/drawing/2014/main" id="{9C50AD6D-013A-F75F-0E7D-E41C89F33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160" y="2129000"/>
            <a:ext cx="735523" cy="27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b" latinLnBrk="0">
              <a:spcAft>
                <a:spcPct val="50000"/>
              </a:spcAft>
            </a:pPr>
            <a:r>
              <a:rPr lang="ko-KR" altLang="en-US" sz="1200" b="1" u="sng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역량군</a:t>
            </a:r>
            <a:endParaRPr lang="en-US" altLang="ko-KR" sz="1200" b="1" u="sng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6" name="Text Box 105">
            <a:extLst>
              <a:ext uri="{FF2B5EF4-FFF2-40B4-BE49-F238E27FC236}">
                <a16:creationId xmlns:a16="http://schemas.microsoft.com/office/drawing/2014/main" id="{48017892-B63E-5425-080A-62F26D2E6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6397" y="2130334"/>
            <a:ext cx="1260000" cy="27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b" latinLnBrk="0">
              <a:spcAft>
                <a:spcPct val="50000"/>
              </a:spcAft>
            </a:pPr>
            <a:r>
              <a:rPr lang="ko-KR" altLang="en-US" sz="1200" b="1" u="sng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핵심 역량</a:t>
            </a:r>
            <a:endParaRPr lang="en-US" altLang="ko-KR" sz="1200" b="1" u="sng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7" name="Text Box 105">
            <a:extLst>
              <a:ext uri="{FF2B5EF4-FFF2-40B4-BE49-F238E27FC236}">
                <a16:creationId xmlns:a16="http://schemas.microsoft.com/office/drawing/2014/main" id="{A4A37F99-9E05-88F8-6142-ECB2F4175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5773" y="2130334"/>
            <a:ext cx="1260000" cy="27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fontAlgn="b" latinLnBrk="0">
              <a:spcAft>
                <a:spcPct val="50000"/>
              </a:spcAft>
            </a:pPr>
            <a:r>
              <a:rPr lang="ko-KR" altLang="en-US" sz="1200" b="1" u="sng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역량 평가 요소</a:t>
            </a:r>
            <a:endParaRPr lang="en-US" altLang="ko-KR" sz="1200" b="1" u="sng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034669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FFE2-57ED-4A9B-7276-582830571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2D69DE5-AD91-F7CF-C48D-C8E75E03FE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r>
              <a:rPr lang="ko-KR" altLang="en-US" dirty="0" err="1"/>
              <a:t>베이시스소프트는</a:t>
            </a:r>
            <a:r>
              <a:rPr lang="ko-KR" altLang="en-US" dirty="0"/>
              <a:t> 조직의 성과창출 기반을 강화하기 위해 전사 차원에서 공통적으로 요구되는 핵심 역량을 도출하고</a:t>
            </a:r>
            <a:r>
              <a:rPr lang="en-US" altLang="ko-KR" dirty="0"/>
              <a:t>, </a:t>
            </a:r>
            <a:r>
              <a:rPr lang="ko-KR" altLang="en-US" dirty="0"/>
              <a:t>세부 평가 요소를 도출하였음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A55EBE1-7EA4-70EB-F410-79F6B6784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48A1A1-BDF5-E90F-A0BE-D2020146F0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평가 요소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8FF4ECD-A2F9-E15D-08C3-745A6B8B4B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79AA1081-0CCB-972F-0652-DEA9944FC1E1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CDB1B5A8-9C2B-C546-2095-909ECFFA6DA5}"/>
                </a:ext>
              </a:extLst>
            </p:cNvPr>
            <p:cNvSpPr/>
            <p:nvPr userDrawn="1"/>
          </p:nvSpPr>
          <p:spPr>
            <a:xfrm>
              <a:off x="2819617" y="1626519"/>
              <a:ext cx="1338062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</a:rPr>
                <a:t>역량 평가 요소 도출 결과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C060D43A-CF98-B42A-E6E3-721A32B6BA53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3404C13-85AA-B0AA-53C9-7979B9AC3B90}"/>
              </a:ext>
            </a:extLst>
          </p:cNvPr>
          <p:cNvSpPr txBox="1"/>
          <p:nvPr/>
        </p:nvSpPr>
        <p:spPr>
          <a:xfrm>
            <a:off x="273050" y="2070100"/>
            <a:ext cx="9359900" cy="263525"/>
          </a:xfrm>
          <a:prstGeom prst="round2SameRect">
            <a:avLst>
              <a:gd name="adj1" fmla="val 42060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</a:ln>
          <a:effectLst/>
        </p:spPr>
        <p:txBody>
          <a:bodyPr lIns="72000" tIns="36000" rIns="36000" bIns="36000" rtlCol="0" anchor="ctr"/>
          <a:lstStyle>
            <a:defPPr>
              <a:defRPr lang="ko-KR"/>
            </a:defPPr>
            <a:lvl1pPr fontAlgn="base" latinLnBrk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defRPr kumimoji="1" sz="1200" kern="0">
                <a:solidFill>
                  <a:prstClr val="white"/>
                </a:solidFill>
                <a:latin typeface="+mn-ea"/>
              </a:defRPr>
            </a:lvl1pPr>
          </a:lstStyle>
          <a:p>
            <a:r>
              <a:rPr lang="ko-KR" altLang="en-US" dirty="0"/>
              <a:t>역량평가 양식</a:t>
            </a:r>
            <a:r>
              <a:rPr lang="en-US" altLang="ko-KR" dirty="0"/>
              <a:t>(</a:t>
            </a:r>
            <a:r>
              <a:rPr lang="ko-KR" altLang="en-US" dirty="0"/>
              <a:t>역량평가 요소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9" name="Group 2">
            <a:extLst>
              <a:ext uri="{FF2B5EF4-FFF2-40B4-BE49-F238E27FC236}">
                <a16:creationId xmlns:a16="http://schemas.microsoft.com/office/drawing/2014/main" id="{28FE3F39-AE47-6BD4-5641-8B9BEF3DC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554670"/>
              </p:ext>
            </p:extLst>
          </p:nvPr>
        </p:nvGraphicFramePr>
        <p:xfrm>
          <a:off x="273050" y="2324679"/>
          <a:ext cx="9359898" cy="3681319"/>
        </p:xfrm>
        <a:graphic>
          <a:graphicData uri="http://schemas.openxmlformats.org/drawingml/2006/table">
            <a:tbl>
              <a:tblPr/>
              <a:tblGrid>
                <a:gridCol w="422936">
                  <a:extLst>
                    <a:ext uri="{9D8B030D-6E8A-4147-A177-3AD203B41FA5}">
                      <a16:colId xmlns:a16="http://schemas.microsoft.com/office/drawing/2014/main" val="4191951330"/>
                    </a:ext>
                  </a:extLst>
                </a:gridCol>
                <a:gridCol w="185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546">
                  <a:extLst>
                    <a:ext uri="{9D8B030D-6E8A-4147-A177-3AD203B41FA5}">
                      <a16:colId xmlns:a16="http://schemas.microsoft.com/office/drawing/2014/main" val="2369212909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991">
                  <a:extLst>
                    <a:ext uri="{9D8B030D-6E8A-4147-A177-3AD203B41FA5}">
                      <a16:colId xmlns:a16="http://schemas.microsoft.com/office/drawing/2014/main" val="3985389662"/>
                    </a:ext>
                  </a:extLst>
                </a:gridCol>
              </a:tblGrid>
              <a:tr h="31145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No.</a:t>
                      </a: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역량군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핵심역량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달성도별 등급 부여 기준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가중치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Ａ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Ｂ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Ｃ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Ｄ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81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 역량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직무 전문성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직무에 필요한 전문 지식 및 기술을 충분히 보유하고 있으며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이를 실무에 적절히 적용하고 있는지를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최신 기술 트렌드에 대한 이해도 및 실무 반영 능력도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분석력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문제 해결 및 의사결정 시 데이터와 수치를 기반으로 사고할 수 있으며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이를 실무에 적절히 활용해 업무 효율을 높이는 능력을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해석 능력과 결과 활용도 포함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872438"/>
                  </a:ext>
                </a:extLst>
              </a:tr>
              <a:tr h="2718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기획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실행력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명확하고 실행 가능한 업무 목표를 설정하고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구체적인 계획을 수립하여   체계적으로 실행할 수 있는 능력을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설정된 목표 달성을 위한 실행력 및 자기 주도성도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549599"/>
                  </a:ext>
                </a:extLst>
              </a:tr>
              <a:tr h="27181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 역량</a:t>
                      </a:r>
                      <a:endParaRPr kumimoji="1" lang="en-US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자원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시간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주어진 시간 안에 업무를 효과적으로 마무리하는 능력과 함께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업무의 중요도와  긴급도를 고려하여 우선순위를 잘 설정하는지를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인력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예산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도구 등 자원을 효율적으로 사용하는 능력도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맑은 고딕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협업 능력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팀원 및 타 부서와의 협업 과정에서 보여주는 태도를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필요한 정보를 공유하고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동료의 요청에 적절히 대응하며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공동의 목표를 위해 적극적으로 협력하는지를 판단함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883573"/>
                  </a:ext>
                </a:extLst>
              </a:tr>
              <a:tr h="2718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소통 능력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말과 글을 통해 명확하게 자신의 의견을 전달하고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상대방의 의견을 경청하며 적절히 반영하는 능력을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회의나 협업 시 효과적인 커뮤니케이션을 수행하는지도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991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26124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11C0-E68D-D5A5-669B-205754DF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3B6BC31-0102-FE95-B5B9-DF2624219B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베이시스소프트는</a:t>
            </a:r>
            <a:r>
              <a:rPr lang="ko-KR" altLang="en-US" dirty="0"/>
              <a:t> 조직의 성과창출 기반을 강화하기 위해 업무역량</a:t>
            </a:r>
            <a:r>
              <a:rPr lang="en-US" altLang="ko-KR" dirty="0"/>
              <a:t>(</a:t>
            </a:r>
            <a:r>
              <a:rPr lang="ko-KR" altLang="en-US" dirty="0"/>
              <a:t>전문성</a:t>
            </a:r>
            <a:r>
              <a:rPr lang="en-US" altLang="ko-KR" dirty="0"/>
              <a:t>·</a:t>
            </a:r>
            <a:r>
              <a:rPr lang="ko-KR" altLang="en-US" dirty="0"/>
              <a:t>분석력</a:t>
            </a:r>
            <a:r>
              <a:rPr lang="en-US" altLang="ko-KR" dirty="0"/>
              <a:t>·</a:t>
            </a:r>
            <a:r>
              <a:rPr lang="ko-KR" altLang="en-US" dirty="0"/>
              <a:t>기획</a:t>
            </a:r>
            <a:r>
              <a:rPr lang="en-US" altLang="ko-KR" dirty="0"/>
              <a:t>/</a:t>
            </a:r>
            <a:r>
              <a:rPr lang="ko-KR" altLang="en-US" dirty="0"/>
              <a:t>실행력 등</a:t>
            </a:r>
            <a:r>
              <a:rPr lang="en-US" altLang="ko-KR" dirty="0"/>
              <a:t>)</a:t>
            </a:r>
            <a:r>
              <a:rPr lang="ko-KR" altLang="en-US" dirty="0"/>
              <a:t>과 조직역량</a:t>
            </a:r>
            <a:r>
              <a:rPr lang="en-US" altLang="ko-KR" dirty="0"/>
              <a:t>(</a:t>
            </a:r>
            <a:r>
              <a:rPr lang="ko-KR" altLang="en-US" dirty="0"/>
              <a:t>자원</a:t>
            </a:r>
            <a:r>
              <a:rPr lang="en-US" altLang="ko-KR" dirty="0"/>
              <a:t>·</a:t>
            </a:r>
            <a:r>
              <a:rPr lang="ko-KR" altLang="en-US" dirty="0"/>
              <a:t>시간관리</a:t>
            </a:r>
            <a:r>
              <a:rPr lang="en-US" altLang="ko-KR" dirty="0"/>
              <a:t>·</a:t>
            </a:r>
            <a:r>
              <a:rPr lang="ko-KR" altLang="en-US" dirty="0"/>
              <a:t>협업</a:t>
            </a:r>
            <a:r>
              <a:rPr lang="en-US" altLang="ko-KR" dirty="0"/>
              <a:t>·</a:t>
            </a:r>
            <a:r>
              <a:rPr lang="ko-KR" altLang="en-US" dirty="0"/>
              <a:t>소통능력 등</a:t>
            </a:r>
            <a:r>
              <a:rPr lang="en-US" altLang="ko-KR" dirty="0"/>
              <a:t>) </a:t>
            </a:r>
            <a:r>
              <a:rPr lang="ko-KR" altLang="en-US" dirty="0"/>
              <a:t>을 중심으로 핵심 역량평가 요소를 도출하였음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41784CC-B6E8-ADD5-8319-F51DB46C5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61F717-3B2E-5DF5-E0A1-6DFEA5150C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평가 요소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1D4B1E8-794B-1A58-7050-042C6A2BF3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88693779-85EE-2E57-FC0F-E6C8DB19D941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4CA66E5A-A5F1-9140-68DA-864E51705264}"/>
                </a:ext>
              </a:extLst>
            </p:cNvPr>
            <p:cNvSpPr/>
            <p:nvPr userDrawn="1"/>
          </p:nvSpPr>
          <p:spPr>
            <a:xfrm>
              <a:off x="2888436" y="1626519"/>
              <a:ext cx="1200425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제도설계 및 개선 요약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B860936C-1E94-6717-C7A0-D9F4C0FF3A06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0DE9950-6077-29B3-FA38-9889A6A05C13}"/>
              </a:ext>
            </a:extLst>
          </p:cNvPr>
          <p:cNvSpPr txBox="1"/>
          <p:nvPr/>
        </p:nvSpPr>
        <p:spPr>
          <a:xfrm>
            <a:off x="273050" y="2070100"/>
            <a:ext cx="9359900" cy="263525"/>
          </a:xfrm>
          <a:prstGeom prst="round2SameRect">
            <a:avLst>
              <a:gd name="adj1" fmla="val 42060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</a:ln>
          <a:effectLst/>
        </p:spPr>
        <p:txBody>
          <a:bodyPr lIns="72000" tIns="36000" rIns="36000" bIns="36000" rtlCol="0" anchor="ctr"/>
          <a:lstStyle>
            <a:defPPr>
              <a:defRPr lang="ko-KR"/>
            </a:defPPr>
            <a:lvl1pPr fontAlgn="base" latinLnBrk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defRPr kumimoji="1" sz="1200" kern="0">
                <a:solidFill>
                  <a:prstClr val="white"/>
                </a:solidFill>
                <a:latin typeface="+mn-ea"/>
              </a:defRPr>
            </a:lvl1pPr>
          </a:lstStyle>
          <a:p>
            <a:r>
              <a:rPr lang="ko-KR" altLang="en-US" dirty="0"/>
              <a:t>역량평가 양식</a:t>
            </a:r>
            <a:r>
              <a:rPr lang="en-US" altLang="ko-KR" dirty="0"/>
              <a:t>(</a:t>
            </a:r>
            <a:r>
              <a:rPr lang="ko-KR" altLang="en-US" dirty="0"/>
              <a:t>역량평가 요소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9" name="Group 2">
            <a:extLst>
              <a:ext uri="{FF2B5EF4-FFF2-40B4-BE49-F238E27FC236}">
                <a16:creationId xmlns:a16="http://schemas.microsoft.com/office/drawing/2014/main" id="{5F57A7F3-3C2F-5BAF-2D91-2354A0CC1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884508"/>
              </p:ext>
            </p:extLst>
          </p:nvPr>
        </p:nvGraphicFramePr>
        <p:xfrm>
          <a:off x="273050" y="2324679"/>
          <a:ext cx="9359898" cy="3620578"/>
        </p:xfrm>
        <a:graphic>
          <a:graphicData uri="http://schemas.openxmlformats.org/drawingml/2006/table">
            <a:tbl>
              <a:tblPr/>
              <a:tblGrid>
                <a:gridCol w="422936">
                  <a:extLst>
                    <a:ext uri="{9D8B030D-6E8A-4147-A177-3AD203B41FA5}">
                      <a16:colId xmlns:a16="http://schemas.microsoft.com/office/drawing/2014/main" val="4191951330"/>
                    </a:ext>
                  </a:extLst>
                </a:gridCol>
                <a:gridCol w="185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546">
                  <a:extLst>
                    <a:ext uri="{9D8B030D-6E8A-4147-A177-3AD203B41FA5}">
                      <a16:colId xmlns:a16="http://schemas.microsoft.com/office/drawing/2014/main" val="2369212909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991">
                  <a:extLst>
                    <a:ext uri="{9D8B030D-6E8A-4147-A177-3AD203B41FA5}">
                      <a16:colId xmlns:a16="http://schemas.microsoft.com/office/drawing/2014/main" val="3985389662"/>
                    </a:ext>
                  </a:extLst>
                </a:gridCol>
              </a:tblGrid>
              <a:tr h="3759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No.</a:t>
                      </a: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역량군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핵심역량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달성도별 등급 부여 기준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가중치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5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Ａ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Ｂ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Ｃ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Ｄ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73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인성 역량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윤리 및 책임감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 처리에 있어 공정하고 투명한 절차를 지키며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신뢰받을 수 있는 태도를 유지 하는지를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책임감 있는 업무 수행 여부와 윤리적 판단 기준의 일관성도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298474"/>
                  </a:ext>
                </a:extLst>
              </a:tr>
              <a:tr h="6387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태도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성실하고 주도적인 업무 태도를 유지하며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맡은 바 책임을 끝까지 완수하려는 자세를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변화에 대한 유연성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긍정적인 마인드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조직에 대한 충성심 등도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781421"/>
                  </a:ext>
                </a:extLst>
              </a:tr>
              <a:tr h="45478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미래 역량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혁신 역량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AI,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자동화 툴 등 최신 기술을 실무에 접목시켜 업무 효율성과 생산성을 향상시키려는 시도를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단순 활용을 넘어서 실제 효과 창출 여부도 반영됨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295511"/>
                  </a:ext>
                </a:extLst>
              </a:tr>
              <a:tr h="6387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프로세스 개선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기존의 업무 절차를 분석하고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불필요하거나 비효율적인 요소를 개선하기 위한 아이디어를 제시하고 실행하는 능력을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개선 실행 결과에 따른 성과도 고려함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351528"/>
                  </a:ext>
                </a:extLst>
              </a:tr>
              <a:tr h="6387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지속가능 기여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개인의 노력이 일회성에 그치지 않고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 전반의 지속 가능한 성과 향상으로 이어지는지를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구성원에게 긍정적 영향을 미치고 조직문화 향상에 기여하는 사례가 있는지 포함함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937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8292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D3BE-2CFB-ECBE-9406-E05E463A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A550CAD-B2ED-B624-2ED2-6CD54ECFC9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베이시스소프트는</a:t>
            </a:r>
            <a:r>
              <a:rPr lang="ko-KR" altLang="en-US" dirty="0"/>
              <a:t> 조직의 성과창출 기반을 강화하기 위해 업무역량</a:t>
            </a:r>
            <a:r>
              <a:rPr lang="en-US" altLang="ko-KR" dirty="0"/>
              <a:t>(</a:t>
            </a:r>
            <a:r>
              <a:rPr lang="ko-KR" altLang="en-US" dirty="0"/>
              <a:t>전문성</a:t>
            </a:r>
            <a:r>
              <a:rPr lang="en-US" altLang="ko-KR" dirty="0"/>
              <a:t>·</a:t>
            </a:r>
            <a:r>
              <a:rPr lang="ko-KR" altLang="en-US" dirty="0"/>
              <a:t>분석력</a:t>
            </a:r>
            <a:r>
              <a:rPr lang="en-US" altLang="ko-KR" dirty="0"/>
              <a:t>·</a:t>
            </a:r>
            <a:r>
              <a:rPr lang="ko-KR" altLang="en-US" dirty="0"/>
              <a:t>기획</a:t>
            </a:r>
            <a:r>
              <a:rPr lang="en-US" altLang="ko-KR" dirty="0"/>
              <a:t>/</a:t>
            </a:r>
            <a:r>
              <a:rPr lang="ko-KR" altLang="en-US" dirty="0"/>
              <a:t>실행력 등</a:t>
            </a:r>
            <a:r>
              <a:rPr lang="en-US" altLang="ko-KR" dirty="0"/>
              <a:t>)</a:t>
            </a:r>
            <a:r>
              <a:rPr lang="ko-KR" altLang="en-US" dirty="0"/>
              <a:t>과 조직역량</a:t>
            </a:r>
            <a:r>
              <a:rPr lang="en-US" altLang="ko-KR" dirty="0"/>
              <a:t>(</a:t>
            </a:r>
            <a:r>
              <a:rPr lang="ko-KR" altLang="en-US" dirty="0"/>
              <a:t>자원</a:t>
            </a:r>
            <a:r>
              <a:rPr lang="en-US" altLang="ko-KR" dirty="0"/>
              <a:t>·</a:t>
            </a:r>
            <a:r>
              <a:rPr lang="ko-KR" altLang="en-US" dirty="0"/>
              <a:t>시간관리</a:t>
            </a:r>
            <a:r>
              <a:rPr lang="en-US" altLang="ko-KR" dirty="0"/>
              <a:t>·</a:t>
            </a:r>
            <a:r>
              <a:rPr lang="ko-KR" altLang="en-US" dirty="0"/>
              <a:t>협업</a:t>
            </a:r>
            <a:r>
              <a:rPr lang="en-US" altLang="ko-KR" dirty="0"/>
              <a:t>·</a:t>
            </a:r>
            <a:r>
              <a:rPr lang="ko-KR" altLang="en-US" dirty="0"/>
              <a:t>소통능력 등</a:t>
            </a:r>
            <a:r>
              <a:rPr lang="en-US" altLang="ko-KR" dirty="0"/>
              <a:t>) </a:t>
            </a:r>
            <a:r>
              <a:rPr lang="ko-KR" altLang="en-US" dirty="0"/>
              <a:t>을 중심으로 핵심 역량평가 요소를 도출하였음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2B03E0A-241D-16DD-D12B-121D8BCB0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45DC8-8E3E-1FF8-F798-72B6ACC036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[S2] </a:t>
            </a:r>
            <a:r>
              <a:rPr lang="ko-KR" altLang="en-US" dirty="0"/>
              <a:t>평가 요소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38BC56E-D539-EBB0-84EB-67C02B1FA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25822988-E642-56C8-1E11-FC3367DB2E48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311530DF-0CD7-43D0-370F-5A9119868BB9}"/>
                </a:ext>
              </a:extLst>
            </p:cNvPr>
            <p:cNvSpPr/>
            <p:nvPr userDrawn="1"/>
          </p:nvSpPr>
          <p:spPr>
            <a:xfrm>
              <a:off x="2888436" y="1626519"/>
              <a:ext cx="1200425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제도설계 및 개선 요약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4B794916-9C04-C1F5-E78C-7DB8546F56E3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63A0B8-3EE6-FD9F-7681-2EB204148485}"/>
              </a:ext>
            </a:extLst>
          </p:cNvPr>
          <p:cNvSpPr txBox="1"/>
          <p:nvPr/>
        </p:nvSpPr>
        <p:spPr>
          <a:xfrm>
            <a:off x="273050" y="2070100"/>
            <a:ext cx="9359900" cy="263525"/>
          </a:xfrm>
          <a:prstGeom prst="round2SameRect">
            <a:avLst>
              <a:gd name="adj1" fmla="val 42060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</a:ln>
          <a:effectLst/>
        </p:spPr>
        <p:txBody>
          <a:bodyPr lIns="72000" tIns="36000" rIns="36000" bIns="36000" rtlCol="0" anchor="ctr"/>
          <a:lstStyle>
            <a:defPPr>
              <a:defRPr lang="ko-KR"/>
            </a:defPPr>
            <a:lvl1pPr fontAlgn="base" latinLnBrk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defRPr kumimoji="1" sz="1200" kern="0">
                <a:solidFill>
                  <a:prstClr val="white"/>
                </a:solidFill>
                <a:latin typeface="+mn-ea"/>
              </a:defRPr>
            </a:lvl1pPr>
          </a:lstStyle>
          <a:p>
            <a:r>
              <a:rPr lang="ko-KR" altLang="en-US" dirty="0"/>
              <a:t>역량평가 양식</a:t>
            </a:r>
            <a:r>
              <a:rPr lang="en-US" altLang="ko-KR" dirty="0"/>
              <a:t>(</a:t>
            </a:r>
            <a:r>
              <a:rPr lang="ko-KR" altLang="en-US" dirty="0"/>
              <a:t>역량평가 요소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9" name="Group 2">
            <a:extLst>
              <a:ext uri="{FF2B5EF4-FFF2-40B4-BE49-F238E27FC236}">
                <a16:creationId xmlns:a16="http://schemas.microsoft.com/office/drawing/2014/main" id="{2E2DE433-76EC-F4FD-614E-AC7E66DED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189414"/>
              </p:ext>
            </p:extLst>
          </p:nvPr>
        </p:nvGraphicFramePr>
        <p:xfrm>
          <a:off x="273050" y="2324679"/>
          <a:ext cx="9359898" cy="3620578"/>
        </p:xfrm>
        <a:graphic>
          <a:graphicData uri="http://schemas.openxmlformats.org/drawingml/2006/table">
            <a:tbl>
              <a:tblPr/>
              <a:tblGrid>
                <a:gridCol w="422936">
                  <a:extLst>
                    <a:ext uri="{9D8B030D-6E8A-4147-A177-3AD203B41FA5}">
                      <a16:colId xmlns:a16="http://schemas.microsoft.com/office/drawing/2014/main" val="4191951330"/>
                    </a:ext>
                  </a:extLst>
                </a:gridCol>
                <a:gridCol w="185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546">
                  <a:extLst>
                    <a:ext uri="{9D8B030D-6E8A-4147-A177-3AD203B41FA5}">
                      <a16:colId xmlns:a16="http://schemas.microsoft.com/office/drawing/2014/main" val="2369212909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5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0991">
                  <a:extLst>
                    <a:ext uri="{9D8B030D-6E8A-4147-A177-3AD203B41FA5}">
                      <a16:colId xmlns:a16="http://schemas.microsoft.com/office/drawing/2014/main" val="3985389662"/>
                    </a:ext>
                  </a:extLst>
                </a:gridCol>
              </a:tblGrid>
              <a:tr h="3759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No.</a:t>
                      </a: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역량군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핵심역량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marT="72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달성도별 등급 부여 기준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가중치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5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Ａ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Ｂ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Ｃ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Ｄ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9050" marR="19050" anchor="ctr" horzOverflow="overflow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73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인성 역량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윤리 및 책임감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 처리에 있어 공정하고 투명한 절차를 지키며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신뢰받을 수 있는 태도를 유지 하는지를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책임감 있는 업무 수행 여부와 윤리적 판단 기준의 일관성도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298474"/>
                  </a:ext>
                </a:extLst>
              </a:tr>
              <a:tr h="6387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태도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성실하고 주도적인 업무 태도를 유지하며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맡은 바 책임을 끝까지 완수하려는 자세를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변화에 대한 유연성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긍정적인 마인드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조직에 대한 충성심 등도 포함됨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10%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781421"/>
                  </a:ext>
                </a:extLst>
              </a:tr>
              <a:tr h="45478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미래 역량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혁신 역량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AI,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자동화 툴 등 최신 기술을 실무에 접목시켜 업무 효율성과 생산성을 향상시키려는 시도를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단순 활용을 넘어서 실제 효과 창출 여부도 반영됨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295511"/>
                  </a:ext>
                </a:extLst>
              </a:tr>
              <a:tr h="6387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프로세스 개선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기존의 업무 절차를 분석하고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불필요하거나 비효율적인 요소를 개선하기 위한 아이디어를 제시하고 실행하는 능력을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개선 실행 결과에 따른 성과도 고려함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351528"/>
                  </a:ext>
                </a:extLst>
              </a:tr>
              <a:tr h="6387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지속가능 기여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개인의 노력이 일회성에 그치지 않고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 전반의 지속 가능한 성과 향상으로 이어지는지를 평가함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구성원에게 긍정적 영향을 미치고 조직문화 향상에 기여하는 사례가 있는지 포함함</a:t>
                      </a: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58825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ko-KR" alt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5%</a:t>
                      </a: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18000" marR="18000" marT="18000" marB="18000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937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78191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1E96A-1786-B9AC-E48A-54367937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A38D8B-BF2E-032D-8A6F-1D25F54D55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/>
              <a:t>평가체계 운영을 위해 다음과 같이 전사 및 개인별 목표를 공유</a:t>
            </a:r>
            <a:r>
              <a:rPr lang="en-US" altLang="ko-KR" dirty="0"/>
              <a:t>·</a:t>
            </a:r>
            <a:r>
              <a:rPr lang="ko-KR" altLang="en-US" dirty="0"/>
              <a:t>검토하고</a:t>
            </a:r>
            <a:r>
              <a:rPr lang="en-US" altLang="ko-KR" dirty="0"/>
              <a:t>, </a:t>
            </a:r>
            <a:r>
              <a:rPr lang="ko-KR" altLang="en-US" dirty="0"/>
              <a:t>연 </a:t>
            </a:r>
            <a:r>
              <a:rPr lang="en-US" altLang="ko-KR" dirty="0"/>
              <a:t>2</a:t>
            </a:r>
            <a:r>
              <a:rPr lang="ko-KR" altLang="en-US" dirty="0"/>
              <a:t>회 평가와 피드백 면담을 통해 </a:t>
            </a:r>
            <a:r>
              <a:rPr lang="ko-KR" altLang="en-US" b="1" dirty="0"/>
              <a:t>성과 달성 수준과 역량 개발 현황을 정기적으로 점검</a:t>
            </a:r>
            <a:r>
              <a:rPr lang="ko-KR" altLang="en-US" dirty="0"/>
              <a:t>함으로써</a:t>
            </a:r>
            <a:r>
              <a:rPr lang="en-US" altLang="ko-KR" dirty="0"/>
              <a:t>, </a:t>
            </a:r>
            <a:r>
              <a:rPr lang="ko-KR" altLang="en-US" dirty="0"/>
              <a:t>평가가 단순한 등급 부여가 아닌 </a:t>
            </a:r>
            <a:r>
              <a:rPr lang="ko-KR" altLang="en-US" b="1" dirty="0"/>
              <a:t>성과 관리와 인재 육성을 동시에 실현하는 체계</a:t>
            </a:r>
            <a:r>
              <a:rPr lang="ko-KR" altLang="en-US" dirty="0"/>
              <a:t>로 작동하도록 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A7A005E-E0D0-A10A-97E3-36C87BEBB5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957AB0-0A51-4880-F2CD-BD11CB3313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/>
              <a:t>운영 방안 마련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F29646B-5D85-B652-4D9E-DC9C49C3DA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F33BEFA-468A-7361-B018-20E9AF897FF2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0DC6A8F7-736A-A14C-482B-3DA7A7906E5E}"/>
                </a:ext>
              </a:extLst>
            </p:cNvPr>
            <p:cNvSpPr/>
            <p:nvPr userDrawn="1"/>
          </p:nvSpPr>
          <p:spPr>
            <a:xfrm>
              <a:off x="2833382" y="1626519"/>
              <a:ext cx="1310536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평가체계 운영 방안 설계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9D12524C-A0D3-43D7-8E72-7A6F66E4F509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8">
            <a:extLst>
              <a:ext uri="{FF2B5EF4-FFF2-40B4-BE49-F238E27FC236}">
                <a16:creationId xmlns:a16="http://schemas.microsoft.com/office/drawing/2014/main" id="{557511BB-21B0-FEFB-46F9-DCA4AD683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907749"/>
            <a:ext cx="804003" cy="1607950"/>
          </a:xfrm>
          <a:prstGeom prst="roundRect">
            <a:avLst/>
          </a:prstGeom>
          <a:solidFill>
            <a:srgbClr val="E6EEF9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marL="0" marR="0" lvl="0" indent="0" algn="l" defTabSz="91440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>
                <a:tab pos="1028700" algn="l"/>
              </a:tabLst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91440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>
                <a:tab pos="1028700" algn="l"/>
              </a:tabLst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</a:t>
            </a:r>
            <a:endParaRPr kumimoji="1" lang="en-US" altLang="ko-KR" sz="13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3D93B7FE-A122-2CBA-32FE-6D1E24A6E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4736683"/>
            <a:ext cx="804003" cy="1490188"/>
          </a:xfrm>
          <a:prstGeom prst="roundRect">
            <a:avLst/>
          </a:prstGeom>
          <a:solidFill>
            <a:srgbClr val="E6EEF9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marL="0" marR="0" lvl="0" indent="0" algn="l" defTabSz="91440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>
                <a:tab pos="1028700" algn="l"/>
              </a:tabLst>
              <a:defRPr/>
            </a:pPr>
            <a:r>
              <a:rPr kumimoji="1" lang="ko-KR" altLang="en-US" sz="13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역할</a:t>
            </a:r>
            <a:r>
              <a:rPr kumimoji="1" lang="en-US" altLang="ko-KR" sz="13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</a:p>
          <a:p>
            <a:pPr marL="0" marR="0" lvl="0" indent="0" algn="l" defTabSz="91440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>
                <a:tab pos="1028700" algn="l"/>
              </a:tabLst>
              <a:defRPr/>
            </a:pPr>
            <a:r>
              <a:rPr kumimoji="1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역량</a:t>
            </a:r>
            <a:endParaRPr kumimoji="1" lang="en-US" altLang="ko-KR" sz="1300" kern="0" dirty="0"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l" defTabSz="914400" eaLnBrk="1" fontAlgn="ctr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>
                <a:tab pos="1028700" algn="l"/>
              </a:tabLst>
              <a:defRPr/>
            </a:pPr>
            <a:r>
              <a:rPr kumimoji="1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</a:t>
            </a:r>
            <a:endParaRPr kumimoji="1" lang="en-US" altLang="ko-KR" sz="13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73AB5E-C650-F60D-E615-9A4824C38C71}"/>
              </a:ext>
            </a:extLst>
          </p:cNvPr>
          <p:cNvSpPr/>
          <p:nvPr/>
        </p:nvSpPr>
        <p:spPr>
          <a:xfrm>
            <a:off x="945277" y="2838569"/>
            <a:ext cx="8628854" cy="17506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63ED66-7282-6FF6-1303-DBB1E13500A7}"/>
              </a:ext>
            </a:extLst>
          </p:cNvPr>
          <p:cNvSpPr/>
          <p:nvPr/>
        </p:nvSpPr>
        <p:spPr>
          <a:xfrm>
            <a:off x="945277" y="4692429"/>
            <a:ext cx="8628854" cy="151990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10" name="AutoShape 126">
            <a:extLst>
              <a:ext uri="{FF2B5EF4-FFF2-40B4-BE49-F238E27FC236}">
                <a16:creationId xmlns:a16="http://schemas.microsoft.com/office/drawing/2014/main" id="{F0448D24-0629-C076-BC79-26CCF51D301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02406" y="2220686"/>
            <a:ext cx="2073394" cy="617883"/>
          </a:xfrm>
          <a:prstGeom prst="homePlate">
            <a:avLst>
              <a:gd name="adj" fmla="val 23059"/>
            </a:avLst>
          </a:prstGeom>
          <a:solidFill>
            <a:srgbClr val="17365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>
            <a:lvl1pPr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1pPr>
            <a:lvl2pPr marL="742950" indent="-28575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2pPr>
            <a:lvl3pPr marL="11430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3pPr>
            <a:lvl4pPr marL="16002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4pPr>
            <a:lvl5pPr marL="20574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5pPr>
            <a:lvl6pPr marL="25146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6pPr>
            <a:lvl7pPr marL="29718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7pPr>
            <a:lvl8pPr marL="34290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8pPr>
            <a:lvl9pPr marL="38862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pPr algn="ctr" eaLnBrk="1" fontAlgn="auto" hangingPunct="1">
              <a:lnSpc>
                <a:spcPct val="100000"/>
              </a:lnSpc>
              <a:spcAft>
                <a:spcPct val="0"/>
              </a:spcAft>
              <a:buClrTx/>
              <a:defRPr/>
            </a:pPr>
            <a:r>
              <a:rPr kumimoji="1" lang="ko-KR" altLang="en-US" sz="14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피드백</a:t>
            </a:r>
          </a:p>
          <a:p>
            <a:pPr marL="0" marR="0" lvl="0" indent="0" algn="ctr" defTabSz="939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(12~1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월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)</a:t>
            </a:r>
          </a:p>
        </p:txBody>
      </p:sp>
      <p:sp>
        <p:nvSpPr>
          <p:cNvPr id="11" name="AutoShape 126">
            <a:extLst>
              <a:ext uri="{FF2B5EF4-FFF2-40B4-BE49-F238E27FC236}">
                <a16:creationId xmlns:a16="http://schemas.microsoft.com/office/drawing/2014/main" id="{3EB220DC-1056-79A9-0156-7C028F4CA6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7061" y="2220686"/>
            <a:ext cx="2073394" cy="617883"/>
          </a:xfrm>
          <a:prstGeom prst="homePlate">
            <a:avLst>
              <a:gd name="adj" fmla="val 23059"/>
            </a:avLst>
          </a:prstGeom>
          <a:solidFill>
            <a:srgbClr val="17365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>
            <a:lvl1pPr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1pPr>
            <a:lvl2pPr marL="742950" indent="-28575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2pPr>
            <a:lvl3pPr marL="11430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3pPr>
            <a:lvl4pPr marL="16002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4pPr>
            <a:lvl5pPr marL="20574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5pPr>
            <a:lvl6pPr marL="25146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6pPr>
            <a:lvl7pPr marL="29718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7pPr>
            <a:lvl8pPr marL="34290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8pPr>
            <a:lvl9pPr marL="38862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pPr marL="0" marR="0" lvl="0" indent="0" algn="ctr" defTabSz="939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목표설정</a:t>
            </a:r>
          </a:p>
          <a:p>
            <a:pPr marL="0" marR="0" lvl="0" indent="0" algn="ctr" defTabSz="939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(2~3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월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)</a:t>
            </a:r>
          </a:p>
        </p:txBody>
      </p:sp>
      <p:sp>
        <p:nvSpPr>
          <p:cNvPr id="12" name="AutoShape 126">
            <a:extLst>
              <a:ext uri="{FF2B5EF4-FFF2-40B4-BE49-F238E27FC236}">
                <a16:creationId xmlns:a16="http://schemas.microsoft.com/office/drawing/2014/main" id="{ED1CD44E-3281-2680-1E45-E856A69EE7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5509" y="2220686"/>
            <a:ext cx="2073394" cy="617883"/>
          </a:xfrm>
          <a:prstGeom prst="homePlate">
            <a:avLst>
              <a:gd name="adj" fmla="val 23059"/>
            </a:avLst>
          </a:prstGeom>
          <a:solidFill>
            <a:srgbClr val="17365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>
            <a:lvl1pPr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1pPr>
            <a:lvl2pPr marL="742950" indent="-28575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2pPr>
            <a:lvl3pPr marL="11430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3pPr>
            <a:lvl4pPr marL="16002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4pPr>
            <a:lvl5pPr marL="20574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5pPr>
            <a:lvl6pPr marL="25146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6pPr>
            <a:lvl7pPr marL="29718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7pPr>
            <a:lvl8pPr marL="34290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8pPr>
            <a:lvl9pPr marL="38862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pPr marL="0" marR="0" lvl="0" indent="0" algn="ctr" defTabSz="939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1</a:t>
            </a:r>
            <a:r>
              <a:rPr kumimoji="1" lang="ko-KR" altLang="en-US" sz="14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차 평가</a:t>
            </a:r>
            <a:endParaRPr kumimoji="1" lang="en-US" altLang="ko-KR" sz="1400" kern="0" dirty="0">
              <a:solidFill>
                <a:srgbClr val="FFFFFF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  <a:p>
            <a:pPr algn="ctr" latinLnBrk="0">
              <a:spcAft>
                <a:spcPct val="0"/>
              </a:spcAft>
              <a:defRPr/>
            </a:pPr>
            <a:r>
              <a:rPr kumimoji="1" lang="en-US" altLang="ko-KR" sz="10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(6</a:t>
            </a:r>
            <a:r>
              <a:rPr kumimoji="1" lang="ko-KR" altLang="en-US" sz="10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월</a:t>
            </a:r>
            <a:r>
              <a:rPr kumimoji="1" lang="en-US" altLang="ko-KR" sz="10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)</a:t>
            </a:r>
          </a:p>
        </p:txBody>
      </p:sp>
      <p:sp>
        <p:nvSpPr>
          <p:cNvPr id="13" name="AutoShape 126">
            <a:extLst>
              <a:ext uri="{FF2B5EF4-FFF2-40B4-BE49-F238E27FC236}">
                <a16:creationId xmlns:a16="http://schemas.microsoft.com/office/drawing/2014/main" id="{FCB628FA-31DD-B318-D9BB-D004CE7BDB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3958" y="2220686"/>
            <a:ext cx="2073394" cy="617883"/>
          </a:xfrm>
          <a:prstGeom prst="homePlate">
            <a:avLst>
              <a:gd name="adj" fmla="val 23059"/>
            </a:avLst>
          </a:prstGeom>
          <a:solidFill>
            <a:srgbClr val="17365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>
            <a:lvl1pPr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1pPr>
            <a:lvl2pPr marL="742950" indent="-28575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2pPr>
            <a:lvl3pPr marL="11430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3pPr>
            <a:lvl4pPr marL="16002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4pPr>
            <a:lvl5pPr marL="2057400" indent="-228600" defTabSz="939800">
              <a:spcBef>
                <a:spcPct val="0"/>
              </a:spcBef>
              <a:defRPr>
                <a:solidFill>
                  <a:schemeClr val="tx1"/>
                </a:solidFill>
                <a:latin typeface="맑은 고딕" pitchFamily="50" charset="-127"/>
              </a:defRPr>
            </a:lvl5pPr>
            <a:lvl6pPr marL="25146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6pPr>
            <a:lvl7pPr marL="29718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7pPr>
            <a:lvl8pPr marL="34290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8pPr>
            <a:lvl9pPr marL="3886200" indent="-228600" defTabSz="939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</a:defRPr>
            </a:lvl9pPr>
          </a:lstStyle>
          <a:p>
            <a:pPr algn="ctr" eaLnBrk="1" fontAlgn="auto" hangingPunct="1">
              <a:lnSpc>
                <a:spcPct val="100000"/>
              </a:lnSpc>
              <a:spcAft>
                <a:spcPct val="0"/>
              </a:spcAft>
              <a:buClrTx/>
              <a:defRPr/>
            </a:pPr>
            <a:r>
              <a:rPr kumimoji="1" lang="en-US" altLang="ko-KR" sz="14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2</a:t>
            </a:r>
            <a:r>
              <a:rPr kumimoji="1" lang="ko-KR" altLang="en-US" sz="14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차 평가</a:t>
            </a:r>
          </a:p>
          <a:p>
            <a:pPr marL="0" marR="0" lvl="0" indent="0" algn="ctr" defTabSz="9398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(12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월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)</a:t>
            </a: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7233C5FC-A9A7-5DB1-AF6F-23EC12F126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7061" y="2907749"/>
            <a:ext cx="2071726" cy="110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141288" indent="-141288" defTabSz="939800" eaLnBrk="0" hangingPunct="0">
              <a:spcBef>
                <a:spcPct val="60000"/>
              </a:spcBef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282575" indent="-139700" defTabSz="939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 eaLnBrk="0" hangingPunct="0">
              <a:spcBef>
                <a:spcPct val="20000"/>
              </a:spcBef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marR="0" lvl="0" indent="-92075" algn="l" defTabSz="939800" eaLnBrk="0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목표공유 </a:t>
            </a:r>
            <a:r>
              <a:rPr kumimoji="1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Session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조직목표 달성 및  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직무수행을 위한 개인별 역할 및 책임 논의</a:t>
            </a:r>
          </a:p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개인별 목표설정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목표항목별 달성수준 및 추진계획 수립</a:t>
            </a:r>
          </a:p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목표설정 결과 검토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/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승인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19B48537-A7A2-445D-C6C3-7368B14497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5509" y="2907749"/>
            <a:ext cx="2071726" cy="975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141288" indent="-141288" defTabSz="939800" eaLnBrk="0" hangingPunct="0">
              <a:spcBef>
                <a:spcPct val="60000"/>
              </a:spcBef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282575" indent="-139700" defTabSz="939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 eaLnBrk="0" hangingPunct="0">
              <a:spcBef>
                <a:spcPct val="20000"/>
              </a:spcBef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목표항목별 추진실적 집계 및 근거자료 취합</a:t>
            </a:r>
          </a:p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중간점검 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Session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 대비 진척도 및 달성방안 논의</a:t>
            </a:r>
          </a:p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중간점검 결과 정리 및 피드백</a:t>
            </a: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8261118-B3F1-5EB0-B33B-D1639196F8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3958" y="2907749"/>
            <a:ext cx="2071726" cy="1490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141288" indent="-141288" defTabSz="939800" eaLnBrk="0" hangingPunct="0">
              <a:spcBef>
                <a:spcPct val="60000"/>
              </a:spcBef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282575" indent="-139700" defTabSz="939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 eaLnBrk="0" hangingPunct="0">
              <a:spcBef>
                <a:spcPct val="20000"/>
              </a:spcBef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목표항목별 추진실적 집계 및 근거자료 취합</a:t>
            </a:r>
          </a:p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실적공유 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Session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 대비 실적 파악 및 피평가자 의견 수렴</a:t>
            </a:r>
          </a:p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목표항목별 달성도 평가</a:t>
            </a:r>
          </a:p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평가 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Session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평가등급 조정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/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확정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796D129-5AB9-B379-0C88-69A14F01B7D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02406" y="2907749"/>
            <a:ext cx="2071726" cy="53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141288" indent="-141288" defTabSz="939800" eaLnBrk="0" hangingPunct="0">
              <a:spcBef>
                <a:spcPct val="60000"/>
              </a:spcBef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282575" indent="-139700" defTabSz="939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 eaLnBrk="0" hangingPunct="0">
              <a:spcBef>
                <a:spcPct val="20000"/>
              </a:spcBef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평가결과 피드백 면담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평가결과 피드백 및 향후 성과향상 방안 논의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D37F0724-F367-4761-3DDB-D143ABE664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7061" y="4736683"/>
            <a:ext cx="2071726" cy="81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141288" indent="-141288" defTabSz="939800" eaLnBrk="0" hangingPunct="0">
              <a:spcBef>
                <a:spcPct val="60000"/>
              </a:spcBef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282575" indent="-139700" defTabSz="939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 eaLnBrk="0" hangingPunct="0">
              <a:spcBef>
                <a:spcPct val="20000"/>
              </a:spcBef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·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역량평가 항목 검토</a:t>
            </a:r>
            <a:endParaRPr kumimoji="1" lang="en-US" altLang="ko-KR" sz="1000" kern="0" dirty="0">
              <a:solidFill>
                <a:schemeClr val="accent2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담당업무 수행에 필요한 직무역량 검토</a:t>
            </a:r>
          </a:p>
          <a:p>
            <a:pPr marL="92075" indent="-92075" hangingPunct="1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· 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역량개발계획 수립</a:t>
            </a:r>
          </a:p>
          <a:p>
            <a:pPr marL="92075" indent="-92075" hangingPunct="1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· 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역량개발계획 검토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/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승인</a:t>
            </a: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99BA67FB-9422-C0C5-2847-789E69155C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5509" y="4736683"/>
            <a:ext cx="2071726" cy="103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141288" indent="-141288" defTabSz="939800" eaLnBrk="0" hangingPunct="0">
              <a:spcBef>
                <a:spcPct val="60000"/>
              </a:spcBef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282575" indent="-139700" defTabSz="939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 eaLnBrk="0" hangingPunct="0">
              <a:spcBef>
                <a:spcPct val="20000"/>
              </a:spcBef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 hangingPunct="1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·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역량평가 추진실적 집계 및 근거자료 취합</a:t>
            </a:r>
          </a:p>
          <a:p>
            <a:pPr marL="92075" indent="-92075" hangingPunct="1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·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역량평가 추진실적 검토 및 피드백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향후 계획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,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지원사항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,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강점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/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보완점 코칭 등 평가자 의견 작성</a:t>
            </a: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31A65EF1-9210-9F67-B355-F3DB7428B147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3958" y="4736683"/>
            <a:ext cx="2071726" cy="912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141288" indent="-141288" defTabSz="939800" eaLnBrk="0" hangingPunct="0">
              <a:spcBef>
                <a:spcPct val="60000"/>
              </a:spcBef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282575" indent="-139700" defTabSz="939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 eaLnBrk="0" hangingPunct="0">
              <a:spcBef>
                <a:spcPct val="20000"/>
              </a:spcBef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lvl="0" indent="-92075" latinLnBrk="0" hangingPunct="1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·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역량평가 개발 추진실적 </a:t>
            </a:r>
            <a:r>
              <a:rPr kumimoji="1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집계 및 근거자료 취합</a:t>
            </a:r>
          </a:p>
          <a:p>
            <a:pPr marL="92075" indent="-92075" hangingPunct="1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·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역량평가 역할</a:t>
            </a:r>
            <a:r>
              <a:rPr kumimoji="1" lang="en-US" altLang="ko-KR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/</a:t>
            </a: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책임 적합도 평가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평가근거 확인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평가등급 조정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/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확정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EA5230B0-2D6E-2745-37F6-A54756D345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02406" y="4736683"/>
            <a:ext cx="2071726" cy="53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141288" indent="-141288" defTabSz="939800" eaLnBrk="0" hangingPunct="0">
              <a:spcBef>
                <a:spcPct val="60000"/>
              </a:spcBef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282575" indent="-139700" defTabSz="9398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939800" eaLnBrk="0" hangingPunct="0">
              <a:spcBef>
                <a:spcPct val="20000"/>
              </a:spcBef>
              <a:buChar char="­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939800" eaLnBrk="0" hangingPunct="0">
              <a:spcBef>
                <a:spcPct val="20000"/>
              </a:spcBef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939800" eaLnBrk="0" fontAlgn="base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-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92075" indent="-92075" algn="l" fontAlgn="auto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 dirty="0"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평가결과 피드백 면담</a:t>
            </a:r>
          </a:p>
          <a:p>
            <a:pPr marL="174625" marR="0" lvl="1" indent="-82550" algn="l" defTabSz="939800" eaLnBrk="0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맑은 고딕" pitchFamily="50" charset="-127"/>
              <a:buChar char="–"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rPr>
              <a:t>평가결과 피드백 및 향후 능력개발 방향 논의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75316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9897B-69FC-81C7-3641-E5666349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501028B-B415-290E-84B3-4487E835F1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ko-KR" altLang="en-US" dirty="0" err="1"/>
              <a:t>베이시스소프트</a:t>
            </a:r>
            <a:r>
              <a:rPr lang="ko-KR" altLang="en-US" dirty="0"/>
              <a:t> 평가 운영 방안에 따라 평가의 신뢰성과 공정성을 확보하기 위해 </a:t>
            </a:r>
            <a:r>
              <a:rPr lang="ko-KR" altLang="en-US" b="1" dirty="0"/>
              <a:t>피평가자</a:t>
            </a:r>
            <a:r>
              <a:rPr lang="en-US" altLang="ko-KR" b="1" dirty="0"/>
              <a:t>-</a:t>
            </a:r>
            <a:r>
              <a:rPr lang="ko-KR" altLang="en-US" b="1" dirty="0"/>
              <a:t>평가자</a:t>
            </a:r>
            <a:r>
              <a:rPr lang="en-US" altLang="ko-KR" b="1" dirty="0"/>
              <a:t>-</a:t>
            </a:r>
            <a:r>
              <a:rPr lang="ko-KR" altLang="en-US" b="1" dirty="0"/>
              <a:t>조정자</a:t>
            </a:r>
            <a:r>
              <a:rPr lang="en-US" altLang="ko-KR" b="1" dirty="0"/>
              <a:t>-HR</a:t>
            </a:r>
            <a:r>
              <a:rPr lang="ko-KR" altLang="en-US" b="1" dirty="0"/>
              <a:t>부서</a:t>
            </a:r>
            <a:r>
              <a:rPr lang="ko-KR" altLang="en-US" dirty="0"/>
              <a:t>로 이어지는 관리 방안을 설계하였음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96F36DE-2DF9-CCD8-5279-8517282263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Ⅳ. </a:t>
            </a:r>
            <a:r>
              <a:rPr lang="ko-KR" altLang="en-US" dirty="0"/>
              <a:t>제도설계 </a:t>
            </a:r>
            <a:r>
              <a:rPr lang="en-US" altLang="ko-KR" dirty="0"/>
              <a:t>&gt; </a:t>
            </a:r>
            <a:r>
              <a:rPr lang="ko-KR" altLang="en-US" dirty="0"/>
              <a:t>평가체계 설계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62C4DA-8A95-117F-2E62-1D55884217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atinLnBrk="0"/>
            <a:r>
              <a:rPr lang="en-US" altLang="ko-KR" dirty="0"/>
              <a:t>[S3] </a:t>
            </a:r>
            <a:r>
              <a:rPr lang="ko-KR" altLang="en-US" dirty="0"/>
              <a:t>운영 방안 마련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B079EC0-1FC7-7535-06A8-48848BC3C6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4E86E382-3125-5725-4797-FB25C72151ED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4B72C8F-FADA-8515-EFFB-9553182E8933}"/>
                </a:ext>
              </a:extLst>
            </p:cNvPr>
            <p:cNvSpPr/>
            <p:nvPr userDrawn="1"/>
          </p:nvSpPr>
          <p:spPr>
            <a:xfrm>
              <a:off x="2833384" y="1626519"/>
              <a:ext cx="1310536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평가체계 관리 방안 설계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1BB6E965-2519-634E-4F19-187773FA692A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583AC13-96C6-9320-3503-C7B85412F08C}"/>
              </a:ext>
            </a:extLst>
          </p:cNvPr>
          <p:cNvGrpSpPr/>
          <p:nvPr/>
        </p:nvGrpSpPr>
        <p:grpSpPr>
          <a:xfrm>
            <a:off x="273050" y="1970623"/>
            <a:ext cx="9410700" cy="4337636"/>
            <a:chOff x="704850" y="1440180"/>
            <a:chExt cx="8978900" cy="5059794"/>
          </a:xfrm>
        </p:grpSpPr>
        <p:sp>
          <p:nvSpPr>
            <p:cNvPr id="28" name="Rectangle 2">
              <a:extLst>
                <a:ext uri="{FF2B5EF4-FFF2-40B4-BE49-F238E27FC236}">
                  <a16:creationId xmlns:a16="http://schemas.microsoft.com/office/drawing/2014/main" id="{29FA231E-7088-268A-9F1F-D10A94D09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7850" y="1440180"/>
              <a:ext cx="1982787" cy="5059794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/>
          </p:spPr>
          <p:txBody>
            <a:bodyPr wrap="none"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 typeface="맑은 고딕" pitchFamily="50" charset="-127"/>
                <a:buChar char="•"/>
                <a:tabLst/>
                <a:defRPr/>
              </a:pPr>
              <a:endParaRPr kumimoji="0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15190A71-F498-14AB-615E-0E586410E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275" y="1440180"/>
              <a:ext cx="1982787" cy="5059794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/>
          </p:spPr>
          <p:txBody>
            <a:bodyPr wrap="none"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 typeface="맑은 고딕" pitchFamily="50" charset="-127"/>
                <a:buChar char="•"/>
                <a:tabLst/>
                <a:defRPr/>
              </a:pPr>
              <a:endParaRPr kumimoji="0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3BD5023F-2C34-3CBD-6602-C0207232C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562" y="1440180"/>
              <a:ext cx="1981200" cy="5059794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/>
          </p:spPr>
          <p:txBody>
            <a:bodyPr wrap="none"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 typeface="맑은 고딕" pitchFamily="50" charset="-127"/>
                <a:buChar char="•"/>
                <a:tabLst/>
                <a:defRPr/>
              </a:pPr>
              <a:endParaRPr kumimoji="0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B66FBA53-EB59-A138-1E56-1CEF19B01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650" y="1514333"/>
              <a:ext cx="1871662" cy="431800"/>
            </a:xfrm>
            <a:prstGeom prst="rect">
              <a:avLst/>
            </a:prstGeom>
            <a:solidFill>
              <a:srgbClr val="17365D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defTabSz="939800" eaLnBrk="1" fontAlgn="auto" hangingPunct="1">
                <a:lnSpc>
                  <a:spcPct val="100000"/>
                </a:lnSpc>
                <a:spcAft>
                  <a:spcPct val="0"/>
                </a:spcAft>
                <a:buClrTx/>
              </a:pPr>
              <a:r>
                <a:rPr kumimoji="1" lang="ko-KR" altLang="en-US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목표설정</a:t>
              </a:r>
              <a:endParaRPr kumimoji="1" lang="en-US" altLang="ko-KR" sz="1400" kern="0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Arial" charset="0"/>
              </a:endParaRPr>
            </a:p>
          </p:txBody>
        </p:sp>
        <p:sp>
          <p:nvSpPr>
            <p:cNvPr id="160" name="Rectangle 6">
              <a:extLst>
                <a:ext uri="{FF2B5EF4-FFF2-40B4-BE49-F238E27FC236}">
                  <a16:creationId xmlns:a16="http://schemas.microsoft.com/office/drawing/2014/main" id="{F1BDCF49-B7EE-72DE-B30C-D8545C710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2" y="1514333"/>
              <a:ext cx="1871663" cy="431800"/>
            </a:xfrm>
            <a:prstGeom prst="rect">
              <a:avLst/>
            </a:prstGeom>
            <a:solidFill>
              <a:srgbClr val="17365D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defTabSz="939800" eaLnBrk="1" fontAlgn="auto" hangingPunct="1">
                <a:lnSpc>
                  <a:spcPct val="100000"/>
                </a:lnSpc>
                <a:spcAft>
                  <a:spcPct val="0"/>
                </a:spcAft>
                <a:buClrTx/>
              </a:pPr>
              <a:r>
                <a:rPr kumimoji="1" lang="en-US" altLang="ko-KR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1</a:t>
              </a:r>
              <a:r>
                <a:rPr kumimoji="1" lang="ko-KR" altLang="en-US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차 평가</a:t>
              </a:r>
              <a:r>
                <a:rPr kumimoji="1" lang="en-US" altLang="ko-KR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(</a:t>
              </a:r>
              <a:r>
                <a:rPr kumimoji="1" lang="ko-KR" altLang="en-US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중간점검</a:t>
              </a:r>
              <a:r>
                <a:rPr kumimoji="1" lang="en-US" altLang="ko-KR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)</a:t>
              </a:r>
            </a:p>
          </p:txBody>
        </p:sp>
        <p:sp>
          <p:nvSpPr>
            <p:cNvPr id="164" name="Rectangle 7">
              <a:extLst>
                <a:ext uri="{FF2B5EF4-FFF2-40B4-BE49-F238E27FC236}">
                  <a16:creationId xmlns:a16="http://schemas.microsoft.com/office/drawing/2014/main" id="{437B1099-A174-3937-4413-A3E589C8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1825" y="1514333"/>
              <a:ext cx="1871662" cy="431800"/>
            </a:xfrm>
            <a:prstGeom prst="rect">
              <a:avLst/>
            </a:prstGeom>
            <a:solidFill>
              <a:srgbClr val="17365D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defTabSz="939800">
                <a:spcAft>
                  <a:spcPct val="0"/>
                </a:spcAft>
              </a:pPr>
              <a:r>
                <a:rPr kumimoji="1" lang="en-US" altLang="ko-KR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2</a:t>
              </a:r>
              <a:r>
                <a:rPr kumimoji="1" lang="ko-KR" altLang="en-US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차 평가</a:t>
              </a:r>
              <a:r>
                <a:rPr kumimoji="1" lang="en-US" altLang="ko-KR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(</a:t>
              </a:r>
              <a:r>
                <a:rPr kumimoji="1" lang="ko-KR" altLang="en-US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중간점검</a:t>
              </a:r>
              <a:r>
                <a:rPr kumimoji="1" lang="en-US" altLang="ko-KR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)</a:t>
              </a:r>
            </a:p>
          </p:txBody>
        </p:sp>
        <p:sp>
          <p:nvSpPr>
            <p:cNvPr id="165" name="Rectangle 8">
              <a:extLst>
                <a:ext uri="{FF2B5EF4-FFF2-40B4-BE49-F238E27FC236}">
                  <a16:creationId xmlns:a16="http://schemas.microsoft.com/office/drawing/2014/main" id="{7DBDF5CB-732B-E3D6-04B3-5C7DB288B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0962" y="1440180"/>
              <a:ext cx="1982788" cy="5059794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  <a:effectLst/>
          </p:spPr>
          <p:txBody>
            <a:bodyPr wrap="none"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 typeface="맑은 고딕" pitchFamily="50" charset="-127"/>
                <a:buChar char="•"/>
                <a:tabLst/>
                <a:defRPr/>
              </a:pPr>
              <a:endParaRPr kumimoji="0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66" name="Rectangle 9">
              <a:extLst>
                <a:ext uri="{FF2B5EF4-FFF2-40B4-BE49-F238E27FC236}">
                  <a16:creationId xmlns:a16="http://schemas.microsoft.com/office/drawing/2014/main" id="{D78D0AA0-F45D-B80F-A24B-BBDF21F70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4937" y="1514333"/>
              <a:ext cx="1871663" cy="431800"/>
            </a:xfrm>
            <a:prstGeom prst="rect">
              <a:avLst/>
            </a:prstGeom>
            <a:solidFill>
              <a:srgbClr val="17365D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defTabSz="939800" eaLnBrk="1" fontAlgn="auto" hangingPunct="1">
                <a:lnSpc>
                  <a:spcPct val="100000"/>
                </a:lnSpc>
                <a:spcAft>
                  <a:spcPct val="0"/>
                </a:spcAft>
                <a:buClrTx/>
              </a:pPr>
              <a:r>
                <a:rPr kumimoji="1" lang="ko-KR" altLang="en-US" sz="1400" kern="0" dirty="0">
                  <a:solidFill>
                    <a:srgbClr val="FFFFFF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Arial" charset="0"/>
                </a:rPr>
                <a:t>피드백</a:t>
              </a:r>
            </a:p>
          </p:txBody>
        </p:sp>
        <p:sp>
          <p:nvSpPr>
            <p:cNvPr id="167" name="Rectangle 12">
              <a:extLst>
                <a:ext uri="{FF2B5EF4-FFF2-40B4-BE49-F238E27FC236}">
                  <a16:creationId xmlns:a16="http://schemas.microsoft.com/office/drawing/2014/main" id="{F1D34D71-413A-E47C-5394-C529A1969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" y="2086575"/>
              <a:ext cx="765175" cy="1024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>
              <a:lvl1pPr eaLnBrk="0" hangingPunct="0">
                <a:spcBef>
                  <a:spcPct val="60000"/>
                </a:spcBef>
                <a:tabLst>
                  <a:tab pos="1028700" algn="l"/>
                </a:tabLst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>
                  <a:tab pos="1028700" algn="l"/>
                </a:tabLst>
                <a:defRPr/>
              </a:pPr>
              <a:r>
                <a:rPr kumimoji="1" lang="ko-KR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피평가자</a:t>
              </a:r>
            </a:p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>
                  <a:tab pos="1028700" algn="l"/>
                </a:tabLst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팀원</a:t>
              </a: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68" name="Rectangle 13">
              <a:extLst>
                <a:ext uri="{FF2B5EF4-FFF2-40B4-BE49-F238E27FC236}">
                  <a16:creationId xmlns:a16="http://schemas.microsoft.com/office/drawing/2014/main" id="{AA8AF4F4-FE65-605E-37E7-2217B197E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" y="3215860"/>
              <a:ext cx="765175" cy="1024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>
              <a:lvl1pPr eaLnBrk="0" hangingPunct="0">
                <a:spcBef>
                  <a:spcPct val="60000"/>
                </a:spcBef>
                <a:tabLst>
                  <a:tab pos="1028700" algn="l"/>
                </a:tabLst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>
                  <a:tab pos="1028700" algn="l"/>
                </a:tabLst>
                <a:defRPr/>
              </a:pPr>
              <a:r>
                <a:rPr kumimoji="1" lang="ko-KR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평가자</a:t>
              </a:r>
            </a:p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>
                  <a:tab pos="1028700" algn="l"/>
                </a:tabLst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팀장</a:t>
              </a: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69" name="Rectangle 14">
              <a:extLst>
                <a:ext uri="{FF2B5EF4-FFF2-40B4-BE49-F238E27FC236}">
                  <a16:creationId xmlns:a16="http://schemas.microsoft.com/office/drawing/2014/main" id="{16B67AFB-17B6-80B1-AB8F-30420BC10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" y="4346627"/>
              <a:ext cx="765175" cy="102406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>
              <a:lvl1pPr eaLnBrk="0" hangingPunct="0">
                <a:spcBef>
                  <a:spcPct val="60000"/>
                </a:spcBef>
                <a:tabLst>
                  <a:tab pos="1028700" algn="l"/>
                </a:tabLst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>
                  <a:tab pos="1028700" algn="l"/>
                </a:tabLst>
                <a:defRPr/>
              </a:pPr>
              <a:r>
                <a:rPr kumimoji="1" lang="ko-KR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조정</a:t>
              </a:r>
              <a:r>
                <a:rPr kumimoji="1" lang="en-US" altLang="ko-KR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kumimoji="1" lang="ko-KR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확정</a:t>
              </a:r>
            </a:p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>
                  <a:tab pos="1028700" algn="l"/>
                </a:tabLst>
                <a:defRPr/>
              </a:pP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본부장</a:t>
              </a:r>
              <a:r>
                <a:rPr kumimoji="1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kumimoji="1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70" name="Rectangle 15">
              <a:extLst>
                <a:ext uri="{FF2B5EF4-FFF2-40B4-BE49-F238E27FC236}">
                  <a16:creationId xmlns:a16="http://schemas.microsoft.com/office/drawing/2014/main" id="{0AAF4A86-939C-DB66-821F-BAAFB894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75" y="5475912"/>
              <a:ext cx="765175" cy="102406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>
              <a:lvl1pPr eaLnBrk="0" hangingPunct="0">
                <a:spcBef>
                  <a:spcPct val="60000"/>
                </a:spcBef>
                <a:tabLst>
                  <a:tab pos="1028700" algn="l"/>
                </a:tabLst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tabLst>
                  <a:tab pos="1028700" algn="l"/>
                </a:tabLst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>
                  <a:tab pos="1028700" algn="l"/>
                </a:tabLst>
                <a:defRPr/>
              </a:pPr>
              <a:r>
                <a:rPr kumimoji="1" lang="en-US" altLang="ko-KR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HR</a:t>
              </a:r>
              <a:r>
                <a:rPr kumimoji="1" lang="ko-KR" altLang="en-US" sz="13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부서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71" name="Line 16">
              <a:extLst>
                <a:ext uri="{FF2B5EF4-FFF2-40B4-BE49-F238E27FC236}">
                  <a16:creationId xmlns:a16="http://schemas.microsoft.com/office/drawing/2014/main" id="{378865BB-13DF-4FDA-7367-738879FB1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850" y="3162814"/>
              <a:ext cx="8928100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8000" tIns="18000" rIns="18000" bIns="18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 typeface="맑은 고딕" pitchFamily="50" charset="-127"/>
                <a:buChar char="•"/>
                <a:tabLst/>
                <a:defRPr/>
              </a:pPr>
              <a:endParaRPr kumimoji="0" lang="ko-KR" altLang="en-US" sz="13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72" name="Line 17">
              <a:extLst>
                <a:ext uri="{FF2B5EF4-FFF2-40B4-BE49-F238E27FC236}">
                  <a16:creationId xmlns:a16="http://schemas.microsoft.com/office/drawing/2014/main" id="{AAF9EEE5-9497-A7E4-8816-58A9F0F78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850" y="4291884"/>
              <a:ext cx="8928100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8000" tIns="18000" rIns="18000" bIns="18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 typeface="맑은 고딕" pitchFamily="50" charset="-127"/>
                <a:buChar char="•"/>
                <a:tabLst/>
                <a:defRPr/>
              </a:pPr>
              <a:endParaRPr kumimoji="0" lang="ko-KR" altLang="en-US" sz="13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73" name="Line 18">
              <a:extLst>
                <a:ext uri="{FF2B5EF4-FFF2-40B4-BE49-F238E27FC236}">
                  <a16:creationId xmlns:a16="http://schemas.microsoft.com/office/drawing/2014/main" id="{E5823DBA-C363-AB8A-C349-A22FAED22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850" y="5428054"/>
              <a:ext cx="8928100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8000" tIns="18000" rIns="18000" bIns="18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 typeface="맑은 고딕" pitchFamily="50" charset="-127"/>
                <a:buChar char="•"/>
                <a:tabLst/>
                <a:defRPr/>
              </a:pPr>
              <a:endParaRPr kumimoji="0" lang="ko-KR" altLang="en-US" sz="13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74" name="Rectangle 25">
              <a:extLst>
                <a:ext uri="{FF2B5EF4-FFF2-40B4-BE49-F238E27FC236}">
                  <a16:creationId xmlns:a16="http://schemas.microsoft.com/office/drawing/2014/main" id="{CE829877-BEC9-08E5-2BB6-56009E0F1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1975" y="4512066"/>
              <a:ext cx="635000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C848A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C848A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상위조직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C848A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목표설정</a:t>
              </a:r>
            </a:p>
          </p:txBody>
        </p:sp>
        <p:sp>
          <p:nvSpPr>
            <p:cNvPr id="175" name="Rectangle 29">
              <a:extLst>
                <a:ext uri="{FF2B5EF4-FFF2-40B4-BE49-F238E27FC236}">
                  <a16:creationId xmlns:a16="http://schemas.microsoft.com/office/drawing/2014/main" id="{72CD1591-C0A0-4D74-788F-11B0E7C1C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775" y="5721741"/>
              <a:ext cx="633412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목표설정 가이드라인 제공</a:t>
              </a:r>
            </a:p>
          </p:txBody>
        </p:sp>
        <p:cxnSp>
          <p:nvCxnSpPr>
            <p:cNvPr id="176" name="AutoShape 30">
              <a:extLst>
                <a:ext uri="{FF2B5EF4-FFF2-40B4-BE49-F238E27FC236}">
                  <a16:creationId xmlns:a16="http://schemas.microsoft.com/office/drawing/2014/main" id="{8DD3F2BE-CEEE-F62A-BB53-1827763FA66C}"/>
                </a:ext>
              </a:extLst>
            </p:cNvPr>
            <p:cNvCxnSpPr>
              <a:cxnSpLocks noChangeShapeType="1"/>
              <a:stCxn id="210" idx="2"/>
              <a:endCxn id="181" idx="0"/>
            </p:cNvCxnSpPr>
            <p:nvPr/>
          </p:nvCxnSpPr>
          <p:spPr bwMode="auto">
            <a:xfrm>
              <a:off x="2148681" y="2396287"/>
              <a:ext cx="794" cy="3202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177" name="Text Box 31">
              <a:extLst>
                <a:ext uri="{FF2B5EF4-FFF2-40B4-BE49-F238E27FC236}">
                  <a16:creationId xmlns:a16="http://schemas.microsoft.com/office/drawing/2014/main" id="{E3D9551D-1390-6D40-D6A0-F930835DA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8775" y="5721741"/>
              <a:ext cx="13811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79" name="AutoShape 33">
              <a:extLst>
                <a:ext uri="{FF2B5EF4-FFF2-40B4-BE49-F238E27FC236}">
                  <a16:creationId xmlns:a16="http://schemas.microsoft.com/office/drawing/2014/main" id="{A7AB4B6C-91CD-E009-56E2-DCBEE4265634}"/>
                </a:ext>
              </a:extLst>
            </p:cNvPr>
            <p:cNvCxnSpPr>
              <a:cxnSpLocks noChangeShapeType="1"/>
              <a:stCxn id="177" idx="0"/>
              <a:endCxn id="249" idx="1"/>
            </p:cNvCxnSpPr>
            <p:nvPr/>
          </p:nvCxnSpPr>
          <p:spPr bwMode="auto">
            <a:xfrm rot="5400000" flipH="1" flipV="1">
              <a:off x="79766" y="3969532"/>
              <a:ext cx="3370274" cy="134144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80" name="AutoShape 34">
              <a:extLst>
                <a:ext uri="{FF2B5EF4-FFF2-40B4-BE49-F238E27FC236}">
                  <a16:creationId xmlns:a16="http://schemas.microsoft.com/office/drawing/2014/main" id="{4F0A4915-697C-73E0-A4B1-850CA169B439}"/>
                </a:ext>
              </a:extLst>
            </p:cNvPr>
            <p:cNvCxnSpPr>
              <a:cxnSpLocks noChangeShapeType="1"/>
              <a:stCxn id="177" idx="0"/>
              <a:endCxn id="181" idx="1"/>
            </p:cNvCxnSpPr>
            <p:nvPr/>
          </p:nvCxnSpPr>
          <p:spPr bwMode="auto">
            <a:xfrm rot="5400000" flipH="1" flipV="1">
              <a:off x="418262" y="4308028"/>
              <a:ext cx="2693283" cy="134144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181" name="Rectangle 41">
              <a:extLst>
                <a:ext uri="{FF2B5EF4-FFF2-40B4-BE49-F238E27FC236}">
                  <a16:creationId xmlns:a16="http://schemas.microsoft.com/office/drawing/2014/main" id="{C9C10A3E-3353-0E8E-F902-A5E816D5B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1975" y="2716514"/>
              <a:ext cx="635000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목표공유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Session</a:t>
              </a:r>
            </a:p>
          </p:txBody>
        </p:sp>
        <p:sp>
          <p:nvSpPr>
            <p:cNvPr id="182" name="Rectangle 42">
              <a:extLst>
                <a:ext uri="{FF2B5EF4-FFF2-40B4-BE49-F238E27FC236}">
                  <a16:creationId xmlns:a16="http://schemas.microsoft.com/office/drawing/2014/main" id="{1D093945-02FC-1940-D5BB-D6B0F8C9A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8425" y="2716514"/>
              <a:ext cx="633412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목표설정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결과 검토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및 승인</a:t>
              </a:r>
            </a:p>
          </p:txBody>
        </p:sp>
        <p:sp>
          <p:nvSpPr>
            <p:cNvPr id="183" name="Rectangle 46">
              <a:extLst>
                <a:ext uri="{FF2B5EF4-FFF2-40B4-BE49-F238E27FC236}">
                  <a16:creationId xmlns:a16="http://schemas.microsoft.com/office/drawing/2014/main" id="{2F326EB7-B14A-2D51-E2D8-C97326951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675" y="5721741"/>
              <a:ext cx="633412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목표설정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활동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모니터링</a:t>
              </a:r>
            </a:p>
          </p:txBody>
        </p:sp>
        <p:cxnSp>
          <p:nvCxnSpPr>
            <p:cNvPr id="184" name="AutoShape 47">
              <a:extLst>
                <a:ext uri="{FF2B5EF4-FFF2-40B4-BE49-F238E27FC236}">
                  <a16:creationId xmlns:a16="http://schemas.microsoft.com/office/drawing/2014/main" id="{B30BAFA3-ADF4-8CBF-0BAB-72BF5714729C}"/>
                </a:ext>
              </a:extLst>
            </p:cNvPr>
            <p:cNvCxnSpPr>
              <a:cxnSpLocks noChangeShapeType="1"/>
              <a:stCxn id="182" idx="3"/>
              <a:endCxn id="185" idx="0"/>
            </p:cNvCxnSpPr>
            <p:nvPr/>
          </p:nvCxnSpPr>
          <p:spPr bwMode="auto">
            <a:xfrm>
              <a:off x="3271837" y="3028458"/>
              <a:ext cx="153194" cy="2693283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185" name="Text Box 48">
              <a:extLst>
                <a:ext uri="{FF2B5EF4-FFF2-40B4-BE49-F238E27FC236}">
                  <a16:creationId xmlns:a16="http://schemas.microsoft.com/office/drawing/2014/main" id="{32304853-FAA3-31E7-F140-37031DEDF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5975" y="5721741"/>
              <a:ext cx="13811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86" name="Rectangle 49">
              <a:extLst>
                <a:ext uri="{FF2B5EF4-FFF2-40B4-BE49-F238E27FC236}">
                  <a16:creationId xmlns:a16="http://schemas.microsoft.com/office/drawing/2014/main" id="{CC8EE2DD-3E3A-F7ED-EA0A-A033E8486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2" y="5721741"/>
              <a:ext cx="633413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중간점검 가이드라인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제공</a:t>
              </a:r>
            </a:p>
          </p:txBody>
        </p:sp>
        <p:sp>
          <p:nvSpPr>
            <p:cNvPr id="187" name="Rectangle 50">
              <a:extLst>
                <a:ext uri="{FF2B5EF4-FFF2-40B4-BE49-F238E27FC236}">
                  <a16:creationId xmlns:a16="http://schemas.microsoft.com/office/drawing/2014/main" id="{729DF494-2A94-96F3-4273-C89EFA4B2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5721741"/>
              <a:ext cx="635000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중간점검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활동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모니터링</a:t>
              </a:r>
            </a:p>
          </p:txBody>
        </p:sp>
        <p:sp>
          <p:nvSpPr>
            <p:cNvPr id="188" name="Rectangle 52">
              <a:extLst>
                <a:ext uri="{FF2B5EF4-FFF2-40B4-BE49-F238E27FC236}">
                  <a16:creationId xmlns:a16="http://schemas.microsoft.com/office/drawing/2014/main" id="{89029AF6-A64A-DC3C-875B-D48C228E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25" y="2716514"/>
              <a:ext cx="635000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중간점검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결과 정리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및 피드백</a:t>
              </a:r>
            </a:p>
          </p:txBody>
        </p:sp>
        <p:sp>
          <p:nvSpPr>
            <p:cNvPr id="189" name="Rectangle 54">
              <a:extLst>
                <a:ext uri="{FF2B5EF4-FFF2-40B4-BE49-F238E27FC236}">
                  <a16:creationId xmlns:a16="http://schemas.microsoft.com/office/drawing/2014/main" id="{1DC408C6-36AE-E07E-5D95-D3FC1A57E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262" y="2716514"/>
              <a:ext cx="633413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중간점검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Session</a:t>
              </a:r>
            </a:p>
          </p:txBody>
        </p:sp>
        <p:sp>
          <p:nvSpPr>
            <p:cNvPr id="190" name="Text Box 55">
              <a:extLst>
                <a:ext uri="{FF2B5EF4-FFF2-40B4-BE49-F238E27FC236}">
                  <a16:creationId xmlns:a16="http://schemas.microsoft.com/office/drawing/2014/main" id="{1A2511B1-88CA-6369-4A71-4A3017FBD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5062" y="5721741"/>
              <a:ext cx="136525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91" name="AutoShape 62">
              <a:extLst>
                <a:ext uri="{FF2B5EF4-FFF2-40B4-BE49-F238E27FC236}">
                  <a16:creationId xmlns:a16="http://schemas.microsoft.com/office/drawing/2014/main" id="{7F74FA39-8A08-AF75-AAC7-C3223FC0EEDB}"/>
                </a:ext>
              </a:extLst>
            </p:cNvPr>
            <p:cNvCxnSpPr>
              <a:cxnSpLocks noChangeShapeType="1"/>
              <a:stCxn id="190" idx="0"/>
              <a:endCxn id="189" idx="1"/>
            </p:cNvCxnSpPr>
            <p:nvPr/>
          </p:nvCxnSpPr>
          <p:spPr bwMode="auto">
            <a:xfrm rot="5400000" flipH="1" flipV="1">
              <a:off x="2464152" y="4307632"/>
              <a:ext cx="2693283" cy="134937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92" name="AutoShape 68">
              <a:extLst>
                <a:ext uri="{FF2B5EF4-FFF2-40B4-BE49-F238E27FC236}">
                  <a16:creationId xmlns:a16="http://schemas.microsoft.com/office/drawing/2014/main" id="{BCD32FCD-5DA9-8C3B-77F4-BD300D5AD2FA}"/>
                </a:ext>
              </a:extLst>
            </p:cNvPr>
            <p:cNvCxnSpPr>
              <a:cxnSpLocks noChangeShapeType="1"/>
              <a:stCxn id="188" idx="3"/>
              <a:endCxn id="205" idx="0"/>
            </p:cNvCxnSpPr>
            <p:nvPr/>
          </p:nvCxnSpPr>
          <p:spPr bwMode="auto">
            <a:xfrm>
              <a:off x="5318125" y="3028458"/>
              <a:ext cx="153194" cy="2693283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193" name="Rectangle 77">
              <a:extLst>
                <a:ext uri="{FF2B5EF4-FFF2-40B4-BE49-F238E27FC236}">
                  <a16:creationId xmlns:a16="http://schemas.microsoft.com/office/drawing/2014/main" id="{F53FD4FF-9F16-A116-7CDC-9FCE5462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0837" y="3444875"/>
              <a:ext cx="1439863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피드백 준비</a:t>
              </a:r>
            </a:p>
          </p:txBody>
        </p:sp>
        <p:sp>
          <p:nvSpPr>
            <p:cNvPr id="194" name="Rectangle 79">
              <a:extLst>
                <a:ext uri="{FF2B5EF4-FFF2-40B4-BE49-F238E27FC236}">
                  <a16:creationId xmlns:a16="http://schemas.microsoft.com/office/drawing/2014/main" id="{F6552D95-4694-3766-D645-0F5CA45F5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1375" y="2716514"/>
              <a:ext cx="633412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실적공유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Session</a:t>
              </a:r>
            </a:p>
          </p:txBody>
        </p:sp>
        <p:sp>
          <p:nvSpPr>
            <p:cNvPr id="195" name="Rectangle 80">
              <a:extLst>
                <a:ext uri="{FF2B5EF4-FFF2-40B4-BE49-F238E27FC236}">
                  <a16:creationId xmlns:a16="http://schemas.microsoft.com/office/drawing/2014/main" id="{22F52028-15F0-3568-2B4C-AEC7DBC3C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7825" y="3907229"/>
              <a:ext cx="633412" cy="623887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Session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상대평가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  <p:sp>
          <p:nvSpPr>
            <p:cNvPr id="196" name="Rectangle 81">
              <a:extLst>
                <a:ext uri="{FF2B5EF4-FFF2-40B4-BE49-F238E27FC236}">
                  <a16:creationId xmlns:a16="http://schemas.microsoft.com/office/drawing/2014/main" id="{DFC1A028-CB08-7A72-735B-725802A5F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7" y="5721741"/>
              <a:ext cx="633413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가이드라인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제공</a:t>
              </a:r>
            </a:p>
          </p:txBody>
        </p:sp>
        <p:sp>
          <p:nvSpPr>
            <p:cNvPr id="197" name="Rectangle 82">
              <a:extLst>
                <a:ext uri="{FF2B5EF4-FFF2-40B4-BE49-F238E27FC236}">
                  <a16:creationId xmlns:a16="http://schemas.microsoft.com/office/drawing/2014/main" id="{36509A25-8588-8EF1-7E82-575F8505B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8487" y="5721741"/>
              <a:ext cx="633413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평가활동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및 결과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모니터링</a:t>
              </a:r>
            </a:p>
          </p:txBody>
        </p:sp>
        <p:sp>
          <p:nvSpPr>
            <p:cNvPr id="198" name="Text Box 84">
              <a:extLst>
                <a:ext uri="{FF2B5EF4-FFF2-40B4-BE49-F238E27FC236}">
                  <a16:creationId xmlns:a16="http://schemas.microsoft.com/office/drawing/2014/main" id="{D42CFF53-D010-63BC-62B2-292F68159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825" y="5721741"/>
              <a:ext cx="13811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199" name="AutoShape 86">
              <a:extLst>
                <a:ext uri="{FF2B5EF4-FFF2-40B4-BE49-F238E27FC236}">
                  <a16:creationId xmlns:a16="http://schemas.microsoft.com/office/drawing/2014/main" id="{BFC4A929-DD3F-F3A8-DD91-C4D3A289B732}"/>
                </a:ext>
              </a:extLst>
            </p:cNvPr>
            <p:cNvCxnSpPr>
              <a:cxnSpLocks noChangeShapeType="1"/>
              <a:stCxn id="198" idx="0"/>
              <a:endCxn id="194" idx="1"/>
            </p:cNvCxnSpPr>
            <p:nvPr/>
          </p:nvCxnSpPr>
          <p:spPr bwMode="auto">
            <a:xfrm rot="5400000" flipH="1" flipV="1">
              <a:off x="4504487" y="4304853"/>
              <a:ext cx="2693283" cy="140494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00" name="Rectangle 118">
              <a:extLst>
                <a:ext uri="{FF2B5EF4-FFF2-40B4-BE49-F238E27FC236}">
                  <a16:creationId xmlns:a16="http://schemas.microsoft.com/office/drawing/2014/main" id="{D5552F86-CBF3-8E37-DEAC-17E7C621F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1975" y="3588711"/>
              <a:ext cx="635000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팀 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목표설정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01" name="AutoShape 119">
              <a:extLst>
                <a:ext uri="{FF2B5EF4-FFF2-40B4-BE49-F238E27FC236}">
                  <a16:creationId xmlns:a16="http://schemas.microsoft.com/office/drawing/2014/main" id="{32752830-7B42-5565-CBF2-44F89A217944}"/>
                </a:ext>
              </a:extLst>
            </p:cNvPr>
            <p:cNvCxnSpPr>
              <a:cxnSpLocks noChangeShapeType="1"/>
              <a:stCxn id="200" idx="0"/>
              <a:endCxn id="181" idx="2"/>
            </p:cNvCxnSpPr>
            <p:nvPr/>
          </p:nvCxnSpPr>
          <p:spPr bwMode="auto">
            <a:xfrm flipV="1">
              <a:off x="2149475" y="3340402"/>
              <a:ext cx="0" cy="24830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02" name="Rectangle 123">
              <a:extLst>
                <a:ext uri="{FF2B5EF4-FFF2-40B4-BE49-F238E27FC236}">
                  <a16:creationId xmlns:a16="http://schemas.microsoft.com/office/drawing/2014/main" id="{14E1A9CA-50EF-EDB7-4BB9-56EEF6954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0837" y="2716514"/>
              <a:ext cx="1439863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피드백 면담 실시</a:t>
              </a:r>
            </a:p>
          </p:txBody>
        </p:sp>
        <p:sp>
          <p:nvSpPr>
            <p:cNvPr id="203" name="Rectangle 126">
              <a:extLst>
                <a:ext uri="{FF2B5EF4-FFF2-40B4-BE49-F238E27FC236}">
                  <a16:creationId xmlns:a16="http://schemas.microsoft.com/office/drawing/2014/main" id="{9672E249-A5CF-C5FE-0DBB-429D4D202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700" y="5721741"/>
              <a:ext cx="633412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피드백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가이드라인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제공</a:t>
              </a:r>
            </a:p>
          </p:txBody>
        </p:sp>
        <p:sp>
          <p:nvSpPr>
            <p:cNvPr id="204" name="Rectangle 127">
              <a:extLst>
                <a:ext uri="{FF2B5EF4-FFF2-40B4-BE49-F238E27FC236}">
                  <a16:creationId xmlns:a16="http://schemas.microsoft.com/office/drawing/2014/main" id="{2B4F18B3-274D-F2BF-1366-2839294E6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0012" y="5721741"/>
              <a:ext cx="635000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피드백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활동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모니터링</a:t>
              </a:r>
            </a:p>
          </p:txBody>
        </p:sp>
        <p:sp>
          <p:nvSpPr>
            <p:cNvPr id="205" name="Text Box 128">
              <a:extLst>
                <a:ext uri="{FF2B5EF4-FFF2-40B4-BE49-F238E27FC236}">
                  <a16:creationId xmlns:a16="http://schemas.microsoft.com/office/drawing/2014/main" id="{3C72607C-C294-E571-4953-32354E2B9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2262" y="5721741"/>
              <a:ext cx="138113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06" name="AutoShape 129">
              <a:extLst>
                <a:ext uri="{FF2B5EF4-FFF2-40B4-BE49-F238E27FC236}">
                  <a16:creationId xmlns:a16="http://schemas.microsoft.com/office/drawing/2014/main" id="{F5EF1618-2B44-8B76-59E0-41BB7BFEF4FD}"/>
                </a:ext>
              </a:extLst>
            </p:cNvPr>
            <p:cNvCxnSpPr>
              <a:cxnSpLocks noChangeShapeType="1"/>
              <a:stCxn id="239" idx="3"/>
              <a:endCxn id="207" idx="0"/>
            </p:cNvCxnSpPr>
            <p:nvPr/>
          </p:nvCxnSpPr>
          <p:spPr bwMode="auto">
            <a:xfrm>
              <a:off x="7361237" y="5060548"/>
              <a:ext cx="151607" cy="661193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07" name="Text Box 130">
              <a:extLst>
                <a:ext uri="{FF2B5EF4-FFF2-40B4-BE49-F238E27FC236}">
                  <a16:creationId xmlns:a16="http://schemas.microsoft.com/office/drawing/2014/main" id="{F5692D6C-7285-596F-3A74-1CC1A1B55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3787" y="5721741"/>
              <a:ext cx="138113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08" name="Text Box 131">
              <a:extLst>
                <a:ext uri="{FF2B5EF4-FFF2-40B4-BE49-F238E27FC236}">
                  <a16:creationId xmlns:a16="http://schemas.microsoft.com/office/drawing/2014/main" id="{28FC9F0C-56D7-5BDF-5D8C-A032F21F4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9700" y="5721741"/>
              <a:ext cx="13811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09" name="AutoShape 132">
              <a:extLst>
                <a:ext uri="{FF2B5EF4-FFF2-40B4-BE49-F238E27FC236}">
                  <a16:creationId xmlns:a16="http://schemas.microsoft.com/office/drawing/2014/main" id="{B1FEAFC8-B85F-F471-F436-51A82E29E8B2}"/>
                </a:ext>
              </a:extLst>
            </p:cNvPr>
            <p:cNvCxnSpPr>
              <a:cxnSpLocks noChangeShapeType="1"/>
              <a:stCxn id="208" idx="0"/>
              <a:endCxn id="193" idx="1"/>
            </p:cNvCxnSpPr>
            <p:nvPr/>
          </p:nvCxnSpPr>
          <p:spPr bwMode="auto">
            <a:xfrm rot="5400000" flipH="1" flipV="1">
              <a:off x="6917335" y="4668240"/>
              <a:ext cx="1964922" cy="142081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10" name="Text Box 133">
              <a:extLst>
                <a:ext uri="{FF2B5EF4-FFF2-40B4-BE49-F238E27FC236}">
                  <a16:creationId xmlns:a16="http://schemas.microsoft.com/office/drawing/2014/main" id="{06BB656A-2D1B-6227-B1D7-2E290A6D0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9625" y="2228012"/>
              <a:ext cx="13811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11" name="AutoShape 134">
              <a:extLst>
                <a:ext uri="{FF2B5EF4-FFF2-40B4-BE49-F238E27FC236}">
                  <a16:creationId xmlns:a16="http://schemas.microsoft.com/office/drawing/2014/main" id="{903ED9C2-006D-9BFC-960F-EFC9B843314D}"/>
                </a:ext>
              </a:extLst>
            </p:cNvPr>
            <p:cNvCxnSpPr>
              <a:cxnSpLocks noChangeShapeType="1"/>
              <a:stCxn id="182" idx="0"/>
              <a:endCxn id="212" idx="2"/>
            </p:cNvCxnSpPr>
            <p:nvPr/>
          </p:nvCxnSpPr>
          <p:spPr bwMode="auto">
            <a:xfrm flipV="1">
              <a:off x="2955131" y="2396287"/>
              <a:ext cx="0" cy="3202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12" name="Text Box 135">
              <a:extLst>
                <a:ext uri="{FF2B5EF4-FFF2-40B4-BE49-F238E27FC236}">
                  <a16:creationId xmlns:a16="http://schemas.microsoft.com/office/drawing/2014/main" id="{47B9F8AA-6017-49D1-62D0-B4D1BFC21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075" y="2228012"/>
              <a:ext cx="13811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13" name="AutoShape 136">
              <a:extLst>
                <a:ext uri="{FF2B5EF4-FFF2-40B4-BE49-F238E27FC236}">
                  <a16:creationId xmlns:a16="http://schemas.microsoft.com/office/drawing/2014/main" id="{2FF2CB04-B307-5FF4-01B0-80514E9D08DD}"/>
                </a:ext>
              </a:extLst>
            </p:cNvPr>
            <p:cNvCxnSpPr>
              <a:cxnSpLocks noChangeShapeType="1"/>
              <a:stCxn id="200" idx="2"/>
              <a:endCxn id="174" idx="0"/>
            </p:cNvCxnSpPr>
            <p:nvPr/>
          </p:nvCxnSpPr>
          <p:spPr bwMode="auto">
            <a:xfrm>
              <a:off x="2149475" y="4212599"/>
              <a:ext cx="0" cy="299467"/>
            </a:xfrm>
            <a:prstGeom prst="straightConnector1">
              <a:avLst/>
            </a:prstGeom>
            <a:noFill/>
            <a:ln w="9525">
              <a:solidFill>
                <a:srgbClr val="7C848A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14" name="Rectangle 140">
              <a:extLst>
                <a:ext uri="{FF2B5EF4-FFF2-40B4-BE49-F238E27FC236}">
                  <a16:creationId xmlns:a16="http://schemas.microsoft.com/office/drawing/2014/main" id="{D0F97C12-9B96-E790-A03B-F1C34AE74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837" y="4512066"/>
              <a:ext cx="635000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C848A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C848A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목표설정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C848A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결과 검토</a:t>
              </a:r>
            </a:p>
          </p:txBody>
        </p:sp>
        <p:cxnSp>
          <p:nvCxnSpPr>
            <p:cNvPr id="215" name="AutoShape 141">
              <a:extLst>
                <a:ext uri="{FF2B5EF4-FFF2-40B4-BE49-F238E27FC236}">
                  <a16:creationId xmlns:a16="http://schemas.microsoft.com/office/drawing/2014/main" id="{C1E281CB-8DB2-0C08-BE6A-015CD43EE0BF}"/>
                </a:ext>
              </a:extLst>
            </p:cNvPr>
            <p:cNvCxnSpPr>
              <a:cxnSpLocks noChangeShapeType="1"/>
              <a:stCxn id="214" idx="0"/>
              <a:endCxn id="182" idx="2"/>
            </p:cNvCxnSpPr>
            <p:nvPr/>
          </p:nvCxnSpPr>
          <p:spPr bwMode="auto">
            <a:xfrm rot="5400000" flipH="1" flipV="1">
              <a:off x="2368902" y="3925837"/>
              <a:ext cx="1171664" cy="794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7C848A"/>
              </a:solidFill>
              <a:prstDash val="dash"/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216" name="AutoShape 142">
              <a:extLst>
                <a:ext uri="{FF2B5EF4-FFF2-40B4-BE49-F238E27FC236}">
                  <a16:creationId xmlns:a16="http://schemas.microsoft.com/office/drawing/2014/main" id="{050A9982-FB51-B4CD-56AB-B2A1A62E22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271837" y="2259437"/>
              <a:ext cx="60642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217" name="AutoShape 143">
              <a:extLst>
                <a:ext uri="{FF2B5EF4-FFF2-40B4-BE49-F238E27FC236}">
                  <a16:creationId xmlns:a16="http://schemas.microsoft.com/office/drawing/2014/main" id="{4548FDDB-83D5-C82B-4FA4-B4132F7FE1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5318125" y="2259437"/>
              <a:ext cx="60325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grpSp>
          <p:nvGrpSpPr>
            <p:cNvPr id="218" name="Group 58">
              <a:extLst>
                <a:ext uri="{FF2B5EF4-FFF2-40B4-BE49-F238E27FC236}">
                  <a16:creationId xmlns:a16="http://schemas.microsoft.com/office/drawing/2014/main" id="{DDFF73AF-088F-AE6A-F222-A8D098D9DE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8262" y="2082833"/>
              <a:ext cx="138113" cy="331788"/>
              <a:chOff x="1541" y="2886"/>
              <a:chExt cx="113" cy="223"/>
            </a:xfrm>
          </p:grpSpPr>
          <p:sp>
            <p:nvSpPr>
              <p:cNvPr id="219" name="Text Box 59">
                <a:extLst>
                  <a:ext uri="{FF2B5EF4-FFF2-40B4-BE49-F238E27FC236}">
                    <a16:creationId xmlns:a16="http://schemas.microsoft.com/office/drawing/2014/main" id="{4D335C93-248A-F3D1-97FE-1EA6E0B3D0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88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20" name="Text Box 60">
                <a:extLst>
                  <a:ext uri="{FF2B5EF4-FFF2-40B4-BE49-F238E27FC236}">
                    <a16:creationId xmlns:a16="http://schemas.microsoft.com/office/drawing/2014/main" id="{B774BE3B-72CF-F3F0-DF7E-B6B55B5D1E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99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grpSp>
          <p:nvGrpSpPr>
            <p:cNvPr id="221" name="Group 145">
              <a:extLst>
                <a:ext uri="{FF2B5EF4-FFF2-40B4-BE49-F238E27FC236}">
                  <a16:creationId xmlns:a16="http://schemas.microsoft.com/office/drawing/2014/main" id="{A76E914C-C63C-11E8-2818-D308634B77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21375" y="2082833"/>
              <a:ext cx="138112" cy="331788"/>
              <a:chOff x="1541" y="2886"/>
              <a:chExt cx="113" cy="223"/>
            </a:xfrm>
          </p:grpSpPr>
          <p:sp>
            <p:nvSpPr>
              <p:cNvPr id="222" name="Text Box 146">
                <a:extLst>
                  <a:ext uri="{FF2B5EF4-FFF2-40B4-BE49-F238E27FC236}">
                    <a16:creationId xmlns:a16="http://schemas.microsoft.com/office/drawing/2014/main" id="{64F22906-A5DE-986A-DA65-D391ED3F77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88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23" name="Text Box 147">
                <a:extLst>
                  <a:ext uri="{FF2B5EF4-FFF2-40B4-BE49-F238E27FC236}">
                    <a16:creationId xmlns:a16="http://schemas.microsoft.com/office/drawing/2014/main" id="{D0E9005D-A049-1B01-05E5-9606498DAE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99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grpSp>
          <p:nvGrpSpPr>
            <p:cNvPr id="224" name="Group 148">
              <a:extLst>
                <a:ext uri="{FF2B5EF4-FFF2-40B4-BE49-F238E27FC236}">
                  <a16:creationId xmlns:a16="http://schemas.microsoft.com/office/drawing/2014/main" id="{0E348AD2-C54C-5E9F-06AD-F88EDE6754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3725" y="2082833"/>
              <a:ext cx="138112" cy="331788"/>
              <a:chOff x="1541" y="2886"/>
              <a:chExt cx="113" cy="223"/>
            </a:xfrm>
          </p:grpSpPr>
          <p:sp>
            <p:nvSpPr>
              <p:cNvPr id="225" name="Text Box 149">
                <a:extLst>
                  <a:ext uri="{FF2B5EF4-FFF2-40B4-BE49-F238E27FC236}">
                    <a16:creationId xmlns:a16="http://schemas.microsoft.com/office/drawing/2014/main" id="{46E89048-1318-E7A0-50C1-90EE09507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88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26" name="Text Box 150">
                <a:extLst>
                  <a:ext uri="{FF2B5EF4-FFF2-40B4-BE49-F238E27FC236}">
                    <a16:creationId xmlns:a16="http://schemas.microsoft.com/office/drawing/2014/main" id="{876A6BF8-99E9-5A63-AB5F-E1951BD0C8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99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grpSp>
          <p:nvGrpSpPr>
            <p:cNvPr id="227" name="Group 151">
              <a:extLst>
                <a:ext uri="{FF2B5EF4-FFF2-40B4-BE49-F238E27FC236}">
                  <a16:creationId xmlns:a16="http://schemas.microsoft.com/office/drawing/2014/main" id="{1943BDD0-3262-7536-BB12-E79C74F3DC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0012" y="2082833"/>
              <a:ext cx="138113" cy="331788"/>
              <a:chOff x="1541" y="2886"/>
              <a:chExt cx="113" cy="223"/>
            </a:xfrm>
          </p:grpSpPr>
          <p:sp>
            <p:nvSpPr>
              <p:cNvPr id="228" name="Text Box 152">
                <a:extLst>
                  <a:ext uri="{FF2B5EF4-FFF2-40B4-BE49-F238E27FC236}">
                    <a16:creationId xmlns:a16="http://schemas.microsoft.com/office/drawing/2014/main" id="{636F93C4-4273-CD5C-EC66-35A08775E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88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29" name="Text Box 153">
                <a:extLst>
                  <a:ext uri="{FF2B5EF4-FFF2-40B4-BE49-F238E27FC236}">
                    <a16:creationId xmlns:a16="http://schemas.microsoft.com/office/drawing/2014/main" id="{C95B8268-20B1-E43A-6C16-2D2B1F59B0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99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230" name="AutoShape 154">
              <a:extLst>
                <a:ext uri="{FF2B5EF4-FFF2-40B4-BE49-F238E27FC236}">
                  <a16:creationId xmlns:a16="http://schemas.microsoft.com/office/drawing/2014/main" id="{100C16CE-A8E7-A60E-47F5-BDA1A1A8937B}"/>
                </a:ext>
              </a:extLst>
            </p:cNvPr>
            <p:cNvCxnSpPr>
              <a:cxnSpLocks noChangeShapeType="1"/>
              <a:stCxn id="190" idx="0"/>
              <a:endCxn id="220" idx="1"/>
            </p:cNvCxnSpPr>
            <p:nvPr/>
          </p:nvCxnSpPr>
          <p:spPr bwMode="auto">
            <a:xfrm rot="5400000" flipH="1" flipV="1">
              <a:off x="2115202" y="3958682"/>
              <a:ext cx="3391183" cy="134937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231" name="AutoShape 155">
              <a:extLst>
                <a:ext uri="{FF2B5EF4-FFF2-40B4-BE49-F238E27FC236}">
                  <a16:creationId xmlns:a16="http://schemas.microsoft.com/office/drawing/2014/main" id="{33A89A06-D270-F5C3-717D-7D70DDCA7415}"/>
                </a:ext>
              </a:extLst>
            </p:cNvPr>
            <p:cNvCxnSpPr>
              <a:cxnSpLocks noChangeShapeType="1"/>
              <a:stCxn id="198" idx="0"/>
              <a:endCxn id="223" idx="1"/>
            </p:cNvCxnSpPr>
            <p:nvPr/>
          </p:nvCxnSpPr>
          <p:spPr bwMode="auto">
            <a:xfrm rot="5400000" flipH="1" flipV="1">
              <a:off x="4155537" y="3955903"/>
              <a:ext cx="3391183" cy="140494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232" name="AutoShape 156">
              <a:extLst>
                <a:ext uri="{FF2B5EF4-FFF2-40B4-BE49-F238E27FC236}">
                  <a16:creationId xmlns:a16="http://schemas.microsoft.com/office/drawing/2014/main" id="{7BA0ED01-1CB3-18D7-CBCB-59211F890828}"/>
                </a:ext>
              </a:extLst>
            </p:cNvPr>
            <p:cNvCxnSpPr>
              <a:cxnSpLocks noChangeShapeType="1"/>
              <a:stCxn id="189" idx="0"/>
              <a:endCxn id="233" idx="2"/>
            </p:cNvCxnSpPr>
            <p:nvPr/>
          </p:nvCxnSpPr>
          <p:spPr bwMode="auto">
            <a:xfrm flipV="1">
              <a:off x="4194969" y="2396287"/>
              <a:ext cx="0" cy="3202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33" name="Text Box 157">
              <a:extLst>
                <a:ext uri="{FF2B5EF4-FFF2-40B4-BE49-F238E27FC236}">
                  <a16:creationId xmlns:a16="http://schemas.microsoft.com/office/drawing/2014/main" id="{B041C648-9DE9-9A71-047E-BB732A1AD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5912" y="2228012"/>
              <a:ext cx="138113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34" name="AutoShape 158">
              <a:extLst>
                <a:ext uri="{FF2B5EF4-FFF2-40B4-BE49-F238E27FC236}">
                  <a16:creationId xmlns:a16="http://schemas.microsoft.com/office/drawing/2014/main" id="{82EF8DDD-0324-158C-3F41-2A07D4DEAF49}"/>
                </a:ext>
              </a:extLst>
            </p:cNvPr>
            <p:cNvCxnSpPr>
              <a:cxnSpLocks noChangeShapeType="1"/>
              <a:stCxn id="188" idx="1"/>
              <a:endCxn id="189" idx="3"/>
            </p:cNvCxnSpPr>
            <p:nvPr/>
          </p:nvCxnSpPr>
          <p:spPr bwMode="auto">
            <a:xfrm flipH="1">
              <a:off x="4511675" y="3028458"/>
              <a:ext cx="17145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35" name="Rectangle 159">
              <a:extLst>
                <a:ext uri="{FF2B5EF4-FFF2-40B4-BE49-F238E27FC236}">
                  <a16:creationId xmlns:a16="http://schemas.microsoft.com/office/drawing/2014/main" id="{971655AD-8ADA-B6B6-4A97-25A6985CE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25" y="4512066"/>
              <a:ext cx="635000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C848A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C848A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중간점검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C848A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결과 검토</a:t>
              </a:r>
            </a:p>
          </p:txBody>
        </p:sp>
        <p:cxnSp>
          <p:nvCxnSpPr>
            <p:cNvPr id="236" name="AutoShape 160">
              <a:extLst>
                <a:ext uri="{FF2B5EF4-FFF2-40B4-BE49-F238E27FC236}">
                  <a16:creationId xmlns:a16="http://schemas.microsoft.com/office/drawing/2014/main" id="{AD6F32DD-0F92-F52E-DB3D-A2A8DA6E4944}"/>
                </a:ext>
              </a:extLst>
            </p:cNvPr>
            <p:cNvCxnSpPr>
              <a:cxnSpLocks noChangeShapeType="1"/>
              <a:stCxn id="235" idx="0"/>
              <a:endCxn id="188" idx="2"/>
            </p:cNvCxnSpPr>
            <p:nvPr/>
          </p:nvCxnSpPr>
          <p:spPr bwMode="auto">
            <a:xfrm flipV="1">
              <a:off x="5000625" y="3340402"/>
              <a:ext cx="0" cy="1171664"/>
            </a:xfrm>
            <a:prstGeom prst="straightConnector1">
              <a:avLst/>
            </a:prstGeom>
            <a:noFill/>
            <a:ln w="9525">
              <a:solidFill>
                <a:srgbClr val="7C848A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237" name="AutoShape 161">
              <a:extLst>
                <a:ext uri="{FF2B5EF4-FFF2-40B4-BE49-F238E27FC236}">
                  <a16:creationId xmlns:a16="http://schemas.microsoft.com/office/drawing/2014/main" id="{D8B981B9-7662-140B-F3E8-E85519F871F7}"/>
                </a:ext>
              </a:extLst>
            </p:cNvPr>
            <p:cNvCxnSpPr>
              <a:cxnSpLocks noChangeShapeType="1"/>
              <a:stCxn id="250" idx="0"/>
              <a:endCxn id="194" idx="2"/>
            </p:cNvCxnSpPr>
            <p:nvPr/>
          </p:nvCxnSpPr>
          <p:spPr bwMode="auto">
            <a:xfrm flipV="1">
              <a:off x="6238081" y="3340402"/>
              <a:ext cx="0" cy="1044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238" name="AutoShape 162">
              <a:extLst>
                <a:ext uri="{FF2B5EF4-FFF2-40B4-BE49-F238E27FC236}">
                  <a16:creationId xmlns:a16="http://schemas.microsoft.com/office/drawing/2014/main" id="{ABE71F24-4E6A-3C05-31AA-7941F44F2233}"/>
                </a:ext>
              </a:extLst>
            </p:cNvPr>
            <p:cNvCxnSpPr>
              <a:cxnSpLocks noChangeShapeType="1"/>
              <a:stCxn id="195" idx="0"/>
              <a:endCxn id="242" idx="3"/>
            </p:cNvCxnSpPr>
            <p:nvPr/>
          </p:nvCxnSpPr>
          <p:spPr bwMode="auto">
            <a:xfrm rot="16200000" flipV="1">
              <a:off x="6688676" y="3551374"/>
              <a:ext cx="221967" cy="489744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88B27CE2-902C-D727-F99F-4EFBE7D93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7825" y="4748604"/>
              <a:ext cx="633412" cy="623887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평가등급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조정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확정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40" name="AutoShape 164">
              <a:extLst>
                <a:ext uri="{FF2B5EF4-FFF2-40B4-BE49-F238E27FC236}">
                  <a16:creationId xmlns:a16="http://schemas.microsoft.com/office/drawing/2014/main" id="{1E345D37-AAC2-A3B5-41C3-1424BC89C5BC}"/>
                </a:ext>
              </a:extLst>
            </p:cNvPr>
            <p:cNvCxnSpPr>
              <a:cxnSpLocks noChangeShapeType="1"/>
              <a:stCxn id="239" idx="0"/>
              <a:endCxn id="195" idx="2"/>
            </p:cNvCxnSpPr>
            <p:nvPr/>
          </p:nvCxnSpPr>
          <p:spPr bwMode="auto">
            <a:xfrm rot="16200000">
              <a:off x="6936581" y="4639860"/>
              <a:ext cx="21748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grpSp>
          <p:nvGrpSpPr>
            <p:cNvPr id="241" name="Group 165">
              <a:extLst>
                <a:ext uri="{FF2B5EF4-FFF2-40B4-BE49-F238E27FC236}">
                  <a16:creationId xmlns:a16="http://schemas.microsoft.com/office/drawing/2014/main" id="{3B23A755-E332-5B68-104E-A48A9BDB86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6675" y="3601199"/>
              <a:ext cx="138112" cy="331788"/>
              <a:chOff x="1541" y="2886"/>
              <a:chExt cx="113" cy="223"/>
            </a:xfrm>
          </p:grpSpPr>
          <p:sp>
            <p:nvSpPr>
              <p:cNvPr id="242" name="Text Box 166">
                <a:extLst>
                  <a:ext uri="{FF2B5EF4-FFF2-40B4-BE49-F238E27FC236}">
                    <a16:creationId xmlns:a16="http://schemas.microsoft.com/office/drawing/2014/main" id="{92D286A1-318F-4CBB-8BA9-DD057656F8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88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43" name="Text Box 167">
                <a:extLst>
                  <a:ext uri="{FF2B5EF4-FFF2-40B4-BE49-F238E27FC236}">
                    <a16:creationId xmlns:a16="http://schemas.microsoft.com/office/drawing/2014/main" id="{DBA6A2F5-FEFF-4841-A716-67BDF6F9FB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1" y="2996"/>
                <a:ext cx="113" cy="113"/>
              </a:xfrm>
              <a:prstGeom prst="rect">
                <a:avLst/>
              </a:prstGeom>
              <a:solidFill>
                <a:srgbClr val="BAD1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eaLnBrk="0" hangingPunct="0">
                  <a:spcBef>
                    <a:spcPct val="60000"/>
                  </a:spcBef>
                  <a:defRPr sz="1600" b="1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­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맑은 고딕" pitchFamily="50" charset="-127"/>
                  <a:buChar char="-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endParaRPr kumimoji="0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244" name="AutoShape 168">
              <a:extLst>
                <a:ext uri="{FF2B5EF4-FFF2-40B4-BE49-F238E27FC236}">
                  <a16:creationId xmlns:a16="http://schemas.microsoft.com/office/drawing/2014/main" id="{79B3E830-9A27-30DD-E9A2-63D179A4F6AD}"/>
                </a:ext>
              </a:extLst>
            </p:cNvPr>
            <p:cNvCxnSpPr>
              <a:cxnSpLocks noChangeShapeType="1"/>
              <a:stCxn id="202" idx="2"/>
              <a:endCxn id="193" idx="0"/>
            </p:cNvCxnSpPr>
            <p:nvPr/>
          </p:nvCxnSpPr>
          <p:spPr bwMode="auto">
            <a:xfrm>
              <a:off x="8690769" y="3340402"/>
              <a:ext cx="0" cy="1044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245" name="AutoShape 170">
              <a:extLst>
                <a:ext uri="{FF2B5EF4-FFF2-40B4-BE49-F238E27FC236}">
                  <a16:creationId xmlns:a16="http://schemas.microsoft.com/office/drawing/2014/main" id="{921B6B51-CC80-9186-4374-BC327D41AABA}"/>
                </a:ext>
              </a:extLst>
            </p:cNvPr>
            <p:cNvCxnSpPr>
              <a:cxnSpLocks noChangeShapeType="1"/>
              <a:stCxn id="202" idx="3"/>
              <a:endCxn id="246" idx="0"/>
            </p:cNvCxnSpPr>
            <p:nvPr/>
          </p:nvCxnSpPr>
          <p:spPr bwMode="auto">
            <a:xfrm>
              <a:off x="9410700" y="3028458"/>
              <a:ext cx="145256" cy="2693283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46" name="Text Box 171">
              <a:extLst>
                <a:ext uri="{FF2B5EF4-FFF2-40B4-BE49-F238E27FC236}">
                  <a16:creationId xmlns:a16="http://schemas.microsoft.com/office/drawing/2014/main" id="{6E556025-5E77-59FF-2C1B-CFB2D6932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86900" y="5721741"/>
              <a:ext cx="13811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247" name="AutoShape 173">
              <a:extLst>
                <a:ext uri="{FF2B5EF4-FFF2-40B4-BE49-F238E27FC236}">
                  <a16:creationId xmlns:a16="http://schemas.microsoft.com/office/drawing/2014/main" id="{31659FAA-E23C-5583-B41C-C6A38F5884F9}"/>
                </a:ext>
              </a:extLst>
            </p:cNvPr>
            <p:cNvCxnSpPr>
              <a:cxnSpLocks noChangeShapeType="1"/>
              <a:stCxn id="194" idx="0"/>
              <a:endCxn id="248" idx="2"/>
            </p:cNvCxnSpPr>
            <p:nvPr/>
          </p:nvCxnSpPr>
          <p:spPr bwMode="auto">
            <a:xfrm flipV="1">
              <a:off x="6238081" y="2396287"/>
              <a:ext cx="0" cy="3202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248" name="Text Box 174">
              <a:extLst>
                <a:ext uri="{FF2B5EF4-FFF2-40B4-BE49-F238E27FC236}">
                  <a16:creationId xmlns:a16="http://schemas.microsoft.com/office/drawing/2014/main" id="{870B57F5-24DC-55AD-0E09-94A8C2B57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9025" y="2228012"/>
              <a:ext cx="13811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40404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49" name="Rectangle 28">
              <a:extLst>
                <a:ext uri="{FF2B5EF4-FFF2-40B4-BE49-F238E27FC236}">
                  <a16:creationId xmlns:a16="http://schemas.microsoft.com/office/drawing/2014/main" id="{F548AA63-5B4E-2635-A85F-F20CAB633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1975" y="2039523"/>
              <a:ext cx="1439862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성과목표 및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역량개발계획 수립</a:t>
              </a:r>
            </a:p>
          </p:txBody>
        </p:sp>
        <p:sp>
          <p:nvSpPr>
            <p:cNvPr id="250" name="Rectangle 78">
              <a:extLst>
                <a:ext uri="{FF2B5EF4-FFF2-40B4-BE49-F238E27FC236}">
                  <a16:creationId xmlns:a16="http://schemas.microsoft.com/office/drawing/2014/main" id="{97023469-E016-AC85-5283-36FD35955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1375" y="3444875"/>
              <a:ext cx="633412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18000" rIns="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성과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역량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평가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절대평가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  <p:sp>
          <p:nvSpPr>
            <p:cNvPr id="251" name="Rectangle 120">
              <a:extLst>
                <a:ext uri="{FF2B5EF4-FFF2-40B4-BE49-F238E27FC236}">
                  <a16:creationId xmlns:a16="http://schemas.microsoft.com/office/drawing/2014/main" id="{23B961D3-CDB0-E704-2C6E-291667A9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262" y="2039523"/>
              <a:ext cx="1439863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성과목표 및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역량개발 추진실적 정리</a:t>
              </a:r>
            </a:p>
          </p:txBody>
        </p:sp>
        <p:sp>
          <p:nvSpPr>
            <p:cNvPr id="252" name="Rectangle 121">
              <a:extLst>
                <a:ext uri="{FF2B5EF4-FFF2-40B4-BE49-F238E27FC236}">
                  <a16:creationId xmlns:a16="http://schemas.microsoft.com/office/drawing/2014/main" id="{560BFEB1-FDA0-7AB6-0042-7DB3708D0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1375" y="2039523"/>
              <a:ext cx="1439862" cy="623888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777777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8000" tIns="18000" rIns="18000" bIns="18000" anchor="ctr"/>
            <a:lstStyle>
              <a:lvl1pPr eaLnBrk="0" hangingPunct="0">
                <a:spcBef>
                  <a:spcPct val="60000"/>
                </a:spcBef>
                <a:defRPr sz="1600" b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­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맑은 고딕" pitchFamily="50" charset="-127"/>
                <a:buChar char="-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성과목표 및 역량항목별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달성수준에 대한</a:t>
              </a:r>
            </a:p>
            <a:p>
              <a:pPr marL="0" marR="0" lvl="0" indent="0" algn="ctr" defTabSz="914400" eaLnBrk="0" fontAlgn="auto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40404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피평가자 의견 작성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31796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90C5146-432E-9C9B-B900-91AE1ADB2C2C}"/>
              </a:ext>
            </a:extLst>
          </p:cNvPr>
          <p:cNvSpPr/>
          <p:nvPr/>
        </p:nvSpPr>
        <p:spPr>
          <a:xfrm>
            <a:off x="273600" y="3859076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/>
              <a:t>현황진단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/>
              <a:t>제도설계</a:t>
            </a:r>
            <a:endParaRPr lang="en-US" altLang="ko-KR" dirty="0"/>
          </a:p>
          <a:p>
            <a:r>
              <a:rPr lang="ko-KR" altLang="en-US" dirty="0">
                <a:solidFill>
                  <a:schemeClr val="bg1"/>
                </a:solidFill>
              </a:rPr>
              <a:t>변화관리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8096438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설계 및 개선된 제도가 성공적으로 실행되기 위해서는 경영진의 적극적인 실행의지와 후원</a:t>
            </a:r>
            <a:r>
              <a:rPr lang="en-US" altLang="ko-KR" dirty="0"/>
              <a:t>, </a:t>
            </a:r>
            <a:r>
              <a:rPr lang="ko-KR" altLang="en-US" dirty="0"/>
              <a:t>구성원들의 적극적인 참여</a:t>
            </a:r>
            <a:r>
              <a:rPr lang="en-US" altLang="ko-KR" dirty="0"/>
              <a:t>, </a:t>
            </a:r>
            <a:r>
              <a:rPr lang="ko-KR" altLang="en-US" dirty="0"/>
              <a:t>실행역량의 강화</a:t>
            </a:r>
            <a:r>
              <a:rPr lang="en-US" altLang="ko-KR" dirty="0"/>
              <a:t>, </a:t>
            </a:r>
            <a:r>
              <a:rPr lang="ko-KR" altLang="en-US" dirty="0" err="1"/>
              <a:t>조직문화로서의</a:t>
            </a:r>
            <a:r>
              <a:rPr lang="ko-KR" altLang="en-US" dirty="0"/>
              <a:t> 내재화와 같은 변화관리의 핵심 요소가 반드시 필요함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Ⅴ. </a:t>
            </a:r>
            <a:r>
              <a:rPr lang="ko-KR" altLang="en-US" dirty="0"/>
              <a:t>변화관리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변화관리 성공요인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7278D8-0F50-E785-8E33-48B63305EA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4E5FD91-CDBA-C854-3CCA-8EC9B685F06A}"/>
              </a:ext>
            </a:extLst>
          </p:cNvPr>
          <p:cNvGrpSpPr/>
          <p:nvPr/>
        </p:nvGrpSpPr>
        <p:grpSpPr>
          <a:xfrm>
            <a:off x="291073" y="1665619"/>
            <a:ext cx="6084000" cy="286727"/>
            <a:chOff x="281217" y="1665619"/>
            <a:chExt cx="5400000" cy="28672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C4116B9-2CA6-7DA0-AC23-D7EDD97335C4}"/>
                </a:ext>
              </a:extLst>
            </p:cNvPr>
            <p:cNvSpPr/>
            <p:nvPr userDrawn="1"/>
          </p:nvSpPr>
          <p:spPr>
            <a:xfrm>
              <a:off x="650244" y="1665619"/>
              <a:ext cx="4661946" cy="229577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588" lvl="1" algn="ctr" defTabSz="712788" latinLnBrk="0">
                <a:lnSpc>
                  <a:spcPct val="110000"/>
                </a:lnSpc>
                <a:spcBef>
                  <a:spcPts val="320"/>
                </a:spcBef>
                <a:defRPr/>
              </a:pPr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</a:rPr>
                <a:t>변화관리 핵심요소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E6646E82-6C65-5646-7382-361F61CBB0D5}"/>
                </a:ext>
              </a:extLst>
            </p:cNvPr>
            <p:cNvCxnSpPr/>
            <p:nvPr userDrawn="1"/>
          </p:nvCxnSpPr>
          <p:spPr>
            <a:xfrm>
              <a:off x="281217" y="1952346"/>
              <a:ext cx="540000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89BDE85-83BA-3255-9544-FCAF7F65936F}"/>
              </a:ext>
            </a:extLst>
          </p:cNvPr>
          <p:cNvGrpSpPr/>
          <p:nvPr/>
        </p:nvGrpSpPr>
        <p:grpSpPr>
          <a:xfrm>
            <a:off x="6897688" y="1618513"/>
            <a:ext cx="2735155" cy="334112"/>
            <a:chOff x="5506408" y="1618513"/>
            <a:chExt cx="4057100" cy="33411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D118D51-6D79-7241-8BF6-52681B988171}"/>
                </a:ext>
              </a:extLst>
            </p:cNvPr>
            <p:cNvSpPr txBox="1"/>
            <p:nvPr/>
          </p:nvSpPr>
          <p:spPr>
            <a:xfrm>
              <a:off x="5909929" y="1618513"/>
              <a:ext cx="3250057" cy="323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88" marR="0" lvl="1" indent="0" algn="ctr" defTabSz="712788" fontAlgn="auto" latinLnBrk="0">
                <a:lnSpc>
                  <a:spcPct val="110000"/>
                </a:lnSpc>
                <a:spcBef>
                  <a:spcPts val="32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</a:rPr>
                <a:t>Key initiatives</a:t>
              </a:r>
              <a:endParaRPr lang="ko-KR" altLang="en-US" sz="1400" dirty="0">
                <a:ln>
                  <a:solidFill>
                    <a:schemeClr val="tx1">
                      <a:alpha val="5000"/>
                    </a:schemeClr>
                  </a:solidFill>
                </a:ln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CCAB3FA2-15A1-2BAB-4B71-0AEC90E978D1}"/>
                </a:ext>
              </a:extLst>
            </p:cNvPr>
            <p:cNvCxnSpPr/>
            <p:nvPr/>
          </p:nvCxnSpPr>
          <p:spPr>
            <a:xfrm>
              <a:off x="5506408" y="1952625"/>
              <a:ext cx="405710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66AEDBE-DF2D-6059-111C-494CDB27C809}"/>
              </a:ext>
            </a:extLst>
          </p:cNvPr>
          <p:cNvSpPr/>
          <p:nvPr/>
        </p:nvSpPr>
        <p:spPr>
          <a:xfrm>
            <a:off x="6900321" y="4223477"/>
            <a:ext cx="2735154" cy="84251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72000" tIns="0" rIns="0" bIns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ahoma" panose="020B0604030504040204" pitchFamily="34" charset="0"/>
              </a:rPr>
              <a:t>Build up Sponsorship</a:t>
            </a:r>
          </a:p>
          <a:p>
            <a:pPr algn="ctr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200" kern="0" dirty="0">
                <a:latin typeface="+mn-ea"/>
              </a:rPr>
              <a:t>제도 이행을 위한 인사담당자 </a:t>
            </a:r>
            <a:r>
              <a:rPr lang="en-US" altLang="ko-KR" sz="1200" kern="0" dirty="0">
                <a:latin typeface="+mn-ea"/>
              </a:rPr>
              <a:t>1:1 </a:t>
            </a:r>
            <a:r>
              <a:rPr lang="ko-KR" altLang="en-US" sz="1200" kern="0" dirty="0">
                <a:latin typeface="+mn-ea"/>
              </a:rPr>
              <a:t>교육실시</a:t>
            </a:r>
            <a:endParaRPr lang="en-US" altLang="ko-KR" sz="1200" kern="0" dirty="0">
              <a:latin typeface="+mn-ea"/>
            </a:endParaRP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F0C99971-CEF8-7595-6CB0-D1C912C48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114" y="4223169"/>
            <a:ext cx="4485420" cy="8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0" anchor="ctr"/>
          <a:lstStyle/>
          <a:p>
            <a:pPr marL="108000" marR="0" lvl="0" indent="-1080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전략을 수행하기 위한 기본 인프라로 구성원 전체가 실행역량을 강화해야 함</a:t>
            </a:r>
          </a:p>
          <a:p>
            <a:pPr marL="108000" marR="0" lvl="0" indent="-1080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전문가를 지향하는 자기개발이 조직문화로 자리잡아야 함 </a:t>
            </a:r>
          </a:p>
        </p:txBody>
      </p:sp>
      <p:sp>
        <p:nvSpPr>
          <p:cNvPr id="33" name="모서리가 둥근 직사각형 4">
            <a:extLst>
              <a:ext uri="{FF2B5EF4-FFF2-40B4-BE49-F238E27FC236}">
                <a16:creationId xmlns:a16="http://schemas.microsoft.com/office/drawing/2014/main" id="{AD53A6BA-A850-E72C-5D8B-8D259AC39B27}"/>
              </a:ext>
            </a:extLst>
          </p:cNvPr>
          <p:cNvSpPr/>
          <p:nvPr/>
        </p:nvSpPr>
        <p:spPr bwMode="auto">
          <a:xfrm>
            <a:off x="293369" y="4223169"/>
            <a:ext cx="1352552" cy="8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300" dirty="0" err="1">
                <a:latin typeface="+mn-ea"/>
              </a:rPr>
              <a:t>실행역량의</a:t>
            </a:r>
            <a:endParaRPr lang="en-US" altLang="ko-KR" sz="1300" dirty="0">
              <a:latin typeface="+mn-ea"/>
            </a:endParaRPr>
          </a:p>
          <a:p>
            <a:pPr algn="ctr"/>
            <a:r>
              <a:rPr lang="ko-KR" altLang="en-US" sz="1300" dirty="0">
                <a:latin typeface="+mn-ea"/>
              </a:rPr>
              <a:t>강화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0EE803-5858-2F28-1FA0-8AF98FD0307B}"/>
              </a:ext>
            </a:extLst>
          </p:cNvPr>
          <p:cNvSpPr/>
          <p:nvPr/>
        </p:nvSpPr>
        <p:spPr>
          <a:xfrm>
            <a:off x="1615180" y="4223169"/>
            <a:ext cx="46323" cy="843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10115E8-6751-D519-3303-01A3DD406892}"/>
              </a:ext>
            </a:extLst>
          </p:cNvPr>
          <p:cNvSpPr/>
          <p:nvPr/>
        </p:nvSpPr>
        <p:spPr>
          <a:xfrm>
            <a:off x="6900321" y="2097396"/>
            <a:ext cx="2735154" cy="84251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72000" tIns="0" rIns="0" bIns="0" anchor="ctr"/>
          <a:lstStyle/>
          <a:p>
            <a:pPr lvl="0" algn="ctr" latinLnBrk="0">
              <a:lnSpc>
                <a:spcPct val="120000"/>
              </a:lnSpc>
              <a:spcAft>
                <a:spcPts val="200"/>
              </a:spcAft>
              <a:defRPr/>
            </a:pPr>
            <a:r>
              <a:rPr lang="en-US" altLang="ko-KR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ahoma" panose="020B0604030504040204" pitchFamily="34" charset="0"/>
              </a:rPr>
              <a:t>Melt the Resistance</a:t>
            </a:r>
            <a:endParaRPr lang="ko-KR" altLang="en-US" sz="1000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ahoma" panose="020B0604030504040204" pitchFamily="34" charset="0"/>
            </a:endParaRPr>
          </a:p>
          <a:p>
            <a:pPr algn="ctr" latinLnBrk="0">
              <a:lnSpc>
                <a:spcPct val="120000"/>
              </a:lnSpc>
              <a:spcAft>
                <a:spcPts val="200"/>
              </a:spcAft>
              <a:defRPr/>
            </a:pPr>
            <a:r>
              <a:rPr lang="ko-KR" altLang="en-US" sz="1200" kern="0" dirty="0">
                <a:latin typeface="+mn-ea"/>
              </a:rPr>
              <a:t>변화관리 </a:t>
            </a:r>
            <a:r>
              <a:rPr lang="ko-KR" altLang="en-US" sz="1200" kern="0" dirty="0" err="1">
                <a:latin typeface="+mn-ea"/>
              </a:rPr>
              <a:t>협업체계</a:t>
            </a:r>
            <a:r>
              <a:rPr lang="ko-KR" altLang="en-US" sz="1200" kern="0" dirty="0">
                <a:latin typeface="+mn-ea"/>
              </a:rPr>
              <a:t> 구축 및 </a:t>
            </a:r>
            <a:r>
              <a:rPr lang="en-US" altLang="ko-KR" sz="1200" kern="0" dirty="0">
                <a:latin typeface="+mn-ea"/>
              </a:rPr>
              <a:t>R&amp;R </a:t>
            </a:r>
            <a:r>
              <a:rPr lang="ko-KR" altLang="en-US" sz="1200" kern="0" dirty="0">
                <a:latin typeface="+mn-ea"/>
              </a:rPr>
              <a:t>정의</a:t>
            </a:r>
            <a:endParaRPr lang="en-US" altLang="ko-KR" sz="1200" kern="0" dirty="0">
              <a:latin typeface="+mn-ea"/>
            </a:endParaRPr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57D35838-087A-D774-3741-0EBD15164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114" y="2097088"/>
            <a:ext cx="4485420" cy="8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0" anchor="ctr"/>
          <a:lstStyle/>
          <a:p>
            <a:pPr marL="108000" marR="0" lvl="0" indent="-1080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최고 경영자의 지속적인 관심과 지원은 성공적인 실행을 위한 필수 요소</a:t>
            </a:r>
          </a:p>
          <a:p>
            <a:pPr marL="108000" marR="0" lvl="0" indent="-1080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주요사안에 대한 신속한 의사결정 및 변화관리 이벤트 실행 지원</a:t>
            </a:r>
          </a:p>
        </p:txBody>
      </p:sp>
      <p:sp>
        <p:nvSpPr>
          <p:cNvPr id="48" name="모서리가 둥근 직사각형 4">
            <a:extLst>
              <a:ext uri="{FF2B5EF4-FFF2-40B4-BE49-F238E27FC236}">
                <a16:creationId xmlns:a16="http://schemas.microsoft.com/office/drawing/2014/main" id="{FACBF458-35CD-BC40-6067-B3AB54203215}"/>
              </a:ext>
            </a:extLst>
          </p:cNvPr>
          <p:cNvSpPr/>
          <p:nvPr/>
        </p:nvSpPr>
        <p:spPr bwMode="auto">
          <a:xfrm>
            <a:off x="293367" y="2097088"/>
            <a:ext cx="1352553" cy="8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300" dirty="0">
                <a:latin typeface="+mn-ea"/>
              </a:rPr>
              <a:t>최고 경영자의</a:t>
            </a:r>
          </a:p>
          <a:p>
            <a:pPr algn="ctr"/>
            <a:r>
              <a:rPr lang="ko-KR" altLang="en-US" sz="1300" dirty="0">
                <a:latin typeface="+mn-ea"/>
              </a:rPr>
              <a:t>적극적인 </a:t>
            </a:r>
          </a:p>
          <a:p>
            <a:pPr algn="ctr"/>
            <a:r>
              <a:rPr lang="ko-KR" altLang="en-US" sz="1300" dirty="0">
                <a:latin typeface="+mn-ea"/>
              </a:rPr>
              <a:t>실행의지와 후원</a:t>
            </a:r>
            <a:endParaRPr lang="en-US" sz="1300" dirty="0">
              <a:latin typeface="+mn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27EFCEB-BEB4-634C-5415-1DD4F926937A}"/>
              </a:ext>
            </a:extLst>
          </p:cNvPr>
          <p:cNvSpPr/>
          <p:nvPr/>
        </p:nvSpPr>
        <p:spPr>
          <a:xfrm>
            <a:off x="1615180" y="2097088"/>
            <a:ext cx="46323" cy="843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0C08F1F-0F15-4F27-E7DD-6BD234FB3E67}"/>
              </a:ext>
            </a:extLst>
          </p:cNvPr>
          <p:cNvGrpSpPr/>
          <p:nvPr/>
        </p:nvGrpSpPr>
        <p:grpSpPr>
          <a:xfrm>
            <a:off x="319550" y="3050171"/>
            <a:ext cx="9266900" cy="2126081"/>
            <a:chOff x="319550" y="3060102"/>
            <a:chExt cx="9266900" cy="2042548"/>
          </a:xfrm>
        </p:grpSpPr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29D23AE8-695E-84EC-4054-9C275324BB6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19550" y="4081376"/>
              <a:ext cx="9266900" cy="0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44280747-4764-A80A-47AF-1A3FB415D15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19550" y="3060102"/>
              <a:ext cx="9266900" cy="0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D6BEAEA8-9387-28CE-5B2D-D12F2E2F367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19550" y="5102650"/>
              <a:ext cx="9266900" cy="0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755B8A5-5B3C-C7D9-AD5E-0AE6C562E35A}"/>
              </a:ext>
            </a:extLst>
          </p:cNvPr>
          <p:cNvSpPr/>
          <p:nvPr/>
        </p:nvSpPr>
        <p:spPr>
          <a:xfrm>
            <a:off x="6900321" y="5286519"/>
            <a:ext cx="2735154" cy="84251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72000" tIns="0" rIns="0" bIns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ahoma" panose="020B0604030504040204" pitchFamily="34" charset="0"/>
              </a:rPr>
              <a:t>Consolidate the Change</a:t>
            </a:r>
            <a:endParaRPr lang="ko-KR" altLang="en-US" sz="1000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ahoma" panose="020B0604030504040204" pitchFamily="34" charset="0"/>
            </a:endParaRPr>
          </a:p>
          <a:p>
            <a:pPr algn="ctr" latinLnBrk="0">
              <a:lnSpc>
                <a:spcPct val="120000"/>
              </a:lnSpc>
              <a:spcAft>
                <a:spcPts val="200"/>
              </a:spcAft>
              <a:defRPr/>
            </a:pPr>
            <a:r>
              <a:rPr lang="ko-KR" altLang="en-US" sz="1200" kern="0" dirty="0">
                <a:latin typeface="+mn-ea"/>
              </a:rPr>
              <a:t>해당 시스템 도입 및 운영의 단계적 보완</a:t>
            </a:r>
            <a:br>
              <a:rPr lang="en-US" altLang="ko-KR" sz="1200" kern="0" dirty="0">
                <a:latin typeface="+mn-ea"/>
              </a:rPr>
            </a:br>
            <a:r>
              <a:rPr lang="ko-KR" altLang="en-US" sz="1200" kern="0" dirty="0">
                <a:latin typeface="+mn-ea"/>
              </a:rPr>
              <a:t>제도 이행과정에 대한 지속적인 모니터링</a:t>
            </a:r>
          </a:p>
        </p:txBody>
      </p:sp>
      <p:sp>
        <p:nvSpPr>
          <p:cNvPr id="55" name="Rectangle 14">
            <a:extLst>
              <a:ext uri="{FF2B5EF4-FFF2-40B4-BE49-F238E27FC236}">
                <a16:creationId xmlns:a16="http://schemas.microsoft.com/office/drawing/2014/main" id="{49FB9A7B-874A-7D5D-73BB-554961739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114" y="5286211"/>
            <a:ext cx="4485420" cy="8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0" anchor="ctr"/>
          <a:lstStyle/>
          <a:p>
            <a:pPr marL="108000" marR="0" lvl="0" indent="-10800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변화와 혁신이 조직문화로 내재화되기 위해서는 최소 </a:t>
            </a:r>
            <a:r>
              <a:rPr kumimoji="0" lang="en-US" altLang="ko-KR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r>
              <a:rPr kumimoji="0" lang="ko-KR" altLang="en-US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년 이상의 지속적인 노력이 요구되므로 조급함보다는 장기적인 시각을 갖고 꾸준히 실행하는 것이 중요함</a:t>
            </a:r>
          </a:p>
        </p:txBody>
      </p:sp>
      <p:sp>
        <p:nvSpPr>
          <p:cNvPr id="56" name="모서리가 둥근 직사각형 4">
            <a:extLst>
              <a:ext uri="{FF2B5EF4-FFF2-40B4-BE49-F238E27FC236}">
                <a16:creationId xmlns:a16="http://schemas.microsoft.com/office/drawing/2014/main" id="{085E429D-99E6-ED08-4451-5065DA314017}"/>
              </a:ext>
            </a:extLst>
          </p:cNvPr>
          <p:cNvSpPr/>
          <p:nvPr/>
        </p:nvSpPr>
        <p:spPr bwMode="auto">
          <a:xfrm>
            <a:off x="293369" y="5286211"/>
            <a:ext cx="1352552" cy="8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300" dirty="0">
                <a:latin typeface="+mn-ea"/>
              </a:rPr>
              <a:t>조직문화로서의</a:t>
            </a:r>
          </a:p>
          <a:p>
            <a:pPr algn="ctr"/>
            <a:r>
              <a:rPr lang="ko-KR" altLang="en-US" sz="1300" dirty="0">
                <a:latin typeface="+mn-ea"/>
              </a:rPr>
              <a:t>내재화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A32B104-C3F4-C866-9356-7E3C818E4F54}"/>
              </a:ext>
            </a:extLst>
          </p:cNvPr>
          <p:cNvSpPr/>
          <p:nvPr/>
        </p:nvSpPr>
        <p:spPr>
          <a:xfrm>
            <a:off x="1615180" y="5286212"/>
            <a:ext cx="46323" cy="843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889294F-D909-12D5-83AC-B30AE1CBC07A}"/>
              </a:ext>
            </a:extLst>
          </p:cNvPr>
          <p:cNvSpPr/>
          <p:nvPr/>
        </p:nvSpPr>
        <p:spPr>
          <a:xfrm>
            <a:off x="6900321" y="3160436"/>
            <a:ext cx="2735154" cy="84251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72000" tIns="0" rIns="0" bIns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lang="en-US" altLang="ko-KR" sz="1000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ahoma" panose="020B0604030504040204" pitchFamily="34" charset="0"/>
              </a:rPr>
              <a:t>Accelerate the Change</a:t>
            </a:r>
            <a:endParaRPr lang="ko-KR" altLang="en-US" sz="1000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ahoma" panose="020B0604030504040204" pitchFamily="34" charset="0"/>
            </a:endParaRPr>
          </a:p>
          <a:p>
            <a:pPr algn="ctr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200" kern="0" dirty="0">
                <a:latin typeface="+mn-ea"/>
              </a:rPr>
              <a:t>변화의 필요성에 대한 공감대 형성을</a:t>
            </a:r>
            <a:br>
              <a:rPr lang="en-US" altLang="ko-KR" sz="1200" kern="0" dirty="0">
                <a:latin typeface="+mn-ea"/>
              </a:rPr>
            </a:br>
            <a:r>
              <a:rPr lang="ko-KR" altLang="en-US" sz="1200" kern="0" dirty="0">
                <a:latin typeface="+mn-ea"/>
              </a:rPr>
              <a:t>위해 워크샵 등의 주기적인 행사 유치</a:t>
            </a:r>
            <a:endParaRPr lang="en-US" altLang="ko-KR" sz="1200" kern="0" dirty="0">
              <a:latin typeface="+mn-ea"/>
            </a:endParaRP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EB3E3757-D565-BF9A-C551-384D135D2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114" y="3160128"/>
            <a:ext cx="4485420" cy="8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0" anchor="ctr"/>
          <a:lstStyle/>
          <a:p>
            <a:pPr marL="108000" marR="0" lvl="0" indent="-10800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구성원들의 변화하고자 하는 의지와 적극적인 참여가  매우 중요함</a:t>
            </a:r>
          </a:p>
          <a:p>
            <a:pPr marL="108000" marR="0" lvl="0" indent="-10800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-50" normalizeH="0" noProof="0" dirty="0"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성공적인 실행을 위해 특별히 현업전문가 등 리더들의 적극적인 참여가 절대적임</a:t>
            </a:r>
          </a:p>
        </p:txBody>
      </p:sp>
      <p:sp>
        <p:nvSpPr>
          <p:cNvPr id="60" name="모서리가 둥근 직사각형 4">
            <a:extLst>
              <a:ext uri="{FF2B5EF4-FFF2-40B4-BE49-F238E27FC236}">
                <a16:creationId xmlns:a16="http://schemas.microsoft.com/office/drawing/2014/main" id="{DE3FCCA4-0006-E755-AF20-34ACCF864DDA}"/>
              </a:ext>
            </a:extLst>
          </p:cNvPr>
          <p:cNvSpPr/>
          <p:nvPr/>
        </p:nvSpPr>
        <p:spPr bwMode="auto">
          <a:xfrm>
            <a:off x="293369" y="3160128"/>
            <a:ext cx="1352552" cy="843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300" dirty="0">
                <a:latin typeface="+mn-ea"/>
              </a:rPr>
              <a:t>구성원들의</a:t>
            </a:r>
          </a:p>
          <a:p>
            <a:pPr algn="ctr"/>
            <a:r>
              <a:rPr lang="ko-KR" altLang="en-US" sz="1300" dirty="0">
                <a:latin typeface="+mn-ea"/>
              </a:rPr>
              <a:t>적극적 참여</a:t>
            </a:r>
            <a:endParaRPr lang="en-US" sz="1300" dirty="0"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F7166C-5916-0AA4-6A62-4890BB7D40F5}"/>
              </a:ext>
            </a:extLst>
          </p:cNvPr>
          <p:cNvSpPr/>
          <p:nvPr/>
        </p:nvSpPr>
        <p:spPr>
          <a:xfrm>
            <a:off x="1615180" y="3160128"/>
            <a:ext cx="46323" cy="843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B7E48720-78BE-227F-9CD4-4428FFE653CB}"/>
              </a:ext>
            </a:extLst>
          </p:cNvPr>
          <p:cNvSpPr/>
          <p:nvPr/>
        </p:nvSpPr>
        <p:spPr>
          <a:xfrm>
            <a:off x="6833982" y="2432577"/>
            <a:ext cx="119008" cy="11900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ysClr val="window" lastClr="FFFFFF"/>
            </a:solidFill>
          </a:ln>
        </p:spPr>
        <p:txBody>
          <a:bodyPr lIns="40116" tIns="40116" rIns="40116" bIns="40116" anchor="ctr"/>
          <a:lstStyle/>
          <a:p>
            <a:pPr latinLnBrk="0"/>
            <a:endParaRPr lang="ko-KR" altLang="en-US" sz="1000" kern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262D9915-0CA0-7D81-73EC-AC638A29075C}"/>
              </a:ext>
            </a:extLst>
          </p:cNvPr>
          <p:cNvSpPr/>
          <p:nvPr/>
        </p:nvSpPr>
        <p:spPr>
          <a:xfrm>
            <a:off x="6833982" y="3495618"/>
            <a:ext cx="119008" cy="11900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ysClr val="window" lastClr="FFFFFF"/>
            </a:solidFill>
          </a:ln>
        </p:spPr>
        <p:txBody>
          <a:bodyPr lIns="40116" tIns="40116" rIns="40116" bIns="40116" anchor="ctr"/>
          <a:lstStyle/>
          <a:p>
            <a:pPr latinLnBrk="0"/>
            <a:endParaRPr lang="ko-KR" altLang="en-US" sz="1000" kern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7ADC2211-7CD2-A94D-A5AD-FEA6CC0B5C2C}"/>
              </a:ext>
            </a:extLst>
          </p:cNvPr>
          <p:cNvSpPr/>
          <p:nvPr/>
        </p:nvSpPr>
        <p:spPr>
          <a:xfrm>
            <a:off x="6833982" y="4558658"/>
            <a:ext cx="119008" cy="11900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ysClr val="window" lastClr="FFFFFF"/>
            </a:solidFill>
          </a:ln>
        </p:spPr>
        <p:txBody>
          <a:bodyPr lIns="40116" tIns="40116" rIns="40116" bIns="40116" anchor="ctr"/>
          <a:lstStyle/>
          <a:p>
            <a:pPr latinLnBrk="0"/>
            <a:endParaRPr lang="ko-KR" altLang="en-US" sz="1000" kern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E44E6AA8-F108-7190-3A77-5B6638C74857}"/>
              </a:ext>
            </a:extLst>
          </p:cNvPr>
          <p:cNvSpPr/>
          <p:nvPr/>
        </p:nvSpPr>
        <p:spPr>
          <a:xfrm>
            <a:off x="6833982" y="5621700"/>
            <a:ext cx="119008" cy="11900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ysClr val="window" lastClr="FFFFFF"/>
            </a:solidFill>
          </a:ln>
        </p:spPr>
        <p:txBody>
          <a:bodyPr lIns="40116" tIns="40116" rIns="40116" bIns="40116" anchor="ctr"/>
          <a:lstStyle/>
          <a:p>
            <a:pPr latinLnBrk="0"/>
            <a:endParaRPr lang="ko-KR" altLang="en-US" sz="1000" kern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  <a:cs typeface="Arial" charset="0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7056F6C3-FBA1-B47D-9F8C-78D85978F1B6}"/>
              </a:ext>
            </a:extLst>
          </p:cNvPr>
          <p:cNvCxnSpPr>
            <a:cxnSpLocks/>
            <a:endCxn id="65" idx="3"/>
          </p:cNvCxnSpPr>
          <p:nvPr/>
        </p:nvCxnSpPr>
        <p:spPr>
          <a:xfrm flipV="1">
            <a:off x="6367254" y="4660238"/>
            <a:ext cx="484156" cy="105761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26AE2137-29CC-8275-92CF-62AF840D1A24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6370179" y="2525631"/>
            <a:ext cx="481231" cy="205045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B0D9F030-D7C2-B228-BE7C-49C455647ED2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6367252" y="2522947"/>
            <a:ext cx="484158" cy="99009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FE12F7B9-87D6-41BD-F1B2-CB5961C3FBD4}"/>
              </a:ext>
            </a:extLst>
          </p:cNvPr>
          <p:cNvCxnSpPr>
            <a:cxnSpLocks/>
            <a:endCxn id="63" idx="2"/>
          </p:cNvCxnSpPr>
          <p:nvPr/>
        </p:nvCxnSpPr>
        <p:spPr>
          <a:xfrm flipV="1">
            <a:off x="6367252" y="2492081"/>
            <a:ext cx="466730" cy="3516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ED87D68-265F-84EF-241F-79E083CEDC56}"/>
              </a:ext>
            </a:extLst>
          </p:cNvPr>
          <p:cNvCxnSpPr>
            <a:cxnSpLocks/>
            <a:endCxn id="64" idx="2"/>
          </p:cNvCxnSpPr>
          <p:nvPr/>
        </p:nvCxnSpPr>
        <p:spPr>
          <a:xfrm flipV="1">
            <a:off x="6385233" y="3555122"/>
            <a:ext cx="448749" cy="233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F252EB6D-A681-57F1-03F1-FE57137E5823}"/>
              </a:ext>
            </a:extLst>
          </p:cNvPr>
          <p:cNvCxnSpPr>
            <a:cxnSpLocks/>
            <a:endCxn id="63" idx="3"/>
          </p:cNvCxnSpPr>
          <p:nvPr/>
        </p:nvCxnSpPr>
        <p:spPr>
          <a:xfrm flipV="1">
            <a:off x="6385233" y="2534157"/>
            <a:ext cx="466177" cy="103746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5D8E406B-41E9-A478-A084-84CBD0EC999E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6367253" y="5681204"/>
            <a:ext cx="466729" cy="36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34504C9-B69D-D99F-CF9A-ACEE45359F5B}"/>
              </a:ext>
            </a:extLst>
          </p:cNvPr>
          <p:cNvCxnSpPr>
            <a:cxnSpLocks/>
            <a:endCxn id="64" idx="3"/>
          </p:cNvCxnSpPr>
          <p:nvPr/>
        </p:nvCxnSpPr>
        <p:spPr>
          <a:xfrm flipV="1">
            <a:off x="6330769" y="3597198"/>
            <a:ext cx="520641" cy="97034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CE8CA29-20FD-B432-618F-4ABA5B754B12}"/>
              </a:ext>
            </a:extLst>
          </p:cNvPr>
          <p:cNvCxnSpPr>
            <a:cxnSpLocks/>
            <a:endCxn id="65" idx="2"/>
          </p:cNvCxnSpPr>
          <p:nvPr/>
        </p:nvCxnSpPr>
        <p:spPr>
          <a:xfrm>
            <a:off x="6330769" y="4566710"/>
            <a:ext cx="503213" cy="5145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7539D24-F357-E59B-03B4-B37E25575073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6330769" y="4566709"/>
            <a:ext cx="520641" cy="107241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40222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F2DF-7B38-AE6E-ADC8-2ACFE4C9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F8D869-8C55-4AC6-B2AC-1E60EEAF18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ko-KR" altLang="en-US" spc="-20" dirty="0">
                <a:latin typeface="+mn-ea"/>
              </a:rPr>
              <a:t>㈜</a:t>
            </a:r>
            <a:r>
              <a:rPr lang="ko-KR" altLang="en-US" spc="-20" dirty="0" err="1">
                <a:latin typeface="+mn-ea"/>
              </a:rPr>
              <a:t>베이시스소프트의</a:t>
            </a:r>
            <a:r>
              <a:rPr lang="ko-KR" altLang="en-US" spc="-20" dirty="0">
                <a:latin typeface="+mn-ea"/>
              </a:rPr>
              <a:t> 설계 제도의 안착 및 고도화를 위하여 각 요구사항 별 단기 과제 및 중장기 과제를 기반으로 로드맵을 제시함</a:t>
            </a:r>
            <a:r>
              <a:rPr lang="en-US" altLang="ko-KR" spc="-20" dirty="0">
                <a:latin typeface="+mn-ea"/>
              </a:rPr>
              <a:t>.</a:t>
            </a:r>
            <a:endParaRPr lang="ko-KR" altLang="en-US" spc="-20" dirty="0"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324B81A-8B17-FAF4-FBBF-081D0FB214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Ⅴ. </a:t>
            </a:r>
            <a:r>
              <a:rPr lang="ko-KR" altLang="en-US" dirty="0"/>
              <a:t>변화관리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A9C59A-F7FE-1D6F-3B19-7047F7D6DA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변화관리 로드맵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ED75E5D-E55B-8631-8D5F-EB6EB1CC6E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9E862C2C-BFE0-332E-CBA6-08F604C8F292}"/>
              </a:ext>
            </a:extLst>
          </p:cNvPr>
          <p:cNvGrpSpPr/>
          <p:nvPr/>
        </p:nvGrpSpPr>
        <p:grpSpPr>
          <a:xfrm>
            <a:off x="273928" y="1626745"/>
            <a:ext cx="9360000" cy="325827"/>
            <a:chOff x="273929" y="1626519"/>
            <a:chExt cx="6429396" cy="325827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E0C96965-66AB-4E97-0C8C-9BA57403B092}"/>
                </a:ext>
              </a:extLst>
            </p:cNvPr>
            <p:cNvSpPr/>
            <p:nvPr userDrawn="1"/>
          </p:nvSpPr>
          <p:spPr>
            <a:xfrm>
              <a:off x="3026082" y="1626519"/>
              <a:ext cx="925149" cy="307777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solidFill>
                      <a:prstClr val="black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바른고딕"/>
                  <a:ea typeface="나눔바른고딕"/>
                  <a:cs typeface="+mn-cs"/>
                </a:rPr>
                <a:t>변화관리 로드맵</a:t>
              </a:r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50A7627C-F3CD-CB75-8584-792DAC9D70F5}"/>
                </a:ext>
              </a:extLst>
            </p:cNvPr>
            <p:cNvCxnSpPr/>
            <p:nvPr userDrawn="1"/>
          </p:nvCxnSpPr>
          <p:spPr>
            <a:xfrm>
              <a:off x="273929" y="1952346"/>
              <a:ext cx="64293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A29FDD9C-D132-42EE-DBEC-AA8047024A7F}"/>
              </a:ext>
            </a:extLst>
          </p:cNvPr>
          <p:cNvSpPr/>
          <p:nvPr/>
        </p:nvSpPr>
        <p:spPr>
          <a:xfrm>
            <a:off x="4959662" y="5839545"/>
            <a:ext cx="4478676" cy="223156"/>
          </a:xfrm>
          <a:prstGeom prst="rightArrow">
            <a:avLst/>
          </a:prstGeom>
          <a:gradFill>
            <a:gsLst>
              <a:gs pos="100000">
                <a:schemeClr val="bg1">
                  <a:lumMod val="75000"/>
                </a:schemeClr>
              </a:gs>
              <a:gs pos="0">
                <a:srgbClr val="F2F2F2"/>
              </a:gs>
              <a:gs pos="0">
                <a:schemeClr val="bg1">
                  <a:lumMod val="95000"/>
                </a:schemeClr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8B8991-3756-CDA6-C3F8-ED29C1780786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091157" y="2074209"/>
            <a:ext cx="2248808" cy="456657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4DF8528-708B-FA8F-3879-6D0E69346695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091157" y="5701545"/>
            <a:ext cx="2241611" cy="46532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7BDDB29-FBA6-087B-72F5-670D7322A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70533"/>
              </p:ext>
            </p:extLst>
          </p:nvPr>
        </p:nvGraphicFramePr>
        <p:xfrm>
          <a:off x="4339965" y="2062348"/>
          <a:ext cx="5306524" cy="7380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8545">
                  <a:extLst>
                    <a:ext uri="{9D8B030D-6E8A-4147-A177-3AD203B41FA5}">
                      <a16:colId xmlns:a16="http://schemas.microsoft.com/office/drawing/2014/main" val="2398161033"/>
                    </a:ext>
                  </a:extLst>
                </a:gridCol>
                <a:gridCol w="4217979">
                  <a:extLst>
                    <a:ext uri="{9D8B030D-6E8A-4147-A177-3AD203B41FA5}">
                      <a16:colId xmlns:a16="http://schemas.microsoft.com/office/drawing/2014/main" val="217222399"/>
                    </a:ext>
                  </a:extLst>
                </a:gridCol>
              </a:tblGrid>
              <a:tr h="3690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일터혁신 추진목표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㈜</a:t>
                      </a: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베이시스소프트의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지속가능성장을 위한 변화 기반 확보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726440"/>
                  </a:ext>
                </a:extLst>
              </a:tr>
              <a:tr h="3690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일터혁신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KPI</a:t>
                      </a:r>
                      <a:endParaRPr lang="ko-KR" alt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‘28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년까지 일터혁신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Level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도약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09270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B2F86CF-CC76-EB2D-28BE-9168D7613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153220"/>
              </p:ext>
            </p:extLst>
          </p:nvPr>
        </p:nvGraphicFramePr>
        <p:xfrm>
          <a:off x="4332768" y="2997321"/>
          <a:ext cx="5300180" cy="31695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467">
                  <a:extLst>
                    <a:ext uri="{9D8B030D-6E8A-4147-A177-3AD203B41FA5}">
                      <a16:colId xmlns:a16="http://schemas.microsoft.com/office/drawing/2014/main" val="2410437202"/>
                    </a:ext>
                  </a:extLst>
                </a:gridCol>
                <a:gridCol w="1395571">
                  <a:extLst>
                    <a:ext uri="{9D8B030D-6E8A-4147-A177-3AD203B41FA5}">
                      <a16:colId xmlns:a16="http://schemas.microsoft.com/office/drawing/2014/main" val="1817237126"/>
                    </a:ext>
                  </a:extLst>
                </a:gridCol>
                <a:gridCol w="1395571">
                  <a:extLst>
                    <a:ext uri="{9D8B030D-6E8A-4147-A177-3AD203B41FA5}">
                      <a16:colId xmlns:a16="http://schemas.microsoft.com/office/drawing/2014/main" val="3095484276"/>
                    </a:ext>
                  </a:extLst>
                </a:gridCol>
                <a:gridCol w="1395571">
                  <a:extLst>
                    <a:ext uri="{9D8B030D-6E8A-4147-A177-3AD203B41FA5}">
                      <a16:colId xmlns:a16="http://schemas.microsoft.com/office/drawing/2014/main" val="1343048192"/>
                    </a:ext>
                  </a:extLst>
                </a:gridCol>
              </a:tblGrid>
              <a:tr h="191143">
                <a:tc rowSpan="2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kern="1200" dirty="0">
                        <a:solidFill>
                          <a:srgbClr val="0070C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2026~2027</a:t>
                      </a:r>
                      <a:r>
                        <a:rPr lang="ko-KR" altLang="en-US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D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2028</a:t>
                      </a:r>
                      <a:r>
                        <a:rPr lang="ko-KR" altLang="en-US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이후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66875"/>
                  </a:ext>
                </a:extLst>
              </a:tr>
              <a:tr h="23415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defRPr/>
                      </a:pPr>
                      <a:r>
                        <a:rPr lang="ko-KR" altLang="en-US" sz="10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일터혁신 </a:t>
                      </a:r>
                      <a:r>
                        <a:rPr lang="en-US" altLang="ko-KR" sz="10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Level 2.0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defRPr/>
                      </a:pPr>
                      <a:r>
                        <a:rPr lang="ko-KR" altLang="en-US" sz="10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일터혁신 </a:t>
                      </a:r>
                      <a:r>
                        <a:rPr lang="en-US" altLang="ko-KR" sz="10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Level 2.5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defRPr/>
                      </a:pPr>
                      <a:r>
                        <a:rPr lang="ko-KR" altLang="en-US" sz="10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일터혁신 </a:t>
                      </a:r>
                      <a:r>
                        <a:rPr lang="en-US" altLang="ko-KR" sz="1000" b="1" kern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Level 3.0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499344"/>
                  </a:ext>
                </a:extLst>
              </a:tr>
              <a:tr h="600048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장애요인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 운영 경험 부족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구성원 참여 저조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성과 기반 제도 정착 지연</a:t>
                      </a:r>
                      <a:r>
                        <a:rPr lang="en-US" altLang="ko-KR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내부 역량 편차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 내재화 과정에서 지속적 개선 요구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외부 환경 변화 대응 부담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077877"/>
                  </a:ext>
                </a:extLst>
              </a:tr>
              <a:tr h="772077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대응방안</a:t>
                      </a:r>
                      <a:endParaRPr lang="en-US" altLang="ko-KR" sz="10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 설계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시범 적용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소통 강화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변화 필요성 인식 제고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임금제도 보완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직무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역할별 역량 개발 프로그램 운영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성과 공유 문화 확산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제도 고도화 및 내재화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기반 피드백 체계 강화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글로벌 수준의 성과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 관리 정착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431435"/>
                  </a:ext>
                </a:extLst>
              </a:tr>
              <a:tr h="772077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임금체계 재설계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역할등급 기반 임금체계 초안 마련</a:t>
                      </a:r>
                      <a:r>
                        <a:rPr lang="en-US" altLang="ko-KR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Payband </a:t>
                      </a:r>
                      <a:r>
                        <a:rPr lang="ko-KR" altLang="en-US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역할등급별 </a:t>
                      </a:r>
                      <a:r>
                        <a:rPr lang="en-US" altLang="ko-KR" sz="900" u="none" strike="noStrike" kern="1200" spc="-5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Payband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 정착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통한 합리적 보상 구조 검증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성과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역량을 통합 반영하는 임금체계 완성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내부 형평성과 외부 경쟁력 동시 확보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02061"/>
                  </a:ext>
                </a:extLst>
              </a:tr>
              <a:tr h="600048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평가체계 개선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전사 </a:t>
                      </a:r>
                      <a:r>
                        <a:rPr lang="en-US" altLang="ko-KR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KPI </a:t>
                      </a:r>
                      <a:r>
                        <a:rPr lang="ko-KR" altLang="en-US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중심 평가 시범 운영</a:t>
                      </a:r>
                      <a:r>
                        <a:rPr lang="en-US" altLang="ko-KR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피드백 프로세스 도입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조직성과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역량 평가 통합 운영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반기별 정례화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성장 피드백 중심 평가체계 내재화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성과와 보상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승진</a:t>
                      </a:r>
                      <a:r>
                        <a:rPr lang="en-US" altLang="ko-KR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900" u="none" strike="noStrike" kern="1200" spc="-5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 완전 연계</a:t>
                      </a:r>
                    </a:p>
                  </a:txBody>
                  <a:tcPr marL="66944" marR="66944" marT="33472" marB="3347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120442"/>
                  </a:ext>
                </a:extLst>
              </a:tr>
            </a:tbl>
          </a:graphicData>
        </a:graphic>
      </p:graphicFrame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F9418D2-3674-0783-FB21-8A65AED28FFF}"/>
              </a:ext>
            </a:extLst>
          </p:cNvPr>
          <p:cNvSpPr/>
          <p:nvPr/>
        </p:nvSpPr>
        <p:spPr bwMode="gray">
          <a:xfrm>
            <a:off x="6685392" y="3385281"/>
            <a:ext cx="321355" cy="204800"/>
          </a:xfrm>
          <a:prstGeom prst="rightArrow">
            <a:avLst/>
          </a:prstGeom>
          <a:gradFill>
            <a:gsLst>
              <a:gs pos="0">
                <a:srgbClr val="F2F2F2"/>
              </a:gs>
              <a:gs pos="84000">
                <a:schemeClr val="tx1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28240509-36D0-7B08-567A-6B74D2B312A2}"/>
              </a:ext>
            </a:extLst>
          </p:cNvPr>
          <p:cNvSpPr/>
          <p:nvPr/>
        </p:nvSpPr>
        <p:spPr bwMode="gray">
          <a:xfrm>
            <a:off x="8056548" y="3382286"/>
            <a:ext cx="321355" cy="204800"/>
          </a:xfrm>
          <a:prstGeom prst="rightArrow">
            <a:avLst/>
          </a:prstGeom>
          <a:gradFill>
            <a:gsLst>
              <a:gs pos="0">
                <a:srgbClr val="F2F2F2"/>
              </a:gs>
              <a:gs pos="84000">
                <a:schemeClr val="tx1">
                  <a:lumMod val="50000"/>
                  <a:lumOff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70F81B-0081-DBD8-D7B7-12EACAA43D84}"/>
              </a:ext>
            </a:extLst>
          </p:cNvPr>
          <p:cNvSpPr/>
          <p:nvPr/>
        </p:nvSpPr>
        <p:spPr>
          <a:xfrm>
            <a:off x="273050" y="2530866"/>
            <a:ext cx="3636214" cy="317067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ko-KR" altLang="en-US" sz="1050" dirty="0">
              <a:solidFill>
                <a:schemeClr val="bg1"/>
              </a:solidFill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EAB3A03-5296-AEF3-8593-1C336AC2D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729935"/>
              </p:ext>
            </p:extLst>
          </p:nvPr>
        </p:nvGraphicFramePr>
        <p:xfrm>
          <a:off x="618754" y="3131310"/>
          <a:ext cx="3096000" cy="227378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304681141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5251483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718156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474033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237480764"/>
                    </a:ext>
                  </a:extLst>
                </a:gridCol>
              </a:tblGrid>
              <a:tr h="5234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혁신단계</a:t>
                      </a: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13688"/>
                  </a:ext>
                </a:extLst>
              </a:tr>
              <a:tr h="5234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참여단계</a:t>
                      </a:r>
                      <a:endParaRPr lang="en-US" altLang="ko-KR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00061"/>
                  </a:ext>
                </a:extLst>
              </a:tr>
              <a:tr h="5234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협력단계</a:t>
                      </a:r>
                      <a:endParaRPr lang="en-US" altLang="ko-KR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EEF9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B3CCEC">
                        <a:alpha val="7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52031"/>
                  </a:ext>
                </a:extLst>
              </a:tr>
              <a:tr h="52344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기초단계</a:t>
                      </a:r>
                      <a:endParaRPr lang="en-US" altLang="ko-KR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EEF9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EEF9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CCDDF2">
                        <a:alpha val="7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2421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vert="eaVert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무관심</a:t>
                      </a:r>
                      <a:endParaRPr 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3" marR="4443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필요인식</a:t>
                      </a:r>
                      <a:endParaRPr 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3" marR="4443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제도운영</a:t>
                      </a:r>
                      <a:endParaRPr 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3" marR="4443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내재화</a:t>
                      </a:r>
                      <a:endParaRPr lang="en-US" sz="7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3" marR="4443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20406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0BD29777-73EC-B67E-1A11-57E4F2399B48}"/>
              </a:ext>
            </a:extLst>
          </p:cNvPr>
          <p:cNvGrpSpPr/>
          <p:nvPr/>
        </p:nvGrpSpPr>
        <p:grpSpPr>
          <a:xfrm>
            <a:off x="340689" y="3114087"/>
            <a:ext cx="3410809" cy="2514219"/>
            <a:chOff x="355725" y="2701336"/>
            <a:chExt cx="3410809" cy="2477568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B08CFF9E-D9FE-7BD5-733D-737C1CDF5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501" y="2701336"/>
              <a:ext cx="3110289" cy="22535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70"/>
                </a:cxn>
                <a:cxn ang="0">
                  <a:pos x="1905" y="1270"/>
                </a:cxn>
              </a:cxnLst>
              <a:rect l="0" t="0" r="r" b="b"/>
              <a:pathLst>
                <a:path w="1905" h="1270">
                  <a:moveTo>
                    <a:pt x="0" y="0"/>
                  </a:moveTo>
                  <a:lnTo>
                    <a:pt x="0" y="1270"/>
                  </a:lnTo>
                  <a:lnTo>
                    <a:pt x="1905" y="1270"/>
                  </a:lnTo>
                </a:path>
              </a:pathLst>
            </a:custGeom>
            <a:noFill/>
            <a:ln w="635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stealth" w="med" len="med"/>
            </a:ln>
            <a:effectLst/>
          </p:spPr>
          <p:txBody>
            <a:bodyPr lIns="92075" tIns="46038" rIns="92075" bIns="46038" anchor="ctr"/>
            <a:lstStyle/>
            <a:p>
              <a:pPr latinLnBrk="0"/>
              <a:endParaRPr lang="ko-KR" altLang="en-US" sz="1200" kern="0" dirty="0">
                <a:solidFill>
                  <a:srgbClr val="000000"/>
                </a:solidFill>
                <a:latin typeface="+mn-ea"/>
                <a:cs typeface="Arial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81EEA8-7B9B-9608-D5B9-FFBDF71CD089}"/>
                </a:ext>
              </a:extLst>
            </p:cNvPr>
            <p:cNvSpPr txBox="1"/>
            <p:nvPr/>
          </p:nvSpPr>
          <p:spPr>
            <a:xfrm>
              <a:off x="355725" y="2782833"/>
              <a:ext cx="241980" cy="856163"/>
            </a:xfrm>
            <a:prstGeom prst="rect">
              <a:avLst/>
            </a:prstGeom>
            <a:noFill/>
          </p:spPr>
          <p:txBody>
            <a:bodyPr vert="eaVert" wrap="none" lIns="36000" tIns="0" rIns="36000" bIns="0" rtlCol="0">
              <a:spAutoFit/>
            </a:bodyPr>
            <a:lstStyle>
              <a:defPPr>
                <a:defRPr lang="ko-KR"/>
              </a:defPPr>
              <a:lvl1pPr algn="ctr" latinLnBrk="0">
                <a:defRPr sz="1200" kern="0">
                  <a:solidFill>
                    <a:prstClr val="black"/>
                  </a:solidFill>
                  <a:latin typeface="+mn-ea"/>
                </a:defRPr>
              </a:lvl1pPr>
            </a:lstStyle>
            <a:p>
              <a:r>
                <a:rPr lang="ko-KR" altLang="en-US" sz="1100" spc="-150" dirty="0"/>
                <a:t>조직 발전단계</a:t>
              </a:r>
              <a:endParaRPr lang="en-US" altLang="ko-KR" sz="1100" spc="-15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F396C7-C6E3-6143-22C8-248AB37623CF}"/>
                </a:ext>
              </a:extLst>
            </p:cNvPr>
            <p:cNvSpPr txBox="1"/>
            <p:nvPr/>
          </p:nvSpPr>
          <p:spPr>
            <a:xfrm>
              <a:off x="3113544" y="5012095"/>
              <a:ext cx="652990" cy="166809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/>
            <a:p>
              <a:pPr algn="r" latinLnBrk="0">
                <a:defRPr/>
              </a:pPr>
              <a:r>
                <a:rPr lang="ko-KR" altLang="en-US" sz="1100" kern="0" spc="-100" dirty="0">
                  <a:solidFill>
                    <a:prstClr val="black"/>
                  </a:solidFill>
                  <a:latin typeface="+mn-ea"/>
                </a:rPr>
                <a:t>제도 성숙도</a:t>
              </a:r>
              <a:endParaRPr lang="en-US" altLang="ko-KR" sz="1100" kern="0" spc="-10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B5C8B31-93DE-2DC0-9C05-9404F86A2F82}"/>
              </a:ext>
            </a:extLst>
          </p:cNvPr>
          <p:cNvGrpSpPr/>
          <p:nvPr/>
        </p:nvGrpSpPr>
        <p:grpSpPr>
          <a:xfrm>
            <a:off x="1750778" y="3500905"/>
            <a:ext cx="1306945" cy="1091447"/>
            <a:chOff x="1765814" y="3051881"/>
            <a:chExt cx="1306945" cy="1091447"/>
          </a:xfrm>
        </p:grpSpPr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8DA44AC7-A16F-8A40-1720-83DA8F58F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2496" y="3051881"/>
              <a:ext cx="700263" cy="675941"/>
            </a:xfrm>
            <a:prstGeom prst="ellipse">
              <a:avLst/>
            </a:prstGeom>
            <a:solidFill>
              <a:schemeClr val="bg1"/>
            </a:solidFill>
            <a:ln w="12700" algn="ctr">
              <a:noFill/>
              <a:round/>
              <a:headEnd/>
              <a:tailEnd/>
            </a:ln>
            <a:effectLst>
              <a:outerShdw blurRad="63500" sx="110000" sy="110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latinLnBrk="0"/>
              <a:r>
                <a:rPr lang="en-US" altLang="ko-KR" sz="1100" b="1" kern="0" spc="-50" dirty="0">
                  <a:latin typeface="+mn-ea"/>
                  <a:cs typeface="Arial" charset="0"/>
                </a:rPr>
                <a:t>To-be</a:t>
              </a:r>
            </a:p>
            <a:p>
              <a:pPr algn="ctr" latinLnBrk="0"/>
              <a:r>
                <a:rPr lang="ko-KR" altLang="en-US" sz="1100" b="1" kern="0" spc="-50" dirty="0">
                  <a:latin typeface="+mn-ea"/>
                  <a:cs typeface="Arial" charset="0"/>
                </a:rPr>
                <a:t>일터혁신</a:t>
              </a:r>
              <a:endParaRPr lang="en-US" altLang="ko-KR" sz="1100" b="1" kern="0" spc="-50" dirty="0">
                <a:latin typeface="+mn-ea"/>
                <a:cs typeface="Arial" charset="0"/>
              </a:endParaRPr>
            </a:p>
            <a:p>
              <a:pPr algn="ctr" latinLnBrk="0"/>
              <a:r>
                <a:rPr lang="en-US" altLang="ko-KR" sz="1100" b="1" kern="0" spc="-50" dirty="0">
                  <a:latin typeface="+mn-ea"/>
                  <a:cs typeface="Arial" charset="0"/>
                </a:rPr>
                <a:t>Level 3</a:t>
              </a:r>
            </a:p>
          </p:txBody>
        </p:sp>
        <p:sp>
          <p:nvSpPr>
            <p:cNvPr id="23" name="도형 29">
              <a:extLst>
                <a:ext uri="{FF2B5EF4-FFF2-40B4-BE49-F238E27FC236}">
                  <a16:creationId xmlns:a16="http://schemas.microsoft.com/office/drawing/2014/main" id="{78286D2F-F326-2376-D42A-5B517B7C89A6}"/>
                </a:ext>
              </a:extLst>
            </p:cNvPr>
            <p:cNvSpPr/>
            <p:nvPr/>
          </p:nvSpPr>
          <p:spPr>
            <a:xfrm rot="18199814" flipV="1">
              <a:off x="2093765" y="3686849"/>
              <a:ext cx="456752" cy="308315"/>
            </a:xfrm>
            <a:custGeom>
              <a:avLst/>
              <a:gdLst>
                <a:gd name="connsiteX0" fmla="*/ 0 w 1622066"/>
                <a:gd name="connsiteY0" fmla="*/ 1264783 h 1264783"/>
                <a:gd name="connsiteX1" fmla="*/ 1381681 w 1622066"/>
                <a:gd name="connsiteY1" fmla="*/ 158098 h 1264783"/>
                <a:gd name="connsiteX2" fmla="*/ 1363868 w 1622066"/>
                <a:gd name="connsiteY2" fmla="*/ 0 h 1264783"/>
                <a:gd name="connsiteX3" fmla="*/ 1622066 w 1622066"/>
                <a:gd name="connsiteY3" fmla="*/ 189970 h 1264783"/>
                <a:gd name="connsiteX4" fmla="*/ 1420928 w 1622066"/>
                <a:gd name="connsiteY4" fmla="*/ 506419 h 1264783"/>
                <a:gd name="connsiteX5" fmla="*/ 1403114 w 1622066"/>
                <a:gd name="connsiteY5" fmla="*/ 348321 h 1264783"/>
                <a:gd name="connsiteX6" fmla="*/ 0 w 1622066"/>
                <a:gd name="connsiteY6" fmla="*/ 1264783 h 1264783"/>
                <a:gd name="connsiteX0" fmla="*/ 0 w 1645085"/>
                <a:gd name="connsiteY0" fmla="*/ 1264783 h 1264783"/>
                <a:gd name="connsiteX1" fmla="*/ 1381681 w 1645085"/>
                <a:gd name="connsiteY1" fmla="*/ 158098 h 1264783"/>
                <a:gd name="connsiteX2" fmla="*/ 1363868 w 1645085"/>
                <a:gd name="connsiteY2" fmla="*/ 0 h 1264783"/>
                <a:gd name="connsiteX3" fmla="*/ 1645085 w 1645085"/>
                <a:gd name="connsiteY3" fmla="*/ 232691 h 1264783"/>
                <a:gd name="connsiteX4" fmla="*/ 1420928 w 1645085"/>
                <a:gd name="connsiteY4" fmla="*/ 506419 h 1264783"/>
                <a:gd name="connsiteX5" fmla="*/ 1403114 w 1645085"/>
                <a:gd name="connsiteY5" fmla="*/ 348321 h 1264783"/>
                <a:gd name="connsiteX6" fmla="*/ 0 w 1645085"/>
                <a:gd name="connsiteY6" fmla="*/ 1264783 h 1264783"/>
                <a:gd name="connsiteX0" fmla="*/ -1 w 1368526"/>
                <a:gd name="connsiteY0" fmla="*/ 1147474 h 1147474"/>
                <a:gd name="connsiteX1" fmla="*/ 1105122 w 1368526"/>
                <a:gd name="connsiteY1" fmla="*/ 158098 h 1147474"/>
                <a:gd name="connsiteX2" fmla="*/ 1087309 w 1368526"/>
                <a:gd name="connsiteY2" fmla="*/ 0 h 1147474"/>
                <a:gd name="connsiteX3" fmla="*/ 1368526 w 1368526"/>
                <a:gd name="connsiteY3" fmla="*/ 232691 h 1147474"/>
                <a:gd name="connsiteX4" fmla="*/ 1144369 w 1368526"/>
                <a:gd name="connsiteY4" fmla="*/ 506419 h 1147474"/>
                <a:gd name="connsiteX5" fmla="*/ 1126555 w 1368526"/>
                <a:gd name="connsiteY5" fmla="*/ 348321 h 1147474"/>
                <a:gd name="connsiteX6" fmla="*/ -1 w 1368526"/>
                <a:gd name="connsiteY6" fmla="*/ 1147474 h 1147474"/>
                <a:gd name="connsiteX0" fmla="*/ 0 w 1169014"/>
                <a:gd name="connsiteY0" fmla="*/ 830447 h 830448"/>
                <a:gd name="connsiteX1" fmla="*/ 905610 w 1169014"/>
                <a:gd name="connsiteY1" fmla="*/ 158098 h 830448"/>
                <a:gd name="connsiteX2" fmla="*/ 887797 w 1169014"/>
                <a:gd name="connsiteY2" fmla="*/ 0 h 830448"/>
                <a:gd name="connsiteX3" fmla="*/ 1169014 w 1169014"/>
                <a:gd name="connsiteY3" fmla="*/ 232691 h 830448"/>
                <a:gd name="connsiteX4" fmla="*/ 944857 w 1169014"/>
                <a:gd name="connsiteY4" fmla="*/ 506419 h 830448"/>
                <a:gd name="connsiteX5" fmla="*/ 927043 w 1169014"/>
                <a:gd name="connsiteY5" fmla="*/ 348321 h 830448"/>
                <a:gd name="connsiteX6" fmla="*/ 0 w 1169014"/>
                <a:gd name="connsiteY6" fmla="*/ 830447 h 830448"/>
                <a:gd name="connsiteX0" fmla="*/ 0 w 1169014"/>
                <a:gd name="connsiteY0" fmla="*/ 830447 h 830448"/>
                <a:gd name="connsiteX1" fmla="*/ 905610 w 1169014"/>
                <a:gd name="connsiteY1" fmla="*/ 158098 h 830448"/>
                <a:gd name="connsiteX2" fmla="*/ 887797 w 1169014"/>
                <a:gd name="connsiteY2" fmla="*/ 0 h 830448"/>
                <a:gd name="connsiteX3" fmla="*/ 1169014 w 1169014"/>
                <a:gd name="connsiteY3" fmla="*/ 232691 h 830448"/>
                <a:gd name="connsiteX4" fmla="*/ 944857 w 1169014"/>
                <a:gd name="connsiteY4" fmla="*/ 506419 h 830448"/>
                <a:gd name="connsiteX5" fmla="*/ 927043 w 1169014"/>
                <a:gd name="connsiteY5" fmla="*/ 348321 h 830448"/>
                <a:gd name="connsiteX6" fmla="*/ 0 w 1169014"/>
                <a:gd name="connsiteY6" fmla="*/ 830447 h 830448"/>
                <a:gd name="connsiteX0" fmla="*/ -1 w 1252427"/>
                <a:gd name="connsiteY0" fmla="*/ 679798 h 679798"/>
                <a:gd name="connsiteX1" fmla="*/ 989023 w 1252427"/>
                <a:gd name="connsiteY1" fmla="*/ 158098 h 679798"/>
                <a:gd name="connsiteX2" fmla="*/ 971210 w 1252427"/>
                <a:gd name="connsiteY2" fmla="*/ 0 h 679798"/>
                <a:gd name="connsiteX3" fmla="*/ 1252427 w 1252427"/>
                <a:gd name="connsiteY3" fmla="*/ 232691 h 679798"/>
                <a:gd name="connsiteX4" fmla="*/ 1028270 w 1252427"/>
                <a:gd name="connsiteY4" fmla="*/ 506419 h 679798"/>
                <a:gd name="connsiteX5" fmla="*/ 1010456 w 1252427"/>
                <a:gd name="connsiteY5" fmla="*/ 348321 h 679798"/>
                <a:gd name="connsiteX6" fmla="*/ -1 w 1252427"/>
                <a:gd name="connsiteY6" fmla="*/ 679798 h 679798"/>
                <a:gd name="connsiteX0" fmla="*/ -1 w 1252427"/>
                <a:gd name="connsiteY0" fmla="*/ 679798 h 679798"/>
                <a:gd name="connsiteX1" fmla="*/ 989023 w 1252427"/>
                <a:gd name="connsiteY1" fmla="*/ 158098 h 679798"/>
                <a:gd name="connsiteX2" fmla="*/ 971210 w 1252427"/>
                <a:gd name="connsiteY2" fmla="*/ 0 h 679798"/>
                <a:gd name="connsiteX3" fmla="*/ 1252427 w 1252427"/>
                <a:gd name="connsiteY3" fmla="*/ 232691 h 679798"/>
                <a:gd name="connsiteX4" fmla="*/ 1028270 w 1252427"/>
                <a:gd name="connsiteY4" fmla="*/ 506419 h 679798"/>
                <a:gd name="connsiteX5" fmla="*/ 1010456 w 1252427"/>
                <a:gd name="connsiteY5" fmla="*/ 348321 h 679798"/>
                <a:gd name="connsiteX6" fmla="*/ -1 w 1252427"/>
                <a:gd name="connsiteY6" fmla="*/ 679798 h 679798"/>
                <a:gd name="connsiteX0" fmla="*/ -1 w 1252427"/>
                <a:gd name="connsiteY0" fmla="*/ 679798 h 679798"/>
                <a:gd name="connsiteX1" fmla="*/ 989023 w 1252427"/>
                <a:gd name="connsiteY1" fmla="*/ 158098 h 679798"/>
                <a:gd name="connsiteX2" fmla="*/ 971210 w 1252427"/>
                <a:gd name="connsiteY2" fmla="*/ 0 h 679798"/>
                <a:gd name="connsiteX3" fmla="*/ 1252427 w 1252427"/>
                <a:gd name="connsiteY3" fmla="*/ 232691 h 679798"/>
                <a:gd name="connsiteX4" fmla="*/ 1028270 w 1252427"/>
                <a:gd name="connsiteY4" fmla="*/ 506419 h 679798"/>
                <a:gd name="connsiteX5" fmla="*/ 1010456 w 1252427"/>
                <a:gd name="connsiteY5" fmla="*/ 348321 h 679798"/>
                <a:gd name="connsiteX6" fmla="*/ -1 w 1252427"/>
                <a:gd name="connsiteY6" fmla="*/ 679798 h 679798"/>
                <a:gd name="connsiteX0" fmla="*/ 1 w 994903"/>
                <a:gd name="connsiteY0" fmla="*/ 600384 h 600384"/>
                <a:gd name="connsiteX1" fmla="*/ 731499 w 994903"/>
                <a:gd name="connsiteY1" fmla="*/ 158098 h 600384"/>
                <a:gd name="connsiteX2" fmla="*/ 713686 w 994903"/>
                <a:gd name="connsiteY2" fmla="*/ 0 h 600384"/>
                <a:gd name="connsiteX3" fmla="*/ 994903 w 994903"/>
                <a:gd name="connsiteY3" fmla="*/ 232691 h 600384"/>
                <a:gd name="connsiteX4" fmla="*/ 770746 w 994903"/>
                <a:gd name="connsiteY4" fmla="*/ 506419 h 600384"/>
                <a:gd name="connsiteX5" fmla="*/ 752932 w 994903"/>
                <a:gd name="connsiteY5" fmla="*/ 348321 h 600384"/>
                <a:gd name="connsiteX6" fmla="*/ 1 w 994903"/>
                <a:gd name="connsiteY6" fmla="*/ 600384 h 600384"/>
                <a:gd name="connsiteX0" fmla="*/ 1 w 994903"/>
                <a:gd name="connsiteY0" fmla="*/ 600384 h 600384"/>
                <a:gd name="connsiteX1" fmla="*/ 731499 w 994903"/>
                <a:gd name="connsiteY1" fmla="*/ 158098 h 600384"/>
                <a:gd name="connsiteX2" fmla="*/ 713686 w 994903"/>
                <a:gd name="connsiteY2" fmla="*/ 0 h 600384"/>
                <a:gd name="connsiteX3" fmla="*/ 994903 w 994903"/>
                <a:gd name="connsiteY3" fmla="*/ 232691 h 600384"/>
                <a:gd name="connsiteX4" fmla="*/ 770746 w 994903"/>
                <a:gd name="connsiteY4" fmla="*/ 506419 h 600384"/>
                <a:gd name="connsiteX5" fmla="*/ 752932 w 994903"/>
                <a:gd name="connsiteY5" fmla="*/ 348321 h 600384"/>
                <a:gd name="connsiteX6" fmla="*/ 1 w 994903"/>
                <a:gd name="connsiteY6" fmla="*/ 600384 h 600384"/>
                <a:gd name="connsiteX0" fmla="*/ 1 w 994903"/>
                <a:gd name="connsiteY0" fmla="*/ 600384 h 600384"/>
                <a:gd name="connsiteX1" fmla="*/ 731499 w 994903"/>
                <a:gd name="connsiteY1" fmla="*/ 158098 h 600384"/>
                <a:gd name="connsiteX2" fmla="*/ 713686 w 994903"/>
                <a:gd name="connsiteY2" fmla="*/ 0 h 600384"/>
                <a:gd name="connsiteX3" fmla="*/ 994903 w 994903"/>
                <a:gd name="connsiteY3" fmla="*/ 232691 h 600384"/>
                <a:gd name="connsiteX4" fmla="*/ 770746 w 994903"/>
                <a:gd name="connsiteY4" fmla="*/ 506419 h 600384"/>
                <a:gd name="connsiteX5" fmla="*/ 752932 w 994903"/>
                <a:gd name="connsiteY5" fmla="*/ 348321 h 600384"/>
                <a:gd name="connsiteX6" fmla="*/ 1 w 994903"/>
                <a:gd name="connsiteY6" fmla="*/ 600384 h 600384"/>
                <a:gd name="connsiteX0" fmla="*/ -1 w 994901"/>
                <a:gd name="connsiteY0" fmla="*/ 600384 h 600384"/>
                <a:gd name="connsiteX1" fmla="*/ 731497 w 994901"/>
                <a:gd name="connsiteY1" fmla="*/ 158098 h 600384"/>
                <a:gd name="connsiteX2" fmla="*/ 713684 w 994901"/>
                <a:gd name="connsiteY2" fmla="*/ 0 h 600384"/>
                <a:gd name="connsiteX3" fmla="*/ 994901 w 994901"/>
                <a:gd name="connsiteY3" fmla="*/ 232691 h 600384"/>
                <a:gd name="connsiteX4" fmla="*/ 770744 w 994901"/>
                <a:gd name="connsiteY4" fmla="*/ 506419 h 600384"/>
                <a:gd name="connsiteX5" fmla="*/ 752930 w 994901"/>
                <a:gd name="connsiteY5" fmla="*/ 348321 h 600384"/>
                <a:gd name="connsiteX6" fmla="*/ -1 w 994901"/>
                <a:gd name="connsiteY6" fmla="*/ 600384 h 600384"/>
                <a:gd name="connsiteX0" fmla="*/ 1 w 994903"/>
                <a:gd name="connsiteY0" fmla="*/ 600384 h 600384"/>
                <a:gd name="connsiteX1" fmla="*/ 731499 w 994903"/>
                <a:gd name="connsiteY1" fmla="*/ 158098 h 600384"/>
                <a:gd name="connsiteX2" fmla="*/ 713686 w 994903"/>
                <a:gd name="connsiteY2" fmla="*/ 0 h 600384"/>
                <a:gd name="connsiteX3" fmla="*/ 994903 w 994903"/>
                <a:gd name="connsiteY3" fmla="*/ 232691 h 600384"/>
                <a:gd name="connsiteX4" fmla="*/ 770746 w 994903"/>
                <a:gd name="connsiteY4" fmla="*/ 506419 h 600384"/>
                <a:gd name="connsiteX5" fmla="*/ 752932 w 994903"/>
                <a:gd name="connsiteY5" fmla="*/ 348321 h 600384"/>
                <a:gd name="connsiteX6" fmla="*/ 1 w 994903"/>
                <a:gd name="connsiteY6" fmla="*/ 600384 h 600384"/>
                <a:gd name="connsiteX0" fmla="*/ -1 w 994901"/>
                <a:gd name="connsiteY0" fmla="*/ 600384 h 600384"/>
                <a:gd name="connsiteX1" fmla="*/ 731497 w 994901"/>
                <a:gd name="connsiteY1" fmla="*/ 158098 h 600384"/>
                <a:gd name="connsiteX2" fmla="*/ 713684 w 994901"/>
                <a:gd name="connsiteY2" fmla="*/ 0 h 600384"/>
                <a:gd name="connsiteX3" fmla="*/ 994901 w 994901"/>
                <a:gd name="connsiteY3" fmla="*/ 232691 h 600384"/>
                <a:gd name="connsiteX4" fmla="*/ 770744 w 994901"/>
                <a:gd name="connsiteY4" fmla="*/ 506419 h 600384"/>
                <a:gd name="connsiteX5" fmla="*/ 752930 w 994901"/>
                <a:gd name="connsiteY5" fmla="*/ 348321 h 600384"/>
                <a:gd name="connsiteX6" fmla="*/ -1 w 994901"/>
                <a:gd name="connsiteY6" fmla="*/ 600384 h 60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4901" h="600384">
                  <a:moveTo>
                    <a:pt x="-1" y="600384"/>
                  </a:moveTo>
                  <a:cubicBezTo>
                    <a:pt x="87490" y="490791"/>
                    <a:pt x="-9394" y="333762"/>
                    <a:pt x="731497" y="158098"/>
                  </a:cubicBezTo>
                  <a:lnTo>
                    <a:pt x="713684" y="0"/>
                  </a:lnTo>
                  <a:lnTo>
                    <a:pt x="994901" y="232691"/>
                  </a:lnTo>
                  <a:lnTo>
                    <a:pt x="770744" y="506419"/>
                  </a:lnTo>
                  <a:lnTo>
                    <a:pt x="752930" y="348321"/>
                  </a:lnTo>
                  <a:cubicBezTo>
                    <a:pt x="87865" y="418587"/>
                    <a:pt x="33959" y="578434"/>
                    <a:pt x="-1" y="60038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square" lIns="36000" rIns="36000" anchor="ctr">
              <a:noAutofit/>
            </a:bodyPr>
            <a:lstStyle/>
            <a:p>
              <a:pPr latinLnBrk="0"/>
              <a:endParaRPr lang="ko-KR" altLang="en-US" sz="1200" i="1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4" name="Oval 17">
              <a:extLst>
                <a:ext uri="{FF2B5EF4-FFF2-40B4-BE49-F238E27FC236}">
                  <a16:creationId xmlns:a16="http://schemas.microsoft.com/office/drawing/2014/main" id="{503342A2-5347-AAEA-116A-8A9400B70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814" y="3892934"/>
              <a:ext cx="280246" cy="250394"/>
            </a:xfrm>
            <a:prstGeom prst="ellipse">
              <a:avLst/>
            </a:prstGeom>
            <a:solidFill>
              <a:schemeClr val="bg1"/>
            </a:solidFill>
            <a:ln w="12700" algn="ctr">
              <a:noFill/>
              <a:round/>
              <a:headEnd/>
              <a:tailEnd/>
            </a:ln>
            <a:effectLst>
              <a:outerShdw blurRad="63500" sx="110000" sy="110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b" anchorCtr="1"/>
            <a:lstStyle/>
            <a:p>
              <a:pPr algn="ctr" latinLnBrk="0"/>
              <a:r>
                <a:rPr lang="en-US" altLang="ko-KR" sz="1100" b="1" kern="0" spc="-50" dirty="0">
                  <a:latin typeface="+mn-ea"/>
                  <a:cs typeface="Arial" charset="0"/>
                </a:rPr>
                <a:t>As-is</a:t>
              </a:r>
            </a:p>
            <a:p>
              <a:pPr algn="ctr" latinLnBrk="0"/>
              <a:r>
                <a:rPr lang="en-US" altLang="ko-KR" sz="1100" b="1" kern="0" spc="-50" dirty="0">
                  <a:latin typeface="+mn-ea"/>
                  <a:cs typeface="Arial" charset="0"/>
                </a:rPr>
                <a:t>Lv.2</a:t>
              </a:r>
            </a:p>
          </p:txBody>
        </p:sp>
      </p:grpSp>
      <p:pic>
        <p:nvPicPr>
          <p:cNvPr id="25" name="그림 24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021A77-6AED-7986-470A-9E22134B35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821" y="2625568"/>
            <a:ext cx="1397213" cy="36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4128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6809822-AFD8-7CCF-B4EC-C33251C403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베이시스소프트는</a:t>
            </a:r>
            <a:r>
              <a:rPr lang="ko-KR" altLang="en-US" dirty="0"/>
              <a:t> 컨설팅 종료 후 </a:t>
            </a:r>
            <a:r>
              <a:rPr lang="en-US" altLang="ko-KR" dirty="0"/>
              <a:t>3</a:t>
            </a:r>
            <a:r>
              <a:rPr lang="ko-KR" altLang="en-US" dirty="0"/>
              <a:t>개월 간 컨설팅 이행을 위한 전담팀을 구성하여 </a:t>
            </a:r>
            <a:r>
              <a:rPr lang="en-US" altLang="ko-KR" dirty="0"/>
              <a:t>2025</a:t>
            </a:r>
            <a:r>
              <a:rPr lang="ko-KR" altLang="en-US" dirty="0"/>
              <a:t>년도 인사평가에 나머지 제도 개선안을 반영하기 위한 인프라를 단계적으로 구축해 나갈 계획임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A6A66D-06F1-764F-9507-ED13B31F94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Ⅴ. </a:t>
            </a:r>
            <a:r>
              <a:rPr lang="ko-KR" altLang="en-US" dirty="0"/>
              <a:t>변화관리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9B3751-39B9-4308-8B1B-0FEECB26D9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제도이행계획 수립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CA69405-7E97-5803-9D94-E42F917E2D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C000A1-4540-216F-9ED5-64F71CAB0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6165"/>
              </p:ext>
            </p:extLst>
          </p:nvPr>
        </p:nvGraphicFramePr>
        <p:xfrm>
          <a:off x="4976657" y="2371750"/>
          <a:ext cx="4654438" cy="1113152"/>
        </p:xfrm>
        <a:graphic>
          <a:graphicData uri="http://schemas.openxmlformats.org/drawingml/2006/table">
            <a:tbl>
              <a:tblPr/>
              <a:tblGrid>
                <a:gridCol w="513205">
                  <a:extLst>
                    <a:ext uri="{9D8B030D-6E8A-4147-A177-3AD203B41FA5}">
                      <a16:colId xmlns:a16="http://schemas.microsoft.com/office/drawing/2014/main" val="2327530000"/>
                    </a:ext>
                  </a:extLst>
                </a:gridCol>
                <a:gridCol w="605526">
                  <a:extLst>
                    <a:ext uri="{9D8B030D-6E8A-4147-A177-3AD203B41FA5}">
                      <a16:colId xmlns:a16="http://schemas.microsoft.com/office/drawing/2014/main" val="2828129812"/>
                    </a:ext>
                  </a:extLst>
                </a:gridCol>
                <a:gridCol w="636912">
                  <a:extLst>
                    <a:ext uri="{9D8B030D-6E8A-4147-A177-3AD203B41FA5}">
                      <a16:colId xmlns:a16="http://schemas.microsoft.com/office/drawing/2014/main" val="1209289628"/>
                    </a:ext>
                  </a:extLst>
                </a:gridCol>
                <a:gridCol w="578248">
                  <a:extLst>
                    <a:ext uri="{9D8B030D-6E8A-4147-A177-3AD203B41FA5}">
                      <a16:colId xmlns:a16="http://schemas.microsoft.com/office/drawing/2014/main" val="1338319799"/>
                    </a:ext>
                  </a:extLst>
                </a:gridCol>
                <a:gridCol w="2320547">
                  <a:extLst>
                    <a:ext uri="{9D8B030D-6E8A-4147-A177-3AD203B41FA5}">
                      <a16:colId xmlns:a16="http://schemas.microsoft.com/office/drawing/2014/main" val="499318954"/>
                    </a:ext>
                  </a:extLst>
                </a:gridCol>
              </a:tblGrid>
              <a:tr h="214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부서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직급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성명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주요 </a:t>
                      </a:r>
                      <a:r>
                        <a:rPr lang="en-US" altLang="ko-KR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R&amp;R</a:t>
                      </a:r>
                      <a:endParaRPr lang="ko-KR" altLang="en-US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756759"/>
                  </a:ext>
                </a:extLst>
              </a:tr>
              <a:tr h="4709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관리 책임자</a:t>
                      </a:r>
                    </a:p>
                  </a:txBody>
                  <a:tcPr marL="36000" marR="36000" marT="17907" marB="1790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전략</a:t>
                      </a:r>
                      <a:endParaRPr lang="en-US" altLang="ko-KR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기획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부장</a:t>
                      </a:r>
                      <a:endParaRPr lang="en-US" altLang="ko-KR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하은주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-93663" algn="l" defTabSz="9398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제도 도입 및 운영을 위한 후속조치 마련</a:t>
                      </a:r>
                      <a:endParaRPr lang="en-US" altLang="ko-KR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3663" marR="0" lvl="0" indent="-93663" algn="l" defTabSz="9398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noProof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경영진 및 근로자 간 의견 조율</a:t>
                      </a:r>
                      <a:endParaRPr lang="en-US" altLang="ko-KR" sz="1050" b="0" kern="1200" noProof="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235417"/>
                  </a:ext>
                </a:extLst>
              </a:tr>
              <a:tr h="4281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구성원</a:t>
                      </a:r>
                    </a:p>
                  </a:txBody>
                  <a:tcPr marL="36000" marR="36000" marT="17907" marB="1790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솔루션사업부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과장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김우람</a:t>
                      </a:r>
                      <a:endParaRPr lang="ko-KR" altLang="en-US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-93663" algn="l" defTabSz="9398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제도 도입 및 운영을 위한</a:t>
                      </a:r>
                      <a:br>
                        <a:rPr lang="en-US" altLang="ko-KR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사내 커뮤니케이션 주도</a:t>
                      </a:r>
                      <a:endParaRPr lang="en-US" altLang="ko-KR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172201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C218CB8C-5A97-CAB9-5C2F-75F4E68CECE4}"/>
              </a:ext>
            </a:extLst>
          </p:cNvPr>
          <p:cNvGrpSpPr/>
          <p:nvPr/>
        </p:nvGrpSpPr>
        <p:grpSpPr>
          <a:xfrm>
            <a:off x="252045" y="1642657"/>
            <a:ext cx="9390428" cy="310046"/>
            <a:chOff x="252045" y="1613024"/>
            <a:chExt cx="9390428" cy="31004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AAB08FD-3B31-59D0-A645-6CF464D9A184}"/>
                </a:ext>
              </a:extLst>
            </p:cNvPr>
            <p:cNvSpPr/>
            <p:nvPr/>
          </p:nvSpPr>
          <p:spPr>
            <a:xfrm>
              <a:off x="252045" y="1613024"/>
              <a:ext cx="9390428" cy="300521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ko-KR" altLang="en-US" sz="1400" dirty="0">
                  <a:ln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/>
                  </a:solidFill>
                </a:rPr>
                <a:t>이행계획 개요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9AD6999-4779-B34C-BB97-B7C80145B2B3}"/>
                </a:ext>
              </a:extLst>
            </p:cNvPr>
            <p:cNvCxnSpPr/>
            <p:nvPr/>
          </p:nvCxnSpPr>
          <p:spPr>
            <a:xfrm>
              <a:off x="271095" y="1923070"/>
              <a:ext cx="9360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577C365E-113B-0A4B-0517-EB0265BFF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029755"/>
              </p:ext>
            </p:extLst>
          </p:nvPr>
        </p:nvGraphicFramePr>
        <p:xfrm>
          <a:off x="273050" y="2371751"/>
          <a:ext cx="4213889" cy="1113151"/>
        </p:xfrm>
        <a:graphic>
          <a:graphicData uri="http://schemas.openxmlformats.org/drawingml/2006/table">
            <a:tbl>
              <a:tblPr/>
              <a:tblGrid>
                <a:gridCol w="937393">
                  <a:extLst>
                    <a:ext uri="{9D8B030D-6E8A-4147-A177-3AD203B41FA5}">
                      <a16:colId xmlns:a16="http://schemas.microsoft.com/office/drawing/2014/main" val="2792360942"/>
                    </a:ext>
                  </a:extLst>
                </a:gridCol>
                <a:gridCol w="662956">
                  <a:extLst>
                    <a:ext uri="{9D8B030D-6E8A-4147-A177-3AD203B41FA5}">
                      <a16:colId xmlns:a16="http://schemas.microsoft.com/office/drawing/2014/main" val="3704765339"/>
                    </a:ext>
                  </a:extLst>
                </a:gridCol>
                <a:gridCol w="684116">
                  <a:extLst>
                    <a:ext uri="{9D8B030D-6E8A-4147-A177-3AD203B41FA5}">
                      <a16:colId xmlns:a16="http://schemas.microsoft.com/office/drawing/2014/main" val="3949324978"/>
                    </a:ext>
                  </a:extLst>
                </a:gridCol>
                <a:gridCol w="1929424">
                  <a:extLst>
                    <a:ext uri="{9D8B030D-6E8A-4147-A177-3AD203B41FA5}">
                      <a16:colId xmlns:a16="http://schemas.microsoft.com/office/drawing/2014/main" val="1561740419"/>
                    </a:ext>
                  </a:extLst>
                </a:gridCol>
              </a:tblGrid>
              <a:tr h="2490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직급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성명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주요 </a:t>
                      </a:r>
                      <a:r>
                        <a:rPr lang="en-US" altLang="ko-KR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R&amp;R</a:t>
                      </a:r>
                      <a:endParaRPr lang="ko-KR" altLang="en-US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828057"/>
                  </a:ext>
                </a:extLst>
              </a:tr>
              <a:tr h="8640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컨설팅</a:t>
                      </a:r>
                      <a:endParaRPr lang="en-US" altLang="ko-KR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수행기관</a:t>
                      </a:r>
                      <a:endParaRPr lang="ko-KR" altLang="en-US" sz="1100" b="0" kern="0" spc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컨설턴트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OOO</a:t>
                      </a:r>
                      <a:endParaRPr lang="ko-KR" altLang="en-US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-93663" algn="l" defTabSz="9398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제도 이행계획 모니터링</a:t>
                      </a:r>
                      <a:endParaRPr lang="en-US" altLang="ko-KR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93663" marR="0" lvl="0" indent="-93663" algn="l" defTabSz="9398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50" b="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이행활동 전반 자문 및 지원</a:t>
                      </a:r>
                      <a:endParaRPr lang="en-US" altLang="ko-KR" sz="1050" b="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4356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20238AF7-B583-3A66-3457-6772A30516AF}"/>
              </a:ext>
            </a:extLst>
          </p:cNvPr>
          <p:cNvGrpSpPr/>
          <p:nvPr/>
        </p:nvGrpSpPr>
        <p:grpSpPr>
          <a:xfrm>
            <a:off x="306682" y="2118354"/>
            <a:ext cx="1498308" cy="184666"/>
            <a:chOff x="5235921" y="2165585"/>
            <a:chExt cx="1498308" cy="18466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5F765FB-E462-19F6-6E30-0530E8289419}"/>
                </a:ext>
              </a:extLst>
            </p:cNvPr>
            <p:cNvSpPr/>
            <p:nvPr/>
          </p:nvSpPr>
          <p:spPr>
            <a:xfrm>
              <a:off x="5374941" y="2165585"/>
              <a:ext cx="1359288" cy="184666"/>
            </a:xfrm>
            <a:prstGeom prst="rect">
              <a:avLst/>
            </a:prstGeom>
          </p:spPr>
          <p:txBody>
            <a:bodyPr wrap="squar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lang="ko-KR" altLang="en-US" sz="1200" dirty="0">
                  <a:latin typeface="+mj-ea"/>
                  <a:ea typeface="+mj-ea"/>
                </a:rPr>
                <a:t>컨설팅 이행 </a:t>
              </a:r>
              <a:r>
                <a:rPr lang="ko-KR" altLang="en-US" sz="1200" dirty="0" err="1">
                  <a:latin typeface="+mj-ea"/>
                  <a:ea typeface="+mj-ea"/>
                </a:rPr>
                <a:t>전담팀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5" name="순서도: 연결자 14">
              <a:extLst>
                <a:ext uri="{FF2B5EF4-FFF2-40B4-BE49-F238E27FC236}">
                  <a16:creationId xmlns:a16="http://schemas.microsoft.com/office/drawing/2014/main" id="{0C786AA0-DBB0-0EF5-038B-1B7191F2D521}"/>
                </a:ext>
              </a:extLst>
            </p:cNvPr>
            <p:cNvSpPr/>
            <p:nvPr/>
          </p:nvSpPr>
          <p:spPr>
            <a:xfrm>
              <a:off x="5235921" y="2203918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F47E75F-0B8F-1CE5-D873-4273A4E4F599}"/>
              </a:ext>
            </a:extLst>
          </p:cNvPr>
          <p:cNvGrpSpPr/>
          <p:nvPr/>
        </p:nvGrpSpPr>
        <p:grpSpPr>
          <a:xfrm>
            <a:off x="283944" y="4006814"/>
            <a:ext cx="1498308" cy="184666"/>
            <a:chOff x="5235921" y="2165585"/>
            <a:chExt cx="1498308" cy="184666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6EE4140-E631-AC0C-7BA1-36563B6711CB}"/>
                </a:ext>
              </a:extLst>
            </p:cNvPr>
            <p:cNvSpPr/>
            <p:nvPr/>
          </p:nvSpPr>
          <p:spPr>
            <a:xfrm>
              <a:off x="5374941" y="2165585"/>
              <a:ext cx="1359288" cy="184666"/>
            </a:xfrm>
            <a:prstGeom prst="rect">
              <a:avLst/>
            </a:prstGeom>
          </p:spPr>
          <p:txBody>
            <a:bodyPr wrap="square" lIns="36000" tIns="0" bIns="0">
              <a:spAutoFit/>
            </a:bodyPr>
            <a:lstStyle/>
            <a:p>
              <a:pPr marR="0" lvl="0" algn="l" defTabSz="91412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20000"/>
                <a:tabLst/>
                <a:defRPr/>
              </a:pPr>
              <a:r>
                <a:rPr lang="ko-KR" altLang="en-US" sz="1200" dirty="0">
                  <a:latin typeface="+mj-ea"/>
                  <a:ea typeface="+mj-ea"/>
                </a:rPr>
                <a:t>이행계획 개요</a:t>
              </a:r>
            </a:p>
          </p:txBody>
        </p:sp>
        <p:sp>
          <p:nvSpPr>
            <p:cNvPr id="22" name="순서도: 연결자 21">
              <a:extLst>
                <a:ext uri="{FF2B5EF4-FFF2-40B4-BE49-F238E27FC236}">
                  <a16:creationId xmlns:a16="http://schemas.microsoft.com/office/drawing/2014/main" id="{759DAE24-5B2E-C043-D59A-384FCC0AF248}"/>
                </a:ext>
              </a:extLst>
            </p:cNvPr>
            <p:cNvSpPr/>
            <p:nvPr/>
          </p:nvSpPr>
          <p:spPr>
            <a:xfrm>
              <a:off x="5235921" y="2203918"/>
              <a:ext cx="108000" cy="108000"/>
            </a:xfrm>
            <a:prstGeom prst="flowChartConnector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300" b="1" i="0" u="none" strike="noStrike" kern="0" cap="none" spc="0" normalizeH="0" baseline="0" noProof="0" dirty="0"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2182D21-9188-E504-9966-FE6EE95C8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148454"/>
              </p:ext>
            </p:extLst>
          </p:nvPr>
        </p:nvGraphicFramePr>
        <p:xfrm>
          <a:off x="273050" y="4412362"/>
          <a:ext cx="9359898" cy="1611576"/>
        </p:xfrm>
        <a:graphic>
          <a:graphicData uri="http://schemas.openxmlformats.org/drawingml/2006/table">
            <a:tbl>
              <a:tblPr/>
              <a:tblGrid>
                <a:gridCol w="1073547">
                  <a:extLst>
                    <a:ext uri="{9D8B030D-6E8A-4147-A177-3AD203B41FA5}">
                      <a16:colId xmlns:a16="http://schemas.microsoft.com/office/drawing/2014/main" val="3542230476"/>
                    </a:ext>
                  </a:extLst>
                </a:gridCol>
                <a:gridCol w="1311725">
                  <a:extLst>
                    <a:ext uri="{9D8B030D-6E8A-4147-A177-3AD203B41FA5}">
                      <a16:colId xmlns:a16="http://schemas.microsoft.com/office/drawing/2014/main" val="816830119"/>
                    </a:ext>
                  </a:extLst>
                </a:gridCol>
                <a:gridCol w="1451554">
                  <a:extLst>
                    <a:ext uri="{9D8B030D-6E8A-4147-A177-3AD203B41FA5}">
                      <a16:colId xmlns:a16="http://schemas.microsoft.com/office/drawing/2014/main" val="2085733626"/>
                    </a:ext>
                  </a:extLst>
                </a:gridCol>
                <a:gridCol w="1451554">
                  <a:extLst>
                    <a:ext uri="{9D8B030D-6E8A-4147-A177-3AD203B41FA5}">
                      <a16:colId xmlns:a16="http://schemas.microsoft.com/office/drawing/2014/main" val="1973928280"/>
                    </a:ext>
                  </a:extLst>
                </a:gridCol>
                <a:gridCol w="4071518">
                  <a:extLst>
                    <a:ext uri="{9D8B030D-6E8A-4147-A177-3AD203B41FA5}">
                      <a16:colId xmlns:a16="http://schemas.microsoft.com/office/drawing/2014/main" val="279105252"/>
                    </a:ext>
                  </a:extLst>
                </a:gridCol>
              </a:tblGrid>
              <a:tr h="31046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요구사항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계획일정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결과일정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이행지원 활동 계획</a:t>
                      </a: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401328"/>
                  </a:ext>
                </a:extLst>
              </a:tr>
              <a:tr h="6602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임금체계 재설계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역할급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임금체계 운영 지원</a:t>
                      </a: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2025. 10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2025. 12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역할급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임금체계 재설계에 따른 이슈사항 및 제도 정착 자문</a:t>
                      </a: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769635"/>
                  </a:ext>
                </a:extLst>
              </a:tr>
              <a:tr h="32045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평가체계 설계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업적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역할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역량 평가 체계 운영 지원</a:t>
                      </a: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2025. 11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2025. 12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평가체계 운영을 위한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toolkit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지원 및 교육</a:t>
                      </a: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050433"/>
                  </a:ext>
                </a:extLst>
              </a:tr>
              <a:tr h="320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2026. 01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2026. 01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평가체계 운영 과정에서의 이슈사항 및 대응 방안 자문</a:t>
                      </a:r>
                    </a:p>
                  </a:txBody>
                  <a:tcPr marL="55972" marR="55972" marT="15475" marB="154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917436"/>
                  </a:ext>
                </a:extLst>
              </a:tr>
            </a:tbl>
          </a:graphicData>
        </a:graphic>
      </p:graphicFrame>
      <p:grpSp>
        <p:nvGrpSpPr>
          <p:cNvPr id="31" name="Group 9">
            <a:extLst>
              <a:ext uri="{FF2B5EF4-FFF2-40B4-BE49-F238E27FC236}">
                <a16:creationId xmlns:a16="http://schemas.microsoft.com/office/drawing/2014/main" id="{184A18D1-2101-7680-6FD3-6FFF1014B190}"/>
              </a:ext>
            </a:extLst>
          </p:cNvPr>
          <p:cNvGrpSpPr>
            <a:grpSpLocks/>
          </p:cNvGrpSpPr>
          <p:nvPr/>
        </p:nvGrpSpPr>
        <p:grpSpPr bwMode="auto">
          <a:xfrm rot="4197253">
            <a:off x="4541274" y="2848701"/>
            <a:ext cx="335964" cy="262184"/>
            <a:chOff x="4156" y="843"/>
            <a:chExt cx="894" cy="667"/>
          </a:xfrm>
        </p:grpSpPr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B76B1DF8-9892-DE14-14B0-10F1F2822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843"/>
              <a:ext cx="495" cy="667"/>
            </a:xfrm>
            <a:custGeom>
              <a:avLst/>
              <a:gdLst>
                <a:gd name="T0" fmla="*/ 87 w 2613"/>
                <a:gd name="T1" fmla="*/ 583 h 3524"/>
                <a:gd name="T2" fmla="*/ 320 w 2613"/>
                <a:gd name="T3" fmla="*/ 384 h 3524"/>
                <a:gd name="T4" fmla="*/ 511 w 2613"/>
                <a:gd name="T5" fmla="*/ 249 h 3524"/>
                <a:gd name="T6" fmla="*/ 691 w 2613"/>
                <a:gd name="T7" fmla="*/ 146 h 3524"/>
                <a:gd name="T8" fmla="*/ 885 w 2613"/>
                <a:gd name="T9" fmla="*/ 62 h 3524"/>
                <a:gd name="T10" fmla="*/ 1046 w 2613"/>
                <a:gd name="T11" fmla="*/ 18 h 3524"/>
                <a:gd name="T12" fmla="*/ 1148 w 2613"/>
                <a:gd name="T13" fmla="*/ 3 h 3524"/>
                <a:gd name="T14" fmla="*/ 1250 w 2613"/>
                <a:gd name="T15" fmla="*/ 0 h 3524"/>
                <a:gd name="T16" fmla="*/ 1352 w 2613"/>
                <a:gd name="T17" fmla="*/ 10 h 3524"/>
                <a:gd name="T18" fmla="*/ 1452 w 2613"/>
                <a:gd name="T19" fmla="*/ 35 h 3524"/>
                <a:gd name="T20" fmla="*/ 1551 w 2613"/>
                <a:gd name="T21" fmla="*/ 75 h 3524"/>
                <a:gd name="T22" fmla="*/ 1647 w 2613"/>
                <a:gd name="T23" fmla="*/ 133 h 3524"/>
                <a:gd name="T24" fmla="*/ 1741 w 2613"/>
                <a:gd name="T25" fmla="*/ 210 h 3524"/>
                <a:gd name="T26" fmla="*/ 1830 w 2613"/>
                <a:gd name="T27" fmla="*/ 307 h 3524"/>
                <a:gd name="T28" fmla="*/ 1915 w 2613"/>
                <a:gd name="T29" fmla="*/ 426 h 3524"/>
                <a:gd name="T30" fmla="*/ 1978 w 2613"/>
                <a:gd name="T31" fmla="*/ 537 h 3524"/>
                <a:gd name="T32" fmla="*/ 2007 w 2613"/>
                <a:gd name="T33" fmla="*/ 612 h 3524"/>
                <a:gd name="T34" fmla="*/ 2025 w 2613"/>
                <a:gd name="T35" fmla="*/ 689 h 3524"/>
                <a:gd name="T36" fmla="*/ 2033 w 2613"/>
                <a:gd name="T37" fmla="*/ 771 h 3524"/>
                <a:gd name="T38" fmla="*/ 2032 w 2613"/>
                <a:gd name="T39" fmla="*/ 860 h 3524"/>
                <a:gd name="T40" fmla="*/ 2016 w 2613"/>
                <a:gd name="T41" fmla="*/ 970 h 3524"/>
                <a:gd name="T42" fmla="*/ 1961 w 2613"/>
                <a:gd name="T43" fmla="*/ 1158 h 3524"/>
                <a:gd name="T44" fmla="*/ 1874 w 2613"/>
                <a:gd name="T45" fmla="*/ 1350 h 3524"/>
                <a:gd name="T46" fmla="*/ 1762 w 2613"/>
                <a:gd name="T47" fmla="*/ 1542 h 3524"/>
                <a:gd name="T48" fmla="*/ 1629 w 2613"/>
                <a:gd name="T49" fmla="*/ 1729 h 3524"/>
                <a:gd name="T50" fmla="*/ 1389 w 2613"/>
                <a:gd name="T51" fmla="*/ 2013 h 3524"/>
                <a:gd name="T52" fmla="*/ 1072 w 2613"/>
                <a:gd name="T53" fmla="*/ 2317 h 3524"/>
                <a:gd name="T54" fmla="*/ 807 w 2613"/>
                <a:gd name="T55" fmla="*/ 2522 h 3524"/>
                <a:gd name="T56" fmla="*/ 680 w 2613"/>
                <a:gd name="T57" fmla="*/ 2599 h 3524"/>
                <a:gd name="T58" fmla="*/ 576 w 2613"/>
                <a:gd name="T59" fmla="*/ 2646 h 3524"/>
                <a:gd name="T60" fmla="*/ 1296 w 2613"/>
                <a:gd name="T61" fmla="*/ 3329 h 3524"/>
                <a:gd name="T62" fmla="*/ 1523 w 2613"/>
                <a:gd name="T63" fmla="*/ 3187 h 3524"/>
                <a:gd name="T64" fmla="*/ 1824 w 2613"/>
                <a:gd name="T65" fmla="*/ 2957 h 3524"/>
                <a:gd name="T66" fmla="*/ 2009 w 2613"/>
                <a:gd name="T67" fmla="*/ 2788 h 3524"/>
                <a:gd name="T68" fmla="*/ 2191 w 2613"/>
                <a:gd name="T69" fmla="*/ 2591 h 3524"/>
                <a:gd name="T70" fmla="*/ 2355 w 2613"/>
                <a:gd name="T71" fmla="*/ 2369 h 3524"/>
                <a:gd name="T72" fmla="*/ 2477 w 2613"/>
                <a:gd name="T73" fmla="*/ 2149 h 3524"/>
                <a:gd name="T74" fmla="*/ 2531 w 2613"/>
                <a:gd name="T75" fmla="*/ 2019 h 3524"/>
                <a:gd name="T76" fmla="*/ 2573 w 2613"/>
                <a:gd name="T77" fmla="*/ 1884 h 3524"/>
                <a:gd name="T78" fmla="*/ 2600 w 2613"/>
                <a:gd name="T79" fmla="*/ 1744 h 3524"/>
                <a:gd name="T80" fmla="*/ 2612 w 2613"/>
                <a:gd name="T81" fmla="*/ 1599 h 3524"/>
                <a:gd name="T82" fmla="*/ 2607 w 2613"/>
                <a:gd name="T83" fmla="*/ 1450 h 3524"/>
                <a:gd name="T84" fmla="*/ 2584 w 2613"/>
                <a:gd name="T85" fmla="*/ 1297 h 3524"/>
                <a:gd name="T86" fmla="*/ 2539 w 2613"/>
                <a:gd name="T87" fmla="*/ 1139 h 3524"/>
                <a:gd name="T88" fmla="*/ 2473 w 2613"/>
                <a:gd name="T89" fmla="*/ 978 h 3524"/>
                <a:gd name="T90" fmla="*/ 1902 w 2613"/>
                <a:gd name="T91" fmla="*/ 407 h 3524"/>
                <a:gd name="T92" fmla="*/ 1965 w 2613"/>
                <a:gd name="T93" fmla="*/ 511 h 3524"/>
                <a:gd name="T94" fmla="*/ 2006 w 2613"/>
                <a:gd name="T95" fmla="*/ 607 h 3524"/>
                <a:gd name="T96" fmla="*/ 2026 w 2613"/>
                <a:gd name="T97" fmla="*/ 682 h 3524"/>
                <a:gd name="T98" fmla="*/ 2021 w 2613"/>
                <a:gd name="T99" fmla="*/ 741 h 3524"/>
                <a:gd name="T100" fmla="*/ 1868 w 2613"/>
                <a:gd name="T101" fmla="*/ 730 h 3524"/>
                <a:gd name="T102" fmla="*/ 1665 w 2613"/>
                <a:gd name="T103" fmla="*/ 740 h 3524"/>
                <a:gd name="T104" fmla="*/ 1437 w 2613"/>
                <a:gd name="T105" fmla="*/ 782 h 3524"/>
                <a:gd name="T106" fmla="*/ 1297 w 2613"/>
                <a:gd name="T107" fmla="*/ 824 h 3524"/>
                <a:gd name="T108" fmla="*/ 1152 w 2613"/>
                <a:gd name="T109" fmla="*/ 884 h 3524"/>
                <a:gd name="T110" fmla="*/ 1003 w 2613"/>
                <a:gd name="T111" fmla="*/ 963 h 3524"/>
                <a:gd name="T112" fmla="*/ 854 w 2613"/>
                <a:gd name="T113" fmla="*/ 1065 h 3524"/>
                <a:gd name="T114" fmla="*/ 708 w 2613"/>
                <a:gd name="T115" fmla="*/ 1192 h 3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13" h="3524">
                  <a:moveTo>
                    <a:pt x="650" y="1251"/>
                  </a:moveTo>
                  <a:lnTo>
                    <a:pt x="0" y="670"/>
                  </a:lnTo>
                  <a:lnTo>
                    <a:pt x="15" y="655"/>
                  </a:lnTo>
                  <a:lnTo>
                    <a:pt x="57" y="613"/>
                  </a:lnTo>
                  <a:lnTo>
                    <a:pt x="87" y="583"/>
                  </a:lnTo>
                  <a:lnTo>
                    <a:pt x="124" y="550"/>
                  </a:lnTo>
                  <a:lnTo>
                    <a:pt x="165" y="512"/>
                  </a:lnTo>
                  <a:lnTo>
                    <a:pt x="212" y="471"/>
                  </a:lnTo>
                  <a:lnTo>
                    <a:pt x="264" y="429"/>
                  </a:lnTo>
                  <a:lnTo>
                    <a:pt x="320" y="384"/>
                  </a:lnTo>
                  <a:lnTo>
                    <a:pt x="380" y="339"/>
                  </a:lnTo>
                  <a:lnTo>
                    <a:pt x="411" y="317"/>
                  </a:lnTo>
                  <a:lnTo>
                    <a:pt x="444" y="294"/>
                  </a:lnTo>
                  <a:lnTo>
                    <a:pt x="477" y="272"/>
                  </a:lnTo>
                  <a:lnTo>
                    <a:pt x="511" y="249"/>
                  </a:lnTo>
                  <a:lnTo>
                    <a:pt x="545" y="228"/>
                  </a:lnTo>
                  <a:lnTo>
                    <a:pt x="581" y="206"/>
                  </a:lnTo>
                  <a:lnTo>
                    <a:pt x="617" y="185"/>
                  </a:lnTo>
                  <a:lnTo>
                    <a:pt x="654" y="165"/>
                  </a:lnTo>
                  <a:lnTo>
                    <a:pt x="691" y="146"/>
                  </a:lnTo>
                  <a:lnTo>
                    <a:pt x="729" y="127"/>
                  </a:lnTo>
                  <a:lnTo>
                    <a:pt x="767" y="109"/>
                  </a:lnTo>
                  <a:lnTo>
                    <a:pt x="806" y="93"/>
                  </a:lnTo>
                  <a:lnTo>
                    <a:pt x="845" y="77"/>
                  </a:lnTo>
                  <a:lnTo>
                    <a:pt x="885" y="62"/>
                  </a:lnTo>
                  <a:lnTo>
                    <a:pt x="925" y="49"/>
                  </a:lnTo>
                  <a:lnTo>
                    <a:pt x="965" y="37"/>
                  </a:lnTo>
                  <a:lnTo>
                    <a:pt x="1005" y="27"/>
                  </a:lnTo>
                  <a:lnTo>
                    <a:pt x="1025" y="22"/>
                  </a:lnTo>
                  <a:lnTo>
                    <a:pt x="1046" y="18"/>
                  </a:lnTo>
                  <a:lnTo>
                    <a:pt x="1066" y="14"/>
                  </a:lnTo>
                  <a:lnTo>
                    <a:pt x="1087" y="11"/>
                  </a:lnTo>
                  <a:lnTo>
                    <a:pt x="1107" y="8"/>
                  </a:lnTo>
                  <a:lnTo>
                    <a:pt x="1127" y="5"/>
                  </a:lnTo>
                  <a:lnTo>
                    <a:pt x="1148" y="3"/>
                  </a:lnTo>
                  <a:lnTo>
                    <a:pt x="1168" y="2"/>
                  </a:lnTo>
                  <a:lnTo>
                    <a:pt x="1189" y="1"/>
                  </a:lnTo>
                  <a:lnTo>
                    <a:pt x="1209" y="0"/>
                  </a:lnTo>
                  <a:lnTo>
                    <a:pt x="1230" y="0"/>
                  </a:lnTo>
                  <a:lnTo>
                    <a:pt x="1250" y="0"/>
                  </a:lnTo>
                  <a:lnTo>
                    <a:pt x="1270" y="1"/>
                  </a:lnTo>
                  <a:lnTo>
                    <a:pt x="1291" y="2"/>
                  </a:lnTo>
                  <a:lnTo>
                    <a:pt x="1311" y="4"/>
                  </a:lnTo>
                  <a:lnTo>
                    <a:pt x="1331" y="7"/>
                  </a:lnTo>
                  <a:lnTo>
                    <a:pt x="1352" y="10"/>
                  </a:lnTo>
                  <a:lnTo>
                    <a:pt x="1372" y="14"/>
                  </a:lnTo>
                  <a:lnTo>
                    <a:pt x="1392" y="18"/>
                  </a:lnTo>
                  <a:lnTo>
                    <a:pt x="1412" y="23"/>
                  </a:lnTo>
                  <a:lnTo>
                    <a:pt x="1432" y="29"/>
                  </a:lnTo>
                  <a:lnTo>
                    <a:pt x="1452" y="35"/>
                  </a:lnTo>
                  <a:lnTo>
                    <a:pt x="1472" y="41"/>
                  </a:lnTo>
                  <a:lnTo>
                    <a:pt x="1492" y="49"/>
                  </a:lnTo>
                  <a:lnTo>
                    <a:pt x="1512" y="57"/>
                  </a:lnTo>
                  <a:lnTo>
                    <a:pt x="1532" y="66"/>
                  </a:lnTo>
                  <a:lnTo>
                    <a:pt x="1551" y="75"/>
                  </a:lnTo>
                  <a:lnTo>
                    <a:pt x="1571" y="85"/>
                  </a:lnTo>
                  <a:lnTo>
                    <a:pt x="1590" y="96"/>
                  </a:lnTo>
                  <a:lnTo>
                    <a:pt x="1609" y="108"/>
                  </a:lnTo>
                  <a:lnTo>
                    <a:pt x="1628" y="120"/>
                  </a:lnTo>
                  <a:lnTo>
                    <a:pt x="1647" y="133"/>
                  </a:lnTo>
                  <a:lnTo>
                    <a:pt x="1666" y="147"/>
                  </a:lnTo>
                  <a:lnTo>
                    <a:pt x="1685" y="162"/>
                  </a:lnTo>
                  <a:lnTo>
                    <a:pt x="1704" y="177"/>
                  </a:lnTo>
                  <a:lnTo>
                    <a:pt x="1722" y="193"/>
                  </a:lnTo>
                  <a:lnTo>
                    <a:pt x="1741" y="210"/>
                  </a:lnTo>
                  <a:lnTo>
                    <a:pt x="1759" y="228"/>
                  </a:lnTo>
                  <a:lnTo>
                    <a:pt x="1777" y="246"/>
                  </a:lnTo>
                  <a:lnTo>
                    <a:pt x="1795" y="266"/>
                  </a:lnTo>
                  <a:lnTo>
                    <a:pt x="1812" y="286"/>
                  </a:lnTo>
                  <a:lnTo>
                    <a:pt x="1830" y="307"/>
                  </a:lnTo>
                  <a:lnTo>
                    <a:pt x="1847" y="329"/>
                  </a:lnTo>
                  <a:lnTo>
                    <a:pt x="1864" y="352"/>
                  </a:lnTo>
                  <a:lnTo>
                    <a:pt x="1881" y="376"/>
                  </a:lnTo>
                  <a:lnTo>
                    <a:pt x="1898" y="401"/>
                  </a:lnTo>
                  <a:lnTo>
                    <a:pt x="1915" y="426"/>
                  </a:lnTo>
                  <a:lnTo>
                    <a:pt x="1931" y="453"/>
                  </a:lnTo>
                  <a:lnTo>
                    <a:pt x="1947" y="480"/>
                  </a:lnTo>
                  <a:lnTo>
                    <a:pt x="1963" y="508"/>
                  </a:lnTo>
                  <a:lnTo>
                    <a:pt x="1970" y="523"/>
                  </a:lnTo>
                  <a:lnTo>
                    <a:pt x="1978" y="537"/>
                  </a:lnTo>
                  <a:lnTo>
                    <a:pt x="1984" y="552"/>
                  </a:lnTo>
                  <a:lnTo>
                    <a:pt x="1991" y="567"/>
                  </a:lnTo>
                  <a:lnTo>
                    <a:pt x="1996" y="582"/>
                  </a:lnTo>
                  <a:lnTo>
                    <a:pt x="2002" y="597"/>
                  </a:lnTo>
                  <a:lnTo>
                    <a:pt x="2007" y="612"/>
                  </a:lnTo>
                  <a:lnTo>
                    <a:pt x="2011" y="627"/>
                  </a:lnTo>
                  <a:lnTo>
                    <a:pt x="2015" y="642"/>
                  </a:lnTo>
                  <a:lnTo>
                    <a:pt x="2019" y="658"/>
                  </a:lnTo>
                  <a:lnTo>
                    <a:pt x="2022" y="674"/>
                  </a:lnTo>
                  <a:lnTo>
                    <a:pt x="2025" y="689"/>
                  </a:lnTo>
                  <a:lnTo>
                    <a:pt x="2027" y="705"/>
                  </a:lnTo>
                  <a:lnTo>
                    <a:pt x="2029" y="721"/>
                  </a:lnTo>
                  <a:lnTo>
                    <a:pt x="2031" y="737"/>
                  </a:lnTo>
                  <a:lnTo>
                    <a:pt x="2032" y="753"/>
                  </a:lnTo>
                  <a:lnTo>
                    <a:pt x="2033" y="771"/>
                  </a:lnTo>
                  <a:lnTo>
                    <a:pt x="2034" y="788"/>
                  </a:lnTo>
                  <a:lnTo>
                    <a:pt x="2034" y="806"/>
                  </a:lnTo>
                  <a:lnTo>
                    <a:pt x="2034" y="824"/>
                  </a:lnTo>
                  <a:lnTo>
                    <a:pt x="2033" y="842"/>
                  </a:lnTo>
                  <a:lnTo>
                    <a:pt x="2032" y="860"/>
                  </a:lnTo>
                  <a:lnTo>
                    <a:pt x="2030" y="878"/>
                  </a:lnTo>
                  <a:lnTo>
                    <a:pt x="2028" y="896"/>
                  </a:lnTo>
                  <a:lnTo>
                    <a:pt x="2026" y="914"/>
                  </a:lnTo>
                  <a:lnTo>
                    <a:pt x="2023" y="933"/>
                  </a:lnTo>
                  <a:lnTo>
                    <a:pt x="2016" y="970"/>
                  </a:lnTo>
                  <a:lnTo>
                    <a:pt x="2008" y="1007"/>
                  </a:lnTo>
                  <a:lnTo>
                    <a:pt x="1998" y="1045"/>
                  </a:lnTo>
                  <a:lnTo>
                    <a:pt x="1987" y="1082"/>
                  </a:lnTo>
                  <a:lnTo>
                    <a:pt x="1975" y="1120"/>
                  </a:lnTo>
                  <a:lnTo>
                    <a:pt x="1961" y="1158"/>
                  </a:lnTo>
                  <a:lnTo>
                    <a:pt x="1946" y="1196"/>
                  </a:lnTo>
                  <a:lnTo>
                    <a:pt x="1930" y="1235"/>
                  </a:lnTo>
                  <a:lnTo>
                    <a:pt x="1913" y="1273"/>
                  </a:lnTo>
                  <a:lnTo>
                    <a:pt x="1894" y="1312"/>
                  </a:lnTo>
                  <a:lnTo>
                    <a:pt x="1874" y="1350"/>
                  </a:lnTo>
                  <a:lnTo>
                    <a:pt x="1854" y="1388"/>
                  </a:lnTo>
                  <a:lnTo>
                    <a:pt x="1832" y="1427"/>
                  </a:lnTo>
                  <a:lnTo>
                    <a:pt x="1810" y="1465"/>
                  </a:lnTo>
                  <a:lnTo>
                    <a:pt x="1786" y="1503"/>
                  </a:lnTo>
                  <a:lnTo>
                    <a:pt x="1762" y="1542"/>
                  </a:lnTo>
                  <a:lnTo>
                    <a:pt x="1737" y="1580"/>
                  </a:lnTo>
                  <a:lnTo>
                    <a:pt x="1711" y="1617"/>
                  </a:lnTo>
                  <a:lnTo>
                    <a:pt x="1684" y="1655"/>
                  </a:lnTo>
                  <a:lnTo>
                    <a:pt x="1657" y="1692"/>
                  </a:lnTo>
                  <a:lnTo>
                    <a:pt x="1629" y="1729"/>
                  </a:lnTo>
                  <a:lnTo>
                    <a:pt x="1601" y="1766"/>
                  </a:lnTo>
                  <a:lnTo>
                    <a:pt x="1572" y="1803"/>
                  </a:lnTo>
                  <a:lnTo>
                    <a:pt x="1512" y="1874"/>
                  </a:lnTo>
                  <a:lnTo>
                    <a:pt x="1451" y="1944"/>
                  </a:lnTo>
                  <a:lnTo>
                    <a:pt x="1389" y="2013"/>
                  </a:lnTo>
                  <a:lnTo>
                    <a:pt x="1326" y="2079"/>
                  </a:lnTo>
                  <a:lnTo>
                    <a:pt x="1262" y="2143"/>
                  </a:lnTo>
                  <a:lnTo>
                    <a:pt x="1198" y="2204"/>
                  </a:lnTo>
                  <a:lnTo>
                    <a:pt x="1135" y="2262"/>
                  </a:lnTo>
                  <a:lnTo>
                    <a:pt x="1072" y="2317"/>
                  </a:lnTo>
                  <a:lnTo>
                    <a:pt x="1010" y="2369"/>
                  </a:lnTo>
                  <a:lnTo>
                    <a:pt x="950" y="2418"/>
                  </a:lnTo>
                  <a:lnTo>
                    <a:pt x="891" y="2462"/>
                  </a:lnTo>
                  <a:lnTo>
                    <a:pt x="834" y="2503"/>
                  </a:lnTo>
                  <a:lnTo>
                    <a:pt x="807" y="2522"/>
                  </a:lnTo>
                  <a:lnTo>
                    <a:pt x="780" y="2540"/>
                  </a:lnTo>
                  <a:lnTo>
                    <a:pt x="754" y="2556"/>
                  </a:lnTo>
                  <a:lnTo>
                    <a:pt x="728" y="2572"/>
                  </a:lnTo>
                  <a:lnTo>
                    <a:pt x="704" y="2586"/>
                  </a:lnTo>
                  <a:lnTo>
                    <a:pt x="680" y="2599"/>
                  </a:lnTo>
                  <a:lnTo>
                    <a:pt x="657" y="2611"/>
                  </a:lnTo>
                  <a:lnTo>
                    <a:pt x="635" y="2622"/>
                  </a:lnTo>
                  <a:lnTo>
                    <a:pt x="614" y="2631"/>
                  </a:lnTo>
                  <a:lnTo>
                    <a:pt x="594" y="2639"/>
                  </a:lnTo>
                  <a:lnTo>
                    <a:pt x="576" y="2646"/>
                  </a:lnTo>
                  <a:lnTo>
                    <a:pt x="558" y="2651"/>
                  </a:lnTo>
                  <a:lnTo>
                    <a:pt x="275" y="2383"/>
                  </a:lnTo>
                  <a:lnTo>
                    <a:pt x="548" y="3360"/>
                  </a:lnTo>
                  <a:lnTo>
                    <a:pt x="1501" y="3524"/>
                  </a:lnTo>
                  <a:lnTo>
                    <a:pt x="1296" y="3329"/>
                  </a:lnTo>
                  <a:lnTo>
                    <a:pt x="1317" y="3317"/>
                  </a:lnTo>
                  <a:lnTo>
                    <a:pt x="1377" y="3282"/>
                  </a:lnTo>
                  <a:lnTo>
                    <a:pt x="1419" y="3256"/>
                  </a:lnTo>
                  <a:lnTo>
                    <a:pt x="1468" y="3224"/>
                  </a:lnTo>
                  <a:lnTo>
                    <a:pt x="1523" y="3187"/>
                  </a:lnTo>
                  <a:lnTo>
                    <a:pt x="1583" y="3145"/>
                  </a:lnTo>
                  <a:lnTo>
                    <a:pt x="1648" y="3097"/>
                  </a:lnTo>
                  <a:lnTo>
                    <a:pt x="1716" y="3045"/>
                  </a:lnTo>
                  <a:lnTo>
                    <a:pt x="1787" y="2988"/>
                  </a:lnTo>
                  <a:lnTo>
                    <a:pt x="1824" y="2957"/>
                  </a:lnTo>
                  <a:lnTo>
                    <a:pt x="1861" y="2926"/>
                  </a:lnTo>
                  <a:lnTo>
                    <a:pt x="1898" y="2893"/>
                  </a:lnTo>
                  <a:lnTo>
                    <a:pt x="1935" y="2859"/>
                  </a:lnTo>
                  <a:lnTo>
                    <a:pt x="1972" y="2824"/>
                  </a:lnTo>
                  <a:lnTo>
                    <a:pt x="2009" y="2788"/>
                  </a:lnTo>
                  <a:lnTo>
                    <a:pt x="2046" y="2751"/>
                  </a:lnTo>
                  <a:lnTo>
                    <a:pt x="2083" y="2712"/>
                  </a:lnTo>
                  <a:lnTo>
                    <a:pt x="2119" y="2673"/>
                  </a:lnTo>
                  <a:lnTo>
                    <a:pt x="2155" y="2632"/>
                  </a:lnTo>
                  <a:lnTo>
                    <a:pt x="2191" y="2591"/>
                  </a:lnTo>
                  <a:lnTo>
                    <a:pt x="2225" y="2549"/>
                  </a:lnTo>
                  <a:lnTo>
                    <a:pt x="2259" y="2505"/>
                  </a:lnTo>
                  <a:lnTo>
                    <a:pt x="2292" y="2461"/>
                  </a:lnTo>
                  <a:lnTo>
                    <a:pt x="2324" y="2415"/>
                  </a:lnTo>
                  <a:lnTo>
                    <a:pt x="2355" y="2369"/>
                  </a:lnTo>
                  <a:lnTo>
                    <a:pt x="2385" y="2322"/>
                  </a:lnTo>
                  <a:lnTo>
                    <a:pt x="2413" y="2273"/>
                  </a:lnTo>
                  <a:lnTo>
                    <a:pt x="2440" y="2224"/>
                  </a:lnTo>
                  <a:lnTo>
                    <a:pt x="2465" y="2174"/>
                  </a:lnTo>
                  <a:lnTo>
                    <a:pt x="2477" y="2149"/>
                  </a:lnTo>
                  <a:lnTo>
                    <a:pt x="2489" y="2123"/>
                  </a:lnTo>
                  <a:lnTo>
                    <a:pt x="2500" y="2098"/>
                  </a:lnTo>
                  <a:lnTo>
                    <a:pt x="2511" y="2072"/>
                  </a:lnTo>
                  <a:lnTo>
                    <a:pt x="2521" y="2046"/>
                  </a:lnTo>
                  <a:lnTo>
                    <a:pt x="2531" y="2019"/>
                  </a:lnTo>
                  <a:lnTo>
                    <a:pt x="2540" y="1992"/>
                  </a:lnTo>
                  <a:lnTo>
                    <a:pt x="2549" y="1966"/>
                  </a:lnTo>
                  <a:lnTo>
                    <a:pt x="2558" y="1939"/>
                  </a:lnTo>
                  <a:lnTo>
                    <a:pt x="2565" y="1911"/>
                  </a:lnTo>
                  <a:lnTo>
                    <a:pt x="2573" y="1884"/>
                  </a:lnTo>
                  <a:lnTo>
                    <a:pt x="2579" y="1856"/>
                  </a:lnTo>
                  <a:lnTo>
                    <a:pt x="2585" y="1829"/>
                  </a:lnTo>
                  <a:lnTo>
                    <a:pt x="2591" y="1801"/>
                  </a:lnTo>
                  <a:lnTo>
                    <a:pt x="2596" y="1772"/>
                  </a:lnTo>
                  <a:lnTo>
                    <a:pt x="2600" y="1744"/>
                  </a:lnTo>
                  <a:lnTo>
                    <a:pt x="2604" y="1715"/>
                  </a:lnTo>
                  <a:lnTo>
                    <a:pt x="2607" y="1687"/>
                  </a:lnTo>
                  <a:lnTo>
                    <a:pt x="2610" y="1658"/>
                  </a:lnTo>
                  <a:lnTo>
                    <a:pt x="2611" y="1629"/>
                  </a:lnTo>
                  <a:lnTo>
                    <a:pt x="2612" y="1599"/>
                  </a:lnTo>
                  <a:lnTo>
                    <a:pt x="2613" y="1570"/>
                  </a:lnTo>
                  <a:lnTo>
                    <a:pt x="2613" y="1540"/>
                  </a:lnTo>
                  <a:lnTo>
                    <a:pt x="2612" y="1510"/>
                  </a:lnTo>
                  <a:lnTo>
                    <a:pt x="2610" y="1480"/>
                  </a:lnTo>
                  <a:lnTo>
                    <a:pt x="2607" y="1450"/>
                  </a:lnTo>
                  <a:lnTo>
                    <a:pt x="2604" y="1420"/>
                  </a:lnTo>
                  <a:lnTo>
                    <a:pt x="2600" y="1389"/>
                  </a:lnTo>
                  <a:lnTo>
                    <a:pt x="2595" y="1359"/>
                  </a:lnTo>
                  <a:lnTo>
                    <a:pt x="2590" y="1328"/>
                  </a:lnTo>
                  <a:lnTo>
                    <a:pt x="2584" y="1297"/>
                  </a:lnTo>
                  <a:lnTo>
                    <a:pt x="2576" y="1266"/>
                  </a:lnTo>
                  <a:lnTo>
                    <a:pt x="2568" y="1234"/>
                  </a:lnTo>
                  <a:lnTo>
                    <a:pt x="2559" y="1203"/>
                  </a:lnTo>
                  <a:lnTo>
                    <a:pt x="2550" y="1171"/>
                  </a:lnTo>
                  <a:lnTo>
                    <a:pt x="2539" y="1139"/>
                  </a:lnTo>
                  <a:lnTo>
                    <a:pt x="2528" y="1107"/>
                  </a:lnTo>
                  <a:lnTo>
                    <a:pt x="2515" y="1075"/>
                  </a:lnTo>
                  <a:lnTo>
                    <a:pt x="2502" y="1043"/>
                  </a:lnTo>
                  <a:lnTo>
                    <a:pt x="2488" y="1011"/>
                  </a:lnTo>
                  <a:lnTo>
                    <a:pt x="2473" y="978"/>
                  </a:lnTo>
                  <a:lnTo>
                    <a:pt x="2457" y="946"/>
                  </a:lnTo>
                  <a:lnTo>
                    <a:pt x="2439" y="913"/>
                  </a:lnTo>
                  <a:lnTo>
                    <a:pt x="2421" y="880"/>
                  </a:lnTo>
                  <a:lnTo>
                    <a:pt x="1896" y="399"/>
                  </a:lnTo>
                  <a:lnTo>
                    <a:pt x="1902" y="407"/>
                  </a:lnTo>
                  <a:lnTo>
                    <a:pt x="1918" y="431"/>
                  </a:lnTo>
                  <a:lnTo>
                    <a:pt x="1928" y="447"/>
                  </a:lnTo>
                  <a:lnTo>
                    <a:pt x="1940" y="466"/>
                  </a:lnTo>
                  <a:lnTo>
                    <a:pt x="1952" y="488"/>
                  </a:lnTo>
                  <a:lnTo>
                    <a:pt x="1965" y="511"/>
                  </a:lnTo>
                  <a:lnTo>
                    <a:pt x="1977" y="537"/>
                  </a:lnTo>
                  <a:lnTo>
                    <a:pt x="1990" y="564"/>
                  </a:lnTo>
                  <a:lnTo>
                    <a:pt x="1995" y="578"/>
                  </a:lnTo>
                  <a:lnTo>
                    <a:pt x="2001" y="593"/>
                  </a:lnTo>
                  <a:lnTo>
                    <a:pt x="2006" y="607"/>
                  </a:lnTo>
                  <a:lnTo>
                    <a:pt x="2011" y="622"/>
                  </a:lnTo>
                  <a:lnTo>
                    <a:pt x="2015" y="637"/>
                  </a:lnTo>
                  <a:lnTo>
                    <a:pt x="2019" y="652"/>
                  </a:lnTo>
                  <a:lnTo>
                    <a:pt x="2023" y="667"/>
                  </a:lnTo>
                  <a:lnTo>
                    <a:pt x="2026" y="682"/>
                  </a:lnTo>
                  <a:lnTo>
                    <a:pt x="2028" y="697"/>
                  </a:lnTo>
                  <a:lnTo>
                    <a:pt x="2029" y="713"/>
                  </a:lnTo>
                  <a:lnTo>
                    <a:pt x="2030" y="728"/>
                  </a:lnTo>
                  <a:lnTo>
                    <a:pt x="2030" y="743"/>
                  </a:lnTo>
                  <a:lnTo>
                    <a:pt x="2021" y="741"/>
                  </a:lnTo>
                  <a:lnTo>
                    <a:pt x="1996" y="738"/>
                  </a:lnTo>
                  <a:lnTo>
                    <a:pt x="1955" y="734"/>
                  </a:lnTo>
                  <a:lnTo>
                    <a:pt x="1929" y="732"/>
                  </a:lnTo>
                  <a:lnTo>
                    <a:pt x="1900" y="731"/>
                  </a:lnTo>
                  <a:lnTo>
                    <a:pt x="1868" y="730"/>
                  </a:lnTo>
                  <a:lnTo>
                    <a:pt x="1832" y="730"/>
                  </a:lnTo>
                  <a:lnTo>
                    <a:pt x="1794" y="731"/>
                  </a:lnTo>
                  <a:lnTo>
                    <a:pt x="1754" y="732"/>
                  </a:lnTo>
                  <a:lnTo>
                    <a:pt x="1711" y="736"/>
                  </a:lnTo>
                  <a:lnTo>
                    <a:pt x="1665" y="740"/>
                  </a:lnTo>
                  <a:lnTo>
                    <a:pt x="1617" y="746"/>
                  </a:lnTo>
                  <a:lnTo>
                    <a:pt x="1568" y="754"/>
                  </a:lnTo>
                  <a:lnTo>
                    <a:pt x="1517" y="763"/>
                  </a:lnTo>
                  <a:lnTo>
                    <a:pt x="1464" y="775"/>
                  </a:lnTo>
                  <a:lnTo>
                    <a:pt x="1437" y="782"/>
                  </a:lnTo>
                  <a:lnTo>
                    <a:pt x="1409" y="789"/>
                  </a:lnTo>
                  <a:lnTo>
                    <a:pt x="1382" y="797"/>
                  </a:lnTo>
                  <a:lnTo>
                    <a:pt x="1354" y="805"/>
                  </a:lnTo>
                  <a:lnTo>
                    <a:pt x="1326" y="814"/>
                  </a:lnTo>
                  <a:lnTo>
                    <a:pt x="1297" y="824"/>
                  </a:lnTo>
                  <a:lnTo>
                    <a:pt x="1268" y="834"/>
                  </a:lnTo>
                  <a:lnTo>
                    <a:pt x="1239" y="846"/>
                  </a:lnTo>
                  <a:lnTo>
                    <a:pt x="1210" y="858"/>
                  </a:lnTo>
                  <a:lnTo>
                    <a:pt x="1181" y="870"/>
                  </a:lnTo>
                  <a:lnTo>
                    <a:pt x="1152" y="884"/>
                  </a:lnTo>
                  <a:lnTo>
                    <a:pt x="1122" y="898"/>
                  </a:lnTo>
                  <a:lnTo>
                    <a:pt x="1092" y="913"/>
                  </a:lnTo>
                  <a:lnTo>
                    <a:pt x="1063" y="929"/>
                  </a:lnTo>
                  <a:lnTo>
                    <a:pt x="1033" y="945"/>
                  </a:lnTo>
                  <a:lnTo>
                    <a:pt x="1003" y="963"/>
                  </a:lnTo>
                  <a:lnTo>
                    <a:pt x="973" y="982"/>
                  </a:lnTo>
                  <a:lnTo>
                    <a:pt x="943" y="1001"/>
                  </a:lnTo>
                  <a:lnTo>
                    <a:pt x="914" y="1021"/>
                  </a:lnTo>
                  <a:lnTo>
                    <a:pt x="884" y="1043"/>
                  </a:lnTo>
                  <a:lnTo>
                    <a:pt x="854" y="1065"/>
                  </a:lnTo>
                  <a:lnTo>
                    <a:pt x="825" y="1088"/>
                  </a:lnTo>
                  <a:lnTo>
                    <a:pt x="795" y="1113"/>
                  </a:lnTo>
                  <a:lnTo>
                    <a:pt x="766" y="1138"/>
                  </a:lnTo>
                  <a:lnTo>
                    <a:pt x="737" y="1165"/>
                  </a:lnTo>
                  <a:lnTo>
                    <a:pt x="708" y="1192"/>
                  </a:lnTo>
                  <a:lnTo>
                    <a:pt x="679" y="1221"/>
                  </a:lnTo>
                  <a:lnTo>
                    <a:pt x="650" y="1251"/>
                  </a:lnTo>
                  <a:lnTo>
                    <a:pt x="650" y="1251"/>
                  </a:lnTo>
                  <a:close/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595959">
                  <a:lumMod val="60000"/>
                  <a:lumOff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20337BA4-D814-EE23-C20E-68E75BAC7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892"/>
              <a:ext cx="690" cy="485"/>
            </a:xfrm>
            <a:custGeom>
              <a:avLst/>
              <a:gdLst>
                <a:gd name="T0" fmla="*/ 524 w 3645"/>
                <a:gd name="T1" fmla="*/ 92 h 2564"/>
                <a:gd name="T2" fmla="*/ 338 w 3645"/>
                <a:gd name="T3" fmla="*/ 334 h 2564"/>
                <a:gd name="T4" fmla="*/ 213 w 3645"/>
                <a:gd name="T5" fmla="*/ 532 h 2564"/>
                <a:gd name="T6" fmla="*/ 119 w 3645"/>
                <a:gd name="T7" fmla="*/ 717 h 2564"/>
                <a:gd name="T8" fmla="*/ 46 w 3645"/>
                <a:gd name="T9" fmla="*/ 915 h 2564"/>
                <a:gd name="T10" fmla="*/ 10 w 3645"/>
                <a:gd name="T11" fmla="*/ 1078 h 2564"/>
                <a:gd name="T12" fmla="*/ 1 w 3645"/>
                <a:gd name="T13" fmla="*/ 1181 h 2564"/>
                <a:gd name="T14" fmla="*/ 3 w 3645"/>
                <a:gd name="T15" fmla="*/ 1283 h 2564"/>
                <a:gd name="T16" fmla="*/ 18 w 3645"/>
                <a:gd name="T17" fmla="*/ 1384 h 2564"/>
                <a:gd name="T18" fmla="*/ 48 w 3645"/>
                <a:gd name="T19" fmla="*/ 1484 h 2564"/>
                <a:gd name="T20" fmla="*/ 94 w 3645"/>
                <a:gd name="T21" fmla="*/ 1580 h 2564"/>
                <a:gd name="T22" fmla="*/ 157 w 3645"/>
                <a:gd name="T23" fmla="*/ 1673 h 2564"/>
                <a:gd name="T24" fmla="*/ 238 w 3645"/>
                <a:gd name="T25" fmla="*/ 1762 h 2564"/>
                <a:gd name="T26" fmla="*/ 340 w 3645"/>
                <a:gd name="T27" fmla="*/ 1846 h 2564"/>
                <a:gd name="T28" fmla="*/ 463 w 3645"/>
                <a:gd name="T29" fmla="*/ 1925 h 2564"/>
                <a:gd name="T30" fmla="*/ 578 w 3645"/>
                <a:gd name="T31" fmla="*/ 1982 h 2564"/>
                <a:gd name="T32" fmla="*/ 653 w 3645"/>
                <a:gd name="T33" fmla="*/ 2007 h 2564"/>
                <a:gd name="T34" fmla="*/ 732 w 3645"/>
                <a:gd name="T35" fmla="*/ 2021 h 2564"/>
                <a:gd name="T36" fmla="*/ 814 w 3645"/>
                <a:gd name="T37" fmla="*/ 2025 h 2564"/>
                <a:gd name="T38" fmla="*/ 903 w 3645"/>
                <a:gd name="T39" fmla="*/ 2019 h 2564"/>
                <a:gd name="T40" fmla="*/ 1012 w 3645"/>
                <a:gd name="T41" fmla="*/ 1998 h 2564"/>
                <a:gd name="T42" fmla="*/ 1197 w 3645"/>
                <a:gd name="T43" fmla="*/ 1933 h 2564"/>
                <a:gd name="T44" fmla="*/ 1384 w 3645"/>
                <a:gd name="T45" fmla="*/ 1836 h 2564"/>
                <a:gd name="T46" fmla="*/ 1569 w 3645"/>
                <a:gd name="T47" fmla="*/ 1714 h 2564"/>
                <a:gd name="T48" fmla="*/ 1750 w 3645"/>
                <a:gd name="T49" fmla="*/ 1571 h 2564"/>
                <a:gd name="T50" fmla="*/ 2020 w 3645"/>
                <a:gd name="T51" fmla="*/ 1317 h 2564"/>
                <a:gd name="T52" fmla="*/ 2308 w 3645"/>
                <a:gd name="T53" fmla="*/ 984 h 2564"/>
                <a:gd name="T54" fmla="*/ 2498 w 3645"/>
                <a:gd name="T55" fmla="*/ 709 h 2564"/>
                <a:gd name="T56" fmla="*/ 2569 w 3645"/>
                <a:gd name="T57" fmla="*/ 578 h 2564"/>
                <a:gd name="T58" fmla="*/ 2610 w 3645"/>
                <a:gd name="T59" fmla="*/ 471 h 2564"/>
                <a:gd name="T60" fmla="*/ 3330 w 3645"/>
                <a:gd name="T61" fmla="*/ 1155 h 2564"/>
                <a:gd name="T62" fmla="*/ 3200 w 3645"/>
                <a:gd name="T63" fmla="*/ 1389 h 2564"/>
                <a:gd name="T64" fmla="*/ 2986 w 3645"/>
                <a:gd name="T65" fmla="*/ 1702 h 2564"/>
                <a:gd name="T66" fmla="*/ 2827 w 3645"/>
                <a:gd name="T67" fmla="*/ 1896 h 2564"/>
                <a:gd name="T68" fmla="*/ 2640 w 3645"/>
                <a:gd name="T69" fmla="*/ 2087 h 2564"/>
                <a:gd name="T70" fmla="*/ 2426 w 3645"/>
                <a:gd name="T71" fmla="*/ 2263 h 2564"/>
                <a:gd name="T72" fmla="*/ 2213 w 3645"/>
                <a:gd name="T73" fmla="*/ 2396 h 2564"/>
                <a:gd name="T74" fmla="*/ 2086 w 3645"/>
                <a:gd name="T75" fmla="*/ 2457 h 2564"/>
                <a:gd name="T76" fmla="*/ 1954 w 3645"/>
                <a:gd name="T77" fmla="*/ 2506 h 2564"/>
                <a:gd name="T78" fmla="*/ 1815 w 3645"/>
                <a:gd name="T79" fmla="*/ 2540 h 2564"/>
                <a:gd name="T80" fmla="*/ 1671 w 3645"/>
                <a:gd name="T81" fmla="*/ 2560 h 2564"/>
                <a:gd name="T82" fmla="*/ 1522 w 3645"/>
                <a:gd name="T83" fmla="*/ 2563 h 2564"/>
                <a:gd name="T84" fmla="*/ 1368 w 3645"/>
                <a:gd name="T85" fmla="*/ 2547 h 2564"/>
                <a:gd name="T86" fmla="*/ 1208 w 3645"/>
                <a:gd name="T87" fmla="*/ 2511 h 2564"/>
                <a:gd name="T88" fmla="*/ 1044 w 3645"/>
                <a:gd name="T89" fmla="*/ 2453 h 2564"/>
                <a:gd name="T90" fmla="*/ 444 w 3645"/>
                <a:gd name="T91" fmla="*/ 1913 h 2564"/>
                <a:gd name="T92" fmla="*/ 551 w 3645"/>
                <a:gd name="T93" fmla="*/ 1970 h 2564"/>
                <a:gd name="T94" fmla="*/ 649 w 3645"/>
                <a:gd name="T95" fmla="*/ 2007 h 2564"/>
                <a:gd name="T96" fmla="*/ 725 w 3645"/>
                <a:gd name="T97" fmla="*/ 2022 h 2564"/>
                <a:gd name="T98" fmla="*/ 784 w 3645"/>
                <a:gd name="T99" fmla="*/ 2015 h 2564"/>
                <a:gd name="T100" fmla="*/ 764 w 3645"/>
                <a:gd name="T101" fmla="*/ 1862 h 2564"/>
                <a:gd name="T102" fmla="*/ 764 w 3645"/>
                <a:gd name="T103" fmla="*/ 1659 h 2564"/>
                <a:gd name="T104" fmla="*/ 793 w 3645"/>
                <a:gd name="T105" fmla="*/ 1429 h 2564"/>
                <a:gd name="T106" fmla="*/ 828 w 3645"/>
                <a:gd name="T107" fmla="*/ 1287 h 2564"/>
                <a:gd name="T108" fmla="*/ 880 w 3645"/>
                <a:gd name="T109" fmla="*/ 1139 h 2564"/>
                <a:gd name="T110" fmla="*/ 952 w 3645"/>
                <a:gd name="T111" fmla="*/ 986 h 2564"/>
                <a:gd name="T112" fmla="*/ 1046 w 3645"/>
                <a:gd name="T113" fmla="*/ 832 h 2564"/>
                <a:gd name="T114" fmla="*/ 1165 w 3645"/>
                <a:gd name="T115" fmla="*/ 679 h 2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645" h="2564">
                  <a:moveTo>
                    <a:pt x="1220" y="619"/>
                  </a:moveTo>
                  <a:lnTo>
                    <a:pt x="607" y="0"/>
                  </a:lnTo>
                  <a:lnTo>
                    <a:pt x="592" y="16"/>
                  </a:lnTo>
                  <a:lnTo>
                    <a:pt x="552" y="60"/>
                  </a:lnTo>
                  <a:lnTo>
                    <a:pt x="524" y="92"/>
                  </a:lnTo>
                  <a:lnTo>
                    <a:pt x="493" y="130"/>
                  </a:lnTo>
                  <a:lnTo>
                    <a:pt x="457" y="173"/>
                  </a:lnTo>
                  <a:lnTo>
                    <a:pt x="419" y="222"/>
                  </a:lnTo>
                  <a:lnTo>
                    <a:pt x="379" y="276"/>
                  </a:lnTo>
                  <a:lnTo>
                    <a:pt x="338" y="334"/>
                  </a:lnTo>
                  <a:lnTo>
                    <a:pt x="296" y="397"/>
                  </a:lnTo>
                  <a:lnTo>
                    <a:pt x="275" y="429"/>
                  </a:lnTo>
                  <a:lnTo>
                    <a:pt x="254" y="463"/>
                  </a:lnTo>
                  <a:lnTo>
                    <a:pt x="234" y="497"/>
                  </a:lnTo>
                  <a:lnTo>
                    <a:pt x="213" y="532"/>
                  </a:lnTo>
                  <a:lnTo>
                    <a:pt x="193" y="568"/>
                  </a:lnTo>
                  <a:lnTo>
                    <a:pt x="174" y="604"/>
                  </a:lnTo>
                  <a:lnTo>
                    <a:pt x="155" y="641"/>
                  </a:lnTo>
                  <a:lnTo>
                    <a:pt x="137" y="679"/>
                  </a:lnTo>
                  <a:lnTo>
                    <a:pt x="119" y="717"/>
                  </a:lnTo>
                  <a:lnTo>
                    <a:pt x="103" y="756"/>
                  </a:lnTo>
                  <a:lnTo>
                    <a:pt x="87" y="795"/>
                  </a:lnTo>
                  <a:lnTo>
                    <a:pt x="72" y="835"/>
                  </a:lnTo>
                  <a:lnTo>
                    <a:pt x="59" y="875"/>
                  </a:lnTo>
                  <a:lnTo>
                    <a:pt x="46" y="915"/>
                  </a:lnTo>
                  <a:lnTo>
                    <a:pt x="35" y="956"/>
                  </a:lnTo>
                  <a:lnTo>
                    <a:pt x="25" y="997"/>
                  </a:lnTo>
                  <a:lnTo>
                    <a:pt x="17" y="1037"/>
                  </a:lnTo>
                  <a:lnTo>
                    <a:pt x="13" y="1058"/>
                  </a:lnTo>
                  <a:lnTo>
                    <a:pt x="10" y="1078"/>
                  </a:lnTo>
                  <a:lnTo>
                    <a:pt x="7" y="1099"/>
                  </a:lnTo>
                  <a:lnTo>
                    <a:pt x="5" y="1120"/>
                  </a:lnTo>
                  <a:lnTo>
                    <a:pt x="3" y="1140"/>
                  </a:lnTo>
                  <a:lnTo>
                    <a:pt x="2" y="1161"/>
                  </a:lnTo>
                  <a:lnTo>
                    <a:pt x="1" y="1181"/>
                  </a:lnTo>
                  <a:lnTo>
                    <a:pt x="0" y="1202"/>
                  </a:lnTo>
                  <a:lnTo>
                    <a:pt x="0" y="1222"/>
                  </a:lnTo>
                  <a:lnTo>
                    <a:pt x="1" y="1243"/>
                  </a:lnTo>
                  <a:lnTo>
                    <a:pt x="2" y="1263"/>
                  </a:lnTo>
                  <a:lnTo>
                    <a:pt x="3" y="1283"/>
                  </a:lnTo>
                  <a:lnTo>
                    <a:pt x="5" y="1304"/>
                  </a:lnTo>
                  <a:lnTo>
                    <a:pt x="8" y="1324"/>
                  </a:lnTo>
                  <a:lnTo>
                    <a:pt x="11" y="1344"/>
                  </a:lnTo>
                  <a:lnTo>
                    <a:pt x="14" y="1364"/>
                  </a:lnTo>
                  <a:lnTo>
                    <a:pt x="18" y="1384"/>
                  </a:lnTo>
                  <a:lnTo>
                    <a:pt x="23" y="1404"/>
                  </a:lnTo>
                  <a:lnTo>
                    <a:pt x="28" y="1424"/>
                  </a:lnTo>
                  <a:lnTo>
                    <a:pt x="34" y="1444"/>
                  </a:lnTo>
                  <a:lnTo>
                    <a:pt x="41" y="1464"/>
                  </a:lnTo>
                  <a:lnTo>
                    <a:pt x="48" y="1484"/>
                  </a:lnTo>
                  <a:lnTo>
                    <a:pt x="56" y="1503"/>
                  </a:lnTo>
                  <a:lnTo>
                    <a:pt x="64" y="1523"/>
                  </a:lnTo>
                  <a:lnTo>
                    <a:pt x="74" y="1542"/>
                  </a:lnTo>
                  <a:lnTo>
                    <a:pt x="83" y="1561"/>
                  </a:lnTo>
                  <a:lnTo>
                    <a:pt x="94" y="1580"/>
                  </a:lnTo>
                  <a:lnTo>
                    <a:pt x="105" y="1599"/>
                  </a:lnTo>
                  <a:lnTo>
                    <a:pt x="117" y="1618"/>
                  </a:lnTo>
                  <a:lnTo>
                    <a:pt x="129" y="1636"/>
                  </a:lnTo>
                  <a:lnTo>
                    <a:pt x="143" y="1655"/>
                  </a:lnTo>
                  <a:lnTo>
                    <a:pt x="157" y="1673"/>
                  </a:lnTo>
                  <a:lnTo>
                    <a:pt x="172" y="1691"/>
                  </a:lnTo>
                  <a:lnTo>
                    <a:pt x="187" y="1709"/>
                  </a:lnTo>
                  <a:lnTo>
                    <a:pt x="203" y="1727"/>
                  </a:lnTo>
                  <a:lnTo>
                    <a:pt x="221" y="1745"/>
                  </a:lnTo>
                  <a:lnTo>
                    <a:pt x="238" y="1762"/>
                  </a:lnTo>
                  <a:lnTo>
                    <a:pt x="257" y="1779"/>
                  </a:lnTo>
                  <a:lnTo>
                    <a:pt x="277" y="1796"/>
                  </a:lnTo>
                  <a:lnTo>
                    <a:pt x="297" y="1813"/>
                  </a:lnTo>
                  <a:lnTo>
                    <a:pt x="318" y="1830"/>
                  </a:lnTo>
                  <a:lnTo>
                    <a:pt x="340" y="1846"/>
                  </a:lnTo>
                  <a:lnTo>
                    <a:pt x="363" y="1862"/>
                  </a:lnTo>
                  <a:lnTo>
                    <a:pt x="387" y="1878"/>
                  </a:lnTo>
                  <a:lnTo>
                    <a:pt x="411" y="1894"/>
                  </a:lnTo>
                  <a:lnTo>
                    <a:pt x="437" y="1909"/>
                  </a:lnTo>
                  <a:lnTo>
                    <a:pt x="463" y="1925"/>
                  </a:lnTo>
                  <a:lnTo>
                    <a:pt x="491" y="1940"/>
                  </a:lnTo>
                  <a:lnTo>
                    <a:pt x="519" y="1954"/>
                  </a:lnTo>
                  <a:lnTo>
                    <a:pt x="548" y="1969"/>
                  </a:lnTo>
                  <a:lnTo>
                    <a:pt x="563" y="1975"/>
                  </a:lnTo>
                  <a:lnTo>
                    <a:pt x="578" y="1982"/>
                  </a:lnTo>
                  <a:lnTo>
                    <a:pt x="593" y="1988"/>
                  </a:lnTo>
                  <a:lnTo>
                    <a:pt x="608" y="1993"/>
                  </a:lnTo>
                  <a:lnTo>
                    <a:pt x="623" y="1998"/>
                  </a:lnTo>
                  <a:lnTo>
                    <a:pt x="638" y="2003"/>
                  </a:lnTo>
                  <a:lnTo>
                    <a:pt x="653" y="2007"/>
                  </a:lnTo>
                  <a:lnTo>
                    <a:pt x="669" y="2011"/>
                  </a:lnTo>
                  <a:lnTo>
                    <a:pt x="685" y="2014"/>
                  </a:lnTo>
                  <a:lnTo>
                    <a:pt x="700" y="2017"/>
                  </a:lnTo>
                  <a:lnTo>
                    <a:pt x="716" y="2019"/>
                  </a:lnTo>
                  <a:lnTo>
                    <a:pt x="732" y="2021"/>
                  </a:lnTo>
                  <a:lnTo>
                    <a:pt x="748" y="2023"/>
                  </a:lnTo>
                  <a:lnTo>
                    <a:pt x="764" y="2024"/>
                  </a:lnTo>
                  <a:lnTo>
                    <a:pt x="780" y="2025"/>
                  </a:lnTo>
                  <a:lnTo>
                    <a:pt x="796" y="2025"/>
                  </a:lnTo>
                  <a:lnTo>
                    <a:pt x="814" y="2025"/>
                  </a:lnTo>
                  <a:lnTo>
                    <a:pt x="831" y="2025"/>
                  </a:lnTo>
                  <a:lnTo>
                    <a:pt x="849" y="2024"/>
                  </a:lnTo>
                  <a:lnTo>
                    <a:pt x="867" y="2023"/>
                  </a:lnTo>
                  <a:lnTo>
                    <a:pt x="885" y="2021"/>
                  </a:lnTo>
                  <a:lnTo>
                    <a:pt x="903" y="2019"/>
                  </a:lnTo>
                  <a:lnTo>
                    <a:pt x="921" y="2016"/>
                  </a:lnTo>
                  <a:lnTo>
                    <a:pt x="939" y="2013"/>
                  </a:lnTo>
                  <a:lnTo>
                    <a:pt x="957" y="2010"/>
                  </a:lnTo>
                  <a:lnTo>
                    <a:pt x="975" y="2006"/>
                  </a:lnTo>
                  <a:lnTo>
                    <a:pt x="1012" y="1998"/>
                  </a:lnTo>
                  <a:lnTo>
                    <a:pt x="1048" y="1988"/>
                  </a:lnTo>
                  <a:lnTo>
                    <a:pt x="1085" y="1976"/>
                  </a:lnTo>
                  <a:lnTo>
                    <a:pt x="1122" y="1963"/>
                  </a:lnTo>
                  <a:lnTo>
                    <a:pt x="1159" y="1949"/>
                  </a:lnTo>
                  <a:lnTo>
                    <a:pt x="1197" y="1933"/>
                  </a:lnTo>
                  <a:lnTo>
                    <a:pt x="1234" y="1916"/>
                  </a:lnTo>
                  <a:lnTo>
                    <a:pt x="1272" y="1898"/>
                  </a:lnTo>
                  <a:lnTo>
                    <a:pt x="1309" y="1878"/>
                  </a:lnTo>
                  <a:lnTo>
                    <a:pt x="1346" y="1858"/>
                  </a:lnTo>
                  <a:lnTo>
                    <a:pt x="1384" y="1836"/>
                  </a:lnTo>
                  <a:lnTo>
                    <a:pt x="1421" y="1814"/>
                  </a:lnTo>
                  <a:lnTo>
                    <a:pt x="1458" y="1790"/>
                  </a:lnTo>
                  <a:lnTo>
                    <a:pt x="1495" y="1766"/>
                  </a:lnTo>
                  <a:lnTo>
                    <a:pt x="1532" y="1740"/>
                  </a:lnTo>
                  <a:lnTo>
                    <a:pt x="1569" y="1714"/>
                  </a:lnTo>
                  <a:lnTo>
                    <a:pt x="1606" y="1687"/>
                  </a:lnTo>
                  <a:lnTo>
                    <a:pt x="1642" y="1659"/>
                  </a:lnTo>
                  <a:lnTo>
                    <a:pt x="1678" y="1630"/>
                  </a:lnTo>
                  <a:lnTo>
                    <a:pt x="1714" y="1601"/>
                  </a:lnTo>
                  <a:lnTo>
                    <a:pt x="1750" y="1571"/>
                  </a:lnTo>
                  <a:lnTo>
                    <a:pt x="1785" y="1541"/>
                  </a:lnTo>
                  <a:lnTo>
                    <a:pt x="1820" y="1510"/>
                  </a:lnTo>
                  <a:lnTo>
                    <a:pt x="1888" y="1447"/>
                  </a:lnTo>
                  <a:lnTo>
                    <a:pt x="1955" y="1382"/>
                  </a:lnTo>
                  <a:lnTo>
                    <a:pt x="2020" y="1317"/>
                  </a:lnTo>
                  <a:lnTo>
                    <a:pt x="2083" y="1250"/>
                  </a:lnTo>
                  <a:lnTo>
                    <a:pt x="2143" y="1183"/>
                  </a:lnTo>
                  <a:lnTo>
                    <a:pt x="2201" y="1117"/>
                  </a:lnTo>
                  <a:lnTo>
                    <a:pt x="2256" y="1050"/>
                  </a:lnTo>
                  <a:lnTo>
                    <a:pt x="2308" y="984"/>
                  </a:lnTo>
                  <a:lnTo>
                    <a:pt x="2356" y="920"/>
                  </a:lnTo>
                  <a:lnTo>
                    <a:pt x="2402" y="857"/>
                  </a:lnTo>
                  <a:lnTo>
                    <a:pt x="2443" y="796"/>
                  </a:lnTo>
                  <a:lnTo>
                    <a:pt x="2481" y="737"/>
                  </a:lnTo>
                  <a:lnTo>
                    <a:pt x="2498" y="709"/>
                  </a:lnTo>
                  <a:lnTo>
                    <a:pt x="2515" y="681"/>
                  </a:lnTo>
                  <a:lnTo>
                    <a:pt x="2530" y="654"/>
                  </a:lnTo>
                  <a:lnTo>
                    <a:pt x="2544" y="628"/>
                  </a:lnTo>
                  <a:lnTo>
                    <a:pt x="2557" y="603"/>
                  </a:lnTo>
                  <a:lnTo>
                    <a:pt x="2569" y="578"/>
                  </a:lnTo>
                  <a:lnTo>
                    <a:pt x="2579" y="555"/>
                  </a:lnTo>
                  <a:lnTo>
                    <a:pt x="2589" y="532"/>
                  </a:lnTo>
                  <a:lnTo>
                    <a:pt x="2597" y="511"/>
                  </a:lnTo>
                  <a:lnTo>
                    <a:pt x="2604" y="490"/>
                  </a:lnTo>
                  <a:lnTo>
                    <a:pt x="2610" y="471"/>
                  </a:lnTo>
                  <a:lnTo>
                    <a:pt x="2614" y="453"/>
                  </a:lnTo>
                  <a:lnTo>
                    <a:pt x="2331" y="185"/>
                  </a:lnTo>
                  <a:lnTo>
                    <a:pt x="3308" y="478"/>
                  </a:lnTo>
                  <a:lnTo>
                    <a:pt x="3645" y="1454"/>
                  </a:lnTo>
                  <a:lnTo>
                    <a:pt x="3330" y="1155"/>
                  </a:lnTo>
                  <a:lnTo>
                    <a:pt x="3319" y="1177"/>
                  </a:lnTo>
                  <a:lnTo>
                    <a:pt x="3287" y="1238"/>
                  </a:lnTo>
                  <a:lnTo>
                    <a:pt x="3263" y="1281"/>
                  </a:lnTo>
                  <a:lnTo>
                    <a:pt x="3234" y="1332"/>
                  </a:lnTo>
                  <a:lnTo>
                    <a:pt x="3200" y="1389"/>
                  </a:lnTo>
                  <a:lnTo>
                    <a:pt x="3161" y="1451"/>
                  </a:lnTo>
                  <a:lnTo>
                    <a:pt x="3117" y="1519"/>
                  </a:lnTo>
                  <a:lnTo>
                    <a:pt x="3068" y="1590"/>
                  </a:lnTo>
                  <a:lnTo>
                    <a:pt x="3014" y="1664"/>
                  </a:lnTo>
                  <a:lnTo>
                    <a:pt x="2986" y="1702"/>
                  </a:lnTo>
                  <a:lnTo>
                    <a:pt x="2956" y="1740"/>
                  </a:lnTo>
                  <a:lnTo>
                    <a:pt x="2926" y="1779"/>
                  </a:lnTo>
                  <a:lnTo>
                    <a:pt x="2894" y="1818"/>
                  </a:lnTo>
                  <a:lnTo>
                    <a:pt x="2861" y="1857"/>
                  </a:lnTo>
                  <a:lnTo>
                    <a:pt x="2827" y="1896"/>
                  </a:lnTo>
                  <a:lnTo>
                    <a:pt x="2791" y="1935"/>
                  </a:lnTo>
                  <a:lnTo>
                    <a:pt x="2755" y="1973"/>
                  </a:lnTo>
                  <a:lnTo>
                    <a:pt x="2718" y="2012"/>
                  </a:lnTo>
                  <a:lnTo>
                    <a:pt x="2679" y="2050"/>
                  </a:lnTo>
                  <a:lnTo>
                    <a:pt x="2640" y="2087"/>
                  </a:lnTo>
                  <a:lnTo>
                    <a:pt x="2599" y="2124"/>
                  </a:lnTo>
                  <a:lnTo>
                    <a:pt x="2557" y="2160"/>
                  </a:lnTo>
                  <a:lnTo>
                    <a:pt x="2515" y="2195"/>
                  </a:lnTo>
                  <a:lnTo>
                    <a:pt x="2471" y="2230"/>
                  </a:lnTo>
                  <a:lnTo>
                    <a:pt x="2426" y="2263"/>
                  </a:lnTo>
                  <a:lnTo>
                    <a:pt x="2381" y="2295"/>
                  </a:lnTo>
                  <a:lnTo>
                    <a:pt x="2334" y="2326"/>
                  </a:lnTo>
                  <a:lnTo>
                    <a:pt x="2286" y="2355"/>
                  </a:lnTo>
                  <a:lnTo>
                    <a:pt x="2238" y="2383"/>
                  </a:lnTo>
                  <a:lnTo>
                    <a:pt x="2213" y="2396"/>
                  </a:lnTo>
                  <a:lnTo>
                    <a:pt x="2188" y="2409"/>
                  </a:lnTo>
                  <a:lnTo>
                    <a:pt x="2163" y="2422"/>
                  </a:lnTo>
                  <a:lnTo>
                    <a:pt x="2138" y="2434"/>
                  </a:lnTo>
                  <a:lnTo>
                    <a:pt x="2112" y="2446"/>
                  </a:lnTo>
                  <a:lnTo>
                    <a:pt x="2086" y="2457"/>
                  </a:lnTo>
                  <a:lnTo>
                    <a:pt x="2060" y="2468"/>
                  </a:lnTo>
                  <a:lnTo>
                    <a:pt x="2034" y="2478"/>
                  </a:lnTo>
                  <a:lnTo>
                    <a:pt x="2007" y="2488"/>
                  </a:lnTo>
                  <a:lnTo>
                    <a:pt x="1981" y="2497"/>
                  </a:lnTo>
                  <a:lnTo>
                    <a:pt x="1954" y="2506"/>
                  </a:lnTo>
                  <a:lnTo>
                    <a:pt x="1926" y="2514"/>
                  </a:lnTo>
                  <a:lnTo>
                    <a:pt x="1899" y="2521"/>
                  </a:lnTo>
                  <a:lnTo>
                    <a:pt x="1871" y="2528"/>
                  </a:lnTo>
                  <a:lnTo>
                    <a:pt x="1843" y="2535"/>
                  </a:lnTo>
                  <a:lnTo>
                    <a:pt x="1815" y="2540"/>
                  </a:lnTo>
                  <a:lnTo>
                    <a:pt x="1787" y="2546"/>
                  </a:lnTo>
                  <a:lnTo>
                    <a:pt x="1758" y="2550"/>
                  </a:lnTo>
                  <a:lnTo>
                    <a:pt x="1729" y="2554"/>
                  </a:lnTo>
                  <a:lnTo>
                    <a:pt x="1700" y="2558"/>
                  </a:lnTo>
                  <a:lnTo>
                    <a:pt x="1671" y="2560"/>
                  </a:lnTo>
                  <a:lnTo>
                    <a:pt x="1642" y="2562"/>
                  </a:lnTo>
                  <a:lnTo>
                    <a:pt x="1612" y="2563"/>
                  </a:lnTo>
                  <a:lnTo>
                    <a:pt x="1582" y="2564"/>
                  </a:lnTo>
                  <a:lnTo>
                    <a:pt x="1552" y="2564"/>
                  </a:lnTo>
                  <a:lnTo>
                    <a:pt x="1522" y="2563"/>
                  </a:lnTo>
                  <a:lnTo>
                    <a:pt x="1491" y="2561"/>
                  </a:lnTo>
                  <a:lnTo>
                    <a:pt x="1461" y="2559"/>
                  </a:lnTo>
                  <a:lnTo>
                    <a:pt x="1430" y="2556"/>
                  </a:lnTo>
                  <a:lnTo>
                    <a:pt x="1399" y="2552"/>
                  </a:lnTo>
                  <a:lnTo>
                    <a:pt x="1368" y="2547"/>
                  </a:lnTo>
                  <a:lnTo>
                    <a:pt x="1336" y="2542"/>
                  </a:lnTo>
                  <a:lnTo>
                    <a:pt x="1304" y="2535"/>
                  </a:lnTo>
                  <a:lnTo>
                    <a:pt x="1272" y="2528"/>
                  </a:lnTo>
                  <a:lnTo>
                    <a:pt x="1240" y="2520"/>
                  </a:lnTo>
                  <a:lnTo>
                    <a:pt x="1208" y="2511"/>
                  </a:lnTo>
                  <a:lnTo>
                    <a:pt x="1176" y="2501"/>
                  </a:lnTo>
                  <a:lnTo>
                    <a:pt x="1143" y="2491"/>
                  </a:lnTo>
                  <a:lnTo>
                    <a:pt x="1110" y="2479"/>
                  </a:lnTo>
                  <a:lnTo>
                    <a:pt x="1077" y="2467"/>
                  </a:lnTo>
                  <a:lnTo>
                    <a:pt x="1044" y="2453"/>
                  </a:lnTo>
                  <a:lnTo>
                    <a:pt x="1010" y="2439"/>
                  </a:lnTo>
                  <a:lnTo>
                    <a:pt x="977" y="2423"/>
                  </a:lnTo>
                  <a:lnTo>
                    <a:pt x="943" y="2407"/>
                  </a:lnTo>
                  <a:lnTo>
                    <a:pt x="435" y="1908"/>
                  </a:lnTo>
                  <a:lnTo>
                    <a:pt x="444" y="1913"/>
                  </a:lnTo>
                  <a:lnTo>
                    <a:pt x="468" y="1928"/>
                  </a:lnTo>
                  <a:lnTo>
                    <a:pt x="485" y="1937"/>
                  </a:lnTo>
                  <a:lnTo>
                    <a:pt x="504" y="1948"/>
                  </a:lnTo>
                  <a:lnTo>
                    <a:pt x="527" y="1959"/>
                  </a:lnTo>
                  <a:lnTo>
                    <a:pt x="551" y="1970"/>
                  </a:lnTo>
                  <a:lnTo>
                    <a:pt x="577" y="1982"/>
                  </a:lnTo>
                  <a:lnTo>
                    <a:pt x="605" y="1992"/>
                  </a:lnTo>
                  <a:lnTo>
                    <a:pt x="619" y="1997"/>
                  </a:lnTo>
                  <a:lnTo>
                    <a:pt x="634" y="2002"/>
                  </a:lnTo>
                  <a:lnTo>
                    <a:pt x="649" y="2007"/>
                  </a:lnTo>
                  <a:lnTo>
                    <a:pt x="664" y="2011"/>
                  </a:lnTo>
                  <a:lnTo>
                    <a:pt x="679" y="2014"/>
                  </a:lnTo>
                  <a:lnTo>
                    <a:pt x="694" y="2018"/>
                  </a:lnTo>
                  <a:lnTo>
                    <a:pt x="710" y="2020"/>
                  </a:lnTo>
                  <a:lnTo>
                    <a:pt x="725" y="2022"/>
                  </a:lnTo>
                  <a:lnTo>
                    <a:pt x="740" y="2024"/>
                  </a:lnTo>
                  <a:lnTo>
                    <a:pt x="755" y="2024"/>
                  </a:lnTo>
                  <a:lnTo>
                    <a:pt x="770" y="2024"/>
                  </a:lnTo>
                  <a:lnTo>
                    <a:pt x="785" y="2024"/>
                  </a:lnTo>
                  <a:lnTo>
                    <a:pt x="784" y="2015"/>
                  </a:lnTo>
                  <a:lnTo>
                    <a:pt x="779" y="1990"/>
                  </a:lnTo>
                  <a:lnTo>
                    <a:pt x="773" y="1949"/>
                  </a:lnTo>
                  <a:lnTo>
                    <a:pt x="770" y="1923"/>
                  </a:lnTo>
                  <a:lnTo>
                    <a:pt x="767" y="1894"/>
                  </a:lnTo>
                  <a:lnTo>
                    <a:pt x="764" y="1862"/>
                  </a:lnTo>
                  <a:lnTo>
                    <a:pt x="762" y="1827"/>
                  </a:lnTo>
                  <a:lnTo>
                    <a:pt x="761" y="1789"/>
                  </a:lnTo>
                  <a:lnTo>
                    <a:pt x="761" y="1748"/>
                  </a:lnTo>
                  <a:lnTo>
                    <a:pt x="762" y="1705"/>
                  </a:lnTo>
                  <a:lnTo>
                    <a:pt x="764" y="1659"/>
                  </a:lnTo>
                  <a:lnTo>
                    <a:pt x="767" y="1611"/>
                  </a:lnTo>
                  <a:lnTo>
                    <a:pt x="772" y="1561"/>
                  </a:lnTo>
                  <a:lnTo>
                    <a:pt x="779" y="1510"/>
                  </a:lnTo>
                  <a:lnTo>
                    <a:pt x="788" y="1456"/>
                  </a:lnTo>
                  <a:lnTo>
                    <a:pt x="793" y="1429"/>
                  </a:lnTo>
                  <a:lnTo>
                    <a:pt x="799" y="1401"/>
                  </a:lnTo>
                  <a:lnTo>
                    <a:pt x="805" y="1373"/>
                  </a:lnTo>
                  <a:lnTo>
                    <a:pt x="812" y="1345"/>
                  </a:lnTo>
                  <a:lnTo>
                    <a:pt x="820" y="1316"/>
                  </a:lnTo>
                  <a:lnTo>
                    <a:pt x="828" y="1287"/>
                  </a:lnTo>
                  <a:lnTo>
                    <a:pt x="837" y="1258"/>
                  </a:lnTo>
                  <a:lnTo>
                    <a:pt x="847" y="1229"/>
                  </a:lnTo>
                  <a:lnTo>
                    <a:pt x="857" y="1199"/>
                  </a:lnTo>
                  <a:lnTo>
                    <a:pt x="868" y="1169"/>
                  </a:lnTo>
                  <a:lnTo>
                    <a:pt x="880" y="1139"/>
                  </a:lnTo>
                  <a:lnTo>
                    <a:pt x="893" y="1109"/>
                  </a:lnTo>
                  <a:lnTo>
                    <a:pt x="906" y="1078"/>
                  </a:lnTo>
                  <a:lnTo>
                    <a:pt x="921" y="1048"/>
                  </a:lnTo>
                  <a:lnTo>
                    <a:pt x="936" y="1017"/>
                  </a:lnTo>
                  <a:lnTo>
                    <a:pt x="952" y="986"/>
                  </a:lnTo>
                  <a:lnTo>
                    <a:pt x="969" y="956"/>
                  </a:lnTo>
                  <a:lnTo>
                    <a:pt x="987" y="925"/>
                  </a:lnTo>
                  <a:lnTo>
                    <a:pt x="1005" y="894"/>
                  </a:lnTo>
                  <a:lnTo>
                    <a:pt x="1025" y="863"/>
                  </a:lnTo>
                  <a:lnTo>
                    <a:pt x="1046" y="832"/>
                  </a:lnTo>
                  <a:lnTo>
                    <a:pt x="1068" y="802"/>
                  </a:lnTo>
                  <a:lnTo>
                    <a:pt x="1090" y="771"/>
                  </a:lnTo>
                  <a:lnTo>
                    <a:pt x="1114" y="740"/>
                  </a:lnTo>
                  <a:lnTo>
                    <a:pt x="1139" y="710"/>
                  </a:lnTo>
                  <a:lnTo>
                    <a:pt x="1165" y="679"/>
                  </a:lnTo>
                  <a:lnTo>
                    <a:pt x="1192" y="649"/>
                  </a:lnTo>
                  <a:lnTo>
                    <a:pt x="1220" y="619"/>
                  </a:lnTo>
                  <a:lnTo>
                    <a:pt x="1220" y="619"/>
                  </a:ln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 w="12700" cap="rnd" cmpd="sng">
              <a:solidFill>
                <a:srgbClr val="595959">
                  <a:lumMod val="60000"/>
                  <a:lumOff val="40000"/>
                </a:srgbClr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434930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9397-4F95-ACC9-4717-0882BE85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92B857-9AEC-6277-9F70-EC6B548AEE38}"/>
              </a:ext>
            </a:extLst>
          </p:cNvPr>
          <p:cNvSpPr/>
          <p:nvPr/>
        </p:nvSpPr>
        <p:spPr>
          <a:xfrm>
            <a:off x="273600" y="3364623"/>
            <a:ext cx="9360000" cy="5522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89E729-02A9-82B8-0338-B07FFF9592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컨설팅 개요</a:t>
            </a:r>
          </a:p>
          <a:p>
            <a:r>
              <a:rPr lang="ko-KR" altLang="en-US" dirty="0"/>
              <a:t>현황진단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dirty="0"/>
              <a:t>제도설계방향</a:t>
            </a:r>
            <a:endParaRPr lang="en-US" altLang="ko-KR" dirty="0"/>
          </a:p>
          <a:p>
            <a:r>
              <a:rPr lang="ko-KR" altLang="en-US" dirty="0">
                <a:solidFill>
                  <a:schemeClr val="bg1"/>
                </a:solidFill>
              </a:rPr>
              <a:t>제도설계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/>
              <a:t>변화관리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10661196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채용 관련 내부 만족도는 </a:t>
            </a:r>
            <a:r>
              <a:rPr lang="en-US" altLang="ko-KR" dirty="0"/>
              <a:t>3.41</a:t>
            </a:r>
            <a:r>
              <a:rPr lang="ko-KR" altLang="en-US" dirty="0"/>
              <a:t>이며 과장 이하 직급과 이상 직급으로 구분하였을 때 과장급 이하에서의 채용 만족도가 다소 높은 것으로 조사되었음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&gt; 인적자원관리 &gt; 채용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F7CBD181-B535-81EE-C35E-CBE13A509E7C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BD4DCE2A-0977-1446-200E-C334081B2E20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4046CBF8-9BA7-0130-EE0D-BF98B4C0D0E4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3" name="question_chart">
            <a:extLst>
              <a:ext uri="{FF2B5EF4-FFF2-40B4-BE49-F238E27FC236}">
                <a16:creationId xmlns:a16="http://schemas.microsoft.com/office/drawing/2014/main" id="{9486DF15-3B83-BB4E-F542-524E257AF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182740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bounding_box">
            <a:extLst>
              <a:ext uri="{FF2B5EF4-FFF2-40B4-BE49-F238E27FC236}">
                <a16:creationId xmlns:a16="http://schemas.microsoft.com/office/drawing/2014/main" id="{5CAC9C07-ED43-0334-76AE-6B34B75CF27B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06945"/>
              </p:ext>
            </p:extLst>
          </p:nvPr>
        </p:nvGraphicFramePr>
        <p:xfrm>
          <a:off x="3790847" y="4327314"/>
          <a:ext cx="5767038" cy="1801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3.67</a:t>
                      </a:r>
                      <a:endParaRPr lang="en-US"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3.29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3.67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3.21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Q3</a:t>
                      </a:r>
                      <a:endParaRPr lang="en-US" altLang="ko-KR"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3.67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3.29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</a:tbl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85396EF7-72BA-CDE4-D04F-49A9D3FF8D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8262773"/>
              </p:ext>
            </p:extLst>
          </p:nvPr>
        </p:nvGraphicFramePr>
        <p:xfrm>
          <a:off x="3790847" y="1647486"/>
          <a:ext cx="5842103" cy="2679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037494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직무 및 배치 내부 만족도는 </a:t>
            </a:r>
            <a:r>
              <a:rPr lang="en-US" altLang="ko-KR" dirty="0"/>
              <a:t>3.48</a:t>
            </a:r>
            <a:r>
              <a:rPr lang="ko-KR" altLang="en-US" dirty="0"/>
              <a:t>이며 과장 이하 직급과 이상 직급으로 구분하였을 때 과장급 이하</a:t>
            </a:r>
            <a:r>
              <a:rPr lang="en-US" altLang="ko-KR" dirty="0"/>
              <a:t>, </a:t>
            </a:r>
            <a:r>
              <a:rPr lang="ko-KR" altLang="en-US" dirty="0"/>
              <a:t>이상 모두 자신이 수행하는 직무를 잘 이해하고 있는 것으로 조사되었음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&gt; 인적자원관리 &gt; 직무 및 배치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2401456B-BCC6-E386-655A-3F8CF2B67BC1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163C0B7E-FF1D-1B07-E043-666EE45A6FCD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FDD75C12-176B-07F0-724D-9C995CAF28AF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4" name="question_chart">
            <a:extLst>
              <a:ext uri="{FF2B5EF4-FFF2-40B4-BE49-F238E27FC236}">
                <a16:creationId xmlns:a16="http://schemas.microsoft.com/office/drawing/2014/main" id="{09120A81-DFCC-5E5A-2FC4-E30FDCB0F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452926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bounding_box">
            <a:extLst>
              <a:ext uri="{FF2B5EF4-FFF2-40B4-BE49-F238E27FC236}">
                <a16:creationId xmlns:a16="http://schemas.microsoft.com/office/drawing/2014/main" id="{FF1A0796-A302-4A71-3067-82D30C2770A9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441920"/>
              </p:ext>
            </p:extLst>
          </p:nvPr>
        </p:nvGraphicFramePr>
        <p:xfrm>
          <a:off x="3790847" y="4327314"/>
          <a:ext cx="5767038" cy="1801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4.64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3.07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3.86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</a:t>
                      </a:r>
                      <a:r>
                        <a:rPr lang="en-US" sz="900" dirty="0"/>
                        <a:t>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72287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11153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B36C5A86-B5E1-0E15-EBE3-D059E67BB3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390900"/>
              </p:ext>
            </p:extLst>
          </p:nvPr>
        </p:nvGraphicFramePr>
        <p:xfrm>
          <a:off x="3790847" y="1619120"/>
          <a:ext cx="5842103" cy="2708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9741202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인적자원관리의 평가 영역에 대한 만족도 조사 결과  </a:t>
            </a:r>
            <a:r>
              <a:rPr lang="en-US" altLang="ko-KR" dirty="0"/>
              <a:t>3.04</a:t>
            </a:r>
            <a:r>
              <a:rPr lang="ko-KR" altLang="en-US" dirty="0"/>
              <a:t>으로 나타났으며</a:t>
            </a:r>
            <a:r>
              <a:rPr lang="en-US" altLang="ko-KR" dirty="0"/>
              <a:t>,</a:t>
            </a:r>
            <a:r>
              <a:rPr lang="ko-KR" altLang="en-US" dirty="0"/>
              <a:t> 평가에 대한 만족도는 과장급 이하의 만족도가 조금 더 높은 것으로 조사되었음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&gt; 인적자원관리 &gt; 평가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2401456B-BCC6-E386-655A-3F8CF2B67BC1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163C0B7E-FF1D-1B07-E043-666EE45A6FCD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FDD75C12-176B-07F0-724D-9C995CAF28AF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4" name="question_chart">
            <a:extLst>
              <a:ext uri="{FF2B5EF4-FFF2-40B4-BE49-F238E27FC236}">
                <a16:creationId xmlns:a16="http://schemas.microsoft.com/office/drawing/2014/main" id="{09120A81-DFCC-5E5A-2FC4-E30FDCB0F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347118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bounding_box">
            <a:extLst>
              <a:ext uri="{FF2B5EF4-FFF2-40B4-BE49-F238E27FC236}">
                <a16:creationId xmlns:a16="http://schemas.microsoft.com/office/drawing/2014/main" id="{FF1A0796-A302-4A71-3067-82D30C2770A9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337127"/>
              </p:ext>
            </p:extLst>
          </p:nvPr>
        </p:nvGraphicFramePr>
        <p:xfrm>
          <a:off x="3790847" y="4327314"/>
          <a:ext cx="5767038" cy="1801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2.83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</a:t>
                      </a:r>
                      <a:r>
                        <a:rPr lang="en-US" sz="900" dirty="0"/>
                        <a:t>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2.71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72287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2.86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11153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A7F8703E-8D11-23FB-3C81-0C14E7F4E6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8492711"/>
              </p:ext>
            </p:extLst>
          </p:nvPr>
        </p:nvGraphicFramePr>
        <p:xfrm>
          <a:off x="3741981" y="1642837"/>
          <a:ext cx="5815904" cy="2684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0115813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보상에 대한 만족도는 회사 전체 평균보다 낮은 수준으로 나타났으며 이중 과장 </a:t>
            </a:r>
            <a:r>
              <a:rPr lang="ko-KR" altLang="en-US" dirty="0" err="1"/>
              <a:t>이상급</a:t>
            </a:r>
            <a:r>
              <a:rPr lang="ko-KR" altLang="en-US" dirty="0"/>
              <a:t> </a:t>
            </a:r>
            <a:r>
              <a:rPr lang="ko-KR" altLang="en-US" dirty="0" err="1"/>
              <a:t>직급자들이</a:t>
            </a:r>
            <a:r>
              <a:rPr lang="ko-KR" altLang="en-US" dirty="0"/>
              <a:t> 상대적으로 보상에 대해 불만족을 나타내고 있는  것으로 조사되었음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&gt; 인적자원관리 &gt; 보상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2401456B-BCC6-E386-655A-3F8CF2B67BC1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163C0B7E-FF1D-1B07-E043-666EE45A6FCD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FDD75C12-176B-07F0-724D-9C995CAF28AF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4" name="question_chart">
            <a:extLst>
              <a:ext uri="{FF2B5EF4-FFF2-40B4-BE49-F238E27FC236}">
                <a16:creationId xmlns:a16="http://schemas.microsoft.com/office/drawing/2014/main" id="{09120A81-DFCC-5E5A-2FC4-E30FDCB0F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8622867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bounding_box">
            <a:extLst>
              <a:ext uri="{FF2B5EF4-FFF2-40B4-BE49-F238E27FC236}">
                <a16:creationId xmlns:a16="http://schemas.microsoft.com/office/drawing/2014/main" id="{FF1A0796-A302-4A71-3067-82D30C2770A9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035134"/>
              </p:ext>
            </p:extLst>
          </p:nvPr>
        </p:nvGraphicFramePr>
        <p:xfrm>
          <a:off x="3790847" y="4327314"/>
          <a:ext cx="5767038" cy="1801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</a:t>
                      </a:r>
                      <a:r>
                        <a:rPr lang="en-US" sz="900" dirty="0"/>
                        <a:t>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3.14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72287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3.07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11153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7493D868-0CB8-F8C8-7E53-186C58DC6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6488877"/>
              </p:ext>
            </p:extLst>
          </p:nvPr>
        </p:nvGraphicFramePr>
        <p:xfrm>
          <a:off x="3790847" y="1619120"/>
          <a:ext cx="5842103" cy="2708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886837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승진에 대한 전반적 만족도는 회사 평균보다 낮은 수준이며</a:t>
            </a:r>
            <a:r>
              <a:rPr lang="en-US" altLang="ko-KR" dirty="0"/>
              <a:t>, </a:t>
            </a:r>
            <a:r>
              <a:rPr lang="ko-KR" altLang="en-US" dirty="0"/>
              <a:t>특히 과장급 이상에서 상대적으로 더 낮은 만족도를 보여주고 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&gt; 인적자원관리 &gt; 승진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2401456B-BCC6-E386-655A-3F8CF2B67BC1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163C0B7E-FF1D-1B07-E043-666EE45A6FCD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FDD75C12-176B-07F0-724D-9C995CAF28AF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4" name="question_chart">
            <a:extLst>
              <a:ext uri="{FF2B5EF4-FFF2-40B4-BE49-F238E27FC236}">
                <a16:creationId xmlns:a16="http://schemas.microsoft.com/office/drawing/2014/main" id="{09120A81-DFCC-5E5A-2FC4-E30FDCB0F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5594196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bounding_box">
            <a:extLst>
              <a:ext uri="{FF2B5EF4-FFF2-40B4-BE49-F238E27FC236}">
                <a16:creationId xmlns:a16="http://schemas.microsoft.com/office/drawing/2014/main" id="{FF1A0796-A302-4A71-3067-82D30C2770A9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598395"/>
              </p:ext>
            </p:extLst>
          </p:nvPr>
        </p:nvGraphicFramePr>
        <p:xfrm>
          <a:off x="3790847" y="4327314"/>
          <a:ext cx="5767038" cy="1801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</a:t>
                      </a:r>
                      <a:r>
                        <a:rPr lang="en-US" sz="900" dirty="0"/>
                        <a:t>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72287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3.14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11153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33FFD9BC-403F-0D31-8863-6403A3CE1B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1481916"/>
              </p:ext>
            </p:extLst>
          </p:nvPr>
        </p:nvGraphicFramePr>
        <p:xfrm>
          <a:off x="3790847" y="1628774"/>
          <a:ext cx="5842103" cy="2698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6279482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교육훈련에 대한 회사 인식 평균은 </a:t>
            </a:r>
            <a:r>
              <a:rPr lang="en-US" altLang="ko-KR" dirty="0"/>
              <a:t>3.88</a:t>
            </a:r>
            <a:r>
              <a:rPr lang="ko-KR" altLang="en-US" dirty="0"/>
              <a:t>로 과장 회사 평균보다 높으며</a:t>
            </a:r>
            <a:r>
              <a:rPr lang="en-US" altLang="ko-KR" dirty="0"/>
              <a:t>, </a:t>
            </a:r>
            <a:r>
              <a:rPr lang="ko-KR" altLang="en-US" dirty="0"/>
              <a:t>특히 과장 </a:t>
            </a:r>
            <a:r>
              <a:rPr lang="ko-KR" altLang="en-US" dirty="0" err="1"/>
              <a:t>이상급에서</a:t>
            </a:r>
            <a:r>
              <a:rPr lang="ko-KR" altLang="en-US" dirty="0"/>
              <a:t> 교육훈련에 대한 인식이 높은 것으로 조사되었음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&gt; 인적자원 개발 &gt; 교육훈련 회사인식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F7CBD181-B535-81EE-C35E-CBE13A509E7C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BD4DCE2A-0977-1446-200E-C334081B2E20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4046CBF8-9BA7-0130-EE0D-BF98B4C0D0E4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4" name="question_chart">
            <a:extLst>
              <a:ext uri="{FF2B5EF4-FFF2-40B4-BE49-F238E27FC236}">
                <a16:creationId xmlns:a16="http://schemas.microsoft.com/office/drawing/2014/main" id="{9486DF15-3B83-BB4E-F542-524E257AF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5998676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bounding_box">
            <a:extLst>
              <a:ext uri="{FF2B5EF4-FFF2-40B4-BE49-F238E27FC236}">
                <a16:creationId xmlns:a16="http://schemas.microsoft.com/office/drawing/2014/main" id="{5CAC9C07-ED43-0334-76AE-6B34B75CF27B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108330"/>
              </p:ext>
            </p:extLst>
          </p:nvPr>
        </p:nvGraphicFramePr>
        <p:xfrm>
          <a:off x="3790847" y="4327314"/>
          <a:ext cx="5767038" cy="1801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</a:t>
                      </a:r>
                      <a:r>
                        <a:rPr lang="en-US" sz="900" dirty="0"/>
                        <a:t>3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72287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8F2BD4AC-D8EE-2D5E-C0B5-E77B43651E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4569131"/>
              </p:ext>
            </p:extLst>
          </p:nvPr>
        </p:nvGraphicFramePr>
        <p:xfrm>
          <a:off x="3790847" y="1952626"/>
          <a:ext cx="5842103" cy="2374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462185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교육훈련 지원 여건에 대한 만족도는 회사 전체 만족도보다는 낮은 것으로 조사되었으나</a:t>
            </a:r>
            <a:r>
              <a:rPr lang="en-US" altLang="ko-KR" dirty="0"/>
              <a:t>, </a:t>
            </a:r>
            <a:r>
              <a:rPr lang="ko-KR" altLang="en-US" dirty="0"/>
              <a:t>과장급 이하의 교육훈련 지원 여건에 대한 만족도는 과장급 이상보다 높은 것으로 조사되었음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&gt; 인적자원 개발 &gt; 교육훈련 지원여건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F7CBD181-B535-81EE-C35E-CBE13A509E7C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BD4DCE2A-0977-1446-200E-C334081B2E20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4046CBF8-9BA7-0130-EE0D-BF98B4C0D0E4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4" name="question_chart">
            <a:extLst>
              <a:ext uri="{FF2B5EF4-FFF2-40B4-BE49-F238E27FC236}">
                <a16:creationId xmlns:a16="http://schemas.microsoft.com/office/drawing/2014/main" id="{9486DF15-3B83-BB4E-F542-524E257AF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404526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bounding_box">
            <a:extLst>
              <a:ext uri="{FF2B5EF4-FFF2-40B4-BE49-F238E27FC236}">
                <a16:creationId xmlns:a16="http://schemas.microsoft.com/office/drawing/2014/main" id="{5CAC9C07-ED43-0334-76AE-6B34B75CF27B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034359"/>
              </p:ext>
            </p:extLst>
          </p:nvPr>
        </p:nvGraphicFramePr>
        <p:xfrm>
          <a:off x="3790847" y="4327314"/>
          <a:ext cx="5767038" cy="1801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3.56</a:t>
                      </a:r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3.08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3.33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3.00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/>
                        <a:t>Q3</a:t>
                      </a:r>
                      <a:endParaRPr lang="en-US" altLang="ko-KR"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3.89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2.31</a:t>
                      </a:r>
                      <a:endParaRPr sz="9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9A8A3EA8-9BDB-1D49-CFF4-522C250259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1570029"/>
              </p:ext>
            </p:extLst>
          </p:nvPr>
        </p:nvGraphicFramePr>
        <p:xfrm>
          <a:off x="3790847" y="1628776"/>
          <a:ext cx="5842103" cy="2698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8470159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교육훈련 효과 및 활용 평균은 </a:t>
            </a:r>
            <a:r>
              <a:rPr lang="en-US" altLang="ko-KR" dirty="0"/>
              <a:t>3.30</a:t>
            </a:r>
            <a:r>
              <a:rPr lang="ko-KR" altLang="en-US" dirty="0"/>
              <a:t>로 회사 전체 평균보다는 낮은 것으로 조사되었으며</a:t>
            </a:r>
            <a:r>
              <a:rPr lang="en-US" altLang="ko-KR" dirty="0"/>
              <a:t>,</a:t>
            </a:r>
            <a:r>
              <a:rPr lang="ko-KR" altLang="en-US" dirty="0"/>
              <a:t> 과장급 이하 직급과 이상 직급 모두에서 교육훈련의 효과 및 활용 만족도가 낮은 것으로 보임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&gt; 인적자원 개발 &gt; 교육훈련 효과 및 활용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F7CBD181-B535-81EE-C35E-CBE13A509E7C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BD4DCE2A-0977-1446-200E-C334081B2E20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4046CBF8-9BA7-0130-EE0D-BF98B4C0D0E4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4" name="question_chart">
            <a:extLst>
              <a:ext uri="{FF2B5EF4-FFF2-40B4-BE49-F238E27FC236}">
                <a16:creationId xmlns:a16="http://schemas.microsoft.com/office/drawing/2014/main" id="{9486DF15-3B83-BB4E-F542-524E257AF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2532158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bounding_box">
            <a:extLst>
              <a:ext uri="{FF2B5EF4-FFF2-40B4-BE49-F238E27FC236}">
                <a16:creationId xmlns:a16="http://schemas.microsoft.com/office/drawing/2014/main" id="{5CAC9C07-ED43-0334-76AE-6B34B75CF27B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8138"/>
              </p:ext>
            </p:extLst>
          </p:nvPr>
        </p:nvGraphicFramePr>
        <p:xfrm>
          <a:off x="3790847" y="4327314"/>
          <a:ext cx="5767038" cy="1801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C9F74D7-FB7E-69E5-81F5-2556C158A4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4406164"/>
              </p:ext>
            </p:extLst>
          </p:nvPr>
        </p:nvGraphicFramePr>
        <p:xfrm>
          <a:off x="3790847" y="1628776"/>
          <a:ext cx="5842103" cy="2698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6814058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작업 조직의 평균 만족도는 </a:t>
            </a:r>
            <a:r>
              <a:rPr lang="en-US" altLang="ko-KR" dirty="0"/>
              <a:t>3.54</a:t>
            </a:r>
            <a:r>
              <a:rPr lang="ko-KR" altLang="en-US" dirty="0"/>
              <a:t>로 회사 전체 평균보다는 낮은 것으로 조사되었으나</a:t>
            </a:r>
            <a:r>
              <a:rPr lang="en-US" altLang="ko-KR" dirty="0"/>
              <a:t>, </a:t>
            </a:r>
            <a:r>
              <a:rPr lang="ko-KR" altLang="en-US" dirty="0"/>
              <a:t>과장급 이하에서의 작업 조직에 대한 만족도가 전반적으로 높은 것으로 조사되었음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작업조직 및 근로환경</a:t>
            </a:r>
            <a:r>
              <a:rPr dirty="0"/>
              <a:t> &gt; 작업조직</a:t>
            </a:r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C1827C5D-20CC-3231-7205-69225A46C6F3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42ACDC5D-FBA4-73C9-3607-45DDFE6BD9EA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18430F7A-6920-7F05-C699-D70CB4114435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4" name="question_chart">
            <a:extLst>
              <a:ext uri="{FF2B5EF4-FFF2-40B4-BE49-F238E27FC236}">
                <a16:creationId xmlns:a16="http://schemas.microsoft.com/office/drawing/2014/main" id="{DADF8F57-7366-F93E-A286-85766DBBAC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8260274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bounding_box">
            <a:extLst>
              <a:ext uri="{FF2B5EF4-FFF2-40B4-BE49-F238E27FC236}">
                <a16:creationId xmlns:a16="http://schemas.microsoft.com/office/drawing/2014/main" id="{6BDC4086-1051-9FA9-40F4-D33F2CD47FF1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6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413472"/>
              </p:ext>
            </p:extLst>
          </p:nvPr>
        </p:nvGraphicFramePr>
        <p:xfrm>
          <a:off x="3790847" y="4327314"/>
          <a:ext cx="5767038" cy="18014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Q1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025873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Q3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3.14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36313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307119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7B88B5DD-A7C5-E9E4-D625-FAE482FFEB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505898"/>
              </p:ext>
            </p:extLst>
          </p:nvPr>
        </p:nvGraphicFramePr>
        <p:xfrm>
          <a:off x="3790847" y="1628775"/>
          <a:ext cx="5842102" cy="2698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9109919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근무제도에 대한 만족도는 </a:t>
            </a:r>
            <a:r>
              <a:rPr lang="en-US" altLang="ko-KR" dirty="0"/>
              <a:t>3.90</a:t>
            </a:r>
            <a:r>
              <a:rPr lang="ko-KR" altLang="en-US" dirty="0"/>
              <a:t>로 회사 전체 평균보다는 높은 것으로 조사되었으며</a:t>
            </a:r>
            <a:r>
              <a:rPr lang="en-US" altLang="ko-KR" dirty="0"/>
              <a:t>, </a:t>
            </a:r>
            <a:r>
              <a:rPr lang="ko-KR" altLang="en-US" dirty="0"/>
              <a:t>특히 과장급 이상의 직급에서 높은 만족도를 보이고 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작업조직 및 근로환경 </a:t>
            </a:r>
            <a:r>
              <a:rPr dirty="0"/>
              <a:t>&gt; </a:t>
            </a:r>
            <a:r>
              <a:rPr lang="ko-KR" altLang="en-US" dirty="0"/>
              <a:t>근무제도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F7CBD181-B535-81EE-C35E-CBE13A509E7C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BD4DCE2A-0977-1446-200E-C334081B2E20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4046CBF8-9BA7-0130-EE0D-BF98B4C0D0E4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sp>
        <p:nvSpPr>
          <p:cNvPr id="20" name="bounding_box">
            <a:extLst>
              <a:ext uri="{FF2B5EF4-FFF2-40B4-BE49-F238E27FC236}">
                <a16:creationId xmlns:a16="http://schemas.microsoft.com/office/drawing/2014/main" id="{5CAC9C07-ED43-0334-76AE-6B34B75CF27B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21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56773"/>
              </p:ext>
            </p:extLst>
          </p:nvPr>
        </p:nvGraphicFramePr>
        <p:xfrm>
          <a:off x="3790847" y="4327314"/>
          <a:ext cx="5767038" cy="1801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4.29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01F6739-C39F-0FA0-2D02-292111F5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179478"/>
              </p:ext>
            </p:extLst>
          </p:nvPr>
        </p:nvGraphicFramePr>
        <p:xfrm>
          <a:off x="3797613" y="1628776"/>
          <a:ext cx="5835338" cy="2698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question_chart">
            <a:extLst>
              <a:ext uri="{FF2B5EF4-FFF2-40B4-BE49-F238E27FC236}">
                <a16:creationId xmlns:a16="http://schemas.microsoft.com/office/drawing/2014/main" id="{090DA226-600B-F0FD-EB86-F22D9A49EB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6962563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867131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모성보호 및 </a:t>
            </a:r>
            <a:r>
              <a:rPr lang="ko-KR" altLang="en-US" dirty="0" err="1"/>
              <a:t>일가정양립에</a:t>
            </a:r>
            <a:r>
              <a:rPr lang="ko-KR" altLang="en-US" dirty="0"/>
              <a:t> 대한 평균은 </a:t>
            </a:r>
            <a:r>
              <a:rPr lang="en-US" altLang="ko-KR" dirty="0"/>
              <a:t>4.05</a:t>
            </a:r>
            <a:r>
              <a:rPr lang="ko-KR" altLang="en-US" dirty="0"/>
              <a:t>로 회사 전체 평균에 비해 상대적으로 높은 것으로 나타나고 </a:t>
            </a:r>
            <a:r>
              <a:rPr lang="ko-KR" altLang="en-US" dirty="0" err="1"/>
              <a:t>있며</a:t>
            </a:r>
            <a:r>
              <a:rPr lang="en-US" altLang="ko-KR" dirty="0"/>
              <a:t>,</a:t>
            </a:r>
            <a:r>
              <a:rPr lang="ko-KR" altLang="en-US" dirty="0"/>
              <a:t> 전 직급에서 전반적으로 높은 만족도를 보이고 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작업조직 및 근로환경 </a:t>
            </a:r>
            <a:r>
              <a:rPr lang="en-US" altLang="ko-KR" dirty="0"/>
              <a:t>&gt; </a:t>
            </a:r>
            <a:r>
              <a:rPr lang="ko-KR" altLang="en-US" dirty="0"/>
              <a:t>모성보호 및 </a:t>
            </a:r>
            <a:r>
              <a:rPr lang="ko-KR" altLang="en-US" dirty="0" err="1"/>
              <a:t>일가정양립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F7CBD181-B535-81EE-C35E-CBE13A509E7C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BD4DCE2A-0977-1446-200E-C334081B2E20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4046CBF8-9BA7-0130-EE0D-BF98B4C0D0E4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9" name="question_chart">
            <a:extLst>
              <a:ext uri="{FF2B5EF4-FFF2-40B4-BE49-F238E27FC236}">
                <a16:creationId xmlns:a16="http://schemas.microsoft.com/office/drawing/2014/main" id="{9486DF15-3B83-BB4E-F542-524E257AF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3538866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bounding_box">
            <a:extLst>
              <a:ext uri="{FF2B5EF4-FFF2-40B4-BE49-F238E27FC236}">
                <a16:creationId xmlns:a16="http://schemas.microsoft.com/office/drawing/2014/main" id="{5CAC9C07-ED43-0334-76AE-6B34B75CF27B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21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668053"/>
              </p:ext>
            </p:extLst>
          </p:nvPr>
        </p:nvGraphicFramePr>
        <p:xfrm>
          <a:off x="3790847" y="4327314"/>
          <a:ext cx="5767038" cy="1801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4.57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4.29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7365B07-A055-2327-2EFF-5522CACDB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855808"/>
              </p:ext>
            </p:extLst>
          </p:nvPr>
        </p:nvGraphicFramePr>
        <p:xfrm>
          <a:off x="3790847" y="1628776"/>
          <a:ext cx="5842103" cy="2698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878588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장년고용에 대한 평균은 </a:t>
            </a:r>
            <a:r>
              <a:rPr lang="en-US" altLang="ko-KR" dirty="0"/>
              <a:t>4.00</a:t>
            </a:r>
            <a:r>
              <a:rPr lang="ko-KR" altLang="en-US" dirty="0"/>
              <a:t>으로 상위 집단과 비교 하였을 때 높은 만족도를 나타내고 있으며</a:t>
            </a:r>
            <a:r>
              <a:rPr lang="en-US" altLang="ko-KR" dirty="0"/>
              <a:t>, </a:t>
            </a:r>
            <a:r>
              <a:rPr lang="ko-KR" altLang="en-US" dirty="0"/>
              <a:t>전 직급에서 만족도가 높은 것을 보면 장년고용을 적극적으로 실시하고 있는 기업인 것을 알 수 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작업조직 및 근로환경 </a:t>
            </a:r>
            <a:r>
              <a:rPr dirty="0"/>
              <a:t>&gt; </a:t>
            </a:r>
            <a:r>
              <a:rPr lang="ko-KR" altLang="en-US" dirty="0"/>
              <a:t>장년고용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F7CBD181-B535-81EE-C35E-CBE13A509E7C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BD4DCE2A-0977-1446-200E-C334081B2E20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4046CBF8-9BA7-0130-EE0D-BF98B4C0D0E4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3" name="question_chart">
            <a:extLst>
              <a:ext uri="{FF2B5EF4-FFF2-40B4-BE49-F238E27FC236}">
                <a16:creationId xmlns:a16="http://schemas.microsoft.com/office/drawing/2014/main" id="{9486DF15-3B83-BB4E-F542-524E257AF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6941464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bounding_box">
            <a:extLst>
              <a:ext uri="{FF2B5EF4-FFF2-40B4-BE49-F238E27FC236}">
                <a16:creationId xmlns:a16="http://schemas.microsoft.com/office/drawing/2014/main" id="{5CAC9C07-ED43-0334-76AE-6B34B75CF27B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451800"/>
              </p:ext>
            </p:extLst>
          </p:nvPr>
        </p:nvGraphicFramePr>
        <p:xfrm>
          <a:off x="3790847" y="4327314"/>
          <a:ext cx="5767038" cy="1801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sz="900" dirty="0"/>
                        <a:t>Q1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4.21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4157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Q3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3.83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B1B87E8B-CBD5-6EEA-807D-93B78E6512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8556682"/>
              </p:ext>
            </p:extLst>
          </p:nvPr>
        </p:nvGraphicFramePr>
        <p:xfrm>
          <a:off x="3790847" y="1628776"/>
          <a:ext cx="5842103" cy="2698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5761853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노사가치관 평균은 상위집단 보다는 다소 낮은 수치이지만</a:t>
            </a:r>
            <a:r>
              <a:rPr lang="en-US" altLang="ko-KR" dirty="0"/>
              <a:t>,</a:t>
            </a:r>
            <a:r>
              <a:rPr lang="ko-KR" altLang="en-US" dirty="0"/>
              <a:t> 전 직급에서 동종업계 대비 높은 만족도를 나타내고 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노사관계</a:t>
            </a:r>
            <a:r>
              <a:rPr dirty="0"/>
              <a:t> &gt; </a:t>
            </a:r>
            <a:r>
              <a:rPr lang="ko-KR" altLang="en-US" dirty="0" err="1"/>
              <a:t>노사가치관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C1827C5D-20CC-3231-7205-69225A46C6F3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42ACDC5D-FBA4-73C9-3607-45DDFE6BD9EA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18430F7A-6920-7F05-C699-D70CB4114435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3" name="question_chart">
            <a:extLst>
              <a:ext uri="{FF2B5EF4-FFF2-40B4-BE49-F238E27FC236}">
                <a16:creationId xmlns:a16="http://schemas.microsoft.com/office/drawing/2014/main" id="{DADF8F57-7366-F93E-A286-85766DBBAC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43802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bounding_box">
            <a:extLst>
              <a:ext uri="{FF2B5EF4-FFF2-40B4-BE49-F238E27FC236}">
                <a16:creationId xmlns:a16="http://schemas.microsoft.com/office/drawing/2014/main" id="{6BDC4086-1051-9FA9-40F4-D33F2CD47FF1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831827"/>
              </p:ext>
            </p:extLst>
          </p:nvPr>
        </p:nvGraphicFramePr>
        <p:xfrm>
          <a:off x="3790847" y="4327314"/>
          <a:ext cx="5767038" cy="18014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Q1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528243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Q3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18915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4.25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903110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1300C50C-69EA-2B92-4553-05EA5E9903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7695922"/>
              </p:ext>
            </p:extLst>
          </p:nvPr>
        </p:nvGraphicFramePr>
        <p:xfrm>
          <a:off x="3790847" y="1628775"/>
          <a:ext cx="5842103" cy="2698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9747104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노사관계 평균 역시 상위집단 보다는 다소 낮은 수치이지만</a:t>
            </a:r>
            <a:r>
              <a:rPr lang="en-US" altLang="ko-KR" dirty="0"/>
              <a:t>,</a:t>
            </a:r>
            <a:r>
              <a:rPr lang="ko-KR" altLang="en-US" dirty="0"/>
              <a:t> 전 직급에서 동종업계 대비 대체로 높은 만족도를 나타내고 있음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노사관계</a:t>
            </a:r>
            <a:r>
              <a:rPr dirty="0"/>
              <a:t> &gt; </a:t>
            </a:r>
            <a:r>
              <a:rPr lang="ko-KR" altLang="en-US" dirty="0"/>
              <a:t>노사관계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C1827C5D-20CC-3231-7205-69225A46C6F3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42ACDC5D-FBA4-73C9-3607-45DDFE6BD9EA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18430F7A-6920-7F05-C699-D70CB4114435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3" name="question_chart">
            <a:extLst>
              <a:ext uri="{FF2B5EF4-FFF2-40B4-BE49-F238E27FC236}">
                <a16:creationId xmlns:a16="http://schemas.microsoft.com/office/drawing/2014/main" id="{DADF8F57-7366-F93E-A286-85766DBBAC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0134386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bounding_box">
            <a:extLst>
              <a:ext uri="{FF2B5EF4-FFF2-40B4-BE49-F238E27FC236}">
                <a16:creationId xmlns:a16="http://schemas.microsoft.com/office/drawing/2014/main" id="{6BDC4086-1051-9FA9-40F4-D33F2CD47FF1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545745"/>
              </p:ext>
            </p:extLst>
          </p:nvPr>
        </p:nvGraphicFramePr>
        <p:xfrm>
          <a:off x="3790847" y="4327314"/>
          <a:ext cx="5767038" cy="18014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Q1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528243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Q3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4.21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84456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18915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Q5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902611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Q6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903110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A7B8222E-9CDD-CA5A-9F87-A6F1A0F057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7818276"/>
              </p:ext>
            </p:extLst>
          </p:nvPr>
        </p:nvGraphicFramePr>
        <p:xfrm>
          <a:off x="3790847" y="1628775"/>
          <a:ext cx="5842102" cy="2698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5313690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62CB-96F3-6DC2-5FEC-70DC14A2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3CD729F2-EF51-E86D-150A-099F8512C8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선배나 동료 등 신뢰할 수 있는 내부 구성원을 통한 소통과 해결 경험이 원활히 이루어지고 있어</a:t>
            </a:r>
            <a:r>
              <a:rPr lang="en-US" altLang="ko-KR" dirty="0"/>
              <a:t>, </a:t>
            </a:r>
            <a:r>
              <a:rPr lang="ko-KR" altLang="en-US" dirty="0"/>
              <a:t>조직 내 심리적 </a:t>
            </a:r>
            <a:r>
              <a:rPr lang="ko-KR" altLang="en-US" dirty="0" err="1"/>
              <a:t>안전감과</a:t>
            </a:r>
            <a:r>
              <a:rPr lang="ko-KR" altLang="en-US" dirty="0"/>
              <a:t> 관계 중심의 고충 대응 문화가 형성되어 있는 것으로 판단됨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BBC64B0-D2C1-B933-0844-26EF0806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노사관계</a:t>
            </a:r>
            <a:r>
              <a:rPr dirty="0"/>
              <a:t> &gt; </a:t>
            </a:r>
            <a:r>
              <a:rPr lang="ko-KR" altLang="en-US" dirty="0"/>
              <a:t>고충처리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96FCCE29-0B10-966B-2F88-6436CF2054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3" name="outlier">
            <a:extLst>
              <a:ext uri="{FF2B5EF4-FFF2-40B4-BE49-F238E27FC236}">
                <a16:creationId xmlns:a16="http://schemas.microsoft.com/office/drawing/2014/main" id="{37AF4A81-AB39-2F89-B59A-1D39DFE118C8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4" name="high">
              <a:extLst>
                <a:ext uri="{FF2B5EF4-FFF2-40B4-BE49-F238E27FC236}">
                  <a16:creationId xmlns:a16="http://schemas.microsoft.com/office/drawing/2014/main" id="{F334030D-1A46-55DC-64A1-DB141D7E67EB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8" name="low">
              <a:extLst>
                <a:ext uri="{FF2B5EF4-FFF2-40B4-BE49-F238E27FC236}">
                  <a16:creationId xmlns:a16="http://schemas.microsoft.com/office/drawing/2014/main" id="{B86ADF09-6E97-0567-19DF-E9E23E44FEFD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5" name="범주형_chart">
            <a:extLst>
              <a:ext uri="{FF2B5EF4-FFF2-40B4-BE49-F238E27FC236}">
                <a16:creationId xmlns:a16="http://schemas.microsoft.com/office/drawing/2014/main" id="{CECDCC8E-63A3-1BE7-EDDE-515472BEBC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170143"/>
              </p:ext>
            </p:extLst>
          </p:nvPr>
        </p:nvGraphicFramePr>
        <p:xfrm>
          <a:off x="160945" y="4361901"/>
          <a:ext cx="3492921" cy="1796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Q3">
            <a:extLst>
              <a:ext uri="{FF2B5EF4-FFF2-40B4-BE49-F238E27FC236}">
                <a16:creationId xmlns:a16="http://schemas.microsoft.com/office/drawing/2014/main" id="{55F5B47B-8A6E-D870-3A45-59F8084DD621}"/>
              </a:ext>
            </a:extLst>
          </p:cNvPr>
          <p:cNvSpPr/>
          <p:nvPr/>
        </p:nvSpPr>
        <p:spPr>
          <a:xfrm>
            <a:off x="368006" y="4204348"/>
            <a:ext cx="3261314" cy="276999"/>
          </a:xfrm>
          <a:prstGeom prst="rect">
            <a:avLst/>
          </a:prstGeom>
        </p:spPr>
        <p:txBody>
          <a:bodyPr wrap="square" lIns="36000" tIns="0" bIns="0">
            <a:spAutoFit/>
          </a:bodyPr>
          <a:lstStyle/>
          <a:p>
            <a:pPr marR="0" lvl="0" algn="just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j-ea"/>
                <a:ea typeface="+mj-ea"/>
              </a:rPr>
              <a:t>Q3. </a:t>
            </a:r>
            <a:r>
              <a:rPr lang="ko-KR" altLang="en-US" sz="900" dirty="0">
                <a:solidFill>
                  <a:prstClr val="black"/>
                </a:solidFill>
                <a:latin typeface="+mj-ea"/>
                <a:ea typeface="+mj-ea"/>
              </a:rPr>
              <a:t>귀하는 직장생활에서 발생하는 고충을 주로 어떤 경로를 통해 해결하십니까</a:t>
            </a:r>
            <a:r>
              <a:rPr lang="en-US" altLang="ko-KR" sz="900" dirty="0">
                <a:solidFill>
                  <a:prstClr val="black"/>
                </a:solidFill>
                <a:latin typeface="+mj-ea"/>
                <a:ea typeface="+mj-ea"/>
              </a:rPr>
              <a:t>?</a:t>
            </a:r>
            <a:endParaRPr kumimoji="0" lang="en-US" altLang="ko-KR" sz="900" i="0" u="none" strike="noStrike" kern="1200" cap="none" spc="0" normalizeH="0" baseline="0" noProof="0" dirty="0"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aphicFrame>
        <p:nvGraphicFramePr>
          <p:cNvPr id="18" name="question_chart">
            <a:extLst>
              <a:ext uri="{FF2B5EF4-FFF2-40B4-BE49-F238E27FC236}">
                <a16:creationId xmlns:a16="http://schemas.microsoft.com/office/drawing/2014/main" id="{723F4C2E-CA12-687D-781A-8252D3034D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70982"/>
              </p:ext>
            </p:extLst>
          </p:nvPr>
        </p:nvGraphicFramePr>
        <p:xfrm>
          <a:off x="160945" y="1597215"/>
          <a:ext cx="4346578" cy="2471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bounding_box">
            <a:extLst>
              <a:ext uri="{FF2B5EF4-FFF2-40B4-BE49-F238E27FC236}">
                <a16:creationId xmlns:a16="http://schemas.microsoft.com/office/drawing/2014/main" id="{4BB3B121-E30F-E886-5BCD-D5AFDABD839F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20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341427"/>
              </p:ext>
            </p:extLst>
          </p:nvPr>
        </p:nvGraphicFramePr>
        <p:xfrm>
          <a:off x="3790847" y="4327314"/>
          <a:ext cx="5767038" cy="18014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62357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Q1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3.83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62357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3.50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3.83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528243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3F7AAB6D-3F69-E35C-28A1-A3EAAAADA1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786333"/>
              </p:ext>
            </p:extLst>
          </p:nvPr>
        </p:nvGraphicFramePr>
        <p:xfrm>
          <a:off x="3790847" y="1628775"/>
          <a:ext cx="5842103" cy="2698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5230643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직무몰입의</a:t>
            </a:r>
            <a:r>
              <a:rPr lang="ko-KR" altLang="en-US" dirty="0"/>
              <a:t> 경우</a:t>
            </a:r>
            <a:r>
              <a:rPr lang="en-US" altLang="ko-KR" dirty="0"/>
              <a:t>, </a:t>
            </a:r>
            <a:r>
              <a:rPr lang="ko-KR" altLang="en-US" dirty="0"/>
              <a:t>동종업계 대비 높은 만족도를 보이고 있으며</a:t>
            </a:r>
            <a:r>
              <a:rPr lang="en-US" altLang="ko-KR" dirty="0"/>
              <a:t>,</a:t>
            </a:r>
            <a:r>
              <a:rPr lang="ko-KR" altLang="en-US" dirty="0"/>
              <a:t> 전 직급에서 직무몰입에 대한 만족감이 높은 것으로 조사되었음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조직성과</a:t>
            </a:r>
            <a:r>
              <a:rPr dirty="0"/>
              <a:t> &gt; </a:t>
            </a:r>
            <a:r>
              <a:rPr lang="ko-KR" altLang="en-US" dirty="0" err="1"/>
              <a:t>직무몰입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C1827C5D-20CC-3231-7205-69225A46C6F3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42ACDC5D-FBA4-73C9-3607-45DDFE6BD9EA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18430F7A-6920-7F05-C699-D70CB4114435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3" name="question_chart">
            <a:extLst>
              <a:ext uri="{FF2B5EF4-FFF2-40B4-BE49-F238E27FC236}">
                <a16:creationId xmlns:a16="http://schemas.microsoft.com/office/drawing/2014/main" id="{DADF8F57-7366-F93E-A286-85766DBBAC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9375396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bounding_box">
            <a:extLst>
              <a:ext uri="{FF2B5EF4-FFF2-40B4-BE49-F238E27FC236}">
                <a16:creationId xmlns:a16="http://schemas.microsoft.com/office/drawing/2014/main" id="{6BDC4086-1051-9FA9-40F4-D33F2CD47FF1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302184"/>
              </p:ext>
            </p:extLst>
          </p:nvPr>
        </p:nvGraphicFramePr>
        <p:xfrm>
          <a:off x="3790847" y="4327314"/>
          <a:ext cx="5767038" cy="18014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Q1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4.50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992586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Q3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4.50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635752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4.25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528243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Q5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4.58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29999"/>
                  </a:ext>
                </a:extLst>
              </a:tr>
              <a:tr h="207857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Q6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4.50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855281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703C4626-AAA7-0841-EFA8-AF100B5EB9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0523552"/>
              </p:ext>
            </p:extLst>
          </p:nvPr>
        </p:nvGraphicFramePr>
        <p:xfrm>
          <a:off x="3790847" y="1628775"/>
          <a:ext cx="5842102" cy="2698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9964799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050" y="765393"/>
            <a:ext cx="9359900" cy="323632"/>
          </a:xfrm>
        </p:spPr>
        <p:txBody>
          <a:bodyPr/>
          <a:lstStyle/>
          <a:p>
            <a:r>
              <a:rPr lang="ko-KR" altLang="en-US" dirty="0"/>
              <a:t>조직몰입은 동종업계 대비 높은 수준을 보이고 있으며</a:t>
            </a:r>
            <a:r>
              <a:rPr lang="en-US" altLang="ko-KR" dirty="0"/>
              <a:t>, </a:t>
            </a:r>
            <a:r>
              <a:rPr lang="ko-KR" altLang="en-US" dirty="0"/>
              <a:t>구성원들은</a:t>
            </a:r>
            <a:r>
              <a:rPr lang="en-US" altLang="ko-KR" dirty="0"/>
              <a:t> </a:t>
            </a:r>
            <a:r>
              <a:rPr lang="ko-KR" altLang="en-US" dirty="0"/>
              <a:t>조직에 대해 강한 소속감과 애착을 느끼며</a:t>
            </a:r>
            <a:r>
              <a:rPr lang="en-US" altLang="ko-KR" dirty="0"/>
              <a:t>, </a:t>
            </a:r>
            <a:r>
              <a:rPr lang="ko-KR" altLang="en-US" dirty="0"/>
              <a:t>개인에게 의미 있는 존재로 인식하고 있는 것으로 나타남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조직성과</a:t>
            </a:r>
            <a:r>
              <a:rPr dirty="0"/>
              <a:t> &gt; </a:t>
            </a:r>
            <a:r>
              <a:rPr lang="ko-KR" altLang="en-US" dirty="0"/>
              <a:t>조직몰입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2401456B-BCC6-E386-655A-3F8CF2B67BC1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163C0B7E-FF1D-1B07-E043-666EE45A6FCD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FDD75C12-176B-07F0-724D-9C995CAF28AF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3" name="question_chart">
            <a:extLst>
              <a:ext uri="{FF2B5EF4-FFF2-40B4-BE49-F238E27FC236}">
                <a16:creationId xmlns:a16="http://schemas.microsoft.com/office/drawing/2014/main" id="{09120A81-DFCC-5E5A-2FC4-E30FDCB0F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362731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bounding_box">
            <a:extLst>
              <a:ext uri="{FF2B5EF4-FFF2-40B4-BE49-F238E27FC236}">
                <a16:creationId xmlns:a16="http://schemas.microsoft.com/office/drawing/2014/main" id="{FF1A0796-A302-4A71-3067-82D30C2770A9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462085"/>
              </p:ext>
            </p:extLst>
          </p:nvPr>
        </p:nvGraphicFramePr>
        <p:xfrm>
          <a:off x="3790847" y="4327314"/>
          <a:ext cx="5767038" cy="1801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Q1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4.00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992586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Q3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635752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528243"/>
                  </a:ext>
                </a:extLst>
              </a:tr>
              <a:tr h="2494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Q5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3.86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229999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E33B6051-BEFB-3CE6-8BD5-E86C7C4B5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9538225"/>
              </p:ext>
            </p:extLst>
          </p:nvPr>
        </p:nvGraphicFramePr>
        <p:xfrm>
          <a:off x="3790847" y="1628775"/>
          <a:ext cx="5842103" cy="2698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913806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이직의도에 대한 조사 결과 동종업계에 비해 다소 </a:t>
            </a:r>
            <a:r>
              <a:rPr lang="ko-KR" altLang="en-US" dirty="0" err="1"/>
              <a:t>낮은편이지만</a:t>
            </a:r>
            <a:r>
              <a:rPr lang="en-US" altLang="ko-KR" dirty="0"/>
              <a:t>, 10%</a:t>
            </a:r>
            <a:r>
              <a:rPr lang="ko-KR" altLang="en-US" dirty="0"/>
              <a:t>이하로 줄이기 위해서는 재직자 입장에서의 회사 지원을 지속적으로 확대해 나가 이를 낮출 필요가 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조직성과</a:t>
            </a:r>
            <a:r>
              <a:rPr dirty="0"/>
              <a:t> &gt; </a:t>
            </a:r>
            <a:r>
              <a:rPr lang="ko-KR" altLang="en-US" dirty="0" err="1"/>
              <a:t>이직의도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C1827C5D-20CC-3231-7205-69225A46C6F3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42ACDC5D-FBA4-73C9-3607-45DDFE6BD9EA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18430F7A-6920-7F05-C699-D70CB4114435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7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341657"/>
              </p:ext>
            </p:extLst>
          </p:nvPr>
        </p:nvGraphicFramePr>
        <p:xfrm>
          <a:off x="3790847" y="4327314"/>
          <a:ext cx="5767038" cy="1841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6436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이직할 의향이 있다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22%</a:t>
                      </a:r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6436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/>
                        <a:t>이직할 의향이 없다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78%</a:t>
                      </a:r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992586"/>
                  </a:ext>
                </a:extLst>
              </a:tr>
            </a:tbl>
          </a:graphicData>
        </a:graphic>
      </p:graphicFrame>
      <p:sp>
        <p:nvSpPr>
          <p:cNvPr id="18" name="bounding_box">
            <a:extLst>
              <a:ext uri="{FF2B5EF4-FFF2-40B4-BE49-F238E27FC236}">
                <a16:creationId xmlns:a16="http://schemas.microsoft.com/office/drawing/2014/main" id="{FF1A0796-A302-4A71-3067-82D30C2770A9}"/>
              </a:ext>
            </a:extLst>
          </p:cNvPr>
          <p:cNvSpPr>
            <a:spLocks/>
          </p:cNvSpPr>
          <p:nvPr/>
        </p:nvSpPr>
        <p:spPr bwMode="gray">
          <a:xfrm>
            <a:off x="271703" y="1628775"/>
            <a:ext cx="3376372" cy="4499963"/>
          </a:xfrm>
          <a:prstGeom prst="rect">
            <a:avLst/>
          </a:prstGeom>
          <a:noFill/>
          <a:ln w="3175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 type="none" w="med" len="sm"/>
          </a:ln>
          <a:effectLst/>
        </p:spPr>
        <p:txBody>
          <a:bodyPr lIns="90000" tIns="180000" rIns="90000" bIns="90000" anchor="t"/>
          <a:lstStyle/>
          <a:p>
            <a:pPr marR="0" lvl="0" algn="ctr" defTabSz="914400" eaLnBrk="1" fontAlgn="auto" latinLnBrk="0" hangingPunct="1">
              <a:lnSpc>
                <a:spcPts val="14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solidFill>
                  <a:schemeClr val="tx1">
                    <a:alpha val="5000"/>
                  </a:schemeClr>
                </a:solidFill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9" name="question_chart">
            <a:extLst>
              <a:ext uri="{FF2B5EF4-FFF2-40B4-BE49-F238E27FC236}">
                <a16:creationId xmlns:a16="http://schemas.microsoft.com/office/drawing/2014/main" id="{09120A81-DFCC-5E5A-2FC4-E30FDCB0FA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6728284"/>
              </p:ext>
            </p:extLst>
          </p:nvPr>
        </p:nvGraphicFramePr>
        <p:xfrm>
          <a:off x="167031" y="1618007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1316E72A-9996-F7A7-ECAC-9D78FD28BB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1995537"/>
              </p:ext>
            </p:extLst>
          </p:nvPr>
        </p:nvGraphicFramePr>
        <p:xfrm>
          <a:off x="128931" y="2272325"/>
          <a:ext cx="3519144" cy="3449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D85F5DA7-C84C-CBB0-5D84-3D8D7C600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4471200"/>
              </p:ext>
            </p:extLst>
          </p:nvPr>
        </p:nvGraphicFramePr>
        <p:xfrm>
          <a:off x="3790846" y="1628775"/>
          <a:ext cx="5842103" cy="2698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22736515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_message">
            <a:extLst>
              <a:ext uri="{FF2B5EF4-FFF2-40B4-BE49-F238E27FC236}">
                <a16:creationId xmlns:a16="http://schemas.microsoft.com/office/drawing/2014/main" id="{A674742F-7A3D-2207-B4E7-6D233B37A7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직무만족도는 동종업계 평균에 비해 높은 만족도를 보이고 있으나 상위집단과의 많은 차이가 발생하고 있음</a:t>
            </a:r>
            <a:endParaRPr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51176B3-6773-692A-563B-079D3693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EOS &gt; </a:t>
            </a:r>
            <a:r>
              <a:rPr lang="ko-KR" altLang="en-US" dirty="0"/>
              <a:t>조직성과</a:t>
            </a:r>
            <a:r>
              <a:rPr dirty="0"/>
              <a:t> &gt; </a:t>
            </a:r>
            <a:r>
              <a:rPr lang="ko-KR" altLang="en-US" dirty="0"/>
              <a:t>직무만족</a:t>
            </a:r>
            <a:endParaRPr dirty="0"/>
          </a:p>
        </p:txBody>
      </p:sp>
      <p:sp>
        <p:nvSpPr>
          <p:cNvPr id="23" name="loc">
            <a:extLst>
              <a:ext uri="{FF2B5EF4-FFF2-40B4-BE49-F238E27FC236}">
                <a16:creationId xmlns:a16="http://schemas.microsoft.com/office/drawing/2014/main" id="{45C67499-A347-3C9D-FAFF-62DD381AC3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별첨</a:t>
            </a:r>
          </a:p>
        </p:txBody>
      </p:sp>
      <p:grpSp>
        <p:nvGrpSpPr>
          <p:cNvPr id="2" name="outlier">
            <a:extLst>
              <a:ext uri="{FF2B5EF4-FFF2-40B4-BE49-F238E27FC236}">
                <a16:creationId xmlns:a16="http://schemas.microsoft.com/office/drawing/2014/main" id="{C1827C5D-20CC-3231-7205-69225A46C6F3}"/>
              </a:ext>
            </a:extLst>
          </p:cNvPr>
          <p:cNvGrpSpPr/>
          <p:nvPr/>
        </p:nvGrpSpPr>
        <p:grpSpPr>
          <a:xfrm>
            <a:off x="8483759" y="6396476"/>
            <a:ext cx="1149191" cy="156632"/>
            <a:chOff x="8483759" y="6396476"/>
            <a:chExt cx="1149191" cy="156632"/>
          </a:xfrm>
        </p:grpSpPr>
        <p:sp>
          <p:nvSpPr>
            <p:cNvPr id="3" name="high">
              <a:extLst>
                <a:ext uri="{FF2B5EF4-FFF2-40B4-BE49-F238E27FC236}">
                  <a16:creationId xmlns:a16="http://schemas.microsoft.com/office/drawing/2014/main" id="{42ACDC5D-FBA4-73C9-3607-45DDFE6BD9EA}"/>
                </a:ext>
              </a:extLst>
            </p:cNvPr>
            <p:cNvSpPr/>
            <p:nvPr/>
          </p:nvSpPr>
          <p:spPr>
            <a:xfrm>
              <a:off x="8483759" y="6396476"/>
              <a:ext cx="541445" cy="156632"/>
            </a:xfrm>
            <a:prstGeom prst="roundRect">
              <a:avLst/>
            </a:prstGeom>
            <a:solidFill>
              <a:srgbClr val="DBF2FF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4.00 </a:t>
              </a:r>
              <a:r>
                <a:rPr lang="ko-KR" altLang="en-US" sz="800" dirty="0">
                  <a:latin typeface="+mn-ea"/>
                </a:rPr>
                <a:t>이상</a:t>
              </a:r>
            </a:p>
          </p:txBody>
        </p:sp>
        <p:sp>
          <p:nvSpPr>
            <p:cNvPr id="4" name="low">
              <a:extLst>
                <a:ext uri="{FF2B5EF4-FFF2-40B4-BE49-F238E27FC236}">
                  <a16:creationId xmlns:a16="http://schemas.microsoft.com/office/drawing/2014/main" id="{18430F7A-6920-7F05-C699-D70CB4114435}"/>
                </a:ext>
              </a:extLst>
            </p:cNvPr>
            <p:cNvSpPr/>
            <p:nvPr/>
          </p:nvSpPr>
          <p:spPr>
            <a:xfrm>
              <a:off x="9091505" y="6396476"/>
              <a:ext cx="541445" cy="156632"/>
            </a:xfrm>
            <a:prstGeom prst="roundRect">
              <a:avLst/>
            </a:prstGeom>
            <a:solidFill>
              <a:srgbClr val="FCE6E6"/>
            </a:solidFill>
            <a:ln w="12700">
              <a:solidFill>
                <a:schemeClr val="tx1">
                  <a:alpha val="20000"/>
                </a:schemeClr>
              </a:solidFill>
              <a:prstDash val="solid"/>
            </a:ln>
          </p:spPr>
          <p:txBody>
            <a:bodyPr wrap="none" lIns="0" tIns="0" rIns="0" bIns="0" rtlCol="0" anchor="ctr">
              <a:normAutofit/>
            </a:bodyPr>
            <a:lstStyle/>
            <a:p>
              <a:pPr algn="ctr" defTabSz="939800" eaLnBrk="1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</a:pPr>
              <a:r>
                <a:rPr lang="en-US" altLang="ko-KR" sz="800" dirty="0">
                  <a:latin typeface="+mn-ea"/>
                </a:rPr>
                <a:t>2.50 </a:t>
              </a:r>
              <a:r>
                <a:rPr lang="ko-KR" altLang="en-US" sz="800" dirty="0">
                  <a:latin typeface="+mn-ea"/>
                </a:rPr>
                <a:t>이하</a:t>
              </a:r>
            </a:p>
          </p:txBody>
        </p:sp>
      </p:grpSp>
      <p:graphicFrame>
        <p:nvGraphicFramePr>
          <p:cNvPr id="15" name="table">
            <a:extLst>
              <a:ext uri="{FF2B5EF4-FFF2-40B4-BE49-F238E27FC236}">
                <a16:creationId xmlns:a16="http://schemas.microsoft.com/office/drawing/2014/main" id="{8FADFC62-1F0B-35F1-ED9B-925B61E9C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678906"/>
              </p:ext>
            </p:extLst>
          </p:nvPr>
        </p:nvGraphicFramePr>
        <p:xfrm>
          <a:off x="3790847" y="4327314"/>
          <a:ext cx="5767038" cy="1841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346">
                  <a:extLst>
                    <a:ext uri="{9D8B030D-6E8A-4147-A177-3AD203B41FA5}">
                      <a16:colId xmlns:a16="http://schemas.microsoft.com/office/drawing/2014/main" val="109735358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3508489024"/>
                    </a:ext>
                  </a:extLst>
                </a:gridCol>
                <a:gridCol w="1922346">
                  <a:extLst>
                    <a:ext uri="{9D8B030D-6E8A-4147-A177-3AD203B41FA5}">
                      <a16:colId xmlns:a16="http://schemas.microsoft.com/office/drawing/2014/main" val="61535031"/>
                    </a:ext>
                  </a:extLst>
                </a:gridCol>
              </a:tblGrid>
              <a:tr h="554284">
                <a:tc>
                  <a:txBody>
                    <a:bodyPr/>
                    <a:lstStyle/>
                    <a:p>
                      <a:pPr algn="ctr"/>
                      <a:r>
                        <a:rPr sz="800" dirty="0" err="1"/>
                        <a:t>구분</a:t>
                      </a:r>
                      <a:endParaRPr sz="800" dirty="0"/>
                    </a:p>
                  </a:txBody>
                  <a:tcPr marL="5408" marR="5408" marT="5408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사원</a:t>
                      </a:r>
                      <a:r>
                        <a:rPr lang="en-US" altLang="ko-KR" sz="800" dirty="0"/>
                        <a:t>~</a:t>
                      </a:r>
                      <a:r>
                        <a:rPr lang="ko-KR" altLang="en-US" sz="800" dirty="0"/>
                        <a:t>대리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/>
                        <a:t>과장 이상</a:t>
                      </a:r>
                      <a:endParaRPr sz="8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58215"/>
                  </a:ext>
                </a:extLst>
              </a:tr>
              <a:tr h="21454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Q1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340138"/>
                  </a:ext>
                </a:extLst>
              </a:tr>
              <a:tr h="21454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Q2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992586"/>
                  </a:ext>
                </a:extLst>
              </a:tr>
              <a:tr h="21454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Q3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635752"/>
                  </a:ext>
                </a:extLst>
              </a:tr>
              <a:tr h="21454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Q4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528243"/>
                  </a:ext>
                </a:extLst>
              </a:tr>
              <a:tr h="21454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Q5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4.42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229999"/>
                  </a:ext>
                </a:extLst>
              </a:tr>
              <a:tr h="21454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Q6</a:t>
                      </a:r>
                      <a:endParaRPr sz="900"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4.33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462030"/>
                  </a:ext>
                </a:extLst>
              </a:tr>
            </a:tbl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29E2A270-922A-7CED-057A-EB7918A758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6696439"/>
              </p:ext>
            </p:extLst>
          </p:nvPr>
        </p:nvGraphicFramePr>
        <p:xfrm>
          <a:off x="3790846" y="1628775"/>
          <a:ext cx="5842103" cy="2698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question_chart">
            <a:extLst>
              <a:ext uri="{FF2B5EF4-FFF2-40B4-BE49-F238E27FC236}">
                <a16:creationId xmlns:a16="http://schemas.microsoft.com/office/drawing/2014/main" id="{E3896999-F5FB-0EAC-917E-9BB676FC12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0293093"/>
              </p:ext>
            </p:extLst>
          </p:nvPr>
        </p:nvGraphicFramePr>
        <p:xfrm>
          <a:off x="177797" y="1628774"/>
          <a:ext cx="4346578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495991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8150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SmXL7UdcEeeN_SmtBOM2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SmXL7UdcEeeN_SmtBOM2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ptyYAaN0.EEllrjOUlK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AKUwaasska6XR_3rZlDR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AKUwaasska6XR_3rZlDR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Br9Eee2DUKlBTtexCwCp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7jW.m8E_kuxwJpnMVPP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Br9Eee2DUKlBTtexCwCp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7jW.m8E_kuxwJpnMVPPQ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Br9Eee2DUKlBTtexCwCp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7jW.m8E_kuxwJpnMVPPQg"/>
</p:tagLst>
</file>

<file path=ppt/theme/theme1.xml><?xml version="1.0" encoding="utf-8"?>
<a:theme xmlns:a="http://schemas.openxmlformats.org/drawingml/2006/main" name="일터혁신2020">
  <a:themeElements>
    <a:clrScheme name="사용자 지정 7">
      <a:dk1>
        <a:sysClr val="windowText" lastClr="000000"/>
      </a:dk1>
      <a:lt1>
        <a:sysClr val="window" lastClr="FFFFFF"/>
      </a:lt1>
      <a:dk2>
        <a:srgbClr val="17365D"/>
      </a:dk2>
      <a:lt2>
        <a:srgbClr val="595959"/>
      </a:lt2>
      <a:accent1>
        <a:srgbClr val="80AADF"/>
      </a:accent1>
      <a:accent2>
        <a:srgbClr val="EB4C4C"/>
      </a:accent2>
      <a:accent3>
        <a:srgbClr val="FFC000"/>
      </a:accent3>
      <a:accent4>
        <a:srgbClr val="8064A2"/>
      </a:accent4>
      <a:accent5>
        <a:srgbClr val="418D97"/>
      </a:accent5>
      <a:accent6>
        <a:srgbClr val="F79646"/>
      </a:accent6>
      <a:hlink>
        <a:srgbClr val="7F7F7F"/>
      </a:hlink>
      <a:folHlink>
        <a:srgbClr val="7F7F7F"/>
      </a:folHlink>
    </a:clrScheme>
    <a:fontScheme name="나눔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>
        <a:normAutofit/>
      </a:bodyPr>
      <a:lstStyle>
        <a:defPPr algn="ctr">
          <a:defRPr sz="105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>
              <a:lumMod val="50000"/>
              <a:lumOff val="50000"/>
            </a:schemeClr>
          </a:solidFill>
          <a:prstDash val="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bg1">
            <a:lumMod val="95000"/>
          </a:schemeClr>
        </a:solidFill>
        <a:ln w="3175">
          <a:noFill/>
          <a:prstDash val="sysDash"/>
        </a:ln>
      </a:spPr>
      <a:bodyPr wrap="square" lIns="36000" rIns="36000" rtlCol="0" anchor="ctr">
        <a:noAutofit/>
      </a:bodyPr>
      <a:lstStyle>
        <a:defPPr marL="92075" indent="-92075">
          <a:spcBef>
            <a:spcPts val="0"/>
          </a:spcBef>
          <a:buNone/>
          <a:defRPr sz="9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일터혁신2020" id="{BCAF83B9-ADB8-463D-8505-8BA8CC266413}" vid="{4A7ECA76-C3C9-4131-8ED5-AC109D5FBA0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나눔바른고딕" panose="020F0302020204030204"/>
        <a:ea typeface=""/>
        <a:cs typeface=""/>
        <a:font script="Jpan" typeface="游ゴシック Light"/>
        <a:font script="Hang" typeface="나눔바른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나눔바른고딕" panose="020F0502020204030204"/>
        <a:ea typeface=""/>
        <a:cs typeface=""/>
        <a:font script="Jpan" typeface="游ゴシック"/>
        <a:font script="Hang" typeface="나눔바른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 2007-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사용자 지정 7">
    <a:dk1>
      <a:sysClr val="windowText" lastClr="000000"/>
    </a:dk1>
    <a:lt1>
      <a:sysClr val="window" lastClr="FFFFFF"/>
    </a:lt1>
    <a:dk2>
      <a:srgbClr val="17365D"/>
    </a:dk2>
    <a:lt2>
      <a:srgbClr val="595959"/>
    </a:lt2>
    <a:accent1>
      <a:srgbClr val="80AADF"/>
    </a:accent1>
    <a:accent2>
      <a:srgbClr val="EB4C4C"/>
    </a:accent2>
    <a:accent3>
      <a:srgbClr val="FFC000"/>
    </a:accent3>
    <a:accent4>
      <a:srgbClr val="8064A2"/>
    </a:accent4>
    <a:accent5>
      <a:srgbClr val="418D97"/>
    </a:accent5>
    <a:accent6>
      <a:srgbClr val="F79646"/>
    </a:accent6>
    <a:hlink>
      <a:srgbClr val="7F7F7F"/>
    </a:hlink>
    <a:folHlink>
      <a:srgbClr val="7F7F7F"/>
    </a:folHlink>
  </a:clrScheme>
  <a:fontScheme name="사용자 지정 3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사용자 지정 7">
    <a:dk1>
      <a:sysClr val="windowText" lastClr="000000"/>
    </a:dk1>
    <a:lt1>
      <a:sysClr val="window" lastClr="FFFFFF"/>
    </a:lt1>
    <a:dk2>
      <a:srgbClr val="17365D"/>
    </a:dk2>
    <a:lt2>
      <a:srgbClr val="595959"/>
    </a:lt2>
    <a:accent1>
      <a:srgbClr val="80AADF"/>
    </a:accent1>
    <a:accent2>
      <a:srgbClr val="EB4C4C"/>
    </a:accent2>
    <a:accent3>
      <a:srgbClr val="FFC000"/>
    </a:accent3>
    <a:accent4>
      <a:srgbClr val="8064A2"/>
    </a:accent4>
    <a:accent5>
      <a:srgbClr val="418D97"/>
    </a:accent5>
    <a:accent6>
      <a:srgbClr val="F79646"/>
    </a:accent6>
    <a:hlink>
      <a:srgbClr val="7F7F7F"/>
    </a:hlink>
    <a:folHlink>
      <a:srgbClr val="7F7F7F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나눔고딕">
    <a:majorFont>
      <a:latin typeface="나눔고딕 ExtraBold"/>
      <a:ea typeface="나눔고딕 ExtraBold"/>
      <a:cs typeface=""/>
    </a:majorFont>
    <a:minorFont>
      <a:latin typeface="나눔고딕"/>
      <a:ea typeface="나눔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5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8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0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1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2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3.xml><?xml version="1.0" encoding="utf-8"?>
<a:themeOverride xmlns:a="http://schemas.openxmlformats.org/drawingml/2006/main">
  <a:clrScheme name="일터2022">
    <a:dk1>
      <a:sysClr val="windowText" lastClr="000000"/>
    </a:dk1>
    <a:lt1>
      <a:sysClr val="window" lastClr="FFFFFF"/>
    </a:lt1>
    <a:dk2>
      <a:srgbClr val="595959"/>
    </a:dk2>
    <a:lt2>
      <a:srgbClr val="FF6900"/>
    </a:lt2>
    <a:accent1>
      <a:srgbClr val="FFC000"/>
    </a:accent1>
    <a:accent2>
      <a:srgbClr val="EB4C4C"/>
    </a:accent2>
    <a:accent3>
      <a:srgbClr val="9BBB59"/>
    </a:accent3>
    <a:accent4>
      <a:srgbClr val="8064A2"/>
    </a:accent4>
    <a:accent5>
      <a:srgbClr val="418D97"/>
    </a:accent5>
    <a:accent6>
      <a:srgbClr val="FF9646"/>
    </a:accent6>
    <a:hlink>
      <a:srgbClr val="FF9646"/>
    </a:hlink>
    <a:folHlink>
      <a:srgbClr val="FF9646"/>
    </a:folHlink>
  </a:clrScheme>
  <a:fontScheme name="나눔바른고딕">
    <a:majorFont>
      <a:latin typeface="나눔바른고딕"/>
      <a:ea typeface="나눔바른고딕"/>
      <a:cs typeface=""/>
    </a:majorFont>
    <a:minorFont>
      <a:latin typeface="나눔바른고딕"/>
      <a:ea typeface="나눔바른고딕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48014</TotalTime>
  <Words>21814</Words>
  <Application>Microsoft Office PowerPoint</Application>
  <PresentationFormat>A4 용지(210x297mm)</PresentationFormat>
  <Paragraphs>5218</Paragraphs>
  <Slides>137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137</vt:i4>
      </vt:variant>
    </vt:vector>
  </HeadingPairs>
  <TitlesOfParts>
    <vt:vector size="151" baseType="lpstr">
      <vt:lpstr>(한글 글꼴 사용)</vt:lpstr>
      <vt:lpstr>a고딕12</vt:lpstr>
      <vt:lpstr>a고딕14</vt:lpstr>
      <vt:lpstr>a고딕16</vt:lpstr>
      <vt:lpstr>나눔고딕</vt:lpstr>
      <vt:lpstr>나눔바른고딕</vt:lpstr>
      <vt:lpstr>나눔스퀘어</vt:lpstr>
      <vt:lpstr>맑은 고딕</vt:lpstr>
      <vt:lpstr>페이퍼로지 5 Medium</vt:lpstr>
      <vt:lpstr>Arial</vt:lpstr>
      <vt:lpstr>Trebuchet MS</vt:lpstr>
      <vt:lpstr>Wingdings</vt:lpstr>
      <vt:lpstr>Wingdings 2</vt:lpstr>
      <vt:lpstr>일터혁신2020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EOS &gt; 인적자원관리 &gt; 채용</vt:lpstr>
      <vt:lpstr>EOS &gt; 인적자원관리 &gt; 직무 및 배치</vt:lpstr>
      <vt:lpstr>EOS &gt; 인적자원관리 &gt; 평가</vt:lpstr>
      <vt:lpstr>EOS &gt; 인적자원관리 &gt; 보상</vt:lpstr>
      <vt:lpstr>EOS &gt; 인적자원관리 &gt; 승진</vt:lpstr>
      <vt:lpstr>EOS &gt; 인적자원 개발 &gt; 교육훈련 회사인식</vt:lpstr>
      <vt:lpstr>EOS &gt; 인적자원 개발 &gt; 교육훈련 지원여건</vt:lpstr>
      <vt:lpstr>EOS &gt; 인적자원 개발 &gt; 교육훈련 효과 및 활용</vt:lpstr>
      <vt:lpstr>EOS &gt; 작업조직 및 근로환경 &gt; 작업조직</vt:lpstr>
      <vt:lpstr>EOS &gt; 작업조직 및 근로환경 &gt; 근무제도</vt:lpstr>
      <vt:lpstr>EOS &gt; 작업조직 및 근로환경 &gt; 모성보호 및 일가정양립</vt:lpstr>
      <vt:lpstr>EOS &gt; 작업조직 및 근로환경 &gt; 장년고용</vt:lpstr>
      <vt:lpstr>EOS &gt; 노사관계 &gt; 노사가치관</vt:lpstr>
      <vt:lpstr>EOS &gt; 노사관계 &gt; 노사관계</vt:lpstr>
      <vt:lpstr>EOS &gt; 노사관계 &gt; 고충처리</vt:lpstr>
      <vt:lpstr>EOS &gt; 조직성과 &gt; 직무몰입</vt:lpstr>
      <vt:lpstr>EOS &gt; 조직성과 &gt; 조직몰입</vt:lpstr>
      <vt:lpstr>EOS &gt; 조직성과 &gt; 이직의도</vt:lpstr>
      <vt:lpstr>EOS &gt; 조직성과 &gt; 직무만족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일터혁신 컨설팅 지원사업 중간보고서 - 임금평가체계개선 컨설팅 -</dc:title>
  <dc:creator>신동주</dc:creator>
  <cp:lastModifiedBy>석주 이</cp:lastModifiedBy>
  <cp:revision>5910</cp:revision>
  <cp:lastPrinted>2025-03-04T00:52:26Z</cp:lastPrinted>
  <dcterms:created xsi:type="dcterms:W3CDTF">2019-01-21T05:51:56Z</dcterms:created>
  <dcterms:modified xsi:type="dcterms:W3CDTF">2025-11-11T12:21:13Z</dcterms:modified>
</cp:coreProperties>
</file>