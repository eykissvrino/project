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22D3EE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KTR 산업전환 공동훈련센터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교육로드맵 체계구축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과업 프레임워크 (v4)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Bottom-up 스킬 도출 + AI 역량 모델링 → 융합 스킬셋 → 5개년 마스터플랜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시앤피컨설팅  |  2026.04.02  |  PM 유대훈 본부장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목차  | 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전체 과업 흐름도 (Big Picture)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7단계 방법론 전체 구조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1. 기존 교육과정 스킬 도출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25개 교육과정 직무수행 스킬 분석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2. AI 직무 역량 모델링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국내외 문헌분석 기반 4대 영역×12항목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3. 기존 스킬 × AI 역량 융합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999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KTR 특화 AI 융합 스킬셋(R1~P1)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4. 5개년 마스터플랜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547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2026 기반구축 ~ 2030 자립화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5~6. 교육체계·과정 개편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096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수평·수직 체계 + 업스킬링/리스킬링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4348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7. 상세 커리큘럼 설계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645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직무 맞춤형 AI 교육과정 개발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1097280"/>
            <a:ext cx="2011680" cy="347472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1371600"/>
            <a:ext cx="1645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3 Phases
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 Steps
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Phase 1
분석·모델링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Phase 2
로드맵 재수립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Phase 3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교육과정 개발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01  전체 과업 흐름도 (Big Picture)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417320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Phase 1. 분석 및 역량 모델링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1 기존 교육과정 스킬 도출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25개 과정 분석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직무수행 스킬 중심 (AI 최소화)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유사 스킬 통합 → 스킬셋 구성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54864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2 AI 직무 역량 모델링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국내외 문헌 분석 (6개 출처)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역량 4영역 정의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스킬셋 도출 (57개)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173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3 기존 스킬 × AI 융합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매핑 매트릭스 (교차분석)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융합 가능성 진단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KTR 특화 AI 융합 스킬셋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8595360" cy="141732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Phase 2. 교육로드맵 재수립 및 체계화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3200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632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4 5개년 마스터플랜 (2026~2030)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2026 기반구축 → 2027 본격운영 →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2028~29 영역확장 → 2030 자립화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3063240"/>
            <a:ext cx="22860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306324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108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5 교육체계 개편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수평: 3모듈+AI 레이어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수직: 3수준 체계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직무축 추가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3063240"/>
            <a:ext cx="21031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30632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Step 6 과정 개편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업스킬링/리스킬링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융합 신규과정 설계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Phase 3. AI 교육과정 개발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5902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Step 7. 직무 맞춤형 AI 교육과정 상세 커리큘럼 설계 → 학습목표, 모듈구성, 시간배분, 실습설계, 평가기준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02  Step 1. 기존 교육과정 스킬 도출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핵심 원칙: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AI 스킬 최소화, 직무수행 스킬 중심 도출.  기존 교육과정은 산업 기술·규제 중심이므로 순수 직무 스킬만 도출. AI 스킬은 Step 2에서 별도 모델링.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스킬 도출 프로세스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92024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25개 교육과정 분석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교과목별 교육내용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학습목표 분석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06040" y="2240280"/>
            <a:ext cx="192024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224028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수행행동 스킬 도출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606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"~을 분석할 수 있다"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3요소: 전문지식+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적용맥락+행동수준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192024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4028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유사 스킬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행동·적용영역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유사성 기반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클러스터링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2240280"/>
            <a:ext cx="192024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224028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스킬셋 구성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2606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직무수행 스킬들의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상위 묶음 구성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도출 스킬셋 예시 (직무수행 스킬 중심)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스킬셋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하위 스킬(예시)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근거 과정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친환경 소재 제품화 기획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바이오 기반 산업소재 특성 비교분석, 제품화 사례분석, 인증기준 비교분석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친환경소재 제품화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기본전략 과정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R&amp;D 프로젝트 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프로젝트 관리계획 수립, 보고서 작성, 리스크 분석, KPI 성과관리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바이오화학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R&amp;D 관리실무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ESG 지속가능경영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문서 작성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GRI Standard 분석, 선도기업 ESG 사례분석, ESG 보고서 작성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ESG 지속가능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경영 실무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화학물질 규제대응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화학물질 규제분석, 규제내용 실무적용, 환경규제 분석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화학물질·화학제품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규제대응 실무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  Step 2. AI 직무 역량 모델링 — 국내외 문헌분석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WEF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161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Future of Jobs 2025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&amp; Empowering Frontlines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86% 기업 영향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실무중심 교육 강조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188720"/>
            <a:ext cx="54864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88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OECD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0" y="1161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Skills Gap 2025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&amp; AI Capability Indicators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일반 AI 리터러시 핵심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5수준 체계 제안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88720"/>
            <a:ext cx="54864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88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EU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1161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DigComp 2.2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(2022, AI 확장)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5대 역량 영역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250+ KSA 예시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5146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651760"/>
            <a:ext cx="54864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NCS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8872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국가직무능력표준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2024 개정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서비스 구현 표준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수행준거 체계 참조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5146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5146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2651760"/>
            <a:ext cx="5486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PwC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제조업 AI 로드맵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(2026)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29000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AX 패러다임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제조 AI 적용 영역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5146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5146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2651760"/>
            <a:ext cx="5486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학술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김은경 외(2024)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스킬 기반 HR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108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스킬 3요소 정의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전문지식+맥락+행동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설계 원칙: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"AI가 뭔지 아는가?" → "AI로 무엇을 할 수 있는가?"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모든 스킬은 "이해한다/인식한다"가 아닌, "작성한다/운용한다/분석한다/설계한다" 행동 동사로 정의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  4대 AI 역량 영역 × 12개 역량 항목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16152"/>
            <a:ext cx="5029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업무 기초 활용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2161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Lv1~2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생성형 AI로 문서 작성, 정보 검색,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업무 생산성 향상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84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R1-1 생성형 AI 업무 문서 작성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9514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R1-2 AI 활용 정보 검색·요약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96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R1-3 AI 생성 결과물 검증·보완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16152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데이터 실무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12161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Lv1~2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1554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현장 데이터를 수집·정리, AI 분석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도구로 데이터 기반 의사결정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039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984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R2-1 업무 데이터 표준화 수집·정리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29514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R2-2 AI 도구 활용 데이터 분석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255117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496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R2-3 데이터 시각화·대시보드 구축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1752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3182112"/>
            <a:ext cx="502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1821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직무 도구 운용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0" y="3182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산업별 전문 AI 솔루션을 실제 업무에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적용하여 직무 성과 개선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0050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R3-1 직무 특화 AI 솔루션 운용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42611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R3-2 AI 분석 결과 해석·업무 적용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451713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462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R3-3 AI 도구 선정·평가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01752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3182112"/>
            <a:ext cx="5029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31821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업무 혁신 설계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955280" y="3182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Lv2~3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업무 프로세스 자동화·재설계,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도입 프로젝트 기획·실행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37760" y="400507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1" name="Text 49"/>
          <p:cNvSpPr/>
          <p:nvPr/>
        </p:nvSpPr>
        <p:spPr>
          <a:xfrm>
            <a:off x="512064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R4-1 AI 기반 업무 자동화 구현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37760" y="4261104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R4-2 AI 예측·최적화 모델 요건 정의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37760" y="451713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4462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R4-3 AI 도입 프로젝트 기획·관리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  역량 수준 3단계 + 스킬 설계 전환 (v3→v4)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88720"/>
            <a:ext cx="5029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88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Lv1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활용 기초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72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선제대응 (14.3%)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생성형 AI로 문서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내 데이터를 정리하여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AI에 넣을 수 있다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242316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작성한다, 정리한다, 활용해 본다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0515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5156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188720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188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Lv2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실무 적용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1572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전환 (81.4%)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직무 특화 AI 도구를 일상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업무에 적용하고, AI 결과로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업무를 개선한다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560320"/>
            <a:ext cx="242316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운용한다, 분석한다, 개선한다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0515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5156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188720"/>
            <a:ext cx="5029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188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Lv3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혁신 설계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1572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정착 (4.3%)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기반 프로세스를 설계하고,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도입 프로젝트를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기획·주도한다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560320"/>
            <a:ext cx="242316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설계한다, 기획한다, 주도한다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스킬 설계 전환 — v3(이론 중심) → v4(실무 행동 중심)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"/>
                <a:gridCol w="45720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기존 (v3 이론 중심)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재설계 (v4 실무 행동 중심)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"AI·ML·DL 개념을 구분할 수 있다"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"AI 활용 보고서 초안을 작성할 수 있다"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"생성형 AI 원리와 한계를 인식한다"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"AI 생성물 팩트체크·오류를 보정할 수 있다"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"업무 데이터 수집·관리"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"표준 양식으로 수집하여 AI 분석 품질로 관리"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"AI 기반 프로세스 자동화"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"반복 업무를 분석, AI 자동화 대상 선정, 워크플로우 설계"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04  Step 3. 기존 스킬 × AI 역량 융합 — KTR 특화 AI 융합 스킬셋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286000" cy="128016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Step 1: 기존 스킬셋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(직무수행 스킬 중심)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친환경 소재 제품화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LCA 수행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화학물질 규제대응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R&amp;D 프로젝트 관리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...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051560"/>
            <a:ext cx="22860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097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Step 2: AI 스킬셋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(문헌분석 기반)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R1 AI 업무 기초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R2 데이터 실무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R3 직무 도구 운용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R4 업무 혁신 설계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371600"/>
            <a:ext cx="5486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371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융합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246888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097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KTR 특화
AI 융합 스킬셋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기존 직무 전문성 +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AI 역량이 결합된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새로운 통합 스킬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286000"/>
                <a:gridCol w="365760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코드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AI 융합 스킬셋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융합 근거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직무축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R1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기반 신소재 개발 분석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소재 제품화 + R2 데이터 + R3 도구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R&amp;D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R2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활용 실험설계 및 최적화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R&amp;D 프로젝트 + R2 전처리 + R4 예측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R&amp;D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M1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기반 공정데이터 분석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플라스틱 재활용 + R2 데이터 + R3 공정AI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생산·공정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Q1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기반 품질예측 및 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품질관리 + R2 분석 + R3 품질AI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품질·규제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Q2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기반 규제·인증 대응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화학물질 규제 + R3 생성형 AI + R4 자동화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품질·규제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E1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활용 ESG 보고서 작성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ESG·LCA + R2 데이터 + R3 생성형AI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ESG·환경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P1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AI 기반 시장·기술 분석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화장품 기획 + R2 분석 + R3 AI 도구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기획·전략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핵심: 기존 직무 전문성이 있어야 AI를 쓸 수 있다 — 도메인 지식 전제, 적용 맥락 특정, 양방향 연결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05  Step 4. 5개년 마스터플랜 (2026~2030)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709928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1508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기반 구축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분석·모델링 + 교육체계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개편 + AI 융합과정 시범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70992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2027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03120" y="21945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03120" y="219456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286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핵심 운영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60604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개편과정 본격운영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공통 확산 + 정밀화학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70992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2028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49040" y="21945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194560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2286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영역 확장 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60604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섬유소재 + Lv3 심화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PBL 도입 + 통합진단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170992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2029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394960" y="21945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219456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2286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영역 확장 II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60604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신규산업(바이오에너지 등)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산업간 융합과정 개발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35240" y="17099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2030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040880" y="219456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40880" y="219456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286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자립화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260604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 산업군 AI 완비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역량인증 체계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산업 분야 확장 로드맵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산업군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바이오플라스틱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개편+AI융합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본격운영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Lv3 심화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융합과정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완비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의료기기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개편+AI융합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본격운영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Lv3 심화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융합과정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완비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화장품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개편+AI융합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본격운영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Lv3 심화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융합과정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완비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정밀화학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기본유지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AI융합개발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본격운영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Lv3 심화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완비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섬유소재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스킬분석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AI융합개발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본격운영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Lv3 심화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06  Step 5~6. 교육체계 개편 + 기존 과정 개편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수평 체계 개편 (3모듈 + AI 레이어)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공통 기반 (진입점): AI 리터러시, 데이터 기초, 생성형 AI 활용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2801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인사이트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+AI 트렌드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P1 연계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74520" y="1965960"/>
            <a:ext cx="12801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2011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실무공통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+AI 데이터/도구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E1, M1 연계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12801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011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산업특화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+AI 융합 실무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R1,R2,Q1,Q2 연계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수직 체계 (3수준 + AI 연동)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371600"/>
            <a:ext cx="3840480" cy="411480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Lv3 정착 | 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 혁신주도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AI 프로세스 설계, 도입 기획 주도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874520"/>
            <a:ext cx="3566160" cy="41148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874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Lv2 전환 | 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 실무적용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AI 도구로 직무 성과 개선 (81.4%)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2377440"/>
            <a:ext cx="3291840" cy="4114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377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Lv1 선제대응 | 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 활용기초 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AI 개념 이해 + 적용 가능성 인식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기존 과정 개편 유형 (Step 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74720"/>
            <a:ext cx="16002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478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유지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연계 없이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기존 과정 유지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347472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94560" y="3474720"/>
            <a:ext cx="1600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2194560" y="35478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보강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(업스킬링)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3931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기존 과정에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모듈 2~4H 추가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0" y="347472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31920" y="3474720"/>
            <a:ext cx="1600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0" y="35478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개편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(리스킬링)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3931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중심으로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과정 재설계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347472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0" y="3474720"/>
            <a:ext cx="1600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0" y="35478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신설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931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융합 스킬셋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신규 과정 개발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347472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06640" y="3474720"/>
            <a:ext cx="1600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35478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폐지/통합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98080" y="3931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수요 감소·중복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과정 정리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바이오플라스틱 R&amp;D → +R1, R2 융합  |  의료기기 규제 → +Q2 융합  |  화장품 기획 → +P1 융합  |  실무공통 ESG → +E1 융합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부록  AI 스킬셋 요약 통계 (57개 스킬)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역량 영역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(R1~R4)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4884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역량 항목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0515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공통 스킬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10515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37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3212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산업특화 스킬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0515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57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전체 스킬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수준별 분포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Lv1 활용기초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2651760"/>
            <a:ext cx="1152144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163824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21%  (~12개)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Lv2 실무적용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017520"/>
            <a:ext cx="318211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193792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58%  (~33개)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Lv3 혁신설계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383280"/>
            <a:ext cx="1152144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16382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21%  (~12개)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194560"/>
            <a:ext cx="3657600" cy="12344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219456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2860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Lv2가 58%로 최대 비중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KTR 협약기업 81.4%가 전환단계이므로,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"AI를 실무에 바로 쓸 수 있는" 스킬에 집중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산업군별 특화 스킬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02336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바이오플라스틱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15개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생산4 + 품질4 + R&amp;D 6 + 기획3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06040" y="40233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06040" y="402336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260604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의료기기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604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8개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69748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생산2 + 품질3 + R&amp;D 2 + 기획1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54880" y="40233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402336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화장품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10개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4632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생산2 + 품질3 + R&amp;D 3 + 기획2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903720" y="40233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03720" y="40233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90372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정밀화학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0372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4개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9516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반응최적화 + QSAR + 분광AI + 역합성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2D3EE">
              <a:alpha val="8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KTR 산업전환 공동훈련센터 AI 교육로드맵 체계구축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시앤피컨설팅 | 직업능력컨설팅본부 + AI컨설팅연구소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PM 유대훈 본부장 | 이석주 팀장 | 조예슬 선임연구원 | 안은하 선임연구원 | 허상희 연구원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KTR AI 교육로드맵 체계구축 과업 프레임워크</dc:title>
  <dc:subject>PptxGenJS Presentation</dc:subject>
  <dc:creator>시앤피컨설팅</dc:creator>
  <cp:lastModifiedBy>시앤피컨설팅</cp:lastModifiedBy>
  <cp:revision>1</cp:revision>
  <dcterms:created xsi:type="dcterms:W3CDTF">2026-04-02T06:42:38Z</dcterms:created>
  <dcterms:modified xsi:type="dcterms:W3CDTF">2026-04-02T06:42:38Z</dcterms:modified>
</cp:coreProperties>
</file>