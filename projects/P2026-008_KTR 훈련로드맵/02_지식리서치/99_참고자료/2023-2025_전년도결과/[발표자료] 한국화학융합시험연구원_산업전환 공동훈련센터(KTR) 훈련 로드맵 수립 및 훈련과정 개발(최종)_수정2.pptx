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979" r:id="rId2"/>
    <p:sldId id="260" r:id="rId3"/>
    <p:sldId id="834" r:id="rId4"/>
    <p:sldId id="991" r:id="rId5"/>
    <p:sldId id="1001" r:id="rId6"/>
    <p:sldId id="954" r:id="rId7"/>
    <p:sldId id="926" r:id="rId8"/>
    <p:sldId id="833" r:id="rId9"/>
    <p:sldId id="1006" r:id="rId10"/>
    <p:sldId id="1012" r:id="rId11"/>
    <p:sldId id="1019" r:id="rId12"/>
    <p:sldId id="1020" r:id="rId13"/>
    <p:sldId id="1009" r:id="rId14"/>
    <p:sldId id="1014" r:id="rId15"/>
    <p:sldId id="1018" r:id="rId16"/>
    <p:sldId id="1005" r:id="rId17"/>
    <p:sldId id="985" r:id="rId18"/>
    <p:sldId id="854" r:id="rId19"/>
    <p:sldId id="837" r:id="rId20"/>
    <p:sldId id="987" r:id="rId21"/>
    <p:sldId id="989" r:id="rId22"/>
  </p:sldIdLst>
  <p:sldSz cx="12192000" cy="6858000"/>
  <p:notesSz cx="6797675" cy="9926638"/>
  <p:embeddedFontLst>
    <p:embeddedFont>
      <p:font typeface="a고딕12" panose="02020600000000000000" pitchFamily="18" charset="-127"/>
      <p:regular r:id="rId24"/>
    </p:embeddedFont>
    <p:embeddedFont>
      <p:font typeface="a고딕13" panose="02020600000000000000" pitchFamily="18" charset="-127"/>
      <p:regular r:id="rId25"/>
    </p:embeddedFont>
    <p:embeddedFont>
      <p:font typeface="a고딕14" panose="02020600000000000000" pitchFamily="18" charset="-127"/>
      <p:regular r:id="rId26"/>
    </p:embeddedFont>
    <p:embeddedFont>
      <p:font typeface="a고딕16" panose="02020600000000000000" pitchFamily="18" charset="-127"/>
      <p:regular r:id="rId27"/>
    </p:embeddedFont>
    <p:embeddedFont>
      <p:font typeface="a고딕18" panose="02020600000000000000" pitchFamily="18" charset="-127"/>
      <p:regular r:id="rId28"/>
    </p:embeddedFont>
    <p:embeddedFont>
      <p:font typeface="SpoqaHanSans-Bold" panose="020B0800000000000000" pitchFamily="50" charset="-127"/>
      <p:bold r:id="rId29"/>
    </p:embeddedFont>
    <p:embeddedFont>
      <p:font typeface="SpoqaHanSans-Regular" panose="020B0500000000000000" pitchFamily="50" charset="-127"/>
      <p:regular r:id="rId30"/>
    </p:embeddedFont>
    <p:embeddedFont>
      <p:font typeface="나눔고딕" panose="020D0604000000000000" pitchFamily="50" charset="-127"/>
      <p:regular r:id="rId31"/>
      <p:bold r:id="rId32"/>
    </p:embeddedFont>
    <p:embeddedFont>
      <p:font typeface="맑은 고딕" panose="020B0503020000020004" pitchFamily="50" charset="-127"/>
      <p:regular r:id="rId33"/>
      <p:bold r:id="rId3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9BF91E1-6BF4-4520-BF3B-8EDD9E77F379}">
          <p14:sldIdLst>
            <p14:sldId id="979"/>
            <p14:sldId id="260"/>
          </p14:sldIdLst>
        </p14:section>
        <p14:section name="1장. 제안개요" id="{34759AB8-DA50-472D-8DDB-DE1D43CB150F}">
          <p14:sldIdLst>
            <p14:sldId id="834"/>
            <p14:sldId id="991"/>
            <p14:sldId id="1001"/>
            <p14:sldId id="954"/>
            <p14:sldId id="926"/>
          </p14:sldIdLst>
        </p14:section>
        <p14:section name="2장. 과업수행계획" id="{F3CF5F93-9D30-4D8B-9E9B-E1EDD993F767}">
          <p14:sldIdLst>
            <p14:sldId id="833"/>
            <p14:sldId id="1006"/>
            <p14:sldId id="1012"/>
            <p14:sldId id="1019"/>
            <p14:sldId id="1020"/>
            <p14:sldId id="1009"/>
            <p14:sldId id="1014"/>
            <p14:sldId id="1018"/>
            <p14:sldId id="1005"/>
            <p14:sldId id="985"/>
            <p14:sldId id="854"/>
          </p14:sldIdLst>
        </p14:section>
        <p14:section name="3장. 과업수행 조직 및 관리" id="{27A6F673-3EBA-41D5-8D3B-ADF39DF21ACA}">
          <p14:sldIdLst>
            <p14:sldId id="837"/>
            <p14:sldId id="987"/>
            <p14:sldId id="9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71" userDrawn="1">
          <p15:clr>
            <a:srgbClr val="A4A3A4"/>
          </p15:clr>
        </p15:guide>
        <p15:guide id="2" pos="370" userDrawn="1">
          <p15:clr>
            <a:srgbClr val="A4A3A4"/>
          </p15:clr>
        </p15:guide>
        <p15:guide id="3" orient="horz" pos="1366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orient="horz" pos="4156" userDrawn="1">
          <p15:clr>
            <a:srgbClr val="A4A3A4"/>
          </p15:clr>
        </p15:guide>
        <p15:guide id="8" orient="horz" pos="867" userDrawn="1">
          <p15:clr>
            <a:srgbClr val="A4A3A4"/>
          </p15:clr>
        </p15:guide>
        <p15:guide id="9" orient="horz" pos="323" userDrawn="1">
          <p15:clr>
            <a:srgbClr val="A4A3A4"/>
          </p15:clr>
        </p15:guide>
        <p15:guide id="10" pos="73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OO" initials="O" lastIdx="1" clrIdx="0">
    <p:extLst>
      <p:ext uri="{19B8F6BF-5375-455C-9EA6-DF929625EA0E}">
        <p15:presenceInfo xmlns:p15="http://schemas.microsoft.com/office/powerpoint/2012/main" userId="OO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B9B9B9"/>
    <a:srgbClr val="FFFFFF"/>
    <a:srgbClr val="EA830A"/>
    <a:srgbClr val="FF6600"/>
    <a:srgbClr val="8FAADC"/>
    <a:srgbClr val="ED7D31"/>
    <a:srgbClr val="F4B183"/>
    <a:srgbClr val="7F7F7F"/>
    <a:srgbClr val="7CC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2515" autoAdjust="0"/>
  </p:normalViewPr>
  <p:slideViewPr>
    <p:cSldViewPr snapToGrid="0">
      <p:cViewPr varScale="1">
        <p:scale>
          <a:sx n="105" d="100"/>
          <a:sy n="105" d="100"/>
        </p:scale>
        <p:origin x="912" y="114"/>
      </p:cViewPr>
      <p:guideLst>
        <p:guide orient="horz" pos="1071"/>
        <p:guide pos="370"/>
        <p:guide orient="horz" pos="1366"/>
        <p:guide pos="3840"/>
        <p:guide orient="horz" pos="4156"/>
        <p:guide orient="horz" pos="867"/>
        <p:guide orient="horz" pos="323"/>
        <p:guide pos="731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fld id="{E9B4268C-2B08-4556-BBDF-C9F7FDF6B4E0}" type="datetimeFigureOut">
              <a:rPr lang="ko-KR" altLang="en-US" smtClean="0"/>
              <a:pPr/>
              <a:t>2023-05-22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fld id="{A3BAB538-D59A-4EEA-A623-683E23FFA10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42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SpoqaHanSans-Regular" panose="020B0500000000000000" pitchFamily="50" charset="-127"/>
        <a:ea typeface="SpoqaHanSans-Regular" panose="020B05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SpoqaHanSans-Regular" panose="020B0500000000000000" pitchFamily="50" charset="-127"/>
        <a:ea typeface="SpoqaHanSans-Regular" panose="020B05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SpoqaHanSans-Regular" panose="020B0500000000000000" pitchFamily="50" charset="-127"/>
        <a:ea typeface="SpoqaHanSans-Regular" panose="020B05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SpoqaHanSans-Regular" panose="020B0500000000000000" pitchFamily="50" charset="-127"/>
        <a:ea typeface="SpoqaHanSans-Regular" panose="020B05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SpoqaHanSans-Regular" panose="020B0500000000000000" pitchFamily="50" charset="-127"/>
        <a:ea typeface="SpoqaHanSans-Regular" panose="020B05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149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4BA6-528E-4E44-BFA6-F73E0E85909A}" type="datetimeFigureOut">
              <a:rPr lang="ko-KR" altLang="en-US" smtClean="0"/>
              <a:t>2023-05-22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40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5824636" y="6492875"/>
            <a:ext cx="542728" cy="365125"/>
          </a:xfrm>
        </p:spPr>
        <p:txBody>
          <a:bodyPr/>
          <a:lstStyle>
            <a:lvl1pPr algn="ctr">
              <a:defRPr lang="en-US" altLang="ko-KR" sz="1000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pic>
        <p:nvPicPr>
          <p:cNvPr id="3" name="Picture 2" descr="테크코리아 우리가 이끈다] 한국화학융합시험연구원(KTR) - 전자신문">
            <a:extLst>
              <a:ext uri="{FF2B5EF4-FFF2-40B4-BE49-F238E27FC236}">
                <a16:creationId xmlns:a16="http://schemas.microsoft.com/office/drawing/2014/main" id="{D97F5734-B68C-7E4C-5A8D-796D45695B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18" y="6389984"/>
            <a:ext cx="1004781" cy="4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3BEFE9C-86E5-D84E-85DD-2751B3EA8E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062" y="6504435"/>
            <a:ext cx="1801967" cy="32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진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412108" y="6619720"/>
            <a:ext cx="340279" cy="158070"/>
          </a:xfrm>
          <a:prstGeom prst="rect">
            <a:avLst/>
          </a:prstGeom>
        </p:spPr>
        <p:txBody>
          <a:bodyPr lIns="0" tIns="0" rIns="0" bIns="0"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8" name="1. 마스터 제목 스타일 편집"/>
          <p:cNvSpPr txBox="1">
            <a:spLocks noGrp="1"/>
          </p:cNvSpPr>
          <p:nvPr>
            <p:ph type="title" hasCustomPrompt="1"/>
          </p:nvPr>
        </p:nvSpPr>
        <p:spPr>
          <a:xfrm>
            <a:off x="0" y="2"/>
            <a:ext cx="12192000" cy="595993"/>
          </a:xfrm>
          <a:prstGeom prst="rect">
            <a:avLst/>
          </a:prstGeom>
        </p:spPr>
        <p:txBody>
          <a:bodyPr lIns="0" tIns="0" rIns="0" bIns="0"/>
          <a:lstStyle>
            <a:lvl1pPr defTabSz="1007943">
              <a:defRPr sz="2400" b="1">
                <a:latin typeface="나눔고딕" panose="020D0604000000000000" pitchFamily="50" charset="-127"/>
                <a:ea typeface="나눔고딕" panose="020D0604000000000000" pitchFamily="50" charset="-127"/>
                <a:cs typeface="나눔고딕" panose="020D0604000000000000" pitchFamily="50" charset="-127"/>
                <a:sym typeface="KoPub돋움체 Bold"/>
              </a:defRPr>
            </a:lvl1pPr>
          </a:lstStyle>
          <a:p>
            <a:r>
              <a:rPr dirty="0"/>
              <a:t>1.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스타일</a:t>
            </a:r>
            <a:r>
              <a:rPr dirty="0"/>
              <a:t> </a:t>
            </a:r>
            <a:r>
              <a:rPr dirty="0" err="1"/>
              <a:t>편집</a:t>
            </a:r>
            <a:endParaRPr dirty="0"/>
          </a:p>
        </p:txBody>
      </p:sp>
      <p:sp>
        <p:nvSpPr>
          <p:cNvPr id="89" name="Freeform 9"/>
          <p:cNvSpPr/>
          <p:nvPr/>
        </p:nvSpPr>
        <p:spPr>
          <a:xfrm>
            <a:off x="1" y="469774"/>
            <a:ext cx="12192001" cy="298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21600" y="0"/>
                  <a:pt x="21600" y="0"/>
                  <a:pt x="16418" y="0"/>
                </a:cubicBezTo>
                <a:cubicBezTo>
                  <a:pt x="16341" y="0"/>
                  <a:pt x="16142" y="1309"/>
                  <a:pt x="16040" y="5018"/>
                </a:cubicBezTo>
                <a:cubicBezTo>
                  <a:pt x="15899" y="9600"/>
                  <a:pt x="15687" y="16145"/>
                  <a:pt x="15681" y="16364"/>
                </a:cubicBezTo>
                <a:cubicBezTo>
                  <a:pt x="15604" y="18764"/>
                  <a:pt x="15546" y="18545"/>
                  <a:pt x="15405" y="18545"/>
                </a:cubicBezTo>
                <a:cubicBezTo>
                  <a:pt x="15405" y="18545"/>
                  <a:pt x="15405" y="18545"/>
                  <a:pt x="0" y="18545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327"/>
                  <a:pt x="21600" y="12000"/>
                  <a:pt x="21600" y="0"/>
                </a:cubicBezTo>
                <a:close/>
              </a:path>
            </a:pathLst>
          </a:custGeom>
          <a:solidFill>
            <a:srgbClr val="002060"/>
          </a:solidFill>
          <a:ln w="12700">
            <a:miter lim="400000"/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91" name="Google Shape;31;p65"/>
          <p:cNvSpPr/>
          <p:nvPr/>
        </p:nvSpPr>
        <p:spPr>
          <a:xfrm flipV="1">
            <a:off x="-1" y="6619719"/>
            <a:ext cx="12192001" cy="0"/>
          </a:xfrm>
          <a:prstGeom prst="line">
            <a:avLst/>
          </a:prstGeom>
          <a:ln w="19050">
            <a:solidFill>
              <a:srgbClr val="213459"/>
            </a:solidFill>
          </a:ln>
        </p:spPr>
        <p:txBody>
          <a:bodyPr lIns="45719" rIns="45719"/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2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94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fld id="{FD3D4BA6-528E-4E44-BFA6-F73E0E85909A}" type="datetimeFigureOut">
              <a:rPr lang="ko-KR" altLang="en-US" smtClean="0"/>
              <a:pPr/>
              <a:t>2023-05-22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41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poqaHanSans-Regular" panose="020B0500000000000000" pitchFamily="50" charset="-127"/>
          <a:ea typeface="SpoqaHanSans-Regular" panose="020B05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poqaHanSans-Regular" panose="020B0500000000000000" pitchFamily="50" charset="-127"/>
          <a:ea typeface="SpoqaHanSans-Regular" panose="020B05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poqaHanSans-Regular" panose="020B0500000000000000" pitchFamily="50" charset="-127"/>
          <a:ea typeface="SpoqaHanSans-Regular" panose="020B05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poqaHanSans-Regular" panose="020B0500000000000000" pitchFamily="50" charset="-127"/>
          <a:ea typeface="SpoqaHanSans-Regular" panose="020B05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poqaHanSans-Regular" panose="020B0500000000000000" pitchFamily="50" charset="-127"/>
          <a:ea typeface="SpoqaHanSans-Regular" panose="020B05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poqaHanSans-Regular" panose="020B0500000000000000" pitchFamily="50" charset="-127"/>
          <a:ea typeface="SpoqaHanSans-Regular" panose="020B05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A030FDC-8527-45CB-80D8-D1568AF2151D}"/>
              </a:ext>
            </a:extLst>
          </p:cNvPr>
          <p:cNvSpPr txBox="1"/>
          <p:nvPr/>
        </p:nvSpPr>
        <p:spPr>
          <a:xfrm>
            <a:off x="697273" y="892850"/>
            <a:ext cx="8599545" cy="20885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Aft>
                <a:spcPts val="300"/>
              </a:spcAft>
            </a:pPr>
            <a:r>
              <a:rPr lang="ko-KR" altLang="en-US" sz="4400" dirty="0"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산업전환 공동훈련센터</a:t>
            </a:r>
            <a:r>
              <a:rPr lang="en-US" altLang="ko-KR" sz="4400" dirty="0"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(KTR) </a:t>
            </a:r>
          </a:p>
          <a:p>
            <a:pPr algn="l">
              <a:spcAft>
                <a:spcPts val="300"/>
              </a:spcAft>
            </a:pPr>
            <a:r>
              <a:rPr lang="ko-KR" altLang="en-US" sz="4400" dirty="0"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훈련 로드맵 수립 및 훈련과정 개발</a:t>
            </a:r>
            <a:endParaRPr lang="en-US" altLang="ko-KR" sz="4400" dirty="0"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  <a:p>
            <a:pPr algn="l">
              <a:spcAft>
                <a:spcPts val="300"/>
              </a:spcAft>
            </a:pPr>
            <a:r>
              <a:rPr lang="en-US" altLang="ko-KR" sz="3600" dirty="0"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[</a:t>
            </a:r>
            <a:r>
              <a:rPr lang="ko-KR" altLang="en-US" sz="3600" dirty="0"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발표자료</a:t>
            </a:r>
            <a:r>
              <a:rPr lang="en-US" altLang="ko-KR" sz="3600" dirty="0"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]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FF0ABF0-6216-4DFC-C621-8B62AE1DF61D}"/>
              </a:ext>
            </a:extLst>
          </p:cNvPr>
          <p:cNvGrpSpPr/>
          <p:nvPr/>
        </p:nvGrpSpPr>
        <p:grpSpPr>
          <a:xfrm>
            <a:off x="-1150" y="5270500"/>
            <a:ext cx="12202674" cy="1592262"/>
            <a:chOff x="-1150" y="4413621"/>
            <a:chExt cx="12202674" cy="2449141"/>
          </a:xfrm>
        </p:grpSpPr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A266CF76-4E81-4DED-8199-C47952099E29}"/>
                </a:ext>
              </a:extLst>
            </p:cNvPr>
            <p:cNvSpPr/>
            <p:nvPr/>
          </p:nvSpPr>
          <p:spPr>
            <a:xfrm flipV="1">
              <a:off x="-1150" y="6247780"/>
              <a:ext cx="4442980" cy="610220"/>
            </a:xfrm>
            <a:custGeom>
              <a:avLst/>
              <a:gdLst>
                <a:gd name="connsiteX0" fmla="*/ 0 w 4772030"/>
                <a:gd name="connsiteY0" fmla="*/ 610220 h 610220"/>
                <a:gd name="connsiteX1" fmla="*/ 291331 w 4772030"/>
                <a:gd name="connsiteY1" fmla="*/ 0 h 610220"/>
                <a:gd name="connsiteX2" fmla="*/ 4772030 w 4772030"/>
                <a:gd name="connsiteY2" fmla="*/ 0 h 610220"/>
                <a:gd name="connsiteX3" fmla="*/ 4480699 w 4772030"/>
                <a:gd name="connsiteY3" fmla="*/ 610220 h 610220"/>
                <a:gd name="connsiteX4" fmla="*/ 0 w 4772030"/>
                <a:gd name="connsiteY4" fmla="*/ 610220 h 610220"/>
                <a:gd name="connsiteX0" fmla="*/ 3944 w 4480699"/>
                <a:gd name="connsiteY0" fmla="*/ 605458 h 610220"/>
                <a:gd name="connsiteX1" fmla="*/ 0 w 4480699"/>
                <a:gd name="connsiteY1" fmla="*/ 0 h 610220"/>
                <a:gd name="connsiteX2" fmla="*/ 4480699 w 4480699"/>
                <a:gd name="connsiteY2" fmla="*/ 0 h 610220"/>
                <a:gd name="connsiteX3" fmla="*/ 4189368 w 4480699"/>
                <a:gd name="connsiteY3" fmla="*/ 610220 h 610220"/>
                <a:gd name="connsiteX4" fmla="*/ 3944 w 4480699"/>
                <a:gd name="connsiteY4" fmla="*/ 605458 h 610220"/>
                <a:gd name="connsiteX0" fmla="*/ 301 w 4481859"/>
                <a:gd name="connsiteY0" fmla="*/ 605458 h 610220"/>
                <a:gd name="connsiteX1" fmla="*/ 1160 w 4481859"/>
                <a:gd name="connsiteY1" fmla="*/ 0 h 610220"/>
                <a:gd name="connsiteX2" fmla="*/ 4481859 w 4481859"/>
                <a:gd name="connsiteY2" fmla="*/ 0 h 610220"/>
                <a:gd name="connsiteX3" fmla="*/ 4190528 w 4481859"/>
                <a:gd name="connsiteY3" fmla="*/ 610220 h 610220"/>
                <a:gd name="connsiteX4" fmla="*/ 301 w 4481859"/>
                <a:gd name="connsiteY4" fmla="*/ 605458 h 610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1859" h="610220">
                  <a:moveTo>
                    <a:pt x="301" y="605458"/>
                  </a:moveTo>
                  <a:cubicBezTo>
                    <a:pt x="-1014" y="403639"/>
                    <a:pt x="2475" y="201819"/>
                    <a:pt x="1160" y="0"/>
                  </a:cubicBezTo>
                  <a:lnTo>
                    <a:pt x="4481859" y="0"/>
                  </a:lnTo>
                  <a:lnTo>
                    <a:pt x="4190528" y="610220"/>
                  </a:lnTo>
                  <a:lnTo>
                    <a:pt x="301" y="605458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4" name="평행 사변형 13">
              <a:extLst>
                <a:ext uri="{FF2B5EF4-FFF2-40B4-BE49-F238E27FC236}">
                  <a16:creationId xmlns:a16="http://schemas.microsoft.com/office/drawing/2014/main" id="{0BF11ED0-DBA1-49CE-8AF8-D822A85952F3}"/>
                </a:ext>
              </a:extLst>
            </p:cNvPr>
            <p:cNvSpPr/>
            <p:nvPr/>
          </p:nvSpPr>
          <p:spPr>
            <a:xfrm flipV="1">
              <a:off x="4645029" y="4413621"/>
              <a:ext cx="7556495" cy="2449141"/>
            </a:xfrm>
            <a:custGeom>
              <a:avLst/>
              <a:gdLst>
                <a:gd name="connsiteX0" fmla="*/ 0 w 8518520"/>
                <a:gd name="connsiteY0" fmla="*/ 1925862 h 1925862"/>
                <a:gd name="connsiteX1" fmla="*/ 879368 w 8518520"/>
                <a:gd name="connsiteY1" fmla="*/ 0 h 1925862"/>
                <a:gd name="connsiteX2" fmla="*/ 8518520 w 8518520"/>
                <a:gd name="connsiteY2" fmla="*/ 0 h 1925862"/>
                <a:gd name="connsiteX3" fmla="*/ 7639152 w 8518520"/>
                <a:gd name="connsiteY3" fmla="*/ 1925862 h 1925862"/>
                <a:gd name="connsiteX4" fmla="*/ 0 w 8518520"/>
                <a:gd name="connsiteY4" fmla="*/ 1925862 h 1925862"/>
                <a:gd name="connsiteX0" fmla="*/ 0 w 8518520"/>
                <a:gd name="connsiteY0" fmla="*/ 1925862 h 1925862"/>
                <a:gd name="connsiteX1" fmla="*/ 879368 w 8518520"/>
                <a:gd name="connsiteY1" fmla="*/ 0 h 1925862"/>
                <a:gd name="connsiteX2" fmla="*/ 8518520 w 8518520"/>
                <a:gd name="connsiteY2" fmla="*/ 0 h 1925862"/>
                <a:gd name="connsiteX3" fmla="*/ 7543902 w 8518520"/>
                <a:gd name="connsiteY3" fmla="*/ 1925862 h 1925862"/>
                <a:gd name="connsiteX4" fmla="*/ 0 w 8518520"/>
                <a:gd name="connsiteY4" fmla="*/ 1925862 h 1925862"/>
                <a:gd name="connsiteX0" fmla="*/ 0 w 7556495"/>
                <a:gd name="connsiteY0" fmla="*/ 1930624 h 1930624"/>
                <a:gd name="connsiteX1" fmla="*/ 879368 w 7556495"/>
                <a:gd name="connsiteY1" fmla="*/ 4762 h 1930624"/>
                <a:gd name="connsiteX2" fmla="*/ 7556495 w 7556495"/>
                <a:gd name="connsiteY2" fmla="*/ 0 h 1930624"/>
                <a:gd name="connsiteX3" fmla="*/ 7543902 w 7556495"/>
                <a:gd name="connsiteY3" fmla="*/ 1930624 h 1930624"/>
                <a:gd name="connsiteX4" fmla="*/ 0 w 7556495"/>
                <a:gd name="connsiteY4" fmla="*/ 1930624 h 193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6495" h="1930624">
                  <a:moveTo>
                    <a:pt x="0" y="1930624"/>
                  </a:moveTo>
                  <a:lnTo>
                    <a:pt x="879368" y="4762"/>
                  </a:lnTo>
                  <a:lnTo>
                    <a:pt x="7556495" y="0"/>
                  </a:lnTo>
                  <a:cubicBezTo>
                    <a:pt x="7552297" y="643541"/>
                    <a:pt x="7548100" y="1287083"/>
                    <a:pt x="7543902" y="1930624"/>
                  </a:cubicBezTo>
                  <a:lnTo>
                    <a:pt x="0" y="1930624"/>
                  </a:lnTo>
                  <a:close/>
                </a:path>
              </a:pathLst>
            </a:custGeom>
            <a:solidFill>
              <a:srgbClr val="F29D35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6B0D7678-64EC-456F-9E89-970DD045ADC2}"/>
                </a:ext>
              </a:extLst>
            </p:cNvPr>
            <p:cNvSpPr/>
            <p:nvPr/>
          </p:nvSpPr>
          <p:spPr>
            <a:xfrm flipV="1">
              <a:off x="2850553" y="5418528"/>
              <a:ext cx="9349509" cy="1439464"/>
            </a:xfrm>
            <a:custGeom>
              <a:avLst/>
              <a:gdLst>
                <a:gd name="connsiteX0" fmla="*/ 0 w 10517886"/>
                <a:gd name="connsiteY0" fmla="*/ 1179457 h 1179457"/>
                <a:gd name="connsiteX1" fmla="*/ 538552 w 10517886"/>
                <a:gd name="connsiteY1" fmla="*/ 0 h 1179457"/>
                <a:gd name="connsiteX2" fmla="*/ 10517886 w 10517886"/>
                <a:gd name="connsiteY2" fmla="*/ 0 h 1179457"/>
                <a:gd name="connsiteX3" fmla="*/ 9979334 w 10517886"/>
                <a:gd name="connsiteY3" fmla="*/ 1179457 h 1179457"/>
                <a:gd name="connsiteX4" fmla="*/ 0 w 10517886"/>
                <a:gd name="connsiteY4" fmla="*/ 1179457 h 1179457"/>
                <a:gd name="connsiteX0" fmla="*/ 0 w 9979723"/>
                <a:gd name="connsiteY0" fmla="*/ 1179457 h 1179457"/>
                <a:gd name="connsiteX1" fmla="*/ 538552 w 9979723"/>
                <a:gd name="connsiteY1" fmla="*/ 0 h 1179457"/>
                <a:gd name="connsiteX2" fmla="*/ 9979723 w 9979723"/>
                <a:gd name="connsiteY2" fmla="*/ 4762 h 1179457"/>
                <a:gd name="connsiteX3" fmla="*/ 9979334 w 9979723"/>
                <a:gd name="connsiteY3" fmla="*/ 1179457 h 1179457"/>
                <a:gd name="connsiteX4" fmla="*/ 0 w 9979723"/>
                <a:gd name="connsiteY4" fmla="*/ 1179457 h 1179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9723" h="1179457">
                  <a:moveTo>
                    <a:pt x="0" y="1179457"/>
                  </a:moveTo>
                  <a:lnTo>
                    <a:pt x="538552" y="0"/>
                  </a:lnTo>
                  <a:lnTo>
                    <a:pt x="9979723" y="4762"/>
                  </a:lnTo>
                  <a:cubicBezTo>
                    <a:pt x="9979593" y="396327"/>
                    <a:pt x="9979464" y="787892"/>
                    <a:pt x="9979334" y="1179457"/>
                  </a:cubicBezTo>
                  <a:lnTo>
                    <a:pt x="0" y="1179457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19344E5-5E09-4BB0-A072-022F7B5FADFA}"/>
              </a:ext>
            </a:extLst>
          </p:cNvPr>
          <p:cNvSpPr txBox="1"/>
          <p:nvPr/>
        </p:nvSpPr>
        <p:spPr>
          <a:xfrm>
            <a:off x="1512952" y="-404898"/>
            <a:ext cx="1220809" cy="40489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A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고딕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F7D035-20B5-4920-B3DF-5BE165E784EA}"/>
              </a:ext>
            </a:extLst>
          </p:cNvPr>
          <p:cNvSpPr txBox="1"/>
          <p:nvPr/>
        </p:nvSpPr>
        <p:spPr>
          <a:xfrm>
            <a:off x="2850553" y="-404898"/>
            <a:ext cx="1220809" cy="40489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A</a:t>
            </a: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고딕</a:t>
            </a:r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12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3867FC4-71E0-4478-808E-2302F1C615BF}"/>
              </a:ext>
            </a:extLst>
          </p:cNvPr>
          <p:cNvSpPr/>
          <p:nvPr/>
        </p:nvSpPr>
        <p:spPr>
          <a:xfrm>
            <a:off x="4188154" y="-302227"/>
            <a:ext cx="356247" cy="199555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4713CF7-61EA-4CF8-AFF6-F724E1B60BEC}"/>
              </a:ext>
            </a:extLst>
          </p:cNvPr>
          <p:cNvSpPr/>
          <p:nvPr/>
        </p:nvSpPr>
        <p:spPr>
          <a:xfrm>
            <a:off x="4661193" y="-302227"/>
            <a:ext cx="356247" cy="199555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29A9EE9-CEE1-4B10-8344-D3DA59C66CCA}"/>
              </a:ext>
            </a:extLst>
          </p:cNvPr>
          <p:cNvSpPr/>
          <p:nvPr/>
        </p:nvSpPr>
        <p:spPr>
          <a:xfrm>
            <a:off x="5134232" y="-302227"/>
            <a:ext cx="356247" cy="199555"/>
          </a:xfrm>
          <a:prstGeom prst="rect">
            <a:avLst/>
          </a:prstGeom>
          <a:solidFill>
            <a:srgbClr val="F8C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714E5BE-924D-48E0-A9A3-2800DEBA25D7}"/>
              </a:ext>
            </a:extLst>
          </p:cNvPr>
          <p:cNvSpPr/>
          <p:nvPr/>
        </p:nvSpPr>
        <p:spPr>
          <a:xfrm>
            <a:off x="5607271" y="-302227"/>
            <a:ext cx="356247" cy="199555"/>
          </a:xfrm>
          <a:prstGeom prst="rect">
            <a:avLst/>
          </a:prstGeom>
          <a:solidFill>
            <a:srgbClr val="F3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F24ED0A-4AF7-4F67-9C42-EAC387EDB046}"/>
              </a:ext>
            </a:extLst>
          </p:cNvPr>
          <p:cNvSpPr/>
          <p:nvPr/>
        </p:nvSpPr>
        <p:spPr>
          <a:xfrm>
            <a:off x="6080310" y="-302227"/>
            <a:ext cx="356247" cy="199555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353AD2D-28E2-4491-9C6E-6959FF660EAD}"/>
              </a:ext>
            </a:extLst>
          </p:cNvPr>
          <p:cNvSpPr/>
          <p:nvPr/>
        </p:nvSpPr>
        <p:spPr>
          <a:xfrm>
            <a:off x="6553352" y="-302227"/>
            <a:ext cx="356247" cy="199555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0AA4BF-668D-4506-A180-ACC710E58BCB}"/>
              </a:ext>
            </a:extLst>
          </p:cNvPr>
          <p:cNvSpPr txBox="1"/>
          <p:nvPr/>
        </p:nvSpPr>
        <p:spPr>
          <a:xfrm>
            <a:off x="175351" y="-404898"/>
            <a:ext cx="1220809" cy="40489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A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고딕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1FC115-C9F0-4A10-9D0B-DD4525C69CDA}"/>
              </a:ext>
            </a:extLst>
          </p:cNvPr>
          <p:cNvSpPr txBox="1"/>
          <p:nvPr/>
        </p:nvSpPr>
        <p:spPr>
          <a:xfrm>
            <a:off x="697271" y="3234250"/>
            <a:ext cx="6032713" cy="874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발주기관 </a:t>
            </a:r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: </a:t>
            </a:r>
            <a:r>
              <a:rPr lang="ko-KR" altLang="en-US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한국화학융합시험연구원</a:t>
            </a: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산업전환 공동훈련센터</a:t>
            </a:r>
            <a:endParaRPr lang="en-US" altLang="ko-KR" sz="1400" spc="-50" dirty="0"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제안기관 </a:t>
            </a:r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: </a:t>
            </a:r>
            <a:r>
              <a:rPr lang="ko-KR" altLang="en-US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시앤피컨설팅</a:t>
            </a: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주식회사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C994CB1-818B-4B09-B84B-6F52BC3C72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927" y="5963470"/>
            <a:ext cx="1801967" cy="32389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C239EE-F40F-4C48-BC0C-FFE36FFFC4ED}"/>
              </a:ext>
            </a:extLst>
          </p:cNvPr>
          <p:cNvSpPr/>
          <p:nvPr/>
        </p:nvSpPr>
        <p:spPr>
          <a:xfrm rot="5400000">
            <a:off x="-3327976" y="3326825"/>
            <a:ext cx="6857998" cy="2043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8216B-B895-B749-E196-9389C2893E3F}"/>
              </a:ext>
            </a:extLst>
          </p:cNvPr>
          <p:cNvSpPr txBox="1"/>
          <p:nvPr/>
        </p:nvSpPr>
        <p:spPr>
          <a:xfrm>
            <a:off x="697271" y="4435766"/>
            <a:ext cx="2403665" cy="459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2023. 05. 22</a:t>
            </a:r>
            <a:endParaRPr lang="ko-KR" altLang="en-US" spc="-50" dirty="0"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1026" name="Picture 2" descr="테크코리아 우리가 이끈다] 한국화학융합시험연구원(KTR) - 전자신문">
            <a:extLst>
              <a:ext uri="{FF2B5EF4-FFF2-40B4-BE49-F238E27FC236}">
                <a16:creationId xmlns:a16="http://schemas.microsoft.com/office/drawing/2014/main" id="{86C1F304-A2B9-D3A4-18FD-3749E02BB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71" y="5890645"/>
            <a:ext cx="1087830" cy="459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0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548909" y="861339"/>
            <a:ext cx="144623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Contents</a:t>
            </a:r>
          </a:p>
        </p:txBody>
      </p:sp>
      <p:cxnSp>
        <p:nvCxnSpPr>
          <p:cNvPr id="17" name="직선 연결선 16"/>
          <p:cNvCxnSpPr>
            <a:stCxn id="16" idx="3"/>
          </p:cNvCxnSpPr>
          <p:nvPr/>
        </p:nvCxnSpPr>
        <p:spPr>
          <a:xfrm>
            <a:off x="1995139" y="1073705"/>
            <a:ext cx="9564850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909" y="568960"/>
            <a:ext cx="4857035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산업전환 공동훈련센터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(KTR)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훈련 로드맵 수립 및 훈련과정 개발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937E4FF-02B9-603A-790F-CFAFA93F6976}"/>
              </a:ext>
            </a:extLst>
          </p:cNvPr>
          <p:cNvGrpSpPr/>
          <p:nvPr/>
        </p:nvGrpSpPr>
        <p:grpSpPr>
          <a:xfrm>
            <a:off x="4835064" y="1286071"/>
            <a:ext cx="6645720" cy="3343754"/>
            <a:chOff x="1199130" y="4522421"/>
            <a:chExt cx="11824659" cy="6109653"/>
          </a:xfrm>
        </p:grpSpPr>
        <p:sp>
          <p:nvSpPr>
            <p:cNvPr id="28" name="Shape 25916">
              <a:extLst>
                <a:ext uri="{FF2B5EF4-FFF2-40B4-BE49-F238E27FC236}">
                  <a16:creationId xmlns:a16="http://schemas.microsoft.com/office/drawing/2014/main" id="{5DC64BF2-5897-7E0A-F39F-95E568A6478B}"/>
                </a:ext>
              </a:extLst>
            </p:cNvPr>
            <p:cNvSpPr/>
            <p:nvPr/>
          </p:nvSpPr>
          <p:spPr>
            <a:xfrm>
              <a:off x="6135667" y="4592278"/>
              <a:ext cx="2129265" cy="1912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9" h="21364" extrusionOk="0">
                  <a:moveTo>
                    <a:pt x="3010" y="6585"/>
                  </a:moveTo>
                  <a:cubicBezTo>
                    <a:pt x="2435" y="7097"/>
                    <a:pt x="992" y="7348"/>
                    <a:pt x="363" y="6890"/>
                  </a:cubicBezTo>
                  <a:cubicBezTo>
                    <a:pt x="444" y="6750"/>
                    <a:pt x="713" y="6786"/>
                    <a:pt x="499" y="6579"/>
                  </a:cubicBezTo>
                  <a:cubicBezTo>
                    <a:pt x="464" y="6545"/>
                    <a:pt x="118" y="6445"/>
                    <a:pt x="106" y="6460"/>
                  </a:cubicBezTo>
                  <a:cubicBezTo>
                    <a:pt x="240" y="6289"/>
                    <a:pt x="512" y="6444"/>
                    <a:pt x="654" y="6279"/>
                  </a:cubicBezTo>
                  <a:cubicBezTo>
                    <a:pt x="796" y="6113"/>
                    <a:pt x="-14" y="6151"/>
                    <a:pt x="0" y="6157"/>
                  </a:cubicBezTo>
                  <a:cubicBezTo>
                    <a:pt x="226" y="5657"/>
                    <a:pt x="953" y="5687"/>
                    <a:pt x="954" y="6266"/>
                  </a:cubicBezTo>
                  <a:cubicBezTo>
                    <a:pt x="1102" y="6190"/>
                    <a:pt x="1215" y="6074"/>
                    <a:pt x="1294" y="5918"/>
                  </a:cubicBezTo>
                  <a:cubicBezTo>
                    <a:pt x="1537" y="5893"/>
                    <a:pt x="2370" y="6107"/>
                    <a:pt x="2491" y="5816"/>
                  </a:cubicBezTo>
                  <a:cubicBezTo>
                    <a:pt x="2514" y="5759"/>
                    <a:pt x="3682" y="5987"/>
                    <a:pt x="3010" y="6585"/>
                  </a:cubicBezTo>
                  <a:cubicBezTo>
                    <a:pt x="2843" y="6734"/>
                    <a:pt x="3142" y="6468"/>
                    <a:pt x="3010" y="6585"/>
                  </a:cubicBezTo>
                  <a:close/>
                  <a:moveTo>
                    <a:pt x="11005" y="300"/>
                  </a:moveTo>
                  <a:cubicBezTo>
                    <a:pt x="11317" y="195"/>
                    <a:pt x="11825" y="280"/>
                    <a:pt x="12088" y="495"/>
                  </a:cubicBezTo>
                  <a:cubicBezTo>
                    <a:pt x="12051" y="428"/>
                    <a:pt x="12017" y="355"/>
                    <a:pt x="12030" y="274"/>
                  </a:cubicBezTo>
                  <a:cubicBezTo>
                    <a:pt x="12514" y="182"/>
                    <a:pt x="14125" y="719"/>
                    <a:pt x="14503" y="1064"/>
                  </a:cubicBezTo>
                  <a:cubicBezTo>
                    <a:pt x="14355" y="1090"/>
                    <a:pt x="13593" y="1487"/>
                    <a:pt x="13494" y="1113"/>
                  </a:cubicBezTo>
                  <a:cubicBezTo>
                    <a:pt x="13514" y="1074"/>
                    <a:pt x="13535" y="1036"/>
                    <a:pt x="13555" y="997"/>
                  </a:cubicBezTo>
                  <a:cubicBezTo>
                    <a:pt x="13092" y="666"/>
                    <a:pt x="12573" y="887"/>
                    <a:pt x="12439" y="1482"/>
                  </a:cubicBezTo>
                  <a:cubicBezTo>
                    <a:pt x="12305" y="1656"/>
                    <a:pt x="11018" y="988"/>
                    <a:pt x="11664" y="897"/>
                  </a:cubicBezTo>
                  <a:cubicBezTo>
                    <a:pt x="11583" y="891"/>
                    <a:pt x="10294" y="541"/>
                    <a:pt x="11005" y="300"/>
                  </a:cubicBezTo>
                  <a:cubicBezTo>
                    <a:pt x="11317" y="195"/>
                    <a:pt x="10790" y="373"/>
                    <a:pt x="11005" y="300"/>
                  </a:cubicBezTo>
                  <a:close/>
                  <a:moveTo>
                    <a:pt x="13416" y="415"/>
                  </a:moveTo>
                  <a:cubicBezTo>
                    <a:pt x="13177" y="380"/>
                    <a:pt x="12943" y="324"/>
                    <a:pt x="12720" y="200"/>
                  </a:cubicBezTo>
                  <a:cubicBezTo>
                    <a:pt x="13106" y="-111"/>
                    <a:pt x="14518" y="-25"/>
                    <a:pt x="14908" y="222"/>
                  </a:cubicBezTo>
                  <a:cubicBezTo>
                    <a:pt x="14603" y="635"/>
                    <a:pt x="13826" y="474"/>
                    <a:pt x="13416" y="415"/>
                  </a:cubicBezTo>
                  <a:cubicBezTo>
                    <a:pt x="13177" y="380"/>
                    <a:pt x="13560" y="435"/>
                    <a:pt x="13416" y="415"/>
                  </a:cubicBezTo>
                  <a:close/>
                  <a:moveTo>
                    <a:pt x="17057" y="21008"/>
                  </a:moveTo>
                  <a:cubicBezTo>
                    <a:pt x="17044" y="21058"/>
                    <a:pt x="17025" y="21102"/>
                    <a:pt x="16998" y="21143"/>
                  </a:cubicBezTo>
                  <a:cubicBezTo>
                    <a:pt x="16638" y="21123"/>
                    <a:pt x="16355" y="21046"/>
                    <a:pt x="15994" y="21031"/>
                  </a:cubicBezTo>
                  <a:cubicBezTo>
                    <a:pt x="15992" y="20975"/>
                    <a:pt x="15985" y="20922"/>
                    <a:pt x="15986" y="20864"/>
                  </a:cubicBezTo>
                  <a:cubicBezTo>
                    <a:pt x="16167" y="20818"/>
                    <a:pt x="16655" y="20912"/>
                    <a:pt x="16834" y="20976"/>
                  </a:cubicBezTo>
                  <a:cubicBezTo>
                    <a:pt x="16831" y="20995"/>
                    <a:pt x="16840" y="21021"/>
                    <a:pt x="16837" y="21040"/>
                  </a:cubicBezTo>
                  <a:cubicBezTo>
                    <a:pt x="16925" y="21067"/>
                    <a:pt x="16976" y="21002"/>
                    <a:pt x="17057" y="21008"/>
                  </a:cubicBezTo>
                  <a:cubicBezTo>
                    <a:pt x="17069" y="21052"/>
                    <a:pt x="16976" y="21002"/>
                    <a:pt x="17057" y="21008"/>
                  </a:cubicBezTo>
                  <a:close/>
                  <a:moveTo>
                    <a:pt x="15035" y="9329"/>
                  </a:moveTo>
                  <a:cubicBezTo>
                    <a:pt x="15040" y="9332"/>
                    <a:pt x="15043" y="9336"/>
                    <a:pt x="15046" y="9340"/>
                  </a:cubicBezTo>
                  <a:cubicBezTo>
                    <a:pt x="15083" y="9411"/>
                    <a:pt x="14747" y="9586"/>
                    <a:pt x="14719" y="9588"/>
                  </a:cubicBezTo>
                  <a:cubicBezTo>
                    <a:pt x="14509" y="9606"/>
                    <a:pt x="14814" y="9185"/>
                    <a:pt x="15035" y="9329"/>
                  </a:cubicBezTo>
                  <a:cubicBezTo>
                    <a:pt x="15040" y="9332"/>
                    <a:pt x="15025" y="9323"/>
                    <a:pt x="15035" y="9329"/>
                  </a:cubicBezTo>
                  <a:close/>
                  <a:moveTo>
                    <a:pt x="10464" y="17106"/>
                  </a:moveTo>
                  <a:lnTo>
                    <a:pt x="10453" y="17083"/>
                  </a:lnTo>
                  <a:cubicBezTo>
                    <a:pt x="10426" y="17405"/>
                    <a:pt x="10539" y="17595"/>
                    <a:pt x="10345" y="17882"/>
                  </a:cubicBezTo>
                  <a:cubicBezTo>
                    <a:pt x="9796" y="17382"/>
                    <a:pt x="10473" y="17289"/>
                    <a:pt x="10464" y="17106"/>
                  </a:cubicBezTo>
                  <a:cubicBezTo>
                    <a:pt x="10464" y="17106"/>
                    <a:pt x="10457" y="16967"/>
                    <a:pt x="10464" y="17106"/>
                  </a:cubicBezTo>
                  <a:close/>
                  <a:moveTo>
                    <a:pt x="10564" y="18237"/>
                  </a:moveTo>
                  <a:cubicBezTo>
                    <a:pt x="10602" y="18346"/>
                    <a:pt x="10551" y="18790"/>
                    <a:pt x="10530" y="18920"/>
                  </a:cubicBezTo>
                  <a:cubicBezTo>
                    <a:pt x="10485" y="19203"/>
                    <a:pt x="10300" y="18856"/>
                    <a:pt x="10290" y="19078"/>
                  </a:cubicBezTo>
                  <a:cubicBezTo>
                    <a:pt x="10271" y="19507"/>
                    <a:pt x="9961" y="18146"/>
                    <a:pt x="9970" y="18150"/>
                  </a:cubicBezTo>
                  <a:cubicBezTo>
                    <a:pt x="10234" y="18257"/>
                    <a:pt x="10411" y="17796"/>
                    <a:pt x="10564" y="18237"/>
                  </a:cubicBezTo>
                  <a:cubicBezTo>
                    <a:pt x="10578" y="18276"/>
                    <a:pt x="10539" y="18164"/>
                    <a:pt x="10564" y="18237"/>
                  </a:cubicBezTo>
                  <a:close/>
                  <a:moveTo>
                    <a:pt x="5029" y="10651"/>
                  </a:moveTo>
                  <a:cubicBezTo>
                    <a:pt x="5077" y="10532"/>
                    <a:pt x="5345" y="10601"/>
                    <a:pt x="5317" y="10393"/>
                  </a:cubicBezTo>
                  <a:cubicBezTo>
                    <a:pt x="5309" y="10405"/>
                    <a:pt x="5301" y="10411"/>
                    <a:pt x="5295" y="10424"/>
                  </a:cubicBezTo>
                  <a:cubicBezTo>
                    <a:pt x="5232" y="10439"/>
                    <a:pt x="5176" y="10423"/>
                    <a:pt x="5111" y="10424"/>
                  </a:cubicBezTo>
                  <a:cubicBezTo>
                    <a:pt x="5102" y="10395"/>
                    <a:pt x="5323" y="9733"/>
                    <a:pt x="5376" y="9698"/>
                  </a:cubicBezTo>
                  <a:cubicBezTo>
                    <a:pt x="5467" y="9638"/>
                    <a:pt x="5548" y="9315"/>
                    <a:pt x="5670" y="9337"/>
                  </a:cubicBezTo>
                  <a:cubicBezTo>
                    <a:pt x="5754" y="9352"/>
                    <a:pt x="6274" y="9294"/>
                    <a:pt x="6258" y="9415"/>
                  </a:cubicBezTo>
                  <a:cubicBezTo>
                    <a:pt x="6253" y="9452"/>
                    <a:pt x="5825" y="9767"/>
                    <a:pt x="5928" y="9811"/>
                  </a:cubicBezTo>
                  <a:cubicBezTo>
                    <a:pt x="5995" y="9839"/>
                    <a:pt x="6642" y="9635"/>
                    <a:pt x="6636" y="9850"/>
                  </a:cubicBezTo>
                  <a:cubicBezTo>
                    <a:pt x="6630" y="10107"/>
                    <a:pt x="6142" y="10320"/>
                    <a:pt x="6302" y="10517"/>
                  </a:cubicBezTo>
                  <a:cubicBezTo>
                    <a:pt x="6401" y="10638"/>
                    <a:pt x="6622" y="10658"/>
                    <a:pt x="6653" y="10846"/>
                  </a:cubicBezTo>
                  <a:cubicBezTo>
                    <a:pt x="6671" y="10958"/>
                    <a:pt x="6675" y="11181"/>
                    <a:pt x="6785" y="11246"/>
                  </a:cubicBezTo>
                  <a:cubicBezTo>
                    <a:pt x="7128" y="11447"/>
                    <a:pt x="7055" y="11926"/>
                    <a:pt x="7226" y="12079"/>
                  </a:cubicBezTo>
                  <a:cubicBezTo>
                    <a:pt x="7345" y="12186"/>
                    <a:pt x="7646" y="11861"/>
                    <a:pt x="7721" y="12232"/>
                  </a:cubicBezTo>
                  <a:cubicBezTo>
                    <a:pt x="7759" y="12416"/>
                    <a:pt x="7449" y="12755"/>
                    <a:pt x="7292" y="12788"/>
                  </a:cubicBezTo>
                  <a:cubicBezTo>
                    <a:pt x="7264" y="12782"/>
                    <a:pt x="7615" y="12821"/>
                    <a:pt x="7617" y="12880"/>
                  </a:cubicBezTo>
                  <a:cubicBezTo>
                    <a:pt x="7622" y="13056"/>
                    <a:pt x="6316" y="13296"/>
                    <a:pt x="6190" y="13215"/>
                  </a:cubicBezTo>
                  <a:cubicBezTo>
                    <a:pt x="5876" y="13016"/>
                    <a:pt x="5422" y="13624"/>
                    <a:pt x="4985" y="13472"/>
                  </a:cubicBezTo>
                  <a:cubicBezTo>
                    <a:pt x="5239" y="13140"/>
                    <a:pt x="5940" y="13044"/>
                    <a:pt x="6110" y="12742"/>
                  </a:cubicBezTo>
                  <a:cubicBezTo>
                    <a:pt x="5925" y="12832"/>
                    <a:pt x="5802" y="12692"/>
                    <a:pt x="5782" y="12693"/>
                  </a:cubicBezTo>
                  <a:cubicBezTo>
                    <a:pt x="5654" y="12701"/>
                    <a:pt x="5527" y="12674"/>
                    <a:pt x="5405" y="12714"/>
                  </a:cubicBezTo>
                  <a:cubicBezTo>
                    <a:pt x="5071" y="12824"/>
                    <a:pt x="5664" y="12288"/>
                    <a:pt x="5650" y="12311"/>
                  </a:cubicBezTo>
                  <a:cubicBezTo>
                    <a:pt x="5754" y="12141"/>
                    <a:pt x="5455" y="11802"/>
                    <a:pt x="5686" y="11851"/>
                  </a:cubicBezTo>
                  <a:cubicBezTo>
                    <a:pt x="5913" y="11898"/>
                    <a:pt x="6249" y="11772"/>
                    <a:pt x="6176" y="11451"/>
                  </a:cubicBezTo>
                  <a:cubicBezTo>
                    <a:pt x="5978" y="11400"/>
                    <a:pt x="5859" y="11364"/>
                    <a:pt x="6069" y="11081"/>
                  </a:cubicBezTo>
                  <a:cubicBezTo>
                    <a:pt x="5935" y="11261"/>
                    <a:pt x="5499" y="11034"/>
                    <a:pt x="5491" y="11228"/>
                  </a:cubicBezTo>
                  <a:cubicBezTo>
                    <a:pt x="5230" y="11183"/>
                    <a:pt x="5585" y="10919"/>
                    <a:pt x="5602" y="10890"/>
                  </a:cubicBezTo>
                  <a:cubicBezTo>
                    <a:pt x="5707" y="10710"/>
                    <a:pt x="5363" y="10523"/>
                    <a:pt x="5390" y="10718"/>
                  </a:cubicBezTo>
                  <a:cubicBezTo>
                    <a:pt x="5581" y="10787"/>
                    <a:pt x="5302" y="10864"/>
                    <a:pt x="5290" y="10905"/>
                  </a:cubicBezTo>
                  <a:cubicBezTo>
                    <a:pt x="5166" y="10939"/>
                    <a:pt x="5297" y="10688"/>
                    <a:pt x="5272" y="10646"/>
                  </a:cubicBezTo>
                  <a:cubicBezTo>
                    <a:pt x="5255" y="10619"/>
                    <a:pt x="4940" y="10871"/>
                    <a:pt x="5029" y="10651"/>
                  </a:cubicBezTo>
                  <a:cubicBezTo>
                    <a:pt x="5047" y="10606"/>
                    <a:pt x="5016" y="10683"/>
                    <a:pt x="5029" y="10651"/>
                  </a:cubicBezTo>
                  <a:close/>
                  <a:moveTo>
                    <a:pt x="19919" y="20951"/>
                  </a:moveTo>
                  <a:cubicBezTo>
                    <a:pt x="19993" y="20920"/>
                    <a:pt x="20069" y="20888"/>
                    <a:pt x="20137" y="20844"/>
                  </a:cubicBezTo>
                  <a:cubicBezTo>
                    <a:pt x="20138" y="20843"/>
                    <a:pt x="19724" y="21347"/>
                    <a:pt x="19988" y="21347"/>
                  </a:cubicBezTo>
                  <a:cubicBezTo>
                    <a:pt x="19707" y="21325"/>
                    <a:pt x="19367" y="21489"/>
                    <a:pt x="19252" y="21103"/>
                  </a:cubicBezTo>
                  <a:cubicBezTo>
                    <a:pt x="19317" y="21150"/>
                    <a:pt x="19414" y="21101"/>
                    <a:pt x="19487" y="21094"/>
                  </a:cubicBezTo>
                  <a:cubicBezTo>
                    <a:pt x="19505" y="21064"/>
                    <a:pt x="19515" y="21012"/>
                    <a:pt x="19515" y="20976"/>
                  </a:cubicBezTo>
                  <a:cubicBezTo>
                    <a:pt x="19659" y="20996"/>
                    <a:pt x="19780" y="21008"/>
                    <a:pt x="19919" y="20951"/>
                  </a:cubicBezTo>
                  <a:cubicBezTo>
                    <a:pt x="19993" y="20920"/>
                    <a:pt x="19780" y="21008"/>
                    <a:pt x="19919" y="20951"/>
                  </a:cubicBezTo>
                  <a:close/>
                  <a:moveTo>
                    <a:pt x="3448" y="12512"/>
                  </a:moveTo>
                  <a:lnTo>
                    <a:pt x="3439" y="12467"/>
                  </a:lnTo>
                  <a:cubicBezTo>
                    <a:pt x="3441" y="12484"/>
                    <a:pt x="3910" y="11973"/>
                    <a:pt x="3927" y="11961"/>
                  </a:cubicBezTo>
                  <a:cubicBezTo>
                    <a:pt x="3801" y="11949"/>
                    <a:pt x="3649" y="11911"/>
                    <a:pt x="3652" y="11769"/>
                  </a:cubicBezTo>
                  <a:lnTo>
                    <a:pt x="3653" y="11732"/>
                  </a:lnTo>
                  <a:cubicBezTo>
                    <a:pt x="3638" y="11187"/>
                    <a:pt x="4036" y="11537"/>
                    <a:pt x="4296" y="11292"/>
                  </a:cubicBezTo>
                  <a:cubicBezTo>
                    <a:pt x="4019" y="11229"/>
                    <a:pt x="4821" y="10776"/>
                    <a:pt x="5082" y="10841"/>
                  </a:cubicBezTo>
                  <a:cubicBezTo>
                    <a:pt x="5103" y="10873"/>
                    <a:pt x="5214" y="11022"/>
                    <a:pt x="5230" y="11072"/>
                  </a:cubicBezTo>
                  <a:cubicBezTo>
                    <a:pt x="5337" y="11212"/>
                    <a:pt x="5329" y="11337"/>
                    <a:pt x="5207" y="11445"/>
                  </a:cubicBezTo>
                  <a:cubicBezTo>
                    <a:pt x="4948" y="11696"/>
                    <a:pt x="5225" y="11803"/>
                    <a:pt x="5096" y="12165"/>
                  </a:cubicBezTo>
                  <a:cubicBezTo>
                    <a:pt x="4944" y="12594"/>
                    <a:pt x="3961" y="12830"/>
                    <a:pt x="3623" y="12797"/>
                  </a:cubicBezTo>
                  <a:lnTo>
                    <a:pt x="3629" y="12759"/>
                  </a:lnTo>
                  <a:cubicBezTo>
                    <a:pt x="3593" y="12765"/>
                    <a:pt x="3565" y="12764"/>
                    <a:pt x="3528" y="12766"/>
                  </a:cubicBezTo>
                  <a:cubicBezTo>
                    <a:pt x="3509" y="12734"/>
                    <a:pt x="3505" y="12702"/>
                    <a:pt x="3523" y="12678"/>
                  </a:cubicBezTo>
                  <a:cubicBezTo>
                    <a:pt x="3435" y="12635"/>
                    <a:pt x="3431" y="12581"/>
                    <a:pt x="3510" y="12516"/>
                  </a:cubicBezTo>
                  <a:cubicBezTo>
                    <a:pt x="3502" y="12515"/>
                    <a:pt x="3448" y="12512"/>
                    <a:pt x="3448" y="12512"/>
                  </a:cubicBezTo>
                  <a:cubicBezTo>
                    <a:pt x="3448" y="12512"/>
                    <a:pt x="3448" y="12512"/>
                    <a:pt x="3448" y="12512"/>
                  </a:cubicBezTo>
                  <a:close/>
                  <a:moveTo>
                    <a:pt x="11104" y="9151"/>
                  </a:moveTo>
                  <a:cubicBezTo>
                    <a:pt x="11102" y="9148"/>
                    <a:pt x="11098" y="9146"/>
                    <a:pt x="11094" y="9143"/>
                  </a:cubicBezTo>
                  <a:cubicBezTo>
                    <a:pt x="11097" y="9141"/>
                    <a:pt x="11101" y="9138"/>
                    <a:pt x="11105" y="9135"/>
                  </a:cubicBezTo>
                  <a:cubicBezTo>
                    <a:pt x="11105" y="9140"/>
                    <a:pt x="11105" y="9147"/>
                    <a:pt x="11104" y="9151"/>
                  </a:cubicBezTo>
                  <a:cubicBezTo>
                    <a:pt x="11102" y="9148"/>
                    <a:pt x="11105" y="9147"/>
                    <a:pt x="11104" y="9151"/>
                  </a:cubicBezTo>
                  <a:close/>
                  <a:moveTo>
                    <a:pt x="21399" y="14198"/>
                  </a:moveTo>
                  <a:cubicBezTo>
                    <a:pt x="21409" y="14173"/>
                    <a:pt x="21499" y="14149"/>
                    <a:pt x="21520" y="14142"/>
                  </a:cubicBezTo>
                  <a:lnTo>
                    <a:pt x="21423" y="14087"/>
                  </a:lnTo>
                  <a:cubicBezTo>
                    <a:pt x="21320" y="14027"/>
                    <a:pt x="21586" y="13723"/>
                    <a:pt x="21296" y="13692"/>
                  </a:cubicBezTo>
                  <a:cubicBezTo>
                    <a:pt x="21112" y="13672"/>
                    <a:pt x="20805" y="13386"/>
                    <a:pt x="20627" y="13557"/>
                  </a:cubicBezTo>
                  <a:cubicBezTo>
                    <a:pt x="20375" y="13291"/>
                    <a:pt x="20136" y="13280"/>
                    <a:pt x="19764" y="13317"/>
                  </a:cubicBezTo>
                  <a:cubicBezTo>
                    <a:pt x="19859" y="13317"/>
                    <a:pt x="19308" y="12896"/>
                    <a:pt x="19323" y="12913"/>
                  </a:cubicBezTo>
                  <a:cubicBezTo>
                    <a:pt x="19229" y="12913"/>
                    <a:pt x="19162" y="12594"/>
                    <a:pt x="19105" y="12495"/>
                  </a:cubicBezTo>
                  <a:cubicBezTo>
                    <a:pt x="18878" y="12097"/>
                    <a:pt x="18551" y="12640"/>
                    <a:pt x="18342" y="12454"/>
                  </a:cubicBezTo>
                  <a:cubicBezTo>
                    <a:pt x="18213" y="12393"/>
                    <a:pt x="18189" y="12168"/>
                    <a:pt x="18086" y="12043"/>
                  </a:cubicBezTo>
                  <a:cubicBezTo>
                    <a:pt x="18386" y="11994"/>
                    <a:pt x="18733" y="11639"/>
                    <a:pt x="18199" y="11620"/>
                  </a:cubicBezTo>
                  <a:cubicBezTo>
                    <a:pt x="18172" y="11530"/>
                    <a:pt x="17896" y="11200"/>
                    <a:pt x="17799" y="11143"/>
                  </a:cubicBezTo>
                  <a:cubicBezTo>
                    <a:pt x="17967" y="10775"/>
                    <a:pt x="17329" y="10571"/>
                    <a:pt x="17149" y="10533"/>
                  </a:cubicBezTo>
                  <a:cubicBezTo>
                    <a:pt x="16689" y="10533"/>
                    <a:pt x="16796" y="10101"/>
                    <a:pt x="16546" y="9833"/>
                  </a:cubicBezTo>
                  <a:cubicBezTo>
                    <a:pt x="16590" y="9843"/>
                    <a:pt x="16633" y="9860"/>
                    <a:pt x="16674" y="9878"/>
                  </a:cubicBezTo>
                  <a:lnTo>
                    <a:pt x="16626" y="9776"/>
                  </a:lnTo>
                  <a:cubicBezTo>
                    <a:pt x="16769" y="9537"/>
                    <a:pt x="16634" y="9167"/>
                    <a:pt x="16725" y="8824"/>
                  </a:cubicBezTo>
                  <a:cubicBezTo>
                    <a:pt x="16306" y="8876"/>
                    <a:pt x="15803" y="8638"/>
                    <a:pt x="15397" y="8843"/>
                  </a:cubicBezTo>
                  <a:cubicBezTo>
                    <a:pt x="14990" y="9046"/>
                    <a:pt x="15218" y="9655"/>
                    <a:pt x="15490" y="9475"/>
                  </a:cubicBezTo>
                  <a:cubicBezTo>
                    <a:pt x="15446" y="9559"/>
                    <a:pt x="15400" y="9612"/>
                    <a:pt x="15302" y="9624"/>
                  </a:cubicBezTo>
                  <a:cubicBezTo>
                    <a:pt x="15527" y="10138"/>
                    <a:pt x="15043" y="10023"/>
                    <a:pt x="14840" y="9709"/>
                  </a:cubicBezTo>
                  <a:lnTo>
                    <a:pt x="14842" y="9700"/>
                  </a:lnTo>
                  <a:cubicBezTo>
                    <a:pt x="14833" y="9734"/>
                    <a:pt x="14822" y="9767"/>
                    <a:pt x="14810" y="9799"/>
                  </a:cubicBezTo>
                  <a:cubicBezTo>
                    <a:pt x="14723" y="9791"/>
                    <a:pt x="14635" y="9776"/>
                    <a:pt x="14548" y="9751"/>
                  </a:cubicBezTo>
                  <a:cubicBezTo>
                    <a:pt x="14418" y="9770"/>
                    <a:pt x="14357" y="9921"/>
                    <a:pt x="14366" y="10048"/>
                  </a:cubicBezTo>
                  <a:lnTo>
                    <a:pt x="14272" y="10101"/>
                  </a:lnTo>
                  <a:cubicBezTo>
                    <a:pt x="14229" y="10390"/>
                    <a:pt x="14291" y="10708"/>
                    <a:pt x="14374" y="10979"/>
                  </a:cubicBezTo>
                  <a:cubicBezTo>
                    <a:pt x="14374" y="10980"/>
                    <a:pt x="14706" y="11039"/>
                    <a:pt x="14271" y="10982"/>
                  </a:cubicBezTo>
                  <a:cubicBezTo>
                    <a:pt x="14155" y="10964"/>
                    <a:pt x="14030" y="11072"/>
                    <a:pt x="14169" y="11177"/>
                  </a:cubicBezTo>
                  <a:cubicBezTo>
                    <a:pt x="14151" y="11181"/>
                    <a:pt x="14133" y="11186"/>
                    <a:pt x="14115" y="11190"/>
                  </a:cubicBezTo>
                  <a:cubicBezTo>
                    <a:pt x="14118" y="11235"/>
                    <a:pt x="14112" y="11279"/>
                    <a:pt x="14095" y="11321"/>
                  </a:cubicBezTo>
                  <a:cubicBezTo>
                    <a:pt x="14319" y="11407"/>
                    <a:pt x="14597" y="11381"/>
                    <a:pt x="14839" y="11383"/>
                  </a:cubicBezTo>
                  <a:lnTo>
                    <a:pt x="14792" y="11431"/>
                  </a:lnTo>
                  <a:cubicBezTo>
                    <a:pt x="14873" y="11397"/>
                    <a:pt x="15020" y="11368"/>
                    <a:pt x="15097" y="11423"/>
                  </a:cubicBezTo>
                  <a:cubicBezTo>
                    <a:pt x="14771" y="11469"/>
                    <a:pt x="14345" y="11485"/>
                    <a:pt x="14023" y="11419"/>
                  </a:cubicBezTo>
                  <a:cubicBezTo>
                    <a:pt x="13755" y="11424"/>
                    <a:pt x="13655" y="11208"/>
                    <a:pt x="13442" y="11208"/>
                  </a:cubicBezTo>
                  <a:cubicBezTo>
                    <a:pt x="13013" y="11208"/>
                    <a:pt x="12497" y="11570"/>
                    <a:pt x="12077" y="11683"/>
                  </a:cubicBezTo>
                  <a:cubicBezTo>
                    <a:pt x="12021" y="11598"/>
                    <a:pt x="11938" y="11539"/>
                    <a:pt x="11850" y="11498"/>
                  </a:cubicBezTo>
                  <a:cubicBezTo>
                    <a:pt x="11906" y="11380"/>
                    <a:pt x="11866" y="11334"/>
                    <a:pt x="11769" y="11310"/>
                  </a:cubicBezTo>
                  <a:lnTo>
                    <a:pt x="11748" y="11359"/>
                  </a:lnTo>
                  <a:cubicBezTo>
                    <a:pt x="11689" y="11359"/>
                    <a:pt x="11635" y="11383"/>
                    <a:pt x="11585" y="11434"/>
                  </a:cubicBezTo>
                  <a:cubicBezTo>
                    <a:pt x="11468" y="11434"/>
                    <a:pt x="11068" y="11450"/>
                    <a:pt x="10966" y="11574"/>
                  </a:cubicBezTo>
                  <a:cubicBezTo>
                    <a:pt x="11003" y="11493"/>
                    <a:pt x="11068" y="11431"/>
                    <a:pt x="11053" y="11329"/>
                  </a:cubicBezTo>
                  <a:cubicBezTo>
                    <a:pt x="11360" y="11511"/>
                    <a:pt x="11588" y="10834"/>
                    <a:pt x="11473" y="10674"/>
                  </a:cubicBezTo>
                  <a:cubicBezTo>
                    <a:pt x="11548" y="11455"/>
                    <a:pt x="12215" y="10595"/>
                    <a:pt x="12459" y="10590"/>
                  </a:cubicBezTo>
                  <a:cubicBezTo>
                    <a:pt x="12794" y="10584"/>
                    <a:pt x="12838" y="10062"/>
                    <a:pt x="12863" y="9783"/>
                  </a:cubicBezTo>
                  <a:cubicBezTo>
                    <a:pt x="12881" y="9580"/>
                    <a:pt x="13458" y="9031"/>
                    <a:pt x="13427" y="8990"/>
                  </a:cubicBezTo>
                  <a:cubicBezTo>
                    <a:pt x="13815" y="8727"/>
                    <a:pt x="12477" y="8225"/>
                    <a:pt x="13133" y="7551"/>
                  </a:cubicBezTo>
                  <a:cubicBezTo>
                    <a:pt x="13342" y="7340"/>
                    <a:pt x="13527" y="7230"/>
                    <a:pt x="13796" y="7110"/>
                  </a:cubicBezTo>
                  <a:cubicBezTo>
                    <a:pt x="13875" y="7074"/>
                    <a:pt x="14210" y="6821"/>
                    <a:pt x="14230" y="6703"/>
                  </a:cubicBezTo>
                  <a:cubicBezTo>
                    <a:pt x="14239" y="6653"/>
                    <a:pt x="14134" y="6487"/>
                    <a:pt x="14081" y="6528"/>
                  </a:cubicBezTo>
                  <a:cubicBezTo>
                    <a:pt x="14339" y="5989"/>
                    <a:pt x="15221" y="5978"/>
                    <a:pt x="15459" y="6484"/>
                  </a:cubicBezTo>
                  <a:cubicBezTo>
                    <a:pt x="15284" y="6479"/>
                    <a:pt x="14555" y="7035"/>
                    <a:pt x="14534" y="7238"/>
                  </a:cubicBezTo>
                  <a:cubicBezTo>
                    <a:pt x="14055" y="7196"/>
                    <a:pt x="14378" y="8563"/>
                    <a:pt x="14576" y="8615"/>
                  </a:cubicBezTo>
                  <a:cubicBezTo>
                    <a:pt x="14918" y="8705"/>
                    <a:pt x="14912" y="8954"/>
                    <a:pt x="15299" y="8832"/>
                  </a:cubicBezTo>
                  <a:cubicBezTo>
                    <a:pt x="16051" y="8597"/>
                    <a:pt x="16518" y="8623"/>
                    <a:pt x="17126" y="8089"/>
                  </a:cubicBezTo>
                  <a:cubicBezTo>
                    <a:pt x="17989" y="7332"/>
                    <a:pt x="17131" y="7189"/>
                    <a:pt x="16960" y="6564"/>
                  </a:cubicBezTo>
                  <a:cubicBezTo>
                    <a:pt x="16891" y="6310"/>
                    <a:pt x="16962" y="6056"/>
                    <a:pt x="16770" y="5802"/>
                  </a:cubicBezTo>
                  <a:cubicBezTo>
                    <a:pt x="16593" y="5570"/>
                    <a:pt x="16691" y="5715"/>
                    <a:pt x="16751" y="5394"/>
                  </a:cubicBezTo>
                  <a:cubicBezTo>
                    <a:pt x="16807" y="5092"/>
                    <a:pt x="16443" y="5099"/>
                    <a:pt x="16319" y="4939"/>
                  </a:cubicBezTo>
                  <a:cubicBezTo>
                    <a:pt x="16366" y="4885"/>
                    <a:pt x="16402" y="4805"/>
                    <a:pt x="16433" y="4739"/>
                  </a:cubicBezTo>
                  <a:cubicBezTo>
                    <a:pt x="16397" y="4728"/>
                    <a:pt x="16370" y="4705"/>
                    <a:pt x="16352" y="4670"/>
                  </a:cubicBezTo>
                  <a:cubicBezTo>
                    <a:pt x="16486" y="4552"/>
                    <a:pt x="16818" y="4457"/>
                    <a:pt x="16818" y="4297"/>
                  </a:cubicBezTo>
                  <a:lnTo>
                    <a:pt x="16777" y="4292"/>
                  </a:lnTo>
                  <a:lnTo>
                    <a:pt x="16781" y="4239"/>
                  </a:lnTo>
                  <a:cubicBezTo>
                    <a:pt x="16681" y="4213"/>
                    <a:pt x="16582" y="4186"/>
                    <a:pt x="16483" y="4156"/>
                  </a:cubicBezTo>
                  <a:cubicBezTo>
                    <a:pt x="16600" y="4125"/>
                    <a:pt x="16712" y="4098"/>
                    <a:pt x="16819" y="4044"/>
                  </a:cubicBezTo>
                  <a:lnTo>
                    <a:pt x="16812" y="4008"/>
                  </a:lnTo>
                  <a:cubicBezTo>
                    <a:pt x="16788" y="3879"/>
                    <a:pt x="16102" y="3767"/>
                    <a:pt x="16024" y="3831"/>
                  </a:cubicBezTo>
                  <a:cubicBezTo>
                    <a:pt x="16035" y="3485"/>
                    <a:pt x="15559" y="3828"/>
                    <a:pt x="15481" y="3933"/>
                  </a:cubicBezTo>
                  <a:cubicBezTo>
                    <a:pt x="15481" y="3810"/>
                    <a:pt x="15465" y="3728"/>
                    <a:pt x="15353" y="3712"/>
                  </a:cubicBezTo>
                  <a:cubicBezTo>
                    <a:pt x="15350" y="3712"/>
                    <a:pt x="15455" y="3766"/>
                    <a:pt x="15313" y="3766"/>
                  </a:cubicBezTo>
                  <a:lnTo>
                    <a:pt x="15313" y="3708"/>
                  </a:lnTo>
                  <a:cubicBezTo>
                    <a:pt x="14920" y="3686"/>
                    <a:pt x="14462" y="3793"/>
                    <a:pt x="14080" y="3879"/>
                  </a:cubicBezTo>
                  <a:lnTo>
                    <a:pt x="14055" y="3979"/>
                  </a:lnTo>
                  <a:cubicBezTo>
                    <a:pt x="14083" y="3996"/>
                    <a:pt x="14112" y="4012"/>
                    <a:pt x="14141" y="4027"/>
                  </a:cubicBezTo>
                  <a:cubicBezTo>
                    <a:pt x="14126" y="4044"/>
                    <a:pt x="13707" y="4059"/>
                    <a:pt x="13848" y="4178"/>
                  </a:cubicBezTo>
                  <a:cubicBezTo>
                    <a:pt x="13839" y="4188"/>
                    <a:pt x="13730" y="4250"/>
                    <a:pt x="13705" y="4250"/>
                  </a:cubicBezTo>
                  <a:cubicBezTo>
                    <a:pt x="13546" y="4221"/>
                    <a:pt x="13373" y="4049"/>
                    <a:pt x="13215" y="4159"/>
                  </a:cubicBezTo>
                  <a:cubicBezTo>
                    <a:pt x="13149" y="4204"/>
                    <a:pt x="12175" y="4604"/>
                    <a:pt x="12746" y="4666"/>
                  </a:cubicBezTo>
                  <a:cubicBezTo>
                    <a:pt x="12622" y="4865"/>
                    <a:pt x="12457" y="4653"/>
                    <a:pt x="12460" y="4524"/>
                  </a:cubicBezTo>
                  <a:cubicBezTo>
                    <a:pt x="12221" y="4504"/>
                    <a:pt x="11580" y="4848"/>
                    <a:pt x="11551" y="5086"/>
                  </a:cubicBezTo>
                  <a:cubicBezTo>
                    <a:pt x="11780" y="5070"/>
                    <a:pt x="12010" y="5019"/>
                    <a:pt x="12238" y="4987"/>
                  </a:cubicBezTo>
                  <a:cubicBezTo>
                    <a:pt x="11896" y="5054"/>
                    <a:pt x="11014" y="6216"/>
                    <a:pt x="10964" y="6583"/>
                  </a:cubicBezTo>
                  <a:cubicBezTo>
                    <a:pt x="10736" y="6624"/>
                    <a:pt x="10558" y="6970"/>
                    <a:pt x="10381" y="6977"/>
                  </a:cubicBezTo>
                  <a:cubicBezTo>
                    <a:pt x="10180" y="6977"/>
                    <a:pt x="10128" y="6767"/>
                    <a:pt x="10029" y="7058"/>
                  </a:cubicBezTo>
                  <a:cubicBezTo>
                    <a:pt x="9982" y="7191"/>
                    <a:pt x="9499" y="7414"/>
                    <a:pt x="9402" y="7408"/>
                  </a:cubicBezTo>
                  <a:cubicBezTo>
                    <a:pt x="9414" y="7463"/>
                    <a:pt x="9398" y="7484"/>
                    <a:pt x="9354" y="7470"/>
                  </a:cubicBezTo>
                  <a:cubicBezTo>
                    <a:pt x="9353" y="7486"/>
                    <a:pt x="9333" y="7546"/>
                    <a:pt x="9329" y="7554"/>
                  </a:cubicBezTo>
                  <a:cubicBezTo>
                    <a:pt x="9181" y="7675"/>
                    <a:pt x="8893" y="7604"/>
                    <a:pt x="8949" y="7955"/>
                  </a:cubicBezTo>
                  <a:cubicBezTo>
                    <a:pt x="8986" y="8192"/>
                    <a:pt x="8876" y="8784"/>
                    <a:pt x="8991" y="8987"/>
                  </a:cubicBezTo>
                  <a:cubicBezTo>
                    <a:pt x="9205" y="9365"/>
                    <a:pt x="9340" y="9782"/>
                    <a:pt x="9892" y="9648"/>
                  </a:cubicBezTo>
                  <a:cubicBezTo>
                    <a:pt x="10114" y="9595"/>
                    <a:pt x="10749" y="9192"/>
                    <a:pt x="10777" y="8955"/>
                  </a:cubicBezTo>
                  <a:cubicBezTo>
                    <a:pt x="10817" y="9053"/>
                    <a:pt x="10800" y="9070"/>
                    <a:pt x="10918" y="9140"/>
                  </a:cubicBezTo>
                  <a:cubicBezTo>
                    <a:pt x="10889" y="9162"/>
                    <a:pt x="10862" y="9182"/>
                    <a:pt x="10829" y="9197"/>
                  </a:cubicBezTo>
                  <a:cubicBezTo>
                    <a:pt x="11004" y="9640"/>
                    <a:pt x="11181" y="10022"/>
                    <a:pt x="11497" y="10369"/>
                  </a:cubicBezTo>
                  <a:cubicBezTo>
                    <a:pt x="11390" y="10425"/>
                    <a:pt x="11363" y="10548"/>
                    <a:pt x="11450" y="10649"/>
                  </a:cubicBezTo>
                  <a:cubicBezTo>
                    <a:pt x="11391" y="10614"/>
                    <a:pt x="11149" y="10769"/>
                    <a:pt x="11098" y="10800"/>
                  </a:cubicBezTo>
                  <a:cubicBezTo>
                    <a:pt x="10812" y="10969"/>
                    <a:pt x="11257" y="11023"/>
                    <a:pt x="11209" y="11174"/>
                  </a:cubicBezTo>
                  <a:cubicBezTo>
                    <a:pt x="11154" y="11353"/>
                    <a:pt x="10994" y="11044"/>
                    <a:pt x="11012" y="11359"/>
                  </a:cubicBezTo>
                  <a:cubicBezTo>
                    <a:pt x="10937" y="11384"/>
                    <a:pt x="10752" y="11439"/>
                    <a:pt x="10683" y="11373"/>
                  </a:cubicBezTo>
                  <a:cubicBezTo>
                    <a:pt x="10699" y="11309"/>
                    <a:pt x="10743" y="11117"/>
                    <a:pt x="10714" y="11059"/>
                  </a:cubicBezTo>
                  <a:cubicBezTo>
                    <a:pt x="10772" y="11086"/>
                    <a:pt x="10965" y="11220"/>
                    <a:pt x="10955" y="11230"/>
                  </a:cubicBezTo>
                  <a:cubicBezTo>
                    <a:pt x="11264" y="10919"/>
                    <a:pt x="10514" y="10683"/>
                    <a:pt x="10674" y="11018"/>
                  </a:cubicBezTo>
                  <a:cubicBezTo>
                    <a:pt x="10644" y="11008"/>
                    <a:pt x="10613" y="11003"/>
                    <a:pt x="10583" y="11002"/>
                  </a:cubicBezTo>
                  <a:cubicBezTo>
                    <a:pt x="10613" y="10960"/>
                    <a:pt x="10785" y="10573"/>
                    <a:pt x="10785" y="10566"/>
                  </a:cubicBezTo>
                  <a:cubicBezTo>
                    <a:pt x="10800" y="10576"/>
                    <a:pt x="10821" y="10590"/>
                    <a:pt x="10853" y="10592"/>
                  </a:cubicBezTo>
                  <a:cubicBezTo>
                    <a:pt x="10863" y="10592"/>
                    <a:pt x="10848" y="9927"/>
                    <a:pt x="10934" y="9698"/>
                  </a:cubicBezTo>
                  <a:cubicBezTo>
                    <a:pt x="10675" y="9764"/>
                    <a:pt x="10420" y="9916"/>
                    <a:pt x="10181" y="10042"/>
                  </a:cubicBezTo>
                  <a:cubicBezTo>
                    <a:pt x="9963" y="10157"/>
                    <a:pt x="9886" y="10826"/>
                    <a:pt x="10149" y="10909"/>
                  </a:cubicBezTo>
                  <a:cubicBezTo>
                    <a:pt x="10138" y="10964"/>
                    <a:pt x="10090" y="11008"/>
                    <a:pt x="10090" y="11067"/>
                  </a:cubicBezTo>
                  <a:cubicBezTo>
                    <a:pt x="10053" y="11050"/>
                    <a:pt x="10016" y="11033"/>
                    <a:pt x="9978" y="11019"/>
                  </a:cubicBezTo>
                  <a:cubicBezTo>
                    <a:pt x="10028" y="11079"/>
                    <a:pt x="10066" y="11359"/>
                    <a:pt x="10163" y="11359"/>
                  </a:cubicBezTo>
                  <a:cubicBezTo>
                    <a:pt x="10073" y="11359"/>
                    <a:pt x="10093" y="11378"/>
                    <a:pt x="10048" y="11394"/>
                  </a:cubicBezTo>
                  <a:cubicBezTo>
                    <a:pt x="10043" y="11379"/>
                    <a:pt x="10156" y="11600"/>
                    <a:pt x="10151" y="11616"/>
                  </a:cubicBezTo>
                  <a:cubicBezTo>
                    <a:pt x="10064" y="11619"/>
                    <a:pt x="9974" y="11681"/>
                    <a:pt x="10004" y="11789"/>
                  </a:cubicBezTo>
                  <a:cubicBezTo>
                    <a:pt x="9806" y="11773"/>
                    <a:pt x="8782" y="11721"/>
                    <a:pt x="9003" y="12226"/>
                  </a:cubicBezTo>
                  <a:cubicBezTo>
                    <a:pt x="8695" y="11907"/>
                    <a:pt x="8967" y="11872"/>
                    <a:pt x="8720" y="12293"/>
                  </a:cubicBezTo>
                  <a:cubicBezTo>
                    <a:pt x="8561" y="12563"/>
                    <a:pt x="8330" y="12770"/>
                    <a:pt x="8088" y="12915"/>
                  </a:cubicBezTo>
                  <a:lnTo>
                    <a:pt x="8082" y="12908"/>
                  </a:lnTo>
                  <a:cubicBezTo>
                    <a:pt x="7634" y="12869"/>
                    <a:pt x="7779" y="13179"/>
                    <a:pt x="7606" y="13396"/>
                  </a:cubicBezTo>
                  <a:cubicBezTo>
                    <a:pt x="7588" y="13419"/>
                    <a:pt x="7002" y="13803"/>
                    <a:pt x="7051" y="13801"/>
                  </a:cubicBezTo>
                  <a:cubicBezTo>
                    <a:pt x="6841" y="13801"/>
                    <a:pt x="6602" y="13612"/>
                    <a:pt x="6400" y="13559"/>
                  </a:cubicBezTo>
                  <a:cubicBezTo>
                    <a:pt x="6489" y="14164"/>
                    <a:pt x="6519" y="13881"/>
                    <a:pt x="6154" y="14145"/>
                  </a:cubicBezTo>
                  <a:cubicBezTo>
                    <a:pt x="5934" y="14026"/>
                    <a:pt x="5898" y="14077"/>
                    <a:pt x="5673" y="14077"/>
                  </a:cubicBezTo>
                  <a:cubicBezTo>
                    <a:pt x="5381" y="14162"/>
                    <a:pt x="5116" y="14590"/>
                    <a:pt x="5629" y="14617"/>
                  </a:cubicBezTo>
                  <a:cubicBezTo>
                    <a:pt x="5897" y="14801"/>
                    <a:pt x="6092" y="14655"/>
                    <a:pt x="6255" y="15020"/>
                  </a:cubicBezTo>
                  <a:cubicBezTo>
                    <a:pt x="6320" y="15168"/>
                    <a:pt x="6390" y="15262"/>
                    <a:pt x="6508" y="15350"/>
                  </a:cubicBezTo>
                  <a:cubicBezTo>
                    <a:pt x="6728" y="15390"/>
                    <a:pt x="6465" y="16646"/>
                    <a:pt x="6350" y="16730"/>
                  </a:cubicBezTo>
                  <a:cubicBezTo>
                    <a:pt x="6365" y="16739"/>
                    <a:pt x="5826" y="16663"/>
                    <a:pt x="5785" y="16667"/>
                  </a:cubicBezTo>
                  <a:cubicBezTo>
                    <a:pt x="5650" y="16689"/>
                    <a:pt x="5391" y="16822"/>
                    <a:pt x="5281" y="16822"/>
                  </a:cubicBezTo>
                  <a:cubicBezTo>
                    <a:pt x="5108" y="16822"/>
                    <a:pt x="3913" y="16170"/>
                    <a:pt x="3821" y="16687"/>
                  </a:cubicBezTo>
                  <a:cubicBezTo>
                    <a:pt x="3737" y="16815"/>
                    <a:pt x="3377" y="16828"/>
                    <a:pt x="3449" y="17021"/>
                  </a:cubicBezTo>
                  <a:cubicBezTo>
                    <a:pt x="3530" y="17238"/>
                    <a:pt x="3616" y="17337"/>
                    <a:pt x="3535" y="17599"/>
                  </a:cubicBezTo>
                  <a:cubicBezTo>
                    <a:pt x="3600" y="17542"/>
                    <a:pt x="3710" y="17444"/>
                    <a:pt x="3784" y="17425"/>
                  </a:cubicBezTo>
                  <a:cubicBezTo>
                    <a:pt x="3784" y="17438"/>
                    <a:pt x="3787" y="17450"/>
                    <a:pt x="3789" y="17462"/>
                  </a:cubicBezTo>
                  <a:cubicBezTo>
                    <a:pt x="3726" y="17490"/>
                    <a:pt x="3651" y="17551"/>
                    <a:pt x="3593" y="17601"/>
                  </a:cubicBezTo>
                  <a:cubicBezTo>
                    <a:pt x="3653" y="18066"/>
                    <a:pt x="3066" y="19278"/>
                    <a:pt x="3496" y="19389"/>
                  </a:cubicBezTo>
                  <a:cubicBezTo>
                    <a:pt x="3578" y="19503"/>
                    <a:pt x="3431" y="20005"/>
                    <a:pt x="3411" y="20118"/>
                  </a:cubicBezTo>
                  <a:cubicBezTo>
                    <a:pt x="3635" y="20121"/>
                    <a:pt x="3877" y="20136"/>
                    <a:pt x="4087" y="20055"/>
                  </a:cubicBezTo>
                  <a:cubicBezTo>
                    <a:pt x="4100" y="20019"/>
                    <a:pt x="4106" y="19981"/>
                    <a:pt x="4104" y="19942"/>
                  </a:cubicBezTo>
                  <a:cubicBezTo>
                    <a:pt x="4297" y="19997"/>
                    <a:pt x="4530" y="20799"/>
                    <a:pt x="4764" y="20513"/>
                  </a:cubicBezTo>
                  <a:cubicBezTo>
                    <a:pt x="4977" y="20254"/>
                    <a:pt x="5179" y="20132"/>
                    <a:pt x="5537" y="20162"/>
                  </a:cubicBezTo>
                  <a:cubicBezTo>
                    <a:pt x="5614" y="20159"/>
                    <a:pt x="5904" y="20198"/>
                    <a:pt x="5920" y="20206"/>
                  </a:cubicBezTo>
                  <a:cubicBezTo>
                    <a:pt x="6029" y="20263"/>
                    <a:pt x="6288" y="19747"/>
                    <a:pt x="6500" y="19720"/>
                  </a:cubicBezTo>
                  <a:cubicBezTo>
                    <a:pt x="6516" y="19542"/>
                    <a:pt x="6994" y="19064"/>
                    <a:pt x="6943" y="19014"/>
                  </a:cubicBezTo>
                  <a:cubicBezTo>
                    <a:pt x="6523" y="18603"/>
                    <a:pt x="7185" y="18457"/>
                    <a:pt x="7212" y="18069"/>
                  </a:cubicBezTo>
                  <a:cubicBezTo>
                    <a:pt x="7226" y="17872"/>
                    <a:pt x="8104" y="17676"/>
                    <a:pt x="8191" y="17252"/>
                  </a:cubicBezTo>
                  <a:cubicBezTo>
                    <a:pt x="7967" y="16762"/>
                    <a:pt x="8592" y="16828"/>
                    <a:pt x="8806" y="16828"/>
                  </a:cubicBezTo>
                  <a:cubicBezTo>
                    <a:pt x="9295" y="16828"/>
                    <a:pt x="9285" y="17028"/>
                    <a:pt x="9719" y="16681"/>
                  </a:cubicBezTo>
                  <a:cubicBezTo>
                    <a:pt x="10053" y="16798"/>
                    <a:pt x="10062" y="16395"/>
                    <a:pt x="10290" y="16395"/>
                  </a:cubicBezTo>
                  <a:cubicBezTo>
                    <a:pt x="10831" y="16420"/>
                    <a:pt x="10690" y="16988"/>
                    <a:pt x="11024" y="17234"/>
                  </a:cubicBezTo>
                  <a:cubicBezTo>
                    <a:pt x="11260" y="17408"/>
                    <a:pt x="11458" y="17785"/>
                    <a:pt x="11701" y="17900"/>
                  </a:cubicBezTo>
                  <a:cubicBezTo>
                    <a:pt x="11758" y="17927"/>
                    <a:pt x="12171" y="18115"/>
                    <a:pt x="12175" y="18125"/>
                  </a:cubicBezTo>
                  <a:cubicBezTo>
                    <a:pt x="12200" y="18189"/>
                    <a:pt x="12697" y="18605"/>
                    <a:pt x="12766" y="18619"/>
                  </a:cubicBezTo>
                  <a:cubicBezTo>
                    <a:pt x="12961" y="18658"/>
                    <a:pt x="13173" y="19418"/>
                    <a:pt x="12855" y="19436"/>
                  </a:cubicBezTo>
                  <a:cubicBezTo>
                    <a:pt x="12711" y="19427"/>
                    <a:pt x="12614" y="19631"/>
                    <a:pt x="12536" y="19631"/>
                  </a:cubicBezTo>
                  <a:cubicBezTo>
                    <a:pt x="12338" y="19631"/>
                    <a:pt x="11750" y="19355"/>
                    <a:pt x="11649" y="19598"/>
                  </a:cubicBezTo>
                  <a:cubicBezTo>
                    <a:pt x="11548" y="19838"/>
                    <a:pt x="12500" y="20365"/>
                    <a:pt x="12643" y="20365"/>
                  </a:cubicBezTo>
                  <a:cubicBezTo>
                    <a:pt x="12872" y="20365"/>
                    <a:pt x="12768" y="19773"/>
                    <a:pt x="12861" y="19652"/>
                  </a:cubicBezTo>
                  <a:cubicBezTo>
                    <a:pt x="12937" y="19784"/>
                    <a:pt x="13907" y="18987"/>
                    <a:pt x="13268" y="18723"/>
                  </a:cubicBezTo>
                  <a:cubicBezTo>
                    <a:pt x="13262" y="18582"/>
                    <a:pt x="13314" y="18477"/>
                    <a:pt x="13424" y="18409"/>
                  </a:cubicBezTo>
                  <a:cubicBezTo>
                    <a:pt x="13567" y="18409"/>
                    <a:pt x="13727" y="18623"/>
                    <a:pt x="13787" y="18743"/>
                  </a:cubicBezTo>
                  <a:cubicBezTo>
                    <a:pt x="14586" y="18482"/>
                    <a:pt x="13011" y="17868"/>
                    <a:pt x="13024" y="17811"/>
                  </a:cubicBezTo>
                  <a:cubicBezTo>
                    <a:pt x="13147" y="17540"/>
                    <a:pt x="12981" y="17586"/>
                    <a:pt x="12787" y="17586"/>
                  </a:cubicBezTo>
                  <a:cubicBezTo>
                    <a:pt x="12361" y="17586"/>
                    <a:pt x="12347" y="17113"/>
                    <a:pt x="12152" y="16852"/>
                  </a:cubicBezTo>
                  <a:cubicBezTo>
                    <a:pt x="11986" y="16631"/>
                    <a:pt x="11693" y="16567"/>
                    <a:pt x="11625" y="16266"/>
                  </a:cubicBezTo>
                  <a:cubicBezTo>
                    <a:pt x="11495" y="15947"/>
                    <a:pt x="11716" y="15939"/>
                    <a:pt x="11865" y="15798"/>
                  </a:cubicBezTo>
                  <a:cubicBezTo>
                    <a:pt x="11841" y="15934"/>
                    <a:pt x="11936" y="16125"/>
                    <a:pt x="12008" y="16225"/>
                  </a:cubicBezTo>
                  <a:cubicBezTo>
                    <a:pt x="12087" y="16161"/>
                    <a:pt x="12165" y="16158"/>
                    <a:pt x="12238" y="16230"/>
                  </a:cubicBezTo>
                  <a:cubicBezTo>
                    <a:pt x="12254" y="16203"/>
                    <a:pt x="12301" y="16084"/>
                    <a:pt x="12329" y="16084"/>
                  </a:cubicBezTo>
                  <a:cubicBezTo>
                    <a:pt x="12326" y="16084"/>
                    <a:pt x="12736" y="16816"/>
                    <a:pt x="12978" y="16874"/>
                  </a:cubicBezTo>
                  <a:cubicBezTo>
                    <a:pt x="13227" y="16935"/>
                    <a:pt x="13439" y="17177"/>
                    <a:pt x="13668" y="17310"/>
                  </a:cubicBezTo>
                  <a:lnTo>
                    <a:pt x="13669" y="17307"/>
                  </a:lnTo>
                  <a:cubicBezTo>
                    <a:pt x="13733" y="17355"/>
                    <a:pt x="13798" y="17401"/>
                    <a:pt x="13864" y="17445"/>
                  </a:cubicBezTo>
                  <a:cubicBezTo>
                    <a:pt x="13864" y="17445"/>
                    <a:pt x="13885" y="17398"/>
                    <a:pt x="13900" y="17364"/>
                  </a:cubicBezTo>
                  <a:cubicBezTo>
                    <a:pt x="13996" y="17452"/>
                    <a:pt x="14062" y="17548"/>
                    <a:pt x="14179" y="17579"/>
                  </a:cubicBezTo>
                  <a:cubicBezTo>
                    <a:pt x="14188" y="18042"/>
                    <a:pt x="14082" y="18142"/>
                    <a:pt x="14348" y="18508"/>
                  </a:cubicBezTo>
                  <a:cubicBezTo>
                    <a:pt x="14118" y="18572"/>
                    <a:pt x="14350" y="18860"/>
                    <a:pt x="14440" y="18766"/>
                  </a:cubicBezTo>
                  <a:cubicBezTo>
                    <a:pt x="14548" y="18913"/>
                    <a:pt x="14606" y="19070"/>
                    <a:pt x="14601" y="19267"/>
                  </a:cubicBezTo>
                  <a:cubicBezTo>
                    <a:pt x="14744" y="19281"/>
                    <a:pt x="14884" y="19339"/>
                    <a:pt x="15005" y="19427"/>
                  </a:cubicBezTo>
                  <a:cubicBezTo>
                    <a:pt x="14917" y="19488"/>
                    <a:pt x="14849" y="19566"/>
                    <a:pt x="14799" y="19661"/>
                  </a:cubicBezTo>
                  <a:cubicBezTo>
                    <a:pt x="15088" y="19884"/>
                    <a:pt x="14876" y="20093"/>
                    <a:pt x="15189" y="20301"/>
                  </a:cubicBezTo>
                  <a:cubicBezTo>
                    <a:pt x="15191" y="20250"/>
                    <a:pt x="15226" y="20114"/>
                    <a:pt x="15288" y="20127"/>
                  </a:cubicBezTo>
                  <a:cubicBezTo>
                    <a:pt x="15355" y="20187"/>
                    <a:pt x="15355" y="20379"/>
                    <a:pt x="15421" y="20470"/>
                  </a:cubicBezTo>
                  <a:cubicBezTo>
                    <a:pt x="15434" y="20425"/>
                    <a:pt x="15471" y="20268"/>
                    <a:pt x="15516" y="20268"/>
                  </a:cubicBezTo>
                  <a:cubicBezTo>
                    <a:pt x="15547" y="20268"/>
                    <a:pt x="15717" y="20454"/>
                    <a:pt x="15743" y="20497"/>
                  </a:cubicBezTo>
                  <a:cubicBezTo>
                    <a:pt x="15738" y="20305"/>
                    <a:pt x="15706" y="20091"/>
                    <a:pt x="15617" y="19924"/>
                  </a:cubicBezTo>
                  <a:cubicBezTo>
                    <a:pt x="15719" y="19942"/>
                    <a:pt x="15823" y="19903"/>
                    <a:pt x="15832" y="19775"/>
                  </a:cubicBezTo>
                  <a:cubicBezTo>
                    <a:pt x="15922" y="19798"/>
                    <a:pt x="16115" y="19795"/>
                    <a:pt x="16041" y="19632"/>
                  </a:cubicBezTo>
                  <a:cubicBezTo>
                    <a:pt x="16106" y="19623"/>
                    <a:pt x="16168" y="19588"/>
                    <a:pt x="16210" y="19533"/>
                  </a:cubicBezTo>
                  <a:cubicBezTo>
                    <a:pt x="16138" y="19390"/>
                    <a:pt x="15206" y="18490"/>
                    <a:pt x="15434" y="18346"/>
                  </a:cubicBezTo>
                  <a:cubicBezTo>
                    <a:pt x="15434" y="18538"/>
                    <a:pt x="16064" y="18478"/>
                    <a:pt x="15848" y="18241"/>
                  </a:cubicBezTo>
                  <a:cubicBezTo>
                    <a:pt x="16147" y="18267"/>
                    <a:pt x="16258" y="18137"/>
                    <a:pt x="16617" y="18242"/>
                  </a:cubicBezTo>
                  <a:cubicBezTo>
                    <a:pt x="16734" y="18192"/>
                    <a:pt x="16850" y="18068"/>
                    <a:pt x="16906" y="17901"/>
                  </a:cubicBezTo>
                  <a:cubicBezTo>
                    <a:pt x="16903" y="17828"/>
                    <a:pt x="16902" y="17625"/>
                    <a:pt x="16866" y="17758"/>
                  </a:cubicBezTo>
                  <a:cubicBezTo>
                    <a:pt x="16932" y="17767"/>
                    <a:pt x="16992" y="17749"/>
                    <a:pt x="17046" y="17705"/>
                  </a:cubicBezTo>
                  <a:lnTo>
                    <a:pt x="16983" y="17599"/>
                  </a:lnTo>
                  <a:cubicBezTo>
                    <a:pt x="17041" y="17536"/>
                    <a:pt x="17165" y="17507"/>
                    <a:pt x="17236" y="17493"/>
                  </a:cubicBezTo>
                  <a:cubicBezTo>
                    <a:pt x="17318" y="17587"/>
                    <a:pt x="17416" y="17601"/>
                    <a:pt x="17530" y="17550"/>
                  </a:cubicBezTo>
                  <a:cubicBezTo>
                    <a:pt x="17577" y="17423"/>
                    <a:pt x="17512" y="17280"/>
                    <a:pt x="17384" y="17221"/>
                  </a:cubicBezTo>
                  <a:cubicBezTo>
                    <a:pt x="17687" y="16967"/>
                    <a:pt x="17565" y="16430"/>
                    <a:pt x="17781" y="16125"/>
                  </a:cubicBezTo>
                  <a:cubicBezTo>
                    <a:pt x="17837" y="16046"/>
                    <a:pt x="18329" y="15957"/>
                    <a:pt x="17971" y="15701"/>
                  </a:cubicBezTo>
                  <a:cubicBezTo>
                    <a:pt x="18121" y="15585"/>
                    <a:pt x="18165" y="15400"/>
                    <a:pt x="18293" y="15287"/>
                  </a:cubicBezTo>
                  <a:cubicBezTo>
                    <a:pt x="18372" y="15279"/>
                    <a:pt x="18564" y="15290"/>
                    <a:pt x="18635" y="15243"/>
                  </a:cubicBezTo>
                  <a:cubicBezTo>
                    <a:pt x="18639" y="15249"/>
                    <a:pt x="18650" y="15264"/>
                    <a:pt x="18652" y="15266"/>
                  </a:cubicBezTo>
                  <a:cubicBezTo>
                    <a:pt x="18287" y="15517"/>
                    <a:pt x="19128" y="15507"/>
                    <a:pt x="19226" y="15549"/>
                  </a:cubicBezTo>
                  <a:cubicBezTo>
                    <a:pt x="19228" y="15542"/>
                    <a:pt x="18587" y="15928"/>
                    <a:pt x="18950" y="15928"/>
                  </a:cubicBezTo>
                  <a:cubicBezTo>
                    <a:pt x="19011" y="15928"/>
                    <a:pt x="19283" y="15953"/>
                    <a:pt x="19298" y="16033"/>
                  </a:cubicBezTo>
                  <a:cubicBezTo>
                    <a:pt x="19302" y="16103"/>
                    <a:pt x="19240" y="16207"/>
                    <a:pt x="19205" y="16258"/>
                  </a:cubicBezTo>
                  <a:cubicBezTo>
                    <a:pt x="19386" y="16473"/>
                    <a:pt x="20060" y="16208"/>
                    <a:pt x="20085" y="16168"/>
                  </a:cubicBezTo>
                  <a:cubicBezTo>
                    <a:pt x="20101" y="16142"/>
                    <a:pt x="20747" y="15587"/>
                    <a:pt x="20176" y="15813"/>
                  </a:cubicBezTo>
                  <a:cubicBezTo>
                    <a:pt x="19948" y="15902"/>
                    <a:pt x="19869" y="15644"/>
                    <a:pt x="19761" y="15477"/>
                  </a:cubicBezTo>
                  <a:cubicBezTo>
                    <a:pt x="19950" y="15446"/>
                    <a:pt x="20140" y="15270"/>
                    <a:pt x="20317" y="15219"/>
                  </a:cubicBezTo>
                  <a:cubicBezTo>
                    <a:pt x="20455" y="15239"/>
                    <a:pt x="21096" y="15033"/>
                    <a:pt x="20948" y="14830"/>
                  </a:cubicBezTo>
                  <a:cubicBezTo>
                    <a:pt x="21018" y="14787"/>
                    <a:pt x="21111" y="14689"/>
                    <a:pt x="21196" y="14689"/>
                  </a:cubicBezTo>
                  <a:cubicBezTo>
                    <a:pt x="21540" y="14453"/>
                    <a:pt x="21283" y="14523"/>
                    <a:pt x="21399" y="14198"/>
                  </a:cubicBezTo>
                  <a:cubicBezTo>
                    <a:pt x="21401" y="14194"/>
                    <a:pt x="21392" y="14218"/>
                    <a:pt x="21399" y="14198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900" dirty="0"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29" name="Shape 25917">
              <a:extLst>
                <a:ext uri="{FF2B5EF4-FFF2-40B4-BE49-F238E27FC236}">
                  <a16:creationId xmlns:a16="http://schemas.microsoft.com/office/drawing/2014/main" id="{E9B17ED7-C1ED-2512-53EC-E8DB89D2A743}"/>
                </a:ext>
              </a:extLst>
            </p:cNvPr>
            <p:cNvSpPr/>
            <p:nvPr/>
          </p:nvSpPr>
          <p:spPr>
            <a:xfrm>
              <a:off x="11255040" y="8196780"/>
              <a:ext cx="1768749" cy="18893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0" h="21301" extrusionOk="0">
                  <a:moveTo>
                    <a:pt x="19386" y="1922"/>
                  </a:moveTo>
                  <a:cubicBezTo>
                    <a:pt x="19814" y="2079"/>
                    <a:pt x="20906" y="1684"/>
                    <a:pt x="20889" y="1153"/>
                  </a:cubicBezTo>
                  <a:cubicBezTo>
                    <a:pt x="20881" y="1256"/>
                    <a:pt x="20912" y="1341"/>
                    <a:pt x="20981" y="1408"/>
                  </a:cubicBezTo>
                  <a:cubicBezTo>
                    <a:pt x="21526" y="952"/>
                    <a:pt x="20191" y="325"/>
                    <a:pt x="19879" y="191"/>
                  </a:cubicBezTo>
                  <a:cubicBezTo>
                    <a:pt x="20063" y="604"/>
                    <a:pt x="20673" y="601"/>
                    <a:pt x="20855" y="1057"/>
                  </a:cubicBezTo>
                  <a:cubicBezTo>
                    <a:pt x="20512" y="588"/>
                    <a:pt x="20469" y="1319"/>
                    <a:pt x="20375" y="1358"/>
                  </a:cubicBezTo>
                  <a:cubicBezTo>
                    <a:pt x="19827" y="1584"/>
                    <a:pt x="19497" y="1595"/>
                    <a:pt x="18866" y="1649"/>
                  </a:cubicBezTo>
                  <a:cubicBezTo>
                    <a:pt x="18833" y="1737"/>
                    <a:pt x="19305" y="1892"/>
                    <a:pt x="19386" y="1922"/>
                  </a:cubicBezTo>
                  <a:cubicBezTo>
                    <a:pt x="19639" y="2015"/>
                    <a:pt x="19305" y="1892"/>
                    <a:pt x="19386" y="1922"/>
                  </a:cubicBezTo>
                  <a:close/>
                  <a:moveTo>
                    <a:pt x="19103" y="11614"/>
                  </a:moveTo>
                  <a:cubicBezTo>
                    <a:pt x="18975" y="11369"/>
                    <a:pt x="18653" y="11271"/>
                    <a:pt x="18576" y="10982"/>
                  </a:cubicBezTo>
                  <a:cubicBezTo>
                    <a:pt x="18519" y="10767"/>
                    <a:pt x="18708" y="10228"/>
                    <a:pt x="18266" y="10244"/>
                  </a:cubicBezTo>
                  <a:cubicBezTo>
                    <a:pt x="18251" y="10303"/>
                    <a:pt x="18237" y="10362"/>
                    <a:pt x="18222" y="10421"/>
                  </a:cubicBezTo>
                  <a:cubicBezTo>
                    <a:pt x="18247" y="10396"/>
                    <a:pt x="17854" y="9575"/>
                    <a:pt x="17912" y="9416"/>
                  </a:cubicBezTo>
                  <a:cubicBezTo>
                    <a:pt x="18034" y="9074"/>
                    <a:pt x="17131" y="8901"/>
                    <a:pt x="16984" y="8720"/>
                  </a:cubicBezTo>
                  <a:cubicBezTo>
                    <a:pt x="16704" y="8377"/>
                    <a:pt x="17067" y="6218"/>
                    <a:pt x="16504" y="6177"/>
                  </a:cubicBezTo>
                  <a:cubicBezTo>
                    <a:pt x="16273" y="6159"/>
                    <a:pt x="16153" y="6484"/>
                    <a:pt x="16083" y="6080"/>
                  </a:cubicBezTo>
                  <a:cubicBezTo>
                    <a:pt x="16022" y="5728"/>
                    <a:pt x="15985" y="5371"/>
                    <a:pt x="15924" y="5018"/>
                  </a:cubicBezTo>
                  <a:cubicBezTo>
                    <a:pt x="15759" y="4079"/>
                    <a:pt x="15690" y="4529"/>
                    <a:pt x="15317" y="5042"/>
                  </a:cubicBezTo>
                  <a:cubicBezTo>
                    <a:pt x="15183" y="5227"/>
                    <a:pt x="15058" y="5775"/>
                    <a:pt x="15034" y="6013"/>
                  </a:cubicBezTo>
                  <a:cubicBezTo>
                    <a:pt x="14984" y="6502"/>
                    <a:pt x="14940" y="7628"/>
                    <a:pt x="14375" y="7886"/>
                  </a:cubicBezTo>
                  <a:cubicBezTo>
                    <a:pt x="13846" y="8128"/>
                    <a:pt x="13658" y="7617"/>
                    <a:pt x="13271" y="7435"/>
                  </a:cubicBezTo>
                  <a:cubicBezTo>
                    <a:pt x="13079" y="7345"/>
                    <a:pt x="12495" y="6993"/>
                    <a:pt x="12357" y="6844"/>
                  </a:cubicBezTo>
                  <a:cubicBezTo>
                    <a:pt x="11909" y="6361"/>
                    <a:pt x="12379" y="6386"/>
                    <a:pt x="12379" y="5897"/>
                  </a:cubicBezTo>
                  <a:cubicBezTo>
                    <a:pt x="12379" y="5657"/>
                    <a:pt x="13041" y="5327"/>
                    <a:pt x="12893" y="5142"/>
                  </a:cubicBezTo>
                  <a:cubicBezTo>
                    <a:pt x="12638" y="4826"/>
                    <a:pt x="12410" y="5104"/>
                    <a:pt x="12118" y="5167"/>
                  </a:cubicBezTo>
                  <a:cubicBezTo>
                    <a:pt x="12073" y="5176"/>
                    <a:pt x="11507" y="4979"/>
                    <a:pt x="11456" y="4956"/>
                  </a:cubicBezTo>
                  <a:cubicBezTo>
                    <a:pt x="11258" y="4883"/>
                    <a:pt x="11085" y="4777"/>
                    <a:pt x="10936" y="4638"/>
                  </a:cubicBezTo>
                  <a:cubicBezTo>
                    <a:pt x="10808" y="4516"/>
                    <a:pt x="10485" y="4622"/>
                    <a:pt x="10582" y="4696"/>
                  </a:cubicBezTo>
                  <a:cubicBezTo>
                    <a:pt x="11287" y="5235"/>
                    <a:pt x="10445" y="4961"/>
                    <a:pt x="10047" y="5209"/>
                  </a:cubicBezTo>
                  <a:cubicBezTo>
                    <a:pt x="9664" y="5449"/>
                    <a:pt x="9179" y="6015"/>
                    <a:pt x="9314" y="6398"/>
                  </a:cubicBezTo>
                  <a:cubicBezTo>
                    <a:pt x="9371" y="6558"/>
                    <a:pt x="8566" y="6395"/>
                    <a:pt x="8566" y="6529"/>
                  </a:cubicBezTo>
                  <a:cubicBezTo>
                    <a:pt x="8531" y="5234"/>
                    <a:pt x="7201" y="6528"/>
                    <a:pt x="6847" y="6707"/>
                  </a:cubicBezTo>
                  <a:cubicBezTo>
                    <a:pt x="6570" y="6847"/>
                    <a:pt x="6760" y="7297"/>
                    <a:pt x="6430" y="7209"/>
                  </a:cubicBezTo>
                  <a:cubicBezTo>
                    <a:pt x="5937" y="7077"/>
                    <a:pt x="6342" y="7794"/>
                    <a:pt x="6208" y="7535"/>
                  </a:cubicBezTo>
                  <a:cubicBezTo>
                    <a:pt x="6184" y="7632"/>
                    <a:pt x="6160" y="7729"/>
                    <a:pt x="6135" y="7825"/>
                  </a:cubicBezTo>
                  <a:cubicBezTo>
                    <a:pt x="6054" y="7657"/>
                    <a:pt x="5985" y="7487"/>
                    <a:pt x="5914" y="7315"/>
                  </a:cubicBezTo>
                  <a:cubicBezTo>
                    <a:pt x="5873" y="7238"/>
                    <a:pt x="5208" y="8371"/>
                    <a:pt x="5154" y="8419"/>
                  </a:cubicBezTo>
                  <a:cubicBezTo>
                    <a:pt x="4695" y="8824"/>
                    <a:pt x="4672" y="9190"/>
                    <a:pt x="3820" y="9133"/>
                  </a:cubicBezTo>
                  <a:cubicBezTo>
                    <a:pt x="3705" y="9125"/>
                    <a:pt x="3316" y="9336"/>
                    <a:pt x="3212" y="9384"/>
                  </a:cubicBezTo>
                  <a:cubicBezTo>
                    <a:pt x="2904" y="9527"/>
                    <a:pt x="2613" y="9385"/>
                    <a:pt x="2350" y="9563"/>
                  </a:cubicBezTo>
                  <a:cubicBezTo>
                    <a:pt x="2074" y="9751"/>
                    <a:pt x="1515" y="10312"/>
                    <a:pt x="1214" y="10384"/>
                  </a:cubicBezTo>
                  <a:cubicBezTo>
                    <a:pt x="1097" y="10411"/>
                    <a:pt x="1127" y="9952"/>
                    <a:pt x="1118" y="10178"/>
                  </a:cubicBezTo>
                  <a:lnTo>
                    <a:pt x="1118" y="10178"/>
                  </a:lnTo>
                  <a:lnTo>
                    <a:pt x="1194" y="10178"/>
                  </a:lnTo>
                  <a:cubicBezTo>
                    <a:pt x="883" y="10178"/>
                    <a:pt x="1016" y="10855"/>
                    <a:pt x="856" y="11012"/>
                  </a:cubicBezTo>
                  <a:cubicBezTo>
                    <a:pt x="361" y="11497"/>
                    <a:pt x="1155" y="12018"/>
                    <a:pt x="820" y="12399"/>
                  </a:cubicBezTo>
                  <a:cubicBezTo>
                    <a:pt x="699" y="12536"/>
                    <a:pt x="536" y="11960"/>
                    <a:pt x="513" y="12066"/>
                  </a:cubicBezTo>
                  <a:cubicBezTo>
                    <a:pt x="514" y="12062"/>
                    <a:pt x="549" y="12342"/>
                    <a:pt x="465" y="12293"/>
                  </a:cubicBezTo>
                  <a:cubicBezTo>
                    <a:pt x="405" y="12258"/>
                    <a:pt x="370" y="12039"/>
                    <a:pt x="334" y="12030"/>
                  </a:cubicBezTo>
                  <a:cubicBezTo>
                    <a:pt x="424" y="12052"/>
                    <a:pt x="564" y="13355"/>
                    <a:pt x="640" y="13566"/>
                  </a:cubicBezTo>
                  <a:cubicBezTo>
                    <a:pt x="776" y="13948"/>
                    <a:pt x="561" y="14270"/>
                    <a:pt x="640" y="14640"/>
                  </a:cubicBezTo>
                  <a:cubicBezTo>
                    <a:pt x="747" y="15148"/>
                    <a:pt x="722" y="15468"/>
                    <a:pt x="458" y="15951"/>
                  </a:cubicBezTo>
                  <a:cubicBezTo>
                    <a:pt x="334" y="16180"/>
                    <a:pt x="56" y="16125"/>
                    <a:pt x="7" y="16277"/>
                  </a:cubicBezTo>
                  <a:cubicBezTo>
                    <a:pt x="-74" y="16533"/>
                    <a:pt x="511" y="16975"/>
                    <a:pt x="767" y="16949"/>
                  </a:cubicBezTo>
                  <a:cubicBezTo>
                    <a:pt x="1436" y="16881"/>
                    <a:pt x="1955" y="16336"/>
                    <a:pt x="2582" y="16311"/>
                  </a:cubicBezTo>
                  <a:cubicBezTo>
                    <a:pt x="2970" y="16295"/>
                    <a:pt x="3361" y="16353"/>
                    <a:pt x="3748" y="16338"/>
                  </a:cubicBezTo>
                  <a:cubicBezTo>
                    <a:pt x="4202" y="16322"/>
                    <a:pt x="4244" y="15862"/>
                    <a:pt x="4658" y="15792"/>
                  </a:cubicBezTo>
                  <a:cubicBezTo>
                    <a:pt x="5484" y="15654"/>
                    <a:pt x="6330" y="15193"/>
                    <a:pt x="7174" y="15152"/>
                  </a:cubicBezTo>
                  <a:cubicBezTo>
                    <a:pt x="7842" y="15118"/>
                    <a:pt x="8423" y="15247"/>
                    <a:pt x="9041" y="15506"/>
                  </a:cubicBezTo>
                  <a:cubicBezTo>
                    <a:pt x="9151" y="15552"/>
                    <a:pt x="9103" y="15862"/>
                    <a:pt x="9215" y="15989"/>
                  </a:cubicBezTo>
                  <a:cubicBezTo>
                    <a:pt x="9373" y="16166"/>
                    <a:pt x="9280" y="16704"/>
                    <a:pt x="9294" y="16895"/>
                  </a:cubicBezTo>
                  <a:cubicBezTo>
                    <a:pt x="9744" y="16511"/>
                    <a:pt x="10481" y="16247"/>
                    <a:pt x="10791" y="15743"/>
                  </a:cubicBezTo>
                  <a:cubicBezTo>
                    <a:pt x="10672" y="15935"/>
                    <a:pt x="10609" y="16166"/>
                    <a:pt x="10450" y="16380"/>
                  </a:cubicBezTo>
                  <a:cubicBezTo>
                    <a:pt x="10245" y="16658"/>
                    <a:pt x="9969" y="16812"/>
                    <a:pt x="9793" y="17054"/>
                  </a:cubicBezTo>
                  <a:cubicBezTo>
                    <a:pt x="10023" y="17069"/>
                    <a:pt x="10650" y="16543"/>
                    <a:pt x="10604" y="16524"/>
                  </a:cubicBezTo>
                  <a:cubicBezTo>
                    <a:pt x="10935" y="16663"/>
                    <a:pt x="10343" y="17138"/>
                    <a:pt x="10355" y="17217"/>
                  </a:cubicBezTo>
                  <a:cubicBezTo>
                    <a:pt x="10364" y="17277"/>
                    <a:pt x="10778" y="17209"/>
                    <a:pt x="10835" y="17418"/>
                  </a:cubicBezTo>
                  <a:cubicBezTo>
                    <a:pt x="10924" y="17735"/>
                    <a:pt x="10430" y="18217"/>
                    <a:pt x="10794" y="18457"/>
                  </a:cubicBezTo>
                  <a:cubicBezTo>
                    <a:pt x="11038" y="18617"/>
                    <a:pt x="11598" y="18832"/>
                    <a:pt x="11883" y="18879"/>
                  </a:cubicBezTo>
                  <a:cubicBezTo>
                    <a:pt x="11993" y="18897"/>
                    <a:pt x="12786" y="18418"/>
                    <a:pt x="12805" y="18490"/>
                  </a:cubicBezTo>
                  <a:cubicBezTo>
                    <a:pt x="12831" y="18588"/>
                    <a:pt x="12780" y="19001"/>
                    <a:pt x="13060" y="19024"/>
                  </a:cubicBezTo>
                  <a:cubicBezTo>
                    <a:pt x="13190" y="19036"/>
                    <a:pt x="13814" y="18599"/>
                    <a:pt x="13974" y="18534"/>
                  </a:cubicBezTo>
                  <a:cubicBezTo>
                    <a:pt x="14404" y="18360"/>
                    <a:pt x="14907" y="18467"/>
                    <a:pt x="15218" y="18114"/>
                  </a:cubicBezTo>
                  <a:cubicBezTo>
                    <a:pt x="15902" y="17337"/>
                    <a:pt x="16505" y="16291"/>
                    <a:pt x="17441" y="15754"/>
                  </a:cubicBezTo>
                  <a:cubicBezTo>
                    <a:pt x="17751" y="15577"/>
                    <a:pt x="18253" y="15097"/>
                    <a:pt x="18307" y="14745"/>
                  </a:cubicBezTo>
                  <a:cubicBezTo>
                    <a:pt x="18377" y="14291"/>
                    <a:pt x="19033" y="14017"/>
                    <a:pt x="19084" y="13563"/>
                  </a:cubicBezTo>
                  <a:cubicBezTo>
                    <a:pt x="19101" y="13406"/>
                    <a:pt x="18979" y="12964"/>
                    <a:pt x="19065" y="12849"/>
                  </a:cubicBezTo>
                  <a:cubicBezTo>
                    <a:pt x="19320" y="12510"/>
                    <a:pt x="19290" y="11971"/>
                    <a:pt x="19103" y="11614"/>
                  </a:cubicBezTo>
                  <a:cubicBezTo>
                    <a:pt x="19044" y="11501"/>
                    <a:pt x="19150" y="11703"/>
                    <a:pt x="19103" y="11614"/>
                  </a:cubicBezTo>
                  <a:close/>
                  <a:moveTo>
                    <a:pt x="15800" y="4444"/>
                  </a:moveTo>
                  <a:cubicBezTo>
                    <a:pt x="15809" y="4453"/>
                    <a:pt x="15761" y="4402"/>
                    <a:pt x="15800" y="4444"/>
                  </a:cubicBezTo>
                  <a:cubicBezTo>
                    <a:pt x="15800" y="4444"/>
                    <a:pt x="15800" y="4444"/>
                    <a:pt x="15800" y="4444"/>
                  </a:cubicBezTo>
                  <a:close/>
                  <a:moveTo>
                    <a:pt x="12961" y="19986"/>
                  </a:moveTo>
                  <a:cubicBezTo>
                    <a:pt x="12502" y="20038"/>
                    <a:pt x="11814" y="19592"/>
                    <a:pt x="11697" y="20225"/>
                  </a:cubicBezTo>
                  <a:cubicBezTo>
                    <a:pt x="11654" y="20463"/>
                    <a:pt x="11399" y="21102"/>
                    <a:pt x="11737" y="21256"/>
                  </a:cubicBezTo>
                  <a:cubicBezTo>
                    <a:pt x="12489" y="21600"/>
                    <a:pt x="13163" y="19850"/>
                    <a:pt x="13376" y="19873"/>
                  </a:cubicBezTo>
                  <a:cubicBezTo>
                    <a:pt x="13233" y="19896"/>
                    <a:pt x="13095" y="19934"/>
                    <a:pt x="12961" y="19986"/>
                  </a:cubicBezTo>
                  <a:cubicBezTo>
                    <a:pt x="12832" y="20001"/>
                    <a:pt x="13107" y="19970"/>
                    <a:pt x="12961" y="19986"/>
                  </a:cubicBezTo>
                  <a:close/>
                  <a:moveTo>
                    <a:pt x="19596" y="4380"/>
                  </a:moveTo>
                  <a:cubicBezTo>
                    <a:pt x="19063" y="4380"/>
                    <a:pt x="18133" y="3946"/>
                    <a:pt x="17879" y="3572"/>
                  </a:cubicBezTo>
                  <a:cubicBezTo>
                    <a:pt x="17402" y="3008"/>
                    <a:pt x="17105" y="2596"/>
                    <a:pt x="16321" y="3113"/>
                  </a:cubicBezTo>
                  <a:cubicBezTo>
                    <a:pt x="16648" y="3732"/>
                    <a:pt x="15403" y="3702"/>
                    <a:pt x="15051" y="3495"/>
                  </a:cubicBezTo>
                  <a:cubicBezTo>
                    <a:pt x="15134" y="3171"/>
                    <a:pt x="15298" y="2458"/>
                    <a:pt x="15008" y="2222"/>
                  </a:cubicBezTo>
                  <a:cubicBezTo>
                    <a:pt x="15402" y="1681"/>
                    <a:pt x="15220" y="646"/>
                    <a:pt x="15263" y="0"/>
                  </a:cubicBezTo>
                  <a:cubicBezTo>
                    <a:pt x="15561" y="34"/>
                    <a:pt x="17124" y="514"/>
                    <a:pt x="17185" y="775"/>
                  </a:cubicBezTo>
                  <a:cubicBezTo>
                    <a:pt x="17438" y="709"/>
                    <a:pt x="17882" y="1262"/>
                    <a:pt x="17752" y="1481"/>
                  </a:cubicBezTo>
                  <a:cubicBezTo>
                    <a:pt x="18163" y="1442"/>
                    <a:pt x="18795" y="1893"/>
                    <a:pt x="18686" y="2306"/>
                  </a:cubicBezTo>
                  <a:cubicBezTo>
                    <a:pt x="18541" y="2326"/>
                    <a:pt x="18392" y="2303"/>
                    <a:pt x="18250" y="2326"/>
                  </a:cubicBezTo>
                  <a:cubicBezTo>
                    <a:pt x="18305" y="2472"/>
                    <a:pt x="18867" y="3294"/>
                    <a:pt x="18927" y="3308"/>
                  </a:cubicBezTo>
                  <a:cubicBezTo>
                    <a:pt x="19111" y="3288"/>
                    <a:pt x="19291" y="3374"/>
                    <a:pt x="19195" y="3589"/>
                  </a:cubicBezTo>
                  <a:cubicBezTo>
                    <a:pt x="19473" y="3593"/>
                    <a:pt x="20184" y="4380"/>
                    <a:pt x="19596" y="4380"/>
                  </a:cubicBezTo>
                  <a:cubicBezTo>
                    <a:pt x="19480" y="4380"/>
                    <a:pt x="19626" y="4380"/>
                    <a:pt x="19596" y="438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900" dirty="0"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35" name="Shape 25918">
              <a:extLst>
                <a:ext uri="{FF2B5EF4-FFF2-40B4-BE49-F238E27FC236}">
                  <a16:creationId xmlns:a16="http://schemas.microsoft.com/office/drawing/2014/main" id="{11416BB6-56E1-EC02-5E26-3F358650DAC7}"/>
                </a:ext>
              </a:extLst>
            </p:cNvPr>
            <p:cNvSpPr/>
            <p:nvPr/>
          </p:nvSpPr>
          <p:spPr>
            <a:xfrm>
              <a:off x="1199130" y="4522421"/>
              <a:ext cx="5440950" cy="32358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6" h="21465" extrusionOk="0">
                  <a:moveTo>
                    <a:pt x="13469" y="3580"/>
                  </a:moveTo>
                  <a:cubicBezTo>
                    <a:pt x="13690" y="3383"/>
                    <a:pt x="13241" y="3198"/>
                    <a:pt x="13219" y="3654"/>
                  </a:cubicBezTo>
                  <a:cubicBezTo>
                    <a:pt x="13301" y="3647"/>
                    <a:pt x="13395" y="3646"/>
                    <a:pt x="13469" y="3580"/>
                  </a:cubicBezTo>
                  <a:cubicBezTo>
                    <a:pt x="13488" y="3563"/>
                    <a:pt x="13429" y="3616"/>
                    <a:pt x="13469" y="3580"/>
                  </a:cubicBezTo>
                  <a:close/>
                  <a:moveTo>
                    <a:pt x="11812" y="960"/>
                  </a:moveTo>
                  <a:cubicBezTo>
                    <a:pt x="11873" y="975"/>
                    <a:pt x="12398" y="1247"/>
                    <a:pt x="12369" y="928"/>
                  </a:cubicBezTo>
                  <a:cubicBezTo>
                    <a:pt x="12352" y="748"/>
                    <a:pt x="11916" y="805"/>
                    <a:pt x="11875" y="809"/>
                  </a:cubicBezTo>
                  <a:cubicBezTo>
                    <a:pt x="11884" y="836"/>
                    <a:pt x="11971" y="855"/>
                    <a:pt x="11950" y="900"/>
                  </a:cubicBezTo>
                  <a:cubicBezTo>
                    <a:pt x="11906" y="934"/>
                    <a:pt x="11860" y="954"/>
                    <a:pt x="11812" y="960"/>
                  </a:cubicBezTo>
                  <a:cubicBezTo>
                    <a:pt x="11855" y="970"/>
                    <a:pt x="11846" y="935"/>
                    <a:pt x="11812" y="960"/>
                  </a:cubicBezTo>
                  <a:close/>
                  <a:moveTo>
                    <a:pt x="11540" y="1517"/>
                  </a:moveTo>
                  <a:cubicBezTo>
                    <a:pt x="11523" y="1533"/>
                    <a:pt x="11515" y="1556"/>
                    <a:pt x="11513" y="1586"/>
                  </a:cubicBezTo>
                  <a:cubicBezTo>
                    <a:pt x="11538" y="1636"/>
                    <a:pt x="11761" y="1589"/>
                    <a:pt x="11799" y="1596"/>
                  </a:cubicBezTo>
                  <a:cubicBezTo>
                    <a:pt x="11765" y="1635"/>
                    <a:pt x="11679" y="1642"/>
                    <a:pt x="11690" y="1736"/>
                  </a:cubicBezTo>
                  <a:cubicBezTo>
                    <a:pt x="11831" y="1761"/>
                    <a:pt x="11923" y="1736"/>
                    <a:pt x="12042" y="1625"/>
                  </a:cubicBezTo>
                  <a:cubicBezTo>
                    <a:pt x="12061" y="1607"/>
                    <a:pt x="12223" y="1391"/>
                    <a:pt x="12222" y="1391"/>
                  </a:cubicBezTo>
                  <a:cubicBezTo>
                    <a:pt x="12126" y="1354"/>
                    <a:pt x="11952" y="1272"/>
                    <a:pt x="11858" y="1369"/>
                  </a:cubicBezTo>
                  <a:cubicBezTo>
                    <a:pt x="11884" y="1388"/>
                    <a:pt x="11887" y="1414"/>
                    <a:pt x="11867" y="1446"/>
                  </a:cubicBezTo>
                  <a:cubicBezTo>
                    <a:pt x="11799" y="1500"/>
                    <a:pt x="11752" y="1289"/>
                    <a:pt x="11704" y="1540"/>
                  </a:cubicBezTo>
                  <a:cubicBezTo>
                    <a:pt x="11678" y="1531"/>
                    <a:pt x="11511" y="1089"/>
                    <a:pt x="11476" y="1479"/>
                  </a:cubicBezTo>
                  <a:cubicBezTo>
                    <a:pt x="11501" y="1477"/>
                    <a:pt x="11546" y="1464"/>
                    <a:pt x="11540" y="1517"/>
                  </a:cubicBezTo>
                  <a:cubicBezTo>
                    <a:pt x="11536" y="1546"/>
                    <a:pt x="11546" y="1464"/>
                    <a:pt x="11540" y="1517"/>
                  </a:cubicBezTo>
                  <a:close/>
                  <a:moveTo>
                    <a:pt x="12343" y="1561"/>
                  </a:moveTo>
                  <a:cubicBezTo>
                    <a:pt x="12265" y="1570"/>
                    <a:pt x="12133" y="1594"/>
                    <a:pt x="12080" y="1710"/>
                  </a:cubicBezTo>
                  <a:cubicBezTo>
                    <a:pt x="12161" y="1774"/>
                    <a:pt x="12265" y="1833"/>
                    <a:pt x="12355" y="1780"/>
                  </a:cubicBezTo>
                  <a:cubicBezTo>
                    <a:pt x="12461" y="1718"/>
                    <a:pt x="12469" y="1547"/>
                    <a:pt x="12343" y="1561"/>
                  </a:cubicBezTo>
                  <a:cubicBezTo>
                    <a:pt x="12307" y="1565"/>
                    <a:pt x="12374" y="1558"/>
                    <a:pt x="12343" y="1561"/>
                  </a:cubicBezTo>
                  <a:close/>
                  <a:moveTo>
                    <a:pt x="12410" y="1343"/>
                  </a:moveTo>
                  <a:cubicBezTo>
                    <a:pt x="12467" y="1514"/>
                    <a:pt x="12652" y="1308"/>
                    <a:pt x="12689" y="1408"/>
                  </a:cubicBezTo>
                  <a:cubicBezTo>
                    <a:pt x="12756" y="1588"/>
                    <a:pt x="12564" y="1588"/>
                    <a:pt x="12560" y="1740"/>
                  </a:cubicBezTo>
                  <a:cubicBezTo>
                    <a:pt x="12559" y="1806"/>
                    <a:pt x="12970" y="1815"/>
                    <a:pt x="12882" y="1823"/>
                  </a:cubicBezTo>
                  <a:cubicBezTo>
                    <a:pt x="13030" y="1809"/>
                    <a:pt x="13368" y="1722"/>
                    <a:pt x="13506" y="1791"/>
                  </a:cubicBezTo>
                  <a:cubicBezTo>
                    <a:pt x="13589" y="1831"/>
                    <a:pt x="13984" y="1801"/>
                    <a:pt x="13919" y="1685"/>
                  </a:cubicBezTo>
                  <a:cubicBezTo>
                    <a:pt x="13920" y="1684"/>
                    <a:pt x="14003" y="1641"/>
                    <a:pt x="13980" y="1596"/>
                  </a:cubicBezTo>
                  <a:cubicBezTo>
                    <a:pt x="13771" y="1178"/>
                    <a:pt x="13157" y="1950"/>
                    <a:pt x="12958" y="1442"/>
                  </a:cubicBezTo>
                  <a:cubicBezTo>
                    <a:pt x="12992" y="1431"/>
                    <a:pt x="13058" y="1449"/>
                    <a:pt x="13081" y="1404"/>
                  </a:cubicBezTo>
                  <a:cubicBezTo>
                    <a:pt x="12885" y="1396"/>
                    <a:pt x="12527" y="1042"/>
                    <a:pt x="12348" y="1306"/>
                  </a:cubicBezTo>
                  <a:cubicBezTo>
                    <a:pt x="12378" y="1305"/>
                    <a:pt x="12395" y="1296"/>
                    <a:pt x="12410" y="1343"/>
                  </a:cubicBezTo>
                  <a:cubicBezTo>
                    <a:pt x="12442" y="1437"/>
                    <a:pt x="12395" y="1296"/>
                    <a:pt x="12410" y="1343"/>
                  </a:cubicBezTo>
                  <a:close/>
                  <a:moveTo>
                    <a:pt x="12979" y="817"/>
                  </a:moveTo>
                  <a:cubicBezTo>
                    <a:pt x="13039" y="880"/>
                    <a:pt x="13140" y="853"/>
                    <a:pt x="13207" y="852"/>
                  </a:cubicBezTo>
                  <a:cubicBezTo>
                    <a:pt x="13084" y="883"/>
                    <a:pt x="12938" y="1062"/>
                    <a:pt x="13163" y="1076"/>
                  </a:cubicBezTo>
                  <a:cubicBezTo>
                    <a:pt x="13377" y="1089"/>
                    <a:pt x="13572" y="1002"/>
                    <a:pt x="13782" y="958"/>
                  </a:cubicBezTo>
                  <a:cubicBezTo>
                    <a:pt x="13737" y="967"/>
                    <a:pt x="13584" y="986"/>
                    <a:pt x="13559" y="1099"/>
                  </a:cubicBezTo>
                  <a:cubicBezTo>
                    <a:pt x="13580" y="1003"/>
                    <a:pt x="13857" y="1306"/>
                    <a:pt x="13649" y="1256"/>
                  </a:cubicBezTo>
                  <a:cubicBezTo>
                    <a:pt x="13603" y="1244"/>
                    <a:pt x="13628" y="1137"/>
                    <a:pt x="13533" y="1140"/>
                  </a:cubicBezTo>
                  <a:cubicBezTo>
                    <a:pt x="13468" y="1141"/>
                    <a:pt x="13398" y="1300"/>
                    <a:pt x="13427" y="1300"/>
                  </a:cubicBezTo>
                  <a:cubicBezTo>
                    <a:pt x="13372" y="1300"/>
                    <a:pt x="13151" y="1319"/>
                    <a:pt x="13130" y="1438"/>
                  </a:cubicBezTo>
                  <a:cubicBezTo>
                    <a:pt x="13122" y="1478"/>
                    <a:pt x="13969" y="1488"/>
                    <a:pt x="13968" y="1499"/>
                  </a:cubicBezTo>
                  <a:cubicBezTo>
                    <a:pt x="13938" y="1648"/>
                    <a:pt x="14311" y="1463"/>
                    <a:pt x="14398" y="1368"/>
                  </a:cubicBezTo>
                  <a:cubicBezTo>
                    <a:pt x="14357" y="1353"/>
                    <a:pt x="14292" y="1384"/>
                    <a:pt x="14260" y="1341"/>
                  </a:cubicBezTo>
                  <a:cubicBezTo>
                    <a:pt x="14328" y="1202"/>
                    <a:pt x="14429" y="1318"/>
                    <a:pt x="14487" y="1150"/>
                  </a:cubicBezTo>
                  <a:cubicBezTo>
                    <a:pt x="14506" y="1095"/>
                    <a:pt x="14889" y="1042"/>
                    <a:pt x="14959" y="976"/>
                  </a:cubicBezTo>
                  <a:cubicBezTo>
                    <a:pt x="14946" y="967"/>
                    <a:pt x="14932" y="942"/>
                    <a:pt x="14913" y="938"/>
                  </a:cubicBezTo>
                  <a:cubicBezTo>
                    <a:pt x="15062" y="776"/>
                    <a:pt x="15306" y="784"/>
                    <a:pt x="15473" y="712"/>
                  </a:cubicBezTo>
                  <a:cubicBezTo>
                    <a:pt x="15689" y="619"/>
                    <a:pt x="15909" y="518"/>
                    <a:pt x="16130" y="463"/>
                  </a:cubicBezTo>
                  <a:cubicBezTo>
                    <a:pt x="16193" y="447"/>
                    <a:pt x="16764" y="265"/>
                    <a:pt x="16765" y="236"/>
                  </a:cubicBezTo>
                  <a:cubicBezTo>
                    <a:pt x="16780" y="-66"/>
                    <a:pt x="13963" y="274"/>
                    <a:pt x="13714" y="383"/>
                  </a:cubicBezTo>
                  <a:cubicBezTo>
                    <a:pt x="13768" y="359"/>
                    <a:pt x="13968" y="567"/>
                    <a:pt x="14046" y="575"/>
                  </a:cubicBezTo>
                  <a:cubicBezTo>
                    <a:pt x="14043" y="577"/>
                    <a:pt x="14036" y="582"/>
                    <a:pt x="14032" y="585"/>
                  </a:cubicBezTo>
                  <a:cubicBezTo>
                    <a:pt x="14084" y="583"/>
                    <a:pt x="14144" y="588"/>
                    <a:pt x="14191" y="615"/>
                  </a:cubicBezTo>
                  <a:cubicBezTo>
                    <a:pt x="14055" y="618"/>
                    <a:pt x="13967" y="761"/>
                    <a:pt x="13851" y="771"/>
                  </a:cubicBezTo>
                  <a:cubicBezTo>
                    <a:pt x="13991" y="759"/>
                    <a:pt x="13756" y="604"/>
                    <a:pt x="13742" y="599"/>
                  </a:cubicBezTo>
                  <a:cubicBezTo>
                    <a:pt x="13560" y="535"/>
                    <a:pt x="13514" y="377"/>
                    <a:pt x="13306" y="485"/>
                  </a:cubicBezTo>
                  <a:cubicBezTo>
                    <a:pt x="13258" y="510"/>
                    <a:pt x="12851" y="682"/>
                    <a:pt x="12979" y="817"/>
                  </a:cubicBezTo>
                  <a:cubicBezTo>
                    <a:pt x="13039" y="880"/>
                    <a:pt x="12960" y="797"/>
                    <a:pt x="12979" y="817"/>
                  </a:cubicBezTo>
                  <a:close/>
                  <a:moveTo>
                    <a:pt x="9956" y="1618"/>
                  </a:moveTo>
                  <a:cubicBezTo>
                    <a:pt x="9927" y="1633"/>
                    <a:pt x="9879" y="1633"/>
                    <a:pt x="9868" y="1692"/>
                  </a:cubicBezTo>
                  <a:cubicBezTo>
                    <a:pt x="10060" y="1776"/>
                    <a:pt x="10254" y="1701"/>
                    <a:pt x="10449" y="1719"/>
                  </a:cubicBezTo>
                  <a:cubicBezTo>
                    <a:pt x="10414" y="1846"/>
                    <a:pt x="10163" y="1702"/>
                    <a:pt x="10102" y="1839"/>
                  </a:cubicBezTo>
                  <a:cubicBezTo>
                    <a:pt x="10212" y="2004"/>
                    <a:pt x="11297" y="1629"/>
                    <a:pt x="11264" y="1523"/>
                  </a:cubicBezTo>
                  <a:cubicBezTo>
                    <a:pt x="11241" y="1448"/>
                    <a:pt x="11154" y="1519"/>
                    <a:pt x="11121" y="1520"/>
                  </a:cubicBezTo>
                  <a:cubicBezTo>
                    <a:pt x="11011" y="1524"/>
                    <a:pt x="11109" y="1406"/>
                    <a:pt x="11112" y="1336"/>
                  </a:cubicBezTo>
                  <a:cubicBezTo>
                    <a:pt x="11026" y="1349"/>
                    <a:pt x="10944" y="1421"/>
                    <a:pt x="10859" y="1426"/>
                  </a:cubicBezTo>
                  <a:cubicBezTo>
                    <a:pt x="10881" y="1445"/>
                    <a:pt x="10896" y="1473"/>
                    <a:pt x="10905" y="1509"/>
                  </a:cubicBezTo>
                  <a:cubicBezTo>
                    <a:pt x="10875" y="1530"/>
                    <a:pt x="10842" y="1541"/>
                    <a:pt x="10809" y="1541"/>
                  </a:cubicBezTo>
                  <a:cubicBezTo>
                    <a:pt x="10841" y="1552"/>
                    <a:pt x="10868" y="1578"/>
                    <a:pt x="10889" y="1621"/>
                  </a:cubicBezTo>
                  <a:cubicBezTo>
                    <a:pt x="10849" y="1635"/>
                    <a:pt x="10644" y="1653"/>
                    <a:pt x="10590" y="1617"/>
                  </a:cubicBezTo>
                  <a:cubicBezTo>
                    <a:pt x="10607" y="1602"/>
                    <a:pt x="10622" y="1580"/>
                    <a:pt x="10634" y="1552"/>
                  </a:cubicBezTo>
                  <a:cubicBezTo>
                    <a:pt x="10580" y="1475"/>
                    <a:pt x="10519" y="1438"/>
                    <a:pt x="10450" y="1441"/>
                  </a:cubicBezTo>
                  <a:cubicBezTo>
                    <a:pt x="10531" y="1424"/>
                    <a:pt x="10345" y="1416"/>
                    <a:pt x="10317" y="1424"/>
                  </a:cubicBezTo>
                  <a:cubicBezTo>
                    <a:pt x="10190" y="1463"/>
                    <a:pt x="10078" y="1555"/>
                    <a:pt x="9956" y="1618"/>
                  </a:cubicBezTo>
                  <a:cubicBezTo>
                    <a:pt x="9927" y="1633"/>
                    <a:pt x="9966" y="1613"/>
                    <a:pt x="9956" y="1618"/>
                  </a:cubicBezTo>
                  <a:close/>
                  <a:moveTo>
                    <a:pt x="9929" y="1543"/>
                  </a:moveTo>
                  <a:cubicBezTo>
                    <a:pt x="9974" y="1525"/>
                    <a:pt x="10014" y="1494"/>
                    <a:pt x="10050" y="1451"/>
                  </a:cubicBezTo>
                  <a:cubicBezTo>
                    <a:pt x="10045" y="1424"/>
                    <a:pt x="9794" y="1559"/>
                    <a:pt x="9801" y="1595"/>
                  </a:cubicBezTo>
                  <a:cubicBezTo>
                    <a:pt x="9845" y="1591"/>
                    <a:pt x="9888" y="1574"/>
                    <a:pt x="9929" y="1543"/>
                  </a:cubicBezTo>
                  <a:cubicBezTo>
                    <a:pt x="9998" y="1504"/>
                    <a:pt x="9860" y="1583"/>
                    <a:pt x="9929" y="1543"/>
                  </a:cubicBezTo>
                  <a:close/>
                  <a:moveTo>
                    <a:pt x="8458" y="2722"/>
                  </a:moveTo>
                  <a:cubicBezTo>
                    <a:pt x="8713" y="2649"/>
                    <a:pt x="8960" y="2539"/>
                    <a:pt x="9190" y="2343"/>
                  </a:cubicBezTo>
                  <a:cubicBezTo>
                    <a:pt x="9189" y="2344"/>
                    <a:pt x="9188" y="2345"/>
                    <a:pt x="9187" y="2346"/>
                  </a:cubicBezTo>
                  <a:cubicBezTo>
                    <a:pt x="9193" y="2361"/>
                    <a:pt x="9203" y="2377"/>
                    <a:pt x="9208" y="2394"/>
                  </a:cubicBezTo>
                  <a:cubicBezTo>
                    <a:pt x="9114" y="2398"/>
                    <a:pt x="9036" y="2443"/>
                    <a:pt x="8963" y="2542"/>
                  </a:cubicBezTo>
                  <a:cubicBezTo>
                    <a:pt x="9074" y="2554"/>
                    <a:pt x="9184" y="2585"/>
                    <a:pt x="9297" y="2599"/>
                  </a:cubicBezTo>
                  <a:cubicBezTo>
                    <a:pt x="9255" y="2594"/>
                    <a:pt x="8938" y="2715"/>
                    <a:pt x="8936" y="2706"/>
                  </a:cubicBezTo>
                  <a:cubicBezTo>
                    <a:pt x="8936" y="2741"/>
                    <a:pt x="8942" y="2774"/>
                    <a:pt x="8956" y="2805"/>
                  </a:cubicBezTo>
                  <a:cubicBezTo>
                    <a:pt x="9103" y="2745"/>
                    <a:pt x="9448" y="2691"/>
                    <a:pt x="9582" y="2849"/>
                  </a:cubicBezTo>
                  <a:cubicBezTo>
                    <a:pt x="9551" y="2913"/>
                    <a:pt x="8856" y="2882"/>
                    <a:pt x="8862" y="2949"/>
                  </a:cubicBezTo>
                  <a:cubicBezTo>
                    <a:pt x="8874" y="3176"/>
                    <a:pt x="9180" y="3102"/>
                    <a:pt x="9149" y="3199"/>
                  </a:cubicBezTo>
                  <a:cubicBezTo>
                    <a:pt x="9065" y="3472"/>
                    <a:pt x="9738" y="3231"/>
                    <a:pt x="9834" y="3203"/>
                  </a:cubicBezTo>
                  <a:cubicBezTo>
                    <a:pt x="9865" y="3194"/>
                    <a:pt x="10026" y="3043"/>
                    <a:pt x="10058" y="3095"/>
                  </a:cubicBezTo>
                  <a:cubicBezTo>
                    <a:pt x="10131" y="3210"/>
                    <a:pt x="10234" y="3208"/>
                    <a:pt x="10328" y="3224"/>
                  </a:cubicBezTo>
                  <a:cubicBezTo>
                    <a:pt x="10400" y="3254"/>
                    <a:pt x="10469" y="3241"/>
                    <a:pt x="10535" y="3183"/>
                  </a:cubicBezTo>
                  <a:cubicBezTo>
                    <a:pt x="10533" y="3091"/>
                    <a:pt x="10553" y="3026"/>
                    <a:pt x="10596" y="2990"/>
                  </a:cubicBezTo>
                  <a:cubicBezTo>
                    <a:pt x="10666" y="2990"/>
                    <a:pt x="10750" y="3100"/>
                    <a:pt x="10786" y="2926"/>
                  </a:cubicBezTo>
                  <a:cubicBezTo>
                    <a:pt x="10764" y="2916"/>
                    <a:pt x="10516" y="2683"/>
                    <a:pt x="10523" y="2679"/>
                  </a:cubicBezTo>
                  <a:cubicBezTo>
                    <a:pt x="10641" y="2630"/>
                    <a:pt x="10784" y="2190"/>
                    <a:pt x="10609" y="2151"/>
                  </a:cubicBezTo>
                  <a:cubicBezTo>
                    <a:pt x="10498" y="2126"/>
                    <a:pt x="10454" y="2148"/>
                    <a:pt x="10396" y="2332"/>
                  </a:cubicBezTo>
                  <a:cubicBezTo>
                    <a:pt x="10338" y="2519"/>
                    <a:pt x="10278" y="2435"/>
                    <a:pt x="10222" y="2522"/>
                  </a:cubicBezTo>
                  <a:cubicBezTo>
                    <a:pt x="10476" y="2095"/>
                    <a:pt x="10069" y="2345"/>
                    <a:pt x="10009" y="2333"/>
                  </a:cubicBezTo>
                  <a:cubicBezTo>
                    <a:pt x="10021" y="2307"/>
                    <a:pt x="10032" y="2281"/>
                    <a:pt x="10044" y="2255"/>
                  </a:cubicBezTo>
                  <a:cubicBezTo>
                    <a:pt x="10057" y="2163"/>
                    <a:pt x="9691" y="2285"/>
                    <a:pt x="9691" y="2285"/>
                  </a:cubicBezTo>
                  <a:cubicBezTo>
                    <a:pt x="9712" y="2219"/>
                    <a:pt x="9831" y="2217"/>
                    <a:pt x="9823" y="2128"/>
                  </a:cubicBezTo>
                  <a:cubicBezTo>
                    <a:pt x="9715" y="2115"/>
                    <a:pt x="9720" y="1894"/>
                    <a:pt x="9581" y="1939"/>
                  </a:cubicBezTo>
                  <a:cubicBezTo>
                    <a:pt x="9442" y="1983"/>
                    <a:pt x="9346" y="1886"/>
                    <a:pt x="9211" y="1897"/>
                  </a:cubicBezTo>
                  <a:cubicBezTo>
                    <a:pt x="9072" y="1909"/>
                    <a:pt x="8936" y="1863"/>
                    <a:pt x="8874" y="2049"/>
                  </a:cubicBezTo>
                  <a:cubicBezTo>
                    <a:pt x="8829" y="2186"/>
                    <a:pt x="8709" y="2205"/>
                    <a:pt x="8630" y="2247"/>
                  </a:cubicBezTo>
                  <a:cubicBezTo>
                    <a:pt x="8639" y="2268"/>
                    <a:pt x="8634" y="2283"/>
                    <a:pt x="8637" y="2305"/>
                  </a:cubicBezTo>
                  <a:cubicBezTo>
                    <a:pt x="8541" y="2315"/>
                    <a:pt x="8399" y="2404"/>
                    <a:pt x="8326" y="2501"/>
                  </a:cubicBezTo>
                  <a:cubicBezTo>
                    <a:pt x="8414" y="2519"/>
                    <a:pt x="8476" y="2553"/>
                    <a:pt x="8458" y="2722"/>
                  </a:cubicBezTo>
                  <a:cubicBezTo>
                    <a:pt x="8561" y="2693"/>
                    <a:pt x="8476" y="2553"/>
                    <a:pt x="8458" y="2722"/>
                  </a:cubicBezTo>
                  <a:close/>
                  <a:moveTo>
                    <a:pt x="10788" y="2920"/>
                  </a:moveTo>
                  <a:cubicBezTo>
                    <a:pt x="10788" y="2922"/>
                    <a:pt x="10787" y="2924"/>
                    <a:pt x="10786" y="2926"/>
                  </a:cubicBezTo>
                  <a:cubicBezTo>
                    <a:pt x="10787" y="2926"/>
                    <a:pt x="10788" y="2927"/>
                    <a:pt x="10788" y="2927"/>
                  </a:cubicBezTo>
                  <a:lnTo>
                    <a:pt x="10788" y="2920"/>
                  </a:lnTo>
                  <a:cubicBezTo>
                    <a:pt x="10788" y="2922"/>
                    <a:pt x="10788" y="2920"/>
                    <a:pt x="10788" y="2920"/>
                  </a:cubicBezTo>
                  <a:close/>
                  <a:moveTo>
                    <a:pt x="14845" y="3703"/>
                  </a:moveTo>
                  <a:cubicBezTo>
                    <a:pt x="14830" y="3644"/>
                    <a:pt x="14818" y="3583"/>
                    <a:pt x="14809" y="3521"/>
                  </a:cubicBezTo>
                  <a:cubicBezTo>
                    <a:pt x="14759" y="3396"/>
                    <a:pt x="14636" y="3491"/>
                    <a:pt x="14569" y="3423"/>
                  </a:cubicBezTo>
                  <a:cubicBezTo>
                    <a:pt x="14417" y="3268"/>
                    <a:pt x="14634" y="3177"/>
                    <a:pt x="14687" y="3172"/>
                  </a:cubicBezTo>
                  <a:cubicBezTo>
                    <a:pt x="14685" y="3065"/>
                    <a:pt x="14562" y="3082"/>
                    <a:pt x="14562" y="3077"/>
                  </a:cubicBezTo>
                  <a:cubicBezTo>
                    <a:pt x="14566" y="2987"/>
                    <a:pt x="14661" y="3020"/>
                    <a:pt x="14691" y="3017"/>
                  </a:cubicBezTo>
                  <a:cubicBezTo>
                    <a:pt x="14715" y="2752"/>
                    <a:pt x="14458" y="2797"/>
                    <a:pt x="14398" y="2674"/>
                  </a:cubicBezTo>
                  <a:cubicBezTo>
                    <a:pt x="14297" y="2466"/>
                    <a:pt x="14274" y="2638"/>
                    <a:pt x="14138" y="2603"/>
                  </a:cubicBezTo>
                  <a:cubicBezTo>
                    <a:pt x="14105" y="2594"/>
                    <a:pt x="14091" y="2278"/>
                    <a:pt x="13930" y="2278"/>
                  </a:cubicBezTo>
                  <a:cubicBezTo>
                    <a:pt x="14160" y="2286"/>
                    <a:pt x="13539" y="1693"/>
                    <a:pt x="13605" y="2213"/>
                  </a:cubicBezTo>
                  <a:cubicBezTo>
                    <a:pt x="13613" y="2280"/>
                    <a:pt x="13730" y="2294"/>
                    <a:pt x="13757" y="2284"/>
                  </a:cubicBezTo>
                  <a:cubicBezTo>
                    <a:pt x="13706" y="2303"/>
                    <a:pt x="13443" y="2317"/>
                    <a:pt x="13420" y="2417"/>
                  </a:cubicBezTo>
                  <a:cubicBezTo>
                    <a:pt x="13454" y="2272"/>
                    <a:pt x="13709" y="1960"/>
                    <a:pt x="13401" y="2025"/>
                  </a:cubicBezTo>
                  <a:cubicBezTo>
                    <a:pt x="13347" y="2036"/>
                    <a:pt x="12807" y="2150"/>
                    <a:pt x="12973" y="2372"/>
                  </a:cubicBezTo>
                  <a:cubicBezTo>
                    <a:pt x="12938" y="2360"/>
                    <a:pt x="12807" y="2406"/>
                    <a:pt x="12832" y="2524"/>
                  </a:cubicBezTo>
                  <a:cubicBezTo>
                    <a:pt x="12710" y="2551"/>
                    <a:pt x="12996" y="2011"/>
                    <a:pt x="13152" y="2009"/>
                  </a:cubicBezTo>
                  <a:cubicBezTo>
                    <a:pt x="12916" y="2012"/>
                    <a:pt x="12718" y="2051"/>
                    <a:pt x="12507" y="2247"/>
                  </a:cubicBezTo>
                  <a:cubicBezTo>
                    <a:pt x="12356" y="2388"/>
                    <a:pt x="12233" y="2628"/>
                    <a:pt x="12496" y="2640"/>
                  </a:cubicBezTo>
                  <a:cubicBezTo>
                    <a:pt x="12501" y="2651"/>
                    <a:pt x="12507" y="2672"/>
                    <a:pt x="12508" y="2684"/>
                  </a:cubicBezTo>
                  <a:cubicBezTo>
                    <a:pt x="12039" y="2720"/>
                    <a:pt x="12531" y="2917"/>
                    <a:pt x="12735" y="2949"/>
                  </a:cubicBezTo>
                  <a:cubicBezTo>
                    <a:pt x="12874" y="2971"/>
                    <a:pt x="13393" y="3167"/>
                    <a:pt x="13399" y="2806"/>
                  </a:cubicBezTo>
                  <a:cubicBezTo>
                    <a:pt x="13466" y="2814"/>
                    <a:pt x="13468" y="2945"/>
                    <a:pt x="13483" y="3002"/>
                  </a:cubicBezTo>
                  <a:cubicBezTo>
                    <a:pt x="13510" y="2983"/>
                    <a:pt x="13523" y="2978"/>
                    <a:pt x="13552" y="3004"/>
                  </a:cubicBezTo>
                  <a:cubicBezTo>
                    <a:pt x="13544" y="3015"/>
                    <a:pt x="13540" y="3024"/>
                    <a:pt x="13526" y="3022"/>
                  </a:cubicBezTo>
                  <a:cubicBezTo>
                    <a:pt x="13583" y="3103"/>
                    <a:pt x="13975" y="3558"/>
                    <a:pt x="13787" y="3676"/>
                  </a:cubicBezTo>
                  <a:cubicBezTo>
                    <a:pt x="13689" y="3737"/>
                    <a:pt x="13620" y="3857"/>
                    <a:pt x="13513" y="3899"/>
                  </a:cubicBezTo>
                  <a:cubicBezTo>
                    <a:pt x="13386" y="3949"/>
                    <a:pt x="13559" y="4129"/>
                    <a:pt x="13451" y="4130"/>
                  </a:cubicBezTo>
                  <a:cubicBezTo>
                    <a:pt x="13251" y="4132"/>
                    <a:pt x="13070" y="4129"/>
                    <a:pt x="12906" y="4244"/>
                  </a:cubicBezTo>
                  <a:cubicBezTo>
                    <a:pt x="12617" y="4449"/>
                    <a:pt x="13323" y="4431"/>
                    <a:pt x="13292" y="4325"/>
                  </a:cubicBezTo>
                  <a:cubicBezTo>
                    <a:pt x="13296" y="4354"/>
                    <a:pt x="13301" y="4384"/>
                    <a:pt x="13305" y="4414"/>
                  </a:cubicBezTo>
                  <a:cubicBezTo>
                    <a:pt x="13334" y="4386"/>
                    <a:pt x="13513" y="4535"/>
                    <a:pt x="13543" y="4612"/>
                  </a:cubicBezTo>
                  <a:cubicBezTo>
                    <a:pt x="13561" y="4658"/>
                    <a:pt x="13446" y="4615"/>
                    <a:pt x="13484" y="4762"/>
                  </a:cubicBezTo>
                  <a:cubicBezTo>
                    <a:pt x="13504" y="4844"/>
                    <a:pt x="13682" y="4932"/>
                    <a:pt x="13705" y="4822"/>
                  </a:cubicBezTo>
                  <a:cubicBezTo>
                    <a:pt x="13671" y="4983"/>
                    <a:pt x="13904" y="5050"/>
                    <a:pt x="13968" y="5073"/>
                  </a:cubicBezTo>
                  <a:cubicBezTo>
                    <a:pt x="14189" y="5151"/>
                    <a:pt x="13892" y="4680"/>
                    <a:pt x="13879" y="4622"/>
                  </a:cubicBezTo>
                  <a:cubicBezTo>
                    <a:pt x="14050" y="4744"/>
                    <a:pt x="14339" y="5017"/>
                    <a:pt x="14391" y="4535"/>
                  </a:cubicBezTo>
                  <a:cubicBezTo>
                    <a:pt x="14398" y="4469"/>
                    <a:pt x="14359" y="4290"/>
                    <a:pt x="14325" y="4275"/>
                  </a:cubicBezTo>
                  <a:cubicBezTo>
                    <a:pt x="14117" y="4185"/>
                    <a:pt x="14320" y="4031"/>
                    <a:pt x="14265" y="3892"/>
                  </a:cubicBezTo>
                  <a:cubicBezTo>
                    <a:pt x="14331" y="3906"/>
                    <a:pt x="14429" y="3807"/>
                    <a:pt x="14451" y="3995"/>
                  </a:cubicBezTo>
                  <a:cubicBezTo>
                    <a:pt x="14473" y="3993"/>
                    <a:pt x="14497" y="3999"/>
                    <a:pt x="14519" y="4006"/>
                  </a:cubicBezTo>
                  <a:cubicBezTo>
                    <a:pt x="14394" y="4217"/>
                    <a:pt x="14802" y="4398"/>
                    <a:pt x="14726" y="4048"/>
                  </a:cubicBezTo>
                  <a:cubicBezTo>
                    <a:pt x="14755" y="4180"/>
                    <a:pt x="14950" y="3962"/>
                    <a:pt x="14989" y="3922"/>
                  </a:cubicBezTo>
                  <a:cubicBezTo>
                    <a:pt x="15173" y="3728"/>
                    <a:pt x="14884" y="3767"/>
                    <a:pt x="14845" y="3703"/>
                  </a:cubicBezTo>
                  <a:cubicBezTo>
                    <a:pt x="14822" y="3666"/>
                    <a:pt x="14895" y="3785"/>
                    <a:pt x="14845" y="3703"/>
                  </a:cubicBezTo>
                  <a:close/>
                  <a:moveTo>
                    <a:pt x="14709" y="9160"/>
                  </a:moveTo>
                  <a:cubicBezTo>
                    <a:pt x="14617" y="9033"/>
                    <a:pt x="14757" y="8993"/>
                    <a:pt x="14735" y="8951"/>
                  </a:cubicBezTo>
                  <a:cubicBezTo>
                    <a:pt x="14705" y="8936"/>
                    <a:pt x="14678" y="8912"/>
                    <a:pt x="14654" y="8877"/>
                  </a:cubicBezTo>
                  <a:cubicBezTo>
                    <a:pt x="14645" y="8834"/>
                    <a:pt x="14712" y="8712"/>
                    <a:pt x="14720" y="8737"/>
                  </a:cubicBezTo>
                  <a:cubicBezTo>
                    <a:pt x="14673" y="8602"/>
                    <a:pt x="14427" y="8759"/>
                    <a:pt x="14423" y="8631"/>
                  </a:cubicBezTo>
                  <a:cubicBezTo>
                    <a:pt x="14420" y="8551"/>
                    <a:pt x="14494" y="8592"/>
                    <a:pt x="14491" y="8520"/>
                  </a:cubicBezTo>
                  <a:cubicBezTo>
                    <a:pt x="14489" y="8427"/>
                    <a:pt x="14265" y="8564"/>
                    <a:pt x="14263" y="8596"/>
                  </a:cubicBezTo>
                  <a:cubicBezTo>
                    <a:pt x="14276" y="8366"/>
                    <a:pt x="14607" y="8284"/>
                    <a:pt x="14588" y="8067"/>
                  </a:cubicBezTo>
                  <a:cubicBezTo>
                    <a:pt x="14565" y="8063"/>
                    <a:pt x="14543" y="8064"/>
                    <a:pt x="14521" y="8070"/>
                  </a:cubicBezTo>
                  <a:cubicBezTo>
                    <a:pt x="14776" y="7847"/>
                    <a:pt x="14659" y="7551"/>
                    <a:pt x="14538" y="7316"/>
                  </a:cubicBezTo>
                  <a:cubicBezTo>
                    <a:pt x="14743" y="7252"/>
                    <a:pt x="14251" y="6972"/>
                    <a:pt x="14256" y="6975"/>
                  </a:cubicBezTo>
                  <a:cubicBezTo>
                    <a:pt x="14276" y="6839"/>
                    <a:pt x="14185" y="6792"/>
                    <a:pt x="14146" y="6708"/>
                  </a:cubicBezTo>
                  <a:cubicBezTo>
                    <a:pt x="14293" y="6548"/>
                    <a:pt x="14221" y="6508"/>
                    <a:pt x="14189" y="6241"/>
                  </a:cubicBezTo>
                  <a:cubicBezTo>
                    <a:pt x="14155" y="6035"/>
                    <a:pt x="14161" y="5747"/>
                    <a:pt x="14078" y="5572"/>
                  </a:cubicBezTo>
                  <a:cubicBezTo>
                    <a:pt x="14009" y="5430"/>
                    <a:pt x="13720" y="5958"/>
                    <a:pt x="13655" y="6014"/>
                  </a:cubicBezTo>
                  <a:cubicBezTo>
                    <a:pt x="13467" y="6177"/>
                    <a:pt x="13538" y="5901"/>
                    <a:pt x="13365" y="5914"/>
                  </a:cubicBezTo>
                  <a:cubicBezTo>
                    <a:pt x="13393" y="5777"/>
                    <a:pt x="13582" y="5311"/>
                    <a:pt x="13382" y="5311"/>
                  </a:cubicBezTo>
                  <a:cubicBezTo>
                    <a:pt x="13337" y="5205"/>
                    <a:pt x="13181" y="4950"/>
                    <a:pt x="13074" y="4950"/>
                  </a:cubicBezTo>
                  <a:cubicBezTo>
                    <a:pt x="12932" y="4950"/>
                    <a:pt x="12559" y="4824"/>
                    <a:pt x="12498" y="5066"/>
                  </a:cubicBezTo>
                  <a:cubicBezTo>
                    <a:pt x="12436" y="5312"/>
                    <a:pt x="12366" y="5348"/>
                    <a:pt x="12232" y="5505"/>
                  </a:cubicBezTo>
                  <a:cubicBezTo>
                    <a:pt x="12278" y="5508"/>
                    <a:pt x="12342" y="5589"/>
                    <a:pt x="12376" y="5589"/>
                  </a:cubicBezTo>
                  <a:cubicBezTo>
                    <a:pt x="12386" y="5589"/>
                    <a:pt x="12082" y="5973"/>
                    <a:pt x="12079" y="5992"/>
                  </a:cubicBezTo>
                  <a:cubicBezTo>
                    <a:pt x="12065" y="6088"/>
                    <a:pt x="12148" y="6179"/>
                    <a:pt x="12170" y="6244"/>
                  </a:cubicBezTo>
                  <a:cubicBezTo>
                    <a:pt x="12230" y="6420"/>
                    <a:pt x="12126" y="6638"/>
                    <a:pt x="12052" y="6744"/>
                  </a:cubicBezTo>
                  <a:cubicBezTo>
                    <a:pt x="11913" y="6941"/>
                    <a:pt x="11636" y="6905"/>
                    <a:pt x="11529" y="7118"/>
                  </a:cubicBezTo>
                  <a:cubicBezTo>
                    <a:pt x="11488" y="7201"/>
                    <a:pt x="11474" y="7527"/>
                    <a:pt x="11462" y="7635"/>
                  </a:cubicBezTo>
                  <a:cubicBezTo>
                    <a:pt x="11441" y="7818"/>
                    <a:pt x="11395" y="7837"/>
                    <a:pt x="11343" y="7990"/>
                  </a:cubicBezTo>
                  <a:cubicBezTo>
                    <a:pt x="11289" y="7895"/>
                    <a:pt x="11238" y="8061"/>
                    <a:pt x="11184" y="8067"/>
                  </a:cubicBezTo>
                  <a:cubicBezTo>
                    <a:pt x="11057" y="8067"/>
                    <a:pt x="11066" y="7164"/>
                    <a:pt x="11251" y="7164"/>
                  </a:cubicBezTo>
                  <a:lnTo>
                    <a:pt x="11266" y="7164"/>
                  </a:lnTo>
                  <a:lnTo>
                    <a:pt x="11283" y="7016"/>
                  </a:lnTo>
                  <a:cubicBezTo>
                    <a:pt x="11094" y="6863"/>
                    <a:pt x="10853" y="6979"/>
                    <a:pt x="10681" y="6719"/>
                  </a:cubicBezTo>
                  <a:cubicBezTo>
                    <a:pt x="10511" y="6465"/>
                    <a:pt x="10435" y="6343"/>
                    <a:pt x="10189" y="6421"/>
                  </a:cubicBezTo>
                  <a:lnTo>
                    <a:pt x="10260" y="5959"/>
                  </a:lnTo>
                  <a:lnTo>
                    <a:pt x="10095" y="5959"/>
                  </a:lnTo>
                  <a:cubicBezTo>
                    <a:pt x="10151" y="5660"/>
                    <a:pt x="10333" y="5500"/>
                    <a:pt x="10477" y="5337"/>
                  </a:cubicBezTo>
                  <a:cubicBezTo>
                    <a:pt x="10523" y="5292"/>
                    <a:pt x="10894" y="4998"/>
                    <a:pt x="10896" y="4941"/>
                  </a:cubicBezTo>
                  <a:cubicBezTo>
                    <a:pt x="10959" y="4928"/>
                    <a:pt x="11163" y="4901"/>
                    <a:pt x="11122" y="4713"/>
                  </a:cubicBezTo>
                  <a:cubicBezTo>
                    <a:pt x="11227" y="4726"/>
                    <a:pt x="11873" y="4466"/>
                    <a:pt x="11831" y="4221"/>
                  </a:cubicBezTo>
                  <a:cubicBezTo>
                    <a:pt x="11864" y="4202"/>
                    <a:pt x="11899" y="4192"/>
                    <a:pt x="11931" y="4166"/>
                  </a:cubicBezTo>
                  <a:cubicBezTo>
                    <a:pt x="11885" y="4242"/>
                    <a:pt x="11632" y="4531"/>
                    <a:pt x="11610" y="4604"/>
                  </a:cubicBezTo>
                  <a:cubicBezTo>
                    <a:pt x="11666" y="4619"/>
                    <a:pt x="11731" y="4582"/>
                    <a:pt x="11790" y="4586"/>
                  </a:cubicBezTo>
                  <a:cubicBezTo>
                    <a:pt x="11799" y="4643"/>
                    <a:pt x="11765" y="4669"/>
                    <a:pt x="11764" y="4719"/>
                  </a:cubicBezTo>
                  <a:cubicBezTo>
                    <a:pt x="11882" y="4755"/>
                    <a:pt x="12100" y="4427"/>
                    <a:pt x="12194" y="4524"/>
                  </a:cubicBezTo>
                  <a:cubicBezTo>
                    <a:pt x="12189" y="4519"/>
                    <a:pt x="12517" y="4797"/>
                    <a:pt x="12468" y="4545"/>
                  </a:cubicBezTo>
                  <a:cubicBezTo>
                    <a:pt x="12458" y="4494"/>
                    <a:pt x="12362" y="4471"/>
                    <a:pt x="12346" y="4511"/>
                  </a:cubicBezTo>
                  <a:cubicBezTo>
                    <a:pt x="12443" y="4268"/>
                    <a:pt x="12176" y="4299"/>
                    <a:pt x="12160" y="4129"/>
                  </a:cubicBezTo>
                  <a:cubicBezTo>
                    <a:pt x="12135" y="4142"/>
                    <a:pt x="12110" y="4155"/>
                    <a:pt x="12086" y="4168"/>
                  </a:cubicBezTo>
                  <a:cubicBezTo>
                    <a:pt x="12088" y="4121"/>
                    <a:pt x="12095" y="4077"/>
                    <a:pt x="12108" y="4035"/>
                  </a:cubicBezTo>
                  <a:cubicBezTo>
                    <a:pt x="12091" y="4025"/>
                    <a:pt x="12073" y="4026"/>
                    <a:pt x="12055" y="4033"/>
                  </a:cubicBezTo>
                  <a:cubicBezTo>
                    <a:pt x="12064" y="4008"/>
                    <a:pt x="12065" y="3982"/>
                    <a:pt x="12058" y="3954"/>
                  </a:cubicBezTo>
                  <a:cubicBezTo>
                    <a:pt x="12123" y="3937"/>
                    <a:pt x="12112" y="4012"/>
                    <a:pt x="12172" y="4034"/>
                  </a:cubicBezTo>
                  <a:cubicBezTo>
                    <a:pt x="12209" y="4153"/>
                    <a:pt x="12359" y="4254"/>
                    <a:pt x="12315" y="4049"/>
                  </a:cubicBezTo>
                  <a:cubicBezTo>
                    <a:pt x="12331" y="4043"/>
                    <a:pt x="12343" y="4028"/>
                    <a:pt x="12350" y="4004"/>
                  </a:cubicBezTo>
                  <a:cubicBezTo>
                    <a:pt x="12448" y="4054"/>
                    <a:pt x="12868" y="3767"/>
                    <a:pt x="12772" y="3542"/>
                  </a:cubicBezTo>
                  <a:lnTo>
                    <a:pt x="12798" y="3528"/>
                  </a:lnTo>
                  <a:cubicBezTo>
                    <a:pt x="12795" y="3501"/>
                    <a:pt x="12790" y="3469"/>
                    <a:pt x="12782" y="3445"/>
                  </a:cubicBezTo>
                  <a:cubicBezTo>
                    <a:pt x="12837" y="3455"/>
                    <a:pt x="12967" y="3438"/>
                    <a:pt x="12958" y="3307"/>
                  </a:cubicBezTo>
                  <a:cubicBezTo>
                    <a:pt x="12957" y="3286"/>
                    <a:pt x="12912" y="3085"/>
                    <a:pt x="12912" y="3127"/>
                  </a:cubicBezTo>
                  <a:cubicBezTo>
                    <a:pt x="12847" y="2986"/>
                    <a:pt x="12622" y="2945"/>
                    <a:pt x="12525" y="3031"/>
                  </a:cubicBezTo>
                  <a:cubicBezTo>
                    <a:pt x="12489" y="3062"/>
                    <a:pt x="12429" y="3255"/>
                    <a:pt x="12447" y="3255"/>
                  </a:cubicBezTo>
                  <a:cubicBezTo>
                    <a:pt x="12403" y="3310"/>
                    <a:pt x="12326" y="3392"/>
                    <a:pt x="12276" y="3456"/>
                  </a:cubicBezTo>
                  <a:cubicBezTo>
                    <a:pt x="12218" y="3448"/>
                    <a:pt x="12089" y="3491"/>
                    <a:pt x="12104" y="3620"/>
                  </a:cubicBezTo>
                  <a:cubicBezTo>
                    <a:pt x="11972" y="3754"/>
                    <a:pt x="12055" y="3511"/>
                    <a:pt x="12053" y="3550"/>
                  </a:cubicBezTo>
                  <a:cubicBezTo>
                    <a:pt x="12194" y="3550"/>
                    <a:pt x="12175" y="2901"/>
                    <a:pt x="11880" y="3290"/>
                  </a:cubicBezTo>
                  <a:cubicBezTo>
                    <a:pt x="11885" y="3266"/>
                    <a:pt x="11886" y="3242"/>
                    <a:pt x="11883" y="3218"/>
                  </a:cubicBezTo>
                  <a:cubicBezTo>
                    <a:pt x="11937" y="3192"/>
                    <a:pt x="11962" y="3160"/>
                    <a:pt x="11962" y="3116"/>
                  </a:cubicBezTo>
                  <a:cubicBezTo>
                    <a:pt x="11960" y="3072"/>
                    <a:pt x="11940" y="3025"/>
                    <a:pt x="11890" y="3023"/>
                  </a:cubicBezTo>
                  <a:cubicBezTo>
                    <a:pt x="11973" y="2946"/>
                    <a:pt x="11928" y="2887"/>
                    <a:pt x="11897" y="2792"/>
                  </a:cubicBezTo>
                  <a:cubicBezTo>
                    <a:pt x="11923" y="2686"/>
                    <a:pt x="11966" y="2648"/>
                    <a:pt x="11896" y="2538"/>
                  </a:cubicBezTo>
                  <a:cubicBezTo>
                    <a:pt x="12155" y="2423"/>
                    <a:pt x="12414" y="2194"/>
                    <a:pt x="12683" y="2064"/>
                  </a:cubicBezTo>
                  <a:cubicBezTo>
                    <a:pt x="12497" y="1923"/>
                    <a:pt x="12275" y="1832"/>
                    <a:pt x="12074" y="1942"/>
                  </a:cubicBezTo>
                  <a:cubicBezTo>
                    <a:pt x="11870" y="2053"/>
                    <a:pt x="11809" y="2410"/>
                    <a:pt x="11617" y="2516"/>
                  </a:cubicBezTo>
                  <a:cubicBezTo>
                    <a:pt x="11637" y="2485"/>
                    <a:pt x="11711" y="2388"/>
                    <a:pt x="11713" y="2336"/>
                  </a:cubicBezTo>
                  <a:cubicBezTo>
                    <a:pt x="11702" y="2340"/>
                    <a:pt x="11686" y="2329"/>
                    <a:pt x="11677" y="2329"/>
                  </a:cubicBezTo>
                  <a:cubicBezTo>
                    <a:pt x="11686" y="2307"/>
                    <a:pt x="11682" y="2293"/>
                    <a:pt x="11685" y="2269"/>
                  </a:cubicBezTo>
                  <a:cubicBezTo>
                    <a:pt x="11662" y="2273"/>
                    <a:pt x="11644" y="2265"/>
                    <a:pt x="11630" y="2243"/>
                  </a:cubicBezTo>
                  <a:cubicBezTo>
                    <a:pt x="11658" y="2212"/>
                    <a:pt x="11851" y="2141"/>
                    <a:pt x="11835" y="2053"/>
                  </a:cubicBezTo>
                  <a:cubicBezTo>
                    <a:pt x="11814" y="1936"/>
                    <a:pt x="11510" y="2066"/>
                    <a:pt x="11468" y="2073"/>
                  </a:cubicBezTo>
                  <a:cubicBezTo>
                    <a:pt x="11212" y="2115"/>
                    <a:pt x="11441" y="2211"/>
                    <a:pt x="11298" y="2321"/>
                  </a:cubicBezTo>
                  <a:cubicBezTo>
                    <a:pt x="11252" y="2357"/>
                    <a:pt x="11067" y="2097"/>
                    <a:pt x="11074" y="2352"/>
                  </a:cubicBezTo>
                  <a:cubicBezTo>
                    <a:pt x="11077" y="2447"/>
                    <a:pt x="11215" y="2513"/>
                    <a:pt x="11244" y="2664"/>
                  </a:cubicBezTo>
                  <a:cubicBezTo>
                    <a:pt x="11346" y="2689"/>
                    <a:pt x="11433" y="2586"/>
                    <a:pt x="11533" y="2565"/>
                  </a:cubicBezTo>
                  <a:cubicBezTo>
                    <a:pt x="11355" y="2678"/>
                    <a:pt x="11253" y="2955"/>
                    <a:pt x="11404" y="3165"/>
                  </a:cubicBezTo>
                  <a:cubicBezTo>
                    <a:pt x="11351" y="3210"/>
                    <a:pt x="11314" y="3245"/>
                    <a:pt x="11310" y="3351"/>
                  </a:cubicBezTo>
                  <a:lnTo>
                    <a:pt x="11336" y="3364"/>
                  </a:lnTo>
                  <a:cubicBezTo>
                    <a:pt x="11179" y="3430"/>
                    <a:pt x="11147" y="3493"/>
                    <a:pt x="11033" y="3630"/>
                  </a:cubicBezTo>
                  <a:cubicBezTo>
                    <a:pt x="11033" y="3630"/>
                    <a:pt x="11033" y="3630"/>
                    <a:pt x="11033" y="3630"/>
                  </a:cubicBezTo>
                  <a:cubicBezTo>
                    <a:pt x="11061" y="3545"/>
                    <a:pt x="11117" y="3452"/>
                    <a:pt x="11050" y="3363"/>
                  </a:cubicBezTo>
                  <a:cubicBezTo>
                    <a:pt x="11125" y="3368"/>
                    <a:pt x="11195" y="3337"/>
                    <a:pt x="11259" y="3272"/>
                  </a:cubicBezTo>
                  <a:cubicBezTo>
                    <a:pt x="11272" y="3258"/>
                    <a:pt x="11117" y="3018"/>
                    <a:pt x="11091" y="3018"/>
                  </a:cubicBezTo>
                  <a:cubicBezTo>
                    <a:pt x="11053" y="3018"/>
                    <a:pt x="10830" y="3190"/>
                    <a:pt x="10806" y="3256"/>
                  </a:cubicBezTo>
                  <a:cubicBezTo>
                    <a:pt x="10845" y="3272"/>
                    <a:pt x="10884" y="3290"/>
                    <a:pt x="10923" y="3309"/>
                  </a:cubicBezTo>
                  <a:cubicBezTo>
                    <a:pt x="10787" y="3310"/>
                    <a:pt x="10724" y="3477"/>
                    <a:pt x="10581" y="3471"/>
                  </a:cubicBezTo>
                  <a:cubicBezTo>
                    <a:pt x="10453" y="3498"/>
                    <a:pt x="10173" y="3554"/>
                    <a:pt x="10078" y="3374"/>
                  </a:cubicBezTo>
                  <a:cubicBezTo>
                    <a:pt x="10185" y="3130"/>
                    <a:pt x="9473" y="3169"/>
                    <a:pt x="9617" y="3516"/>
                  </a:cubicBezTo>
                  <a:cubicBezTo>
                    <a:pt x="9529" y="3631"/>
                    <a:pt x="9460" y="3480"/>
                    <a:pt x="9368" y="3462"/>
                  </a:cubicBezTo>
                  <a:cubicBezTo>
                    <a:pt x="9213" y="3481"/>
                    <a:pt x="9060" y="3554"/>
                    <a:pt x="8904" y="3532"/>
                  </a:cubicBezTo>
                  <a:cubicBezTo>
                    <a:pt x="9137" y="3401"/>
                    <a:pt x="9054" y="3181"/>
                    <a:pt x="8833" y="3214"/>
                  </a:cubicBezTo>
                  <a:cubicBezTo>
                    <a:pt x="8716" y="3230"/>
                    <a:pt x="8605" y="3153"/>
                    <a:pt x="8498" y="3083"/>
                  </a:cubicBezTo>
                  <a:cubicBezTo>
                    <a:pt x="8301" y="2955"/>
                    <a:pt x="8276" y="3049"/>
                    <a:pt x="8098" y="3063"/>
                  </a:cubicBezTo>
                  <a:cubicBezTo>
                    <a:pt x="8243" y="2744"/>
                    <a:pt x="7844" y="3070"/>
                    <a:pt x="7824" y="3072"/>
                  </a:cubicBezTo>
                  <a:cubicBezTo>
                    <a:pt x="7802" y="3026"/>
                    <a:pt x="7857" y="2925"/>
                    <a:pt x="7822" y="2862"/>
                  </a:cubicBezTo>
                  <a:cubicBezTo>
                    <a:pt x="7765" y="2758"/>
                    <a:pt x="7615" y="2889"/>
                    <a:pt x="7553" y="2920"/>
                  </a:cubicBezTo>
                  <a:cubicBezTo>
                    <a:pt x="7482" y="2703"/>
                    <a:pt x="7200" y="3025"/>
                    <a:pt x="7120" y="3025"/>
                  </a:cubicBezTo>
                  <a:cubicBezTo>
                    <a:pt x="7038" y="3025"/>
                    <a:pt x="6962" y="3004"/>
                    <a:pt x="6879" y="3011"/>
                  </a:cubicBezTo>
                  <a:cubicBezTo>
                    <a:pt x="6761" y="3020"/>
                    <a:pt x="6643" y="3147"/>
                    <a:pt x="6540" y="3158"/>
                  </a:cubicBezTo>
                  <a:cubicBezTo>
                    <a:pt x="6435" y="3288"/>
                    <a:pt x="6241" y="2969"/>
                    <a:pt x="6102" y="3002"/>
                  </a:cubicBezTo>
                  <a:cubicBezTo>
                    <a:pt x="5987" y="2699"/>
                    <a:pt x="5301" y="2658"/>
                    <a:pt x="5108" y="2660"/>
                  </a:cubicBezTo>
                  <a:lnTo>
                    <a:pt x="5166" y="2595"/>
                  </a:lnTo>
                  <a:cubicBezTo>
                    <a:pt x="4385" y="2334"/>
                    <a:pt x="3526" y="2801"/>
                    <a:pt x="2781" y="3187"/>
                  </a:cubicBezTo>
                  <a:cubicBezTo>
                    <a:pt x="2790" y="3245"/>
                    <a:pt x="2794" y="3305"/>
                    <a:pt x="2794" y="3364"/>
                  </a:cubicBezTo>
                  <a:cubicBezTo>
                    <a:pt x="2821" y="3360"/>
                    <a:pt x="2846" y="3381"/>
                    <a:pt x="2861" y="3411"/>
                  </a:cubicBezTo>
                  <a:cubicBezTo>
                    <a:pt x="2895" y="3481"/>
                    <a:pt x="2847" y="3560"/>
                    <a:pt x="2808" y="3586"/>
                  </a:cubicBezTo>
                  <a:cubicBezTo>
                    <a:pt x="2807" y="3616"/>
                    <a:pt x="2818" y="3636"/>
                    <a:pt x="2843" y="3646"/>
                  </a:cubicBezTo>
                  <a:cubicBezTo>
                    <a:pt x="2669" y="3610"/>
                    <a:pt x="2511" y="3697"/>
                    <a:pt x="2346" y="3775"/>
                  </a:cubicBezTo>
                  <a:cubicBezTo>
                    <a:pt x="2313" y="3790"/>
                    <a:pt x="1788" y="3962"/>
                    <a:pt x="2020" y="4078"/>
                  </a:cubicBezTo>
                  <a:cubicBezTo>
                    <a:pt x="1791" y="4457"/>
                    <a:pt x="2405" y="4349"/>
                    <a:pt x="2510" y="4285"/>
                  </a:cubicBezTo>
                  <a:cubicBezTo>
                    <a:pt x="2433" y="4611"/>
                    <a:pt x="1900" y="4586"/>
                    <a:pt x="1737" y="4688"/>
                  </a:cubicBezTo>
                  <a:cubicBezTo>
                    <a:pt x="1610" y="4807"/>
                    <a:pt x="1325" y="4847"/>
                    <a:pt x="1294" y="5135"/>
                  </a:cubicBezTo>
                  <a:cubicBezTo>
                    <a:pt x="1271" y="5347"/>
                    <a:pt x="1078" y="5786"/>
                    <a:pt x="1423" y="5569"/>
                  </a:cubicBezTo>
                  <a:cubicBezTo>
                    <a:pt x="1382" y="5665"/>
                    <a:pt x="1288" y="5766"/>
                    <a:pt x="1232" y="5830"/>
                  </a:cubicBezTo>
                  <a:lnTo>
                    <a:pt x="1247" y="5941"/>
                  </a:lnTo>
                  <a:cubicBezTo>
                    <a:pt x="1305" y="5949"/>
                    <a:pt x="1373" y="5942"/>
                    <a:pt x="1427" y="5909"/>
                  </a:cubicBezTo>
                  <a:cubicBezTo>
                    <a:pt x="1582" y="5813"/>
                    <a:pt x="1505" y="5986"/>
                    <a:pt x="1616" y="6015"/>
                  </a:cubicBezTo>
                  <a:cubicBezTo>
                    <a:pt x="1625" y="6015"/>
                    <a:pt x="1632" y="6012"/>
                    <a:pt x="1639" y="6008"/>
                  </a:cubicBezTo>
                  <a:cubicBezTo>
                    <a:pt x="1268" y="6350"/>
                    <a:pt x="877" y="6521"/>
                    <a:pt x="478" y="6743"/>
                  </a:cubicBezTo>
                  <a:cubicBezTo>
                    <a:pt x="343" y="6818"/>
                    <a:pt x="175" y="6809"/>
                    <a:pt x="54" y="6949"/>
                  </a:cubicBezTo>
                  <a:cubicBezTo>
                    <a:pt x="-154" y="7190"/>
                    <a:pt x="297" y="7025"/>
                    <a:pt x="344" y="7001"/>
                  </a:cubicBezTo>
                  <a:cubicBezTo>
                    <a:pt x="703" y="6820"/>
                    <a:pt x="1068" y="6689"/>
                    <a:pt x="1424" y="6508"/>
                  </a:cubicBezTo>
                  <a:cubicBezTo>
                    <a:pt x="1621" y="6408"/>
                    <a:pt x="2420" y="6068"/>
                    <a:pt x="2420" y="5738"/>
                  </a:cubicBezTo>
                  <a:cubicBezTo>
                    <a:pt x="2564" y="5669"/>
                    <a:pt x="2545" y="5757"/>
                    <a:pt x="2664" y="5770"/>
                  </a:cubicBezTo>
                  <a:cubicBezTo>
                    <a:pt x="2775" y="5884"/>
                    <a:pt x="2982" y="5669"/>
                    <a:pt x="3099" y="5636"/>
                  </a:cubicBezTo>
                  <a:cubicBezTo>
                    <a:pt x="3270" y="5586"/>
                    <a:pt x="3354" y="5471"/>
                    <a:pt x="3497" y="5332"/>
                  </a:cubicBezTo>
                  <a:cubicBezTo>
                    <a:pt x="3592" y="5239"/>
                    <a:pt x="3675" y="5420"/>
                    <a:pt x="3762" y="5453"/>
                  </a:cubicBezTo>
                  <a:cubicBezTo>
                    <a:pt x="3787" y="5623"/>
                    <a:pt x="4109" y="5610"/>
                    <a:pt x="4206" y="5651"/>
                  </a:cubicBezTo>
                  <a:cubicBezTo>
                    <a:pt x="4425" y="5745"/>
                    <a:pt x="4511" y="6181"/>
                    <a:pt x="4283" y="6388"/>
                  </a:cubicBezTo>
                  <a:cubicBezTo>
                    <a:pt x="4312" y="6399"/>
                    <a:pt x="4341" y="6409"/>
                    <a:pt x="4370" y="6418"/>
                  </a:cubicBezTo>
                  <a:cubicBezTo>
                    <a:pt x="4406" y="6521"/>
                    <a:pt x="4318" y="6634"/>
                    <a:pt x="4422" y="6661"/>
                  </a:cubicBezTo>
                  <a:cubicBezTo>
                    <a:pt x="4430" y="6629"/>
                    <a:pt x="4441" y="6599"/>
                    <a:pt x="4455" y="6573"/>
                  </a:cubicBezTo>
                  <a:cubicBezTo>
                    <a:pt x="4440" y="6630"/>
                    <a:pt x="4444" y="6678"/>
                    <a:pt x="4466" y="6718"/>
                  </a:cubicBezTo>
                  <a:cubicBezTo>
                    <a:pt x="4402" y="6900"/>
                    <a:pt x="4481" y="7268"/>
                    <a:pt x="4600" y="6983"/>
                  </a:cubicBezTo>
                  <a:cubicBezTo>
                    <a:pt x="4616" y="7025"/>
                    <a:pt x="4647" y="7029"/>
                    <a:pt x="4668" y="7000"/>
                  </a:cubicBezTo>
                  <a:cubicBezTo>
                    <a:pt x="4695" y="7165"/>
                    <a:pt x="4383" y="7512"/>
                    <a:pt x="4572" y="7612"/>
                  </a:cubicBezTo>
                  <a:cubicBezTo>
                    <a:pt x="4561" y="7639"/>
                    <a:pt x="4537" y="8189"/>
                    <a:pt x="4549" y="8218"/>
                  </a:cubicBezTo>
                  <a:cubicBezTo>
                    <a:pt x="4218" y="8052"/>
                    <a:pt x="4499" y="8766"/>
                    <a:pt x="4612" y="8908"/>
                  </a:cubicBezTo>
                  <a:cubicBezTo>
                    <a:pt x="4469" y="9248"/>
                    <a:pt x="4405" y="9703"/>
                    <a:pt x="4249" y="10060"/>
                  </a:cubicBezTo>
                  <a:cubicBezTo>
                    <a:pt x="4231" y="10103"/>
                    <a:pt x="3863" y="10724"/>
                    <a:pt x="3931" y="10838"/>
                  </a:cubicBezTo>
                  <a:cubicBezTo>
                    <a:pt x="3904" y="10875"/>
                    <a:pt x="3884" y="11006"/>
                    <a:pt x="3866" y="11057"/>
                  </a:cubicBezTo>
                  <a:lnTo>
                    <a:pt x="3907" y="11057"/>
                  </a:lnTo>
                  <a:cubicBezTo>
                    <a:pt x="3683" y="11057"/>
                    <a:pt x="3673" y="12226"/>
                    <a:pt x="3784" y="12411"/>
                  </a:cubicBezTo>
                  <a:cubicBezTo>
                    <a:pt x="3713" y="12506"/>
                    <a:pt x="3776" y="12866"/>
                    <a:pt x="3821" y="12952"/>
                  </a:cubicBezTo>
                  <a:cubicBezTo>
                    <a:pt x="3779" y="13102"/>
                    <a:pt x="3952" y="13349"/>
                    <a:pt x="4063" y="13322"/>
                  </a:cubicBezTo>
                  <a:cubicBezTo>
                    <a:pt x="4060" y="13338"/>
                    <a:pt x="4058" y="13354"/>
                    <a:pt x="4057" y="13370"/>
                  </a:cubicBezTo>
                  <a:lnTo>
                    <a:pt x="4087" y="13380"/>
                  </a:lnTo>
                  <a:lnTo>
                    <a:pt x="4093" y="13414"/>
                  </a:lnTo>
                  <a:cubicBezTo>
                    <a:pt x="4290" y="13490"/>
                    <a:pt x="4102" y="14174"/>
                    <a:pt x="4227" y="14378"/>
                  </a:cubicBezTo>
                  <a:cubicBezTo>
                    <a:pt x="4190" y="14488"/>
                    <a:pt x="4544" y="15231"/>
                    <a:pt x="4228" y="15052"/>
                  </a:cubicBezTo>
                  <a:cubicBezTo>
                    <a:pt x="4228" y="15090"/>
                    <a:pt x="4220" y="15124"/>
                    <a:pt x="4204" y="15151"/>
                  </a:cubicBezTo>
                  <a:cubicBezTo>
                    <a:pt x="4266" y="15264"/>
                    <a:pt x="4305" y="15363"/>
                    <a:pt x="4335" y="15505"/>
                  </a:cubicBezTo>
                  <a:lnTo>
                    <a:pt x="4346" y="15505"/>
                  </a:lnTo>
                  <a:cubicBezTo>
                    <a:pt x="4387" y="15457"/>
                    <a:pt x="4394" y="15543"/>
                    <a:pt x="4468" y="15503"/>
                  </a:cubicBezTo>
                  <a:cubicBezTo>
                    <a:pt x="4571" y="15800"/>
                    <a:pt x="4536" y="15834"/>
                    <a:pt x="4468" y="16154"/>
                  </a:cubicBezTo>
                  <a:cubicBezTo>
                    <a:pt x="4643" y="16085"/>
                    <a:pt x="4765" y="16495"/>
                    <a:pt x="4806" y="16709"/>
                  </a:cubicBezTo>
                  <a:cubicBezTo>
                    <a:pt x="5029" y="16623"/>
                    <a:pt x="4935" y="16305"/>
                    <a:pt x="4856" y="16081"/>
                  </a:cubicBezTo>
                  <a:lnTo>
                    <a:pt x="4819" y="16090"/>
                  </a:lnTo>
                  <a:cubicBezTo>
                    <a:pt x="4853" y="16027"/>
                    <a:pt x="4845" y="15950"/>
                    <a:pt x="4813" y="15895"/>
                  </a:cubicBezTo>
                  <a:lnTo>
                    <a:pt x="4799" y="15901"/>
                  </a:lnTo>
                  <a:cubicBezTo>
                    <a:pt x="4773" y="15687"/>
                    <a:pt x="4711" y="15463"/>
                    <a:pt x="4695" y="15267"/>
                  </a:cubicBezTo>
                  <a:cubicBezTo>
                    <a:pt x="4682" y="15104"/>
                    <a:pt x="4607" y="15059"/>
                    <a:pt x="4654" y="14857"/>
                  </a:cubicBezTo>
                  <a:cubicBezTo>
                    <a:pt x="4643" y="14858"/>
                    <a:pt x="4632" y="14860"/>
                    <a:pt x="4621" y="14862"/>
                  </a:cubicBezTo>
                  <a:cubicBezTo>
                    <a:pt x="4621" y="14691"/>
                    <a:pt x="4335" y="14165"/>
                    <a:pt x="4542" y="14004"/>
                  </a:cubicBezTo>
                  <a:cubicBezTo>
                    <a:pt x="4568" y="14048"/>
                    <a:pt x="4597" y="14053"/>
                    <a:pt x="4633" y="14051"/>
                  </a:cubicBezTo>
                  <a:cubicBezTo>
                    <a:pt x="4649" y="14091"/>
                    <a:pt x="4668" y="14112"/>
                    <a:pt x="4694" y="14132"/>
                  </a:cubicBezTo>
                  <a:cubicBezTo>
                    <a:pt x="4606" y="14386"/>
                    <a:pt x="4732" y="15046"/>
                    <a:pt x="4888" y="15146"/>
                  </a:cubicBezTo>
                  <a:cubicBezTo>
                    <a:pt x="4868" y="15243"/>
                    <a:pt x="4898" y="15358"/>
                    <a:pt x="4958" y="15388"/>
                  </a:cubicBezTo>
                  <a:cubicBezTo>
                    <a:pt x="4954" y="15472"/>
                    <a:pt x="4978" y="15520"/>
                    <a:pt x="5030" y="15518"/>
                  </a:cubicBezTo>
                  <a:cubicBezTo>
                    <a:pt x="5042" y="15595"/>
                    <a:pt x="4993" y="15742"/>
                    <a:pt x="4986" y="15835"/>
                  </a:cubicBezTo>
                  <a:cubicBezTo>
                    <a:pt x="5221" y="15896"/>
                    <a:pt x="5644" y="17047"/>
                    <a:pt x="5374" y="17327"/>
                  </a:cubicBezTo>
                  <a:lnTo>
                    <a:pt x="5386" y="17327"/>
                  </a:lnTo>
                  <a:cubicBezTo>
                    <a:pt x="5363" y="17683"/>
                    <a:pt x="5700" y="18230"/>
                    <a:pt x="5921" y="18189"/>
                  </a:cubicBezTo>
                  <a:cubicBezTo>
                    <a:pt x="6093" y="18316"/>
                    <a:pt x="6360" y="18812"/>
                    <a:pt x="6568" y="18812"/>
                  </a:cubicBezTo>
                  <a:cubicBezTo>
                    <a:pt x="6707" y="18812"/>
                    <a:pt x="6794" y="18936"/>
                    <a:pt x="6933" y="18803"/>
                  </a:cubicBezTo>
                  <a:cubicBezTo>
                    <a:pt x="7112" y="18634"/>
                    <a:pt x="7225" y="18901"/>
                    <a:pt x="7338" y="19138"/>
                  </a:cubicBezTo>
                  <a:lnTo>
                    <a:pt x="7320" y="19233"/>
                  </a:lnTo>
                  <a:cubicBezTo>
                    <a:pt x="7452" y="19457"/>
                    <a:pt x="7609" y="19414"/>
                    <a:pt x="7752" y="19578"/>
                  </a:cubicBezTo>
                  <a:lnTo>
                    <a:pt x="7747" y="19554"/>
                  </a:lnTo>
                  <a:cubicBezTo>
                    <a:pt x="7831" y="19616"/>
                    <a:pt x="7966" y="19734"/>
                    <a:pt x="8058" y="19655"/>
                  </a:cubicBezTo>
                  <a:cubicBezTo>
                    <a:pt x="8068" y="19696"/>
                    <a:pt x="8082" y="19732"/>
                    <a:pt x="8102" y="19765"/>
                  </a:cubicBezTo>
                  <a:cubicBezTo>
                    <a:pt x="8201" y="19848"/>
                    <a:pt x="8249" y="20070"/>
                    <a:pt x="8332" y="20197"/>
                  </a:cubicBezTo>
                  <a:cubicBezTo>
                    <a:pt x="8328" y="20204"/>
                    <a:pt x="8318" y="20232"/>
                    <a:pt x="8307" y="20232"/>
                  </a:cubicBezTo>
                  <a:cubicBezTo>
                    <a:pt x="8248" y="20232"/>
                    <a:pt x="8242" y="20374"/>
                    <a:pt x="8290" y="20404"/>
                  </a:cubicBezTo>
                  <a:cubicBezTo>
                    <a:pt x="8224" y="20558"/>
                    <a:pt x="8335" y="20723"/>
                    <a:pt x="8404" y="20797"/>
                  </a:cubicBezTo>
                  <a:lnTo>
                    <a:pt x="8421" y="20768"/>
                  </a:lnTo>
                  <a:lnTo>
                    <a:pt x="8440" y="20786"/>
                  </a:lnTo>
                  <a:cubicBezTo>
                    <a:pt x="8440" y="20786"/>
                    <a:pt x="8460" y="20734"/>
                    <a:pt x="8463" y="20726"/>
                  </a:cubicBezTo>
                  <a:cubicBezTo>
                    <a:pt x="8481" y="20791"/>
                    <a:pt x="8506" y="20812"/>
                    <a:pt x="8544" y="20833"/>
                  </a:cubicBezTo>
                  <a:cubicBezTo>
                    <a:pt x="8631" y="20882"/>
                    <a:pt x="8572" y="21016"/>
                    <a:pt x="8625" y="21113"/>
                  </a:cubicBezTo>
                  <a:cubicBezTo>
                    <a:pt x="8670" y="21195"/>
                    <a:pt x="8728" y="21169"/>
                    <a:pt x="8774" y="21125"/>
                  </a:cubicBezTo>
                  <a:cubicBezTo>
                    <a:pt x="8819" y="21180"/>
                    <a:pt x="8955" y="21104"/>
                    <a:pt x="8977" y="21190"/>
                  </a:cubicBezTo>
                  <a:cubicBezTo>
                    <a:pt x="8994" y="21268"/>
                    <a:pt x="9007" y="21360"/>
                    <a:pt x="9074" y="21327"/>
                  </a:cubicBezTo>
                  <a:cubicBezTo>
                    <a:pt x="9087" y="21499"/>
                    <a:pt x="9387" y="21534"/>
                    <a:pt x="9242" y="21147"/>
                  </a:cubicBezTo>
                  <a:cubicBezTo>
                    <a:pt x="9322" y="21112"/>
                    <a:pt x="9334" y="20930"/>
                    <a:pt x="9399" y="20930"/>
                  </a:cubicBezTo>
                  <a:cubicBezTo>
                    <a:pt x="9476" y="20930"/>
                    <a:pt x="9464" y="21056"/>
                    <a:pt x="9512" y="21099"/>
                  </a:cubicBezTo>
                  <a:cubicBezTo>
                    <a:pt x="9489" y="21140"/>
                    <a:pt x="9481" y="21184"/>
                    <a:pt x="9489" y="21232"/>
                  </a:cubicBezTo>
                  <a:cubicBezTo>
                    <a:pt x="9530" y="21294"/>
                    <a:pt x="9567" y="21378"/>
                    <a:pt x="9594" y="21465"/>
                  </a:cubicBezTo>
                  <a:cubicBezTo>
                    <a:pt x="9613" y="21444"/>
                    <a:pt x="9635" y="21429"/>
                    <a:pt x="9658" y="21420"/>
                  </a:cubicBezTo>
                  <a:cubicBezTo>
                    <a:pt x="9651" y="21406"/>
                    <a:pt x="9651" y="21393"/>
                    <a:pt x="9656" y="21381"/>
                  </a:cubicBezTo>
                  <a:lnTo>
                    <a:pt x="9663" y="21393"/>
                  </a:lnTo>
                  <a:cubicBezTo>
                    <a:pt x="9703" y="21371"/>
                    <a:pt x="9728" y="21327"/>
                    <a:pt x="9733" y="21262"/>
                  </a:cubicBezTo>
                  <a:lnTo>
                    <a:pt x="9788" y="21239"/>
                  </a:lnTo>
                  <a:lnTo>
                    <a:pt x="9727" y="21036"/>
                  </a:lnTo>
                  <a:lnTo>
                    <a:pt x="9751" y="20983"/>
                  </a:lnTo>
                  <a:cubicBezTo>
                    <a:pt x="9690" y="20841"/>
                    <a:pt x="9591" y="20668"/>
                    <a:pt x="9478" y="20685"/>
                  </a:cubicBezTo>
                  <a:cubicBezTo>
                    <a:pt x="9386" y="20387"/>
                    <a:pt x="9023" y="21216"/>
                    <a:pt x="8905" y="20641"/>
                  </a:cubicBezTo>
                  <a:lnTo>
                    <a:pt x="8820" y="20643"/>
                  </a:lnTo>
                  <a:cubicBezTo>
                    <a:pt x="8820" y="20643"/>
                    <a:pt x="8682" y="20417"/>
                    <a:pt x="8717" y="20417"/>
                  </a:cubicBezTo>
                  <a:cubicBezTo>
                    <a:pt x="8717" y="20417"/>
                    <a:pt x="8717" y="20417"/>
                    <a:pt x="8717" y="20417"/>
                  </a:cubicBezTo>
                  <a:cubicBezTo>
                    <a:pt x="8719" y="20417"/>
                    <a:pt x="8885" y="19093"/>
                    <a:pt x="8901" y="18934"/>
                  </a:cubicBezTo>
                  <a:cubicBezTo>
                    <a:pt x="8865" y="18931"/>
                    <a:pt x="8824" y="18936"/>
                    <a:pt x="8790" y="18958"/>
                  </a:cubicBezTo>
                  <a:cubicBezTo>
                    <a:pt x="8665" y="18803"/>
                    <a:pt x="8556" y="18836"/>
                    <a:pt x="8451" y="18742"/>
                  </a:cubicBezTo>
                  <a:cubicBezTo>
                    <a:pt x="8417" y="18712"/>
                    <a:pt x="8071" y="18740"/>
                    <a:pt x="8035" y="18773"/>
                  </a:cubicBezTo>
                  <a:cubicBezTo>
                    <a:pt x="8032" y="18768"/>
                    <a:pt x="8029" y="18763"/>
                    <a:pt x="8025" y="18757"/>
                  </a:cubicBezTo>
                  <a:cubicBezTo>
                    <a:pt x="8109" y="18574"/>
                    <a:pt x="8142" y="18312"/>
                    <a:pt x="8200" y="18110"/>
                  </a:cubicBezTo>
                  <a:cubicBezTo>
                    <a:pt x="8274" y="17968"/>
                    <a:pt x="8508" y="16969"/>
                    <a:pt x="8384" y="16969"/>
                  </a:cubicBezTo>
                  <a:cubicBezTo>
                    <a:pt x="8284" y="16969"/>
                    <a:pt x="8160" y="16997"/>
                    <a:pt x="8055" y="17030"/>
                  </a:cubicBezTo>
                  <a:cubicBezTo>
                    <a:pt x="7708" y="17115"/>
                    <a:pt x="7858" y="17667"/>
                    <a:pt x="7599" y="17812"/>
                  </a:cubicBezTo>
                  <a:cubicBezTo>
                    <a:pt x="7601" y="17840"/>
                    <a:pt x="7595" y="17864"/>
                    <a:pt x="7583" y="17884"/>
                  </a:cubicBezTo>
                  <a:lnTo>
                    <a:pt x="7589" y="17850"/>
                  </a:lnTo>
                  <a:cubicBezTo>
                    <a:pt x="7313" y="17803"/>
                    <a:pt x="7206" y="18092"/>
                    <a:pt x="6955" y="17842"/>
                  </a:cubicBezTo>
                  <a:cubicBezTo>
                    <a:pt x="6928" y="17797"/>
                    <a:pt x="6940" y="17716"/>
                    <a:pt x="6902" y="17678"/>
                  </a:cubicBezTo>
                  <a:cubicBezTo>
                    <a:pt x="6909" y="17285"/>
                    <a:pt x="6745" y="17009"/>
                    <a:pt x="6787" y="16567"/>
                  </a:cubicBezTo>
                  <a:cubicBezTo>
                    <a:pt x="6799" y="16444"/>
                    <a:pt x="6795" y="15988"/>
                    <a:pt x="6892" y="15936"/>
                  </a:cubicBezTo>
                  <a:cubicBezTo>
                    <a:pt x="6964" y="15896"/>
                    <a:pt x="6970" y="15802"/>
                    <a:pt x="6989" y="15695"/>
                  </a:cubicBezTo>
                  <a:cubicBezTo>
                    <a:pt x="6960" y="15291"/>
                    <a:pt x="7099" y="15132"/>
                    <a:pt x="7297" y="14954"/>
                  </a:cubicBezTo>
                  <a:cubicBezTo>
                    <a:pt x="7407" y="14847"/>
                    <a:pt x="7530" y="14681"/>
                    <a:pt x="7658" y="14647"/>
                  </a:cubicBezTo>
                  <a:cubicBezTo>
                    <a:pt x="7726" y="14629"/>
                    <a:pt x="7890" y="14823"/>
                    <a:pt x="7918" y="14651"/>
                  </a:cubicBezTo>
                  <a:cubicBezTo>
                    <a:pt x="7929" y="14662"/>
                    <a:pt x="7940" y="14672"/>
                    <a:pt x="7951" y="14683"/>
                  </a:cubicBezTo>
                  <a:cubicBezTo>
                    <a:pt x="7964" y="14784"/>
                    <a:pt x="8062" y="14913"/>
                    <a:pt x="8119" y="14804"/>
                  </a:cubicBezTo>
                  <a:cubicBezTo>
                    <a:pt x="8158" y="14847"/>
                    <a:pt x="8205" y="14840"/>
                    <a:pt x="8218" y="14755"/>
                  </a:cubicBezTo>
                  <a:cubicBezTo>
                    <a:pt x="8226" y="14760"/>
                    <a:pt x="8233" y="14769"/>
                    <a:pt x="8237" y="14776"/>
                  </a:cubicBezTo>
                  <a:cubicBezTo>
                    <a:pt x="8243" y="14815"/>
                    <a:pt x="8236" y="14869"/>
                    <a:pt x="8238" y="14910"/>
                  </a:cubicBezTo>
                  <a:cubicBezTo>
                    <a:pt x="8321" y="14897"/>
                    <a:pt x="8431" y="14728"/>
                    <a:pt x="8309" y="14652"/>
                  </a:cubicBezTo>
                  <a:cubicBezTo>
                    <a:pt x="8336" y="14621"/>
                    <a:pt x="8354" y="14568"/>
                    <a:pt x="8341" y="14512"/>
                  </a:cubicBezTo>
                  <a:cubicBezTo>
                    <a:pt x="8478" y="14435"/>
                    <a:pt x="8881" y="14341"/>
                    <a:pt x="8891" y="14660"/>
                  </a:cubicBezTo>
                  <a:cubicBezTo>
                    <a:pt x="8953" y="14668"/>
                    <a:pt x="9017" y="14668"/>
                    <a:pt x="9071" y="14607"/>
                  </a:cubicBezTo>
                  <a:cubicBezTo>
                    <a:pt x="9213" y="14442"/>
                    <a:pt x="9157" y="14782"/>
                    <a:pt x="9269" y="14825"/>
                  </a:cubicBezTo>
                  <a:cubicBezTo>
                    <a:pt x="9274" y="14919"/>
                    <a:pt x="9158" y="15202"/>
                    <a:pt x="9231" y="15255"/>
                  </a:cubicBezTo>
                  <a:cubicBezTo>
                    <a:pt x="9194" y="15363"/>
                    <a:pt x="9245" y="15521"/>
                    <a:pt x="9291" y="15598"/>
                  </a:cubicBezTo>
                  <a:cubicBezTo>
                    <a:pt x="9303" y="15683"/>
                    <a:pt x="9312" y="15745"/>
                    <a:pt x="9294" y="15822"/>
                  </a:cubicBezTo>
                  <a:cubicBezTo>
                    <a:pt x="9320" y="15840"/>
                    <a:pt x="9347" y="15858"/>
                    <a:pt x="9373" y="15876"/>
                  </a:cubicBezTo>
                  <a:cubicBezTo>
                    <a:pt x="9376" y="15876"/>
                    <a:pt x="9389" y="16042"/>
                    <a:pt x="9392" y="16062"/>
                  </a:cubicBezTo>
                  <a:cubicBezTo>
                    <a:pt x="9891" y="16160"/>
                    <a:pt x="9504" y="14453"/>
                    <a:pt x="9669" y="14135"/>
                  </a:cubicBezTo>
                  <a:cubicBezTo>
                    <a:pt x="9801" y="13882"/>
                    <a:pt x="9965" y="13656"/>
                    <a:pt x="10125" y="13464"/>
                  </a:cubicBezTo>
                  <a:cubicBezTo>
                    <a:pt x="10212" y="13386"/>
                    <a:pt x="10656" y="13027"/>
                    <a:pt x="10592" y="12952"/>
                  </a:cubicBezTo>
                  <a:cubicBezTo>
                    <a:pt x="10811" y="12978"/>
                    <a:pt x="10712" y="12540"/>
                    <a:pt x="10767" y="12391"/>
                  </a:cubicBezTo>
                  <a:cubicBezTo>
                    <a:pt x="10824" y="12240"/>
                    <a:pt x="11053" y="12010"/>
                    <a:pt x="10986" y="11786"/>
                  </a:cubicBezTo>
                  <a:cubicBezTo>
                    <a:pt x="11080" y="11837"/>
                    <a:pt x="11274" y="11508"/>
                    <a:pt x="11267" y="11344"/>
                  </a:cubicBezTo>
                  <a:cubicBezTo>
                    <a:pt x="11357" y="11366"/>
                    <a:pt x="11513" y="11281"/>
                    <a:pt x="11556" y="11158"/>
                  </a:cubicBezTo>
                  <a:lnTo>
                    <a:pt x="11547" y="11137"/>
                  </a:lnTo>
                  <a:cubicBezTo>
                    <a:pt x="11604" y="11130"/>
                    <a:pt x="11673" y="11149"/>
                    <a:pt x="11708" y="11051"/>
                  </a:cubicBezTo>
                  <a:cubicBezTo>
                    <a:pt x="11862" y="11256"/>
                    <a:pt x="12051" y="10796"/>
                    <a:pt x="11864" y="10786"/>
                  </a:cubicBezTo>
                  <a:cubicBezTo>
                    <a:pt x="11862" y="10777"/>
                    <a:pt x="11858" y="10768"/>
                    <a:pt x="11853" y="10760"/>
                  </a:cubicBezTo>
                  <a:cubicBezTo>
                    <a:pt x="11890" y="10730"/>
                    <a:pt x="11924" y="10692"/>
                    <a:pt x="11955" y="10645"/>
                  </a:cubicBezTo>
                  <a:lnTo>
                    <a:pt x="11897" y="10613"/>
                  </a:lnTo>
                  <a:cubicBezTo>
                    <a:pt x="11984" y="10395"/>
                    <a:pt x="12164" y="10420"/>
                    <a:pt x="12245" y="10219"/>
                  </a:cubicBezTo>
                  <a:cubicBezTo>
                    <a:pt x="12330" y="10329"/>
                    <a:pt x="12661" y="10004"/>
                    <a:pt x="12737" y="9969"/>
                  </a:cubicBezTo>
                  <a:cubicBezTo>
                    <a:pt x="12664" y="10028"/>
                    <a:pt x="12408" y="10465"/>
                    <a:pt x="12631" y="10503"/>
                  </a:cubicBezTo>
                  <a:cubicBezTo>
                    <a:pt x="12789" y="10529"/>
                    <a:pt x="13042" y="10150"/>
                    <a:pt x="13212" y="10091"/>
                  </a:cubicBezTo>
                  <a:cubicBezTo>
                    <a:pt x="13387" y="9998"/>
                    <a:pt x="13656" y="9885"/>
                    <a:pt x="13625" y="9596"/>
                  </a:cubicBezTo>
                  <a:cubicBezTo>
                    <a:pt x="13619" y="9547"/>
                    <a:pt x="13631" y="9416"/>
                    <a:pt x="13642" y="9372"/>
                  </a:cubicBezTo>
                  <a:cubicBezTo>
                    <a:pt x="13542" y="9340"/>
                    <a:pt x="13492" y="9469"/>
                    <a:pt x="13428" y="9577"/>
                  </a:cubicBezTo>
                  <a:cubicBezTo>
                    <a:pt x="13210" y="9948"/>
                    <a:pt x="13126" y="9598"/>
                    <a:pt x="13005" y="9382"/>
                  </a:cubicBezTo>
                  <a:cubicBezTo>
                    <a:pt x="13043" y="9332"/>
                    <a:pt x="13094" y="9211"/>
                    <a:pt x="13035" y="9143"/>
                  </a:cubicBezTo>
                  <a:cubicBezTo>
                    <a:pt x="13114" y="9113"/>
                    <a:pt x="13246" y="8984"/>
                    <a:pt x="13198" y="8817"/>
                  </a:cubicBezTo>
                  <a:cubicBezTo>
                    <a:pt x="13133" y="8591"/>
                    <a:pt x="12921" y="8699"/>
                    <a:pt x="12820" y="8748"/>
                  </a:cubicBezTo>
                  <a:cubicBezTo>
                    <a:pt x="13042" y="8483"/>
                    <a:pt x="13227" y="8473"/>
                    <a:pt x="13514" y="8498"/>
                  </a:cubicBezTo>
                  <a:cubicBezTo>
                    <a:pt x="13879" y="8530"/>
                    <a:pt x="14067" y="8267"/>
                    <a:pt x="14414" y="8134"/>
                  </a:cubicBezTo>
                  <a:cubicBezTo>
                    <a:pt x="14179" y="8347"/>
                    <a:pt x="14080" y="8871"/>
                    <a:pt x="13864" y="9071"/>
                  </a:cubicBezTo>
                  <a:cubicBezTo>
                    <a:pt x="13717" y="9206"/>
                    <a:pt x="14405" y="9317"/>
                    <a:pt x="14423" y="9210"/>
                  </a:cubicBezTo>
                  <a:cubicBezTo>
                    <a:pt x="14405" y="9314"/>
                    <a:pt x="14297" y="9379"/>
                    <a:pt x="14243" y="9402"/>
                  </a:cubicBezTo>
                  <a:cubicBezTo>
                    <a:pt x="14313" y="9418"/>
                    <a:pt x="14553" y="9162"/>
                    <a:pt x="14568" y="9200"/>
                  </a:cubicBezTo>
                  <a:cubicBezTo>
                    <a:pt x="14597" y="9273"/>
                    <a:pt x="14503" y="9384"/>
                    <a:pt x="14488" y="9436"/>
                  </a:cubicBezTo>
                  <a:cubicBezTo>
                    <a:pt x="14575" y="9436"/>
                    <a:pt x="14865" y="9376"/>
                    <a:pt x="14709" y="9160"/>
                  </a:cubicBezTo>
                  <a:cubicBezTo>
                    <a:pt x="14686" y="9129"/>
                    <a:pt x="14726" y="9185"/>
                    <a:pt x="14709" y="9160"/>
                  </a:cubicBezTo>
                  <a:close/>
                  <a:moveTo>
                    <a:pt x="9292" y="15807"/>
                  </a:moveTo>
                  <a:cubicBezTo>
                    <a:pt x="9294" y="15804"/>
                    <a:pt x="9294" y="15801"/>
                    <a:pt x="9294" y="15797"/>
                  </a:cubicBezTo>
                  <a:lnTo>
                    <a:pt x="9292" y="15807"/>
                  </a:lnTo>
                  <a:cubicBezTo>
                    <a:pt x="9292" y="15807"/>
                    <a:pt x="9292" y="15807"/>
                    <a:pt x="9292" y="15807"/>
                  </a:cubicBezTo>
                  <a:close/>
                  <a:moveTo>
                    <a:pt x="10369" y="17468"/>
                  </a:moveTo>
                  <a:cubicBezTo>
                    <a:pt x="10335" y="17379"/>
                    <a:pt x="10167" y="17362"/>
                    <a:pt x="10156" y="17309"/>
                  </a:cubicBezTo>
                  <a:cubicBezTo>
                    <a:pt x="10131" y="17189"/>
                    <a:pt x="9829" y="16896"/>
                    <a:pt x="9715" y="16827"/>
                  </a:cubicBezTo>
                  <a:cubicBezTo>
                    <a:pt x="9533" y="16717"/>
                    <a:pt x="9375" y="16548"/>
                    <a:pt x="9156" y="16596"/>
                  </a:cubicBezTo>
                  <a:cubicBezTo>
                    <a:pt x="9072" y="16614"/>
                    <a:pt x="8717" y="16808"/>
                    <a:pt x="8728" y="16994"/>
                  </a:cubicBezTo>
                  <a:cubicBezTo>
                    <a:pt x="8730" y="17027"/>
                    <a:pt x="9190" y="16568"/>
                    <a:pt x="9247" y="16760"/>
                  </a:cubicBezTo>
                  <a:cubicBezTo>
                    <a:pt x="9236" y="16814"/>
                    <a:pt x="9210" y="16831"/>
                    <a:pt x="9167" y="16810"/>
                  </a:cubicBezTo>
                  <a:cubicBezTo>
                    <a:pt x="9239" y="16755"/>
                    <a:pt x="9536" y="17035"/>
                    <a:pt x="9629" y="17047"/>
                  </a:cubicBezTo>
                  <a:cubicBezTo>
                    <a:pt x="9753" y="17062"/>
                    <a:pt x="9684" y="17348"/>
                    <a:pt x="9814" y="17335"/>
                  </a:cubicBezTo>
                  <a:cubicBezTo>
                    <a:pt x="9981" y="17317"/>
                    <a:pt x="9882" y="17476"/>
                    <a:pt x="9811" y="17585"/>
                  </a:cubicBezTo>
                  <a:cubicBezTo>
                    <a:pt x="9811" y="17585"/>
                    <a:pt x="9811" y="17585"/>
                    <a:pt x="9811" y="17585"/>
                  </a:cubicBezTo>
                  <a:cubicBezTo>
                    <a:pt x="9811" y="17585"/>
                    <a:pt x="9811" y="17585"/>
                    <a:pt x="9811" y="17586"/>
                  </a:cubicBezTo>
                  <a:cubicBezTo>
                    <a:pt x="9831" y="17583"/>
                    <a:pt x="10404" y="17558"/>
                    <a:pt x="10369" y="17468"/>
                  </a:cubicBezTo>
                  <a:cubicBezTo>
                    <a:pt x="10361" y="17446"/>
                    <a:pt x="10394" y="17532"/>
                    <a:pt x="10369" y="17468"/>
                  </a:cubicBezTo>
                  <a:close/>
                  <a:moveTo>
                    <a:pt x="20788" y="376"/>
                  </a:moveTo>
                  <a:cubicBezTo>
                    <a:pt x="20661" y="393"/>
                    <a:pt x="20521" y="488"/>
                    <a:pt x="20397" y="482"/>
                  </a:cubicBezTo>
                  <a:cubicBezTo>
                    <a:pt x="20438" y="401"/>
                    <a:pt x="20552" y="165"/>
                    <a:pt x="20633" y="174"/>
                  </a:cubicBezTo>
                  <a:cubicBezTo>
                    <a:pt x="20175" y="121"/>
                    <a:pt x="19751" y="-20"/>
                    <a:pt x="19284" y="2"/>
                  </a:cubicBezTo>
                  <a:cubicBezTo>
                    <a:pt x="19105" y="10"/>
                    <a:pt x="18902" y="130"/>
                    <a:pt x="18728" y="59"/>
                  </a:cubicBezTo>
                  <a:cubicBezTo>
                    <a:pt x="18578" y="-2"/>
                    <a:pt x="18252" y="-5"/>
                    <a:pt x="18116" y="136"/>
                  </a:cubicBezTo>
                  <a:cubicBezTo>
                    <a:pt x="18175" y="75"/>
                    <a:pt x="18298" y="279"/>
                    <a:pt x="18361" y="285"/>
                  </a:cubicBezTo>
                  <a:cubicBezTo>
                    <a:pt x="18166" y="285"/>
                    <a:pt x="17974" y="110"/>
                    <a:pt x="17776" y="149"/>
                  </a:cubicBezTo>
                  <a:cubicBezTo>
                    <a:pt x="17789" y="245"/>
                    <a:pt x="17791" y="210"/>
                    <a:pt x="17833" y="259"/>
                  </a:cubicBezTo>
                  <a:cubicBezTo>
                    <a:pt x="17695" y="308"/>
                    <a:pt x="17442" y="191"/>
                    <a:pt x="17296" y="183"/>
                  </a:cubicBezTo>
                  <a:cubicBezTo>
                    <a:pt x="17097" y="171"/>
                    <a:pt x="16902" y="273"/>
                    <a:pt x="16703" y="270"/>
                  </a:cubicBezTo>
                  <a:cubicBezTo>
                    <a:pt x="16707" y="477"/>
                    <a:pt x="16045" y="464"/>
                    <a:pt x="15922" y="611"/>
                  </a:cubicBezTo>
                  <a:cubicBezTo>
                    <a:pt x="15984" y="642"/>
                    <a:pt x="16050" y="632"/>
                    <a:pt x="16114" y="633"/>
                  </a:cubicBezTo>
                  <a:cubicBezTo>
                    <a:pt x="16093" y="927"/>
                    <a:pt x="15244" y="969"/>
                    <a:pt x="15099" y="1007"/>
                  </a:cubicBezTo>
                  <a:cubicBezTo>
                    <a:pt x="15125" y="1148"/>
                    <a:pt x="15349" y="1197"/>
                    <a:pt x="15414" y="1212"/>
                  </a:cubicBezTo>
                  <a:cubicBezTo>
                    <a:pt x="15335" y="1285"/>
                    <a:pt x="15187" y="1268"/>
                    <a:pt x="15096" y="1309"/>
                  </a:cubicBezTo>
                  <a:cubicBezTo>
                    <a:pt x="15139" y="1389"/>
                    <a:pt x="15278" y="1390"/>
                    <a:pt x="15337" y="1395"/>
                  </a:cubicBezTo>
                  <a:cubicBezTo>
                    <a:pt x="15292" y="1423"/>
                    <a:pt x="15237" y="1423"/>
                    <a:pt x="15198" y="1474"/>
                  </a:cubicBezTo>
                  <a:cubicBezTo>
                    <a:pt x="15433" y="1544"/>
                    <a:pt x="15645" y="1461"/>
                    <a:pt x="15880" y="1474"/>
                  </a:cubicBezTo>
                  <a:cubicBezTo>
                    <a:pt x="15992" y="1480"/>
                    <a:pt x="16131" y="1500"/>
                    <a:pt x="16237" y="1562"/>
                  </a:cubicBezTo>
                  <a:cubicBezTo>
                    <a:pt x="16344" y="1623"/>
                    <a:pt x="16226" y="1664"/>
                    <a:pt x="16247" y="1717"/>
                  </a:cubicBezTo>
                  <a:cubicBezTo>
                    <a:pt x="16266" y="1765"/>
                    <a:pt x="16487" y="1880"/>
                    <a:pt x="16313" y="1959"/>
                  </a:cubicBezTo>
                  <a:cubicBezTo>
                    <a:pt x="16559" y="1847"/>
                    <a:pt x="16204" y="2758"/>
                    <a:pt x="16179" y="2583"/>
                  </a:cubicBezTo>
                  <a:cubicBezTo>
                    <a:pt x="16203" y="2748"/>
                    <a:pt x="16427" y="2568"/>
                    <a:pt x="16494" y="2630"/>
                  </a:cubicBezTo>
                  <a:cubicBezTo>
                    <a:pt x="16482" y="2669"/>
                    <a:pt x="16425" y="2638"/>
                    <a:pt x="16428" y="2695"/>
                  </a:cubicBezTo>
                  <a:cubicBezTo>
                    <a:pt x="16522" y="2661"/>
                    <a:pt x="16598" y="2870"/>
                    <a:pt x="16593" y="2871"/>
                  </a:cubicBezTo>
                  <a:cubicBezTo>
                    <a:pt x="16581" y="2874"/>
                    <a:pt x="16213" y="2799"/>
                    <a:pt x="16214" y="2802"/>
                  </a:cubicBezTo>
                  <a:cubicBezTo>
                    <a:pt x="16229" y="2835"/>
                    <a:pt x="16243" y="2868"/>
                    <a:pt x="16257" y="2900"/>
                  </a:cubicBezTo>
                  <a:cubicBezTo>
                    <a:pt x="16172" y="2904"/>
                    <a:pt x="16137" y="2977"/>
                    <a:pt x="16095" y="3092"/>
                  </a:cubicBezTo>
                  <a:cubicBezTo>
                    <a:pt x="16186" y="3140"/>
                    <a:pt x="16346" y="3277"/>
                    <a:pt x="16419" y="3092"/>
                  </a:cubicBezTo>
                  <a:cubicBezTo>
                    <a:pt x="16494" y="2902"/>
                    <a:pt x="16546" y="3028"/>
                    <a:pt x="16502" y="3209"/>
                  </a:cubicBezTo>
                  <a:cubicBezTo>
                    <a:pt x="16498" y="3224"/>
                    <a:pt x="15861" y="3720"/>
                    <a:pt x="16084" y="3791"/>
                  </a:cubicBezTo>
                  <a:cubicBezTo>
                    <a:pt x="16081" y="3912"/>
                    <a:pt x="15909" y="3871"/>
                    <a:pt x="15990" y="4074"/>
                  </a:cubicBezTo>
                  <a:cubicBezTo>
                    <a:pt x="16072" y="4282"/>
                    <a:pt x="15977" y="4328"/>
                    <a:pt x="16012" y="4522"/>
                  </a:cubicBezTo>
                  <a:cubicBezTo>
                    <a:pt x="16059" y="4791"/>
                    <a:pt x="16218" y="5190"/>
                    <a:pt x="16217" y="5459"/>
                  </a:cubicBezTo>
                  <a:cubicBezTo>
                    <a:pt x="16477" y="5346"/>
                    <a:pt x="16693" y="5934"/>
                    <a:pt x="16874" y="5492"/>
                  </a:cubicBezTo>
                  <a:cubicBezTo>
                    <a:pt x="16944" y="5323"/>
                    <a:pt x="17078" y="4978"/>
                    <a:pt x="17178" y="4863"/>
                  </a:cubicBezTo>
                  <a:cubicBezTo>
                    <a:pt x="17207" y="4830"/>
                    <a:pt x="17468" y="4537"/>
                    <a:pt x="17336" y="4506"/>
                  </a:cubicBezTo>
                  <a:cubicBezTo>
                    <a:pt x="17352" y="4429"/>
                    <a:pt x="17466" y="4461"/>
                    <a:pt x="17462" y="4414"/>
                  </a:cubicBezTo>
                  <a:cubicBezTo>
                    <a:pt x="17446" y="4185"/>
                    <a:pt x="17478" y="4318"/>
                    <a:pt x="17603" y="4179"/>
                  </a:cubicBezTo>
                  <a:cubicBezTo>
                    <a:pt x="17832" y="3924"/>
                    <a:pt x="18176" y="4100"/>
                    <a:pt x="18404" y="3748"/>
                  </a:cubicBezTo>
                  <a:cubicBezTo>
                    <a:pt x="18623" y="3408"/>
                    <a:pt x="18719" y="3579"/>
                    <a:pt x="18976" y="3474"/>
                  </a:cubicBezTo>
                  <a:cubicBezTo>
                    <a:pt x="19132" y="3410"/>
                    <a:pt x="19315" y="3416"/>
                    <a:pt x="19459" y="3294"/>
                  </a:cubicBezTo>
                  <a:cubicBezTo>
                    <a:pt x="19583" y="3189"/>
                    <a:pt x="19779" y="3004"/>
                    <a:pt x="19921" y="2998"/>
                  </a:cubicBezTo>
                  <a:cubicBezTo>
                    <a:pt x="19863" y="3000"/>
                    <a:pt x="19502" y="2839"/>
                    <a:pt x="19465" y="2948"/>
                  </a:cubicBezTo>
                  <a:cubicBezTo>
                    <a:pt x="19535" y="2744"/>
                    <a:pt x="19616" y="2666"/>
                    <a:pt x="19736" y="2808"/>
                  </a:cubicBezTo>
                  <a:cubicBezTo>
                    <a:pt x="19799" y="2882"/>
                    <a:pt x="20006" y="3044"/>
                    <a:pt x="20008" y="2762"/>
                  </a:cubicBezTo>
                  <a:cubicBezTo>
                    <a:pt x="20009" y="2563"/>
                    <a:pt x="19750" y="2306"/>
                    <a:pt x="19652" y="2240"/>
                  </a:cubicBezTo>
                  <a:cubicBezTo>
                    <a:pt x="19743" y="2177"/>
                    <a:pt x="20272" y="2315"/>
                    <a:pt x="20290" y="2066"/>
                  </a:cubicBezTo>
                  <a:cubicBezTo>
                    <a:pt x="20246" y="2069"/>
                    <a:pt x="20204" y="2042"/>
                    <a:pt x="20162" y="2024"/>
                  </a:cubicBezTo>
                  <a:cubicBezTo>
                    <a:pt x="20196" y="2013"/>
                    <a:pt x="20461" y="2053"/>
                    <a:pt x="20445" y="1920"/>
                  </a:cubicBezTo>
                  <a:cubicBezTo>
                    <a:pt x="20434" y="1826"/>
                    <a:pt x="20316" y="1823"/>
                    <a:pt x="20426" y="1726"/>
                  </a:cubicBezTo>
                  <a:cubicBezTo>
                    <a:pt x="20595" y="1578"/>
                    <a:pt x="20285" y="1472"/>
                    <a:pt x="20249" y="1409"/>
                  </a:cubicBezTo>
                  <a:cubicBezTo>
                    <a:pt x="20284" y="1409"/>
                    <a:pt x="20770" y="1373"/>
                    <a:pt x="20655" y="1204"/>
                  </a:cubicBezTo>
                  <a:cubicBezTo>
                    <a:pt x="20592" y="1111"/>
                    <a:pt x="20396" y="1087"/>
                    <a:pt x="20327" y="1171"/>
                  </a:cubicBezTo>
                  <a:cubicBezTo>
                    <a:pt x="20607" y="695"/>
                    <a:pt x="21060" y="526"/>
                    <a:pt x="21446" y="368"/>
                  </a:cubicBezTo>
                  <a:cubicBezTo>
                    <a:pt x="21259" y="170"/>
                    <a:pt x="20985" y="351"/>
                    <a:pt x="20788" y="376"/>
                  </a:cubicBezTo>
                  <a:cubicBezTo>
                    <a:pt x="20727" y="384"/>
                    <a:pt x="20985" y="351"/>
                    <a:pt x="20788" y="376"/>
                  </a:cubicBezTo>
                  <a:close/>
                  <a:moveTo>
                    <a:pt x="11250" y="17854"/>
                  </a:moveTo>
                  <a:cubicBezTo>
                    <a:pt x="11353" y="18121"/>
                    <a:pt x="10932" y="18149"/>
                    <a:pt x="10851" y="18066"/>
                  </a:cubicBezTo>
                  <a:cubicBezTo>
                    <a:pt x="10834" y="18070"/>
                    <a:pt x="10772" y="18267"/>
                    <a:pt x="10762" y="18295"/>
                  </a:cubicBezTo>
                  <a:lnTo>
                    <a:pt x="10744" y="18285"/>
                  </a:lnTo>
                  <a:lnTo>
                    <a:pt x="10730" y="18323"/>
                  </a:lnTo>
                  <a:cubicBezTo>
                    <a:pt x="10688" y="18281"/>
                    <a:pt x="10661" y="18211"/>
                    <a:pt x="10659" y="18127"/>
                  </a:cubicBezTo>
                  <a:cubicBezTo>
                    <a:pt x="10636" y="18121"/>
                    <a:pt x="10482" y="18109"/>
                    <a:pt x="10449" y="18132"/>
                  </a:cubicBezTo>
                  <a:cubicBezTo>
                    <a:pt x="10400" y="18160"/>
                    <a:pt x="10250" y="18170"/>
                    <a:pt x="10272" y="17972"/>
                  </a:cubicBezTo>
                  <a:cubicBezTo>
                    <a:pt x="10299" y="17723"/>
                    <a:pt x="10501" y="18031"/>
                    <a:pt x="10576" y="17927"/>
                  </a:cubicBezTo>
                  <a:cubicBezTo>
                    <a:pt x="10576" y="17927"/>
                    <a:pt x="10576" y="17927"/>
                    <a:pt x="10576" y="17927"/>
                  </a:cubicBezTo>
                  <a:cubicBezTo>
                    <a:pt x="10555" y="17927"/>
                    <a:pt x="10562" y="17743"/>
                    <a:pt x="10562" y="17738"/>
                  </a:cubicBezTo>
                  <a:lnTo>
                    <a:pt x="10412" y="17627"/>
                  </a:lnTo>
                  <a:cubicBezTo>
                    <a:pt x="10499" y="17485"/>
                    <a:pt x="10669" y="17484"/>
                    <a:pt x="10776" y="17484"/>
                  </a:cubicBezTo>
                  <a:cubicBezTo>
                    <a:pt x="10837" y="17484"/>
                    <a:pt x="10950" y="17493"/>
                    <a:pt x="11001" y="17546"/>
                  </a:cubicBezTo>
                  <a:cubicBezTo>
                    <a:pt x="11036" y="17584"/>
                    <a:pt x="11222" y="17784"/>
                    <a:pt x="11250" y="17854"/>
                  </a:cubicBezTo>
                  <a:cubicBezTo>
                    <a:pt x="11273" y="17915"/>
                    <a:pt x="11228" y="17798"/>
                    <a:pt x="11250" y="17854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900" dirty="0"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36" name="Shape 25919">
              <a:extLst>
                <a:ext uri="{FF2B5EF4-FFF2-40B4-BE49-F238E27FC236}">
                  <a16:creationId xmlns:a16="http://schemas.microsoft.com/office/drawing/2014/main" id="{01323152-DD9D-35A0-92A4-DDD4B6845291}"/>
                </a:ext>
              </a:extLst>
            </p:cNvPr>
            <p:cNvSpPr/>
            <p:nvPr/>
          </p:nvSpPr>
          <p:spPr>
            <a:xfrm>
              <a:off x="3477533" y="7512203"/>
              <a:ext cx="1914606" cy="31198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6" h="21346" extrusionOk="0">
                  <a:moveTo>
                    <a:pt x="14907" y="13611"/>
                  </a:moveTo>
                  <a:cubicBezTo>
                    <a:pt x="14908" y="13576"/>
                    <a:pt x="14915" y="13542"/>
                    <a:pt x="14927" y="13508"/>
                  </a:cubicBezTo>
                  <a:cubicBezTo>
                    <a:pt x="14945" y="13527"/>
                    <a:pt x="14935" y="13561"/>
                    <a:pt x="14907" y="13611"/>
                  </a:cubicBezTo>
                  <a:cubicBezTo>
                    <a:pt x="14911" y="13596"/>
                    <a:pt x="14935" y="13561"/>
                    <a:pt x="14907" y="13611"/>
                  </a:cubicBezTo>
                  <a:close/>
                  <a:moveTo>
                    <a:pt x="13846" y="3906"/>
                  </a:moveTo>
                  <a:cubicBezTo>
                    <a:pt x="13745" y="4068"/>
                    <a:pt x="13727" y="4129"/>
                    <a:pt x="13495" y="4231"/>
                  </a:cubicBezTo>
                  <a:cubicBezTo>
                    <a:pt x="13568" y="4090"/>
                    <a:pt x="13714" y="3995"/>
                    <a:pt x="13864" y="3877"/>
                  </a:cubicBezTo>
                  <a:lnTo>
                    <a:pt x="13846" y="3906"/>
                  </a:lnTo>
                  <a:cubicBezTo>
                    <a:pt x="13827" y="3937"/>
                    <a:pt x="13846" y="3906"/>
                    <a:pt x="13846" y="3906"/>
                  </a:cubicBezTo>
                  <a:close/>
                  <a:moveTo>
                    <a:pt x="12475" y="14778"/>
                  </a:moveTo>
                  <a:cubicBezTo>
                    <a:pt x="12516" y="14778"/>
                    <a:pt x="12564" y="14776"/>
                    <a:pt x="12595" y="14795"/>
                  </a:cubicBezTo>
                  <a:cubicBezTo>
                    <a:pt x="12555" y="14785"/>
                    <a:pt x="12514" y="14778"/>
                    <a:pt x="12475" y="14778"/>
                  </a:cubicBezTo>
                  <a:cubicBezTo>
                    <a:pt x="12476" y="14778"/>
                    <a:pt x="12514" y="14778"/>
                    <a:pt x="12475" y="14778"/>
                  </a:cubicBezTo>
                  <a:close/>
                  <a:moveTo>
                    <a:pt x="7113" y="17141"/>
                  </a:moveTo>
                  <a:cubicBezTo>
                    <a:pt x="7109" y="17139"/>
                    <a:pt x="7101" y="17127"/>
                    <a:pt x="7096" y="17118"/>
                  </a:cubicBezTo>
                  <a:cubicBezTo>
                    <a:pt x="7113" y="17112"/>
                    <a:pt x="7129" y="17104"/>
                    <a:pt x="7143" y="17096"/>
                  </a:cubicBezTo>
                  <a:cubicBezTo>
                    <a:pt x="7135" y="17114"/>
                    <a:pt x="7137" y="17132"/>
                    <a:pt x="7149" y="17150"/>
                  </a:cubicBezTo>
                  <a:lnTo>
                    <a:pt x="7113" y="17141"/>
                  </a:lnTo>
                  <a:cubicBezTo>
                    <a:pt x="7109" y="17139"/>
                    <a:pt x="7113" y="17141"/>
                    <a:pt x="7113" y="17141"/>
                  </a:cubicBezTo>
                  <a:close/>
                  <a:moveTo>
                    <a:pt x="4271" y="153"/>
                  </a:moveTo>
                  <a:cubicBezTo>
                    <a:pt x="4271" y="153"/>
                    <a:pt x="4274" y="153"/>
                    <a:pt x="4271" y="153"/>
                  </a:cubicBezTo>
                  <a:cubicBezTo>
                    <a:pt x="4271" y="153"/>
                    <a:pt x="4271" y="153"/>
                    <a:pt x="4271" y="153"/>
                  </a:cubicBezTo>
                  <a:close/>
                  <a:moveTo>
                    <a:pt x="21083" y="5876"/>
                  </a:moveTo>
                  <a:cubicBezTo>
                    <a:pt x="20878" y="5351"/>
                    <a:pt x="20177" y="5444"/>
                    <a:pt x="19555" y="5083"/>
                  </a:cubicBezTo>
                  <a:cubicBezTo>
                    <a:pt x="19066" y="4799"/>
                    <a:pt x="18685" y="4740"/>
                    <a:pt x="18023" y="4717"/>
                  </a:cubicBezTo>
                  <a:cubicBezTo>
                    <a:pt x="17537" y="4700"/>
                    <a:pt x="17283" y="4482"/>
                    <a:pt x="16812" y="4685"/>
                  </a:cubicBezTo>
                  <a:cubicBezTo>
                    <a:pt x="16950" y="4215"/>
                    <a:pt x="15462" y="3995"/>
                    <a:pt x="14945" y="4103"/>
                  </a:cubicBezTo>
                  <a:cubicBezTo>
                    <a:pt x="14955" y="4083"/>
                    <a:pt x="15053" y="3900"/>
                    <a:pt x="15053" y="3900"/>
                  </a:cubicBezTo>
                  <a:cubicBezTo>
                    <a:pt x="14663" y="3887"/>
                    <a:pt x="14273" y="3873"/>
                    <a:pt x="13883" y="3862"/>
                  </a:cubicBezTo>
                  <a:cubicBezTo>
                    <a:pt x="14117" y="3655"/>
                    <a:pt x="14501" y="3533"/>
                    <a:pt x="14274" y="3246"/>
                  </a:cubicBezTo>
                  <a:cubicBezTo>
                    <a:pt x="13791" y="3298"/>
                    <a:pt x="13738" y="2329"/>
                    <a:pt x="13421" y="2513"/>
                  </a:cubicBezTo>
                  <a:cubicBezTo>
                    <a:pt x="13222" y="2341"/>
                    <a:pt x="12877" y="2206"/>
                    <a:pt x="12575" y="2135"/>
                  </a:cubicBezTo>
                  <a:cubicBezTo>
                    <a:pt x="12586" y="2119"/>
                    <a:pt x="12595" y="2102"/>
                    <a:pt x="12600" y="2085"/>
                  </a:cubicBezTo>
                  <a:cubicBezTo>
                    <a:pt x="12472" y="2018"/>
                    <a:pt x="11718" y="1855"/>
                    <a:pt x="11552" y="2009"/>
                  </a:cubicBezTo>
                  <a:cubicBezTo>
                    <a:pt x="11407" y="1950"/>
                    <a:pt x="11152" y="1951"/>
                    <a:pt x="10982" y="1957"/>
                  </a:cubicBezTo>
                  <a:lnTo>
                    <a:pt x="10971" y="1915"/>
                  </a:lnTo>
                  <a:lnTo>
                    <a:pt x="10942" y="1935"/>
                  </a:lnTo>
                  <a:cubicBezTo>
                    <a:pt x="10847" y="1887"/>
                    <a:pt x="10590" y="1730"/>
                    <a:pt x="10461" y="1730"/>
                  </a:cubicBezTo>
                  <a:cubicBezTo>
                    <a:pt x="10603" y="1730"/>
                    <a:pt x="10202" y="1408"/>
                    <a:pt x="10132" y="1370"/>
                  </a:cubicBezTo>
                  <a:cubicBezTo>
                    <a:pt x="10175" y="1376"/>
                    <a:pt x="10205" y="1380"/>
                    <a:pt x="10205" y="1380"/>
                  </a:cubicBezTo>
                  <a:cubicBezTo>
                    <a:pt x="9946" y="1224"/>
                    <a:pt x="9692" y="1045"/>
                    <a:pt x="9292" y="1115"/>
                  </a:cubicBezTo>
                  <a:cubicBezTo>
                    <a:pt x="9308" y="1100"/>
                    <a:pt x="9312" y="1069"/>
                    <a:pt x="9318" y="1047"/>
                  </a:cubicBezTo>
                  <a:cubicBezTo>
                    <a:pt x="9756" y="901"/>
                    <a:pt x="8958" y="655"/>
                    <a:pt x="8719" y="691"/>
                  </a:cubicBezTo>
                  <a:cubicBezTo>
                    <a:pt x="8697" y="649"/>
                    <a:pt x="8672" y="637"/>
                    <a:pt x="8622" y="605"/>
                  </a:cubicBezTo>
                  <a:cubicBezTo>
                    <a:pt x="8595" y="615"/>
                    <a:pt x="8857" y="603"/>
                    <a:pt x="8946" y="583"/>
                  </a:cubicBezTo>
                  <a:lnTo>
                    <a:pt x="8946" y="424"/>
                  </a:lnTo>
                  <a:cubicBezTo>
                    <a:pt x="8584" y="419"/>
                    <a:pt x="8041" y="370"/>
                    <a:pt x="7753" y="527"/>
                  </a:cubicBezTo>
                  <a:cubicBezTo>
                    <a:pt x="7325" y="761"/>
                    <a:pt x="7238" y="462"/>
                    <a:pt x="6865" y="462"/>
                  </a:cubicBezTo>
                  <a:cubicBezTo>
                    <a:pt x="6651" y="462"/>
                    <a:pt x="6162" y="582"/>
                    <a:pt x="6100" y="423"/>
                  </a:cubicBezTo>
                  <a:cubicBezTo>
                    <a:pt x="6035" y="257"/>
                    <a:pt x="5794" y="173"/>
                    <a:pt x="5530" y="201"/>
                  </a:cubicBezTo>
                  <a:cubicBezTo>
                    <a:pt x="5798" y="201"/>
                    <a:pt x="4516" y="-254"/>
                    <a:pt x="5126" y="246"/>
                  </a:cubicBezTo>
                  <a:cubicBezTo>
                    <a:pt x="4964" y="310"/>
                    <a:pt x="4729" y="281"/>
                    <a:pt x="4573" y="365"/>
                  </a:cubicBezTo>
                  <a:cubicBezTo>
                    <a:pt x="4569" y="357"/>
                    <a:pt x="4565" y="351"/>
                    <a:pt x="4561" y="344"/>
                  </a:cubicBezTo>
                  <a:cubicBezTo>
                    <a:pt x="4686" y="310"/>
                    <a:pt x="4802" y="265"/>
                    <a:pt x="4906" y="212"/>
                  </a:cubicBezTo>
                  <a:cubicBezTo>
                    <a:pt x="4915" y="-229"/>
                    <a:pt x="4397" y="153"/>
                    <a:pt x="4270" y="153"/>
                  </a:cubicBezTo>
                  <a:cubicBezTo>
                    <a:pt x="4167" y="164"/>
                    <a:pt x="3359" y="353"/>
                    <a:pt x="3319" y="417"/>
                  </a:cubicBezTo>
                  <a:lnTo>
                    <a:pt x="3145" y="383"/>
                  </a:lnTo>
                  <a:cubicBezTo>
                    <a:pt x="2836" y="502"/>
                    <a:pt x="2710" y="657"/>
                    <a:pt x="2597" y="861"/>
                  </a:cubicBezTo>
                  <a:lnTo>
                    <a:pt x="2632" y="881"/>
                  </a:lnTo>
                  <a:lnTo>
                    <a:pt x="2609" y="891"/>
                  </a:lnTo>
                  <a:cubicBezTo>
                    <a:pt x="2609" y="891"/>
                    <a:pt x="2630" y="919"/>
                    <a:pt x="2631" y="920"/>
                  </a:cubicBezTo>
                  <a:cubicBezTo>
                    <a:pt x="2441" y="925"/>
                    <a:pt x="2439" y="994"/>
                    <a:pt x="2367" y="1082"/>
                  </a:cubicBezTo>
                  <a:cubicBezTo>
                    <a:pt x="2327" y="1132"/>
                    <a:pt x="2134" y="1188"/>
                    <a:pt x="2046" y="1216"/>
                  </a:cubicBezTo>
                  <a:cubicBezTo>
                    <a:pt x="2006" y="1191"/>
                    <a:pt x="1971" y="1160"/>
                    <a:pt x="1938" y="1132"/>
                  </a:cubicBezTo>
                  <a:lnTo>
                    <a:pt x="1757" y="1278"/>
                  </a:lnTo>
                  <a:lnTo>
                    <a:pt x="1868" y="1415"/>
                  </a:lnTo>
                  <a:lnTo>
                    <a:pt x="1840" y="1419"/>
                  </a:lnTo>
                  <a:lnTo>
                    <a:pt x="1824" y="1473"/>
                  </a:lnTo>
                  <a:lnTo>
                    <a:pt x="1805" y="1460"/>
                  </a:lnTo>
                  <a:cubicBezTo>
                    <a:pt x="1758" y="1481"/>
                    <a:pt x="1709" y="1500"/>
                    <a:pt x="1658" y="1517"/>
                  </a:cubicBezTo>
                  <a:cubicBezTo>
                    <a:pt x="1549" y="1674"/>
                    <a:pt x="1707" y="1979"/>
                    <a:pt x="1798" y="2121"/>
                  </a:cubicBezTo>
                  <a:lnTo>
                    <a:pt x="1623" y="2198"/>
                  </a:lnTo>
                  <a:cubicBezTo>
                    <a:pt x="1623" y="2198"/>
                    <a:pt x="1757" y="2274"/>
                    <a:pt x="1768" y="2279"/>
                  </a:cubicBezTo>
                  <a:cubicBezTo>
                    <a:pt x="1773" y="2424"/>
                    <a:pt x="1650" y="2661"/>
                    <a:pt x="1803" y="2773"/>
                  </a:cubicBezTo>
                  <a:cubicBezTo>
                    <a:pt x="1723" y="2851"/>
                    <a:pt x="1540" y="2983"/>
                    <a:pt x="1532" y="3078"/>
                  </a:cubicBezTo>
                  <a:cubicBezTo>
                    <a:pt x="1139" y="3076"/>
                    <a:pt x="1182" y="3360"/>
                    <a:pt x="947" y="3451"/>
                  </a:cubicBezTo>
                  <a:cubicBezTo>
                    <a:pt x="945" y="3436"/>
                    <a:pt x="951" y="3434"/>
                    <a:pt x="966" y="3447"/>
                  </a:cubicBezTo>
                  <a:cubicBezTo>
                    <a:pt x="608" y="3513"/>
                    <a:pt x="413" y="3554"/>
                    <a:pt x="434" y="3830"/>
                  </a:cubicBezTo>
                  <a:cubicBezTo>
                    <a:pt x="410" y="3843"/>
                    <a:pt x="192" y="4024"/>
                    <a:pt x="245" y="4024"/>
                  </a:cubicBezTo>
                  <a:lnTo>
                    <a:pt x="236" y="4024"/>
                  </a:lnTo>
                  <a:cubicBezTo>
                    <a:pt x="54" y="4141"/>
                    <a:pt x="48" y="4311"/>
                    <a:pt x="120" y="4482"/>
                  </a:cubicBezTo>
                  <a:cubicBezTo>
                    <a:pt x="-250" y="4580"/>
                    <a:pt x="355" y="4716"/>
                    <a:pt x="355" y="4730"/>
                  </a:cubicBezTo>
                  <a:cubicBezTo>
                    <a:pt x="361" y="4790"/>
                    <a:pt x="347" y="4826"/>
                    <a:pt x="446" y="4867"/>
                  </a:cubicBezTo>
                  <a:cubicBezTo>
                    <a:pt x="418" y="4880"/>
                    <a:pt x="385" y="4889"/>
                    <a:pt x="354" y="4898"/>
                  </a:cubicBezTo>
                  <a:lnTo>
                    <a:pt x="401" y="5044"/>
                  </a:lnTo>
                  <a:cubicBezTo>
                    <a:pt x="360" y="5065"/>
                    <a:pt x="295" y="5073"/>
                    <a:pt x="243" y="5074"/>
                  </a:cubicBezTo>
                  <a:cubicBezTo>
                    <a:pt x="-96" y="5327"/>
                    <a:pt x="100" y="5478"/>
                    <a:pt x="253" y="5724"/>
                  </a:cubicBezTo>
                  <a:cubicBezTo>
                    <a:pt x="-131" y="5758"/>
                    <a:pt x="906" y="6336"/>
                    <a:pt x="977" y="6405"/>
                  </a:cubicBezTo>
                  <a:cubicBezTo>
                    <a:pt x="1473" y="6884"/>
                    <a:pt x="1943" y="7410"/>
                    <a:pt x="2366" y="7917"/>
                  </a:cubicBezTo>
                  <a:cubicBezTo>
                    <a:pt x="2792" y="8429"/>
                    <a:pt x="2834" y="8747"/>
                    <a:pt x="3754" y="9047"/>
                  </a:cubicBezTo>
                  <a:cubicBezTo>
                    <a:pt x="4138" y="9172"/>
                    <a:pt x="4518" y="9326"/>
                    <a:pt x="4908" y="9441"/>
                  </a:cubicBezTo>
                  <a:cubicBezTo>
                    <a:pt x="5168" y="9517"/>
                    <a:pt x="5201" y="9759"/>
                    <a:pt x="5520" y="9800"/>
                  </a:cubicBezTo>
                  <a:cubicBezTo>
                    <a:pt x="5673" y="10251"/>
                    <a:pt x="5783" y="10655"/>
                    <a:pt x="5791" y="11117"/>
                  </a:cubicBezTo>
                  <a:cubicBezTo>
                    <a:pt x="5711" y="11122"/>
                    <a:pt x="5913" y="12338"/>
                    <a:pt x="5907" y="12464"/>
                  </a:cubicBezTo>
                  <a:cubicBezTo>
                    <a:pt x="5882" y="13059"/>
                    <a:pt x="5883" y="13548"/>
                    <a:pt x="6193" y="14121"/>
                  </a:cubicBezTo>
                  <a:lnTo>
                    <a:pt x="6225" y="14132"/>
                  </a:lnTo>
                  <a:cubicBezTo>
                    <a:pt x="6430" y="14543"/>
                    <a:pt x="6291" y="15161"/>
                    <a:pt x="6165" y="15567"/>
                  </a:cubicBezTo>
                  <a:lnTo>
                    <a:pt x="5959" y="15469"/>
                  </a:lnTo>
                  <a:cubicBezTo>
                    <a:pt x="6052" y="15704"/>
                    <a:pt x="6153" y="16040"/>
                    <a:pt x="6421" y="16224"/>
                  </a:cubicBezTo>
                  <a:cubicBezTo>
                    <a:pt x="6507" y="16420"/>
                    <a:pt x="6366" y="16837"/>
                    <a:pt x="6657" y="17019"/>
                  </a:cubicBezTo>
                  <a:lnTo>
                    <a:pt x="6608" y="17029"/>
                  </a:lnTo>
                  <a:cubicBezTo>
                    <a:pt x="6637" y="17135"/>
                    <a:pt x="6673" y="17242"/>
                    <a:pt x="6698" y="17348"/>
                  </a:cubicBezTo>
                  <a:cubicBezTo>
                    <a:pt x="6724" y="17460"/>
                    <a:pt x="6961" y="17753"/>
                    <a:pt x="7204" y="17552"/>
                  </a:cubicBezTo>
                  <a:cubicBezTo>
                    <a:pt x="7368" y="17415"/>
                    <a:pt x="7130" y="17379"/>
                    <a:pt x="7104" y="17271"/>
                  </a:cubicBezTo>
                  <a:cubicBezTo>
                    <a:pt x="7153" y="17247"/>
                    <a:pt x="7205" y="17224"/>
                    <a:pt x="7258" y="17204"/>
                  </a:cubicBezTo>
                  <a:cubicBezTo>
                    <a:pt x="7266" y="17207"/>
                    <a:pt x="7274" y="17209"/>
                    <a:pt x="7283" y="17212"/>
                  </a:cubicBezTo>
                  <a:cubicBezTo>
                    <a:pt x="7428" y="17330"/>
                    <a:pt x="7359" y="17669"/>
                    <a:pt x="7457" y="17825"/>
                  </a:cubicBezTo>
                  <a:cubicBezTo>
                    <a:pt x="7064" y="17733"/>
                    <a:pt x="6781" y="17992"/>
                    <a:pt x="7244" y="18037"/>
                  </a:cubicBezTo>
                  <a:cubicBezTo>
                    <a:pt x="7249" y="18089"/>
                    <a:pt x="7372" y="18164"/>
                    <a:pt x="7414" y="18219"/>
                  </a:cubicBezTo>
                  <a:cubicBezTo>
                    <a:pt x="7100" y="18171"/>
                    <a:pt x="6990" y="18391"/>
                    <a:pt x="6948" y="18541"/>
                  </a:cubicBezTo>
                  <a:cubicBezTo>
                    <a:pt x="6858" y="18867"/>
                    <a:pt x="7590" y="18545"/>
                    <a:pt x="7695" y="18694"/>
                  </a:cubicBezTo>
                  <a:cubicBezTo>
                    <a:pt x="7722" y="18862"/>
                    <a:pt x="7638" y="18904"/>
                    <a:pt x="7476" y="18960"/>
                  </a:cubicBezTo>
                  <a:cubicBezTo>
                    <a:pt x="7193" y="19058"/>
                    <a:pt x="7547" y="19380"/>
                    <a:pt x="7676" y="19483"/>
                  </a:cubicBezTo>
                  <a:cubicBezTo>
                    <a:pt x="7806" y="19585"/>
                    <a:pt x="8719" y="19925"/>
                    <a:pt x="8709" y="20034"/>
                  </a:cubicBezTo>
                  <a:cubicBezTo>
                    <a:pt x="8675" y="20055"/>
                    <a:pt x="8539" y="20057"/>
                    <a:pt x="8495" y="20060"/>
                  </a:cubicBezTo>
                  <a:cubicBezTo>
                    <a:pt x="8668" y="20215"/>
                    <a:pt x="8970" y="20245"/>
                    <a:pt x="9155" y="20402"/>
                  </a:cubicBezTo>
                  <a:cubicBezTo>
                    <a:pt x="9472" y="20673"/>
                    <a:pt x="9686" y="20866"/>
                    <a:pt x="10256" y="20922"/>
                  </a:cubicBezTo>
                  <a:cubicBezTo>
                    <a:pt x="10224" y="21093"/>
                    <a:pt x="10989" y="21099"/>
                    <a:pt x="11173" y="21106"/>
                  </a:cubicBezTo>
                  <a:cubicBezTo>
                    <a:pt x="11320" y="21272"/>
                    <a:pt x="11860" y="21266"/>
                    <a:pt x="12121" y="21346"/>
                  </a:cubicBezTo>
                  <a:cubicBezTo>
                    <a:pt x="12171" y="21325"/>
                    <a:pt x="12226" y="21311"/>
                    <a:pt x="12286" y="21303"/>
                  </a:cubicBezTo>
                  <a:cubicBezTo>
                    <a:pt x="12279" y="21275"/>
                    <a:pt x="12265" y="21249"/>
                    <a:pt x="12243" y="21224"/>
                  </a:cubicBezTo>
                  <a:cubicBezTo>
                    <a:pt x="12367" y="21226"/>
                    <a:pt x="12609" y="21245"/>
                    <a:pt x="12688" y="21175"/>
                  </a:cubicBezTo>
                  <a:cubicBezTo>
                    <a:pt x="13408" y="21075"/>
                    <a:pt x="12856" y="20944"/>
                    <a:pt x="12432" y="20879"/>
                  </a:cubicBezTo>
                  <a:cubicBezTo>
                    <a:pt x="12038" y="20820"/>
                    <a:pt x="11669" y="20556"/>
                    <a:pt x="11367" y="20396"/>
                  </a:cubicBezTo>
                  <a:lnTo>
                    <a:pt x="11371" y="20394"/>
                  </a:lnTo>
                  <a:cubicBezTo>
                    <a:pt x="11287" y="20307"/>
                    <a:pt x="11160" y="20275"/>
                    <a:pt x="11013" y="20336"/>
                  </a:cubicBezTo>
                  <a:cubicBezTo>
                    <a:pt x="10986" y="20329"/>
                    <a:pt x="10938" y="20310"/>
                    <a:pt x="10929" y="20303"/>
                  </a:cubicBezTo>
                  <a:cubicBezTo>
                    <a:pt x="10926" y="20288"/>
                    <a:pt x="10923" y="20273"/>
                    <a:pt x="10922" y="20258"/>
                  </a:cubicBezTo>
                  <a:lnTo>
                    <a:pt x="11154" y="20296"/>
                  </a:lnTo>
                  <a:lnTo>
                    <a:pt x="11240" y="20191"/>
                  </a:lnTo>
                  <a:cubicBezTo>
                    <a:pt x="10960" y="20056"/>
                    <a:pt x="10729" y="19885"/>
                    <a:pt x="10600" y="19679"/>
                  </a:cubicBezTo>
                  <a:cubicBezTo>
                    <a:pt x="11043" y="19491"/>
                    <a:pt x="10850" y="19267"/>
                    <a:pt x="11190" y="19008"/>
                  </a:cubicBezTo>
                  <a:cubicBezTo>
                    <a:pt x="11610" y="18689"/>
                    <a:pt x="10881" y="18589"/>
                    <a:pt x="10564" y="18488"/>
                  </a:cubicBezTo>
                  <a:cubicBezTo>
                    <a:pt x="9933" y="18287"/>
                    <a:pt x="10482" y="18110"/>
                    <a:pt x="10762" y="17956"/>
                  </a:cubicBezTo>
                  <a:cubicBezTo>
                    <a:pt x="11082" y="17780"/>
                    <a:pt x="10532" y="17572"/>
                    <a:pt x="10925" y="17461"/>
                  </a:cubicBezTo>
                  <a:cubicBezTo>
                    <a:pt x="11053" y="17363"/>
                    <a:pt x="11542" y="17241"/>
                    <a:pt x="11132" y="17081"/>
                  </a:cubicBezTo>
                  <a:cubicBezTo>
                    <a:pt x="10719" y="16920"/>
                    <a:pt x="10542" y="17195"/>
                    <a:pt x="10370" y="16756"/>
                  </a:cubicBezTo>
                  <a:cubicBezTo>
                    <a:pt x="10280" y="16736"/>
                    <a:pt x="10698" y="16839"/>
                    <a:pt x="10701" y="16840"/>
                  </a:cubicBezTo>
                  <a:cubicBezTo>
                    <a:pt x="10852" y="16881"/>
                    <a:pt x="11044" y="16917"/>
                    <a:pt x="11208" y="16879"/>
                  </a:cubicBezTo>
                  <a:cubicBezTo>
                    <a:pt x="11677" y="16774"/>
                    <a:pt x="11296" y="16620"/>
                    <a:pt x="11327" y="16476"/>
                  </a:cubicBezTo>
                  <a:lnTo>
                    <a:pt x="11391" y="16465"/>
                  </a:lnTo>
                  <a:cubicBezTo>
                    <a:pt x="11399" y="16341"/>
                    <a:pt x="11312" y="16265"/>
                    <a:pt x="11208" y="16169"/>
                  </a:cubicBezTo>
                  <a:cubicBezTo>
                    <a:pt x="11664" y="16259"/>
                    <a:pt x="12455" y="16159"/>
                    <a:pt x="12835" y="15994"/>
                  </a:cubicBezTo>
                  <a:cubicBezTo>
                    <a:pt x="13028" y="15910"/>
                    <a:pt x="13154" y="15698"/>
                    <a:pt x="13228" y="15565"/>
                  </a:cubicBezTo>
                  <a:cubicBezTo>
                    <a:pt x="13402" y="15253"/>
                    <a:pt x="12911" y="15333"/>
                    <a:pt x="12834" y="15144"/>
                  </a:cubicBezTo>
                  <a:cubicBezTo>
                    <a:pt x="12802" y="15022"/>
                    <a:pt x="12963" y="14987"/>
                    <a:pt x="12778" y="14873"/>
                  </a:cubicBezTo>
                  <a:cubicBezTo>
                    <a:pt x="13254" y="14989"/>
                    <a:pt x="14069" y="14954"/>
                    <a:pt x="14075" y="14543"/>
                  </a:cubicBezTo>
                  <a:cubicBezTo>
                    <a:pt x="14715" y="14565"/>
                    <a:pt x="14622" y="13934"/>
                    <a:pt x="14861" y="13689"/>
                  </a:cubicBezTo>
                  <a:cubicBezTo>
                    <a:pt x="14826" y="13753"/>
                    <a:pt x="14779" y="13815"/>
                    <a:pt x="14699" y="13862"/>
                  </a:cubicBezTo>
                  <a:lnTo>
                    <a:pt x="14810" y="13932"/>
                  </a:lnTo>
                  <a:lnTo>
                    <a:pt x="14823" y="13925"/>
                  </a:lnTo>
                  <a:lnTo>
                    <a:pt x="14866" y="13945"/>
                  </a:lnTo>
                  <a:cubicBezTo>
                    <a:pt x="15391" y="13663"/>
                    <a:pt x="15253" y="13268"/>
                    <a:pt x="15713" y="12979"/>
                  </a:cubicBezTo>
                  <a:cubicBezTo>
                    <a:pt x="16218" y="12660"/>
                    <a:pt x="15525" y="12151"/>
                    <a:pt x="15954" y="11777"/>
                  </a:cubicBezTo>
                  <a:cubicBezTo>
                    <a:pt x="16313" y="11463"/>
                    <a:pt x="17360" y="11121"/>
                    <a:pt x="17972" y="11165"/>
                  </a:cubicBezTo>
                  <a:cubicBezTo>
                    <a:pt x="18474" y="11201"/>
                    <a:pt x="18489" y="10927"/>
                    <a:pt x="18940" y="10851"/>
                  </a:cubicBezTo>
                  <a:cubicBezTo>
                    <a:pt x="18679" y="10613"/>
                    <a:pt x="19041" y="10505"/>
                    <a:pt x="19136" y="10300"/>
                  </a:cubicBezTo>
                  <a:cubicBezTo>
                    <a:pt x="19263" y="10026"/>
                    <a:pt x="19440" y="9737"/>
                    <a:pt x="19532" y="9473"/>
                  </a:cubicBezTo>
                  <a:cubicBezTo>
                    <a:pt x="19677" y="9053"/>
                    <a:pt x="19187" y="8394"/>
                    <a:pt x="19505" y="8013"/>
                  </a:cubicBezTo>
                  <a:cubicBezTo>
                    <a:pt x="20005" y="8053"/>
                    <a:pt x="20030" y="7526"/>
                    <a:pt x="20245" y="7340"/>
                  </a:cubicBezTo>
                  <a:cubicBezTo>
                    <a:pt x="20849" y="6817"/>
                    <a:pt x="21350" y="6573"/>
                    <a:pt x="21083" y="5876"/>
                  </a:cubicBezTo>
                  <a:cubicBezTo>
                    <a:pt x="21071" y="5847"/>
                    <a:pt x="21253" y="6319"/>
                    <a:pt x="21083" y="5876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900" dirty="0"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37" name="Shape 25920">
              <a:extLst>
                <a:ext uri="{FF2B5EF4-FFF2-40B4-BE49-F238E27FC236}">
                  <a16:creationId xmlns:a16="http://schemas.microsoft.com/office/drawing/2014/main" id="{0169A691-DF68-6B1A-C8F8-A7880E424B54}"/>
                </a:ext>
              </a:extLst>
            </p:cNvPr>
            <p:cNvSpPr/>
            <p:nvPr/>
          </p:nvSpPr>
          <p:spPr>
            <a:xfrm>
              <a:off x="6071105" y="6380559"/>
              <a:ext cx="2806760" cy="3311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4" h="21436" extrusionOk="0">
                  <a:moveTo>
                    <a:pt x="21150" y="15574"/>
                  </a:moveTo>
                  <a:cubicBezTo>
                    <a:pt x="21261" y="15717"/>
                    <a:pt x="21093" y="15952"/>
                    <a:pt x="20924" y="15784"/>
                  </a:cubicBezTo>
                  <a:cubicBezTo>
                    <a:pt x="20982" y="16021"/>
                    <a:pt x="20891" y="16384"/>
                    <a:pt x="20777" y="16596"/>
                  </a:cubicBezTo>
                  <a:cubicBezTo>
                    <a:pt x="20505" y="17107"/>
                    <a:pt x="20399" y="17680"/>
                    <a:pt x="20142" y="18190"/>
                  </a:cubicBezTo>
                  <a:cubicBezTo>
                    <a:pt x="20021" y="18451"/>
                    <a:pt x="19581" y="18883"/>
                    <a:pt x="19210" y="18697"/>
                  </a:cubicBezTo>
                  <a:cubicBezTo>
                    <a:pt x="19055" y="18620"/>
                    <a:pt x="18983" y="18564"/>
                    <a:pt x="18916" y="18429"/>
                  </a:cubicBezTo>
                  <a:cubicBezTo>
                    <a:pt x="18874" y="18346"/>
                    <a:pt x="18895" y="18082"/>
                    <a:pt x="18885" y="18073"/>
                  </a:cubicBezTo>
                  <a:cubicBezTo>
                    <a:pt x="18630" y="17743"/>
                    <a:pt x="18882" y="17612"/>
                    <a:pt x="18985" y="17344"/>
                  </a:cubicBezTo>
                  <a:cubicBezTo>
                    <a:pt x="19114" y="17002"/>
                    <a:pt x="19115" y="16913"/>
                    <a:pt x="19087" y="16545"/>
                  </a:cubicBezTo>
                  <a:cubicBezTo>
                    <a:pt x="19035" y="16414"/>
                    <a:pt x="19148" y="15981"/>
                    <a:pt x="19273" y="15913"/>
                  </a:cubicBezTo>
                  <a:cubicBezTo>
                    <a:pt x="19479" y="15800"/>
                    <a:pt x="19740" y="15772"/>
                    <a:pt x="19957" y="15653"/>
                  </a:cubicBezTo>
                  <a:cubicBezTo>
                    <a:pt x="20082" y="15574"/>
                    <a:pt x="20117" y="15501"/>
                    <a:pt x="20239" y="15479"/>
                  </a:cubicBezTo>
                  <a:cubicBezTo>
                    <a:pt x="20387" y="15448"/>
                    <a:pt x="20295" y="14983"/>
                    <a:pt x="20473" y="15143"/>
                  </a:cubicBezTo>
                  <a:cubicBezTo>
                    <a:pt x="20533" y="15027"/>
                    <a:pt x="20661" y="14865"/>
                    <a:pt x="20739" y="14731"/>
                  </a:cubicBezTo>
                  <a:cubicBezTo>
                    <a:pt x="20722" y="14552"/>
                    <a:pt x="20909" y="14739"/>
                    <a:pt x="20929" y="14819"/>
                  </a:cubicBezTo>
                  <a:cubicBezTo>
                    <a:pt x="20973" y="14985"/>
                    <a:pt x="21061" y="15461"/>
                    <a:pt x="21150" y="15574"/>
                  </a:cubicBezTo>
                  <a:cubicBezTo>
                    <a:pt x="21173" y="15603"/>
                    <a:pt x="21138" y="15559"/>
                    <a:pt x="21150" y="15574"/>
                  </a:cubicBezTo>
                  <a:close/>
                  <a:moveTo>
                    <a:pt x="21449" y="7942"/>
                  </a:moveTo>
                  <a:cubicBezTo>
                    <a:pt x="21344" y="7731"/>
                    <a:pt x="21600" y="7533"/>
                    <a:pt x="21152" y="7539"/>
                  </a:cubicBezTo>
                  <a:cubicBezTo>
                    <a:pt x="21008" y="7541"/>
                    <a:pt x="20754" y="7739"/>
                    <a:pt x="20526" y="7739"/>
                  </a:cubicBezTo>
                  <a:cubicBezTo>
                    <a:pt x="20244" y="7739"/>
                    <a:pt x="20016" y="7865"/>
                    <a:pt x="19729" y="7865"/>
                  </a:cubicBezTo>
                  <a:cubicBezTo>
                    <a:pt x="19565" y="7865"/>
                    <a:pt x="19469" y="8014"/>
                    <a:pt x="19302" y="7993"/>
                  </a:cubicBezTo>
                  <a:cubicBezTo>
                    <a:pt x="19093" y="7930"/>
                    <a:pt x="19070" y="7669"/>
                    <a:pt x="18908" y="7605"/>
                  </a:cubicBezTo>
                  <a:cubicBezTo>
                    <a:pt x="19001" y="7551"/>
                    <a:pt x="19025" y="7458"/>
                    <a:pt x="18981" y="7374"/>
                  </a:cubicBezTo>
                  <a:cubicBezTo>
                    <a:pt x="19062" y="7284"/>
                    <a:pt x="18938" y="7312"/>
                    <a:pt x="18896" y="7232"/>
                  </a:cubicBezTo>
                  <a:cubicBezTo>
                    <a:pt x="18780" y="7074"/>
                    <a:pt x="18298" y="6560"/>
                    <a:pt x="18034" y="6598"/>
                  </a:cubicBezTo>
                  <a:cubicBezTo>
                    <a:pt x="17984" y="6467"/>
                    <a:pt x="17855" y="6463"/>
                    <a:pt x="17803" y="6343"/>
                  </a:cubicBezTo>
                  <a:cubicBezTo>
                    <a:pt x="17753" y="6232"/>
                    <a:pt x="17703" y="5708"/>
                    <a:pt x="17456" y="5708"/>
                  </a:cubicBezTo>
                  <a:lnTo>
                    <a:pt x="17456" y="5708"/>
                  </a:lnTo>
                  <a:cubicBezTo>
                    <a:pt x="17148" y="5708"/>
                    <a:pt x="17061" y="5095"/>
                    <a:pt x="17029" y="4927"/>
                  </a:cubicBezTo>
                  <a:lnTo>
                    <a:pt x="17085" y="4930"/>
                  </a:lnTo>
                  <a:cubicBezTo>
                    <a:pt x="16985" y="4575"/>
                    <a:pt x="16629" y="4445"/>
                    <a:pt x="16480" y="4141"/>
                  </a:cubicBezTo>
                  <a:lnTo>
                    <a:pt x="16435" y="4152"/>
                  </a:lnTo>
                  <a:cubicBezTo>
                    <a:pt x="16428" y="4118"/>
                    <a:pt x="16411" y="4085"/>
                    <a:pt x="16410" y="4050"/>
                  </a:cubicBezTo>
                  <a:cubicBezTo>
                    <a:pt x="16418" y="4049"/>
                    <a:pt x="16577" y="4040"/>
                    <a:pt x="16577" y="4040"/>
                  </a:cubicBezTo>
                  <a:cubicBezTo>
                    <a:pt x="16561" y="4019"/>
                    <a:pt x="16373" y="3888"/>
                    <a:pt x="16373" y="3877"/>
                  </a:cubicBezTo>
                  <a:cubicBezTo>
                    <a:pt x="16140" y="3556"/>
                    <a:pt x="15927" y="3229"/>
                    <a:pt x="15764" y="2884"/>
                  </a:cubicBezTo>
                  <a:cubicBezTo>
                    <a:pt x="15810" y="2908"/>
                    <a:pt x="15860" y="2921"/>
                    <a:pt x="15913" y="2924"/>
                  </a:cubicBezTo>
                  <a:cubicBezTo>
                    <a:pt x="16212" y="2508"/>
                    <a:pt x="16034" y="2139"/>
                    <a:pt x="15828" y="1728"/>
                  </a:cubicBezTo>
                  <a:cubicBezTo>
                    <a:pt x="15663" y="1776"/>
                    <a:pt x="15487" y="1765"/>
                    <a:pt x="15320" y="1792"/>
                  </a:cubicBezTo>
                  <a:cubicBezTo>
                    <a:pt x="15262" y="1792"/>
                    <a:pt x="15004" y="1673"/>
                    <a:pt x="14939" y="1652"/>
                  </a:cubicBezTo>
                  <a:cubicBezTo>
                    <a:pt x="14877" y="1646"/>
                    <a:pt x="14703" y="1675"/>
                    <a:pt x="14673" y="1666"/>
                  </a:cubicBezTo>
                  <a:cubicBezTo>
                    <a:pt x="14649" y="1666"/>
                    <a:pt x="14604" y="1640"/>
                    <a:pt x="14583" y="1631"/>
                  </a:cubicBezTo>
                  <a:cubicBezTo>
                    <a:pt x="14579" y="1638"/>
                    <a:pt x="14541" y="1746"/>
                    <a:pt x="14548" y="1746"/>
                  </a:cubicBezTo>
                  <a:cubicBezTo>
                    <a:pt x="14314" y="1775"/>
                    <a:pt x="14213" y="1915"/>
                    <a:pt x="13949" y="1776"/>
                  </a:cubicBezTo>
                  <a:cubicBezTo>
                    <a:pt x="13737" y="1662"/>
                    <a:pt x="13370" y="1599"/>
                    <a:pt x="13126" y="1666"/>
                  </a:cubicBezTo>
                  <a:cubicBezTo>
                    <a:pt x="13114" y="1631"/>
                    <a:pt x="12362" y="1325"/>
                    <a:pt x="12311" y="1315"/>
                  </a:cubicBezTo>
                  <a:cubicBezTo>
                    <a:pt x="12058" y="1263"/>
                    <a:pt x="11585" y="1295"/>
                    <a:pt x="11468" y="1561"/>
                  </a:cubicBezTo>
                  <a:cubicBezTo>
                    <a:pt x="11405" y="1704"/>
                    <a:pt x="11546" y="1817"/>
                    <a:pt x="11493" y="1940"/>
                  </a:cubicBezTo>
                  <a:cubicBezTo>
                    <a:pt x="11411" y="2129"/>
                    <a:pt x="10260" y="1753"/>
                    <a:pt x="10229" y="1583"/>
                  </a:cubicBezTo>
                  <a:cubicBezTo>
                    <a:pt x="10181" y="1321"/>
                    <a:pt x="9285" y="1213"/>
                    <a:pt x="9029" y="1193"/>
                  </a:cubicBezTo>
                  <a:cubicBezTo>
                    <a:pt x="9018" y="1125"/>
                    <a:pt x="8978" y="1083"/>
                    <a:pt x="8892" y="1075"/>
                  </a:cubicBezTo>
                  <a:lnTo>
                    <a:pt x="8892" y="1071"/>
                  </a:lnTo>
                  <a:cubicBezTo>
                    <a:pt x="8848" y="1075"/>
                    <a:pt x="8690" y="1054"/>
                    <a:pt x="8710" y="986"/>
                  </a:cubicBezTo>
                  <a:cubicBezTo>
                    <a:pt x="8710" y="964"/>
                    <a:pt x="8994" y="767"/>
                    <a:pt x="9016" y="679"/>
                  </a:cubicBezTo>
                  <a:cubicBezTo>
                    <a:pt x="9056" y="517"/>
                    <a:pt x="8891" y="519"/>
                    <a:pt x="8901" y="450"/>
                  </a:cubicBezTo>
                  <a:cubicBezTo>
                    <a:pt x="8820" y="389"/>
                    <a:pt x="9205" y="-90"/>
                    <a:pt x="8780" y="124"/>
                  </a:cubicBezTo>
                  <a:cubicBezTo>
                    <a:pt x="8738" y="-14"/>
                    <a:pt x="7966" y="-25"/>
                    <a:pt x="7786" y="33"/>
                  </a:cubicBezTo>
                  <a:cubicBezTo>
                    <a:pt x="7755" y="33"/>
                    <a:pt x="7236" y="45"/>
                    <a:pt x="7284" y="112"/>
                  </a:cubicBezTo>
                  <a:cubicBezTo>
                    <a:pt x="6980" y="-39"/>
                    <a:pt x="6476" y="127"/>
                    <a:pt x="6182" y="191"/>
                  </a:cubicBezTo>
                  <a:cubicBezTo>
                    <a:pt x="5782" y="191"/>
                    <a:pt x="5357" y="466"/>
                    <a:pt x="4985" y="577"/>
                  </a:cubicBezTo>
                  <a:cubicBezTo>
                    <a:pt x="4968" y="561"/>
                    <a:pt x="4957" y="544"/>
                    <a:pt x="4950" y="523"/>
                  </a:cubicBezTo>
                  <a:lnTo>
                    <a:pt x="4918" y="529"/>
                  </a:lnTo>
                  <a:lnTo>
                    <a:pt x="4905" y="496"/>
                  </a:lnTo>
                  <a:cubicBezTo>
                    <a:pt x="4737" y="581"/>
                    <a:pt x="4445" y="574"/>
                    <a:pt x="4277" y="480"/>
                  </a:cubicBezTo>
                  <a:cubicBezTo>
                    <a:pt x="4282" y="423"/>
                    <a:pt x="4286" y="367"/>
                    <a:pt x="4279" y="311"/>
                  </a:cubicBezTo>
                  <a:cubicBezTo>
                    <a:pt x="3839" y="327"/>
                    <a:pt x="3931" y="706"/>
                    <a:pt x="3692" y="913"/>
                  </a:cubicBezTo>
                  <a:cubicBezTo>
                    <a:pt x="3463" y="1112"/>
                    <a:pt x="3139" y="1114"/>
                    <a:pt x="2935" y="1363"/>
                  </a:cubicBezTo>
                  <a:cubicBezTo>
                    <a:pt x="2899" y="1537"/>
                    <a:pt x="2704" y="1647"/>
                    <a:pt x="2717" y="1829"/>
                  </a:cubicBezTo>
                  <a:cubicBezTo>
                    <a:pt x="2734" y="2071"/>
                    <a:pt x="2718" y="2224"/>
                    <a:pt x="2488" y="2389"/>
                  </a:cubicBezTo>
                  <a:cubicBezTo>
                    <a:pt x="2217" y="2584"/>
                    <a:pt x="1913" y="2731"/>
                    <a:pt x="1546" y="2719"/>
                  </a:cubicBezTo>
                  <a:cubicBezTo>
                    <a:pt x="1507" y="2976"/>
                    <a:pt x="1199" y="3017"/>
                    <a:pt x="1132" y="3212"/>
                  </a:cubicBezTo>
                  <a:cubicBezTo>
                    <a:pt x="1025" y="3521"/>
                    <a:pt x="918" y="3677"/>
                    <a:pt x="641" y="3906"/>
                  </a:cubicBezTo>
                  <a:lnTo>
                    <a:pt x="670" y="3942"/>
                  </a:lnTo>
                  <a:cubicBezTo>
                    <a:pt x="508" y="4166"/>
                    <a:pt x="173" y="4557"/>
                    <a:pt x="339" y="4803"/>
                  </a:cubicBezTo>
                  <a:lnTo>
                    <a:pt x="391" y="4803"/>
                  </a:lnTo>
                  <a:cubicBezTo>
                    <a:pt x="467" y="4803"/>
                    <a:pt x="416" y="5040"/>
                    <a:pt x="558" y="5026"/>
                  </a:cubicBezTo>
                  <a:cubicBezTo>
                    <a:pt x="575" y="5060"/>
                    <a:pt x="612" y="5269"/>
                    <a:pt x="543" y="5269"/>
                  </a:cubicBezTo>
                  <a:lnTo>
                    <a:pt x="456" y="5299"/>
                  </a:lnTo>
                  <a:cubicBezTo>
                    <a:pt x="764" y="5604"/>
                    <a:pt x="582" y="5896"/>
                    <a:pt x="452" y="6228"/>
                  </a:cubicBezTo>
                  <a:cubicBezTo>
                    <a:pt x="401" y="6220"/>
                    <a:pt x="345" y="6229"/>
                    <a:pt x="297" y="6251"/>
                  </a:cubicBezTo>
                  <a:cubicBezTo>
                    <a:pt x="430" y="6424"/>
                    <a:pt x="154" y="6618"/>
                    <a:pt x="0" y="6730"/>
                  </a:cubicBezTo>
                  <a:cubicBezTo>
                    <a:pt x="249" y="6752"/>
                    <a:pt x="299" y="6978"/>
                    <a:pt x="276" y="7155"/>
                  </a:cubicBezTo>
                  <a:lnTo>
                    <a:pt x="307" y="7155"/>
                  </a:lnTo>
                  <a:cubicBezTo>
                    <a:pt x="294" y="7155"/>
                    <a:pt x="281" y="7155"/>
                    <a:pt x="268" y="7155"/>
                  </a:cubicBezTo>
                  <a:cubicBezTo>
                    <a:pt x="265" y="7167"/>
                    <a:pt x="258" y="7174"/>
                    <a:pt x="247" y="7177"/>
                  </a:cubicBezTo>
                  <a:cubicBezTo>
                    <a:pt x="206" y="7341"/>
                    <a:pt x="390" y="7647"/>
                    <a:pt x="654" y="7597"/>
                  </a:cubicBezTo>
                  <a:cubicBezTo>
                    <a:pt x="662" y="7714"/>
                    <a:pt x="780" y="7762"/>
                    <a:pt x="802" y="7878"/>
                  </a:cubicBezTo>
                  <a:cubicBezTo>
                    <a:pt x="873" y="7889"/>
                    <a:pt x="913" y="7864"/>
                    <a:pt x="946" y="7814"/>
                  </a:cubicBezTo>
                  <a:cubicBezTo>
                    <a:pt x="1016" y="8004"/>
                    <a:pt x="1264" y="8051"/>
                    <a:pt x="1309" y="8201"/>
                  </a:cubicBezTo>
                  <a:cubicBezTo>
                    <a:pt x="1426" y="8354"/>
                    <a:pt x="1416" y="8441"/>
                    <a:pt x="1473" y="8622"/>
                  </a:cubicBezTo>
                  <a:lnTo>
                    <a:pt x="1520" y="8622"/>
                  </a:lnTo>
                  <a:cubicBezTo>
                    <a:pt x="1569" y="8710"/>
                    <a:pt x="1975" y="9160"/>
                    <a:pt x="2133" y="9105"/>
                  </a:cubicBezTo>
                  <a:cubicBezTo>
                    <a:pt x="2414" y="9356"/>
                    <a:pt x="2674" y="9574"/>
                    <a:pt x="3086" y="9750"/>
                  </a:cubicBezTo>
                  <a:cubicBezTo>
                    <a:pt x="3082" y="9812"/>
                    <a:pt x="3079" y="9875"/>
                    <a:pt x="3077" y="9937"/>
                  </a:cubicBezTo>
                  <a:cubicBezTo>
                    <a:pt x="3152" y="9898"/>
                    <a:pt x="3229" y="9859"/>
                    <a:pt x="3307" y="9824"/>
                  </a:cubicBezTo>
                  <a:lnTo>
                    <a:pt x="3321" y="9829"/>
                  </a:lnTo>
                  <a:lnTo>
                    <a:pt x="3322" y="9817"/>
                  </a:lnTo>
                  <a:cubicBezTo>
                    <a:pt x="3580" y="9701"/>
                    <a:pt x="3830" y="9612"/>
                    <a:pt x="4125" y="9621"/>
                  </a:cubicBezTo>
                  <a:cubicBezTo>
                    <a:pt x="4261" y="9626"/>
                    <a:pt x="4581" y="9721"/>
                    <a:pt x="4686" y="9617"/>
                  </a:cubicBezTo>
                  <a:cubicBezTo>
                    <a:pt x="4748" y="9641"/>
                    <a:pt x="4808" y="9667"/>
                    <a:pt x="4866" y="9695"/>
                  </a:cubicBezTo>
                  <a:cubicBezTo>
                    <a:pt x="5080" y="9574"/>
                    <a:pt x="5871" y="9431"/>
                    <a:pt x="5918" y="9296"/>
                  </a:cubicBezTo>
                  <a:cubicBezTo>
                    <a:pt x="5972" y="9317"/>
                    <a:pt x="5995" y="9339"/>
                    <a:pt x="6016" y="9264"/>
                  </a:cubicBezTo>
                  <a:cubicBezTo>
                    <a:pt x="6022" y="9261"/>
                    <a:pt x="6045" y="9250"/>
                    <a:pt x="6080" y="9241"/>
                  </a:cubicBezTo>
                  <a:cubicBezTo>
                    <a:pt x="6162" y="9312"/>
                    <a:pt x="6375" y="9249"/>
                    <a:pt x="6476" y="9223"/>
                  </a:cubicBezTo>
                  <a:lnTo>
                    <a:pt x="6476" y="9214"/>
                  </a:lnTo>
                  <a:cubicBezTo>
                    <a:pt x="7144" y="9195"/>
                    <a:pt x="6984" y="9378"/>
                    <a:pt x="7304" y="9739"/>
                  </a:cubicBezTo>
                  <a:cubicBezTo>
                    <a:pt x="7475" y="9932"/>
                    <a:pt x="7980" y="9814"/>
                    <a:pt x="8200" y="9773"/>
                  </a:cubicBezTo>
                  <a:cubicBezTo>
                    <a:pt x="8223" y="9858"/>
                    <a:pt x="8315" y="9945"/>
                    <a:pt x="8426" y="9941"/>
                  </a:cubicBezTo>
                  <a:cubicBezTo>
                    <a:pt x="8418" y="9986"/>
                    <a:pt x="8482" y="10342"/>
                    <a:pt x="8493" y="10381"/>
                  </a:cubicBezTo>
                  <a:lnTo>
                    <a:pt x="8473" y="10381"/>
                  </a:lnTo>
                  <a:cubicBezTo>
                    <a:pt x="8451" y="10590"/>
                    <a:pt x="8231" y="10752"/>
                    <a:pt x="8455" y="10846"/>
                  </a:cubicBezTo>
                  <a:cubicBezTo>
                    <a:pt x="8424" y="11002"/>
                    <a:pt x="8415" y="11164"/>
                    <a:pt x="8205" y="11187"/>
                  </a:cubicBezTo>
                  <a:cubicBezTo>
                    <a:pt x="8322" y="11607"/>
                    <a:pt x="8608" y="11836"/>
                    <a:pt x="8916" y="12161"/>
                  </a:cubicBezTo>
                  <a:cubicBezTo>
                    <a:pt x="8896" y="12195"/>
                    <a:pt x="8883" y="12228"/>
                    <a:pt x="8856" y="12259"/>
                  </a:cubicBezTo>
                  <a:cubicBezTo>
                    <a:pt x="9007" y="12382"/>
                    <a:pt x="9103" y="12537"/>
                    <a:pt x="9233" y="12666"/>
                  </a:cubicBezTo>
                  <a:lnTo>
                    <a:pt x="9303" y="12614"/>
                  </a:lnTo>
                  <a:cubicBezTo>
                    <a:pt x="9334" y="12654"/>
                    <a:pt x="9303" y="12657"/>
                    <a:pt x="9301" y="12701"/>
                  </a:cubicBezTo>
                  <a:lnTo>
                    <a:pt x="9265" y="12704"/>
                  </a:lnTo>
                  <a:cubicBezTo>
                    <a:pt x="9269" y="12865"/>
                    <a:pt x="9736" y="13608"/>
                    <a:pt x="9628" y="13713"/>
                  </a:cubicBezTo>
                  <a:cubicBezTo>
                    <a:pt x="9399" y="13830"/>
                    <a:pt x="9559" y="14066"/>
                    <a:pt x="9672" y="14224"/>
                  </a:cubicBezTo>
                  <a:cubicBezTo>
                    <a:pt x="9958" y="14623"/>
                    <a:pt x="9535" y="14683"/>
                    <a:pt x="9477" y="14929"/>
                  </a:cubicBezTo>
                  <a:cubicBezTo>
                    <a:pt x="9422" y="15139"/>
                    <a:pt x="9270" y="15661"/>
                    <a:pt x="9117" y="15801"/>
                  </a:cubicBezTo>
                  <a:cubicBezTo>
                    <a:pt x="9132" y="15821"/>
                    <a:pt x="9142" y="15843"/>
                    <a:pt x="9148" y="15865"/>
                  </a:cubicBezTo>
                  <a:lnTo>
                    <a:pt x="9127" y="15871"/>
                  </a:lnTo>
                  <a:cubicBezTo>
                    <a:pt x="9147" y="15972"/>
                    <a:pt x="9127" y="16088"/>
                    <a:pt x="9127" y="16190"/>
                  </a:cubicBezTo>
                  <a:lnTo>
                    <a:pt x="9117" y="16197"/>
                  </a:lnTo>
                  <a:cubicBezTo>
                    <a:pt x="9045" y="16880"/>
                    <a:pt x="10051" y="17437"/>
                    <a:pt x="9956" y="18137"/>
                  </a:cubicBezTo>
                  <a:cubicBezTo>
                    <a:pt x="9907" y="18501"/>
                    <a:pt x="10103" y="19517"/>
                    <a:pt x="10608" y="19648"/>
                  </a:cubicBezTo>
                  <a:cubicBezTo>
                    <a:pt x="10711" y="19738"/>
                    <a:pt x="11215" y="20660"/>
                    <a:pt x="11120" y="20764"/>
                  </a:cubicBezTo>
                  <a:cubicBezTo>
                    <a:pt x="10785" y="20848"/>
                    <a:pt x="11116" y="20987"/>
                    <a:pt x="11144" y="21115"/>
                  </a:cubicBezTo>
                  <a:cubicBezTo>
                    <a:pt x="10968" y="21510"/>
                    <a:pt x="11967" y="21476"/>
                    <a:pt x="12221" y="21354"/>
                  </a:cubicBezTo>
                  <a:cubicBezTo>
                    <a:pt x="12519" y="21209"/>
                    <a:pt x="12813" y="21294"/>
                    <a:pt x="13150" y="21319"/>
                  </a:cubicBezTo>
                  <a:cubicBezTo>
                    <a:pt x="13150" y="21319"/>
                    <a:pt x="13164" y="21264"/>
                    <a:pt x="13165" y="21262"/>
                  </a:cubicBezTo>
                  <a:cubicBezTo>
                    <a:pt x="13768" y="21285"/>
                    <a:pt x="14233" y="20805"/>
                    <a:pt x="14641" y="20497"/>
                  </a:cubicBezTo>
                  <a:cubicBezTo>
                    <a:pt x="14854" y="20335"/>
                    <a:pt x="14941" y="20135"/>
                    <a:pt x="15093" y="19938"/>
                  </a:cubicBezTo>
                  <a:cubicBezTo>
                    <a:pt x="15177" y="19827"/>
                    <a:pt x="15387" y="19750"/>
                    <a:pt x="15454" y="19635"/>
                  </a:cubicBezTo>
                  <a:cubicBezTo>
                    <a:pt x="15552" y="19463"/>
                    <a:pt x="15640" y="19307"/>
                    <a:pt x="15688" y="19094"/>
                  </a:cubicBezTo>
                  <a:lnTo>
                    <a:pt x="15697" y="19094"/>
                  </a:lnTo>
                  <a:cubicBezTo>
                    <a:pt x="15716" y="18996"/>
                    <a:pt x="15724" y="18898"/>
                    <a:pt x="15722" y="18799"/>
                  </a:cubicBezTo>
                  <a:lnTo>
                    <a:pt x="15659" y="18795"/>
                  </a:lnTo>
                  <a:cubicBezTo>
                    <a:pt x="15712" y="18611"/>
                    <a:pt x="15867" y="18624"/>
                    <a:pt x="16053" y="18537"/>
                  </a:cubicBezTo>
                  <a:cubicBezTo>
                    <a:pt x="16371" y="18385"/>
                    <a:pt x="16454" y="18365"/>
                    <a:pt x="16521" y="18076"/>
                  </a:cubicBezTo>
                  <a:cubicBezTo>
                    <a:pt x="16544" y="17824"/>
                    <a:pt x="16568" y="17645"/>
                    <a:pt x="16480" y="17400"/>
                  </a:cubicBezTo>
                  <a:cubicBezTo>
                    <a:pt x="16325" y="16977"/>
                    <a:pt x="16456" y="16954"/>
                    <a:pt x="16829" y="16691"/>
                  </a:cubicBezTo>
                  <a:cubicBezTo>
                    <a:pt x="17122" y="16484"/>
                    <a:pt x="17222" y="16348"/>
                    <a:pt x="17594" y="16182"/>
                  </a:cubicBezTo>
                  <a:cubicBezTo>
                    <a:pt x="17872" y="16057"/>
                    <a:pt x="18450" y="15634"/>
                    <a:pt x="18274" y="15310"/>
                  </a:cubicBezTo>
                  <a:cubicBezTo>
                    <a:pt x="18221" y="15211"/>
                    <a:pt x="18282" y="14088"/>
                    <a:pt x="18165" y="14103"/>
                  </a:cubicBezTo>
                  <a:cubicBezTo>
                    <a:pt x="18141" y="14052"/>
                    <a:pt x="18023" y="13987"/>
                    <a:pt x="17958" y="13987"/>
                  </a:cubicBezTo>
                  <a:cubicBezTo>
                    <a:pt x="17817" y="13835"/>
                    <a:pt x="17931" y="13505"/>
                    <a:pt x="17832" y="13353"/>
                  </a:cubicBezTo>
                  <a:cubicBezTo>
                    <a:pt x="17796" y="13301"/>
                    <a:pt x="17878" y="13216"/>
                    <a:pt x="17887" y="13166"/>
                  </a:cubicBezTo>
                  <a:cubicBezTo>
                    <a:pt x="17915" y="13016"/>
                    <a:pt x="17749" y="13031"/>
                    <a:pt x="17690" y="12936"/>
                  </a:cubicBezTo>
                  <a:cubicBezTo>
                    <a:pt x="17639" y="12798"/>
                    <a:pt x="17991" y="12016"/>
                    <a:pt x="18132" y="11894"/>
                  </a:cubicBezTo>
                  <a:cubicBezTo>
                    <a:pt x="18256" y="11861"/>
                    <a:pt x="18334" y="11800"/>
                    <a:pt x="18421" y="11719"/>
                  </a:cubicBezTo>
                  <a:lnTo>
                    <a:pt x="18439" y="11748"/>
                  </a:lnTo>
                  <a:cubicBezTo>
                    <a:pt x="18933" y="11102"/>
                    <a:pt x="19669" y="10727"/>
                    <a:pt x="20222" y="10146"/>
                  </a:cubicBezTo>
                  <a:cubicBezTo>
                    <a:pt x="20487" y="9868"/>
                    <a:pt x="20746" y="9587"/>
                    <a:pt x="20861" y="9234"/>
                  </a:cubicBezTo>
                  <a:cubicBezTo>
                    <a:pt x="20916" y="9067"/>
                    <a:pt x="21026" y="8908"/>
                    <a:pt x="21115" y="8753"/>
                  </a:cubicBezTo>
                  <a:cubicBezTo>
                    <a:pt x="21241" y="8534"/>
                    <a:pt x="21257" y="8322"/>
                    <a:pt x="21357" y="8120"/>
                  </a:cubicBezTo>
                  <a:cubicBezTo>
                    <a:pt x="21369" y="8126"/>
                    <a:pt x="21377" y="8136"/>
                    <a:pt x="21381" y="8150"/>
                  </a:cubicBezTo>
                  <a:cubicBezTo>
                    <a:pt x="21416" y="8150"/>
                    <a:pt x="21450" y="8149"/>
                    <a:pt x="21485" y="8146"/>
                  </a:cubicBezTo>
                  <a:cubicBezTo>
                    <a:pt x="21506" y="8073"/>
                    <a:pt x="21488" y="8022"/>
                    <a:pt x="21449" y="7942"/>
                  </a:cubicBezTo>
                  <a:cubicBezTo>
                    <a:pt x="21441" y="7926"/>
                    <a:pt x="21477" y="7998"/>
                    <a:pt x="21449" y="7942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900" dirty="0"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47" name="Shape 25921">
              <a:extLst>
                <a:ext uri="{FF2B5EF4-FFF2-40B4-BE49-F238E27FC236}">
                  <a16:creationId xmlns:a16="http://schemas.microsoft.com/office/drawing/2014/main" id="{3DEBF112-42A5-766A-1EE5-5E764AE88DCA}"/>
                </a:ext>
              </a:extLst>
            </p:cNvPr>
            <p:cNvSpPr/>
            <p:nvPr/>
          </p:nvSpPr>
          <p:spPr>
            <a:xfrm>
              <a:off x="7724926" y="4592278"/>
              <a:ext cx="4997462" cy="3945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1" h="21535" extrusionOk="0">
                  <a:moveTo>
                    <a:pt x="16904" y="15081"/>
                  </a:moveTo>
                  <a:cubicBezTo>
                    <a:pt x="16878" y="15144"/>
                    <a:pt x="16987" y="15511"/>
                    <a:pt x="17048" y="15519"/>
                  </a:cubicBezTo>
                  <a:cubicBezTo>
                    <a:pt x="17083" y="15524"/>
                    <a:pt x="17047" y="15382"/>
                    <a:pt x="17101" y="15439"/>
                  </a:cubicBezTo>
                  <a:cubicBezTo>
                    <a:pt x="17151" y="15490"/>
                    <a:pt x="17019" y="15711"/>
                    <a:pt x="17203" y="15682"/>
                  </a:cubicBezTo>
                  <a:cubicBezTo>
                    <a:pt x="17259" y="15674"/>
                    <a:pt x="17432" y="15703"/>
                    <a:pt x="17464" y="15758"/>
                  </a:cubicBezTo>
                  <a:cubicBezTo>
                    <a:pt x="17452" y="15727"/>
                    <a:pt x="17442" y="15696"/>
                    <a:pt x="17435" y="15663"/>
                  </a:cubicBezTo>
                  <a:cubicBezTo>
                    <a:pt x="17516" y="15683"/>
                    <a:pt x="17654" y="15992"/>
                    <a:pt x="17725" y="15946"/>
                  </a:cubicBezTo>
                  <a:cubicBezTo>
                    <a:pt x="17786" y="15905"/>
                    <a:pt x="17633" y="15755"/>
                    <a:pt x="17633" y="15702"/>
                  </a:cubicBezTo>
                  <a:cubicBezTo>
                    <a:pt x="17660" y="15714"/>
                    <a:pt x="17766" y="15737"/>
                    <a:pt x="17745" y="15652"/>
                  </a:cubicBezTo>
                  <a:cubicBezTo>
                    <a:pt x="17729" y="15587"/>
                    <a:pt x="17567" y="15597"/>
                    <a:pt x="17540" y="15580"/>
                  </a:cubicBezTo>
                  <a:cubicBezTo>
                    <a:pt x="17349" y="15455"/>
                    <a:pt x="17283" y="15635"/>
                    <a:pt x="17202" y="15310"/>
                  </a:cubicBezTo>
                  <a:cubicBezTo>
                    <a:pt x="17153" y="15112"/>
                    <a:pt x="17295" y="15098"/>
                    <a:pt x="17324" y="14930"/>
                  </a:cubicBezTo>
                  <a:cubicBezTo>
                    <a:pt x="17333" y="14883"/>
                    <a:pt x="17282" y="14574"/>
                    <a:pt x="17261" y="14508"/>
                  </a:cubicBezTo>
                  <a:cubicBezTo>
                    <a:pt x="17172" y="14517"/>
                    <a:pt x="16955" y="14428"/>
                    <a:pt x="16945" y="14587"/>
                  </a:cubicBezTo>
                  <a:cubicBezTo>
                    <a:pt x="16940" y="14669"/>
                    <a:pt x="17033" y="15040"/>
                    <a:pt x="16988" y="15085"/>
                  </a:cubicBezTo>
                  <a:cubicBezTo>
                    <a:pt x="16958" y="15115"/>
                    <a:pt x="16927" y="15024"/>
                    <a:pt x="16904" y="15081"/>
                  </a:cubicBezTo>
                  <a:close/>
                  <a:moveTo>
                    <a:pt x="16904" y="15081"/>
                  </a:moveTo>
                  <a:cubicBezTo>
                    <a:pt x="16926" y="15025"/>
                    <a:pt x="16888" y="15121"/>
                    <a:pt x="16904" y="15081"/>
                  </a:cubicBezTo>
                  <a:cubicBezTo>
                    <a:pt x="16904" y="15081"/>
                    <a:pt x="16904" y="15081"/>
                    <a:pt x="16904" y="15081"/>
                  </a:cubicBezTo>
                  <a:close/>
                  <a:moveTo>
                    <a:pt x="17709" y="16709"/>
                  </a:moveTo>
                  <a:cubicBezTo>
                    <a:pt x="17708" y="16802"/>
                    <a:pt x="17805" y="16839"/>
                    <a:pt x="17834" y="16746"/>
                  </a:cubicBezTo>
                  <a:cubicBezTo>
                    <a:pt x="17843" y="16718"/>
                    <a:pt x="17726" y="16544"/>
                    <a:pt x="17722" y="16461"/>
                  </a:cubicBezTo>
                  <a:cubicBezTo>
                    <a:pt x="17724" y="16510"/>
                    <a:pt x="17344" y="16224"/>
                    <a:pt x="17341" y="16255"/>
                  </a:cubicBezTo>
                  <a:cubicBezTo>
                    <a:pt x="17337" y="16305"/>
                    <a:pt x="17337" y="16436"/>
                    <a:pt x="17350" y="16498"/>
                  </a:cubicBezTo>
                  <a:cubicBezTo>
                    <a:pt x="17373" y="16614"/>
                    <a:pt x="17515" y="16528"/>
                    <a:pt x="17520" y="16668"/>
                  </a:cubicBezTo>
                  <a:cubicBezTo>
                    <a:pt x="17522" y="16697"/>
                    <a:pt x="17426" y="16700"/>
                    <a:pt x="17444" y="16766"/>
                  </a:cubicBezTo>
                  <a:cubicBezTo>
                    <a:pt x="17455" y="16807"/>
                    <a:pt x="17578" y="16963"/>
                    <a:pt x="17612" y="16917"/>
                  </a:cubicBezTo>
                  <a:cubicBezTo>
                    <a:pt x="17662" y="16850"/>
                    <a:pt x="17544" y="16759"/>
                    <a:pt x="17614" y="16682"/>
                  </a:cubicBezTo>
                  <a:cubicBezTo>
                    <a:pt x="17616" y="16704"/>
                    <a:pt x="17611" y="16808"/>
                    <a:pt x="17633" y="16819"/>
                  </a:cubicBezTo>
                  <a:cubicBezTo>
                    <a:pt x="17628" y="16817"/>
                    <a:pt x="17623" y="16814"/>
                    <a:pt x="17634" y="16819"/>
                  </a:cubicBezTo>
                  <a:cubicBezTo>
                    <a:pt x="17645" y="16824"/>
                    <a:pt x="17640" y="16822"/>
                    <a:pt x="17634" y="16819"/>
                  </a:cubicBezTo>
                  <a:cubicBezTo>
                    <a:pt x="17657" y="16828"/>
                    <a:pt x="17680" y="16724"/>
                    <a:pt x="17709" y="16709"/>
                  </a:cubicBezTo>
                  <a:close/>
                  <a:moveTo>
                    <a:pt x="17710" y="15961"/>
                  </a:moveTo>
                  <a:cubicBezTo>
                    <a:pt x="17692" y="16058"/>
                    <a:pt x="17961" y="16228"/>
                    <a:pt x="17733" y="16237"/>
                  </a:cubicBezTo>
                  <a:cubicBezTo>
                    <a:pt x="17725" y="16290"/>
                    <a:pt x="17863" y="16620"/>
                    <a:pt x="17917" y="16605"/>
                  </a:cubicBezTo>
                  <a:cubicBezTo>
                    <a:pt x="17920" y="16528"/>
                    <a:pt x="17845" y="16422"/>
                    <a:pt x="17860" y="16351"/>
                  </a:cubicBezTo>
                  <a:cubicBezTo>
                    <a:pt x="17876" y="16273"/>
                    <a:pt x="17948" y="16350"/>
                    <a:pt x="17980" y="16311"/>
                  </a:cubicBezTo>
                  <a:cubicBezTo>
                    <a:pt x="17973" y="16319"/>
                    <a:pt x="17965" y="16329"/>
                    <a:pt x="17980" y="16310"/>
                  </a:cubicBezTo>
                  <a:cubicBezTo>
                    <a:pt x="17991" y="16297"/>
                    <a:pt x="17986" y="16303"/>
                    <a:pt x="17980" y="16310"/>
                  </a:cubicBezTo>
                  <a:cubicBezTo>
                    <a:pt x="18077" y="16188"/>
                    <a:pt x="17806" y="15955"/>
                    <a:pt x="17710" y="15961"/>
                  </a:cubicBezTo>
                  <a:close/>
                  <a:moveTo>
                    <a:pt x="18167" y="17453"/>
                  </a:moveTo>
                  <a:cubicBezTo>
                    <a:pt x="18167" y="17440"/>
                    <a:pt x="18167" y="17446"/>
                    <a:pt x="18167" y="17453"/>
                  </a:cubicBezTo>
                  <a:cubicBezTo>
                    <a:pt x="18167" y="17453"/>
                    <a:pt x="18167" y="17453"/>
                    <a:pt x="18167" y="17453"/>
                  </a:cubicBezTo>
                  <a:close/>
                  <a:moveTo>
                    <a:pt x="18083" y="17581"/>
                  </a:moveTo>
                  <a:cubicBezTo>
                    <a:pt x="18118" y="17811"/>
                    <a:pt x="18000" y="17620"/>
                    <a:pt x="18003" y="17620"/>
                  </a:cubicBezTo>
                  <a:cubicBezTo>
                    <a:pt x="17800" y="17636"/>
                    <a:pt x="17817" y="17533"/>
                    <a:pt x="17813" y="17287"/>
                  </a:cubicBezTo>
                  <a:cubicBezTo>
                    <a:pt x="17810" y="17128"/>
                    <a:pt x="17608" y="17239"/>
                    <a:pt x="17535" y="17194"/>
                  </a:cubicBezTo>
                  <a:cubicBezTo>
                    <a:pt x="17492" y="17167"/>
                    <a:pt x="17488" y="17406"/>
                    <a:pt x="17436" y="17391"/>
                  </a:cubicBezTo>
                  <a:cubicBezTo>
                    <a:pt x="17357" y="17368"/>
                    <a:pt x="17569" y="16871"/>
                    <a:pt x="17719" y="16991"/>
                  </a:cubicBezTo>
                  <a:cubicBezTo>
                    <a:pt x="17721" y="16992"/>
                    <a:pt x="17793" y="17215"/>
                    <a:pt x="17812" y="17062"/>
                  </a:cubicBezTo>
                  <a:cubicBezTo>
                    <a:pt x="17825" y="16959"/>
                    <a:pt x="17826" y="16988"/>
                    <a:pt x="17894" y="16996"/>
                  </a:cubicBezTo>
                  <a:cubicBezTo>
                    <a:pt x="17909" y="16893"/>
                    <a:pt x="17880" y="16906"/>
                    <a:pt x="17983" y="16886"/>
                  </a:cubicBezTo>
                  <a:cubicBezTo>
                    <a:pt x="18091" y="16865"/>
                    <a:pt x="17957" y="16726"/>
                    <a:pt x="18000" y="16693"/>
                  </a:cubicBezTo>
                  <a:cubicBezTo>
                    <a:pt x="18101" y="16614"/>
                    <a:pt x="18130" y="16965"/>
                    <a:pt x="18133" y="16978"/>
                  </a:cubicBezTo>
                  <a:cubicBezTo>
                    <a:pt x="18131" y="16970"/>
                    <a:pt x="18211" y="17160"/>
                    <a:pt x="18200" y="17128"/>
                  </a:cubicBezTo>
                  <a:cubicBezTo>
                    <a:pt x="18258" y="17300"/>
                    <a:pt x="18153" y="17341"/>
                    <a:pt x="18174" y="17494"/>
                  </a:cubicBezTo>
                  <a:lnTo>
                    <a:pt x="18168" y="17460"/>
                  </a:lnTo>
                  <a:cubicBezTo>
                    <a:pt x="18167" y="17449"/>
                    <a:pt x="18120" y="17319"/>
                    <a:pt x="18100" y="17304"/>
                  </a:cubicBezTo>
                  <a:cubicBezTo>
                    <a:pt x="17981" y="17215"/>
                    <a:pt x="18085" y="17594"/>
                    <a:pt x="18083" y="17581"/>
                  </a:cubicBezTo>
                  <a:close/>
                  <a:moveTo>
                    <a:pt x="18592" y="19309"/>
                  </a:moveTo>
                  <a:cubicBezTo>
                    <a:pt x="18592" y="19309"/>
                    <a:pt x="18587" y="19307"/>
                    <a:pt x="18585" y="19305"/>
                  </a:cubicBezTo>
                  <a:cubicBezTo>
                    <a:pt x="18586" y="19306"/>
                    <a:pt x="18588" y="19307"/>
                    <a:pt x="18592" y="19309"/>
                  </a:cubicBezTo>
                  <a:close/>
                  <a:moveTo>
                    <a:pt x="18592" y="19309"/>
                  </a:moveTo>
                  <a:lnTo>
                    <a:pt x="18598" y="19309"/>
                  </a:lnTo>
                  <a:cubicBezTo>
                    <a:pt x="18615" y="19134"/>
                    <a:pt x="18425" y="19063"/>
                    <a:pt x="18628" y="18989"/>
                  </a:cubicBezTo>
                  <a:cubicBezTo>
                    <a:pt x="18655" y="18947"/>
                    <a:pt x="18648" y="18911"/>
                    <a:pt x="18607" y="18881"/>
                  </a:cubicBezTo>
                  <a:cubicBezTo>
                    <a:pt x="18642" y="18813"/>
                    <a:pt x="18683" y="18803"/>
                    <a:pt x="18669" y="18696"/>
                  </a:cubicBezTo>
                  <a:cubicBezTo>
                    <a:pt x="18643" y="18690"/>
                    <a:pt x="18459" y="18728"/>
                    <a:pt x="18561" y="18611"/>
                  </a:cubicBezTo>
                  <a:cubicBezTo>
                    <a:pt x="18564" y="18608"/>
                    <a:pt x="18724" y="18381"/>
                    <a:pt x="18601" y="18449"/>
                  </a:cubicBezTo>
                  <a:cubicBezTo>
                    <a:pt x="18400" y="18560"/>
                    <a:pt x="18393" y="19197"/>
                    <a:pt x="18592" y="19309"/>
                  </a:cubicBezTo>
                  <a:close/>
                  <a:moveTo>
                    <a:pt x="18103" y="19991"/>
                  </a:moveTo>
                  <a:cubicBezTo>
                    <a:pt x="18100" y="19960"/>
                    <a:pt x="18096" y="19927"/>
                    <a:pt x="18103" y="19992"/>
                  </a:cubicBezTo>
                  <a:cubicBezTo>
                    <a:pt x="18109" y="20049"/>
                    <a:pt x="18106" y="20022"/>
                    <a:pt x="18103" y="19992"/>
                  </a:cubicBezTo>
                  <a:cubicBezTo>
                    <a:pt x="18116" y="20110"/>
                    <a:pt x="18306" y="20161"/>
                    <a:pt x="18306" y="20039"/>
                  </a:cubicBezTo>
                  <a:lnTo>
                    <a:pt x="18306" y="20017"/>
                  </a:lnTo>
                  <a:cubicBezTo>
                    <a:pt x="18306" y="19930"/>
                    <a:pt x="18091" y="19867"/>
                    <a:pt x="18103" y="19991"/>
                  </a:cubicBezTo>
                  <a:close/>
                  <a:moveTo>
                    <a:pt x="18904" y="19884"/>
                  </a:moveTo>
                  <a:cubicBezTo>
                    <a:pt x="18917" y="19893"/>
                    <a:pt x="18937" y="19906"/>
                    <a:pt x="18903" y="19884"/>
                  </a:cubicBezTo>
                  <a:cubicBezTo>
                    <a:pt x="18890" y="19876"/>
                    <a:pt x="18895" y="19879"/>
                    <a:pt x="18902" y="19883"/>
                  </a:cubicBezTo>
                  <a:cubicBezTo>
                    <a:pt x="18853" y="19853"/>
                    <a:pt x="18538" y="19779"/>
                    <a:pt x="18518" y="19896"/>
                  </a:cubicBezTo>
                  <a:cubicBezTo>
                    <a:pt x="18509" y="19950"/>
                    <a:pt x="18935" y="20067"/>
                    <a:pt x="18988" y="20089"/>
                  </a:cubicBezTo>
                  <a:cubicBezTo>
                    <a:pt x="19014" y="20004"/>
                    <a:pt x="18985" y="19937"/>
                    <a:pt x="18904" y="19884"/>
                  </a:cubicBezTo>
                  <a:close/>
                  <a:moveTo>
                    <a:pt x="16263" y="21201"/>
                  </a:moveTo>
                  <a:cubicBezTo>
                    <a:pt x="16276" y="21209"/>
                    <a:pt x="16293" y="21218"/>
                    <a:pt x="16262" y="21201"/>
                  </a:cubicBezTo>
                  <a:cubicBezTo>
                    <a:pt x="16243" y="21190"/>
                    <a:pt x="16250" y="21195"/>
                    <a:pt x="16261" y="21200"/>
                  </a:cubicBezTo>
                  <a:cubicBezTo>
                    <a:pt x="16178" y="21156"/>
                    <a:pt x="15894" y="21117"/>
                    <a:pt x="15839" y="21038"/>
                  </a:cubicBezTo>
                  <a:cubicBezTo>
                    <a:pt x="15766" y="20931"/>
                    <a:pt x="16060" y="20952"/>
                    <a:pt x="16033" y="20890"/>
                  </a:cubicBezTo>
                  <a:cubicBezTo>
                    <a:pt x="16015" y="20847"/>
                    <a:pt x="15631" y="20892"/>
                    <a:pt x="15548" y="20827"/>
                  </a:cubicBezTo>
                  <a:cubicBezTo>
                    <a:pt x="15431" y="20733"/>
                    <a:pt x="15383" y="20954"/>
                    <a:pt x="15185" y="20881"/>
                  </a:cubicBezTo>
                  <a:cubicBezTo>
                    <a:pt x="15030" y="20824"/>
                    <a:pt x="14638" y="20421"/>
                    <a:pt x="14549" y="20854"/>
                  </a:cubicBezTo>
                  <a:cubicBezTo>
                    <a:pt x="14678" y="20857"/>
                    <a:pt x="14825" y="21025"/>
                    <a:pt x="14961" y="21071"/>
                  </a:cubicBezTo>
                  <a:cubicBezTo>
                    <a:pt x="15189" y="21147"/>
                    <a:pt x="15472" y="21216"/>
                    <a:pt x="15706" y="21244"/>
                  </a:cubicBezTo>
                  <a:cubicBezTo>
                    <a:pt x="15768" y="21252"/>
                    <a:pt x="16095" y="21365"/>
                    <a:pt x="16116" y="21306"/>
                  </a:cubicBezTo>
                  <a:cubicBezTo>
                    <a:pt x="16108" y="21329"/>
                    <a:pt x="16443" y="21301"/>
                    <a:pt x="16263" y="21201"/>
                  </a:cubicBezTo>
                  <a:close/>
                  <a:moveTo>
                    <a:pt x="14587" y="20535"/>
                  </a:moveTo>
                  <a:cubicBezTo>
                    <a:pt x="14613" y="20480"/>
                    <a:pt x="14595" y="20518"/>
                    <a:pt x="14587" y="20535"/>
                  </a:cubicBezTo>
                  <a:cubicBezTo>
                    <a:pt x="14615" y="20477"/>
                    <a:pt x="14667" y="19955"/>
                    <a:pt x="14646" y="19893"/>
                  </a:cubicBezTo>
                  <a:cubicBezTo>
                    <a:pt x="14672" y="19912"/>
                    <a:pt x="14704" y="19916"/>
                    <a:pt x="14725" y="19942"/>
                  </a:cubicBezTo>
                  <a:cubicBezTo>
                    <a:pt x="14719" y="19826"/>
                    <a:pt x="14724" y="19684"/>
                    <a:pt x="14625" y="19570"/>
                  </a:cubicBezTo>
                  <a:cubicBezTo>
                    <a:pt x="14582" y="19521"/>
                    <a:pt x="14466" y="19573"/>
                    <a:pt x="14476" y="19656"/>
                  </a:cubicBezTo>
                  <a:cubicBezTo>
                    <a:pt x="14484" y="19728"/>
                    <a:pt x="14595" y="19726"/>
                    <a:pt x="14612" y="19833"/>
                  </a:cubicBezTo>
                  <a:cubicBezTo>
                    <a:pt x="14544" y="19734"/>
                    <a:pt x="14504" y="19734"/>
                    <a:pt x="14410" y="19686"/>
                  </a:cubicBezTo>
                  <a:cubicBezTo>
                    <a:pt x="14334" y="19438"/>
                    <a:pt x="14184" y="19343"/>
                    <a:pt x="14241" y="19116"/>
                  </a:cubicBezTo>
                  <a:cubicBezTo>
                    <a:pt x="14265" y="19025"/>
                    <a:pt x="13866" y="18581"/>
                    <a:pt x="13773" y="18564"/>
                  </a:cubicBezTo>
                  <a:cubicBezTo>
                    <a:pt x="13610" y="18532"/>
                    <a:pt x="13314" y="18143"/>
                    <a:pt x="13239" y="17978"/>
                  </a:cubicBezTo>
                  <a:cubicBezTo>
                    <a:pt x="13175" y="17835"/>
                    <a:pt x="12614" y="17619"/>
                    <a:pt x="12740" y="17868"/>
                  </a:cubicBezTo>
                  <a:cubicBezTo>
                    <a:pt x="12804" y="17994"/>
                    <a:pt x="12911" y="18099"/>
                    <a:pt x="12993" y="18204"/>
                  </a:cubicBezTo>
                  <a:cubicBezTo>
                    <a:pt x="13074" y="18306"/>
                    <a:pt x="13143" y="18547"/>
                    <a:pt x="13247" y="18604"/>
                  </a:cubicBezTo>
                  <a:cubicBezTo>
                    <a:pt x="13343" y="18657"/>
                    <a:pt x="13391" y="18728"/>
                    <a:pt x="13410" y="18867"/>
                  </a:cubicBezTo>
                  <a:cubicBezTo>
                    <a:pt x="13435" y="19052"/>
                    <a:pt x="13571" y="19187"/>
                    <a:pt x="13642" y="19345"/>
                  </a:cubicBezTo>
                  <a:cubicBezTo>
                    <a:pt x="13726" y="19532"/>
                    <a:pt x="13738" y="19854"/>
                    <a:pt x="13898" y="19967"/>
                  </a:cubicBezTo>
                  <a:cubicBezTo>
                    <a:pt x="13999" y="20039"/>
                    <a:pt x="14049" y="20239"/>
                    <a:pt x="14159" y="20332"/>
                  </a:cubicBezTo>
                  <a:cubicBezTo>
                    <a:pt x="14218" y="20381"/>
                    <a:pt x="14320" y="20591"/>
                    <a:pt x="14373" y="20604"/>
                  </a:cubicBezTo>
                  <a:cubicBezTo>
                    <a:pt x="14369" y="20571"/>
                    <a:pt x="14355" y="20530"/>
                    <a:pt x="14378" y="20503"/>
                  </a:cubicBezTo>
                  <a:cubicBezTo>
                    <a:pt x="14413" y="20525"/>
                    <a:pt x="14560" y="20593"/>
                    <a:pt x="14587" y="20535"/>
                  </a:cubicBezTo>
                  <a:cubicBezTo>
                    <a:pt x="14584" y="20542"/>
                    <a:pt x="14582" y="20546"/>
                    <a:pt x="14587" y="20535"/>
                  </a:cubicBezTo>
                  <a:close/>
                  <a:moveTo>
                    <a:pt x="18008" y="18723"/>
                  </a:moveTo>
                  <a:cubicBezTo>
                    <a:pt x="17983" y="18750"/>
                    <a:pt x="17963" y="18782"/>
                    <a:pt x="17947" y="18819"/>
                  </a:cubicBezTo>
                  <a:cubicBezTo>
                    <a:pt x="17734" y="19148"/>
                    <a:pt x="17442" y="18778"/>
                    <a:pt x="17197" y="18912"/>
                  </a:cubicBezTo>
                  <a:cubicBezTo>
                    <a:pt x="17066" y="18984"/>
                    <a:pt x="16845" y="19897"/>
                    <a:pt x="16936" y="20034"/>
                  </a:cubicBezTo>
                  <a:cubicBezTo>
                    <a:pt x="16988" y="20112"/>
                    <a:pt x="17002" y="20686"/>
                    <a:pt x="17101" y="20570"/>
                  </a:cubicBezTo>
                  <a:cubicBezTo>
                    <a:pt x="17213" y="20440"/>
                    <a:pt x="17177" y="20077"/>
                    <a:pt x="17157" y="19905"/>
                  </a:cubicBezTo>
                  <a:cubicBezTo>
                    <a:pt x="17424" y="19728"/>
                    <a:pt x="17188" y="20552"/>
                    <a:pt x="17558" y="20246"/>
                  </a:cubicBezTo>
                  <a:cubicBezTo>
                    <a:pt x="17629" y="20187"/>
                    <a:pt x="17419" y="19764"/>
                    <a:pt x="17386" y="19700"/>
                  </a:cubicBezTo>
                  <a:cubicBezTo>
                    <a:pt x="17326" y="19586"/>
                    <a:pt x="17694" y="19451"/>
                    <a:pt x="17705" y="19360"/>
                  </a:cubicBezTo>
                  <a:cubicBezTo>
                    <a:pt x="17715" y="19275"/>
                    <a:pt x="16935" y="19751"/>
                    <a:pt x="17124" y="19135"/>
                  </a:cubicBezTo>
                  <a:cubicBezTo>
                    <a:pt x="17171" y="18983"/>
                    <a:pt x="17519" y="19053"/>
                    <a:pt x="17608" y="19065"/>
                  </a:cubicBezTo>
                  <a:cubicBezTo>
                    <a:pt x="17718" y="19079"/>
                    <a:pt x="17835" y="19134"/>
                    <a:pt x="17920" y="19006"/>
                  </a:cubicBezTo>
                  <a:cubicBezTo>
                    <a:pt x="17927" y="18996"/>
                    <a:pt x="18090" y="18686"/>
                    <a:pt x="18008" y="18723"/>
                  </a:cubicBezTo>
                  <a:close/>
                  <a:moveTo>
                    <a:pt x="16704" y="13082"/>
                  </a:moveTo>
                  <a:cubicBezTo>
                    <a:pt x="16613" y="13312"/>
                    <a:pt x="16783" y="13423"/>
                    <a:pt x="16840" y="13609"/>
                  </a:cubicBezTo>
                  <a:cubicBezTo>
                    <a:pt x="16841" y="13609"/>
                    <a:pt x="16850" y="13609"/>
                    <a:pt x="16852" y="13609"/>
                  </a:cubicBezTo>
                  <a:cubicBezTo>
                    <a:pt x="16855" y="13521"/>
                    <a:pt x="17025" y="12818"/>
                    <a:pt x="16888" y="12816"/>
                  </a:cubicBezTo>
                  <a:cubicBezTo>
                    <a:pt x="16888" y="12816"/>
                    <a:pt x="16888" y="12816"/>
                    <a:pt x="16888" y="12816"/>
                  </a:cubicBezTo>
                  <a:cubicBezTo>
                    <a:pt x="16848" y="12816"/>
                    <a:pt x="16878" y="12816"/>
                    <a:pt x="16888" y="12816"/>
                  </a:cubicBezTo>
                  <a:cubicBezTo>
                    <a:pt x="16771" y="12816"/>
                    <a:pt x="16747" y="12972"/>
                    <a:pt x="16704" y="13082"/>
                  </a:cubicBezTo>
                  <a:close/>
                  <a:moveTo>
                    <a:pt x="17712" y="10844"/>
                  </a:moveTo>
                  <a:cubicBezTo>
                    <a:pt x="17703" y="10863"/>
                    <a:pt x="17708" y="10853"/>
                    <a:pt x="17712" y="10844"/>
                  </a:cubicBezTo>
                  <a:cubicBezTo>
                    <a:pt x="17692" y="10887"/>
                    <a:pt x="17822" y="11096"/>
                    <a:pt x="17838" y="11109"/>
                  </a:cubicBezTo>
                  <a:cubicBezTo>
                    <a:pt x="17849" y="11118"/>
                    <a:pt x="17865" y="11124"/>
                    <a:pt x="17877" y="11126"/>
                  </a:cubicBezTo>
                  <a:cubicBezTo>
                    <a:pt x="17878" y="11096"/>
                    <a:pt x="17839" y="10886"/>
                    <a:pt x="17827" y="10899"/>
                  </a:cubicBezTo>
                  <a:cubicBezTo>
                    <a:pt x="17897" y="10821"/>
                    <a:pt x="17903" y="11539"/>
                    <a:pt x="18077" y="11380"/>
                  </a:cubicBezTo>
                  <a:cubicBezTo>
                    <a:pt x="18170" y="11297"/>
                    <a:pt x="18111" y="11168"/>
                    <a:pt x="18118" y="11055"/>
                  </a:cubicBezTo>
                  <a:cubicBezTo>
                    <a:pt x="18128" y="10876"/>
                    <a:pt x="18099" y="10972"/>
                    <a:pt x="18021" y="10859"/>
                  </a:cubicBezTo>
                  <a:cubicBezTo>
                    <a:pt x="18036" y="10845"/>
                    <a:pt x="17825" y="10607"/>
                    <a:pt x="17712" y="10844"/>
                  </a:cubicBezTo>
                  <a:cubicBezTo>
                    <a:pt x="17714" y="10841"/>
                    <a:pt x="17715" y="10839"/>
                    <a:pt x="17716" y="10837"/>
                  </a:cubicBezTo>
                  <a:cubicBezTo>
                    <a:pt x="17715" y="10838"/>
                    <a:pt x="17714" y="10841"/>
                    <a:pt x="17712" y="10844"/>
                  </a:cubicBezTo>
                  <a:close/>
                  <a:moveTo>
                    <a:pt x="18155" y="10981"/>
                  </a:moveTo>
                  <a:cubicBezTo>
                    <a:pt x="18156" y="10983"/>
                    <a:pt x="18156" y="10984"/>
                    <a:pt x="18157" y="10986"/>
                  </a:cubicBezTo>
                  <a:lnTo>
                    <a:pt x="18157" y="10980"/>
                  </a:lnTo>
                  <a:cubicBezTo>
                    <a:pt x="18156" y="10981"/>
                    <a:pt x="18156" y="10981"/>
                    <a:pt x="18155" y="10981"/>
                  </a:cubicBezTo>
                  <a:close/>
                  <a:moveTo>
                    <a:pt x="18494" y="10870"/>
                  </a:moveTo>
                  <a:cubicBezTo>
                    <a:pt x="18495" y="10871"/>
                    <a:pt x="18495" y="10871"/>
                    <a:pt x="18494" y="10870"/>
                  </a:cubicBezTo>
                  <a:cubicBezTo>
                    <a:pt x="18471" y="10838"/>
                    <a:pt x="18547" y="10731"/>
                    <a:pt x="18554" y="10729"/>
                  </a:cubicBezTo>
                  <a:cubicBezTo>
                    <a:pt x="18453" y="10479"/>
                    <a:pt x="18199" y="10696"/>
                    <a:pt x="18150" y="10851"/>
                  </a:cubicBezTo>
                  <a:cubicBezTo>
                    <a:pt x="18209" y="10805"/>
                    <a:pt x="18269" y="11010"/>
                    <a:pt x="18342" y="10999"/>
                  </a:cubicBezTo>
                  <a:cubicBezTo>
                    <a:pt x="18354" y="10871"/>
                    <a:pt x="18377" y="10711"/>
                    <a:pt x="18494" y="10870"/>
                  </a:cubicBezTo>
                  <a:close/>
                  <a:moveTo>
                    <a:pt x="18925" y="10455"/>
                  </a:moveTo>
                  <a:cubicBezTo>
                    <a:pt x="19074" y="10535"/>
                    <a:pt x="18998" y="10353"/>
                    <a:pt x="19082" y="10331"/>
                  </a:cubicBezTo>
                  <a:cubicBezTo>
                    <a:pt x="19143" y="10315"/>
                    <a:pt x="19102" y="10429"/>
                    <a:pt x="19140" y="10453"/>
                  </a:cubicBezTo>
                  <a:cubicBezTo>
                    <a:pt x="19161" y="10466"/>
                    <a:pt x="19182" y="10192"/>
                    <a:pt x="19268" y="10229"/>
                  </a:cubicBezTo>
                  <a:cubicBezTo>
                    <a:pt x="19270" y="10283"/>
                    <a:pt x="19281" y="10332"/>
                    <a:pt x="19303" y="10378"/>
                  </a:cubicBezTo>
                  <a:cubicBezTo>
                    <a:pt x="19331" y="10411"/>
                    <a:pt x="19368" y="10180"/>
                    <a:pt x="19390" y="10163"/>
                  </a:cubicBezTo>
                  <a:cubicBezTo>
                    <a:pt x="19189" y="10042"/>
                    <a:pt x="19220" y="9561"/>
                    <a:pt x="19213" y="9410"/>
                  </a:cubicBezTo>
                  <a:cubicBezTo>
                    <a:pt x="19203" y="9250"/>
                    <a:pt x="18945" y="8663"/>
                    <a:pt x="18789" y="8793"/>
                  </a:cubicBezTo>
                  <a:cubicBezTo>
                    <a:pt x="18688" y="8878"/>
                    <a:pt x="18903" y="9380"/>
                    <a:pt x="18921" y="9513"/>
                  </a:cubicBezTo>
                  <a:cubicBezTo>
                    <a:pt x="18942" y="9666"/>
                    <a:pt x="18831" y="9812"/>
                    <a:pt x="18747" y="9883"/>
                  </a:cubicBezTo>
                  <a:cubicBezTo>
                    <a:pt x="18578" y="10022"/>
                    <a:pt x="18681" y="9752"/>
                    <a:pt x="18616" y="9737"/>
                  </a:cubicBezTo>
                  <a:cubicBezTo>
                    <a:pt x="18570" y="9727"/>
                    <a:pt x="18579" y="10013"/>
                    <a:pt x="18565" y="10058"/>
                  </a:cubicBezTo>
                  <a:cubicBezTo>
                    <a:pt x="18497" y="10271"/>
                    <a:pt x="18631" y="10204"/>
                    <a:pt x="18427" y="10176"/>
                  </a:cubicBezTo>
                  <a:cubicBezTo>
                    <a:pt x="18351" y="10166"/>
                    <a:pt x="18089" y="10234"/>
                    <a:pt x="18044" y="10303"/>
                  </a:cubicBezTo>
                  <a:cubicBezTo>
                    <a:pt x="18047" y="10299"/>
                    <a:pt x="17883" y="10560"/>
                    <a:pt x="17858" y="10523"/>
                  </a:cubicBezTo>
                  <a:cubicBezTo>
                    <a:pt x="17899" y="10754"/>
                    <a:pt x="18464" y="10422"/>
                    <a:pt x="18580" y="10472"/>
                  </a:cubicBezTo>
                  <a:cubicBezTo>
                    <a:pt x="18585" y="10596"/>
                    <a:pt x="18609" y="10680"/>
                    <a:pt x="18703" y="10735"/>
                  </a:cubicBezTo>
                  <a:cubicBezTo>
                    <a:pt x="18753" y="10764"/>
                    <a:pt x="18816" y="10592"/>
                    <a:pt x="18840" y="10543"/>
                  </a:cubicBezTo>
                  <a:cubicBezTo>
                    <a:pt x="18865" y="10494"/>
                    <a:pt x="18720" y="10465"/>
                    <a:pt x="18769" y="10389"/>
                  </a:cubicBezTo>
                  <a:cubicBezTo>
                    <a:pt x="18797" y="10347"/>
                    <a:pt x="18905" y="10444"/>
                    <a:pt x="18925" y="10455"/>
                  </a:cubicBezTo>
                  <a:close/>
                  <a:moveTo>
                    <a:pt x="19160" y="8116"/>
                  </a:moveTo>
                  <a:lnTo>
                    <a:pt x="19146" y="8111"/>
                  </a:lnTo>
                  <a:cubicBezTo>
                    <a:pt x="19036" y="8151"/>
                    <a:pt x="19089" y="8247"/>
                    <a:pt x="18906" y="8142"/>
                  </a:cubicBezTo>
                  <a:cubicBezTo>
                    <a:pt x="18847" y="8108"/>
                    <a:pt x="18485" y="7762"/>
                    <a:pt x="18443" y="7857"/>
                  </a:cubicBezTo>
                  <a:cubicBezTo>
                    <a:pt x="18479" y="7928"/>
                    <a:pt x="18697" y="8296"/>
                    <a:pt x="18646" y="8380"/>
                  </a:cubicBezTo>
                  <a:cubicBezTo>
                    <a:pt x="18629" y="8381"/>
                    <a:pt x="18520" y="8340"/>
                    <a:pt x="18499" y="8358"/>
                  </a:cubicBezTo>
                  <a:cubicBezTo>
                    <a:pt x="18498" y="8393"/>
                    <a:pt x="18522" y="8403"/>
                    <a:pt x="18547" y="8410"/>
                  </a:cubicBezTo>
                  <a:cubicBezTo>
                    <a:pt x="18531" y="8460"/>
                    <a:pt x="18513" y="8509"/>
                    <a:pt x="18493" y="8557"/>
                  </a:cubicBezTo>
                  <a:cubicBezTo>
                    <a:pt x="18527" y="8619"/>
                    <a:pt x="18568" y="8674"/>
                    <a:pt x="18615" y="8721"/>
                  </a:cubicBezTo>
                  <a:cubicBezTo>
                    <a:pt x="18661" y="8865"/>
                    <a:pt x="18800" y="8728"/>
                    <a:pt x="18795" y="8712"/>
                  </a:cubicBezTo>
                  <a:cubicBezTo>
                    <a:pt x="18774" y="8635"/>
                    <a:pt x="18622" y="8687"/>
                    <a:pt x="18587" y="8598"/>
                  </a:cubicBezTo>
                  <a:cubicBezTo>
                    <a:pt x="18565" y="8543"/>
                    <a:pt x="18779" y="8529"/>
                    <a:pt x="18804" y="8536"/>
                  </a:cubicBezTo>
                  <a:cubicBezTo>
                    <a:pt x="18831" y="8543"/>
                    <a:pt x="19142" y="8756"/>
                    <a:pt x="19097" y="8609"/>
                  </a:cubicBezTo>
                  <a:cubicBezTo>
                    <a:pt x="19047" y="8447"/>
                    <a:pt x="19219" y="8414"/>
                    <a:pt x="19316" y="8366"/>
                  </a:cubicBezTo>
                  <a:cubicBezTo>
                    <a:pt x="19247" y="8378"/>
                    <a:pt x="19154" y="8192"/>
                    <a:pt x="19160" y="8116"/>
                  </a:cubicBezTo>
                  <a:close/>
                  <a:moveTo>
                    <a:pt x="17646" y="6274"/>
                  </a:moveTo>
                  <a:cubicBezTo>
                    <a:pt x="17799" y="6419"/>
                    <a:pt x="17943" y="6645"/>
                    <a:pt x="18027" y="6862"/>
                  </a:cubicBezTo>
                  <a:cubicBezTo>
                    <a:pt x="18080" y="6997"/>
                    <a:pt x="18171" y="7189"/>
                    <a:pt x="18248" y="7303"/>
                  </a:cubicBezTo>
                  <a:cubicBezTo>
                    <a:pt x="18298" y="7378"/>
                    <a:pt x="18389" y="7663"/>
                    <a:pt x="18474" y="7676"/>
                  </a:cubicBezTo>
                  <a:cubicBezTo>
                    <a:pt x="18421" y="7470"/>
                    <a:pt x="18534" y="7473"/>
                    <a:pt x="18607" y="7547"/>
                  </a:cubicBezTo>
                  <a:cubicBezTo>
                    <a:pt x="18461" y="7353"/>
                    <a:pt x="18082" y="7060"/>
                    <a:pt x="18198" y="6858"/>
                  </a:cubicBezTo>
                  <a:cubicBezTo>
                    <a:pt x="18255" y="6759"/>
                    <a:pt x="18499" y="7018"/>
                    <a:pt x="18519" y="7049"/>
                  </a:cubicBezTo>
                  <a:cubicBezTo>
                    <a:pt x="18357" y="6801"/>
                    <a:pt x="18126" y="6627"/>
                    <a:pt x="17961" y="6378"/>
                  </a:cubicBezTo>
                  <a:cubicBezTo>
                    <a:pt x="17806" y="6144"/>
                    <a:pt x="17586" y="5734"/>
                    <a:pt x="17350" y="5619"/>
                  </a:cubicBezTo>
                  <a:cubicBezTo>
                    <a:pt x="17325" y="5663"/>
                    <a:pt x="17472" y="5827"/>
                    <a:pt x="17478" y="5878"/>
                  </a:cubicBezTo>
                  <a:cubicBezTo>
                    <a:pt x="17465" y="5877"/>
                    <a:pt x="17376" y="5743"/>
                    <a:pt x="17378" y="5856"/>
                  </a:cubicBezTo>
                  <a:cubicBezTo>
                    <a:pt x="17378" y="5852"/>
                    <a:pt x="17378" y="5849"/>
                    <a:pt x="17378" y="5857"/>
                  </a:cubicBezTo>
                  <a:cubicBezTo>
                    <a:pt x="17378" y="5869"/>
                    <a:pt x="17378" y="5863"/>
                    <a:pt x="17378" y="5857"/>
                  </a:cubicBezTo>
                  <a:cubicBezTo>
                    <a:pt x="17381" y="5928"/>
                    <a:pt x="17603" y="6232"/>
                    <a:pt x="17646" y="6274"/>
                  </a:cubicBezTo>
                  <a:close/>
                  <a:moveTo>
                    <a:pt x="18607" y="7547"/>
                  </a:moveTo>
                  <a:cubicBezTo>
                    <a:pt x="18635" y="7584"/>
                    <a:pt x="18654" y="7616"/>
                    <a:pt x="18660" y="7644"/>
                  </a:cubicBezTo>
                  <a:cubicBezTo>
                    <a:pt x="18653" y="7607"/>
                    <a:pt x="18633" y="7573"/>
                    <a:pt x="18607" y="7547"/>
                  </a:cubicBezTo>
                  <a:close/>
                  <a:moveTo>
                    <a:pt x="12796" y="1135"/>
                  </a:moveTo>
                  <a:cubicBezTo>
                    <a:pt x="12751" y="1122"/>
                    <a:pt x="12895" y="1166"/>
                    <a:pt x="12796" y="1135"/>
                  </a:cubicBezTo>
                  <a:cubicBezTo>
                    <a:pt x="12796" y="1135"/>
                    <a:pt x="12796" y="1135"/>
                    <a:pt x="12796" y="1135"/>
                  </a:cubicBezTo>
                  <a:close/>
                  <a:moveTo>
                    <a:pt x="12796" y="1135"/>
                  </a:moveTo>
                  <a:cubicBezTo>
                    <a:pt x="12907" y="1169"/>
                    <a:pt x="13566" y="1269"/>
                    <a:pt x="13631" y="1102"/>
                  </a:cubicBezTo>
                  <a:cubicBezTo>
                    <a:pt x="13663" y="1018"/>
                    <a:pt x="12743" y="910"/>
                    <a:pt x="12645" y="914"/>
                  </a:cubicBezTo>
                  <a:cubicBezTo>
                    <a:pt x="12600" y="1062"/>
                    <a:pt x="12710" y="1110"/>
                    <a:pt x="12796" y="1135"/>
                  </a:cubicBezTo>
                  <a:close/>
                  <a:moveTo>
                    <a:pt x="6624" y="191"/>
                  </a:moveTo>
                  <a:cubicBezTo>
                    <a:pt x="6624" y="192"/>
                    <a:pt x="6625" y="195"/>
                    <a:pt x="6626" y="199"/>
                  </a:cubicBezTo>
                  <a:cubicBezTo>
                    <a:pt x="6626" y="196"/>
                    <a:pt x="6625" y="194"/>
                    <a:pt x="6624" y="191"/>
                  </a:cubicBezTo>
                  <a:cubicBezTo>
                    <a:pt x="6624" y="191"/>
                    <a:pt x="6624" y="191"/>
                    <a:pt x="6624" y="191"/>
                  </a:cubicBezTo>
                  <a:close/>
                  <a:moveTo>
                    <a:pt x="6637" y="229"/>
                  </a:moveTo>
                  <a:cubicBezTo>
                    <a:pt x="6645" y="251"/>
                    <a:pt x="6651" y="268"/>
                    <a:pt x="6637" y="229"/>
                  </a:cubicBezTo>
                  <a:cubicBezTo>
                    <a:pt x="6637" y="229"/>
                    <a:pt x="6637" y="229"/>
                    <a:pt x="6637" y="229"/>
                  </a:cubicBezTo>
                  <a:close/>
                  <a:moveTo>
                    <a:pt x="6637" y="229"/>
                  </a:moveTo>
                  <a:cubicBezTo>
                    <a:pt x="6637" y="228"/>
                    <a:pt x="6636" y="225"/>
                    <a:pt x="6635" y="224"/>
                  </a:cubicBezTo>
                  <a:cubicBezTo>
                    <a:pt x="6636" y="225"/>
                    <a:pt x="6637" y="227"/>
                    <a:pt x="6637" y="229"/>
                  </a:cubicBezTo>
                  <a:close/>
                  <a:moveTo>
                    <a:pt x="6626" y="199"/>
                  </a:moveTo>
                  <a:cubicBezTo>
                    <a:pt x="6629" y="205"/>
                    <a:pt x="6632" y="215"/>
                    <a:pt x="6635" y="224"/>
                  </a:cubicBezTo>
                  <a:cubicBezTo>
                    <a:pt x="6633" y="217"/>
                    <a:pt x="6630" y="209"/>
                    <a:pt x="6626" y="199"/>
                  </a:cubicBezTo>
                  <a:close/>
                  <a:moveTo>
                    <a:pt x="6639" y="191"/>
                  </a:moveTo>
                  <a:cubicBezTo>
                    <a:pt x="6700" y="344"/>
                    <a:pt x="6882" y="206"/>
                    <a:pt x="6974" y="224"/>
                  </a:cubicBezTo>
                  <a:cubicBezTo>
                    <a:pt x="6891" y="274"/>
                    <a:pt x="7101" y="361"/>
                    <a:pt x="7127" y="364"/>
                  </a:cubicBezTo>
                  <a:cubicBezTo>
                    <a:pt x="7319" y="388"/>
                    <a:pt x="7515" y="426"/>
                    <a:pt x="7709" y="415"/>
                  </a:cubicBezTo>
                  <a:cubicBezTo>
                    <a:pt x="7714" y="407"/>
                    <a:pt x="7716" y="403"/>
                    <a:pt x="7718" y="393"/>
                  </a:cubicBezTo>
                  <a:cubicBezTo>
                    <a:pt x="7615" y="349"/>
                    <a:pt x="7588" y="217"/>
                    <a:pt x="7471" y="203"/>
                  </a:cubicBezTo>
                  <a:cubicBezTo>
                    <a:pt x="7304" y="184"/>
                    <a:pt x="7240" y="132"/>
                    <a:pt x="7094" y="42"/>
                  </a:cubicBezTo>
                  <a:cubicBezTo>
                    <a:pt x="7017" y="-6"/>
                    <a:pt x="6518" y="-65"/>
                    <a:pt x="6639" y="191"/>
                  </a:cubicBezTo>
                  <a:cubicBezTo>
                    <a:pt x="6639" y="191"/>
                    <a:pt x="6639" y="191"/>
                    <a:pt x="6639" y="191"/>
                  </a:cubicBezTo>
                  <a:close/>
                  <a:moveTo>
                    <a:pt x="3049" y="1821"/>
                  </a:moveTo>
                  <a:cubicBezTo>
                    <a:pt x="3097" y="1824"/>
                    <a:pt x="3068" y="1822"/>
                    <a:pt x="3049" y="1821"/>
                  </a:cubicBezTo>
                  <a:cubicBezTo>
                    <a:pt x="3259" y="1833"/>
                    <a:pt x="3444" y="2105"/>
                    <a:pt x="3693" y="1983"/>
                  </a:cubicBezTo>
                  <a:cubicBezTo>
                    <a:pt x="3695" y="1975"/>
                    <a:pt x="3695" y="1959"/>
                    <a:pt x="3693" y="1951"/>
                  </a:cubicBezTo>
                  <a:cubicBezTo>
                    <a:pt x="3378" y="1819"/>
                    <a:pt x="3267" y="1534"/>
                    <a:pt x="3575" y="1251"/>
                  </a:cubicBezTo>
                  <a:cubicBezTo>
                    <a:pt x="3878" y="973"/>
                    <a:pt x="4250" y="1072"/>
                    <a:pt x="4563" y="873"/>
                  </a:cubicBezTo>
                  <a:cubicBezTo>
                    <a:pt x="4434" y="627"/>
                    <a:pt x="4069" y="857"/>
                    <a:pt x="3881" y="855"/>
                  </a:cubicBezTo>
                  <a:cubicBezTo>
                    <a:pt x="3631" y="853"/>
                    <a:pt x="3298" y="977"/>
                    <a:pt x="3102" y="1185"/>
                  </a:cubicBezTo>
                  <a:cubicBezTo>
                    <a:pt x="3040" y="1251"/>
                    <a:pt x="3027" y="1414"/>
                    <a:pt x="3008" y="1500"/>
                  </a:cubicBezTo>
                  <a:cubicBezTo>
                    <a:pt x="2968" y="1677"/>
                    <a:pt x="2751" y="1804"/>
                    <a:pt x="3049" y="1821"/>
                  </a:cubicBezTo>
                  <a:close/>
                  <a:moveTo>
                    <a:pt x="10216" y="16862"/>
                  </a:moveTo>
                  <a:cubicBezTo>
                    <a:pt x="10007" y="16414"/>
                    <a:pt x="9990" y="17186"/>
                    <a:pt x="10036" y="17376"/>
                  </a:cubicBezTo>
                  <a:cubicBezTo>
                    <a:pt x="10092" y="17606"/>
                    <a:pt x="10129" y="17705"/>
                    <a:pt x="10318" y="17537"/>
                  </a:cubicBezTo>
                  <a:cubicBezTo>
                    <a:pt x="10499" y="17376"/>
                    <a:pt x="10291" y="17023"/>
                    <a:pt x="10216" y="16863"/>
                  </a:cubicBezTo>
                  <a:cubicBezTo>
                    <a:pt x="10225" y="16883"/>
                    <a:pt x="10244" y="16922"/>
                    <a:pt x="10216" y="16862"/>
                  </a:cubicBezTo>
                  <a:close/>
                  <a:moveTo>
                    <a:pt x="10216" y="16862"/>
                  </a:moveTo>
                  <a:cubicBezTo>
                    <a:pt x="10216" y="16862"/>
                    <a:pt x="10216" y="16862"/>
                    <a:pt x="10216" y="16863"/>
                  </a:cubicBezTo>
                  <a:cubicBezTo>
                    <a:pt x="10211" y="16852"/>
                    <a:pt x="10209" y="16847"/>
                    <a:pt x="10216" y="16862"/>
                  </a:cubicBezTo>
                  <a:close/>
                  <a:moveTo>
                    <a:pt x="17680" y="20444"/>
                  </a:moveTo>
                  <a:cubicBezTo>
                    <a:pt x="17677" y="20432"/>
                    <a:pt x="17678" y="20435"/>
                    <a:pt x="17679" y="20439"/>
                  </a:cubicBezTo>
                  <a:cubicBezTo>
                    <a:pt x="17647" y="20338"/>
                    <a:pt x="17562" y="20187"/>
                    <a:pt x="17562" y="20438"/>
                  </a:cubicBezTo>
                  <a:cubicBezTo>
                    <a:pt x="17562" y="20640"/>
                    <a:pt x="17719" y="20588"/>
                    <a:pt x="17681" y="20445"/>
                  </a:cubicBezTo>
                  <a:cubicBezTo>
                    <a:pt x="17681" y="20446"/>
                    <a:pt x="17681" y="20446"/>
                    <a:pt x="17680" y="20444"/>
                  </a:cubicBezTo>
                  <a:close/>
                  <a:moveTo>
                    <a:pt x="20845" y="19801"/>
                  </a:moveTo>
                  <a:cubicBezTo>
                    <a:pt x="20845" y="19756"/>
                    <a:pt x="20831" y="19752"/>
                    <a:pt x="20720" y="19722"/>
                  </a:cubicBezTo>
                  <a:cubicBezTo>
                    <a:pt x="20484" y="19667"/>
                    <a:pt x="20309" y="19366"/>
                    <a:pt x="20078" y="19540"/>
                  </a:cubicBezTo>
                  <a:lnTo>
                    <a:pt x="20083" y="19581"/>
                  </a:lnTo>
                  <a:lnTo>
                    <a:pt x="20066" y="19592"/>
                  </a:lnTo>
                  <a:cubicBezTo>
                    <a:pt x="20073" y="19603"/>
                    <a:pt x="20078" y="19616"/>
                    <a:pt x="20080" y="19629"/>
                  </a:cubicBezTo>
                  <a:cubicBezTo>
                    <a:pt x="19967" y="19665"/>
                    <a:pt x="19867" y="19933"/>
                    <a:pt x="19784" y="19933"/>
                  </a:cubicBezTo>
                  <a:cubicBezTo>
                    <a:pt x="19806" y="19933"/>
                    <a:pt x="19649" y="19674"/>
                    <a:pt x="19649" y="19726"/>
                  </a:cubicBezTo>
                  <a:cubicBezTo>
                    <a:pt x="19591" y="19599"/>
                    <a:pt x="19738" y="19263"/>
                    <a:pt x="19533" y="19263"/>
                  </a:cubicBezTo>
                  <a:cubicBezTo>
                    <a:pt x="19510" y="19243"/>
                    <a:pt x="19395" y="19210"/>
                    <a:pt x="19371" y="19200"/>
                  </a:cubicBezTo>
                  <a:cubicBezTo>
                    <a:pt x="19228" y="19141"/>
                    <a:pt x="19205" y="19326"/>
                    <a:pt x="19144" y="19326"/>
                  </a:cubicBezTo>
                  <a:cubicBezTo>
                    <a:pt x="19123" y="19314"/>
                    <a:pt x="19057" y="19299"/>
                    <a:pt x="19047" y="19341"/>
                  </a:cubicBezTo>
                  <a:cubicBezTo>
                    <a:pt x="18878" y="19223"/>
                    <a:pt x="19194" y="19742"/>
                    <a:pt x="19275" y="19766"/>
                  </a:cubicBezTo>
                  <a:cubicBezTo>
                    <a:pt x="19141" y="19798"/>
                    <a:pt x="19298" y="20026"/>
                    <a:pt x="19315" y="20115"/>
                  </a:cubicBezTo>
                  <a:cubicBezTo>
                    <a:pt x="19376" y="20426"/>
                    <a:pt x="19468" y="20101"/>
                    <a:pt x="19519" y="20101"/>
                  </a:cubicBezTo>
                  <a:cubicBezTo>
                    <a:pt x="19605" y="20101"/>
                    <a:pt x="19914" y="20363"/>
                    <a:pt x="20018" y="20411"/>
                  </a:cubicBezTo>
                  <a:cubicBezTo>
                    <a:pt x="20127" y="20461"/>
                    <a:pt x="20181" y="20479"/>
                    <a:pt x="20248" y="20607"/>
                  </a:cubicBezTo>
                  <a:cubicBezTo>
                    <a:pt x="20277" y="20661"/>
                    <a:pt x="20274" y="20778"/>
                    <a:pt x="20326" y="20815"/>
                  </a:cubicBezTo>
                  <a:cubicBezTo>
                    <a:pt x="20319" y="20858"/>
                    <a:pt x="20311" y="20886"/>
                    <a:pt x="20321" y="20928"/>
                  </a:cubicBezTo>
                  <a:cubicBezTo>
                    <a:pt x="20186" y="20961"/>
                    <a:pt x="20099" y="21117"/>
                    <a:pt x="20109" y="21286"/>
                  </a:cubicBezTo>
                  <a:cubicBezTo>
                    <a:pt x="20228" y="21294"/>
                    <a:pt x="20372" y="21234"/>
                    <a:pt x="20433" y="21234"/>
                  </a:cubicBezTo>
                  <a:lnTo>
                    <a:pt x="20433" y="21233"/>
                  </a:lnTo>
                  <a:cubicBezTo>
                    <a:pt x="20433" y="21142"/>
                    <a:pt x="20719" y="21510"/>
                    <a:pt x="20736" y="21535"/>
                  </a:cubicBezTo>
                  <a:cubicBezTo>
                    <a:pt x="20771" y="21316"/>
                    <a:pt x="20771" y="21081"/>
                    <a:pt x="20799" y="20857"/>
                  </a:cubicBezTo>
                  <a:lnTo>
                    <a:pt x="20771" y="20809"/>
                  </a:lnTo>
                  <a:cubicBezTo>
                    <a:pt x="20895" y="20557"/>
                    <a:pt x="20831" y="20091"/>
                    <a:pt x="20845" y="19801"/>
                  </a:cubicBezTo>
                  <a:close/>
                  <a:moveTo>
                    <a:pt x="21482" y="3136"/>
                  </a:moveTo>
                  <a:cubicBezTo>
                    <a:pt x="21484" y="3136"/>
                    <a:pt x="21512" y="3136"/>
                    <a:pt x="21512" y="3136"/>
                  </a:cubicBezTo>
                  <a:cubicBezTo>
                    <a:pt x="21524" y="3110"/>
                    <a:pt x="21544" y="3089"/>
                    <a:pt x="21567" y="3075"/>
                  </a:cubicBezTo>
                  <a:cubicBezTo>
                    <a:pt x="21432" y="2793"/>
                    <a:pt x="21025" y="2732"/>
                    <a:pt x="20788" y="2699"/>
                  </a:cubicBezTo>
                  <a:cubicBezTo>
                    <a:pt x="20424" y="2699"/>
                    <a:pt x="20032" y="2429"/>
                    <a:pt x="19669" y="2355"/>
                  </a:cubicBezTo>
                  <a:cubicBezTo>
                    <a:pt x="19252" y="2271"/>
                    <a:pt x="18850" y="2097"/>
                    <a:pt x="18423" y="2086"/>
                  </a:cubicBezTo>
                  <a:cubicBezTo>
                    <a:pt x="18281" y="2082"/>
                    <a:pt x="18025" y="1964"/>
                    <a:pt x="17928" y="2085"/>
                  </a:cubicBezTo>
                  <a:cubicBezTo>
                    <a:pt x="17787" y="1963"/>
                    <a:pt x="17753" y="2111"/>
                    <a:pt x="17640" y="2116"/>
                  </a:cubicBezTo>
                  <a:cubicBezTo>
                    <a:pt x="17589" y="2193"/>
                    <a:pt x="17369" y="2124"/>
                    <a:pt x="17309" y="2114"/>
                  </a:cubicBezTo>
                  <a:cubicBezTo>
                    <a:pt x="17131" y="2085"/>
                    <a:pt x="16946" y="2126"/>
                    <a:pt x="16770" y="2090"/>
                  </a:cubicBezTo>
                  <a:cubicBezTo>
                    <a:pt x="16661" y="2068"/>
                    <a:pt x="16615" y="1921"/>
                    <a:pt x="16498" y="1897"/>
                  </a:cubicBezTo>
                  <a:cubicBezTo>
                    <a:pt x="16256" y="1847"/>
                    <a:pt x="15932" y="1733"/>
                    <a:pt x="15687" y="1852"/>
                  </a:cubicBezTo>
                  <a:cubicBezTo>
                    <a:pt x="15505" y="1940"/>
                    <a:pt x="15223" y="1766"/>
                    <a:pt x="15033" y="1732"/>
                  </a:cubicBezTo>
                  <a:cubicBezTo>
                    <a:pt x="15028" y="1585"/>
                    <a:pt x="14601" y="1491"/>
                    <a:pt x="14524" y="1604"/>
                  </a:cubicBezTo>
                  <a:cubicBezTo>
                    <a:pt x="14389" y="1489"/>
                    <a:pt x="14096" y="1512"/>
                    <a:pt x="13941" y="1503"/>
                  </a:cubicBezTo>
                  <a:lnTo>
                    <a:pt x="13941" y="1502"/>
                  </a:lnTo>
                  <a:cubicBezTo>
                    <a:pt x="13859" y="1397"/>
                    <a:pt x="13713" y="1363"/>
                    <a:pt x="13601" y="1377"/>
                  </a:cubicBezTo>
                  <a:cubicBezTo>
                    <a:pt x="13463" y="1395"/>
                    <a:pt x="13552" y="1500"/>
                    <a:pt x="13642" y="1496"/>
                  </a:cubicBezTo>
                  <a:cubicBezTo>
                    <a:pt x="13538" y="1516"/>
                    <a:pt x="13426" y="1657"/>
                    <a:pt x="13589" y="1732"/>
                  </a:cubicBezTo>
                  <a:cubicBezTo>
                    <a:pt x="13432" y="1749"/>
                    <a:pt x="13289" y="1736"/>
                    <a:pt x="13132" y="1770"/>
                  </a:cubicBezTo>
                  <a:cubicBezTo>
                    <a:pt x="13010" y="1796"/>
                    <a:pt x="12688" y="1530"/>
                    <a:pt x="12823" y="1894"/>
                  </a:cubicBezTo>
                  <a:cubicBezTo>
                    <a:pt x="12699" y="1866"/>
                    <a:pt x="12578" y="1803"/>
                    <a:pt x="12462" y="1744"/>
                  </a:cubicBezTo>
                  <a:lnTo>
                    <a:pt x="12468" y="1739"/>
                  </a:lnTo>
                  <a:lnTo>
                    <a:pt x="12445" y="1651"/>
                  </a:lnTo>
                  <a:cubicBezTo>
                    <a:pt x="12201" y="1356"/>
                    <a:pt x="11570" y="1196"/>
                    <a:pt x="11249" y="1384"/>
                  </a:cubicBezTo>
                  <a:cubicBezTo>
                    <a:pt x="11292" y="1402"/>
                    <a:pt x="11339" y="1419"/>
                    <a:pt x="11379" y="1446"/>
                  </a:cubicBezTo>
                  <a:cubicBezTo>
                    <a:pt x="11235" y="1453"/>
                    <a:pt x="11040" y="1498"/>
                    <a:pt x="10902" y="1435"/>
                  </a:cubicBezTo>
                  <a:cubicBezTo>
                    <a:pt x="10924" y="1410"/>
                    <a:pt x="10943" y="1372"/>
                    <a:pt x="10960" y="1341"/>
                  </a:cubicBezTo>
                  <a:cubicBezTo>
                    <a:pt x="10707" y="1338"/>
                    <a:pt x="10460" y="1329"/>
                    <a:pt x="10209" y="1352"/>
                  </a:cubicBezTo>
                  <a:cubicBezTo>
                    <a:pt x="10151" y="1292"/>
                    <a:pt x="10082" y="1254"/>
                    <a:pt x="10017" y="1207"/>
                  </a:cubicBezTo>
                  <a:cubicBezTo>
                    <a:pt x="10017" y="1207"/>
                    <a:pt x="10014" y="1302"/>
                    <a:pt x="10014" y="1302"/>
                  </a:cubicBezTo>
                  <a:cubicBezTo>
                    <a:pt x="9917" y="1297"/>
                    <a:pt x="9781" y="1215"/>
                    <a:pt x="9686" y="1274"/>
                  </a:cubicBezTo>
                  <a:cubicBezTo>
                    <a:pt x="10299" y="771"/>
                    <a:pt x="9202" y="741"/>
                    <a:pt x="8912" y="764"/>
                  </a:cubicBezTo>
                  <a:cubicBezTo>
                    <a:pt x="8912" y="763"/>
                    <a:pt x="8942" y="682"/>
                    <a:pt x="8942" y="682"/>
                  </a:cubicBezTo>
                  <a:cubicBezTo>
                    <a:pt x="8857" y="692"/>
                    <a:pt x="8774" y="674"/>
                    <a:pt x="8690" y="667"/>
                  </a:cubicBezTo>
                  <a:cubicBezTo>
                    <a:pt x="8692" y="666"/>
                    <a:pt x="8711" y="652"/>
                    <a:pt x="8711" y="652"/>
                  </a:cubicBezTo>
                  <a:lnTo>
                    <a:pt x="8680" y="562"/>
                  </a:lnTo>
                  <a:cubicBezTo>
                    <a:pt x="8568" y="569"/>
                    <a:pt x="8454" y="542"/>
                    <a:pt x="8339" y="545"/>
                  </a:cubicBezTo>
                  <a:cubicBezTo>
                    <a:pt x="8372" y="543"/>
                    <a:pt x="8389" y="524"/>
                    <a:pt x="8390" y="487"/>
                  </a:cubicBezTo>
                  <a:cubicBezTo>
                    <a:pt x="8348" y="373"/>
                    <a:pt x="8029" y="432"/>
                    <a:pt x="7984" y="380"/>
                  </a:cubicBezTo>
                  <a:cubicBezTo>
                    <a:pt x="7880" y="261"/>
                    <a:pt x="7809" y="457"/>
                    <a:pt x="7733" y="455"/>
                  </a:cubicBezTo>
                  <a:cubicBezTo>
                    <a:pt x="7767" y="710"/>
                    <a:pt x="8058" y="574"/>
                    <a:pt x="8203" y="565"/>
                  </a:cubicBezTo>
                  <a:cubicBezTo>
                    <a:pt x="8141" y="586"/>
                    <a:pt x="8043" y="670"/>
                    <a:pt x="8093" y="768"/>
                  </a:cubicBezTo>
                  <a:cubicBezTo>
                    <a:pt x="8012" y="760"/>
                    <a:pt x="7931" y="780"/>
                    <a:pt x="7859" y="828"/>
                  </a:cubicBezTo>
                  <a:lnTo>
                    <a:pt x="7899" y="850"/>
                  </a:lnTo>
                  <a:cubicBezTo>
                    <a:pt x="7761" y="924"/>
                    <a:pt x="7599" y="792"/>
                    <a:pt x="7453" y="841"/>
                  </a:cubicBezTo>
                  <a:cubicBezTo>
                    <a:pt x="7359" y="872"/>
                    <a:pt x="7267" y="899"/>
                    <a:pt x="7171" y="911"/>
                  </a:cubicBezTo>
                  <a:cubicBezTo>
                    <a:pt x="6973" y="936"/>
                    <a:pt x="6832" y="1042"/>
                    <a:pt x="6697" y="1218"/>
                  </a:cubicBezTo>
                  <a:lnTo>
                    <a:pt x="6715" y="1300"/>
                  </a:lnTo>
                  <a:cubicBezTo>
                    <a:pt x="6595" y="1317"/>
                    <a:pt x="5933" y="1282"/>
                    <a:pt x="6309" y="1601"/>
                  </a:cubicBezTo>
                  <a:cubicBezTo>
                    <a:pt x="6139" y="1560"/>
                    <a:pt x="5956" y="1546"/>
                    <a:pt x="5807" y="1683"/>
                  </a:cubicBezTo>
                  <a:cubicBezTo>
                    <a:pt x="5762" y="1559"/>
                    <a:pt x="5703" y="1466"/>
                    <a:pt x="5588" y="1483"/>
                  </a:cubicBezTo>
                  <a:lnTo>
                    <a:pt x="5593" y="1581"/>
                  </a:lnTo>
                  <a:lnTo>
                    <a:pt x="5611" y="1582"/>
                  </a:lnTo>
                  <a:cubicBezTo>
                    <a:pt x="5618" y="1583"/>
                    <a:pt x="5633" y="1606"/>
                    <a:pt x="5635" y="1626"/>
                  </a:cubicBezTo>
                  <a:cubicBezTo>
                    <a:pt x="5565" y="1686"/>
                    <a:pt x="5488" y="1670"/>
                    <a:pt x="5467" y="1800"/>
                  </a:cubicBezTo>
                  <a:cubicBezTo>
                    <a:pt x="5452" y="1798"/>
                    <a:pt x="5437" y="1795"/>
                    <a:pt x="5422" y="1791"/>
                  </a:cubicBezTo>
                  <a:cubicBezTo>
                    <a:pt x="5363" y="1613"/>
                    <a:pt x="5452" y="1463"/>
                    <a:pt x="5208" y="1445"/>
                  </a:cubicBezTo>
                  <a:cubicBezTo>
                    <a:pt x="5135" y="1440"/>
                    <a:pt x="5060" y="1440"/>
                    <a:pt x="4988" y="1440"/>
                  </a:cubicBezTo>
                  <a:cubicBezTo>
                    <a:pt x="4835" y="1440"/>
                    <a:pt x="4896" y="1580"/>
                    <a:pt x="4862" y="1697"/>
                  </a:cubicBezTo>
                  <a:cubicBezTo>
                    <a:pt x="4835" y="1790"/>
                    <a:pt x="4726" y="1733"/>
                    <a:pt x="4708" y="1846"/>
                  </a:cubicBezTo>
                  <a:cubicBezTo>
                    <a:pt x="4689" y="1970"/>
                    <a:pt x="4799" y="1948"/>
                    <a:pt x="4812" y="1996"/>
                  </a:cubicBezTo>
                  <a:cubicBezTo>
                    <a:pt x="4844" y="2077"/>
                    <a:pt x="4824" y="2151"/>
                    <a:pt x="4867" y="2245"/>
                  </a:cubicBezTo>
                  <a:cubicBezTo>
                    <a:pt x="4713" y="2182"/>
                    <a:pt x="4560" y="2145"/>
                    <a:pt x="4400" y="2112"/>
                  </a:cubicBezTo>
                  <a:cubicBezTo>
                    <a:pt x="4221" y="2086"/>
                    <a:pt x="4015" y="1954"/>
                    <a:pt x="3841" y="1954"/>
                  </a:cubicBezTo>
                  <a:cubicBezTo>
                    <a:pt x="3573" y="1954"/>
                    <a:pt x="4110" y="2290"/>
                    <a:pt x="4127" y="2309"/>
                  </a:cubicBezTo>
                  <a:cubicBezTo>
                    <a:pt x="4105" y="2315"/>
                    <a:pt x="4083" y="2320"/>
                    <a:pt x="4060" y="2324"/>
                  </a:cubicBezTo>
                  <a:lnTo>
                    <a:pt x="4065" y="2298"/>
                  </a:lnTo>
                  <a:cubicBezTo>
                    <a:pt x="3852" y="2201"/>
                    <a:pt x="3571" y="2399"/>
                    <a:pt x="3372" y="2425"/>
                  </a:cubicBezTo>
                  <a:cubicBezTo>
                    <a:pt x="3370" y="2381"/>
                    <a:pt x="3421" y="2299"/>
                    <a:pt x="3432" y="2250"/>
                  </a:cubicBezTo>
                  <a:cubicBezTo>
                    <a:pt x="3242" y="2226"/>
                    <a:pt x="3075" y="2344"/>
                    <a:pt x="2898" y="2413"/>
                  </a:cubicBezTo>
                  <a:cubicBezTo>
                    <a:pt x="2804" y="2450"/>
                    <a:pt x="2559" y="2500"/>
                    <a:pt x="2574" y="2674"/>
                  </a:cubicBezTo>
                  <a:cubicBezTo>
                    <a:pt x="2584" y="2801"/>
                    <a:pt x="2315" y="2630"/>
                    <a:pt x="2302" y="2618"/>
                  </a:cubicBezTo>
                  <a:cubicBezTo>
                    <a:pt x="2377" y="2566"/>
                    <a:pt x="2604" y="2549"/>
                    <a:pt x="2395" y="2412"/>
                  </a:cubicBezTo>
                  <a:cubicBezTo>
                    <a:pt x="2245" y="2314"/>
                    <a:pt x="2091" y="2321"/>
                    <a:pt x="1929" y="2318"/>
                  </a:cubicBezTo>
                  <a:cubicBezTo>
                    <a:pt x="1937" y="2433"/>
                    <a:pt x="1993" y="2432"/>
                    <a:pt x="2055" y="2493"/>
                  </a:cubicBezTo>
                  <a:cubicBezTo>
                    <a:pt x="2046" y="2478"/>
                    <a:pt x="2074" y="2893"/>
                    <a:pt x="2169" y="2758"/>
                  </a:cubicBezTo>
                  <a:cubicBezTo>
                    <a:pt x="2163" y="2794"/>
                    <a:pt x="2158" y="2830"/>
                    <a:pt x="2156" y="2867"/>
                  </a:cubicBezTo>
                  <a:cubicBezTo>
                    <a:pt x="1969" y="2739"/>
                    <a:pt x="1862" y="2828"/>
                    <a:pt x="1686" y="2928"/>
                  </a:cubicBezTo>
                  <a:cubicBezTo>
                    <a:pt x="1500" y="3032"/>
                    <a:pt x="1637" y="3097"/>
                    <a:pt x="1707" y="3188"/>
                  </a:cubicBezTo>
                  <a:cubicBezTo>
                    <a:pt x="1680" y="3244"/>
                    <a:pt x="1425" y="3107"/>
                    <a:pt x="1395" y="3091"/>
                  </a:cubicBezTo>
                  <a:cubicBezTo>
                    <a:pt x="1324" y="3053"/>
                    <a:pt x="1217" y="3102"/>
                    <a:pt x="1148" y="3140"/>
                  </a:cubicBezTo>
                  <a:cubicBezTo>
                    <a:pt x="1225" y="3269"/>
                    <a:pt x="1313" y="3308"/>
                    <a:pt x="1425" y="3357"/>
                  </a:cubicBezTo>
                  <a:cubicBezTo>
                    <a:pt x="1277" y="3479"/>
                    <a:pt x="1067" y="3145"/>
                    <a:pt x="988" y="3080"/>
                  </a:cubicBezTo>
                  <a:cubicBezTo>
                    <a:pt x="1015" y="3019"/>
                    <a:pt x="1044" y="2956"/>
                    <a:pt x="990" y="2892"/>
                  </a:cubicBezTo>
                  <a:cubicBezTo>
                    <a:pt x="1164" y="2934"/>
                    <a:pt x="2149" y="3013"/>
                    <a:pt x="1702" y="2525"/>
                  </a:cubicBezTo>
                  <a:cubicBezTo>
                    <a:pt x="1515" y="2321"/>
                    <a:pt x="920" y="2139"/>
                    <a:pt x="679" y="2180"/>
                  </a:cubicBezTo>
                  <a:cubicBezTo>
                    <a:pt x="673" y="2165"/>
                    <a:pt x="662" y="2161"/>
                    <a:pt x="647" y="2169"/>
                  </a:cubicBezTo>
                  <a:cubicBezTo>
                    <a:pt x="682" y="2169"/>
                    <a:pt x="559" y="2063"/>
                    <a:pt x="524" y="2055"/>
                  </a:cubicBezTo>
                  <a:cubicBezTo>
                    <a:pt x="469" y="2042"/>
                    <a:pt x="389" y="2064"/>
                    <a:pt x="328" y="2064"/>
                  </a:cubicBezTo>
                  <a:cubicBezTo>
                    <a:pt x="303" y="2062"/>
                    <a:pt x="285" y="2082"/>
                    <a:pt x="285" y="2118"/>
                  </a:cubicBezTo>
                  <a:cubicBezTo>
                    <a:pt x="266" y="2111"/>
                    <a:pt x="247" y="2104"/>
                    <a:pt x="228" y="2096"/>
                  </a:cubicBezTo>
                  <a:lnTo>
                    <a:pt x="222" y="2118"/>
                  </a:lnTo>
                  <a:lnTo>
                    <a:pt x="216" y="2112"/>
                  </a:lnTo>
                  <a:cubicBezTo>
                    <a:pt x="127" y="2182"/>
                    <a:pt x="72" y="2289"/>
                    <a:pt x="1" y="2385"/>
                  </a:cubicBezTo>
                  <a:cubicBezTo>
                    <a:pt x="38" y="2448"/>
                    <a:pt x="247" y="2553"/>
                    <a:pt x="193" y="2625"/>
                  </a:cubicBezTo>
                  <a:cubicBezTo>
                    <a:pt x="81" y="2777"/>
                    <a:pt x="241" y="2837"/>
                    <a:pt x="293" y="2954"/>
                  </a:cubicBezTo>
                  <a:cubicBezTo>
                    <a:pt x="170" y="3047"/>
                    <a:pt x="319" y="3299"/>
                    <a:pt x="399" y="3343"/>
                  </a:cubicBezTo>
                  <a:cubicBezTo>
                    <a:pt x="293" y="3475"/>
                    <a:pt x="513" y="3547"/>
                    <a:pt x="565" y="3597"/>
                  </a:cubicBezTo>
                  <a:cubicBezTo>
                    <a:pt x="607" y="3637"/>
                    <a:pt x="411" y="3845"/>
                    <a:pt x="390" y="3866"/>
                  </a:cubicBezTo>
                  <a:cubicBezTo>
                    <a:pt x="245" y="4011"/>
                    <a:pt x="119" y="4126"/>
                    <a:pt x="0" y="4306"/>
                  </a:cubicBezTo>
                  <a:cubicBezTo>
                    <a:pt x="85" y="4284"/>
                    <a:pt x="190" y="4172"/>
                    <a:pt x="266" y="4167"/>
                  </a:cubicBezTo>
                  <a:cubicBezTo>
                    <a:pt x="283" y="4197"/>
                    <a:pt x="302" y="4226"/>
                    <a:pt x="323" y="4253"/>
                  </a:cubicBezTo>
                  <a:cubicBezTo>
                    <a:pt x="222" y="4199"/>
                    <a:pt x="162" y="4293"/>
                    <a:pt x="201" y="4411"/>
                  </a:cubicBezTo>
                  <a:cubicBezTo>
                    <a:pt x="162" y="4553"/>
                    <a:pt x="82" y="4589"/>
                    <a:pt x="175" y="4758"/>
                  </a:cubicBezTo>
                  <a:cubicBezTo>
                    <a:pt x="78" y="4850"/>
                    <a:pt x="345" y="5225"/>
                    <a:pt x="406" y="5296"/>
                  </a:cubicBezTo>
                  <a:cubicBezTo>
                    <a:pt x="430" y="5300"/>
                    <a:pt x="451" y="5290"/>
                    <a:pt x="470" y="5265"/>
                  </a:cubicBezTo>
                  <a:cubicBezTo>
                    <a:pt x="470" y="5264"/>
                    <a:pt x="471" y="5244"/>
                    <a:pt x="471" y="5244"/>
                  </a:cubicBezTo>
                  <a:cubicBezTo>
                    <a:pt x="468" y="5227"/>
                    <a:pt x="693" y="5374"/>
                    <a:pt x="723" y="5409"/>
                  </a:cubicBezTo>
                  <a:cubicBezTo>
                    <a:pt x="683" y="5491"/>
                    <a:pt x="819" y="5677"/>
                    <a:pt x="881" y="5677"/>
                  </a:cubicBezTo>
                  <a:cubicBezTo>
                    <a:pt x="881" y="5776"/>
                    <a:pt x="983" y="5725"/>
                    <a:pt x="1012" y="5801"/>
                  </a:cubicBezTo>
                  <a:cubicBezTo>
                    <a:pt x="1013" y="5803"/>
                    <a:pt x="840" y="5849"/>
                    <a:pt x="814" y="5864"/>
                  </a:cubicBezTo>
                  <a:cubicBezTo>
                    <a:pt x="850" y="5933"/>
                    <a:pt x="902" y="6106"/>
                    <a:pt x="948" y="6152"/>
                  </a:cubicBezTo>
                  <a:cubicBezTo>
                    <a:pt x="1062" y="6265"/>
                    <a:pt x="1164" y="6069"/>
                    <a:pt x="1293" y="6203"/>
                  </a:cubicBezTo>
                  <a:cubicBezTo>
                    <a:pt x="1286" y="6211"/>
                    <a:pt x="1265" y="6237"/>
                    <a:pt x="1265" y="6237"/>
                  </a:cubicBezTo>
                  <a:cubicBezTo>
                    <a:pt x="1317" y="6354"/>
                    <a:pt x="1446" y="6350"/>
                    <a:pt x="1481" y="6450"/>
                  </a:cubicBezTo>
                  <a:cubicBezTo>
                    <a:pt x="1563" y="6681"/>
                    <a:pt x="1653" y="6696"/>
                    <a:pt x="1848" y="6592"/>
                  </a:cubicBezTo>
                  <a:cubicBezTo>
                    <a:pt x="1905" y="6655"/>
                    <a:pt x="1926" y="6720"/>
                    <a:pt x="2004" y="6723"/>
                  </a:cubicBezTo>
                  <a:lnTo>
                    <a:pt x="2009" y="6693"/>
                  </a:lnTo>
                  <a:cubicBezTo>
                    <a:pt x="2095" y="6686"/>
                    <a:pt x="2174" y="6765"/>
                    <a:pt x="2257" y="6780"/>
                  </a:cubicBezTo>
                  <a:cubicBezTo>
                    <a:pt x="2237" y="6906"/>
                    <a:pt x="2273" y="6983"/>
                    <a:pt x="2267" y="7093"/>
                  </a:cubicBezTo>
                  <a:cubicBezTo>
                    <a:pt x="2263" y="7128"/>
                    <a:pt x="2226" y="7132"/>
                    <a:pt x="2204" y="7126"/>
                  </a:cubicBezTo>
                  <a:lnTo>
                    <a:pt x="2204" y="7098"/>
                  </a:lnTo>
                  <a:cubicBezTo>
                    <a:pt x="2092" y="7098"/>
                    <a:pt x="1997" y="7275"/>
                    <a:pt x="2085" y="7391"/>
                  </a:cubicBezTo>
                  <a:cubicBezTo>
                    <a:pt x="2053" y="7403"/>
                    <a:pt x="2020" y="7412"/>
                    <a:pt x="1986" y="7420"/>
                  </a:cubicBezTo>
                  <a:cubicBezTo>
                    <a:pt x="1976" y="7486"/>
                    <a:pt x="2003" y="7524"/>
                    <a:pt x="2047" y="7561"/>
                  </a:cubicBezTo>
                  <a:cubicBezTo>
                    <a:pt x="2027" y="7581"/>
                    <a:pt x="2018" y="7606"/>
                    <a:pt x="2021" y="7635"/>
                  </a:cubicBezTo>
                  <a:cubicBezTo>
                    <a:pt x="2021" y="7661"/>
                    <a:pt x="1989" y="7660"/>
                    <a:pt x="1990" y="7711"/>
                  </a:cubicBezTo>
                  <a:cubicBezTo>
                    <a:pt x="1945" y="7720"/>
                    <a:pt x="1898" y="7715"/>
                    <a:pt x="1853" y="7703"/>
                  </a:cubicBezTo>
                  <a:cubicBezTo>
                    <a:pt x="1856" y="7754"/>
                    <a:pt x="1852" y="7802"/>
                    <a:pt x="1841" y="7849"/>
                  </a:cubicBezTo>
                  <a:cubicBezTo>
                    <a:pt x="2028" y="7973"/>
                    <a:pt x="2205" y="8066"/>
                    <a:pt x="2363" y="8238"/>
                  </a:cubicBezTo>
                  <a:cubicBezTo>
                    <a:pt x="2296" y="8346"/>
                    <a:pt x="2888" y="8477"/>
                    <a:pt x="2736" y="8789"/>
                  </a:cubicBezTo>
                  <a:cubicBezTo>
                    <a:pt x="2487" y="8980"/>
                    <a:pt x="2231" y="8785"/>
                    <a:pt x="1999" y="8788"/>
                  </a:cubicBezTo>
                  <a:cubicBezTo>
                    <a:pt x="1930" y="8781"/>
                    <a:pt x="1954" y="8678"/>
                    <a:pt x="1835" y="8708"/>
                  </a:cubicBezTo>
                  <a:cubicBezTo>
                    <a:pt x="1704" y="8534"/>
                    <a:pt x="1349" y="8634"/>
                    <a:pt x="1224" y="8736"/>
                  </a:cubicBezTo>
                  <a:cubicBezTo>
                    <a:pt x="1102" y="8835"/>
                    <a:pt x="682" y="8887"/>
                    <a:pt x="661" y="8607"/>
                  </a:cubicBezTo>
                  <a:cubicBezTo>
                    <a:pt x="631" y="8603"/>
                    <a:pt x="588" y="8600"/>
                    <a:pt x="561" y="8615"/>
                  </a:cubicBezTo>
                  <a:cubicBezTo>
                    <a:pt x="559" y="8612"/>
                    <a:pt x="535" y="8572"/>
                    <a:pt x="535" y="8572"/>
                  </a:cubicBezTo>
                  <a:cubicBezTo>
                    <a:pt x="414" y="8571"/>
                    <a:pt x="318" y="8636"/>
                    <a:pt x="375" y="8778"/>
                  </a:cubicBezTo>
                  <a:cubicBezTo>
                    <a:pt x="343" y="8806"/>
                    <a:pt x="256" y="9007"/>
                    <a:pt x="329" y="9043"/>
                  </a:cubicBezTo>
                  <a:cubicBezTo>
                    <a:pt x="249" y="9165"/>
                    <a:pt x="305" y="9330"/>
                    <a:pt x="421" y="9335"/>
                  </a:cubicBezTo>
                  <a:cubicBezTo>
                    <a:pt x="437" y="9593"/>
                    <a:pt x="540" y="10027"/>
                    <a:pt x="785" y="10022"/>
                  </a:cubicBezTo>
                  <a:cubicBezTo>
                    <a:pt x="850" y="10027"/>
                    <a:pt x="1167" y="10311"/>
                    <a:pt x="1169" y="10017"/>
                  </a:cubicBezTo>
                  <a:cubicBezTo>
                    <a:pt x="1171" y="9906"/>
                    <a:pt x="1447" y="10181"/>
                    <a:pt x="1452" y="10184"/>
                  </a:cubicBezTo>
                  <a:cubicBezTo>
                    <a:pt x="1603" y="10274"/>
                    <a:pt x="1696" y="10029"/>
                    <a:pt x="1800" y="10012"/>
                  </a:cubicBezTo>
                  <a:cubicBezTo>
                    <a:pt x="1854" y="10012"/>
                    <a:pt x="1899" y="10096"/>
                    <a:pt x="1959" y="10058"/>
                  </a:cubicBezTo>
                  <a:cubicBezTo>
                    <a:pt x="1947" y="10128"/>
                    <a:pt x="1993" y="10195"/>
                    <a:pt x="1984" y="10276"/>
                  </a:cubicBezTo>
                  <a:cubicBezTo>
                    <a:pt x="1984" y="10276"/>
                    <a:pt x="2022" y="10292"/>
                    <a:pt x="2025" y="10293"/>
                  </a:cubicBezTo>
                  <a:cubicBezTo>
                    <a:pt x="2030" y="10351"/>
                    <a:pt x="2017" y="10414"/>
                    <a:pt x="2045" y="10467"/>
                  </a:cubicBezTo>
                  <a:cubicBezTo>
                    <a:pt x="1964" y="10561"/>
                    <a:pt x="1951" y="10674"/>
                    <a:pt x="1927" y="10801"/>
                  </a:cubicBezTo>
                  <a:cubicBezTo>
                    <a:pt x="1848" y="10835"/>
                    <a:pt x="1834" y="11184"/>
                    <a:pt x="1763" y="11286"/>
                  </a:cubicBezTo>
                  <a:cubicBezTo>
                    <a:pt x="1769" y="11302"/>
                    <a:pt x="2052" y="12076"/>
                    <a:pt x="1847" y="12076"/>
                  </a:cubicBezTo>
                  <a:cubicBezTo>
                    <a:pt x="1847" y="12076"/>
                    <a:pt x="1847" y="12076"/>
                    <a:pt x="1847" y="12076"/>
                  </a:cubicBezTo>
                  <a:lnTo>
                    <a:pt x="1837" y="12090"/>
                  </a:lnTo>
                  <a:cubicBezTo>
                    <a:pt x="1850" y="12113"/>
                    <a:pt x="1854" y="12139"/>
                    <a:pt x="1849" y="12168"/>
                  </a:cubicBezTo>
                  <a:lnTo>
                    <a:pt x="1968" y="12175"/>
                  </a:lnTo>
                  <a:cubicBezTo>
                    <a:pt x="2045" y="12306"/>
                    <a:pt x="2361" y="12799"/>
                    <a:pt x="2334" y="12928"/>
                  </a:cubicBezTo>
                  <a:cubicBezTo>
                    <a:pt x="2299" y="13089"/>
                    <a:pt x="2510" y="13140"/>
                    <a:pt x="2556" y="13229"/>
                  </a:cubicBezTo>
                  <a:cubicBezTo>
                    <a:pt x="2628" y="13365"/>
                    <a:pt x="2637" y="13466"/>
                    <a:pt x="2665" y="13606"/>
                  </a:cubicBezTo>
                  <a:cubicBezTo>
                    <a:pt x="2622" y="13995"/>
                    <a:pt x="2974" y="14177"/>
                    <a:pt x="3079" y="14465"/>
                  </a:cubicBezTo>
                  <a:cubicBezTo>
                    <a:pt x="3147" y="14644"/>
                    <a:pt x="3352" y="14818"/>
                    <a:pt x="3369" y="15010"/>
                  </a:cubicBezTo>
                  <a:cubicBezTo>
                    <a:pt x="3389" y="15237"/>
                    <a:pt x="3410" y="15717"/>
                    <a:pt x="3527" y="15914"/>
                  </a:cubicBezTo>
                  <a:cubicBezTo>
                    <a:pt x="3685" y="16178"/>
                    <a:pt x="3909" y="15819"/>
                    <a:pt x="4050" y="15819"/>
                  </a:cubicBezTo>
                  <a:cubicBezTo>
                    <a:pt x="4318" y="15819"/>
                    <a:pt x="4521" y="15540"/>
                    <a:pt x="4746" y="15429"/>
                  </a:cubicBezTo>
                  <a:cubicBezTo>
                    <a:pt x="4904" y="15350"/>
                    <a:pt x="5142" y="15358"/>
                    <a:pt x="5113" y="15092"/>
                  </a:cubicBezTo>
                  <a:cubicBezTo>
                    <a:pt x="5108" y="15051"/>
                    <a:pt x="5191" y="15049"/>
                    <a:pt x="5224" y="15056"/>
                  </a:cubicBezTo>
                  <a:cubicBezTo>
                    <a:pt x="5227" y="15026"/>
                    <a:pt x="5232" y="14996"/>
                    <a:pt x="5238" y="14967"/>
                  </a:cubicBezTo>
                  <a:cubicBezTo>
                    <a:pt x="5244" y="14974"/>
                    <a:pt x="5256" y="14987"/>
                    <a:pt x="5262" y="14995"/>
                  </a:cubicBezTo>
                  <a:cubicBezTo>
                    <a:pt x="5385" y="14964"/>
                    <a:pt x="5690" y="14881"/>
                    <a:pt x="5666" y="14697"/>
                  </a:cubicBezTo>
                  <a:cubicBezTo>
                    <a:pt x="5680" y="14778"/>
                    <a:pt x="5943" y="14440"/>
                    <a:pt x="5924" y="14454"/>
                  </a:cubicBezTo>
                  <a:cubicBezTo>
                    <a:pt x="5959" y="14436"/>
                    <a:pt x="6024" y="14445"/>
                    <a:pt x="6061" y="14446"/>
                  </a:cubicBezTo>
                  <a:lnTo>
                    <a:pt x="6064" y="14398"/>
                  </a:lnTo>
                  <a:lnTo>
                    <a:pt x="6088" y="14378"/>
                  </a:lnTo>
                  <a:cubicBezTo>
                    <a:pt x="6071" y="14281"/>
                    <a:pt x="6052" y="14106"/>
                    <a:pt x="6092" y="14014"/>
                  </a:cubicBezTo>
                  <a:cubicBezTo>
                    <a:pt x="6217" y="14121"/>
                    <a:pt x="6399" y="13516"/>
                    <a:pt x="6416" y="13402"/>
                  </a:cubicBezTo>
                  <a:cubicBezTo>
                    <a:pt x="6337" y="13408"/>
                    <a:pt x="6330" y="13381"/>
                    <a:pt x="6268" y="13333"/>
                  </a:cubicBezTo>
                  <a:cubicBezTo>
                    <a:pt x="6116" y="13110"/>
                    <a:pt x="6087" y="13191"/>
                    <a:pt x="5900" y="13054"/>
                  </a:cubicBezTo>
                  <a:cubicBezTo>
                    <a:pt x="5695" y="12901"/>
                    <a:pt x="5769" y="12651"/>
                    <a:pt x="5663" y="12468"/>
                  </a:cubicBezTo>
                  <a:cubicBezTo>
                    <a:pt x="5681" y="12448"/>
                    <a:pt x="5685" y="12420"/>
                    <a:pt x="5677" y="12383"/>
                  </a:cubicBezTo>
                  <a:cubicBezTo>
                    <a:pt x="5773" y="12362"/>
                    <a:pt x="5783" y="12641"/>
                    <a:pt x="5830" y="12702"/>
                  </a:cubicBezTo>
                  <a:cubicBezTo>
                    <a:pt x="5907" y="12800"/>
                    <a:pt x="6096" y="12798"/>
                    <a:pt x="6204" y="12813"/>
                  </a:cubicBezTo>
                  <a:cubicBezTo>
                    <a:pt x="6343" y="12843"/>
                    <a:pt x="6560" y="12984"/>
                    <a:pt x="6684" y="12921"/>
                  </a:cubicBezTo>
                  <a:cubicBezTo>
                    <a:pt x="6904" y="12809"/>
                    <a:pt x="7142" y="12917"/>
                    <a:pt x="7377" y="12831"/>
                  </a:cubicBezTo>
                  <a:cubicBezTo>
                    <a:pt x="7381" y="12857"/>
                    <a:pt x="7392" y="12874"/>
                    <a:pt x="7409" y="12884"/>
                  </a:cubicBezTo>
                  <a:cubicBezTo>
                    <a:pt x="7402" y="12977"/>
                    <a:pt x="7445" y="12999"/>
                    <a:pt x="7507" y="12996"/>
                  </a:cubicBezTo>
                  <a:cubicBezTo>
                    <a:pt x="7525" y="13107"/>
                    <a:pt x="7595" y="13302"/>
                    <a:pt x="7708" y="13243"/>
                  </a:cubicBezTo>
                  <a:cubicBezTo>
                    <a:pt x="7799" y="13358"/>
                    <a:pt x="7948" y="13516"/>
                    <a:pt x="8082" y="13456"/>
                  </a:cubicBezTo>
                  <a:cubicBezTo>
                    <a:pt x="8040" y="13536"/>
                    <a:pt x="7899" y="13395"/>
                    <a:pt x="7863" y="13512"/>
                  </a:cubicBezTo>
                  <a:cubicBezTo>
                    <a:pt x="7838" y="13591"/>
                    <a:pt x="7985" y="13734"/>
                    <a:pt x="8024" y="13785"/>
                  </a:cubicBezTo>
                  <a:cubicBezTo>
                    <a:pt x="8174" y="13978"/>
                    <a:pt x="8328" y="14099"/>
                    <a:pt x="8506" y="13859"/>
                  </a:cubicBezTo>
                  <a:cubicBezTo>
                    <a:pt x="8506" y="13859"/>
                    <a:pt x="8511" y="13822"/>
                    <a:pt x="8511" y="13821"/>
                  </a:cubicBezTo>
                  <a:cubicBezTo>
                    <a:pt x="8597" y="14372"/>
                    <a:pt x="8658" y="15060"/>
                    <a:pt x="8944" y="15536"/>
                  </a:cubicBezTo>
                  <a:cubicBezTo>
                    <a:pt x="9051" y="15713"/>
                    <a:pt x="9457" y="17441"/>
                    <a:pt x="9713" y="17105"/>
                  </a:cubicBezTo>
                  <a:cubicBezTo>
                    <a:pt x="9784" y="17012"/>
                    <a:pt x="9781" y="16935"/>
                    <a:pt x="9870" y="16876"/>
                  </a:cubicBezTo>
                  <a:cubicBezTo>
                    <a:pt x="9961" y="16816"/>
                    <a:pt x="9845" y="16697"/>
                    <a:pt x="9968" y="16619"/>
                  </a:cubicBezTo>
                  <a:cubicBezTo>
                    <a:pt x="9997" y="16525"/>
                    <a:pt x="10045" y="16545"/>
                    <a:pt x="10043" y="16402"/>
                  </a:cubicBezTo>
                  <a:cubicBezTo>
                    <a:pt x="10042" y="16315"/>
                    <a:pt x="9996" y="16229"/>
                    <a:pt x="10027" y="16148"/>
                  </a:cubicBezTo>
                  <a:cubicBezTo>
                    <a:pt x="10149" y="15836"/>
                    <a:pt x="9994" y="15606"/>
                    <a:pt x="10014" y="15300"/>
                  </a:cubicBezTo>
                  <a:cubicBezTo>
                    <a:pt x="10017" y="15254"/>
                    <a:pt x="10218" y="15132"/>
                    <a:pt x="10207" y="15132"/>
                  </a:cubicBezTo>
                  <a:cubicBezTo>
                    <a:pt x="10321" y="15132"/>
                    <a:pt x="10494" y="14748"/>
                    <a:pt x="10602" y="14634"/>
                  </a:cubicBezTo>
                  <a:cubicBezTo>
                    <a:pt x="10691" y="14538"/>
                    <a:pt x="10737" y="14284"/>
                    <a:pt x="10862" y="14259"/>
                  </a:cubicBezTo>
                  <a:cubicBezTo>
                    <a:pt x="10992" y="14233"/>
                    <a:pt x="11028" y="14088"/>
                    <a:pt x="11120" y="13995"/>
                  </a:cubicBezTo>
                  <a:cubicBezTo>
                    <a:pt x="10889" y="13710"/>
                    <a:pt x="11322" y="13817"/>
                    <a:pt x="11401" y="13792"/>
                  </a:cubicBezTo>
                  <a:lnTo>
                    <a:pt x="11405" y="13809"/>
                  </a:lnTo>
                  <a:cubicBezTo>
                    <a:pt x="11513" y="13796"/>
                    <a:pt x="11840" y="13734"/>
                    <a:pt x="11758" y="13509"/>
                  </a:cubicBezTo>
                  <a:cubicBezTo>
                    <a:pt x="11915" y="13567"/>
                    <a:pt x="11804" y="13766"/>
                    <a:pt x="11804" y="13858"/>
                  </a:cubicBezTo>
                  <a:cubicBezTo>
                    <a:pt x="11855" y="13932"/>
                    <a:pt x="11916" y="14007"/>
                    <a:pt x="11963" y="14088"/>
                  </a:cubicBezTo>
                  <a:cubicBezTo>
                    <a:pt x="12025" y="14193"/>
                    <a:pt x="12122" y="14206"/>
                    <a:pt x="12170" y="14271"/>
                  </a:cubicBezTo>
                  <a:cubicBezTo>
                    <a:pt x="12116" y="14362"/>
                    <a:pt x="12121" y="14561"/>
                    <a:pt x="12259" y="14543"/>
                  </a:cubicBezTo>
                  <a:lnTo>
                    <a:pt x="12265" y="14517"/>
                  </a:lnTo>
                  <a:cubicBezTo>
                    <a:pt x="12405" y="14547"/>
                    <a:pt x="12309" y="15318"/>
                    <a:pt x="12423" y="15210"/>
                  </a:cubicBezTo>
                  <a:cubicBezTo>
                    <a:pt x="12494" y="15441"/>
                    <a:pt x="12802" y="15118"/>
                    <a:pt x="12844" y="14997"/>
                  </a:cubicBezTo>
                  <a:cubicBezTo>
                    <a:pt x="12856" y="15037"/>
                    <a:pt x="12878" y="15060"/>
                    <a:pt x="12911" y="15067"/>
                  </a:cubicBezTo>
                  <a:cubicBezTo>
                    <a:pt x="12902" y="15223"/>
                    <a:pt x="13012" y="15781"/>
                    <a:pt x="13143" y="15859"/>
                  </a:cubicBezTo>
                  <a:lnTo>
                    <a:pt x="13144" y="15854"/>
                  </a:lnTo>
                  <a:cubicBezTo>
                    <a:pt x="13197" y="16052"/>
                    <a:pt x="13142" y="16636"/>
                    <a:pt x="13250" y="16730"/>
                  </a:cubicBezTo>
                  <a:cubicBezTo>
                    <a:pt x="13233" y="16829"/>
                    <a:pt x="13157" y="17177"/>
                    <a:pt x="13261" y="17253"/>
                  </a:cubicBezTo>
                  <a:cubicBezTo>
                    <a:pt x="13268" y="17259"/>
                    <a:pt x="13275" y="17264"/>
                    <a:pt x="13282" y="17267"/>
                  </a:cubicBezTo>
                  <a:cubicBezTo>
                    <a:pt x="13318" y="17267"/>
                    <a:pt x="13328" y="17221"/>
                    <a:pt x="13335" y="17183"/>
                  </a:cubicBezTo>
                  <a:cubicBezTo>
                    <a:pt x="13489" y="17447"/>
                    <a:pt x="13664" y="17696"/>
                    <a:pt x="13664" y="18046"/>
                  </a:cubicBezTo>
                  <a:cubicBezTo>
                    <a:pt x="13665" y="18236"/>
                    <a:pt x="13986" y="18792"/>
                    <a:pt x="14143" y="18792"/>
                  </a:cubicBezTo>
                  <a:lnTo>
                    <a:pt x="14108" y="18792"/>
                  </a:lnTo>
                  <a:lnTo>
                    <a:pt x="14340" y="18993"/>
                  </a:lnTo>
                  <a:cubicBezTo>
                    <a:pt x="14381" y="18801"/>
                    <a:pt x="14438" y="18554"/>
                    <a:pt x="14266" y="18407"/>
                  </a:cubicBezTo>
                  <a:cubicBezTo>
                    <a:pt x="14222" y="18370"/>
                    <a:pt x="14205" y="18151"/>
                    <a:pt x="14226" y="18088"/>
                  </a:cubicBezTo>
                  <a:cubicBezTo>
                    <a:pt x="14290" y="17896"/>
                    <a:pt x="14071" y="17539"/>
                    <a:pt x="13928" y="17499"/>
                  </a:cubicBezTo>
                  <a:cubicBezTo>
                    <a:pt x="13881" y="17415"/>
                    <a:pt x="13661" y="17373"/>
                    <a:pt x="13645" y="17259"/>
                  </a:cubicBezTo>
                  <a:cubicBezTo>
                    <a:pt x="13745" y="17168"/>
                    <a:pt x="13574" y="16889"/>
                    <a:pt x="13559" y="16792"/>
                  </a:cubicBezTo>
                  <a:cubicBezTo>
                    <a:pt x="13529" y="16788"/>
                    <a:pt x="13501" y="16791"/>
                    <a:pt x="13472" y="16803"/>
                  </a:cubicBezTo>
                  <a:cubicBezTo>
                    <a:pt x="13429" y="16495"/>
                    <a:pt x="13632" y="16145"/>
                    <a:pt x="13549" y="15846"/>
                  </a:cubicBezTo>
                  <a:cubicBezTo>
                    <a:pt x="13573" y="15845"/>
                    <a:pt x="13595" y="15843"/>
                    <a:pt x="13619" y="15840"/>
                  </a:cubicBezTo>
                  <a:cubicBezTo>
                    <a:pt x="13609" y="16099"/>
                    <a:pt x="13684" y="15951"/>
                    <a:pt x="13779" y="16047"/>
                  </a:cubicBezTo>
                  <a:cubicBezTo>
                    <a:pt x="13864" y="16023"/>
                    <a:pt x="13870" y="16267"/>
                    <a:pt x="13976" y="16189"/>
                  </a:cubicBezTo>
                  <a:cubicBezTo>
                    <a:pt x="14020" y="16272"/>
                    <a:pt x="14042" y="16563"/>
                    <a:pt x="14148" y="16421"/>
                  </a:cubicBezTo>
                  <a:cubicBezTo>
                    <a:pt x="14160" y="16430"/>
                    <a:pt x="14169" y="16479"/>
                    <a:pt x="14172" y="16497"/>
                  </a:cubicBezTo>
                  <a:cubicBezTo>
                    <a:pt x="14248" y="16535"/>
                    <a:pt x="14324" y="16665"/>
                    <a:pt x="14393" y="16675"/>
                  </a:cubicBezTo>
                  <a:cubicBezTo>
                    <a:pt x="14349" y="16802"/>
                    <a:pt x="14378" y="16936"/>
                    <a:pt x="14328" y="17065"/>
                  </a:cubicBezTo>
                  <a:cubicBezTo>
                    <a:pt x="14423" y="17103"/>
                    <a:pt x="14649" y="16942"/>
                    <a:pt x="14681" y="16817"/>
                  </a:cubicBezTo>
                  <a:cubicBezTo>
                    <a:pt x="14747" y="16823"/>
                    <a:pt x="14771" y="16679"/>
                    <a:pt x="14777" y="16616"/>
                  </a:cubicBezTo>
                  <a:lnTo>
                    <a:pt x="14795" y="16636"/>
                  </a:lnTo>
                  <a:cubicBezTo>
                    <a:pt x="14920" y="16540"/>
                    <a:pt x="15138" y="16456"/>
                    <a:pt x="15162" y="16247"/>
                  </a:cubicBezTo>
                  <a:cubicBezTo>
                    <a:pt x="15186" y="16037"/>
                    <a:pt x="15149" y="15872"/>
                    <a:pt x="15136" y="15668"/>
                  </a:cubicBezTo>
                  <a:cubicBezTo>
                    <a:pt x="15108" y="15228"/>
                    <a:pt x="14762" y="15014"/>
                    <a:pt x="14564" y="14711"/>
                  </a:cubicBezTo>
                  <a:cubicBezTo>
                    <a:pt x="14528" y="14587"/>
                    <a:pt x="14270" y="14343"/>
                    <a:pt x="14428" y="14189"/>
                  </a:cubicBezTo>
                  <a:cubicBezTo>
                    <a:pt x="14501" y="14117"/>
                    <a:pt x="14517" y="14012"/>
                    <a:pt x="14591" y="13938"/>
                  </a:cubicBezTo>
                  <a:cubicBezTo>
                    <a:pt x="14638" y="13892"/>
                    <a:pt x="14715" y="13816"/>
                    <a:pt x="14743" y="13760"/>
                  </a:cubicBezTo>
                  <a:cubicBezTo>
                    <a:pt x="14780" y="13785"/>
                    <a:pt x="14880" y="13924"/>
                    <a:pt x="14917" y="13797"/>
                  </a:cubicBezTo>
                  <a:cubicBezTo>
                    <a:pt x="14919" y="13798"/>
                    <a:pt x="14921" y="13800"/>
                    <a:pt x="14924" y="13802"/>
                  </a:cubicBezTo>
                  <a:cubicBezTo>
                    <a:pt x="14874" y="13903"/>
                    <a:pt x="14944" y="14050"/>
                    <a:pt x="15003" y="14121"/>
                  </a:cubicBezTo>
                  <a:cubicBezTo>
                    <a:pt x="14696" y="14139"/>
                    <a:pt x="14934" y="14721"/>
                    <a:pt x="15063" y="14532"/>
                  </a:cubicBezTo>
                  <a:cubicBezTo>
                    <a:pt x="15168" y="14522"/>
                    <a:pt x="15172" y="14273"/>
                    <a:pt x="15207" y="14188"/>
                  </a:cubicBezTo>
                  <a:cubicBezTo>
                    <a:pt x="15207" y="14093"/>
                    <a:pt x="15157" y="14104"/>
                    <a:pt x="15102" y="14115"/>
                  </a:cubicBezTo>
                  <a:cubicBezTo>
                    <a:pt x="15199" y="14030"/>
                    <a:pt x="15118" y="14016"/>
                    <a:pt x="15104" y="13913"/>
                  </a:cubicBezTo>
                  <a:cubicBezTo>
                    <a:pt x="15092" y="13820"/>
                    <a:pt x="15241" y="13850"/>
                    <a:pt x="15282" y="13822"/>
                  </a:cubicBezTo>
                  <a:cubicBezTo>
                    <a:pt x="15359" y="13767"/>
                    <a:pt x="15439" y="13745"/>
                    <a:pt x="15523" y="13688"/>
                  </a:cubicBezTo>
                  <a:cubicBezTo>
                    <a:pt x="15526" y="13681"/>
                    <a:pt x="15528" y="13675"/>
                    <a:pt x="15529" y="13668"/>
                  </a:cubicBezTo>
                  <a:cubicBezTo>
                    <a:pt x="15564" y="13634"/>
                    <a:pt x="15623" y="13651"/>
                    <a:pt x="15631" y="13574"/>
                  </a:cubicBezTo>
                  <a:cubicBezTo>
                    <a:pt x="15690" y="13627"/>
                    <a:pt x="16074" y="13471"/>
                    <a:pt x="16095" y="13390"/>
                  </a:cubicBezTo>
                  <a:cubicBezTo>
                    <a:pt x="16114" y="13308"/>
                    <a:pt x="16263" y="13203"/>
                    <a:pt x="16314" y="13153"/>
                  </a:cubicBezTo>
                  <a:cubicBezTo>
                    <a:pt x="16369" y="13097"/>
                    <a:pt x="16451" y="12820"/>
                    <a:pt x="16493" y="12794"/>
                  </a:cubicBezTo>
                  <a:lnTo>
                    <a:pt x="16510" y="12781"/>
                  </a:lnTo>
                  <a:cubicBezTo>
                    <a:pt x="16523" y="12573"/>
                    <a:pt x="16584" y="12331"/>
                    <a:pt x="16643" y="12135"/>
                  </a:cubicBezTo>
                  <a:cubicBezTo>
                    <a:pt x="16777" y="12226"/>
                    <a:pt x="16741" y="11976"/>
                    <a:pt x="16718" y="11897"/>
                  </a:cubicBezTo>
                  <a:lnTo>
                    <a:pt x="16759" y="11906"/>
                  </a:lnTo>
                  <a:cubicBezTo>
                    <a:pt x="16726" y="11747"/>
                    <a:pt x="16728" y="11491"/>
                    <a:pt x="16531" y="11506"/>
                  </a:cubicBezTo>
                  <a:cubicBezTo>
                    <a:pt x="16589" y="11423"/>
                    <a:pt x="16734" y="11436"/>
                    <a:pt x="16572" y="11272"/>
                  </a:cubicBezTo>
                  <a:lnTo>
                    <a:pt x="16584" y="11278"/>
                  </a:lnTo>
                  <a:cubicBezTo>
                    <a:pt x="16598" y="11049"/>
                    <a:pt x="16383" y="11061"/>
                    <a:pt x="16346" y="10916"/>
                  </a:cubicBezTo>
                  <a:cubicBezTo>
                    <a:pt x="16216" y="10747"/>
                    <a:pt x="16131" y="10449"/>
                    <a:pt x="15922" y="10393"/>
                  </a:cubicBezTo>
                  <a:cubicBezTo>
                    <a:pt x="15951" y="10281"/>
                    <a:pt x="15996" y="10050"/>
                    <a:pt x="16094" y="10009"/>
                  </a:cubicBezTo>
                  <a:cubicBezTo>
                    <a:pt x="16162" y="9981"/>
                    <a:pt x="16172" y="9976"/>
                    <a:pt x="16241" y="9976"/>
                  </a:cubicBezTo>
                  <a:cubicBezTo>
                    <a:pt x="16389" y="9976"/>
                    <a:pt x="16257" y="9717"/>
                    <a:pt x="16138" y="9717"/>
                  </a:cubicBezTo>
                  <a:cubicBezTo>
                    <a:pt x="16041" y="9717"/>
                    <a:pt x="15947" y="9596"/>
                    <a:pt x="15855" y="9645"/>
                  </a:cubicBezTo>
                  <a:cubicBezTo>
                    <a:pt x="15815" y="9666"/>
                    <a:pt x="15657" y="9959"/>
                    <a:pt x="15665" y="9700"/>
                  </a:cubicBezTo>
                  <a:cubicBezTo>
                    <a:pt x="15671" y="9442"/>
                    <a:pt x="15348" y="9696"/>
                    <a:pt x="15343" y="9394"/>
                  </a:cubicBezTo>
                  <a:cubicBezTo>
                    <a:pt x="15385" y="9432"/>
                    <a:pt x="15449" y="9421"/>
                    <a:pt x="15498" y="9408"/>
                  </a:cubicBezTo>
                  <a:cubicBezTo>
                    <a:pt x="15515" y="9403"/>
                    <a:pt x="15696" y="9022"/>
                    <a:pt x="15716" y="8978"/>
                  </a:cubicBezTo>
                  <a:cubicBezTo>
                    <a:pt x="15802" y="8780"/>
                    <a:pt x="15869" y="9340"/>
                    <a:pt x="15873" y="9343"/>
                  </a:cubicBezTo>
                  <a:cubicBezTo>
                    <a:pt x="15724" y="9412"/>
                    <a:pt x="15962" y="9649"/>
                    <a:pt x="16042" y="9398"/>
                  </a:cubicBezTo>
                  <a:cubicBezTo>
                    <a:pt x="16080" y="9281"/>
                    <a:pt x="16134" y="9226"/>
                    <a:pt x="16255" y="9232"/>
                  </a:cubicBezTo>
                  <a:cubicBezTo>
                    <a:pt x="16563" y="9232"/>
                    <a:pt x="16381" y="9707"/>
                    <a:pt x="16600" y="9725"/>
                  </a:cubicBezTo>
                  <a:cubicBezTo>
                    <a:pt x="16602" y="9756"/>
                    <a:pt x="16619" y="9789"/>
                    <a:pt x="16637" y="9811"/>
                  </a:cubicBezTo>
                  <a:cubicBezTo>
                    <a:pt x="16663" y="9798"/>
                    <a:pt x="16698" y="9771"/>
                    <a:pt x="16709" y="9740"/>
                  </a:cubicBezTo>
                  <a:cubicBezTo>
                    <a:pt x="16725" y="9749"/>
                    <a:pt x="16741" y="9758"/>
                    <a:pt x="16757" y="9767"/>
                  </a:cubicBezTo>
                  <a:cubicBezTo>
                    <a:pt x="16769" y="9767"/>
                    <a:pt x="16778" y="9762"/>
                    <a:pt x="16785" y="9756"/>
                  </a:cubicBezTo>
                  <a:cubicBezTo>
                    <a:pt x="16797" y="9780"/>
                    <a:pt x="16820" y="9802"/>
                    <a:pt x="16840" y="9817"/>
                  </a:cubicBezTo>
                  <a:cubicBezTo>
                    <a:pt x="16852" y="9804"/>
                    <a:pt x="16864" y="9788"/>
                    <a:pt x="16873" y="9771"/>
                  </a:cubicBezTo>
                  <a:cubicBezTo>
                    <a:pt x="16891" y="9805"/>
                    <a:pt x="16902" y="9828"/>
                    <a:pt x="16908" y="9843"/>
                  </a:cubicBezTo>
                  <a:cubicBezTo>
                    <a:pt x="16847" y="9895"/>
                    <a:pt x="17004" y="10307"/>
                    <a:pt x="17021" y="10410"/>
                  </a:cubicBezTo>
                  <a:cubicBezTo>
                    <a:pt x="17070" y="10691"/>
                    <a:pt x="17304" y="10518"/>
                    <a:pt x="17449" y="10518"/>
                  </a:cubicBezTo>
                  <a:cubicBezTo>
                    <a:pt x="17808" y="10215"/>
                    <a:pt x="17261" y="9613"/>
                    <a:pt x="17080" y="9402"/>
                  </a:cubicBezTo>
                  <a:lnTo>
                    <a:pt x="17048" y="9438"/>
                  </a:lnTo>
                  <a:cubicBezTo>
                    <a:pt x="16837" y="9231"/>
                    <a:pt x="16887" y="9348"/>
                    <a:pt x="17005" y="9091"/>
                  </a:cubicBezTo>
                  <a:cubicBezTo>
                    <a:pt x="17099" y="8895"/>
                    <a:pt x="16986" y="8839"/>
                    <a:pt x="17044" y="8633"/>
                  </a:cubicBezTo>
                  <a:cubicBezTo>
                    <a:pt x="17065" y="8626"/>
                    <a:pt x="17115" y="8634"/>
                    <a:pt x="17137" y="8636"/>
                  </a:cubicBezTo>
                  <a:cubicBezTo>
                    <a:pt x="17110" y="8586"/>
                    <a:pt x="17077" y="8532"/>
                    <a:pt x="17040" y="8493"/>
                  </a:cubicBezTo>
                  <a:cubicBezTo>
                    <a:pt x="17041" y="8492"/>
                    <a:pt x="17041" y="8490"/>
                    <a:pt x="17042" y="8488"/>
                  </a:cubicBezTo>
                  <a:cubicBezTo>
                    <a:pt x="17064" y="8487"/>
                    <a:pt x="17086" y="8479"/>
                    <a:pt x="17106" y="8468"/>
                  </a:cubicBezTo>
                  <a:cubicBezTo>
                    <a:pt x="17136" y="8432"/>
                    <a:pt x="17150" y="8393"/>
                    <a:pt x="17159" y="8342"/>
                  </a:cubicBezTo>
                  <a:cubicBezTo>
                    <a:pt x="17315" y="8418"/>
                    <a:pt x="17705" y="8619"/>
                    <a:pt x="17671" y="8117"/>
                  </a:cubicBezTo>
                  <a:cubicBezTo>
                    <a:pt x="17658" y="7925"/>
                    <a:pt x="17808" y="7735"/>
                    <a:pt x="17792" y="7535"/>
                  </a:cubicBezTo>
                  <a:cubicBezTo>
                    <a:pt x="17781" y="7389"/>
                    <a:pt x="17861" y="7091"/>
                    <a:pt x="17823" y="6968"/>
                  </a:cubicBezTo>
                  <a:cubicBezTo>
                    <a:pt x="17754" y="6743"/>
                    <a:pt x="17595" y="6575"/>
                    <a:pt x="17533" y="6355"/>
                  </a:cubicBezTo>
                  <a:cubicBezTo>
                    <a:pt x="17482" y="6176"/>
                    <a:pt x="17477" y="6076"/>
                    <a:pt x="17371" y="5930"/>
                  </a:cubicBezTo>
                  <a:cubicBezTo>
                    <a:pt x="17206" y="5696"/>
                    <a:pt x="16964" y="5566"/>
                    <a:pt x="16701" y="5550"/>
                  </a:cubicBezTo>
                  <a:lnTo>
                    <a:pt x="16702" y="5599"/>
                  </a:lnTo>
                  <a:lnTo>
                    <a:pt x="16682" y="5620"/>
                  </a:lnTo>
                  <a:cubicBezTo>
                    <a:pt x="16715" y="5661"/>
                    <a:pt x="16696" y="5689"/>
                    <a:pt x="16705" y="5735"/>
                  </a:cubicBezTo>
                  <a:cubicBezTo>
                    <a:pt x="16705" y="5735"/>
                    <a:pt x="16701" y="5738"/>
                    <a:pt x="16686" y="5738"/>
                  </a:cubicBezTo>
                  <a:cubicBezTo>
                    <a:pt x="16699" y="5604"/>
                    <a:pt x="16597" y="5649"/>
                    <a:pt x="16543" y="5672"/>
                  </a:cubicBezTo>
                  <a:cubicBezTo>
                    <a:pt x="16464" y="5655"/>
                    <a:pt x="16474" y="5478"/>
                    <a:pt x="16362" y="5478"/>
                  </a:cubicBezTo>
                  <a:cubicBezTo>
                    <a:pt x="16292" y="5478"/>
                    <a:pt x="16248" y="5504"/>
                    <a:pt x="16175" y="5453"/>
                  </a:cubicBezTo>
                  <a:cubicBezTo>
                    <a:pt x="16188" y="5307"/>
                    <a:pt x="16331" y="5234"/>
                    <a:pt x="16320" y="5059"/>
                  </a:cubicBezTo>
                  <a:cubicBezTo>
                    <a:pt x="16316" y="4984"/>
                    <a:pt x="16399" y="4871"/>
                    <a:pt x="16438" y="4830"/>
                  </a:cubicBezTo>
                  <a:cubicBezTo>
                    <a:pt x="16438" y="4780"/>
                    <a:pt x="16419" y="4738"/>
                    <a:pt x="16403" y="4694"/>
                  </a:cubicBezTo>
                  <a:cubicBezTo>
                    <a:pt x="16485" y="4410"/>
                    <a:pt x="16622" y="4513"/>
                    <a:pt x="16822" y="4502"/>
                  </a:cubicBezTo>
                  <a:cubicBezTo>
                    <a:pt x="17017" y="4491"/>
                    <a:pt x="17229" y="4512"/>
                    <a:pt x="17432" y="4486"/>
                  </a:cubicBezTo>
                  <a:cubicBezTo>
                    <a:pt x="17432" y="4486"/>
                    <a:pt x="17380" y="4399"/>
                    <a:pt x="17380" y="4399"/>
                  </a:cubicBezTo>
                  <a:cubicBezTo>
                    <a:pt x="17472" y="4395"/>
                    <a:pt x="17591" y="4417"/>
                    <a:pt x="17675" y="4457"/>
                  </a:cubicBezTo>
                  <a:lnTo>
                    <a:pt x="17587" y="4479"/>
                  </a:lnTo>
                  <a:cubicBezTo>
                    <a:pt x="17820" y="4694"/>
                    <a:pt x="18012" y="4482"/>
                    <a:pt x="18255" y="4567"/>
                  </a:cubicBezTo>
                  <a:lnTo>
                    <a:pt x="18310" y="4498"/>
                  </a:lnTo>
                  <a:cubicBezTo>
                    <a:pt x="18234" y="4374"/>
                    <a:pt x="18125" y="4427"/>
                    <a:pt x="18045" y="4339"/>
                  </a:cubicBezTo>
                  <a:cubicBezTo>
                    <a:pt x="18017" y="4297"/>
                    <a:pt x="18066" y="4003"/>
                    <a:pt x="18073" y="3947"/>
                  </a:cubicBezTo>
                  <a:cubicBezTo>
                    <a:pt x="18187" y="3913"/>
                    <a:pt x="18309" y="3913"/>
                    <a:pt x="18421" y="3949"/>
                  </a:cubicBezTo>
                  <a:cubicBezTo>
                    <a:pt x="18458" y="3949"/>
                    <a:pt x="18515" y="4111"/>
                    <a:pt x="18527" y="4157"/>
                  </a:cubicBezTo>
                  <a:cubicBezTo>
                    <a:pt x="18550" y="4152"/>
                    <a:pt x="18576" y="4143"/>
                    <a:pt x="18595" y="4129"/>
                  </a:cubicBezTo>
                  <a:cubicBezTo>
                    <a:pt x="18617" y="4170"/>
                    <a:pt x="18639" y="4210"/>
                    <a:pt x="18664" y="4248"/>
                  </a:cubicBezTo>
                  <a:cubicBezTo>
                    <a:pt x="18693" y="4222"/>
                    <a:pt x="18724" y="4201"/>
                    <a:pt x="18757" y="4186"/>
                  </a:cubicBezTo>
                  <a:cubicBezTo>
                    <a:pt x="18758" y="4038"/>
                    <a:pt x="18825" y="3956"/>
                    <a:pt x="18932" y="4040"/>
                  </a:cubicBezTo>
                  <a:cubicBezTo>
                    <a:pt x="18932" y="4003"/>
                    <a:pt x="18933" y="3962"/>
                    <a:pt x="18927" y="3925"/>
                  </a:cubicBezTo>
                  <a:cubicBezTo>
                    <a:pt x="18949" y="3962"/>
                    <a:pt x="18974" y="4040"/>
                    <a:pt x="19016" y="4044"/>
                  </a:cubicBezTo>
                  <a:cubicBezTo>
                    <a:pt x="19020" y="4065"/>
                    <a:pt x="19027" y="4085"/>
                    <a:pt x="19036" y="4104"/>
                  </a:cubicBezTo>
                  <a:cubicBezTo>
                    <a:pt x="18991" y="4134"/>
                    <a:pt x="18948" y="4163"/>
                    <a:pt x="18913" y="4209"/>
                  </a:cubicBezTo>
                  <a:lnTo>
                    <a:pt x="18933" y="4227"/>
                  </a:lnTo>
                  <a:lnTo>
                    <a:pt x="18922" y="4242"/>
                  </a:lnTo>
                  <a:cubicBezTo>
                    <a:pt x="18933" y="4251"/>
                    <a:pt x="18941" y="4262"/>
                    <a:pt x="18947" y="4276"/>
                  </a:cubicBezTo>
                  <a:cubicBezTo>
                    <a:pt x="18922" y="4461"/>
                    <a:pt x="18945" y="4782"/>
                    <a:pt x="18746" y="4754"/>
                  </a:cubicBezTo>
                  <a:cubicBezTo>
                    <a:pt x="18747" y="4788"/>
                    <a:pt x="18744" y="4821"/>
                    <a:pt x="18739" y="4854"/>
                  </a:cubicBezTo>
                  <a:cubicBezTo>
                    <a:pt x="18836" y="5008"/>
                    <a:pt x="18864" y="5224"/>
                    <a:pt x="18983" y="5396"/>
                  </a:cubicBezTo>
                  <a:cubicBezTo>
                    <a:pt x="19126" y="5602"/>
                    <a:pt x="19308" y="5753"/>
                    <a:pt x="19457" y="5949"/>
                  </a:cubicBezTo>
                  <a:cubicBezTo>
                    <a:pt x="19532" y="6048"/>
                    <a:pt x="19836" y="6469"/>
                    <a:pt x="19960" y="6469"/>
                  </a:cubicBezTo>
                  <a:cubicBezTo>
                    <a:pt x="20212" y="6469"/>
                    <a:pt x="19956" y="6018"/>
                    <a:pt x="19950" y="5979"/>
                  </a:cubicBezTo>
                  <a:cubicBezTo>
                    <a:pt x="19977" y="5936"/>
                    <a:pt x="20168" y="5982"/>
                    <a:pt x="20211" y="5985"/>
                  </a:cubicBezTo>
                  <a:cubicBezTo>
                    <a:pt x="20174" y="5942"/>
                    <a:pt x="19926" y="5707"/>
                    <a:pt x="19968" y="5649"/>
                  </a:cubicBezTo>
                  <a:cubicBezTo>
                    <a:pt x="19982" y="5630"/>
                    <a:pt x="20101" y="5654"/>
                    <a:pt x="20126" y="5664"/>
                  </a:cubicBezTo>
                  <a:cubicBezTo>
                    <a:pt x="20192" y="5412"/>
                    <a:pt x="19863" y="5420"/>
                    <a:pt x="19903" y="5247"/>
                  </a:cubicBezTo>
                  <a:cubicBezTo>
                    <a:pt x="19934" y="5260"/>
                    <a:pt x="19968" y="5294"/>
                    <a:pt x="19997" y="5315"/>
                  </a:cubicBezTo>
                  <a:cubicBezTo>
                    <a:pt x="20147" y="5117"/>
                    <a:pt x="19645" y="4785"/>
                    <a:pt x="19523" y="4756"/>
                  </a:cubicBezTo>
                  <a:cubicBezTo>
                    <a:pt x="19467" y="4748"/>
                    <a:pt x="19432" y="4643"/>
                    <a:pt x="19443" y="4586"/>
                  </a:cubicBezTo>
                  <a:cubicBezTo>
                    <a:pt x="19470" y="4445"/>
                    <a:pt x="19324" y="4420"/>
                    <a:pt x="19334" y="4366"/>
                  </a:cubicBezTo>
                  <a:cubicBezTo>
                    <a:pt x="19351" y="4272"/>
                    <a:pt x="19470" y="4429"/>
                    <a:pt x="19504" y="4429"/>
                  </a:cubicBezTo>
                  <a:cubicBezTo>
                    <a:pt x="19583" y="4429"/>
                    <a:pt x="19522" y="4292"/>
                    <a:pt x="19560" y="4279"/>
                  </a:cubicBezTo>
                  <a:cubicBezTo>
                    <a:pt x="19779" y="4468"/>
                    <a:pt x="19644" y="4227"/>
                    <a:pt x="19830" y="4227"/>
                  </a:cubicBezTo>
                  <a:cubicBezTo>
                    <a:pt x="19974" y="4180"/>
                    <a:pt x="20153" y="4358"/>
                    <a:pt x="20275" y="4424"/>
                  </a:cubicBezTo>
                  <a:cubicBezTo>
                    <a:pt x="20286" y="4362"/>
                    <a:pt x="20280" y="4286"/>
                    <a:pt x="20244" y="4238"/>
                  </a:cubicBezTo>
                  <a:cubicBezTo>
                    <a:pt x="20487" y="4009"/>
                    <a:pt x="20524" y="3674"/>
                    <a:pt x="20914" y="3862"/>
                  </a:cubicBezTo>
                  <a:cubicBezTo>
                    <a:pt x="20928" y="3840"/>
                    <a:pt x="20946" y="3835"/>
                    <a:pt x="20968" y="3843"/>
                  </a:cubicBezTo>
                  <a:cubicBezTo>
                    <a:pt x="20980" y="3602"/>
                    <a:pt x="20494" y="3359"/>
                    <a:pt x="20326" y="3322"/>
                  </a:cubicBezTo>
                  <a:cubicBezTo>
                    <a:pt x="20400" y="3299"/>
                    <a:pt x="20509" y="3221"/>
                    <a:pt x="20442" y="3106"/>
                  </a:cubicBezTo>
                  <a:cubicBezTo>
                    <a:pt x="20615" y="3209"/>
                    <a:pt x="20796" y="3130"/>
                    <a:pt x="20975" y="3259"/>
                  </a:cubicBezTo>
                  <a:cubicBezTo>
                    <a:pt x="21042" y="3307"/>
                    <a:pt x="21600" y="3507"/>
                    <a:pt x="21591" y="3334"/>
                  </a:cubicBezTo>
                  <a:cubicBezTo>
                    <a:pt x="21518" y="3261"/>
                    <a:pt x="21537" y="3195"/>
                    <a:pt x="21482" y="3136"/>
                  </a:cubicBezTo>
                  <a:close/>
                  <a:moveTo>
                    <a:pt x="16994" y="18909"/>
                  </a:moveTo>
                  <a:cubicBezTo>
                    <a:pt x="16992" y="18916"/>
                    <a:pt x="16986" y="18936"/>
                    <a:pt x="16994" y="18908"/>
                  </a:cubicBezTo>
                  <a:cubicBezTo>
                    <a:pt x="16995" y="18905"/>
                    <a:pt x="16995" y="18906"/>
                    <a:pt x="16994" y="18908"/>
                  </a:cubicBezTo>
                  <a:cubicBezTo>
                    <a:pt x="17025" y="18802"/>
                    <a:pt x="16849" y="18703"/>
                    <a:pt x="16797" y="18645"/>
                  </a:cubicBezTo>
                  <a:cubicBezTo>
                    <a:pt x="16910" y="18509"/>
                    <a:pt x="16724" y="18432"/>
                    <a:pt x="16738" y="18304"/>
                  </a:cubicBezTo>
                  <a:lnTo>
                    <a:pt x="16754" y="18340"/>
                  </a:lnTo>
                  <a:lnTo>
                    <a:pt x="16768" y="18257"/>
                  </a:lnTo>
                  <a:lnTo>
                    <a:pt x="16776" y="18259"/>
                  </a:lnTo>
                  <a:cubicBezTo>
                    <a:pt x="16763" y="18110"/>
                    <a:pt x="16888" y="18117"/>
                    <a:pt x="16947" y="18016"/>
                  </a:cubicBezTo>
                  <a:cubicBezTo>
                    <a:pt x="16932" y="18006"/>
                    <a:pt x="16894" y="17954"/>
                    <a:pt x="16878" y="17954"/>
                  </a:cubicBezTo>
                  <a:cubicBezTo>
                    <a:pt x="17187" y="17954"/>
                    <a:pt x="16910" y="17614"/>
                    <a:pt x="16748" y="17594"/>
                  </a:cubicBezTo>
                  <a:cubicBezTo>
                    <a:pt x="16760" y="17529"/>
                    <a:pt x="16681" y="17426"/>
                    <a:pt x="16659" y="17362"/>
                  </a:cubicBezTo>
                  <a:cubicBezTo>
                    <a:pt x="16473" y="17255"/>
                    <a:pt x="16458" y="17581"/>
                    <a:pt x="16392" y="17697"/>
                  </a:cubicBezTo>
                  <a:lnTo>
                    <a:pt x="16408" y="17712"/>
                  </a:lnTo>
                  <a:cubicBezTo>
                    <a:pt x="16350" y="17704"/>
                    <a:pt x="16222" y="17768"/>
                    <a:pt x="16295" y="17866"/>
                  </a:cubicBezTo>
                  <a:cubicBezTo>
                    <a:pt x="16216" y="17940"/>
                    <a:pt x="16061" y="17932"/>
                    <a:pt x="16023" y="18049"/>
                  </a:cubicBezTo>
                  <a:cubicBezTo>
                    <a:pt x="15957" y="18251"/>
                    <a:pt x="15876" y="18304"/>
                    <a:pt x="15732" y="18363"/>
                  </a:cubicBezTo>
                  <a:cubicBezTo>
                    <a:pt x="15609" y="18415"/>
                    <a:pt x="15571" y="18696"/>
                    <a:pt x="15535" y="18708"/>
                  </a:cubicBezTo>
                  <a:cubicBezTo>
                    <a:pt x="15508" y="18708"/>
                    <a:pt x="15366" y="18659"/>
                    <a:pt x="15367" y="18626"/>
                  </a:cubicBezTo>
                  <a:lnTo>
                    <a:pt x="15369" y="18534"/>
                  </a:lnTo>
                  <a:lnTo>
                    <a:pt x="15311" y="18575"/>
                  </a:lnTo>
                  <a:lnTo>
                    <a:pt x="15306" y="18562"/>
                  </a:lnTo>
                  <a:cubicBezTo>
                    <a:pt x="15117" y="18677"/>
                    <a:pt x="15108" y="18934"/>
                    <a:pt x="15200" y="19136"/>
                  </a:cubicBezTo>
                  <a:cubicBezTo>
                    <a:pt x="15161" y="19181"/>
                    <a:pt x="15164" y="19258"/>
                    <a:pt x="15203" y="19303"/>
                  </a:cubicBezTo>
                  <a:cubicBezTo>
                    <a:pt x="15195" y="19335"/>
                    <a:pt x="15210" y="19374"/>
                    <a:pt x="15235" y="19385"/>
                  </a:cubicBezTo>
                  <a:cubicBezTo>
                    <a:pt x="15225" y="19424"/>
                    <a:pt x="15232" y="19455"/>
                    <a:pt x="15254" y="19479"/>
                  </a:cubicBezTo>
                  <a:cubicBezTo>
                    <a:pt x="15285" y="19481"/>
                    <a:pt x="15311" y="19464"/>
                    <a:pt x="15340" y="19452"/>
                  </a:cubicBezTo>
                  <a:cubicBezTo>
                    <a:pt x="15350" y="19468"/>
                    <a:pt x="15353" y="19488"/>
                    <a:pt x="15347" y="19511"/>
                  </a:cubicBezTo>
                  <a:cubicBezTo>
                    <a:pt x="15325" y="19540"/>
                    <a:pt x="15350" y="19890"/>
                    <a:pt x="15399" y="19920"/>
                  </a:cubicBezTo>
                  <a:cubicBezTo>
                    <a:pt x="15473" y="19966"/>
                    <a:pt x="15568" y="19928"/>
                    <a:pt x="15643" y="19918"/>
                  </a:cubicBezTo>
                  <a:cubicBezTo>
                    <a:pt x="15630" y="20115"/>
                    <a:pt x="15842" y="20079"/>
                    <a:pt x="15913" y="19951"/>
                  </a:cubicBezTo>
                  <a:cubicBezTo>
                    <a:pt x="15943" y="20003"/>
                    <a:pt x="16038" y="20088"/>
                    <a:pt x="16085" y="20029"/>
                  </a:cubicBezTo>
                  <a:cubicBezTo>
                    <a:pt x="16181" y="20173"/>
                    <a:pt x="16201" y="20238"/>
                    <a:pt x="16389" y="20115"/>
                  </a:cubicBezTo>
                  <a:cubicBezTo>
                    <a:pt x="16410" y="20270"/>
                    <a:pt x="16541" y="20049"/>
                    <a:pt x="16499" y="19901"/>
                  </a:cubicBezTo>
                  <a:cubicBezTo>
                    <a:pt x="16526" y="19881"/>
                    <a:pt x="16539" y="19851"/>
                    <a:pt x="16538" y="19809"/>
                  </a:cubicBezTo>
                  <a:lnTo>
                    <a:pt x="16562" y="19798"/>
                  </a:lnTo>
                  <a:cubicBezTo>
                    <a:pt x="16568" y="19733"/>
                    <a:pt x="16573" y="19601"/>
                    <a:pt x="16539" y="19554"/>
                  </a:cubicBezTo>
                  <a:cubicBezTo>
                    <a:pt x="16562" y="19523"/>
                    <a:pt x="16574" y="19505"/>
                    <a:pt x="16597" y="19520"/>
                  </a:cubicBezTo>
                  <a:cubicBezTo>
                    <a:pt x="16644" y="19442"/>
                    <a:pt x="16806" y="19309"/>
                    <a:pt x="16741" y="19205"/>
                  </a:cubicBezTo>
                  <a:cubicBezTo>
                    <a:pt x="16704" y="19144"/>
                    <a:pt x="16767" y="18984"/>
                    <a:pt x="16806" y="18955"/>
                  </a:cubicBezTo>
                  <a:cubicBezTo>
                    <a:pt x="16858" y="18955"/>
                    <a:pt x="16966" y="19000"/>
                    <a:pt x="16994" y="18909"/>
                  </a:cubicBezTo>
                  <a:close/>
                  <a:moveTo>
                    <a:pt x="17082" y="15769"/>
                  </a:moveTo>
                  <a:cubicBezTo>
                    <a:pt x="17065" y="15769"/>
                    <a:pt x="17051" y="15769"/>
                    <a:pt x="17082" y="15769"/>
                  </a:cubicBezTo>
                  <a:cubicBezTo>
                    <a:pt x="17137" y="15769"/>
                    <a:pt x="17106" y="15769"/>
                    <a:pt x="17083" y="15769"/>
                  </a:cubicBezTo>
                  <a:cubicBezTo>
                    <a:pt x="17275" y="15768"/>
                    <a:pt x="17243" y="16089"/>
                    <a:pt x="17193" y="16059"/>
                  </a:cubicBezTo>
                  <a:cubicBezTo>
                    <a:pt x="17151" y="16034"/>
                    <a:pt x="17029" y="15770"/>
                    <a:pt x="17082" y="15769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900" dirty="0"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2A84390-4BBD-8695-0450-39EC2461F259}"/>
              </a:ext>
            </a:extLst>
          </p:cNvPr>
          <p:cNvSpPr/>
          <p:nvPr/>
        </p:nvSpPr>
        <p:spPr>
          <a:xfrm>
            <a:off x="4720415" y="1246359"/>
            <a:ext cx="6922676" cy="362129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FBE9D0DD-A234-0122-38AA-56D0EF8301F6}"/>
              </a:ext>
            </a:extLst>
          </p:cNvPr>
          <p:cNvGrpSpPr/>
          <p:nvPr/>
        </p:nvGrpSpPr>
        <p:grpSpPr>
          <a:xfrm>
            <a:off x="1085208" y="1858962"/>
            <a:ext cx="4311011" cy="1035400"/>
            <a:chOff x="962895" y="3454722"/>
            <a:chExt cx="4311011" cy="1035400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5487B9F3-A0E1-B42D-744D-884A53E631F5}"/>
                </a:ext>
              </a:extLst>
            </p:cNvPr>
            <p:cNvGrpSpPr/>
            <p:nvPr/>
          </p:nvGrpSpPr>
          <p:grpSpPr>
            <a:xfrm>
              <a:off x="962895" y="3454722"/>
              <a:ext cx="3951454" cy="1035400"/>
              <a:chOff x="901986" y="5239039"/>
              <a:chExt cx="3951454" cy="1035400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F2E7F5B1-4324-5333-A0FE-15D1B0FE3BFD}"/>
                  </a:ext>
                </a:extLst>
              </p:cNvPr>
              <p:cNvSpPr/>
              <p:nvPr/>
            </p:nvSpPr>
            <p:spPr>
              <a:xfrm>
                <a:off x="1253440" y="5573478"/>
                <a:ext cx="3600000" cy="7009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>
                  <a:lnSpc>
                    <a:spcPct val="150000"/>
                  </a:lnSpc>
                  <a:buClr>
                    <a:srgbClr val="000000"/>
                  </a:buClr>
                  <a:defRPr/>
                </a:pPr>
                <a:r>
                  <a:rPr lang="en-US" altLang="ko-KR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1. </a:t>
                </a:r>
                <a:r>
                  <a: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제안 목적 및 내용</a:t>
                </a:r>
                <a:endPara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endParaRPr>
              </a:p>
              <a:p>
                <a:pPr marL="0" lvl="1">
                  <a:lnSpc>
                    <a:spcPct val="150000"/>
                  </a:lnSpc>
                  <a:buClr>
                    <a:srgbClr val="000000"/>
                  </a:buClr>
                  <a:defRPr/>
                </a:pPr>
                <a:r>
                  <a:rPr lang="en-US" altLang="ko-KR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2. </a:t>
                </a:r>
                <a:r>
                  <a: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제안 특징과 장점</a:t>
                </a:r>
                <a:endPara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endParaRPr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2CE9F50A-D3D6-370B-15A9-214B5A1855B9}"/>
                  </a:ext>
                </a:extLst>
              </p:cNvPr>
              <p:cNvSpPr/>
              <p:nvPr/>
            </p:nvSpPr>
            <p:spPr>
              <a:xfrm>
                <a:off x="1253441" y="5239039"/>
                <a:ext cx="970137" cy="3816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  <a:buClr>
                    <a:srgbClr val="000000"/>
                  </a:buClr>
                  <a:buFont typeface="Arial"/>
                  <a:defRPr/>
                </a:pPr>
                <a:r>
                  <a:rPr lang="ko-KR" altLang="en-US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  <a:cs typeface="Arial"/>
                  </a:rPr>
                  <a:t>제안 개요</a:t>
                </a:r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A440742D-D7AA-CE9C-D57C-BAB702BD894F}"/>
                  </a:ext>
                </a:extLst>
              </p:cNvPr>
              <p:cNvSpPr/>
              <p:nvPr/>
            </p:nvSpPr>
            <p:spPr>
              <a:xfrm>
                <a:off x="901986" y="5262455"/>
                <a:ext cx="41069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20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FF6600"/>
                    </a:solidFill>
                    <a:latin typeface="a고딕18" panose="02020600000000000000" pitchFamily="18" charset="-127"/>
                    <a:ea typeface="a고딕18" panose="02020600000000000000" pitchFamily="18" charset="-127"/>
                  </a:rPr>
                  <a:t>Ⅰ</a:t>
                </a:r>
                <a:endParaRPr lang="ko-KR" altLang="en-US" sz="2000" dirty="0">
                  <a:solidFill>
                    <a:srgbClr val="FF6600"/>
                  </a:solidFill>
                  <a:latin typeface="a고딕18" panose="02020600000000000000" pitchFamily="18" charset="-127"/>
                  <a:ea typeface="a고딕18" panose="02020600000000000000" pitchFamily="18" charset="-127"/>
                </a:endParaRPr>
              </a:p>
            </p:txBody>
          </p:sp>
        </p:grp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2111D42-9FAF-1205-5D6B-7F0616B02926}"/>
                </a:ext>
              </a:extLst>
            </p:cNvPr>
            <p:cNvSpPr/>
            <p:nvPr/>
          </p:nvSpPr>
          <p:spPr>
            <a:xfrm>
              <a:off x="1673906" y="3789161"/>
              <a:ext cx="3600000" cy="7009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04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06</a:t>
              </a:r>
              <a:endPara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B9CCD1A8-0082-CE24-3574-0C9BCD0E9D04}"/>
                </a:ext>
              </a:extLst>
            </p:cNvPr>
            <p:cNvSpPr/>
            <p:nvPr/>
          </p:nvSpPr>
          <p:spPr>
            <a:xfrm>
              <a:off x="3473906" y="3454722"/>
              <a:ext cx="1800000" cy="385618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03</a:t>
              </a:r>
              <a:endPara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  <a:cs typeface="Arial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0F19F139-0A6E-3AE1-EF30-56661DEA8AB7}"/>
              </a:ext>
            </a:extLst>
          </p:cNvPr>
          <p:cNvGrpSpPr/>
          <p:nvPr/>
        </p:nvGrpSpPr>
        <p:grpSpPr>
          <a:xfrm>
            <a:off x="1105228" y="3885635"/>
            <a:ext cx="4290572" cy="1358566"/>
            <a:chOff x="962895" y="3454722"/>
            <a:chExt cx="4290572" cy="1358566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F9E025F4-AB16-63A4-E0C2-6ED10AC454D4}"/>
                </a:ext>
              </a:extLst>
            </p:cNvPr>
            <p:cNvGrpSpPr/>
            <p:nvPr/>
          </p:nvGrpSpPr>
          <p:grpSpPr>
            <a:xfrm>
              <a:off x="962895" y="3454722"/>
              <a:ext cx="3908446" cy="1358566"/>
              <a:chOff x="901986" y="5239039"/>
              <a:chExt cx="3908446" cy="1358566"/>
            </a:xfrm>
          </p:grpSpPr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5B5423FA-094B-3EC2-84CB-15700E6A07A1}"/>
                  </a:ext>
                </a:extLst>
              </p:cNvPr>
              <p:cNvSpPr/>
              <p:nvPr/>
            </p:nvSpPr>
            <p:spPr>
              <a:xfrm>
                <a:off x="1210432" y="5573478"/>
                <a:ext cx="3600000" cy="10241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>
                  <a:lnSpc>
                    <a:spcPct val="150000"/>
                  </a:lnSpc>
                  <a:buClr>
                    <a:srgbClr val="000000"/>
                  </a:buClr>
                  <a:defRPr/>
                </a:pPr>
                <a:r>
                  <a:rPr lang="en-US" altLang="ko-KR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1. </a:t>
                </a:r>
                <a:r>
                  <a: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수행방안</a:t>
                </a:r>
                <a:endPara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endParaRPr>
              </a:p>
              <a:p>
                <a:pPr marL="0" lvl="1">
                  <a:lnSpc>
                    <a:spcPct val="150000"/>
                  </a:lnSpc>
                  <a:buClr>
                    <a:srgbClr val="000000"/>
                  </a:buClr>
                  <a:defRPr/>
                </a:pPr>
                <a:r>
                  <a:rPr lang="en-US" altLang="ko-KR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2. </a:t>
                </a:r>
                <a:r>
                  <a: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중간</a:t>
                </a:r>
                <a:r>
                  <a:rPr lang="en-US" altLang="ko-KR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/</a:t>
                </a:r>
                <a:r>
                  <a: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최종성과물 및 보고계획</a:t>
                </a:r>
                <a:endPara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endParaRPr>
              </a:p>
              <a:p>
                <a:pPr marL="0" lvl="1">
                  <a:lnSpc>
                    <a:spcPct val="150000"/>
                  </a:lnSpc>
                  <a:buClr>
                    <a:srgbClr val="000000"/>
                  </a:buClr>
                  <a:defRPr/>
                </a:pPr>
                <a:r>
                  <a:rPr lang="en-US" altLang="ko-KR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3. </a:t>
                </a:r>
                <a:r>
                  <a: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추진 일정</a:t>
                </a: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D1821359-C09F-CE37-44B9-42CD13701027}"/>
                  </a:ext>
                </a:extLst>
              </p:cNvPr>
              <p:cNvSpPr/>
              <p:nvPr/>
            </p:nvSpPr>
            <p:spPr>
              <a:xfrm>
                <a:off x="1253441" y="5239039"/>
                <a:ext cx="1332416" cy="3816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  <a:buClr>
                    <a:srgbClr val="000000"/>
                  </a:buClr>
                  <a:buFont typeface="Arial"/>
                  <a:defRPr/>
                </a:pPr>
                <a:r>
                  <a:rPr lang="ko-KR" altLang="en-US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  <a:cs typeface="Arial"/>
                  </a:rPr>
                  <a:t>과업수행 계획</a:t>
                </a:r>
                <a:endPara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endParaRPr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C99F1132-AE7E-F588-09F9-E1DBEEAF79C5}"/>
                  </a:ext>
                </a:extLst>
              </p:cNvPr>
              <p:cNvSpPr/>
              <p:nvPr/>
            </p:nvSpPr>
            <p:spPr>
              <a:xfrm>
                <a:off x="901986" y="5262455"/>
                <a:ext cx="41069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20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FF6600"/>
                    </a:solidFill>
                    <a:latin typeface="a고딕18" panose="02020600000000000000" pitchFamily="18" charset="-127"/>
                    <a:ea typeface="a고딕18" panose="02020600000000000000" pitchFamily="18" charset="-127"/>
                  </a:rPr>
                  <a:t>Ⅱ</a:t>
                </a:r>
                <a:endPara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6600"/>
                  </a:solidFill>
                  <a:latin typeface="a고딕18" panose="02020600000000000000" pitchFamily="18" charset="-127"/>
                  <a:ea typeface="a고딕18" panose="02020600000000000000" pitchFamily="18" charset="-127"/>
                </a:endParaRPr>
              </a:p>
            </p:txBody>
          </p:sp>
        </p:grp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0FD8BFBC-DB2A-3E83-45D2-4347414172FE}"/>
                </a:ext>
              </a:extLst>
            </p:cNvPr>
            <p:cNvSpPr/>
            <p:nvPr/>
          </p:nvSpPr>
          <p:spPr>
            <a:xfrm>
              <a:off x="1653467" y="3789161"/>
              <a:ext cx="3600000" cy="10241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09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17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18</a:t>
              </a:r>
              <a:endPara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E486451-5824-7B1F-DA78-FAC5CEFD500B}"/>
                </a:ext>
              </a:extLst>
            </p:cNvPr>
            <p:cNvSpPr/>
            <p:nvPr/>
          </p:nvSpPr>
          <p:spPr>
            <a:xfrm>
              <a:off x="3453467" y="3454722"/>
              <a:ext cx="1800000" cy="385618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08</a:t>
              </a:r>
              <a:endPara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  <a:cs typeface="Arial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016DB022-D5C6-19DD-7931-BDA99E26A8B2}"/>
              </a:ext>
            </a:extLst>
          </p:cNvPr>
          <p:cNvGrpSpPr/>
          <p:nvPr/>
        </p:nvGrpSpPr>
        <p:grpSpPr>
          <a:xfrm>
            <a:off x="6501006" y="1858962"/>
            <a:ext cx="4353806" cy="1035400"/>
            <a:chOff x="962895" y="3454722"/>
            <a:chExt cx="4353806" cy="1035400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2503BAD3-B0CB-0ADC-A630-393D42A7F057}"/>
                </a:ext>
              </a:extLst>
            </p:cNvPr>
            <p:cNvGrpSpPr/>
            <p:nvPr/>
          </p:nvGrpSpPr>
          <p:grpSpPr>
            <a:xfrm>
              <a:off x="962895" y="3454722"/>
              <a:ext cx="3951454" cy="1035400"/>
              <a:chOff x="901986" y="5239039"/>
              <a:chExt cx="3951454" cy="1035400"/>
            </a:xfrm>
          </p:grpSpPr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3BBDA9B0-E87F-4F3A-FE93-1BEBCF14203E}"/>
                  </a:ext>
                </a:extLst>
              </p:cNvPr>
              <p:cNvSpPr/>
              <p:nvPr/>
            </p:nvSpPr>
            <p:spPr>
              <a:xfrm>
                <a:off x="1253440" y="5573478"/>
                <a:ext cx="3600000" cy="7009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>
                  <a:lnSpc>
                    <a:spcPct val="150000"/>
                  </a:lnSpc>
                  <a:buClr>
                    <a:srgbClr val="000000"/>
                  </a:buClr>
                  <a:defRPr/>
                </a:pPr>
                <a:r>
                  <a:rPr lang="en-US" altLang="ko-KR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1. </a:t>
                </a:r>
                <a:r>
                  <a: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수행조직 구성 및 체계</a:t>
                </a:r>
              </a:p>
              <a:p>
                <a:pPr marL="0" lvl="1">
                  <a:lnSpc>
                    <a:spcPct val="150000"/>
                  </a:lnSpc>
                  <a:buClr>
                    <a:srgbClr val="000000"/>
                  </a:buClr>
                  <a:defRPr/>
                </a:pPr>
                <a:r>
                  <a:rPr lang="en-US" altLang="ko-KR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2. </a:t>
                </a:r>
                <a:r>
                  <a: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과업수행 및 관리방안</a:t>
                </a:r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ACCAB702-F6A2-A5CC-3562-80BBC5B2901A}"/>
                  </a:ext>
                </a:extLst>
              </p:cNvPr>
              <p:cNvSpPr/>
              <p:nvPr/>
            </p:nvSpPr>
            <p:spPr>
              <a:xfrm>
                <a:off x="1253441" y="5239039"/>
                <a:ext cx="1997663" cy="3816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  <a:buClr>
                    <a:srgbClr val="000000"/>
                  </a:buClr>
                  <a:buFont typeface="Arial"/>
                  <a:defRPr/>
                </a:pPr>
                <a:r>
                  <a:rPr lang="ko-KR" altLang="en-US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  <a:cs typeface="Arial"/>
                  </a:rPr>
                  <a:t>과업수행 조직 및 관리</a:t>
                </a:r>
                <a:endPara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endParaRPr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DF8EB832-5603-B8EB-F9B3-A352A1A1A781}"/>
                  </a:ext>
                </a:extLst>
              </p:cNvPr>
              <p:cNvSpPr/>
              <p:nvPr/>
            </p:nvSpPr>
            <p:spPr>
              <a:xfrm>
                <a:off x="901986" y="5262455"/>
                <a:ext cx="41069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20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FF6600"/>
                    </a:solidFill>
                    <a:latin typeface="a고딕18" panose="02020600000000000000" pitchFamily="18" charset="-127"/>
                    <a:ea typeface="a고딕18" panose="02020600000000000000" pitchFamily="18" charset="-127"/>
                  </a:rPr>
                  <a:t>Ⅲ</a:t>
                </a:r>
                <a:endPara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6600"/>
                  </a:solidFill>
                  <a:latin typeface="a고딕18" panose="02020600000000000000" pitchFamily="18" charset="-127"/>
                  <a:ea typeface="a고딕18" panose="02020600000000000000" pitchFamily="18" charset="-127"/>
                </a:endParaRPr>
              </a:p>
            </p:txBody>
          </p:sp>
        </p:grp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C7E9B294-593E-75AC-1C12-18F62A5FDBF0}"/>
                </a:ext>
              </a:extLst>
            </p:cNvPr>
            <p:cNvSpPr/>
            <p:nvPr/>
          </p:nvSpPr>
          <p:spPr>
            <a:xfrm>
              <a:off x="1716701" y="3789161"/>
              <a:ext cx="3600000" cy="7009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20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21</a:t>
              </a:r>
              <a:endPara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E81452D6-EFE5-6A14-2BAF-DA920F5DB89F}"/>
                </a:ext>
              </a:extLst>
            </p:cNvPr>
            <p:cNvSpPr/>
            <p:nvPr/>
          </p:nvSpPr>
          <p:spPr>
            <a:xfrm>
              <a:off x="3516701" y="3454722"/>
              <a:ext cx="1800000" cy="385618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19</a:t>
              </a:r>
              <a:endPara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957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7582" r="23" b="7918"/>
          <a:stretch/>
        </p:blipFill>
        <p:spPr>
          <a:xfrm>
            <a:off x="0" y="-10160"/>
            <a:ext cx="12192000" cy="686816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9DCCB7-EA7F-4C7B-901F-1EB347E0E38A}"/>
              </a:ext>
            </a:extLst>
          </p:cNvPr>
          <p:cNvSpPr/>
          <p:nvPr/>
        </p:nvSpPr>
        <p:spPr>
          <a:xfrm>
            <a:off x="0" y="-10160"/>
            <a:ext cx="12192000" cy="686816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357210" y="1766316"/>
            <a:ext cx="5477580" cy="3325368"/>
          </a:xfrm>
          <a:prstGeom prst="rect">
            <a:avLst/>
          </a:prstGeom>
          <a:solidFill>
            <a:schemeClr val="tx1">
              <a:lumMod val="75000"/>
              <a:lumOff val="2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43873-66A0-4D3C-B342-15841D4442B8}"/>
              </a:ext>
            </a:extLst>
          </p:cNvPr>
          <p:cNvSpPr txBox="1"/>
          <p:nvPr/>
        </p:nvSpPr>
        <p:spPr>
          <a:xfrm>
            <a:off x="3763809" y="2126386"/>
            <a:ext cx="4804136" cy="329321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cxnSp>
        <p:nvCxnSpPr>
          <p:cNvPr id="12" name="직선 연결선 11"/>
          <p:cNvCxnSpPr/>
          <p:nvPr/>
        </p:nvCxnSpPr>
        <p:spPr>
          <a:xfrm flipV="1">
            <a:off x="3870399" y="3070719"/>
            <a:ext cx="4451202" cy="37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109520-8C58-45C8-BCAF-C32FCEF6237B}"/>
              </a:ext>
            </a:extLst>
          </p:cNvPr>
          <p:cNvSpPr txBox="1"/>
          <p:nvPr/>
        </p:nvSpPr>
        <p:spPr>
          <a:xfrm flipH="1">
            <a:off x="3763809" y="2474286"/>
            <a:ext cx="1795684" cy="461665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Ⅰ.</a:t>
            </a:r>
            <a:r>
              <a:rPr lang="ko-KR" altLang="en-US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제안 개요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763809" y="3066067"/>
            <a:ext cx="1863011" cy="189590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제안 목적 및 내용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2.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제안 특징과 장점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8874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548909" y="861339"/>
            <a:ext cx="269016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제안 목적 및 내용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4" name="직선 연결선 23"/>
          <p:cNvCxnSpPr>
            <a:stCxn id="23" idx="3"/>
          </p:cNvCxnSpPr>
          <p:nvPr/>
        </p:nvCxnSpPr>
        <p:spPr>
          <a:xfrm>
            <a:off x="3239069" y="1073705"/>
            <a:ext cx="8320920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4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5848115-FC78-C4B7-6F1F-DDF4F380F186}"/>
              </a:ext>
            </a:extLst>
          </p:cNvPr>
          <p:cNvGrpSpPr/>
          <p:nvPr/>
        </p:nvGrpSpPr>
        <p:grpSpPr>
          <a:xfrm>
            <a:off x="632011" y="2110460"/>
            <a:ext cx="5384742" cy="939527"/>
            <a:chOff x="720359" y="1952728"/>
            <a:chExt cx="5301795" cy="939527"/>
          </a:xfrm>
        </p:grpSpPr>
        <p:grpSp>
          <p:nvGrpSpPr>
            <p:cNvPr id="11" name="그룹 10"/>
            <p:cNvGrpSpPr/>
            <p:nvPr/>
          </p:nvGrpSpPr>
          <p:grpSpPr>
            <a:xfrm>
              <a:off x="720359" y="1952728"/>
              <a:ext cx="377990" cy="383350"/>
              <a:chOff x="1021264" y="3917758"/>
              <a:chExt cx="441953" cy="448221"/>
            </a:xfrm>
          </p:grpSpPr>
          <p:sp>
            <p:nvSpPr>
              <p:cNvPr id="74" name="타원 73"/>
              <p:cNvSpPr/>
              <p:nvPr/>
            </p:nvSpPr>
            <p:spPr>
              <a:xfrm>
                <a:off x="1021264" y="3997320"/>
                <a:ext cx="368658" cy="368659"/>
              </a:xfrm>
              <a:prstGeom prst="ellipse">
                <a:avLst/>
              </a:prstGeom>
              <a:solidFill>
                <a:srgbClr val="F796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a고딕18" panose="02020600000000000000" pitchFamily="18" charset="-127"/>
                    <a:ea typeface="a고딕18" panose="02020600000000000000" pitchFamily="18" charset="-127"/>
                  </a:rPr>
                  <a:t>1</a:t>
                </a:r>
                <a:endParaRPr lang="ko-KR" altLang="en-US" sz="14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a고딕18" panose="02020600000000000000" pitchFamily="18" charset="-127"/>
                  <a:ea typeface="a고딕18" panose="02020600000000000000" pitchFamily="18" charset="-127"/>
                </a:endParaRPr>
              </a:p>
            </p:txBody>
          </p:sp>
          <p:sp>
            <p:nvSpPr>
              <p:cNvPr id="75" name="타원 74"/>
              <p:cNvSpPr/>
              <p:nvPr/>
            </p:nvSpPr>
            <p:spPr>
              <a:xfrm>
                <a:off x="1348485" y="3917758"/>
                <a:ext cx="114732" cy="11473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SpoqaHanSans-Bold" panose="020B0800000000000000" pitchFamily="50" charset="-127"/>
                  <a:ea typeface="SpoqaHanSans-Bold" panose="020B0800000000000000" pitchFamily="50" charset="-127"/>
                </a:endParaRPr>
              </a:p>
            </p:txBody>
          </p:sp>
        </p:grpSp>
        <p:sp>
          <p:nvSpPr>
            <p:cNvPr id="13" name="직사각형 12"/>
            <p:cNvSpPr/>
            <p:nvPr/>
          </p:nvSpPr>
          <p:spPr>
            <a:xfrm>
              <a:off x="1174810" y="1986622"/>
              <a:ext cx="4847344" cy="9056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latinLnBrk="0">
                <a:lnSpc>
                  <a:spcPct val="130000"/>
                </a:lnSpc>
                <a:buClr>
                  <a:srgbClr val="000000"/>
                </a:buClr>
                <a:defRPr/>
              </a:pP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친환경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·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저탄소 중심의 산업구조 변화는 전 세계적 메가 트랜드로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,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세계 주요국은 경제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·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사회 전반에서 탄소 중립과 관련된 정책과 투자를 진행하고 있음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.</a:t>
              </a:r>
              <a:endParaRPr lang="ko-KR" altLang="en-US" sz="1400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EB0D732-EFC3-AEC0-62E8-DBFB5D0FB964}"/>
              </a:ext>
            </a:extLst>
          </p:cNvPr>
          <p:cNvGrpSpPr/>
          <p:nvPr/>
        </p:nvGrpSpPr>
        <p:grpSpPr>
          <a:xfrm>
            <a:off x="632011" y="2992448"/>
            <a:ext cx="5384742" cy="1219603"/>
            <a:chOff x="720359" y="2998252"/>
            <a:chExt cx="5301795" cy="1219603"/>
          </a:xfrm>
        </p:grpSpPr>
        <p:grpSp>
          <p:nvGrpSpPr>
            <p:cNvPr id="77" name="그룹 76"/>
            <p:cNvGrpSpPr/>
            <p:nvPr/>
          </p:nvGrpSpPr>
          <p:grpSpPr>
            <a:xfrm>
              <a:off x="720359" y="2998252"/>
              <a:ext cx="377990" cy="383350"/>
              <a:chOff x="1021264" y="3917758"/>
              <a:chExt cx="441953" cy="448221"/>
            </a:xfrm>
          </p:grpSpPr>
          <p:sp>
            <p:nvSpPr>
              <p:cNvPr id="79" name="타원 78"/>
              <p:cNvSpPr/>
              <p:nvPr/>
            </p:nvSpPr>
            <p:spPr>
              <a:xfrm>
                <a:off x="1021264" y="3997320"/>
                <a:ext cx="368658" cy="368659"/>
              </a:xfrm>
              <a:prstGeom prst="ellipse">
                <a:avLst/>
              </a:prstGeom>
              <a:solidFill>
                <a:srgbClr val="F796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a고딕18" panose="02020600000000000000" pitchFamily="18" charset="-127"/>
                    <a:ea typeface="a고딕18" panose="02020600000000000000" pitchFamily="18" charset="-127"/>
                  </a:rPr>
                  <a:t>2</a:t>
                </a:r>
                <a:endParaRPr lang="ko-KR" altLang="en-US" sz="14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a고딕18" panose="02020600000000000000" pitchFamily="18" charset="-127"/>
                  <a:ea typeface="a고딕18" panose="02020600000000000000" pitchFamily="18" charset="-127"/>
                </a:endParaRPr>
              </a:p>
            </p:txBody>
          </p:sp>
          <p:sp>
            <p:nvSpPr>
              <p:cNvPr id="80" name="타원 79"/>
              <p:cNvSpPr/>
              <p:nvPr/>
            </p:nvSpPr>
            <p:spPr>
              <a:xfrm>
                <a:off x="1348485" y="3917758"/>
                <a:ext cx="114732" cy="11473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SpoqaHanSans-Bold" panose="020B0800000000000000" pitchFamily="50" charset="-127"/>
                  <a:ea typeface="SpoqaHanSans-Bold" panose="020B0800000000000000" pitchFamily="50" charset="-127"/>
                </a:endParaRPr>
              </a:p>
            </p:txBody>
          </p:sp>
        </p:grpSp>
        <p:sp>
          <p:nvSpPr>
            <p:cNvPr id="78" name="직사각형 77"/>
            <p:cNvSpPr/>
            <p:nvPr/>
          </p:nvSpPr>
          <p:spPr>
            <a:xfrm>
              <a:off x="1174811" y="3032146"/>
              <a:ext cx="4847343" cy="1185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latinLnBrk="0">
                <a:lnSpc>
                  <a:spcPct val="130000"/>
                </a:lnSpc>
                <a:spcBef>
                  <a:spcPts val="300"/>
                </a:spcBef>
                <a:buClr>
                  <a:srgbClr val="000000"/>
                </a:buClr>
                <a:defRPr/>
              </a:pP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우리나라 또한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한국판 뉴딜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2.0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및 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2050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탄소 중립을 위해 재정 투자 및 제도 개선을 추진 중에 있으며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,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「국가첨단산업 </a:t>
              </a:r>
              <a:r>
                <a:rPr lang="ko-KR" altLang="en-US" sz="1400" spc="-4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육성전략」에서는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  탄소규제에 대응한 바이오 플라스틱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,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연료 등의 친환경 </a:t>
              </a:r>
              <a:r>
                <a:rPr lang="ko-KR" altLang="en-US" sz="1400" spc="-4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화학바이오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 분야가 선정되었음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.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06060EB-1061-CEBA-BBCC-211B770BCF5D}"/>
              </a:ext>
            </a:extLst>
          </p:cNvPr>
          <p:cNvGrpSpPr/>
          <p:nvPr/>
        </p:nvGrpSpPr>
        <p:grpSpPr>
          <a:xfrm>
            <a:off x="632011" y="4154512"/>
            <a:ext cx="5450647" cy="942989"/>
            <a:chOff x="720359" y="4136187"/>
            <a:chExt cx="5366685" cy="942989"/>
          </a:xfrm>
        </p:grpSpPr>
        <p:grpSp>
          <p:nvGrpSpPr>
            <p:cNvPr id="82" name="그룹 81"/>
            <p:cNvGrpSpPr/>
            <p:nvPr/>
          </p:nvGrpSpPr>
          <p:grpSpPr>
            <a:xfrm>
              <a:off x="720359" y="4136187"/>
              <a:ext cx="377990" cy="383350"/>
              <a:chOff x="1021264" y="3917758"/>
              <a:chExt cx="441953" cy="448221"/>
            </a:xfrm>
          </p:grpSpPr>
          <p:sp>
            <p:nvSpPr>
              <p:cNvPr id="84" name="타원 83"/>
              <p:cNvSpPr/>
              <p:nvPr/>
            </p:nvSpPr>
            <p:spPr>
              <a:xfrm>
                <a:off x="1021264" y="3997320"/>
                <a:ext cx="368658" cy="368659"/>
              </a:xfrm>
              <a:prstGeom prst="ellipse">
                <a:avLst/>
              </a:prstGeom>
              <a:solidFill>
                <a:srgbClr val="F796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a고딕18" panose="02020600000000000000" pitchFamily="18" charset="-127"/>
                    <a:ea typeface="a고딕18" panose="02020600000000000000" pitchFamily="18" charset="-127"/>
                  </a:rPr>
                  <a:t>3</a:t>
                </a:r>
                <a:endParaRPr lang="ko-KR" altLang="en-US" sz="14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a고딕18" panose="02020600000000000000" pitchFamily="18" charset="-127"/>
                  <a:ea typeface="a고딕18" panose="02020600000000000000" pitchFamily="18" charset="-127"/>
                </a:endParaRPr>
              </a:p>
            </p:txBody>
          </p:sp>
          <p:sp>
            <p:nvSpPr>
              <p:cNvPr id="85" name="타원 84"/>
              <p:cNvSpPr/>
              <p:nvPr/>
            </p:nvSpPr>
            <p:spPr>
              <a:xfrm>
                <a:off x="1348485" y="3917758"/>
                <a:ext cx="114732" cy="11473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SpoqaHanSans-Bold" panose="020B0800000000000000" pitchFamily="50" charset="-127"/>
                  <a:ea typeface="SpoqaHanSans-Bold" panose="020B0800000000000000" pitchFamily="50" charset="-127"/>
                </a:endParaRPr>
              </a:p>
            </p:txBody>
          </p:sp>
        </p:grpSp>
        <p:sp>
          <p:nvSpPr>
            <p:cNvPr id="83" name="직사각형 82"/>
            <p:cNvSpPr/>
            <p:nvPr/>
          </p:nvSpPr>
          <p:spPr>
            <a:xfrm>
              <a:off x="1174810" y="4170081"/>
              <a:ext cx="4912234" cy="9090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1" indent="0" algn="l" defTabSz="914400" rtl="0" eaLnBrk="1" fontAlgn="auto" latinLnBrk="0" hangingPunct="1">
                <a:lnSpc>
                  <a:spcPct val="13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하지만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,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개별 기업과 근로자는 친환경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·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저탄소 산업으로의 전환에 따른 산업 및 직무 전환에 대한 인식이 낮아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현장의 준비 및 대응방안이 미흡한 실정임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.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EAE6139-96D3-9CD7-F15A-E65734515548}"/>
              </a:ext>
            </a:extLst>
          </p:cNvPr>
          <p:cNvGrpSpPr/>
          <p:nvPr/>
        </p:nvGrpSpPr>
        <p:grpSpPr>
          <a:xfrm>
            <a:off x="632011" y="5039961"/>
            <a:ext cx="5450647" cy="1219603"/>
            <a:chOff x="720359" y="5314531"/>
            <a:chExt cx="5366685" cy="1219603"/>
          </a:xfrm>
        </p:grpSpPr>
        <p:grpSp>
          <p:nvGrpSpPr>
            <p:cNvPr id="87" name="그룹 86"/>
            <p:cNvGrpSpPr/>
            <p:nvPr/>
          </p:nvGrpSpPr>
          <p:grpSpPr>
            <a:xfrm>
              <a:off x="720359" y="5314531"/>
              <a:ext cx="377990" cy="383350"/>
              <a:chOff x="1021264" y="3917758"/>
              <a:chExt cx="441953" cy="448221"/>
            </a:xfrm>
          </p:grpSpPr>
          <p:sp>
            <p:nvSpPr>
              <p:cNvPr id="89" name="타원 88"/>
              <p:cNvSpPr/>
              <p:nvPr/>
            </p:nvSpPr>
            <p:spPr>
              <a:xfrm>
                <a:off x="1021264" y="3997320"/>
                <a:ext cx="368658" cy="368659"/>
              </a:xfrm>
              <a:prstGeom prst="ellipse">
                <a:avLst/>
              </a:prstGeom>
              <a:solidFill>
                <a:srgbClr val="F796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a고딕18" panose="02020600000000000000" pitchFamily="18" charset="-127"/>
                    <a:ea typeface="a고딕18" panose="02020600000000000000" pitchFamily="18" charset="-127"/>
                  </a:rPr>
                  <a:t>4</a:t>
                </a:r>
                <a:endParaRPr lang="ko-KR" altLang="en-US" sz="14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a고딕18" panose="02020600000000000000" pitchFamily="18" charset="-127"/>
                  <a:ea typeface="a고딕18" panose="02020600000000000000" pitchFamily="18" charset="-127"/>
                </a:endParaRPr>
              </a:p>
            </p:txBody>
          </p:sp>
          <p:sp>
            <p:nvSpPr>
              <p:cNvPr id="90" name="타원 89"/>
              <p:cNvSpPr/>
              <p:nvPr/>
            </p:nvSpPr>
            <p:spPr>
              <a:xfrm>
                <a:off x="1348485" y="3917758"/>
                <a:ext cx="114732" cy="11473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SpoqaHanSans-Bold" panose="020B0800000000000000" pitchFamily="50" charset="-127"/>
                  <a:ea typeface="SpoqaHanSans-Bold" panose="020B0800000000000000" pitchFamily="50" charset="-127"/>
                </a:endParaRPr>
              </a:p>
            </p:txBody>
          </p:sp>
        </p:grpSp>
        <p:sp>
          <p:nvSpPr>
            <p:cNvPr id="88" name="직사각형 87"/>
            <p:cNvSpPr/>
            <p:nvPr/>
          </p:nvSpPr>
          <p:spPr>
            <a:xfrm>
              <a:off x="1174809" y="5348425"/>
              <a:ext cx="4912235" cy="1185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1" indent="0" algn="l" defTabSz="914400" rtl="0" eaLnBrk="1" fontAlgn="auto" latinLnBrk="0" hangingPunct="1">
                <a:lnSpc>
                  <a:spcPct val="13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이에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,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「산업전환 공동훈련센터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(KTR)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훈련 로드맵 수립 및 훈련과정 개발」 사업을  통해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참여기업 및 근로자의 산업전환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직무전환 등 산업현장의 변화를 적극적으로 대응할 수 있는 인적자원개발 체계 구축이 필요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함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.</a:t>
              </a:r>
              <a:endParaRPr lang="ko-KR" altLang="en-US" sz="1400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C0303E7-97C1-4C12-9966-DAA5C84C96EA}"/>
              </a:ext>
            </a:extLst>
          </p:cNvPr>
          <p:cNvSpPr txBox="1"/>
          <p:nvPr/>
        </p:nvSpPr>
        <p:spPr>
          <a:xfrm>
            <a:off x="548909" y="568960"/>
            <a:ext cx="4804136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산업전환 공동훈련센터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(KTR)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훈련 로드맵 수립 및 훈련과정 개발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9156700" y="568960"/>
            <a:ext cx="2403289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Ⅰ.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 개요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9253B22-FE98-C35B-6753-0B48F1988F89}"/>
              </a:ext>
            </a:extLst>
          </p:cNvPr>
          <p:cNvSpPr/>
          <p:nvPr/>
        </p:nvSpPr>
        <p:spPr>
          <a:xfrm>
            <a:off x="548909" y="1216844"/>
            <a:ext cx="11011080" cy="348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「산업전환 공동훈련센터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(KTR)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훈련 로드맵 수립 및 훈련과정 개발」 사업의 제안 배경과 산업전환 공동훈련센터 운영 현황 및 목적은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4" name="모서리가 둥근 직사각형 6">
            <a:extLst>
              <a:ext uri="{FF2B5EF4-FFF2-40B4-BE49-F238E27FC236}">
                <a16:creationId xmlns:a16="http://schemas.microsoft.com/office/drawing/2014/main" id="{750F3A80-2FB4-A7F3-7AE5-D3FE96CCEE6C}"/>
              </a:ext>
            </a:extLst>
          </p:cNvPr>
          <p:cNvSpPr/>
          <p:nvPr/>
        </p:nvSpPr>
        <p:spPr>
          <a:xfrm>
            <a:off x="2299591" y="1667435"/>
            <a:ext cx="2340864" cy="325120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사업의 배경</a:t>
            </a:r>
          </a:p>
        </p:txBody>
      </p:sp>
      <p:sp>
        <p:nvSpPr>
          <p:cNvPr id="6" name="모서리가 둥근 직사각형 93">
            <a:extLst>
              <a:ext uri="{FF2B5EF4-FFF2-40B4-BE49-F238E27FC236}">
                <a16:creationId xmlns:a16="http://schemas.microsoft.com/office/drawing/2014/main" id="{C0F10735-7C7D-8538-67E4-21721D1B6276}"/>
              </a:ext>
            </a:extLst>
          </p:cNvPr>
          <p:cNvSpPr/>
          <p:nvPr/>
        </p:nvSpPr>
        <p:spPr>
          <a:xfrm>
            <a:off x="7856345" y="1667435"/>
            <a:ext cx="2340864" cy="325120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목적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/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내용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B117C00-0C30-4D9C-95F9-97C77B03D2EC}"/>
              </a:ext>
            </a:extLst>
          </p:cNvPr>
          <p:cNvGrpSpPr/>
          <p:nvPr/>
        </p:nvGrpSpPr>
        <p:grpSpPr>
          <a:xfrm>
            <a:off x="6530188" y="2144354"/>
            <a:ext cx="4954676" cy="1185708"/>
            <a:chOff x="5064710" y="2281920"/>
            <a:chExt cx="4954676" cy="567386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6E5A288-B282-C932-7129-C7BB0F3AE624}"/>
                </a:ext>
              </a:extLst>
            </p:cNvPr>
            <p:cNvSpPr/>
            <p:nvPr/>
          </p:nvSpPr>
          <p:spPr>
            <a:xfrm>
              <a:off x="5457055" y="2284454"/>
              <a:ext cx="4562331" cy="562319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9050" cap="flat" cmpd="sng" algn="ctr">
              <a:solidFill>
                <a:srgbClr val="F7964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wrap="square" lIns="36000" rIns="36000" bIns="108000" anchor="ctr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친환경 </a:t>
              </a:r>
              <a:r>
                <a:rPr kumimoji="1" lang="ko-KR" altLang="en-US" sz="1400" b="1" i="0" u="none" strike="noStrike" kern="0" cap="none" spc="-50" normalizeH="0" baseline="0" noProof="0" dirty="0" err="1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화학바이오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 분야의 체계적인 인력 양성을 위해 </a:t>
              </a:r>
              <a:r>
                <a:rPr kumimoji="1" lang="ko-KR" altLang="en-US" sz="1400" b="1" i="0" u="none" strike="noStrike" kern="0" cap="none" spc="-50" normalizeH="0" baseline="0" noProof="0" dirty="0" err="1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한국화학융합시험연구원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 산업전환 공동훈련센터의 </a:t>
              </a:r>
              <a:r>
                <a:rPr kumimoji="1" lang="en-US" altLang="ko-KR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5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개년도 훈련과정 로드맵 및 </a:t>
              </a:r>
              <a:r>
                <a:rPr kumimoji="1" lang="ko-KR" altLang="en-US" sz="1400" b="1" i="0" u="none" strike="noStrike" kern="0" cap="none" spc="-50" normalizeH="0" baseline="0" noProof="0" dirty="0" err="1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비연속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 과정</a:t>
              </a:r>
              <a:r>
                <a:rPr kumimoji="1" lang="en-US" altLang="ko-KR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(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세미나</a:t>
              </a:r>
              <a:r>
                <a:rPr kumimoji="1" lang="en-US" altLang="ko-KR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) 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설계</a:t>
              </a:r>
              <a:endParaRPr kumimoji="1" lang="en-US" altLang="ko-KR" sz="1400" b="1" i="0" u="none" strike="noStrike" kern="0" cap="none" spc="-50" normalizeH="0" baseline="0" noProof="0" dirty="0">
                <a:ln w="9525">
                  <a:solidFill>
                    <a:prstClr val="black">
                      <a:alpha val="0"/>
                    </a:prstClr>
                  </a:solidFill>
                </a:ln>
                <a:solidFill>
                  <a:srgbClr val="FF6600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D8C6DA9-8D4F-4B1B-B1DE-6C47AE887DC7}"/>
                </a:ext>
              </a:extLst>
            </p:cNvPr>
            <p:cNvSpPr/>
            <p:nvPr/>
          </p:nvSpPr>
          <p:spPr>
            <a:xfrm>
              <a:off x="5064710" y="2281920"/>
              <a:ext cx="326440" cy="567386"/>
            </a:xfrm>
            <a:prstGeom prst="rect">
              <a:avLst/>
            </a:prstGeom>
            <a:solidFill>
              <a:srgbClr val="F79646"/>
            </a:solidFill>
            <a:ln w="19050" cap="flat" cmpd="sng" algn="ctr">
              <a:solidFill>
                <a:srgbClr val="F79646"/>
              </a:solidFill>
              <a:prstDash val="solid"/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목</a:t>
              </a:r>
              <a:endParaRPr kumimoji="1" lang="en-US" altLang="ko-KR" sz="1400" b="1" i="0" u="none" strike="noStrike" kern="0" cap="none" spc="-50" normalizeH="0" baseline="0" noProof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적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52FD2DC-CAB5-6F33-BB9A-C10056A68E5B}"/>
              </a:ext>
            </a:extLst>
          </p:cNvPr>
          <p:cNvGrpSpPr/>
          <p:nvPr/>
        </p:nvGrpSpPr>
        <p:grpSpPr>
          <a:xfrm>
            <a:off x="6530188" y="3472811"/>
            <a:ext cx="4954676" cy="2557929"/>
            <a:chOff x="5064710" y="5341762"/>
            <a:chExt cx="4954676" cy="1080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E246363-D806-9343-3290-16F3969A6C77}"/>
                </a:ext>
              </a:extLst>
            </p:cNvPr>
            <p:cNvSpPr/>
            <p:nvPr/>
          </p:nvSpPr>
          <p:spPr>
            <a:xfrm>
              <a:off x="5457055" y="5341762"/>
              <a:ext cx="4562331" cy="10800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90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wrap="square" lIns="72000" rIns="36000" bIns="72000" anchor="ctr">
              <a:noAutofit/>
            </a:bodyPr>
            <a:lstStyle/>
            <a:p>
              <a:pPr marL="180975" marR="0" lvl="0" indent="-180975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 typeface="+mj-lt"/>
                <a:buAutoNum type="arabicPeriod"/>
                <a:tabLst/>
                <a:defRPr/>
              </a:pP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친환경 화학</a:t>
              </a:r>
              <a:r>
                <a:rPr kumimoji="1" lang="en-US" altLang="ko-KR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바이오 분야 국내</a:t>
              </a:r>
              <a:r>
                <a:rPr kumimoji="1" lang="en-US" altLang="ko-KR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외 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산업환경 및 교육 현황 분석</a:t>
              </a:r>
              <a:endParaRPr kumimoji="1" lang="en-US" altLang="ko-KR" sz="1400" b="1" i="0" u="none" strike="noStrike" kern="0" cap="none" spc="-50" normalizeH="0" baseline="0" noProof="0" dirty="0">
                <a:ln w="9525"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marL="180975" marR="0" lvl="0" indent="-180975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 typeface="+mj-lt"/>
                <a:buAutoNum type="arabicPeriod"/>
                <a:tabLst/>
                <a:defRPr/>
              </a:pPr>
              <a:r>
                <a:rPr kumimoji="1" lang="ko-KR" altLang="en-US" sz="1400" b="1" i="0" u="none" strike="noStrike" kern="0" cap="none" spc="-50" normalizeH="0" baseline="0" noProof="0" dirty="0" err="1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한국화학융합시험연구원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 산업전환 공동훈련센터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</a:t>
              </a:r>
              <a:r>
                <a:rPr kumimoji="1" lang="en-US" altLang="ko-KR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5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개년도 훈련과정 로드맵 설계</a:t>
              </a:r>
              <a:endParaRPr kumimoji="1" lang="en-US" altLang="ko-KR" sz="1400" b="1" kern="0" spc="-50" dirty="0">
                <a:ln w="9525"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marL="180975" marR="0" lvl="0" indent="-180975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 typeface="+mj-lt"/>
                <a:buAutoNum type="arabicPeriod"/>
                <a:tabLst/>
                <a:defRPr/>
              </a:pPr>
              <a:r>
                <a:rPr kumimoji="1" lang="en-US" altLang="ko-KR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5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개년도 </a:t>
              </a:r>
              <a:r>
                <a:rPr kumimoji="1" lang="ko-KR" altLang="en-US" sz="1400" b="1" kern="0" spc="-50" dirty="0" err="1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비연속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과정</a:t>
              </a:r>
              <a:r>
                <a:rPr kumimoji="1" lang="en-US" altLang="ko-KR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(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세미나</a:t>
              </a:r>
              <a:r>
                <a:rPr kumimoji="1" lang="en-US" altLang="ko-KR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) 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설계 </a:t>
              </a:r>
              <a:endParaRPr kumimoji="1" lang="en-US" altLang="ko-KR" sz="1400" b="1" i="0" u="none" strike="noStrike" kern="0" cap="none" spc="-50" normalizeH="0" baseline="0" noProof="0" dirty="0">
                <a:ln w="9525"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고딕14" panose="02020600000000000000" pitchFamily="18" charset="-127"/>
                <a:ea typeface="a고딕14" panose="02020600000000000000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4E6D3E4-DCE0-D5F6-1F28-977BD86A0EA7}"/>
                </a:ext>
              </a:extLst>
            </p:cNvPr>
            <p:cNvSpPr/>
            <p:nvPr/>
          </p:nvSpPr>
          <p:spPr>
            <a:xfrm>
              <a:off x="5064710" y="5341762"/>
              <a:ext cx="326440" cy="1080000"/>
            </a:xfrm>
            <a:prstGeom prst="rect">
              <a:avLst/>
            </a:prstGeom>
            <a:solidFill>
              <a:srgbClr val="F79646"/>
            </a:solidFill>
            <a:ln w="19050" cap="flat" cmpd="sng" algn="ctr">
              <a:solidFill>
                <a:srgbClr val="F79646"/>
              </a:solidFill>
              <a:prstDash val="solid"/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pPr algn="ctr" fontAlgn="base" latinLnBrk="0"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내</a:t>
              </a:r>
              <a:endParaRPr kumimoji="1" lang="en-US" altLang="ko-KR" sz="14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fontAlgn="base" latinLnBrk="0"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2671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5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269016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제안 목적 및 내용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3239069" y="1073705"/>
            <a:ext cx="8320920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Ⅰ.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 개요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제안범위에 따라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3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단계에 걸쳐 사업을 수행하고자 하며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세부적인 사업 범위 및 방법은 발주기관과의 협의를 통해 최종 확정하겠음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186" name="오른쪽 화살표 8">
            <a:extLst>
              <a:ext uri="{FF2B5EF4-FFF2-40B4-BE49-F238E27FC236}">
                <a16:creationId xmlns:a16="http://schemas.microsoft.com/office/drawing/2014/main" id="{24E9E632-2EC9-742B-07C3-90916FAB1884}"/>
              </a:ext>
            </a:extLst>
          </p:cNvPr>
          <p:cNvSpPr/>
          <p:nvPr/>
        </p:nvSpPr>
        <p:spPr>
          <a:xfrm>
            <a:off x="1616736" y="1630101"/>
            <a:ext cx="9440764" cy="6477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50" spc="-5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C46F62-FAB2-7D56-1846-CE2060837FC6}"/>
              </a:ext>
            </a:extLst>
          </p:cNvPr>
          <p:cNvSpPr txBox="1"/>
          <p:nvPr/>
        </p:nvSpPr>
        <p:spPr>
          <a:xfrm>
            <a:off x="1616736" y="2586635"/>
            <a:ext cx="2927350" cy="1818252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FF9933"/>
            </a:solidFill>
          </a:ln>
        </p:spPr>
        <p:txBody>
          <a:bodyPr wrap="square" lIns="36000" tIns="46800" rIns="36000" bIns="46800" rtlCol="0" anchor="t">
            <a:noAutofit/>
          </a:bodyPr>
          <a:lstStyle/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산업환경 분석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2800" lvl="2" indent="-792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나눔고딕" panose="020D0604000000000000" pitchFamily="50" charset="-127"/>
              <a:buChar char="–"/>
              <a:defRPr/>
            </a:pP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관련 선행연구</a:t>
            </a:r>
            <a:r>
              <a:rPr kumimoji="1" lang="en-US" altLang="ko-KR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국내</a:t>
            </a:r>
            <a:r>
              <a:rPr kumimoji="1" lang="en-US" altLang="ko-KR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외 산업 동향 및 정부정책 현황</a:t>
            </a:r>
            <a:r>
              <a:rPr kumimoji="1" lang="en-US" altLang="ko-KR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기술변화</a:t>
            </a:r>
            <a:r>
              <a:rPr kumimoji="1" lang="en-US" altLang="ko-KR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노동시장 등 분석</a:t>
            </a:r>
            <a:endParaRPr kumimoji="1" lang="en-US" altLang="ko-KR" sz="11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2800" lvl="2" indent="-792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나눔고딕" panose="020D0604000000000000" pitchFamily="50" charset="-127"/>
              <a:buChar char="–"/>
              <a:defRPr/>
            </a:pP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기업 산업전환 대응전략 도출</a:t>
            </a:r>
            <a:endParaRPr kumimoji="1" lang="en-US" altLang="ko-KR" sz="11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교육현황 분석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2800" lvl="2" indent="-792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나눔고딕" panose="020D0604000000000000" pitchFamily="50" charset="-127"/>
              <a:buChar char="–"/>
              <a:defRPr/>
            </a:pP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국내</a:t>
            </a:r>
            <a:r>
              <a:rPr kumimoji="1" lang="en-US" altLang="ko-KR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외 친환경 화학</a:t>
            </a:r>
            <a:r>
              <a:rPr kumimoji="1" lang="en-US" altLang="ko-KR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바이오 분야 교육훈련 현황 분석</a:t>
            </a:r>
            <a:endParaRPr kumimoji="1" lang="en-US" altLang="ko-KR" sz="11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분석결과 제시 및 시사점 도출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7A2A47F-64D6-B046-EE28-89EF0CAD7E72}"/>
              </a:ext>
            </a:extLst>
          </p:cNvPr>
          <p:cNvSpPr/>
          <p:nvPr/>
        </p:nvSpPr>
        <p:spPr>
          <a:xfrm>
            <a:off x="1616736" y="1929986"/>
            <a:ext cx="2927350" cy="647701"/>
          </a:xfrm>
          <a:prstGeom prst="rect">
            <a:avLst/>
          </a:prstGeom>
          <a:solidFill>
            <a:srgbClr val="FF6600"/>
          </a:solidFill>
          <a:ln w="19050">
            <a:solidFill>
              <a:srgbClr val="FF6600"/>
            </a:solidFill>
          </a:ln>
          <a:effectLst/>
        </p:spPr>
        <p:txBody>
          <a:bodyPr lIns="36000" tIns="46800" rIns="36000" bIns="46800" rtlCol="0" anchor="ctr"/>
          <a:lstStyle/>
          <a:p>
            <a:pPr algn="ctr" fontAlgn="base" latinLnBrk="0">
              <a:lnSpc>
                <a:spcPct val="130000"/>
              </a:lnSpc>
              <a:spcBef>
                <a:spcPct val="0"/>
              </a:spcBef>
            </a:pP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1. 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친환경 화학</a:t>
            </a: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·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바이오 분야 내</a:t>
            </a: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·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외부 산업환경 및 교육현황 분석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588BBC-D040-92CD-4815-75BBCA5E1E6B}"/>
              </a:ext>
            </a:extLst>
          </p:cNvPr>
          <p:cNvSpPr txBox="1"/>
          <p:nvPr/>
        </p:nvSpPr>
        <p:spPr>
          <a:xfrm>
            <a:off x="1616736" y="4482198"/>
            <a:ext cx="2927350" cy="693116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FF9933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문헌연구</a:t>
            </a: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전문가 자문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0FB126B-F9A6-AD41-5FD0-DC6C87C54534}"/>
              </a:ext>
            </a:extLst>
          </p:cNvPr>
          <p:cNvSpPr/>
          <p:nvPr/>
        </p:nvSpPr>
        <p:spPr>
          <a:xfrm>
            <a:off x="4877813" y="1929986"/>
            <a:ext cx="2927350" cy="647701"/>
          </a:xfrm>
          <a:prstGeom prst="rect">
            <a:avLst/>
          </a:prstGeom>
          <a:solidFill>
            <a:srgbClr val="FF6600"/>
          </a:solidFill>
          <a:ln w="19050">
            <a:solidFill>
              <a:srgbClr val="FF6600"/>
            </a:solidFill>
          </a:ln>
          <a:effectLst/>
        </p:spPr>
        <p:txBody>
          <a:bodyPr lIns="36000" tIns="46800" rIns="36000" bIns="46800" rtlCol="0" anchor="ctr"/>
          <a:lstStyle/>
          <a:p>
            <a:pPr algn="ctr" fontAlgn="base" latinLnBrk="0">
              <a:lnSpc>
                <a:spcPct val="130000"/>
              </a:lnSpc>
              <a:spcBef>
                <a:spcPct val="0"/>
              </a:spcBef>
            </a:pP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2. KTR 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산업전환 공동훈련센터 운영 전략 및 </a:t>
            </a: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5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개년도 훈련과정 로드맵 도출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CB464B-002A-0979-54D7-ADD27B5A5ED8}"/>
              </a:ext>
            </a:extLst>
          </p:cNvPr>
          <p:cNvSpPr txBox="1"/>
          <p:nvPr/>
        </p:nvSpPr>
        <p:spPr>
          <a:xfrm>
            <a:off x="4877813" y="2586635"/>
            <a:ext cx="2927350" cy="1818252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FF9933"/>
            </a:solidFill>
          </a:ln>
        </p:spPr>
        <p:txBody>
          <a:bodyPr wrap="square" lIns="36000" tIns="46800" rIns="36000" bIns="46800" rtlCol="0" anchor="t">
            <a:noAutofit/>
          </a:bodyPr>
          <a:lstStyle/>
          <a:p>
            <a:pPr marL="108000" marR="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공동훈련센터 중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장기적 운영 전략 도출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rgbClr val="FF0000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rgbClr val="FF0000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marR="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분야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/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수준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/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내용 개발을 통한 로드맵 설계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rgbClr val="FF0000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marR="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이해관계자 간의 크로스체크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(cross-check)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를 통한 유효성 확보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2800" marR="0" lvl="2" indent="-792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나눔고딕" panose="020D0604000000000000" pitchFamily="50" charset="-127"/>
              <a:buChar char="–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컨설팅 결과물 연계 검토</a:t>
            </a:r>
            <a:endParaRPr kumimoji="1" lang="en-US" altLang="ko-KR" sz="11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3BB6E5-BC0F-092A-2670-840ACA1C3193}"/>
              </a:ext>
            </a:extLst>
          </p:cNvPr>
          <p:cNvSpPr txBox="1"/>
          <p:nvPr/>
        </p:nvSpPr>
        <p:spPr>
          <a:xfrm>
            <a:off x="4877813" y="4482198"/>
            <a:ext cx="2927350" cy="693116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FF9933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marL="108000" marR="0" lvl="2" indent="-108000" fontAlgn="base" latinLnBrk="0"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문헌연구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전문가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워크숍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(FGI)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1A0CD88-680E-198C-9E5A-B34C0EFCD36F}"/>
              </a:ext>
            </a:extLst>
          </p:cNvPr>
          <p:cNvSpPr/>
          <p:nvPr/>
        </p:nvSpPr>
        <p:spPr>
          <a:xfrm>
            <a:off x="8130150" y="1929986"/>
            <a:ext cx="2927350" cy="647701"/>
          </a:xfrm>
          <a:prstGeom prst="rect">
            <a:avLst/>
          </a:prstGeom>
          <a:solidFill>
            <a:srgbClr val="FF6600"/>
          </a:solidFill>
          <a:ln w="19050">
            <a:solidFill>
              <a:srgbClr val="FF6600"/>
            </a:solidFill>
          </a:ln>
          <a:effectLst/>
        </p:spPr>
        <p:txBody>
          <a:bodyPr lIns="36000" tIns="46800" rIns="36000" bIns="46800" rtlCol="0" anchor="ctr"/>
          <a:lstStyle/>
          <a:p>
            <a:pPr algn="ctr" fontAlgn="base" latinLnBrk="0">
              <a:lnSpc>
                <a:spcPct val="130000"/>
              </a:lnSpc>
              <a:spcBef>
                <a:spcPct val="0"/>
              </a:spcBef>
            </a:pP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3. </a:t>
            </a:r>
            <a:r>
              <a:rPr kumimoji="1" lang="ko-KR" altLang="en-US" sz="1400" b="1" kern="0" spc="-10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비연속과정</a:t>
            </a: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세미나</a:t>
            </a: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설계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BECF26-2832-5738-AF6E-CE6C6036C81F}"/>
              </a:ext>
            </a:extLst>
          </p:cNvPr>
          <p:cNvSpPr txBox="1"/>
          <p:nvPr/>
        </p:nvSpPr>
        <p:spPr>
          <a:xfrm>
            <a:off x="8130150" y="2586635"/>
            <a:ext cx="2927350" cy="1818252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FF9933"/>
            </a:solidFill>
          </a:ln>
        </p:spPr>
        <p:txBody>
          <a:bodyPr wrap="square" lIns="36000" tIns="46800" rIns="36000" bIns="46800" rtlCol="0" anchor="t">
            <a:noAutofit/>
          </a:bodyPr>
          <a:lstStyle/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문헌분석을 통한 세미나 의제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안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 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후보 발굴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5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개년도 세미나 의제 최종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안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 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확정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rgbClr val="FF0000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2800" lvl="2" indent="-792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나눔고딕" panose="020D0604000000000000" pitchFamily="50" charset="-127"/>
              <a:buChar char="–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기존 훈련과정과의 비교를 통한 차별성 제시</a:t>
            </a:r>
            <a:endParaRPr kumimoji="1" lang="en-US" altLang="ko-KR" sz="11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훈련과정 로드맵 활용을 위한 제언 제시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1222AB-9939-AF1A-31BD-8859D1E51962}"/>
              </a:ext>
            </a:extLst>
          </p:cNvPr>
          <p:cNvSpPr txBox="1"/>
          <p:nvPr/>
        </p:nvSpPr>
        <p:spPr>
          <a:xfrm>
            <a:off x="8130150" y="4482198"/>
            <a:ext cx="2927350" cy="693116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FF9933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문헌연구</a:t>
            </a: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전문가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워크숍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(FGI)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B9E61BE-8C02-6F64-FE3F-78814FADFA8D}"/>
              </a:ext>
            </a:extLst>
          </p:cNvPr>
          <p:cNvSpPr txBox="1"/>
          <p:nvPr/>
        </p:nvSpPr>
        <p:spPr>
          <a:xfrm>
            <a:off x="1616736" y="5297157"/>
            <a:ext cx="2927350" cy="991883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noFill/>
          </a:ln>
        </p:spPr>
        <p:txBody>
          <a:bodyPr wrap="square" lIns="90000" tIns="46800" rIns="90000" bIns="46800" rtlCol="0" anchor="t">
            <a:noAutofit/>
          </a:bodyPr>
          <a:lstStyle/>
          <a:p>
            <a:pPr marL="108000" marR="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산업 환경 및 교육훈련 현황 분석 결과</a:t>
            </a:r>
            <a:endParaRPr kumimoji="1" lang="en-US" altLang="ko-KR" sz="12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accent5">
                  <a:lumMod val="50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108000" marR="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훈련과정 로드맵 및 세미나 의제 설계를 위한 시사점 도출 결과</a:t>
            </a:r>
            <a:endParaRPr kumimoji="1" lang="en-US" altLang="ko-KR" sz="12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accent5">
                  <a:lumMod val="50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09C141BE-16FD-007E-EBF9-3A5BE6B66E2B}"/>
              </a:ext>
            </a:extLst>
          </p:cNvPr>
          <p:cNvSpPr txBox="1"/>
          <p:nvPr/>
        </p:nvSpPr>
        <p:spPr>
          <a:xfrm>
            <a:off x="4877813" y="5297157"/>
            <a:ext cx="2927350" cy="991883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noFill/>
          </a:ln>
        </p:spPr>
        <p:txBody>
          <a:bodyPr wrap="square" lIns="90000" tIns="46800" rIns="90000" bIns="46800" rtlCol="0" anchor="t">
            <a:noAutofit/>
          </a:bodyPr>
          <a:lstStyle/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KTR </a:t>
            </a: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산업전환 공동훈련센터 운영 전략</a:t>
            </a:r>
            <a:endParaRPr kumimoji="1" lang="en-US" altLang="ko-KR" sz="12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accent5">
                  <a:lumMod val="50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5</a:t>
            </a: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개년도 훈련과정 로드맵</a:t>
            </a:r>
            <a:endParaRPr kumimoji="1" lang="en-US" altLang="ko-KR" sz="12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accent5">
                  <a:lumMod val="50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B269BA7-1133-DDB9-2FAD-8E1189FD6A6E}"/>
              </a:ext>
            </a:extLst>
          </p:cNvPr>
          <p:cNvSpPr txBox="1"/>
          <p:nvPr/>
        </p:nvSpPr>
        <p:spPr>
          <a:xfrm>
            <a:off x="8130150" y="5297157"/>
            <a:ext cx="2927350" cy="991883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noFill/>
          </a:ln>
        </p:spPr>
        <p:txBody>
          <a:bodyPr wrap="square" lIns="90000" tIns="46800" rIns="90000" bIns="46800" rtlCol="0" anchor="t">
            <a:noAutofit/>
          </a:bodyPr>
          <a:lstStyle/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5</a:t>
            </a: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개년도 세미나 의제 최종</a:t>
            </a:r>
            <a:r>
              <a:rPr kumimoji="1" lang="en-US" altLang="ko-KR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안</a:t>
            </a:r>
            <a:r>
              <a:rPr kumimoji="1" lang="en-US" altLang="ko-KR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훈련과정 로드맵 활용을 위한 제언</a:t>
            </a:r>
            <a:endParaRPr kumimoji="1" lang="en-US" altLang="ko-KR" sz="12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accent5">
                  <a:lumMod val="50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7B0538D-E347-1A4D-BE4F-868C024C2BAC}"/>
              </a:ext>
            </a:extLst>
          </p:cNvPr>
          <p:cNvSpPr txBox="1"/>
          <p:nvPr/>
        </p:nvSpPr>
        <p:spPr>
          <a:xfrm>
            <a:off x="1134501" y="1848776"/>
            <a:ext cx="314496" cy="2556111"/>
          </a:xfrm>
          <a:prstGeom prst="snip2DiagRect">
            <a:avLst/>
          </a:prstGeom>
          <a:solidFill>
            <a:srgbClr val="FF9933"/>
          </a:solidFill>
        </p:spPr>
        <p:txBody>
          <a:bodyPr vert="wordArtVertRtl" wrap="square" lIns="36000" tIns="0" rIns="36000" bIns="0" rtlCol="0">
            <a:spAutoFit/>
          </a:bodyPr>
          <a:lstStyle/>
          <a:p>
            <a:pPr algn="ctr" latinLnBrk="0"/>
            <a:r>
              <a:rPr lang="ko-KR" altLang="en-US" sz="1200" spc="-1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추진 프로세스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CFE5B4-B8CD-9E94-8B03-11FEA11F1D99}"/>
              </a:ext>
            </a:extLst>
          </p:cNvPr>
          <p:cNvSpPr txBox="1"/>
          <p:nvPr/>
        </p:nvSpPr>
        <p:spPr>
          <a:xfrm>
            <a:off x="1134501" y="5267325"/>
            <a:ext cx="314496" cy="991883"/>
          </a:xfrm>
          <a:prstGeom prst="snip2DiagRect">
            <a:avLst/>
          </a:prstGeom>
          <a:solidFill>
            <a:srgbClr val="FF9933"/>
          </a:solidFill>
        </p:spPr>
        <p:txBody>
          <a:bodyPr vert="wordArtVertRtl" wrap="square" lIns="36000" tIns="0" rIns="36000" bIns="0" rtlCol="0">
            <a:spAutoFit/>
          </a:bodyPr>
          <a:lstStyle>
            <a:defPPr>
              <a:defRPr lang="ko-KR"/>
            </a:defPPr>
            <a:lvl1pPr algn="ctr">
              <a:defRPr sz="1200" spc="-15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주요산출물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09BA2DB-AFB9-BD8E-1692-787762056BBD}"/>
              </a:ext>
            </a:extLst>
          </p:cNvPr>
          <p:cNvSpPr txBox="1"/>
          <p:nvPr/>
        </p:nvSpPr>
        <p:spPr>
          <a:xfrm>
            <a:off x="6520425" y="4584551"/>
            <a:ext cx="1171415" cy="46935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108000" marR="0" lvl="2" indent="-108000" fontAlgn="base" latinLnBrk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전문가 자문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marR="0" lvl="2" indent="-108000" fontAlgn="base" latinLnBrk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간담회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FCB31EA3-4273-B968-433D-7205BFE9C48F}"/>
              </a:ext>
            </a:extLst>
          </p:cNvPr>
          <p:cNvSpPr txBox="1"/>
          <p:nvPr/>
        </p:nvSpPr>
        <p:spPr>
          <a:xfrm>
            <a:off x="1134501" y="4482198"/>
            <a:ext cx="314496" cy="693116"/>
          </a:xfrm>
          <a:prstGeom prst="snip2DiagRect">
            <a:avLst/>
          </a:prstGeom>
          <a:solidFill>
            <a:srgbClr val="FF9933"/>
          </a:solidFill>
        </p:spPr>
        <p:txBody>
          <a:bodyPr vert="wordArtVertRtl" wrap="square" lIns="36000" tIns="0" rIns="36000" bIns="0" rtlCol="0">
            <a:spAutoFit/>
          </a:bodyPr>
          <a:lstStyle>
            <a:defPPr>
              <a:defRPr lang="ko-KR"/>
            </a:defPPr>
            <a:lvl1pPr algn="ctr">
              <a:defRPr sz="1200" spc="-15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방법</a:t>
            </a:r>
            <a:endParaRPr kumimoji="0" lang="ko-KR" altLang="en-US" sz="1200" b="0" i="0" u="none" strike="noStrike" kern="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0186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548909" y="861339"/>
            <a:ext cx="2600392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2.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제안 특징과 장점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4" name="직선 연결선 23"/>
          <p:cNvCxnSpPr>
            <a:stCxn id="23" idx="3"/>
          </p:cNvCxnSpPr>
          <p:nvPr/>
        </p:nvCxnSpPr>
        <p:spPr>
          <a:xfrm>
            <a:off x="3149301" y="1073705"/>
            <a:ext cx="8410688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6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401B39-20FE-4FC8-93D7-E12E706D5CB9}"/>
              </a:ext>
            </a:extLst>
          </p:cNvPr>
          <p:cNvSpPr txBox="1"/>
          <p:nvPr/>
        </p:nvSpPr>
        <p:spPr>
          <a:xfrm>
            <a:off x="548909" y="568960"/>
            <a:ext cx="4804136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산업전환 공동훈련센터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(KTR)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훈련 로드맵 수립 및 훈련과정 개발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48909" y="1276986"/>
            <a:ext cx="11011080" cy="345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fontAlgn="auto" latinLnBrk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본 사업의 성공적인 수행을 위해 제안기관이 분석한 전제조건과 그에 대응하여 보유하고 있는 특징 및 장점은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C7B91C-A509-537A-6B63-9957B2377764}"/>
              </a:ext>
            </a:extLst>
          </p:cNvPr>
          <p:cNvSpPr/>
          <p:nvPr/>
        </p:nvSpPr>
        <p:spPr>
          <a:xfrm>
            <a:off x="9156700" y="568960"/>
            <a:ext cx="2403289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Ⅰ.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 개요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25213AC1-3E4B-DF25-1DC8-558F6023D0D2}"/>
              </a:ext>
            </a:extLst>
          </p:cNvPr>
          <p:cNvSpPr/>
          <p:nvPr/>
        </p:nvSpPr>
        <p:spPr>
          <a:xfrm flipV="1">
            <a:off x="695325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1F836B-2326-DDFB-567F-9F10E9E155A1}"/>
              </a:ext>
            </a:extLst>
          </p:cNvPr>
          <p:cNvSpPr/>
          <p:nvPr/>
        </p:nvSpPr>
        <p:spPr>
          <a:xfrm>
            <a:off x="797643" y="1848777"/>
            <a:ext cx="25293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전제조건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6" name="사각형: 잘린 한쪽 모서리 42">
            <a:extLst>
              <a:ext uri="{FF2B5EF4-FFF2-40B4-BE49-F238E27FC236}">
                <a16:creationId xmlns:a16="http://schemas.microsoft.com/office/drawing/2014/main" id="{0FA5DB4A-A433-4EE8-5505-CD2F32E49BD0}"/>
              </a:ext>
            </a:extLst>
          </p:cNvPr>
          <p:cNvSpPr/>
          <p:nvPr/>
        </p:nvSpPr>
        <p:spPr>
          <a:xfrm flipV="1">
            <a:off x="6233293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A4B2B0-93F9-6840-2C1E-3474DF11A49A}"/>
              </a:ext>
            </a:extLst>
          </p:cNvPr>
          <p:cNvSpPr/>
          <p:nvPr/>
        </p:nvSpPr>
        <p:spPr>
          <a:xfrm>
            <a:off x="6335611" y="1848777"/>
            <a:ext cx="25293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제안기관 특징 및 장점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498C9E4-2DD2-0544-3F69-F05356E87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13925"/>
              </p:ext>
            </p:extLst>
          </p:nvPr>
        </p:nvGraphicFramePr>
        <p:xfrm>
          <a:off x="669194" y="2382866"/>
          <a:ext cx="5055336" cy="870013"/>
        </p:xfrm>
        <a:graphic>
          <a:graphicData uri="http://schemas.openxmlformats.org/drawingml/2006/table">
            <a:tbl>
              <a:tblPr/>
              <a:tblGrid>
                <a:gridCol w="5055336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87001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첫째</a:t>
                      </a:r>
                      <a:r>
                        <a:rPr lang="en-US" altLang="ko-KR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en-US" altLang="ko-KR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최신 트렌드에 맞는 친환경 화학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 산업 </a:t>
                      </a:r>
                      <a:r>
                        <a:rPr lang="ko-KR" altLang="en-US" sz="12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훈련로드맵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수립을 위해서는 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국내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외 산업 동향 및 교육훈련 현황 조사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분석 및 유의미한 시사점 도출 필요</a:t>
                      </a: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4BACC6">
                          <a:lumMod val="40000"/>
                          <a:lumOff val="6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4DBF7C9-954E-8EAA-C3E3-FE0D4FB08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150935"/>
              </p:ext>
            </p:extLst>
          </p:nvPr>
        </p:nvGraphicFramePr>
        <p:xfrm>
          <a:off x="669194" y="5106908"/>
          <a:ext cx="5055406" cy="1065292"/>
        </p:xfrm>
        <a:graphic>
          <a:graphicData uri="http://schemas.openxmlformats.org/drawingml/2006/table">
            <a:tbl>
              <a:tblPr/>
              <a:tblGrid>
                <a:gridCol w="5055406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0652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셋째</a:t>
                      </a:r>
                      <a:r>
                        <a:rPr lang="en-US" altLang="ko-KR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성공적인 사업 추진을 위해서는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친환경 화학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 산업 분야에 대한 전문성 </a:t>
                      </a:r>
                      <a:r>
                        <a:rPr lang="ko-KR" altLang="en-US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뿐만 아니라</a:t>
                      </a:r>
                      <a:r>
                        <a:rPr lang="en-US" altLang="ko-KR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경영전략 수립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직업능력개발 관련 연구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컨설팅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훈련과정 개발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분야의 전문성을 보유한 인력 투입 필요</a:t>
                      </a: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4BACC6">
                          <a:lumMod val="40000"/>
                          <a:lumOff val="6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F90EE88-CF6B-4BEF-1506-E0CE53558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195410"/>
              </p:ext>
            </p:extLst>
          </p:nvPr>
        </p:nvGraphicFramePr>
        <p:xfrm>
          <a:off x="669194" y="3444706"/>
          <a:ext cx="5055336" cy="1470375"/>
        </p:xfrm>
        <a:graphic>
          <a:graphicData uri="http://schemas.openxmlformats.org/drawingml/2006/table">
            <a:tbl>
              <a:tblPr/>
              <a:tblGrid>
                <a:gridCol w="5055336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4703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lvl="0" indent="-88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둘째</a:t>
                      </a:r>
                      <a:r>
                        <a:rPr lang="en-US" altLang="ko-KR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en-US" altLang="ko-KR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개년도 훈련과정 로드맵이 체계적으로 이행되기 위해서는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산업전환 공동훈련센터의 운영전략 수립이 선행되어야 하며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협약기업의 훈련과정 개발 결과물 반영 등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유관 사업의 결과물과 연계 필요</a:t>
                      </a: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4BACC6">
                          <a:lumMod val="40000"/>
                          <a:lumOff val="6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6E5C0C51-591F-D9B0-AC7D-65B65E591E4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24704" y="2353992"/>
            <a:ext cx="542591" cy="4106655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1DE88F8-6F15-05D1-0996-F28F7BBB0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659348"/>
              </p:ext>
            </p:extLst>
          </p:nvPr>
        </p:nvGraphicFramePr>
        <p:xfrm>
          <a:off x="6491097" y="2382866"/>
          <a:ext cx="5067539" cy="870013"/>
        </p:xfrm>
        <a:graphic>
          <a:graphicData uri="http://schemas.openxmlformats.org/drawingml/2006/table">
            <a:tbl>
              <a:tblPr/>
              <a:tblGrid>
                <a:gridCol w="5067539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87001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추진 시 실제 다루어야 할 문헌에 대해 제안단계에서 사전분석을 실시함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.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향후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발주기관의 내부 자료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국내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외 추가 자료를 분석하여 친환경 화학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 화학 분야의 산업전환 대응전략 수립을 위한 유의미한 시사점을 도출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하겠음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.</a:t>
                      </a: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F79646">
                          <a:lumMod val="20000"/>
                          <a:lumOff val="8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879D177-D19D-20CD-BAF6-2FF54A7BB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07499"/>
              </p:ext>
            </p:extLst>
          </p:nvPr>
        </p:nvGraphicFramePr>
        <p:xfrm>
          <a:off x="6466043" y="5106908"/>
          <a:ext cx="5093946" cy="1065292"/>
        </p:xfrm>
        <a:graphic>
          <a:graphicData uri="http://schemas.openxmlformats.org/drawingml/2006/table">
            <a:tbl>
              <a:tblPr/>
              <a:tblGrid>
                <a:gridCol w="5093946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0652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제안기관은 경영전략 수립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HRD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컨설팅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훈련과정 개발 사업 실적을 꾸준히 축적하고 있으며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관련 경험이 풍부한 전문인력을 투입인력으로 제시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함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.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친환경 화학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 산업 분야 전문가 활용을 위한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자문위원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융합생명공학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식품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생물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공학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교수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및 기관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한국바이오협회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을 섭외 완료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함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.</a:t>
                      </a: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F79646">
                          <a:lumMod val="20000"/>
                          <a:lumOff val="8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DAB895A-B739-840E-26D7-6E7C63C16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157070"/>
              </p:ext>
            </p:extLst>
          </p:nvPr>
        </p:nvGraphicFramePr>
        <p:xfrm>
          <a:off x="6467465" y="3444706"/>
          <a:ext cx="5093875" cy="1457111"/>
        </p:xfrm>
        <a:graphic>
          <a:graphicData uri="http://schemas.openxmlformats.org/drawingml/2006/table">
            <a:tbl>
              <a:tblPr/>
              <a:tblGrid>
                <a:gridCol w="5093875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4571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체계적인 훈련과정 로드맵 설계를 위해 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‘KTR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산업전환 공동훈련센터의 운영 전략 수립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’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을 추가 과업범위로 제시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하였으며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향후 사업 추진 시 센터의 전략 방향 및 중장기 발전 방안 등을 도출하겠음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.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제안기관은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협약기업별 컨설팅 결과물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직무분석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훈련 수요 등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과 본 사업을 연계하여 </a:t>
                      </a:r>
                      <a:r>
                        <a:rPr lang="ko-KR" altLang="en-US" sz="12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훈련로드맵의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유효성을 확보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하겠음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.</a:t>
                      </a:r>
                      <a:endParaRPr lang="ko-KR" altLang="en-US" sz="12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F79646">
                          <a:lumMod val="20000"/>
                          <a:lumOff val="8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122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539DFA-D4E2-6244-86A0-F18F346CB2A0}"/>
              </a:ext>
            </a:extLst>
          </p:cNvPr>
          <p:cNvSpPr/>
          <p:nvPr/>
        </p:nvSpPr>
        <p:spPr>
          <a:xfrm>
            <a:off x="2823728" y="2299606"/>
            <a:ext cx="2155910" cy="1129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t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사업기간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2022.09 – 2022.12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계약금액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59,950,000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원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발주처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SK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이노베이션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(SK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에너지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비고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타 기관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73530A-FAD7-BA97-D3E0-B4FA54F4FCC3}"/>
              </a:ext>
            </a:extLst>
          </p:cNvPr>
          <p:cNvSpPr/>
          <p:nvPr/>
        </p:nvSpPr>
        <p:spPr>
          <a:xfrm>
            <a:off x="634932" y="2299606"/>
            <a:ext cx="2155910" cy="1129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사업기간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2022.05 – 2022.10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계약금액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285,000,000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원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발주처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대한상공회의소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비고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타 기관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48909" y="861339"/>
            <a:ext cx="2600392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2.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제안 특징과 장점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8" name="직선 연결선 27"/>
          <p:cNvCxnSpPr>
            <a:stCxn id="27" idx="3"/>
          </p:cNvCxnSpPr>
          <p:nvPr/>
        </p:nvCxnSpPr>
        <p:spPr>
          <a:xfrm>
            <a:off x="3149301" y="1073705"/>
            <a:ext cx="8410688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7848600" y="568960"/>
            <a:ext cx="3711389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Ⅰ.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 개요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036AE6-8781-9E52-E924-91F2CDA0E7DE}"/>
              </a:ext>
            </a:extLst>
          </p:cNvPr>
          <p:cNvSpPr/>
          <p:nvPr/>
        </p:nvSpPr>
        <p:spPr>
          <a:xfrm>
            <a:off x="589211" y="1216360"/>
            <a:ext cx="11011080" cy="348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본 사업과 관련된 제안기관의 주요 및 유사 사업 실적은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7F58DBE-3920-6BE0-41F1-A4CC42261B42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727026"/>
          <a:ext cx="2166953" cy="572580"/>
        </p:xfrm>
        <a:graphic>
          <a:graphicData uri="http://schemas.openxmlformats.org/drawingml/2006/table">
            <a:tbl>
              <a:tblPr/>
              <a:tblGrid>
                <a:gridCol w="2166953">
                  <a:extLst>
                    <a:ext uri="{9D8B030D-6E8A-4147-A177-3AD203B41FA5}">
                      <a16:colId xmlns:a16="http://schemas.microsoft.com/office/drawing/2014/main" val="1366610296"/>
                    </a:ext>
                  </a:extLst>
                </a:gridCol>
              </a:tblGrid>
              <a:tr h="5725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65113" marR="0" indent="-265113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1. </a:t>
                      </a: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「산업전환 기업 맞춤형 진단 및 훈련과정 개발」</a:t>
                      </a:r>
                    </a:p>
                  </a:txBody>
                  <a:tcPr marL="36000" marR="36000" marT="108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87311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340B0EA-791E-B138-1025-E0A7F010238F}"/>
              </a:ext>
            </a:extLst>
          </p:cNvPr>
          <p:cNvGraphicFramePr>
            <a:graphicFrameLocks noGrp="1"/>
          </p:cNvGraphicFramePr>
          <p:nvPr/>
        </p:nvGraphicFramePr>
        <p:xfrm>
          <a:off x="2816175" y="1727026"/>
          <a:ext cx="2166953" cy="572580"/>
        </p:xfrm>
        <a:graphic>
          <a:graphicData uri="http://schemas.openxmlformats.org/drawingml/2006/table">
            <a:tbl>
              <a:tblPr/>
              <a:tblGrid>
                <a:gridCol w="2166953">
                  <a:extLst>
                    <a:ext uri="{9D8B030D-6E8A-4147-A177-3AD203B41FA5}">
                      <a16:colId xmlns:a16="http://schemas.microsoft.com/office/drawing/2014/main" val="1366610296"/>
                    </a:ext>
                  </a:extLst>
                </a:gridCol>
              </a:tblGrid>
              <a:tr h="5725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65113" marR="0" indent="-265113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2. </a:t>
                      </a: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「산업전환 공동훈련센터 협약기업 직무전환 컨설팅 용역」</a:t>
                      </a:r>
                    </a:p>
                  </a:txBody>
                  <a:tcPr marL="36000" marR="36000" marT="108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8731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1258A29-A170-4113-4A10-3EC75F74A2F9}"/>
              </a:ext>
            </a:extLst>
          </p:cNvPr>
          <p:cNvGraphicFramePr>
            <a:graphicFrameLocks noGrp="1"/>
          </p:cNvGraphicFramePr>
          <p:nvPr/>
        </p:nvGraphicFramePr>
        <p:xfrm>
          <a:off x="7200749" y="1727026"/>
          <a:ext cx="2166953" cy="572580"/>
        </p:xfrm>
        <a:graphic>
          <a:graphicData uri="http://schemas.openxmlformats.org/drawingml/2006/table">
            <a:tbl>
              <a:tblPr/>
              <a:tblGrid>
                <a:gridCol w="2166953">
                  <a:extLst>
                    <a:ext uri="{9D8B030D-6E8A-4147-A177-3AD203B41FA5}">
                      <a16:colId xmlns:a16="http://schemas.microsoft.com/office/drawing/2014/main" val="1366610296"/>
                    </a:ext>
                  </a:extLst>
                </a:gridCol>
              </a:tblGrid>
              <a:tr h="5725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65113" marR="0" indent="-265113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4. </a:t>
                      </a: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「기업수요 맞춤형 직무분석 및 훈련과정 개발」</a:t>
                      </a:r>
                    </a:p>
                  </a:txBody>
                  <a:tcPr marL="36000" marR="36000" marT="108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8731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DFD9DEE-39D9-31EA-2189-30B089A8858C}"/>
              </a:ext>
            </a:extLst>
          </p:cNvPr>
          <p:cNvGraphicFramePr>
            <a:graphicFrameLocks noGrp="1"/>
          </p:cNvGraphicFramePr>
          <p:nvPr/>
        </p:nvGraphicFramePr>
        <p:xfrm>
          <a:off x="5008462" y="1727026"/>
          <a:ext cx="2166953" cy="572580"/>
        </p:xfrm>
        <a:graphic>
          <a:graphicData uri="http://schemas.openxmlformats.org/drawingml/2006/table">
            <a:tbl>
              <a:tblPr/>
              <a:tblGrid>
                <a:gridCol w="2166953">
                  <a:extLst>
                    <a:ext uri="{9D8B030D-6E8A-4147-A177-3AD203B41FA5}">
                      <a16:colId xmlns:a16="http://schemas.microsoft.com/office/drawing/2014/main" val="1366610296"/>
                    </a:ext>
                  </a:extLst>
                </a:gridCol>
              </a:tblGrid>
              <a:tr h="5725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65113" marR="0" indent="-265113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3. </a:t>
                      </a: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「협약기업 직무분석을 통한 훈련과정 개발 용역」</a:t>
                      </a:r>
                    </a:p>
                  </a:txBody>
                  <a:tcPr marL="36000" marR="36000" marT="108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8731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F662C01-0A24-AA73-C00B-EBB441289504}"/>
              </a:ext>
            </a:extLst>
          </p:cNvPr>
          <p:cNvGraphicFramePr>
            <a:graphicFrameLocks noGrp="1"/>
          </p:cNvGraphicFramePr>
          <p:nvPr/>
        </p:nvGraphicFramePr>
        <p:xfrm>
          <a:off x="9393036" y="1727026"/>
          <a:ext cx="2166953" cy="572580"/>
        </p:xfrm>
        <a:graphic>
          <a:graphicData uri="http://schemas.openxmlformats.org/drawingml/2006/table">
            <a:tbl>
              <a:tblPr/>
              <a:tblGrid>
                <a:gridCol w="2166953">
                  <a:extLst>
                    <a:ext uri="{9D8B030D-6E8A-4147-A177-3AD203B41FA5}">
                      <a16:colId xmlns:a16="http://schemas.microsoft.com/office/drawing/2014/main" val="1366610296"/>
                    </a:ext>
                  </a:extLst>
                </a:gridCol>
              </a:tblGrid>
              <a:tr h="5725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65113" marR="0" indent="-265113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5. </a:t>
                      </a: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「화이트 바이오 분야 자격인증 체계 개발 연구」</a:t>
                      </a:r>
                    </a:p>
                  </a:txBody>
                  <a:tcPr marL="36000" marR="36000" marT="108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87311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14B888-EB8E-5865-5388-034CE1FC4E35}"/>
              </a:ext>
            </a:extLst>
          </p:cNvPr>
          <p:cNvSpPr/>
          <p:nvPr/>
        </p:nvSpPr>
        <p:spPr>
          <a:xfrm>
            <a:off x="5012524" y="2299606"/>
            <a:ext cx="2155910" cy="1129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사업기간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2022.09 – 2022.11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계약금액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199,500,000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원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발주처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한국전자기술연구원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비고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공공기관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BADC6E-2A43-8609-82A3-E2E5102800BD}"/>
              </a:ext>
            </a:extLst>
          </p:cNvPr>
          <p:cNvSpPr/>
          <p:nvPr/>
        </p:nvSpPr>
        <p:spPr>
          <a:xfrm>
            <a:off x="7201320" y="2299606"/>
            <a:ext cx="2155910" cy="1129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사업기간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2023.04 – 2023.08</a:t>
            </a:r>
          </a:p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계약금액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114,000,000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원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발주처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대한상공회의소 서울기술교육센터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비고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타 기관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E1FAB9-4226-0E25-E3E1-B19737E1B657}"/>
              </a:ext>
            </a:extLst>
          </p:cNvPr>
          <p:cNvSpPr/>
          <p:nvPr/>
        </p:nvSpPr>
        <p:spPr>
          <a:xfrm>
            <a:off x="9390116" y="2299606"/>
            <a:ext cx="2155910" cy="1129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사업기간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2023.01 – 2023.02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계약금액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17,000,000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원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발주처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 err="1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한국바이오협회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비고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타 기관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20" name="사각형: 잘린 한쪽 모서리 42">
            <a:extLst>
              <a:ext uri="{FF2B5EF4-FFF2-40B4-BE49-F238E27FC236}">
                <a16:creationId xmlns:a16="http://schemas.microsoft.com/office/drawing/2014/main" id="{1E2B36E5-AC6E-C68C-69DF-0DB2A510567F}"/>
              </a:ext>
            </a:extLst>
          </p:cNvPr>
          <p:cNvSpPr/>
          <p:nvPr/>
        </p:nvSpPr>
        <p:spPr>
          <a:xfrm flipV="1">
            <a:off x="634932" y="3517510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FDC211C-5EEE-BBC8-54F9-40B7C312631F}"/>
              </a:ext>
            </a:extLst>
          </p:cNvPr>
          <p:cNvSpPr/>
          <p:nvPr/>
        </p:nvSpPr>
        <p:spPr>
          <a:xfrm>
            <a:off x="706770" y="3539437"/>
            <a:ext cx="43098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유사 사업 실적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7A8740E-A800-3EE4-8BC0-0A015D92E6C2}"/>
              </a:ext>
            </a:extLst>
          </p:cNvPr>
          <p:cNvGraphicFramePr>
            <a:graphicFrameLocks noGrp="1"/>
          </p:cNvGraphicFramePr>
          <p:nvPr/>
        </p:nvGraphicFramePr>
        <p:xfrm>
          <a:off x="634932" y="3975599"/>
          <a:ext cx="5461068" cy="2322078"/>
        </p:xfrm>
        <a:graphic>
          <a:graphicData uri="http://schemas.openxmlformats.org/drawingml/2006/table">
            <a:tbl>
              <a:tblPr/>
              <a:tblGrid>
                <a:gridCol w="219442">
                  <a:extLst>
                    <a:ext uri="{9D8B030D-6E8A-4147-A177-3AD203B41FA5}">
                      <a16:colId xmlns:a16="http://schemas.microsoft.com/office/drawing/2014/main" val="755726907"/>
                    </a:ext>
                  </a:extLst>
                </a:gridCol>
                <a:gridCol w="2483186">
                  <a:extLst>
                    <a:ext uri="{9D8B030D-6E8A-4147-A177-3AD203B41FA5}">
                      <a16:colId xmlns:a16="http://schemas.microsoft.com/office/drawing/2014/main" val="2428714878"/>
                    </a:ext>
                  </a:extLst>
                </a:gridCol>
                <a:gridCol w="975954">
                  <a:extLst>
                    <a:ext uri="{9D8B030D-6E8A-4147-A177-3AD203B41FA5}">
                      <a16:colId xmlns:a16="http://schemas.microsoft.com/office/drawing/2014/main" val="3681649429"/>
                    </a:ext>
                  </a:extLst>
                </a:gridCol>
                <a:gridCol w="336307">
                  <a:extLst>
                    <a:ext uri="{9D8B030D-6E8A-4147-A177-3AD203B41FA5}">
                      <a16:colId xmlns:a16="http://schemas.microsoft.com/office/drawing/2014/main" val="4185924196"/>
                    </a:ext>
                  </a:extLst>
                </a:gridCol>
                <a:gridCol w="992222">
                  <a:extLst>
                    <a:ext uri="{9D8B030D-6E8A-4147-A177-3AD203B41FA5}">
                      <a16:colId xmlns:a16="http://schemas.microsoft.com/office/drawing/2014/main" val="4024460111"/>
                    </a:ext>
                  </a:extLst>
                </a:gridCol>
                <a:gridCol w="453957">
                  <a:extLst>
                    <a:ext uri="{9D8B030D-6E8A-4147-A177-3AD203B41FA5}">
                      <a16:colId xmlns:a16="http://schemas.microsoft.com/office/drawing/2014/main" val="3668348814"/>
                    </a:ext>
                  </a:extLst>
                </a:gridCol>
              </a:tblGrid>
              <a:tr h="1277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순번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사업명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 기간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금액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발주처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087202"/>
                  </a:ext>
                </a:extLst>
              </a:tr>
              <a:tr h="24810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산업별역량체계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(SQF) 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개발 및 활용화 고도화 방안 연구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 10-2022. 12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49.5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b="0" kern="1200" spc="-20" baseline="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 </a:t>
                      </a:r>
                      <a:r>
                        <a:rPr lang="ko-KR" altLang="en-US" sz="850" b="0" kern="1200" spc="-20" baseline="0" noProof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국가직무능력표준원</a:t>
                      </a:r>
                      <a:endParaRPr lang="ko-KR" altLang="en-US" sz="850" b="0" kern="1200" spc="-20" baseline="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767539"/>
                  </a:ext>
                </a:extLst>
              </a:tr>
              <a:tr h="12776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산업전환 공동훈련센터 협약기업 직무전환 컨설팅 용역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 05-2022. 11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60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SK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이노베이션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084806"/>
                  </a:ext>
                </a:extLst>
              </a:tr>
              <a:tr h="12776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3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산업전환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기업맞춤형 진단 및 훈련과정 개발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 05-2022. 10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285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대한상공회의소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797821"/>
                  </a:ext>
                </a:extLst>
              </a:tr>
              <a:tr h="24810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산업별 역량체계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(SQF)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의 역량체계 인정 방안 구체화 연구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2022.03-2022.10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49.5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 </a:t>
                      </a: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국가직무능력표준원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b="0" kern="1200" spc="-20" baseline="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841251"/>
                  </a:ext>
                </a:extLst>
              </a:tr>
              <a:tr h="24810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5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NCS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기업활용컨설팅 사업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기본형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기본형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+</a:t>
                      </a: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확장형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2022.02-2022.10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339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 </a:t>
                      </a: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국가직무능력표준원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321987"/>
                  </a:ext>
                </a:extLst>
              </a:tr>
              <a:tr h="24810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6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기업수요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맞춤형 직무분석 및 훈련과정개발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2021.12-2022.01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486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대한상공회의소 서울기술교육센터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539689"/>
                  </a:ext>
                </a:extLst>
              </a:tr>
              <a:tr h="12776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7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협약기업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직무분석을 통한 훈련과정 개발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2021.11-2022.01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85.5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한국전자기술연구원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420562"/>
                  </a:ext>
                </a:extLst>
              </a:tr>
              <a:tr h="12776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8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기업수요맞춤형 직무분석 및 훈련과정 개발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2021.05-2021.11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195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1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한국보건복지인력 개발원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5183"/>
                  </a:ext>
                </a:extLst>
              </a:tr>
              <a:tr h="24810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9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NCS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기업활용컨설팅 사업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기본형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확장형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2021.03-2021.09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318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 </a:t>
                      </a: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국가직무능력표준원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04668"/>
                  </a:ext>
                </a:extLst>
              </a:tr>
              <a:tr h="12776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10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협약기업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직무분석을 통한 훈련과정 개발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2021.03-2021.11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135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국가임상시험지원재단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142495"/>
                  </a:ext>
                </a:extLst>
              </a:tr>
              <a:tr h="15749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11</a:t>
                      </a:r>
                    </a:p>
                  </a:txBody>
                  <a:tcPr marL="0" marR="0" marT="360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협약기업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직무분석을 통한 훈련과정 개발</a:t>
                      </a:r>
                    </a:p>
                  </a:txBody>
                  <a:tcPr marL="18000" marR="0" marT="3600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2021.02-2021.05</a:t>
                      </a:r>
                    </a:p>
                  </a:txBody>
                  <a:tcPr marL="0" marR="0" marT="3600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150</a:t>
                      </a:r>
                    </a:p>
                  </a:txBody>
                  <a:tcPr marL="0" marR="36000" marT="3600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한국전자기술연구원</a:t>
                      </a:r>
                    </a:p>
                  </a:txBody>
                  <a:tcPr marL="0" marR="0" marT="3600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29667"/>
                  </a:ext>
                </a:extLst>
              </a:tr>
              <a:tr h="15749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12</a:t>
                      </a:r>
                    </a:p>
                  </a:txBody>
                  <a:tcPr marL="0" marR="0" marT="360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기업수요맞춤형 직무분석 및 훈련과정 개발</a:t>
                      </a:r>
                    </a:p>
                  </a:txBody>
                  <a:tcPr marL="18000" marR="3600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2020.03-2020.08</a:t>
                      </a:r>
                    </a:p>
                  </a:txBody>
                  <a:tcPr marL="36000" marR="36000" marT="3600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980</a:t>
                      </a:r>
                    </a:p>
                  </a:txBody>
                  <a:tcPr marL="36000" marR="36000" marT="3600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대한상공회의소</a:t>
                      </a:r>
                    </a:p>
                  </a:txBody>
                  <a:tcPr marL="0" marR="0" marT="3600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36000" marR="36000" marT="3600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85973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D9E41EA-1D34-26FB-E483-541648A3584C}"/>
              </a:ext>
            </a:extLst>
          </p:cNvPr>
          <p:cNvGraphicFramePr>
            <a:graphicFrameLocks noGrp="1"/>
          </p:cNvGraphicFramePr>
          <p:nvPr/>
        </p:nvGraphicFramePr>
        <p:xfrm>
          <a:off x="6122970" y="3975601"/>
          <a:ext cx="5418990" cy="2322075"/>
        </p:xfrm>
        <a:graphic>
          <a:graphicData uri="http://schemas.openxmlformats.org/drawingml/2006/table">
            <a:tbl>
              <a:tblPr/>
              <a:tblGrid>
                <a:gridCol w="225742">
                  <a:extLst>
                    <a:ext uri="{9D8B030D-6E8A-4147-A177-3AD203B41FA5}">
                      <a16:colId xmlns:a16="http://schemas.microsoft.com/office/drawing/2014/main" val="629362418"/>
                    </a:ext>
                  </a:extLst>
                </a:gridCol>
                <a:gridCol w="2493731">
                  <a:extLst>
                    <a:ext uri="{9D8B030D-6E8A-4147-A177-3AD203B41FA5}">
                      <a16:colId xmlns:a16="http://schemas.microsoft.com/office/drawing/2014/main" val="3013408651"/>
                    </a:ext>
                  </a:extLst>
                </a:gridCol>
                <a:gridCol w="914205">
                  <a:extLst>
                    <a:ext uri="{9D8B030D-6E8A-4147-A177-3AD203B41FA5}">
                      <a16:colId xmlns:a16="http://schemas.microsoft.com/office/drawing/2014/main" val="882897985"/>
                    </a:ext>
                  </a:extLst>
                </a:gridCol>
                <a:gridCol w="374904">
                  <a:extLst>
                    <a:ext uri="{9D8B030D-6E8A-4147-A177-3AD203B41FA5}">
                      <a16:colId xmlns:a16="http://schemas.microsoft.com/office/drawing/2014/main" val="2397980007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75218798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589989596"/>
                    </a:ext>
                  </a:extLst>
                </a:gridCol>
              </a:tblGrid>
              <a:tr h="130644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순번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사업명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 기간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금액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발주처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335227"/>
                  </a:ext>
                </a:extLst>
              </a:tr>
              <a:tr h="25836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13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ESG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기반 중장기경영전략수립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- 3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차 </a:t>
                      </a:r>
                      <a:r>
                        <a:rPr lang="en-US" altLang="ko-KR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Roiing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Plan 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연구용역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2022.10-2022.12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17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재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경상북도환경 연수원 경리관</a:t>
                      </a:r>
                      <a:endParaRPr lang="en-US" altLang="ko-KR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454595"/>
                  </a:ext>
                </a:extLst>
              </a:tr>
              <a:tr h="15129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14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ESG 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경영진단 및 전사전략체계 구축 컨설팅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2022.05-2022.10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77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이녹스첨단소재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226333"/>
                  </a:ext>
                </a:extLst>
              </a:tr>
              <a:tr h="15129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15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윤리경영체계 고도화 및 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ESG 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실사 대응자료 개발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2022.04-2022.06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13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더블유씨피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주식회사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137287"/>
                  </a:ext>
                </a:extLst>
              </a:tr>
              <a:tr h="15129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16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지속가능한 기업문화 구축을 위한 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ESG 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조직진단 프로젝트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2022.02-2022.03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25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원익큐엔씨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713667"/>
                  </a:ext>
                </a:extLst>
              </a:tr>
              <a:tr h="15129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17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일터혁신 지원 전문 컨설팅 사업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2022.02-2024.12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2,882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고용노동부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939687"/>
                  </a:ext>
                </a:extLst>
              </a:tr>
              <a:tr h="15129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18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 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ESG 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경영 로드맵 수립 컨설팅 용역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2021.09-2021.11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19.5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830644"/>
                  </a:ext>
                </a:extLst>
              </a:tr>
              <a:tr h="15129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19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일터혁신 지원 전문컨설팅 사업</a:t>
                      </a:r>
                    </a:p>
                  </a:txBody>
                  <a:tcPr marL="1800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2021.02-2021.12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2,550</a:t>
                      </a:r>
                    </a:p>
                  </a:txBody>
                  <a:tcPr marL="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고용노동부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632978"/>
                  </a:ext>
                </a:extLst>
              </a:tr>
              <a:tr h="15129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중장기 경영목표 </a:t>
                      </a: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재수립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용역</a:t>
                      </a:r>
                    </a:p>
                  </a:txBody>
                  <a:tcPr marL="1800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2022.09-2022.11</a:t>
                      </a:r>
                    </a:p>
                  </a:txBody>
                  <a:tcPr marL="3600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19.6</a:t>
                      </a:r>
                    </a:p>
                  </a:txBody>
                  <a:tcPr marL="3600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한국한의약진흥원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53691"/>
                  </a:ext>
                </a:extLst>
              </a:tr>
              <a:tr h="15129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21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원전기업 사업다각화 컨설팅 지원사업</a:t>
                      </a:r>
                    </a:p>
                  </a:txBody>
                  <a:tcPr marL="1800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2022.07-2022.12</a:t>
                      </a:r>
                    </a:p>
                  </a:txBody>
                  <a:tcPr marL="3600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20.3</a:t>
                      </a:r>
                    </a:p>
                  </a:txBody>
                  <a:tcPr marL="3600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한국원자력산업협회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992095"/>
                  </a:ext>
                </a:extLst>
              </a:tr>
              <a:tr h="15129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22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중장기 경영목표 개선 및 경영혁신 전략수립</a:t>
                      </a:r>
                    </a:p>
                  </a:txBody>
                  <a:tcPr marL="1800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2022.07-2022.11</a:t>
                      </a:r>
                    </a:p>
                  </a:txBody>
                  <a:tcPr marL="3600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105</a:t>
                      </a:r>
                    </a:p>
                  </a:txBody>
                  <a:tcPr marL="3600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1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한국산업기술평가 관리원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528882"/>
                  </a:ext>
                </a:extLst>
              </a:tr>
              <a:tr h="15129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23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사업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노동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디지털전환 컨설팅 수행 용역</a:t>
                      </a:r>
                    </a:p>
                  </a:txBody>
                  <a:tcPr marL="1800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2022.02-2022.12</a:t>
                      </a:r>
                    </a:p>
                  </a:txBody>
                  <a:tcPr marL="3600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1,066</a:t>
                      </a:r>
                    </a:p>
                  </a:txBody>
                  <a:tcPr marL="36000" marR="3600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중소벤처기업진흥공단</a:t>
                      </a:r>
                      <a:endParaRPr lang="ko-KR" altLang="en-US" sz="85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6694"/>
                  </a:ext>
                </a:extLst>
              </a:tr>
              <a:tr h="21007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24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년도 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예비</a:t>
                      </a:r>
                      <a:r>
                        <a:rPr lang="en-US" altLang="ko-KR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사회적기업 경영컨설팅 사업</a:t>
                      </a:r>
                    </a:p>
                  </a:txBody>
                  <a:tcPr marL="18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2021.05-2021.10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36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한국사회적기업진흥원</a:t>
                      </a:r>
                      <a:endParaRPr lang="ko-KR" altLang="en-US" sz="9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36792"/>
                  </a:ext>
                </a:extLst>
              </a:tr>
              <a:tr h="21007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25</a:t>
                      </a:r>
                    </a:p>
                  </a:txBody>
                  <a:tcPr marL="0" marR="0" marT="3600" marB="36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중장기 경영전략 및 성과지표체계 개선방안 도출</a:t>
                      </a:r>
                    </a:p>
                  </a:txBody>
                  <a:tcPr marL="18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2020.02-2020.06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46.3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서울시립교향악단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68858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9B0D1C5-4E60-8FA9-3F66-652BD69BD729}"/>
              </a:ext>
            </a:extLst>
          </p:cNvPr>
          <p:cNvSpPr txBox="1"/>
          <p:nvPr/>
        </p:nvSpPr>
        <p:spPr>
          <a:xfrm>
            <a:off x="548909" y="568960"/>
            <a:ext cx="4804136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산업전환 공동훈련센터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(KTR)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훈련 로드맵 수립 및 훈련과정 개발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51DC6-ACAB-79A4-441E-27BA98FDDD80}"/>
              </a:ext>
            </a:extLst>
          </p:cNvPr>
          <p:cNvSpPr txBox="1"/>
          <p:nvPr/>
        </p:nvSpPr>
        <p:spPr>
          <a:xfrm>
            <a:off x="10678135" y="3734674"/>
            <a:ext cx="9221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i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lang="ko-KR" altLang="en-US" sz="1000" i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단위</a:t>
            </a:r>
            <a:r>
              <a:rPr lang="en-US" altLang="ko-KR" sz="1000" i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000" i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백만원</a:t>
            </a:r>
            <a:r>
              <a:rPr lang="en-US" altLang="ko-KR" sz="1000" i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endParaRPr lang="ko-KR" altLang="en-US" sz="1000" i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87F1CA1-C2B2-6135-BD34-A4A11D66CAD7}"/>
              </a:ext>
            </a:extLst>
          </p:cNvPr>
          <p:cNvGrpSpPr/>
          <p:nvPr/>
        </p:nvGrpSpPr>
        <p:grpSpPr>
          <a:xfrm>
            <a:off x="6527155" y="3724081"/>
            <a:ext cx="4515352" cy="246221"/>
            <a:chOff x="7988171" y="1777862"/>
            <a:chExt cx="3269845" cy="246221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A4645CA-A78F-A0C3-F1A7-8B18513B89AA}"/>
                </a:ext>
              </a:extLst>
            </p:cNvPr>
            <p:cNvSpPr/>
            <p:nvPr/>
          </p:nvSpPr>
          <p:spPr>
            <a:xfrm>
              <a:off x="7988171" y="1819972"/>
              <a:ext cx="117314" cy="16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180CFD-5527-739F-94C8-A5034AB74539}"/>
                </a:ext>
              </a:extLst>
            </p:cNvPr>
            <p:cNvSpPr txBox="1"/>
            <p:nvPr/>
          </p:nvSpPr>
          <p:spPr>
            <a:xfrm>
              <a:off x="8090825" y="1777862"/>
              <a:ext cx="31671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최근 </a:t>
              </a:r>
              <a:r>
                <a:rPr lang="en-US" altLang="ko-KR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3</a:t>
              </a:r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개년 공동훈련센터 훈련과정 개발 컨설팅</a:t>
              </a:r>
              <a:r>
                <a:rPr lang="en-US" altLang="ko-KR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, ESG, </a:t>
              </a:r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경영전략 수립 관련 실적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3398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7582" r="23" b="7918"/>
          <a:stretch/>
        </p:blipFill>
        <p:spPr>
          <a:xfrm>
            <a:off x="0" y="-10160"/>
            <a:ext cx="12192000" cy="686816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9DCCB7-EA7F-4C7B-901F-1EB347E0E38A}"/>
              </a:ext>
            </a:extLst>
          </p:cNvPr>
          <p:cNvSpPr/>
          <p:nvPr/>
        </p:nvSpPr>
        <p:spPr>
          <a:xfrm>
            <a:off x="0" y="-10160"/>
            <a:ext cx="12192000" cy="686816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357210" y="1766316"/>
            <a:ext cx="5477580" cy="3325368"/>
          </a:xfrm>
          <a:prstGeom prst="rect">
            <a:avLst/>
          </a:prstGeom>
          <a:solidFill>
            <a:schemeClr val="tx1">
              <a:lumMod val="75000"/>
              <a:lumOff val="2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43873-66A0-4D3C-B342-15841D4442B8}"/>
              </a:ext>
            </a:extLst>
          </p:cNvPr>
          <p:cNvSpPr txBox="1"/>
          <p:nvPr/>
        </p:nvSpPr>
        <p:spPr>
          <a:xfrm>
            <a:off x="3763809" y="2126386"/>
            <a:ext cx="4804136" cy="329321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cxnSp>
        <p:nvCxnSpPr>
          <p:cNvPr id="12" name="직선 연결선 11"/>
          <p:cNvCxnSpPr/>
          <p:nvPr/>
        </p:nvCxnSpPr>
        <p:spPr>
          <a:xfrm flipV="1">
            <a:off x="3870399" y="3070719"/>
            <a:ext cx="4451202" cy="37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109520-8C58-45C8-BCAF-C32FCEF6237B}"/>
              </a:ext>
            </a:extLst>
          </p:cNvPr>
          <p:cNvSpPr txBox="1"/>
          <p:nvPr/>
        </p:nvSpPr>
        <p:spPr>
          <a:xfrm flipH="1">
            <a:off x="3763809" y="2474286"/>
            <a:ext cx="2247731" cy="461665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Ⅱ.</a:t>
            </a:r>
            <a:r>
              <a:rPr lang="ko-KR" altLang="en-US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과업수행계획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763809" y="3066067"/>
            <a:ext cx="3480440" cy="189590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수행방안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2.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중간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/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최종성과물 및 성과물 보고 계획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3.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추진 일정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8877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9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Ⅱ.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26377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친환경 화학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·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바이오 산업 관련 선행연구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국내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·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외 산업 동향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정부정책 현황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기술변화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노동시장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교육훈련 현황을 분석하여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운영 전략 및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훈련로드맵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개발을 위한 주요 시사점을 도출하겠음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 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14" name="슬라이드 번호 개체 틀 4">
            <a:extLst>
              <a:ext uri="{FF2B5EF4-FFF2-40B4-BE49-F238E27FC236}">
                <a16:creationId xmlns:a16="http://schemas.microsoft.com/office/drawing/2014/main" id="{D8DB5628-9239-B8DA-A0F2-8B46E94C7422}"/>
              </a:ext>
            </a:extLst>
          </p:cNvPr>
          <p:cNvSpPr txBox="1">
            <a:spLocks/>
          </p:cNvSpPr>
          <p:nvPr/>
        </p:nvSpPr>
        <p:spPr>
          <a:xfrm>
            <a:off x="5824636" y="6366351"/>
            <a:ext cx="542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lang="en-US" altLang="ko-KR" sz="1000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9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1BF2402-43D5-F915-9A16-B34B96383C2A}"/>
              </a:ext>
            </a:extLst>
          </p:cNvPr>
          <p:cNvSpPr/>
          <p:nvPr/>
        </p:nvSpPr>
        <p:spPr>
          <a:xfrm>
            <a:off x="548909" y="861339"/>
            <a:ext cx="428194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산업환경 및 교육 현황 분석</a:t>
            </a:r>
            <a:endParaRPr lang="en-US" altLang="ko-KR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F17452F-E142-0AE7-C47B-AADA5DDD6DEF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4830850" y="1073705"/>
            <a:ext cx="6729139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6DADE43D-AD27-5867-5C0B-440D4FCE7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59" y="2261312"/>
            <a:ext cx="5328793" cy="2254206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8CEC629C-2920-2850-9551-FC8DCB8A5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35" y="4601026"/>
            <a:ext cx="5328793" cy="1679816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197F9F09-F371-15F3-4B30-4CD93C99C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7" y="4601027"/>
            <a:ext cx="5219065" cy="1679815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B01940A6-868B-FA25-B3D6-AC0C8C08D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3536" y="2261312"/>
            <a:ext cx="5310505" cy="2254206"/>
          </a:xfrm>
          <a:prstGeom prst="rect">
            <a:avLst/>
          </a:prstGeom>
        </p:spPr>
      </p:pic>
      <p:sp>
        <p:nvSpPr>
          <p:cNvPr id="119" name="사각형: 잘린 한쪽 모서리 42">
            <a:extLst>
              <a:ext uri="{FF2B5EF4-FFF2-40B4-BE49-F238E27FC236}">
                <a16:creationId xmlns:a16="http://schemas.microsoft.com/office/drawing/2014/main" id="{300881D8-5169-E85B-7716-57A672EA0F6A}"/>
              </a:ext>
            </a:extLst>
          </p:cNvPr>
          <p:cNvSpPr/>
          <p:nvPr/>
        </p:nvSpPr>
        <p:spPr>
          <a:xfrm flipV="1">
            <a:off x="587375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70CF5260-C79F-B3B2-F521-546D4EC860BD}"/>
              </a:ext>
            </a:extLst>
          </p:cNvPr>
          <p:cNvSpPr/>
          <p:nvPr/>
        </p:nvSpPr>
        <p:spPr>
          <a:xfrm>
            <a:off x="689692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 동향 및 기술동향 분석 예시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0447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10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Ⅱ.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훈련로드맵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도출에 앞서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「운영 전략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전략방향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중장기 발전방안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」을 도출하여 전략 방향에 부합하는 훈련과정 및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비연속과정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세미나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로드맵을 설계하고자 하며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세부 계획은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D9B10182-EB3C-4735-6096-60B46D4F9D5E}"/>
              </a:ext>
            </a:extLst>
          </p:cNvPr>
          <p:cNvSpPr/>
          <p:nvPr/>
        </p:nvSpPr>
        <p:spPr>
          <a:xfrm flipV="1">
            <a:off x="587375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CD83A5-9BE8-9D8E-27C5-DFF1AA0B0B45}"/>
              </a:ext>
            </a:extLst>
          </p:cNvPr>
          <p:cNvSpPr/>
          <p:nvPr/>
        </p:nvSpPr>
        <p:spPr>
          <a:xfrm>
            <a:off x="689692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「운영 전략」 도출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7F30935-E7A6-C8AF-3CE9-8023C4A65CB0}"/>
              </a:ext>
            </a:extLst>
          </p:cNvPr>
          <p:cNvGrpSpPr/>
          <p:nvPr/>
        </p:nvGrpSpPr>
        <p:grpSpPr>
          <a:xfrm>
            <a:off x="633095" y="2276473"/>
            <a:ext cx="5129311" cy="4012568"/>
            <a:chOff x="587375" y="2276472"/>
            <a:chExt cx="5129311" cy="410527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8776C78-FF15-F30B-C724-DA5D14044B9A}"/>
                </a:ext>
              </a:extLst>
            </p:cNvPr>
            <p:cNvSpPr/>
            <p:nvPr/>
          </p:nvSpPr>
          <p:spPr>
            <a:xfrm>
              <a:off x="1009650" y="2276472"/>
              <a:ext cx="1072158" cy="761792"/>
            </a:xfrm>
            <a:prstGeom prst="rect">
              <a:avLst/>
            </a:prstGeom>
            <a:solidFill>
              <a:srgbClr val="FF9933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[1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내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·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외부 환경분석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5831806-9C7A-8FD3-7F74-72C1270A566F}"/>
                </a:ext>
              </a:extLst>
            </p:cNvPr>
            <p:cNvSpPr/>
            <p:nvPr/>
          </p:nvSpPr>
          <p:spPr>
            <a:xfrm>
              <a:off x="1009650" y="3106991"/>
              <a:ext cx="1072158" cy="15241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SWOT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분석</a:t>
              </a: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 및 중장기 발전방안 초안 도출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59F854C-5011-6560-97E7-48970375E132}"/>
                </a:ext>
              </a:extLst>
            </p:cNvPr>
            <p:cNvSpPr/>
            <p:nvPr/>
          </p:nvSpPr>
          <p:spPr>
            <a:xfrm>
              <a:off x="2221275" y="2276472"/>
              <a:ext cx="1072158" cy="761792"/>
            </a:xfrm>
            <a:prstGeom prst="rect">
              <a:avLst/>
            </a:prstGeom>
            <a:solidFill>
              <a:srgbClr val="FF9933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[2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전략 도출 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W/S</a:t>
              </a:r>
              <a:endParaRPr kumimoji="1" lang="ko-KR" altLang="en-US" sz="10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8B70AC7-F1AA-EE86-2397-9C123D868F85}"/>
                </a:ext>
              </a:extLst>
            </p:cNvPr>
            <p:cNvSpPr/>
            <p:nvPr/>
          </p:nvSpPr>
          <p:spPr>
            <a:xfrm>
              <a:off x="2221275" y="3106991"/>
              <a:ext cx="1072158" cy="15241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이해관계자 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계획 수립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통한 전략방향 및 발전방안 논의 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5A7A4E7-556B-3E60-57FE-CA0AD2340947}"/>
                </a:ext>
              </a:extLst>
            </p:cNvPr>
            <p:cNvSpPr/>
            <p:nvPr/>
          </p:nvSpPr>
          <p:spPr>
            <a:xfrm>
              <a:off x="3432900" y="2276472"/>
              <a:ext cx="1072158" cy="76179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[3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전략방향 설정 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D29D968-D307-24FB-1CA1-DBEA62BC60A3}"/>
                </a:ext>
              </a:extLst>
            </p:cNvPr>
            <p:cNvSpPr/>
            <p:nvPr/>
          </p:nvSpPr>
          <p:spPr>
            <a:xfrm>
              <a:off x="3432900" y="3106991"/>
              <a:ext cx="1072158" cy="1524169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산업전환 공동훈련센터 미션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비전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핵심 목표 등 가치체계 확정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전략과제 및 세부추진 과제 구축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2" name="오른쪽 화살표 15">
              <a:extLst>
                <a:ext uri="{FF2B5EF4-FFF2-40B4-BE49-F238E27FC236}">
                  <a16:creationId xmlns:a16="http://schemas.microsoft.com/office/drawing/2014/main" id="{8517E8C7-3C4F-EE7F-4E00-7A6533AD0002}"/>
                </a:ext>
              </a:extLst>
            </p:cNvPr>
            <p:cNvSpPr/>
            <p:nvPr/>
          </p:nvSpPr>
          <p:spPr>
            <a:xfrm>
              <a:off x="2117309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1000"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3" name="오른쪽 화살표 16">
              <a:extLst>
                <a:ext uri="{FF2B5EF4-FFF2-40B4-BE49-F238E27FC236}">
                  <a16:creationId xmlns:a16="http://schemas.microsoft.com/office/drawing/2014/main" id="{85F08F2C-4793-A582-612D-CD801D6F0974}"/>
                </a:ext>
              </a:extLst>
            </p:cNvPr>
            <p:cNvSpPr/>
            <p:nvPr/>
          </p:nvSpPr>
          <p:spPr>
            <a:xfrm>
              <a:off x="3328934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1000"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4" name="오른쪽 화살표 17">
              <a:extLst>
                <a:ext uri="{FF2B5EF4-FFF2-40B4-BE49-F238E27FC236}">
                  <a16:creationId xmlns:a16="http://schemas.microsoft.com/office/drawing/2014/main" id="{48D80B87-3573-EA43-2C74-A4096A4AAF23}"/>
                </a:ext>
              </a:extLst>
            </p:cNvPr>
            <p:cNvSpPr/>
            <p:nvPr/>
          </p:nvSpPr>
          <p:spPr>
            <a:xfrm>
              <a:off x="4540559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1000"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53BACA8-FE49-BE58-469D-2FB86EAA090E}"/>
                </a:ext>
              </a:extLst>
            </p:cNvPr>
            <p:cNvSpPr/>
            <p:nvPr/>
          </p:nvSpPr>
          <p:spPr>
            <a:xfrm>
              <a:off x="4644528" y="2276472"/>
              <a:ext cx="1072158" cy="76179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[4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발전방안 설정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D3B85ED-A95E-FA46-A5D4-F9BC728FB326}"/>
                </a:ext>
              </a:extLst>
            </p:cNvPr>
            <p:cNvSpPr/>
            <p:nvPr/>
          </p:nvSpPr>
          <p:spPr>
            <a:xfrm>
              <a:off x="4644528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산업전환 공동훈련센터 전략방향에 따른 중장기 발전 전략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목표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피드백 및 환류체계 구축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EE90D3A2-BC25-F42B-09A6-473343F5B04E}"/>
                </a:ext>
              </a:extLst>
            </p:cNvPr>
            <p:cNvSpPr/>
            <p:nvPr/>
          </p:nvSpPr>
          <p:spPr>
            <a:xfrm>
              <a:off x="1009650" y="4699891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문헌연구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내부 연구진 회의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90C2426D-E6AA-49C9-D3B5-FB0291040DE1}"/>
                </a:ext>
              </a:extLst>
            </p:cNvPr>
            <p:cNvSpPr/>
            <p:nvPr/>
          </p:nvSpPr>
          <p:spPr>
            <a:xfrm>
              <a:off x="2221275" y="4699895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인터뷰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0594C8D2-5330-00C2-230A-3181651A75C5}"/>
                </a:ext>
              </a:extLst>
            </p:cNvPr>
            <p:cNvSpPr/>
            <p:nvPr/>
          </p:nvSpPr>
          <p:spPr>
            <a:xfrm>
              <a:off x="3432900" y="4699893"/>
              <a:ext cx="1072158" cy="80656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공동훈련센터 전담인력 및 내부 연구진 회의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9B9807BE-7B36-5B0B-4111-25852311F816}"/>
                </a:ext>
              </a:extLst>
            </p:cNvPr>
            <p:cNvSpPr/>
            <p:nvPr/>
          </p:nvSpPr>
          <p:spPr>
            <a:xfrm>
              <a:off x="4644528" y="4699893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공동훈련센터 전담인력 및 내부 연구진 회의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67A061F1-8477-3627-3B44-A86F4558C4A2}"/>
                </a:ext>
              </a:extLst>
            </p:cNvPr>
            <p:cNvSpPr/>
            <p:nvPr/>
          </p:nvSpPr>
          <p:spPr>
            <a:xfrm>
              <a:off x="1009650" y="5575183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전략방향 및 중장기 발전방안 초안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F03ED4FB-89AE-AB71-FE34-4EB20B3CDB23}"/>
                </a:ext>
              </a:extLst>
            </p:cNvPr>
            <p:cNvSpPr/>
            <p:nvPr/>
          </p:nvSpPr>
          <p:spPr>
            <a:xfrm>
              <a:off x="2221275" y="5575189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</a:t>
              </a:r>
              <a:r>
                <a:rPr kumimoji="1" lang="ko-KR" altLang="en-US" sz="900" b="1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전담자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인터뷰 결과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결과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7C25A01F-C937-54CD-F346-D095B7257045}"/>
                </a:ext>
              </a:extLst>
            </p:cNvPr>
            <p:cNvSpPr/>
            <p:nvPr/>
          </p:nvSpPr>
          <p:spPr>
            <a:xfrm>
              <a:off x="3432900" y="5575185"/>
              <a:ext cx="1072158" cy="80656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산업전환 공동훈련센터 전략방향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23153405-5009-5B1C-CCE5-D42B5B2DC959}"/>
                </a:ext>
              </a:extLst>
            </p:cNvPr>
            <p:cNvSpPr/>
            <p:nvPr/>
          </p:nvSpPr>
          <p:spPr>
            <a:xfrm>
              <a:off x="4644528" y="5575185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산업전환 공동훈련센터 중장기 발전방안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E2268C4-CB33-FB11-FCAA-9B63E858523A}"/>
                </a:ext>
              </a:extLst>
            </p:cNvPr>
            <p:cNvSpPr txBox="1"/>
            <p:nvPr/>
          </p:nvSpPr>
          <p:spPr>
            <a:xfrm>
              <a:off x="587375" y="2276472"/>
              <a:ext cx="314496" cy="235468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/>
            <a:p>
              <a:pPr algn="ctr" latinLnBrk="0"/>
              <a:r>
                <a:rPr lang="ko-KR" altLang="en-US" sz="1200" spc="-150" dirty="0">
                  <a:solidFill>
                    <a:prstClr val="white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추진 프로세스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1DF3ACF-B88B-2657-D2F4-745E8BB53E1F}"/>
                </a:ext>
              </a:extLst>
            </p:cNvPr>
            <p:cNvSpPr txBox="1"/>
            <p:nvPr/>
          </p:nvSpPr>
          <p:spPr>
            <a:xfrm>
              <a:off x="587375" y="5575183"/>
              <a:ext cx="314496" cy="80656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산출물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207D806-5145-17B4-694B-94AB61FF3C75}"/>
                </a:ext>
              </a:extLst>
            </p:cNvPr>
            <p:cNvSpPr txBox="1"/>
            <p:nvPr/>
          </p:nvSpPr>
          <p:spPr>
            <a:xfrm>
              <a:off x="587375" y="4699891"/>
              <a:ext cx="314496" cy="806560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방법</a:t>
              </a:r>
            </a:p>
          </p:txBody>
        </p:sp>
      </p:grpSp>
      <p:sp>
        <p:nvSpPr>
          <p:cNvPr id="148" name="사각형: 잘린 한쪽 모서리 42">
            <a:extLst>
              <a:ext uri="{FF2B5EF4-FFF2-40B4-BE49-F238E27FC236}">
                <a16:creationId xmlns:a16="http://schemas.microsoft.com/office/drawing/2014/main" id="{3EA156DB-7885-7C13-CE2C-8094569B96F6}"/>
              </a:ext>
            </a:extLst>
          </p:cNvPr>
          <p:cNvSpPr/>
          <p:nvPr/>
        </p:nvSpPr>
        <p:spPr>
          <a:xfrm flipV="1">
            <a:off x="609600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8F4BAB58-9783-EFC4-8EFE-524D9533EA0B}"/>
              </a:ext>
            </a:extLst>
          </p:cNvPr>
          <p:cNvSpPr/>
          <p:nvPr/>
        </p:nvSpPr>
        <p:spPr>
          <a:xfrm>
            <a:off x="6198317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「전략방향」 도출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W/S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개요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F194E16-0723-BC18-1AD0-E529AEDC5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271116"/>
              </p:ext>
            </p:extLst>
          </p:nvPr>
        </p:nvGraphicFramePr>
        <p:xfrm>
          <a:off x="6198316" y="2276475"/>
          <a:ext cx="5360589" cy="4087749"/>
        </p:xfrm>
        <a:graphic>
          <a:graphicData uri="http://schemas.openxmlformats.org/drawingml/2006/table">
            <a:tbl>
              <a:tblPr/>
              <a:tblGrid>
                <a:gridCol w="1266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0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내용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7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목적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KTR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공동훈련센터의 전략방향과 향후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개년 발전방안 수립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7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역할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Facilitator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의 진행에 따라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KTR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공동훈련센터 전략방향 및 발전방안 의견 제시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7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일시 및 장소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일시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: ’23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월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00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일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13:00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~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17:00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장소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: KTR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회의실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9244">
                <a:tc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안건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안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 KTR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공동훈련센터 전략방향 논의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공동훈련센터 미션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비전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목표 등 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안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 KTR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공동훈련센터 발전방안 논의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공동훈련센터 </a:t>
                      </a:r>
                      <a:r>
                        <a:rPr lang="ko-KR" altLang="en-US" sz="11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연차별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전략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목표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환류체계 등 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688746"/>
                  </a:ext>
                </a:extLst>
              </a:tr>
              <a:tr h="7101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참석 대상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KTR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공동훈련센터 전담인력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친환경 화학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 산업 전문가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연구 수행 기관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669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58750" marR="0" indent="-15875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※ </a:t>
                      </a:r>
                      <a:r>
                        <a:rPr lang="ko-KR" altLang="en-US" sz="105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본 사업 추진 </a:t>
                      </a:r>
                      <a:r>
                        <a:rPr lang="ko-KR" altLang="en-US" sz="105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절차별</a:t>
                      </a:r>
                      <a:r>
                        <a:rPr lang="ko-KR" altLang="en-US" sz="105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 내용 및 일정은 </a:t>
                      </a:r>
                      <a:r>
                        <a:rPr lang="ko-KR" altLang="en-US" sz="105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예정사항이며</a:t>
                      </a:r>
                      <a:r>
                        <a:rPr lang="en-US" altLang="ko-KR" sz="105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, </a:t>
                      </a:r>
                      <a:r>
                        <a:rPr lang="ko-KR" altLang="en-US" sz="105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최종 일정 등 세부 계획은 발주기관 용역담당자와 사전 협의하여 추진</a:t>
                      </a:r>
                      <a:endParaRPr lang="ko-KR" altLang="en-US" sz="1050" kern="0" spc="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D7B23B75-F0F1-A0ED-27CF-DE3721C42D18}"/>
              </a:ext>
            </a:extLst>
          </p:cNvPr>
          <p:cNvSpPr/>
          <p:nvPr/>
        </p:nvSpPr>
        <p:spPr>
          <a:xfrm>
            <a:off x="548909" y="861339"/>
            <a:ext cx="5275727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KTR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산업전환 공동훈련센터 운영 전략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8BF1ED9-9D27-71F2-9202-BE176BC8D7FB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5824636" y="1073705"/>
            <a:ext cx="5735353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638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11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Ⅱ.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훈련로드맵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도출에 앞서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「운영 전략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전략방향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중장기 발전방안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」을 도출하여 전략 방향에 부합하는 훈련과정 및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비연속과정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세미나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로드맵을 설계하고자 하며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세부 계획은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D9B10182-EB3C-4735-6096-60B46D4F9D5E}"/>
              </a:ext>
            </a:extLst>
          </p:cNvPr>
          <p:cNvSpPr/>
          <p:nvPr/>
        </p:nvSpPr>
        <p:spPr>
          <a:xfrm flipV="1">
            <a:off x="587375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CD83A5-9BE8-9D8E-27C5-DFF1AA0B0B45}"/>
              </a:ext>
            </a:extLst>
          </p:cNvPr>
          <p:cNvSpPr/>
          <p:nvPr/>
        </p:nvSpPr>
        <p:spPr>
          <a:xfrm>
            <a:off x="689692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「운영 전략」 도출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782C825-04FC-6E51-3668-562C128E8F6F}"/>
              </a:ext>
            </a:extLst>
          </p:cNvPr>
          <p:cNvGrpSpPr/>
          <p:nvPr/>
        </p:nvGrpSpPr>
        <p:grpSpPr>
          <a:xfrm>
            <a:off x="633095" y="2276473"/>
            <a:ext cx="5129311" cy="4012568"/>
            <a:chOff x="587375" y="2276472"/>
            <a:chExt cx="5129311" cy="410527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8776C78-FF15-F30B-C724-DA5D14044B9A}"/>
                </a:ext>
              </a:extLst>
            </p:cNvPr>
            <p:cNvSpPr/>
            <p:nvPr/>
          </p:nvSpPr>
          <p:spPr>
            <a:xfrm>
              <a:off x="1009650" y="2276472"/>
              <a:ext cx="1072158" cy="761792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[1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내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·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외부 환경분석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5831806-9C7A-8FD3-7F74-72C1270A566F}"/>
                </a:ext>
              </a:extLst>
            </p:cNvPr>
            <p:cNvSpPr/>
            <p:nvPr/>
          </p:nvSpPr>
          <p:spPr>
            <a:xfrm>
              <a:off x="1009650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</a:t>
              </a: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SWOT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분석</a:t>
              </a: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 및 중장기 발전방안 초안 도출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59F854C-5011-6560-97E7-48970375E132}"/>
                </a:ext>
              </a:extLst>
            </p:cNvPr>
            <p:cNvSpPr/>
            <p:nvPr/>
          </p:nvSpPr>
          <p:spPr>
            <a:xfrm>
              <a:off x="2221275" y="2276472"/>
              <a:ext cx="1072158" cy="761792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[2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전략 도출 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W/S</a:t>
              </a:r>
              <a:endParaRPr kumimoji="1" lang="ko-KR" altLang="en-US" sz="10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8B70AC7-F1AA-EE86-2397-9C123D868F85}"/>
                </a:ext>
              </a:extLst>
            </p:cNvPr>
            <p:cNvSpPr/>
            <p:nvPr/>
          </p:nvSpPr>
          <p:spPr>
            <a:xfrm>
              <a:off x="2221275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이해관계자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계획 수립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통한 전략방향 및 발전방안 논의  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5A7A4E7-556B-3E60-57FE-CA0AD2340947}"/>
                </a:ext>
              </a:extLst>
            </p:cNvPr>
            <p:cNvSpPr/>
            <p:nvPr/>
          </p:nvSpPr>
          <p:spPr>
            <a:xfrm>
              <a:off x="3432900" y="2276472"/>
              <a:ext cx="1072158" cy="761792"/>
            </a:xfrm>
            <a:prstGeom prst="rect">
              <a:avLst/>
            </a:prstGeom>
            <a:solidFill>
              <a:srgbClr val="FF9933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[3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전략방향 설정  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D29D968-D307-24FB-1CA1-DBEA62BC60A3}"/>
                </a:ext>
              </a:extLst>
            </p:cNvPr>
            <p:cNvSpPr/>
            <p:nvPr/>
          </p:nvSpPr>
          <p:spPr>
            <a:xfrm>
              <a:off x="3432900" y="3106991"/>
              <a:ext cx="1072158" cy="15241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미션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비전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핵심 목표 등 가치체계 확정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전략과제 및 세부추진 과제 구축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" name="오른쪽 화살표 15">
              <a:extLst>
                <a:ext uri="{FF2B5EF4-FFF2-40B4-BE49-F238E27FC236}">
                  <a16:creationId xmlns:a16="http://schemas.microsoft.com/office/drawing/2014/main" id="{8517E8C7-3C4F-EE7F-4E00-7A6533AD0002}"/>
                </a:ext>
              </a:extLst>
            </p:cNvPr>
            <p:cNvSpPr/>
            <p:nvPr/>
          </p:nvSpPr>
          <p:spPr>
            <a:xfrm>
              <a:off x="2117309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13" name="오른쪽 화살표 16">
              <a:extLst>
                <a:ext uri="{FF2B5EF4-FFF2-40B4-BE49-F238E27FC236}">
                  <a16:creationId xmlns:a16="http://schemas.microsoft.com/office/drawing/2014/main" id="{85F08F2C-4793-A582-612D-CD801D6F0974}"/>
                </a:ext>
              </a:extLst>
            </p:cNvPr>
            <p:cNvSpPr/>
            <p:nvPr/>
          </p:nvSpPr>
          <p:spPr>
            <a:xfrm>
              <a:off x="3328934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1000"/>
            </a:p>
          </p:txBody>
        </p:sp>
        <p:sp>
          <p:nvSpPr>
            <p:cNvPr id="14" name="오른쪽 화살표 17">
              <a:extLst>
                <a:ext uri="{FF2B5EF4-FFF2-40B4-BE49-F238E27FC236}">
                  <a16:creationId xmlns:a16="http://schemas.microsoft.com/office/drawing/2014/main" id="{48D80B87-3573-EA43-2C74-A4096A4AAF23}"/>
                </a:ext>
              </a:extLst>
            </p:cNvPr>
            <p:cNvSpPr/>
            <p:nvPr/>
          </p:nvSpPr>
          <p:spPr>
            <a:xfrm>
              <a:off x="4540559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100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53BACA8-FE49-BE58-469D-2FB86EAA090E}"/>
                </a:ext>
              </a:extLst>
            </p:cNvPr>
            <p:cNvSpPr/>
            <p:nvPr/>
          </p:nvSpPr>
          <p:spPr>
            <a:xfrm>
              <a:off x="4644528" y="2276472"/>
              <a:ext cx="1072158" cy="761792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[4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발전방안 설정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D3B85ED-A95E-FA46-A5D4-F9BC728FB326}"/>
                </a:ext>
              </a:extLst>
            </p:cNvPr>
            <p:cNvSpPr/>
            <p:nvPr/>
          </p:nvSpPr>
          <p:spPr>
            <a:xfrm>
              <a:off x="4644528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전략방향에 따른 중장기 발전 전략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목표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피드백 및 환류체계 구축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EE90D3A2-BC25-F42B-09A6-473343F5B04E}"/>
                </a:ext>
              </a:extLst>
            </p:cNvPr>
            <p:cNvSpPr/>
            <p:nvPr/>
          </p:nvSpPr>
          <p:spPr>
            <a:xfrm>
              <a:off x="1009650" y="4699891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문헌연구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내부 연구진 회의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90C2426D-E6AA-49C9-D3B5-FB0291040DE1}"/>
                </a:ext>
              </a:extLst>
            </p:cNvPr>
            <p:cNvSpPr/>
            <p:nvPr/>
          </p:nvSpPr>
          <p:spPr>
            <a:xfrm>
              <a:off x="2221275" y="4699895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인터뷰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0594C8D2-5330-00C2-230A-3181651A75C5}"/>
                </a:ext>
              </a:extLst>
            </p:cNvPr>
            <p:cNvSpPr/>
            <p:nvPr/>
          </p:nvSpPr>
          <p:spPr>
            <a:xfrm>
              <a:off x="3432900" y="4699893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내부 연구진 회의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9B9807BE-7B36-5B0B-4111-25852311F816}"/>
                </a:ext>
              </a:extLst>
            </p:cNvPr>
            <p:cNvSpPr/>
            <p:nvPr/>
          </p:nvSpPr>
          <p:spPr>
            <a:xfrm>
              <a:off x="4644528" y="4699893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내부 연구진 회의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67A061F1-8477-3627-3B44-A86F4558C4A2}"/>
                </a:ext>
              </a:extLst>
            </p:cNvPr>
            <p:cNvSpPr/>
            <p:nvPr/>
          </p:nvSpPr>
          <p:spPr>
            <a:xfrm>
              <a:off x="1009650" y="5575183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전략방향 및 중장기 발전방안 초안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F03ED4FB-89AE-AB71-FE34-4EB20B3CDB23}"/>
                </a:ext>
              </a:extLst>
            </p:cNvPr>
            <p:cNvSpPr/>
            <p:nvPr/>
          </p:nvSpPr>
          <p:spPr>
            <a:xfrm>
              <a:off x="2221275" y="5575189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</a:t>
              </a:r>
              <a:r>
                <a:rPr kumimoji="1" lang="ko-KR" altLang="en-US" sz="900" b="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전담자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인터뷰 결과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결과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7C25A01F-C937-54CD-F346-D095B7257045}"/>
                </a:ext>
              </a:extLst>
            </p:cNvPr>
            <p:cNvSpPr/>
            <p:nvPr/>
          </p:nvSpPr>
          <p:spPr>
            <a:xfrm>
              <a:off x="3432900" y="5575185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23153405-5009-5B1C-CCE5-D42B5B2DC959}"/>
                </a:ext>
              </a:extLst>
            </p:cNvPr>
            <p:cNvSpPr/>
            <p:nvPr/>
          </p:nvSpPr>
          <p:spPr>
            <a:xfrm>
              <a:off x="4644528" y="5575185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중장기 발전방안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E2268C4-CB33-FB11-FCAA-9B63E858523A}"/>
                </a:ext>
              </a:extLst>
            </p:cNvPr>
            <p:cNvSpPr txBox="1"/>
            <p:nvPr/>
          </p:nvSpPr>
          <p:spPr>
            <a:xfrm>
              <a:off x="587375" y="2276472"/>
              <a:ext cx="314496" cy="235468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/>
            <a:p>
              <a:pPr algn="ctr" latinLnBrk="0"/>
              <a:r>
                <a:rPr lang="ko-KR" altLang="en-US" sz="1200" spc="-150" dirty="0">
                  <a:solidFill>
                    <a:prstClr val="white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추진 프로세스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1DF3ACF-B88B-2657-D2F4-745E8BB53E1F}"/>
                </a:ext>
              </a:extLst>
            </p:cNvPr>
            <p:cNvSpPr txBox="1"/>
            <p:nvPr/>
          </p:nvSpPr>
          <p:spPr>
            <a:xfrm>
              <a:off x="587375" y="5575183"/>
              <a:ext cx="314496" cy="80656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산출물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207D806-5145-17B4-694B-94AB61FF3C75}"/>
                </a:ext>
              </a:extLst>
            </p:cNvPr>
            <p:cNvSpPr txBox="1"/>
            <p:nvPr/>
          </p:nvSpPr>
          <p:spPr>
            <a:xfrm>
              <a:off x="587375" y="4699891"/>
              <a:ext cx="314496" cy="806560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방법</a:t>
              </a:r>
            </a:p>
          </p:txBody>
        </p:sp>
      </p:grpSp>
      <p:sp>
        <p:nvSpPr>
          <p:cNvPr id="148" name="사각형: 잘린 한쪽 모서리 42">
            <a:extLst>
              <a:ext uri="{FF2B5EF4-FFF2-40B4-BE49-F238E27FC236}">
                <a16:creationId xmlns:a16="http://schemas.microsoft.com/office/drawing/2014/main" id="{3EA156DB-7885-7C13-CE2C-8094569B96F6}"/>
              </a:ext>
            </a:extLst>
          </p:cNvPr>
          <p:cNvSpPr/>
          <p:nvPr/>
        </p:nvSpPr>
        <p:spPr>
          <a:xfrm flipV="1">
            <a:off x="609600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8F4BAB58-9783-EFC4-8EFE-524D9533EA0B}"/>
              </a:ext>
            </a:extLst>
          </p:cNvPr>
          <p:cNvSpPr/>
          <p:nvPr/>
        </p:nvSpPr>
        <p:spPr>
          <a:xfrm>
            <a:off x="6198317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「전략 방향」 도출결과 예시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0F3D6FB-78FF-DBBA-9CC8-B4F519F85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76473"/>
            <a:ext cx="5508625" cy="401255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7FAC89BD-A06D-CC4C-7473-F5308F705B65}"/>
              </a:ext>
            </a:extLst>
          </p:cNvPr>
          <p:cNvSpPr/>
          <p:nvPr/>
        </p:nvSpPr>
        <p:spPr>
          <a:xfrm>
            <a:off x="548909" y="861339"/>
            <a:ext cx="5275727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KTR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산업전환 공동훈련센터 운영 전략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7032C7C-8B35-2A67-7BF7-48BF862C5296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5824636" y="1073705"/>
            <a:ext cx="5735353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967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12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5275727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KTR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산업전환 공동훈련센터 운영 전략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cxnSpLocks/>
            <a:stCxn id="25" idx="3"/>
          </p:cNvCxnSpPr>
          <p:nvPr/>
        </p:nvCxnSpPr>
        <p:spPr>
          <a:xfrm>
            <a:off x="5824636" y="1073705"/>
            <a:ext cx="5735353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Ⅱ.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훈련로드맵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도출에 앞서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「운영 전략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전략방향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중장기 발전방안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」을 도출하여 전략 방향에 부합하는 훈련과정 및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비연속과정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세미나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로드맵을 설계하고자 하며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세부 계획은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D9B10182-EB3C-4735-6096-60B46D4F9D5E}"/>
              </a:ext>
            </a:extLst>
          </p:cNvPr>
          <p:cNvSpPr/>
          <p:nvPr/>
        </p:nvSpPr>
        <p:spPr>
          <a:xfrm flipV="1">
            <a:off x="587375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CD83A5-9BE8-9D8E-27C5-DFF1AA0B0B45}"/>
              </a:ext>
            </a:extLst>
          </p:cNvPr>
          <p:cNvSpPr/>
          <p:nvPr/>
        </p:nvSpPr>
        <p:spPr>
          <a:xfrm>
            <a:off x="689692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「운영 전략」 도출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148" name="사각형: 잘린 한쪽 모서리 42">
            <a:extLst>
              <a:ext uri="{FF2B5EF4-FFF2-40B4-BE49-F238E27FC236}">
                <a16:creationId xmlns:a16="http://schemas.microsoft.com/office/drawing/2014/main" id="{3EA156DB-7885-7C13-CE2C-8094569B96F6}"/>
              </a:ext>
            </a:extLst>
          </p:cNvPr>
          <p:cNvSpPr/>
          <p:nvPr/>
        </p:nvSpPr>
        <p:spPr>
          <a:xfrm flipV="1">
            <a:off x="609600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8F4BAB58-9783-EFC4-8EFE-524D9533EA0B}"/>
              </a:ext>
            </a:extLst>
          </p:cNvPr>
          <p:cNvSpPr/>
          <p:nvPr/>
        </p:nvSpPr>
        <p:spPr>
          <a:xfrm>
            <a:off x="6198317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「중장기 발전방안」 도출결과 예시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D0ECBB6-92C1-887D-72FD-267CAF82AEDF}"/>
              </a:ext>
            </a:extLst>
          </p:cNvPr>
          <p:cNvGrpSpPr/>
          <p:nvPr/>
        </p:nvGrpSpPr>
        <p:grpSpPr>
          <a:xfrm>
            <a:off x="633095" y="2276473"/>
            <a:ext cx="5129311" cy="4012568"/>
            <a:chOff x="587375" y="2276472"/>
            <a:chExt cx="5129311" cy="4105279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E2268C4-CB33-FB11-FCAA-9B63E858523A}"/>
                </a:ext>
              </a:extLst>
            </p:cNvPr>
            <p:cNvSpPr txBox="1"/>
            <p:nvPr/>
          </p:nvSpPr>
          <p:spPr>
            <a:xfrm>
              <a:off x="587375" y="2276472"/>
              <a:ext cx="314496" cy="235468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/>
            <a:p>
              <a:pPr algn="ctr" latinLnBrk="0"/>
              <a:r>
                <a:rPr lang="ko-KR" altLang="en-US" sz="1200" spc="-150" dirty="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추진 프로세스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1DF3ACF-B88B-2657-D2F4-745E8BB53E1F}"/>
                </a:ext>
              </a:extLst>
            </p:cNvPr>
            <p:cNvSpPr txBox="1"/>
            <p:nvPr/>
          </p:nvSpPr>
          <p:spPr>
            <a:xfrm>
              <a:off x="587375" y="5575183"/>
              <a:ext cx="314496" cy="80656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effectLst/>
                  <a:uLnTx/>
                  <a:uFillTx/>
                </a:rPr>
                <a:t>산출물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207D806-5145-17B4-694B-94AB61FF3C75}"/>
                </a:ext>
              </a:extLst>
            </p:cNvPr>
            <p:cNvSpPr txBox="1"/>
            <p:nvPr/>
          </p:nvSpPr>
          <p:spPr>
            <a:xfrm>
              <a:off x="587375" y="4699891"/>
              <a:ext cx="314496" cy="806560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effectLst/>
                  <a:uLnTx/>
                  <a:uFillTx/>
                </a:rPr>
                <a:t>방법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9FB25A9-C1E7-8B98-9DE1-0977A13489A0}"/>
                </a:ext>
              </a:extLst>
            </p:cNvPr>
            <p:cNvSpPr/>
            <p:nvPr/>
          </p:nvSpPr>
          <p:spPr>
            <a:xfrm>
              <a:off x="1009650" y="2276472"/>
              <a:ext cx="1072158" cy="761792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[1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내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·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외부 환경분석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4901B2A-53FC-6363-5CA9-D3336EEFDED3}"/>
                </a:ext>
              </a:extLst>
            </p:cNvPr>
            <p:cNvSpPr/>
            <p:nvPr/>
          </p:nvSpPr>
          <p:spPr>
            <a:xfrm>
              <a:off x="1009650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</a:t>
              </a: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SWOT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분석</a:t>
              </a: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 및 중장기 발전방안 초안 도출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61F4582-FF23-1963-2020-63EEF2F9C0C7}"/>
                </a:ext>
              </a:extLst>
            </p:cNvPr>
            <p:cNvSpPr/>
            <p:nvPr/>
          </p:nvSpPr>
          <p:spPr>
            <a:xfrm>
              <a:off x="2221275" y="2276472"/>
              <a:ext cx="1072158" cy="761792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[2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전략 도출 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W/S</a:t>
              </a:r>
              <a:endParaRPr kumimoji="1" lang="ko-KR" altLang="en-US" sz="10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688E8EE-73F8-ACD8-1689-D2AAE8CCF2E4}"/>
                </a:ext>
              </a:extLst>
            </p:cNvPr>
            <p:cNvSpPr/>
            <p:nvPr/>
          </p:nvSpPr>
          <p:spPr>
            <a:xfrm>
              <a:off x="2221275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이해관계자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계획 수립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통한 전략방향 및 발전방안 논의  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0594309-E701-1813-29BA-216CE4F3367E}"/>
                </a:ext>
              </a:extLst>
            </p:cNvPr>
            <p:cNvSpPr/>
            <p:nvPr/>
          </p:nvSpPr>
          <p:spPr>
            <a:xfrm>
              <a:off x="3432900" y="2276472"/>
              <a:ext cx="1072158" cy="761792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[3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전략방향 설정  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B8AFEAE-5091-EE94-6EAF-868DCAE4C60E}"/>
                </a:ext>
              </a:extLst>
            </p:cNvPr>
            <p:cNvSpPr/>
            <p:nvPr/>
          </p:nvSpPr>
          <p:spPr>
            <a:xfrm>
              <a:off x="3432900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미션</a:t>
              </a: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비전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핵심 목표 등 가치체계 확정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전략과제 및 세부추진 과제 구축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" name="오른쪽 화살표 15">
              <a:extLst>
                <a:ext uri="{FF2B5EF4-FFF2-40B4-BE49-F238E27FC236}">
                  <a16:creationId xmlns:a16="http://schemas.microsoft.com/office/drawing/2014/main" id="{B3DC92F7-D973-752D-1B9B-CA0A4C106ABF}"/>
                </a:ext>
              </a:extLst>
            </p:cNvPr>
            <p:cNvSpPr/>
            <p:nvPr/>
          </p:nvSpPr>
          <p:spPr>
            <a:xfrm>
              <a:off x="2117309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/>
            </a:p>
          </p:txBody>
        </p:sp>
        <p:sp>
          <p:nvSpPr>
            <p:cNvPr id="31" name="오른쪽 화살표 16">
              <a:extLst>
                <a:ext uri="{FF2B5EF4-FFF2-40B4-BE49-F238E27FC236}">
                  <a16:creationId xmlns:a16="http://schemas.microsoft.com/office/drawing/2014/main" id="{EF25B7F1-DBD6-6898-C837-5ED9C426662E}"/>
                </a:ext>
              </a:extLst>
            </p:cNvPr>
            <p:cNvSpPr/>
            <p:nvPr/>
          </p:nvSpPr>
          <p:spPr>
            <a:xfrm>
              <a:off x="3328934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/>
            </a:p>
          </p:txBody>
        </p:sp>
        <p:sp>
          <p:nvSpPr>
            <p:cNvPr id="32" name="오른쪽 화살표 17">
              <a:extLst>
                <a:ext uri="{FF2B5EF4-FFF2-40B4-BE49-F238E27FC236}">
                  <a16:creationId xmlns:a16="http://schemas.microsoft.com/office/drawing/2014/main" id="{EE08217E-4EB8-62F3-2B4D-1F814C770705}"/>
                </a:ext>
              </a:extLst>
            </p:cNvPr>
            <p:cNvSpPr/>
            <p:nvPr/>
          </p:nvSpPr>
          <p:spPr>
            <a:xfrm>
              <a:off x="4540559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1F40298-1200-4063-924E-0C9D200C7A29}"/>
                </a:ext>
              </a:extLst>
            </p:cNvPr>
            <p:cNvSpPr/>
            <p:nvPr/>
          </p:nvSpPr>
          <p:spPr>
            <a:xfrm>
              <a:off x="4644528" y="2276472"/>
              <a:ext cx="1072158" cy="761792"/>
            </a:xfrm>
            <a:prstGeom prst="rect">
              <a:avLst/>
            </a:prstGeom>
            <a:solidFill>
              <a:srgbClr val="FF9933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[4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발전방안 설정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6B71B84-96D9-1AD5-B02F-6A6E6ACE6CCB}"/>
                </a:ext>
              </a:extLst>
            </p:cNvPr>
            <p:cNvSpPr/>
            <p:nvPr/>
          </p:nvSpPr>
          <p:spPr>
            <a:xfrm>
              <a:off x="4644528" y="3106991"/>
              <a:ext cx="1072158" cy="15241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전략방향에 따른 중장기 발전 전략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목표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피드백 및 환류체계 구축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E5C2D31-BF13-9BC9-9A7F-8DA1DF3CCBF3}"/>
                </a:ext>
              </a:extLst>
            </p:cNvPr>
            <p:cNvSpPr/>
            <p:nvPr/>
          </p:nvSpPr>
          <p:spPr>
            <a:xfrm>
              <a:off x="1009650" y="4699891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문헌연구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내부 연구진 회의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303B614-1E82-2852-DFD3-CAFAB7C5D12E}"/>
                </a:ext>
              </a:extLst>
            </p:cNvPr>
            <p:cNvSpPr/>
            <p:nvPr/>
          </p:nvSpPr>
          <p:spPr>
            <a:xfrm>
              <a:off x="2221275" y="4699895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인터뷰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98F15EE-B2D2-A97C-04A8-C3E9B388FA82}"/>
                </a:ext>
              </a:extLst>
            </p:cNvPr>
            <p:cNvSpPr/>
            <p:nvPr/>
          </p:nvSpPr>
          <p:spPr>
            <a:xfrm>
              <a:off x="3432900" y="4699893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내부 연구진 회의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81626AC-FADB-C10C-3E02-FBF8010E3F12}"/>
                </a:ext>
              </a:extLst>
            </p:cNvPr>
            <p:cNvSpPr/>
            <p:nvPr/>
          </p:nvSpPr>
          <p:spPr>
            <a:xfrm>
              <a:off x="4644528" y="4699893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내부 연구진 회의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AD94D80-0A3D-29D0-E69B-AA45E901CD48}"/>
                </a:ext>
              </a:extLst>
            </p:cNvPr>
            <p:cNvSpPr/>
            <p:nvPr/>
          </p:nvSpPr>
          <p:spPr>
            <a:xfrm>
              <a:off x="1009650" y="5575183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전략방향 및 중장기 발전방안 초안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FA3E54E-3603-FB45-E1DF-96ED6B5BAC00}"/>
                </a:ext>
              </a:extLst>
            </p:cNvPr>
            <p:cNvSpPr/>
            <p:nvPr/>
          </p:nvSpPr>
          <p:spPr>
            <a:xfrm>
              <a:off x="2221275" y="5575189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</a:t>
              </a:r>
              <a:r>
                <a:rPr kumimoji="1" lang="ko-KR" altLang="en-US" sz="900" b="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전담자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인터뷰 결과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결과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1E45A22-BD6B-A92C-BAD1-62BFCF2B3E0F}"/>
                </a:ext>
              </a:extLst>
            </p:cNvPr>
            <p:cNvSpPr/>
            <p:nvPr/>
          </p:nvSpPr>
          <p:spPr>
            <a:xfrm>
              <a:off x="3432900" y="5575185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14C14C4-0B65-4875-F88D-33F7C4740D3E}"/>
                </a:ext>
              </a:extLst>
            </p:cNvPr>
            <p:cNvSpPr/>
            <p:nvPr/>
          </p:nvSpPr>
          <p:spPr>
            <a:xfrm>
              <a:off x="4644528" y="5575185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중장기 발전방안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244" name="그림 243">
            <a:extLst>
              <a:ext uri="{FF2B5EF4-FFF2-40B4-BE49-F238E27FC236}">
                <a16:creationId xmlns:a16="http://schemas.microsoft.com/office/drawing/2014/main" id="{04E75356-24F1-E68E-07E0-26183DC3A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2276473"/>
            <a:ext cx="5791200" cy="401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13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13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6729919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KTR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산업전환 공동훈련센터 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5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개년도 훈련과정 로드맵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7278828" y="1073705"/>
            <a:ext cx="4281161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Ⅱ.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「운영 전략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전략방향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중장기 발전방안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」과 내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·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외부환경분석 결과를 기반으로 전문가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W/S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을 통해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훈련체계를 수립하고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로드맵을 다음과 같이 도출할 계획임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D9B10182-EB3C-4735-6096-60B46D4F9D5E}"/>
              </a:ext>
            </a:extLst>
          </p:cNvPr>
          <p:cNvSpPr/>
          <p:nvPr/>
        </p:nvSpPr>
        <p:spPr>
          <a:xfrm flipV="1">
            <a:off x="59885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CD83A5-9BE8-9D8E-27C5-DFF1AA0B0B45}"/>
              </a:ext>
            </a:extLst>
          </p:cNvPr>
          <p:cNvSpPr/>
          <p:nvPr/>
        </p:nvSpPr>
        <p:spPr>
          <a:xfrm>
            <a:off x="701167" y="1848777"/>
            <a:ext cx="57728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로드맵」 도출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80FF8-30CB-C287-0146-89175862C2EE}"/>
              </a:ext>
            </a:extLst>
          </p:cNvPr>
          <p:cNvSpPr txBox="1"/>
          <p:nvPr/>
        </p:nvSpPr>
        <p:spPr>
          <a:xfrm>
            <a:off x="633095" y="2276473"/>
            <a:ext cx="314496" cy="2301511"/>
          </a:xfrm>
          <a:prstGeom prst="snip2DiagRect">
            <a:avLst/>
          </a:prstGeom>
          <a:solidFill>
            <a:srgbClr val="0070C0"/>
          </a:solidFill>
        </p:spPr>
        <p:txBody>
          <a:bodyPr vert="wordArtVertRtl" wrap="square" lIns="36000" tIns="0" rIns="36000" bIns="0" rtlCol="0">
            <a:spAutoFit/>
          </a:bodyPr>
          <a:lstStyle/>
          <a:p>
            <a:pPr algn="ctr" latinLnBrk="0"/>
            <a:r>
              <a:rPr lang="ko-KR" altLang="en-US" sz="1200" spc="-15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추진 프로세스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DF7C3-9916-2CED-500E-7F554BEC57F8}"/>
              </a:ext>
            </a:extLst>
          </p:cNvPr>
          <p:cNvSpPr txBox="1"/>
          <p:nvPr/>
        </p:nvSpPr>
        <p:spPr>
          <a:xfrm>
            <a:off x="633095" y="5500688"/>
            <a:ext cx="314496" cy="788353"/>
          </a:xfrm>
          <a:prstGeom prst="snip2DiagRect">
            <a:avLst/>
          </a:prstGeom>
          <a:solidFill>
            <a:srgbClr val="0070C0"/>
          </a:solidFill>
        </p:spPr>
        <p:txBody>
          <a:bodyPr vert="wordArtVertRtl" wrap="square" lIns="36000" tIns="0" rIns="36000" bIns="0" rtlCol="0">
            <a:spAutoFit/>
          </a:bodyPr>
          <a:lstStyle>
            <a:defPPr>
              <a:defRPr lang="ko-KR"/>
            </a:defPPr>
            <a:lvl1pPr algn="ctr">
              <a:defRPr sz="1200" spc="-15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</a:rPr>
              <a:t>산출물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2F66F-BDAC-FAF6-DD22-6C2315A0E0F4}"/>
              </a:ext>
            </a:extLst>
          </p:cNvPr>
          <p:cNvSpPr txBox="1"/>
          <p:nvPr/>
        </p:nvSpPr>
        <p:spPr>
          <a:xfrm>
            <a:off x="633095" y="4645163"/>
            <a:ext cx="314496" cy="788345"/>
          </a:xfrm>
          <a:prstGeom prst="snip2DiagRect">
            <a:avLst/>
          </a:prstGeom>
          <a:solidFill>
            <a:srgbClr val="0070C0"/>
          </a:solidFill>
        </p:spPr>
        <p:txBody>
          <a:bodyPr vert="wordArtVertRtl" wrap="square" lIns="36000" tIns="0" rIns="36000" bIns="0" rtlCol="0">
            <a:spAutoFit/>
          </a:bodyPr>
          <a:lstStyle>
            <a:defPPr>
              <a:defRPr lang="ko-KR"/>
            </a:defPPr>
            <a:lvl1pPr algn="ctr">
              <a:defRPr sz="1200" spc="-15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</a:rPr>
              <a:t>방법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8171537-45B0-D2DD-3444-16B78B947732}"/>
              </a:ext>
            </a:extLst>
          </p:cNvPr>
          <p:cNvGrpSpPr/>
          <p:nvPr/>
        </p:nvGrpSpPr>
        <p:grpSpPr>
          <a:xfrm>
            <a:off x="1055370" y="2276473"/>
            <a:ext cx="4707036" cy="4012566"/>
            <a:chOff x="273050" y="4978067"/>
            <a:chExt cx="4572000" cy="213427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BA8E7A8-6E87-F1BC-0831-F9C8385BF5A0}"/>
                </a:ext>
              </a:extLst>
            </p:cNvPr>
            <p:cNvSpPr/>
            <p:nvPr/>
          </p:nvSpPr>
          <p:spPr>
            <a:xfrm>
              <a:off x="273050" y="4978067"/>
              <a:ext cx="1041400" cy="396044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>
                <a:lnSpc>
                  <a:spcPct val="90000"/>
                </a:lnSpc>
              </a:pP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[1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>
                <a:lnSpc>
                  <a:spcPct val="90000"/>
                </a:lnSpc>
              </a:pP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훈련과정 로드맵 초안 도출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4A8831C-DFA6-5E68-60ED-14A6F049C919}"/>
                </a:ext>
              </a:extLst>
            </p:cNvPr>
            <p:cNvSpPr/>
            <p:nvPr/>
          </p:nvSpPr>
          <p:spPr>
            <a:xfrm>
              <a:off x="273050" y="5409841"/>
              <a:ext cx="1041400" cy="79239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훈련체계 시사점 도출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운영전략에 따른 시사점 도출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훈련체계 초안 개발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AB457D6-E1C1-F246-F839-680B2647B793}"/>
                </a:ext>
              </a:extLst>
            </p:cNvPr>
            <p:cNvSpPr/>
            <p:nvPr/>
          </p:nvSpPr>
          <p:spPr>
            <a:xfrm>
              <a:off x="1449916" y="4978067"/>
              <a:ext cx="1041400" cy="396044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>
                <a:lnSpc>
                  <a:spcPct val="90000"/>
                </a:lnSpc>
              </a:pP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[2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>
                <a:lnSpc>
                  <a:spcPct val="90000"/>
                </a:lnSpc>
              </a:pPr>
              <a:r>
                <a:rPr kumimoji="1" lang="ko-KR" altLang="en-US" sz="105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훈련로드맵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 개발 </a:t>
              </a:r>
              <a:endParaRPr kumimoji="1" lang="en-US" altLang="ko-KR" sz="10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  <a:p>
              <a:pPr latinLnBrk="0">
                <a:lnSpc>
                  <a:spcPct val="90000"/>
                </a:lnSpc>
              </a:pP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1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차 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W/S 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12AF94E-CC3C-058F-6267-D7F90DE1C58D}"/>
                </a:ext>
              </a:extLst>
            </p:cNvPr>
            <p:cNvSpPr/>
            <p:nvPr/>
          </p:nvSpPr>
          <p:spPr>
            <a:xfrm>
              <a:off x="1449916" y="5409841"/>
              <a:ext cx="1041400" cy="79239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전문가 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통한 훈련체계 설계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훈련과정 유형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진행 단계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산업분류체계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훈련내용 수준에 따른 </a:t>
              </a:r>
              <a:r>
                <a:rPr kumimoji="1" lang="ko-KR" altLang="en-US" sz="900" b="1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훈련로드맵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체계 수립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F7FF4EF-60E3-56CA-A36F-5499E25908F4}"/>
                </a:ext>
              </a:extLst>
            </p:cNvPr>
            <p:cNvSpPr/>
            <p:nvPr/>
          </p:nvSpPr>
          <p:spPr>
            <a:xfrm>
              <a:off x="2626782" y="4978067"/>
              <a:ext cx="1041400" cy="396044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>
                <a:lnSpc>
                  <a:spcPct val="90000"/>
                </a:lnSpc>
              </a:pP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[3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>
                <a:lnSpc>
                  <a:spcPct val="90000"/>
                </a:lnSpc>
              </a:pPr>
              <a:r>
                <a:rPr kumimoji="1" lang="ko-KR" altLang="en-US" sz="105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훈련로드맵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 개발 </a:t>
              </a:r>
              <a:endParaRPr kumimoji="1" lang="en-US" altLang="ko-KR" sz="10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  <a:p>
              <a:pPr latinLnBrk="0">
                <a:lnSpc>
                  <a:spcPct val="90000"/>
                </a:lnSpc>
              </a:pP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2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차 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W/S 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3B29D09-D0A0-9E78-E706-DA722B1D4B52}"/>
                </a:ext>
              </a:extLst>
            </p:cNvPr>
            <p:cNvSpPr/>
            <p:nvPr/>
          </p:nvSpPr>
          <p:spPr>
            <a:xfrm>
              <a:off x="2626782" y="5409841"/>
              <a:ext cx="1041400" cy="7923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친환경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화학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·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바이오 분야 산업 트렌드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기술 동향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협약기업 수요 조사를 통한 훈련과정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안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도출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훈련체계에 따른 훈련과정 설계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오른쪽 화살표 15">
              <a:extLst>
                <a:ext uri="{FF2B5EF4-FFF2-40B4-BE49-F238E27FC236}">
                  <a16:creationId xmlns:a16="http://schemas.microsoft.com/office/drawing/2014/main" id="{D033FBCB-B9CF-7030-9E06-0C86B1E52864}"/>
                </a:ext>
              </a:extLst>
            </p:cNvPr>
            <p:cNvSpPr/>
            <p:nvPr/>
          </p:nvSpPr>
          <p:spPr>
            <a:xfrm>
              <a:off x="1348932" y="5052341"/>
              <a:ext cx="66502" cy="252028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오른쪽 화살표 16">
              <a:extLst>
                <a:ext uri="{FF2B5EF4-FFF2-40B4-BE49-F238E27FC236}">
                  <a16:creationId xmlns:a16="http://schemas.microsoft.com/office/drawing/2014/main" id="{7D3B913B-21ED-A309-FC3A-648E67AB5BD9}"/>
                </a:ext>
              </a:extLst>
            </p:cNvPr>
            <p:cNvSpPr/>
            <p:nvPr/>
          </p:nvSpPr>
          <p:spPr>
            <a:xfrm>
              <a:off x="2525798" y="5052341"/>
              <a:ext cx="66502" cy="252028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오른쪽 화살표 17">
              <a:extLst>
                <a:ext uri="{FF2B5EF4-FFF2-40B4-BE49-F238E27FC236}">
                  <a16:creationId xmlns:a16="http://schemas.microsoft.com/office/drawing/2014/main" id="{B875003C-0BA0-6089-1BF4-E93142A1EE52}"/>
                </a:ext>
              </a:extLst>
            </p:cNvPr>
            <p:cNvSpPr/>
            <p:nvPr/>
          </p:nvSpPr>
          <p:spPr>
            <a:xfrm>
              <a:off x="3702664" y="5052341"/>
              <a:ext cx="66502" cy="252028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53CF755-5D7D-6EE7-1657-59A92E3F94B5}"/>
                </a:ext>
              </a:extLst>
            </p:cNvPr>
            <p:cNvSpPr/>
            <p:nvPr/>
          </p:nvSpPr>
          <p:spPr>
            <a:xfrm>
              <a:off x="3803650" y="4978067"/>
              <a:ext cx="1041400" cy="396044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>
                <a:lnSpc>
                  <a:spcPct val="90000"/>
                </a:lnSpc>
              </a:pP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[4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>
                <a:lnSpc>
                  <a:spcPct val="90000"/>
                </a:lnSpc>
              </a:pP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훈련과정 로드맵 개발 및 검증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C230B12-1902-515E-A798-9E8BB0287737}"/>
                </a:ext>
              </a:extLst>
            </p:cNvPr>
            <p:cNvSpPr/>
            <p:nvPr/>
          </p:nvSpPr>
          <p:spPr>
            <a:xfrm>
              <a:off x="3803650" y="5409841"/>
              <a:ext cx="1041400" cy="7923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전략방향에 따른 훈련과정 로드맵 개발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훈련과정 로드맵 검증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A015A79-DC2B-6489-104D-E27A85552E0C}"/>
                </a:ext>
              </a:extLst>
            </p:cNvPr>
            <p:cNvSpPr/>
            <p:nvPr/>
          </p:nvSpPr>
          <p:spPr>
            <a:xfrm>
              <a:off x="273050" y="6237965"/>
              <a:ext cx="1041400" cy="41931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문헌연구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내부 연구진 회의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0ADDACB-9B04-E1DF-F9A9-72136681AA5F}"/>
                </a:ext>
              </a:extLst>
            </p:cNvPr>
            <p:cNvSpPr/>
            <p:nvPr/>
          </p:nvSpPr>
          <p:spPr>
            <a:xfrm>
              <a:off x="1449916" y="6237967"/>
              <a:ext cx="1041400" cy="41931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전문가 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서면검토</a:t>
              </a:r>
              <a:b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AD3F9B5-1AF1-8C9C-09A6-9F6E5BE08FB4}"/>
                </a:ext>
              </a:extLst>
            </p:cNvPr>
            <p:cNvSpPr/>
            <p:nvPr/>
          </p:nvSpPr>
          <p:spPr>
            <a:xfrm>
              <a:off x="2626782" y="6237966"/>
              <a:ext cx="1041400" cy="419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전문가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서면검토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B25C183-71EE-BA89-AF40-F3107632881C}"/>
                </a:ext>
              </a:extLst>
            </p:cNvPr>
            <p:cNvSpPr/>
            <p:nvPr/>
          </p:nvSpPr>
          <p:spPr>
            <a:xfrm>
              <a:off x="3803650" y="6237966"/>
              <a:ext cx="1041400" cy="419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간담회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내부 연구진 회의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FBA9E835-D7A1-1536-15D9-D23DDB242596}"/>
                </a:ext>
              </a:extLst>
            </p:cNvPr>
            <p:cNvSpPr/>
            <p:nvPr/>
          </p:nvSpPr>
          <p:spPr>
            <a:xfrm>
              <a:off x="273050" y="6693016"/>
              <a:ext cx="1041400" cy="41931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훈련체계 초안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B76050D-B17E-E596-2F19-04E448A897C4}"/>
                </a:ext>
              </a:extLst>
            </p:cNvPr>
            <p:cNvSpPr/>
            <p:nvPr/>
          </p:nvSpPr>
          <p:spPr>
            <a:xfrm>
              <a:off x="1449916" y="6693019"/>
              <a:ext cx="1041400" cy="41931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훈련과정 로드맵 구성체계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1C7D768-3B5D-CF0D-4350-EE333510ABC2}"/>
                </a:ext>
              </a:extLst>
            </p:cNvPr>
            <p:cNvSpPr/>
            <p:nvPr/>
          </p:nvSpPr>
          <p:spPr>
            <a:xfrm>
              <a:off x="2626782" y="6693017"/>
              <a:ext cx="1041400" cy="419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훈련과정 로드맵 구성체계별 훈련과정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안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D6AEB40D-6940-A338-97FE-617347F941C4}"/>
                </a:ext>
              </a:extLst>
            </p:cNvPr>
            <p:cNvSpPr/>
            <p:nvPr/>
          </p:nvSpPr>
          <p:spPr>
            <a:xfrm>
              <a:off x="3803650" y="6693017"/>
              <a:ext cx="1041400" cy="419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개년도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훈련과정 로드맵 최종안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6E53ADB6-F493-98D5-893B-3834C82EE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614" y="2276473"/>
            <a:ext cx="5398375" cy="4089878"/>
          </a:xfrm>
          <a:prstGeom prst="rect">
            <a:avLst/>
          </a:prstGeom>
        </p:spPr>
      </p:pic>
      <p:sp>
        <p:nvSpPr>
          <p:cNvPr id="39" name="사각형: 잘린 한쪽 모서리 42">
            <a:extLst>
              <a:ext uri="{FF2B5EF4-FFF2-40B4-BE49-F238E27FC236}">
                <a16:creationId xmlns:a16="http://schemas.microsoft.com/office/drawing/2014/main" id="{3276D6DD-8FF4-45E3-0786-95F5D73EA2D8}"/>
              </a:ext>
            </a:extLst>
          </p:cNvPr>
          <p:cNvSpPr/>
          <p:nvPr/>
        </p:nvSpPr>
        <p:spPr>
          <a:xfrm flipV="1">
            <a:off x="609600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5BAB2A-C414-103F-8E91-E7152802D8A2}"/>
              </a:ext>
            </a:extLst>
          </p:cNvPr>
          <p:cNvSpPr/>
          <p:nvPr/>
        </p:nvSpPr>
        <p:spPr>
          <a:xfrm>
            <a:off x="6198317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「훈련과정 체계수립」 예시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7768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14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6729919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FF6600"/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1.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FF6600"/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수행방안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FF6600"/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_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FF6600"/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KTR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FF6600"/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산업전환 공동훈련센터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FF6600"/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5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FF6600"/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개년도 훈련과정 로드맵</a:t>
            </a:r>
            <a:endParaRPr kumimoji="0" lang="en-US" altLang="ko-KR" sz="2400" b="0" i="0" u="none" strike="noStrike" kern="120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FF6600"/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7278828" y="1073705"/>
            <a:ext cx="4281161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Ⅱ.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「운영 전략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전략방향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중장기 발전방안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」과 내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·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외부환경분석 결과를 기반으로 전문가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W/S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을 통해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훈련체계를 수립하고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로드맵을 다음과 같이 도출할 계획임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D9B10182-EB3C-4735-6096-60B46D4F9D5E}"/>
              </a:ext>
            </a:extLst>
          </p:cNvPr>
          <p:cNvSpPr/>
          <p:nvPr/>
        </p:nvSpPr>
        <p:spPr>
          <a:xfrm flipV="1">
            <a:off x="59885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CD83A5-9BE8-9D8E-27C5-DFF1AA0B0B45}"/>
              </a:ext>
            </a:extLst>
          </p:cNvPr>
          <p:cNvSpPr/>
          <p:nvPr/>
        </p:nvSpPr>
        <p:spPr>
          <a:xfrm>
            <a:off x="701167" y="1848777"/>
            <a:ext cx="57728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로드맵」 도출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52361E13-B55B-2D67-038C-48081686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198" y="2276472"/>
            <a:ext cx="5416791" cy="4057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880FF8-30CB-C287-0146-89175862C2EE}"/>
              </a:ext>
            </a:extLst>
          </p:cNvPr>
          <p:cNvSpPr txBox="1"/>
          <p:nvPr/>
        </p:nvSpPr>
        <p:spPr>
          <a:xfrm>
            <a:off x="633095" y="2276473"/>
            <a:ext cx="314496" cy="2301511"/>
          </a:xfrm>
          <a:prstGeom prst="snip2DiagRect">
            <a:avLst/>
          </a:prstGeom>
          <a:solidFill>
            <a:srgbClr val="0070C0"/>
          </a:solidFill>
        </p:spPr>
        <p:txBody>
          <a:bodyPr vert="wordArtVertRtl" wrap="square" lIns="36000" tIns="0" rIns="36000" bIns="0" rtlCol="0">
            <a:spAutoFit/>
          </a:bodyPr>
          <a:lstStyle/>
          <a:p>
            <a:pPr algn="ctr" latinLnBrk="0"/>
            <a:r>
              <a:rPr lang="ko-KR" altLang="en-US" sz="1200" spc="-15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추진 프로세스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DF7C3-9916-2CED-500E-7F554BEC57F8}"/>
              </a:ext>
            </a:extLst>
          </p:cNvPr>
          <p:cNvSpPr txBox="1"/>
          <p:nvPr/>
        </p:nvSpPr>
        <p:spPr>
          <a:xfrm>
            <a:off x="633095" y="5500688"/>
            <a:ext cx="314496" cy="788353"/>
          </a:xfrm>
          <a:prstGeom prst="snip2DiagRect">
            <a:avLst/>
          </a:prstGeom>
          <a:solidFill>
            <a:srgbClr val="0070C0"/>
          </a:solidFill>
        </p:spPr>
        <p:txBody>
          <a:bodyPr vert="wordArtVertRtl" wrap="square" lIns="36000" tIns="0" rIns="36000" bIns="0" rtlCol="0">
            <a:spAutoFit/>
          </a:bodyPr>
          <a:lstStyle>
            <a:defPPr>
              <a:defRPr lang="ko-KR"/>
            </a:defPPr>
            <a:lvl1pPr algn="ctr">
              <a:defRPr sz="1200" spc="-15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</a:rPr>
              <a:t>산출물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2F66F-BDAC-FAF6-DD22-6C2315A0E0F4}"/>
              </a:ext>
            </a:extLst>
          </p:cNvPr>
          <p:cNvSpPr txBox="1"/>
          <p:nvPr/>
        </p:nvSpPr>
        <p:spPr>
          <a:xfrm>
            <a:off x="633095" y="4645163"/>
            <a:ext cx="314496" cy="788345"/>
          </a:xfrm>
          <a:prstGeom prst="snip2DiagRect">
            <a:avLst/>
          </a:prstGeom>
          <a:solidFill>
            <a:srgbClr val="0070C0"/>
          </a:solidFill>
        </p:spPr>
        <p:txBody>
          <a:bodyPr vert="wordArtVertRtl" wrap="square" lIns="36000" tIns="0" rIns="36000" bIns="0" rtlCol="0">
            <a:spAutoFit/>
          </a:bodyPr>
          <a:lstStyle>
            <a:defPPr>
              <a:defRPr lang="ko-KR"/>
            </a:defPPr>
            <a:lvl1pPr algn="ctr">
              <a:defRPr sz="1200" spc="-15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</a:rPr>
              <a:t>방법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5C96F7E-17DA-332B-29C0-C5A9957FED20}"/>
              </a:ext>
            </a:extLst>
          </p:cNvPr>
          <p:cNvGrpSpPr/>
          <p:nvPr/>
        </p:nvGrpSpPr>
        <p:grpSpPr>
          <a:xfrm>
            <a:off x="1055370" y="2276473"/>
            <a:ext cx="4707036" cy="4012566"/>
            <a:chOff x="273050" y="4978067"/>
            <a:chExt cx="4572000" cy="213427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172E57B-84D4-C1CB-5EA3-EBA4CA4FAC41}"/>
                </a:ext>
              </a:extLst>
            </p:cNvPr>
            <p:cNvSpPr/>
            <p:nvPr/>
          </p:nvSpPr>
          <p:spPr>
            <a:xfrm>
              <a:off x="273050" y="4978067"/>
              <a:ext cx="1041400" cy="396044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>
                <a:lnSpc>
                  <a:spcPct val="90000"/>
                </a:lnSpc>
              </a:pP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</a:t>
              </a:r>
              <a:r>
                <a:rPr kumimoji="1" lang="en-US" altLang="ko-KR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1</a:t>
              </a:r>
              <a:r>
                <a:rPr kumimoji="1" lang="ko-KR" altLang="en-US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>
                <a:lnSpc>
                  <a:spcPct val="90000"/>
                </a:lnSpc>
              </a:pP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훈련과정 로드맵 초안 도출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7B57579-3C28-1F73-7B15-8D484CEC7AB8}"/>
                </a:ext>
              </a:extLst>
            </p:cNvPr>
            <p:cNvSpPr/>
            <p:nvPr/>
          </p:nvSpPr>
          <p:spPr>
            <a:xfrm>
              <a:off x="273050" y="5409841"/>
              <a:ext cx="1041400" cy="7923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훈련체계 시사점 도출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운영전략에 따른 시사점 도출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훈련체계 초안 개발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7D734B4-4E9C-40DF-51C3-363E8EC686CE}"/>
                </a:ext>
              </a:extLst>
            </p:cNvPr>
            <p:cNvSpPr/>
            <p:nvPr/>
          </p:nvSpPr>
          <p:spPr>
            <a:xfrm>
              <a:off x="1449916" y="4978067"/>
              <a:ext cx="1041400" cy="396044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>
                <a:lnSpc>
                  <a:spcPct val="90000"/>
                </a:lnSpc>
              </a:pP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[2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>
                <a:lnSpc>
                  <a:spcPct val="90000"/>
                </a:lnSpc>
              </a:pPr>
              <a:r>
                <a:rPr kumimoji="1" lang="ko-KR" altLang="en-US" sz="105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훈련로드맵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 개발 </a:t>
              </a:r>
              <a:endParaRPr kumimoji="1" lang="en-US" altLang="ko-KR" sz="10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  <a:p>
              <a:pPr latinLnBrk="0">
                <a:lnSpc>
                  <a:spcPct val="90000"/>
                </a:lnSpc>
              </a:pP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1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차 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W/S 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638BA9B3-CFEC-DD19-E54B-B28EAA441681}"/>
                </a:ext>
              </a:extLst>
            </p:cNvPr>
            <p:cNvSpPr/>
            <p:nvPr/>
          </p:nvSpPr>
          <p:spPr>
            <a:xfrm>
              <a:off x="1449916" y="5409841"/>
              <a:ext cx="1041400" cy="792392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전문가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통한 훈련체계 설계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훈련과정 유형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진행 단계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산업분류체계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훈련내용 수준에 따른 </a:t>
              </a:r>
              <a:r>
                <a:rPr kumimoji="1" lang="ko-KR" altLang="en-US" sz="9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훈련로드맵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체계 수립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7B319A5-CEBD-4E37-6A4B-3DDD958811E5}"/>
                </a:ext>
              </a:extLst>
            </p:cNvPr>
            <p:cNvSpPr/>
            <p:nvPr/>
          </p:nvSpPr>
          <p:spPr>
            <a:xfrm>
              <a:off x="2626782" y="4978067"/>
              <a:ext cx="1041400" cy="396044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>
                <a:lnSpc>
                  <a:spcPct val="90000"/>
                </a:lnSpc>
              </a:pP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[3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>
                <a:lnSpc>
                  <a:spcPct val="90000"/>
                </a:lnSpc>
              </a:pPr>
              <a:r>
                <a:rPr kumimoji="1" lang="ko-KR" altLang="en-US" sz="105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훈련로드맵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 개발 </a:t>
              </a:r>
              <a:endParaRPr kumimoji="1" lang="en-US" altLang="ko-KR" sz="10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  <a:p>
              <a:pPr latinLnBrk="0">
                <a:lnSpc>
                  <a:spcPct val="90000"/>
                </a:lnSpc>
              </a:pP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2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차 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W/S 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CAD7F80-DE69-F33E-80FB-9B8663722173}"/>
                </a:ext>
              </a:extLst>
            </p:cNvPr>
            <p:cNvSpPr/>
            <p:nvPr/>
          </p:nvSpPr>
          <p:spPr>
            <a:xfrm>
              <a:off x="2626782" y="5409841"/>
              <a:ext cx="1041400" cy="79239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친환경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화학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·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바이오 분야 산업 트렌드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기술 동향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협약기업 수요 조사를 통한 훈련과정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안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도출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훈련체계에 따른 훈련과정 설계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오른쪽 화살표 15">
              <a:extLst>
                <a:ext uri="{FF2B5EF4-FFF2-40B4-BE49-F238E27FC236}">
                  <a16:creationId xmlns:a16="http://schemas.microsoft.com/office/drawing/2014/main" id="{D6268995-5648-7E62-C233-2DE6F283EC64}"/>
                </a:ext>
              </a:extLst>
            </p:cNvPr>
            <p:cNvSpPr/>
            <p:nvPr/>
          </p:nvSpPr>
          <p:spPr>
            <a:xfrm>
              <a:off x="1348932" y="5052341"/>
              <a:ext cx="66502" cy="252028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6" name="오른쪽 화살표 16">
              <a:extLst>
                <a:ext uri="{FF2B5EF4-FFF2-40B4-BE49-F238E27FC236}">
                  <a16:creationId xmlns:a16="http://schemas.microsoft.com/office/drawing/2014/main" id="{03C6D044-FE6F-4046-5AA2-05192C70FD23}"/>
                </a:ext>
              </a:extLst>
            </p:cNvPr>
            <p:cNvSpPr/>
            <p:nvPr/>
          </p:nvSpPr>
          <p:spPr>
            <a:xfrm>
              <a:off x="2525798" y="5052341"/>
              <a:ext cx="66502" cy="252028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7" name="오른쪽 화살표 17">
              <a:extLst>
                <a:ext uri="{FF2B5EF4-FFF2-40B4-BE49-F238E27FC236}">
                  <a16:creationId xmlns:a16="http://schemas.microsoft.com/office/drawing/2014/main" id="{40DF78FC-9FD5-472C-6C19-FAAA19D6B216}"/>
                </a:ext>
              </a:extLst>
            </p:cNvPr>
            <p:cNvSpPr/>
            <p:nvPr/>
          </p:nvSpPr>
          <p:spPr>
            <a:xfrm>
              <a:off x="3702664" y="5052341"/>
              <a:ext cx="66502" cy="252028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A265096-60FF-3AFD-367E-4FF9EEC83B4E}"/>
                </a:ext>
              </a:extLst>
            </p:cNvPr>
            <p:cNvSpPr/>
            <p:nvPr/>
          </p:nvSpPr>
          <p:spPr>
            <a:xfrm>
              <a:off x="3803650" y="4978067"/>
              <a:ext cx="1041400" cy="396044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>
                <a:lnSpc>
                  <a:spcPct val="90000"/>
                </a:lnSpc>
              </a:pP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[4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>
                <a:lnSpc>
                  <a:spcPct val="90000"/>
                </a:lnSpc>
              </a:pP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훈련과정 로드맵 개발 및 검증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79714EC-B207-1DAC-1E07-B8362780487C}"/>
                </a:ext>
              </a:extLst>
            </p:cNvPr>
            <p:cNvSpPr/>
            <p:nvPr/>
          </p:nvSpPr>
          <p:spPr>
            <a:xfrm>
              <a:off x="3803650" y="5409841"/>
              <a:ext cx="1041400" cy="7923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전략방향에 따른 훈련과정 로드맵 개발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훈련과정 로드맵 검증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670DA14-BA9A-A757-B98B-B61350F6AB76}"/>
                </a:ext>
              </a:extLst>
            </p:cNvPr>
            <p:cNvSpPr/>
            <p:nvPr/>
          </p:nvSpPr>
          <p:spPr>
            <a:xfrm>
              <a:off x="273050" y="6237965"/>
              <a:ext cx="1041400" cy="419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문헌연구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내부 연구진 회의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25DDD2F5-B212-A42C-8F01-7F2B5B46FC2E}"/>
                </a:ext>
              </a:extLst>
            </p:cNvPr>
            <p:cNvSpPr/>
            <p:nvPr/>
          </p:nvSpPr>
          <p:spPr>
            <a:xfrm>
              <a:off x="1449916" y="6237967"/>
              <a:ext cx="1041400" cy="419318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전문가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서면검토</a:t>
              </a:r>
              <a:b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9782970-29B9-6A83-2089-B809B255F283}"/>
                </a:ext>
              </a:extLst>
            </p:cNvPr>
            <p:cNvSpPr/>
            <p:nvPr/>
          </p:nvSpPr>
          <p:spPr>
            <a:xfrm>
              <a:off x="2626782" y="6237966"/>
              <a:ext cx="1041400" cy="41931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전문가 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서면검토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31668E7-3C36-19A6-C2E6-64817347449F}"/>
                </a:ext>
              </a:extLst>
            </p:cNvPr>
            <p:cNvSpPr/>
            <p:nvPr/>
          </p:nvSpPr>
          <p:spPr>
            <a:xfrm>
              <a:off x="3803650" y="6237966"/>
              <a:ext cx="1041400" cy="419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간담회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내부 연구진 회의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0836634-7778-8154-7EE6-D808B0F6BBC7}"/>
                </a:ext>
              </a:extLst>
            </p:cNvPr>
            <p:cNvSpPr/>
            <p:nvPr/>
          </p:nvSpPr>
          <p:spPr>
            <a:xfrm>
              <a:off x="273050" y="6693016"/>
              <a:ext cx="1041400" cy="419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훈련체계 초안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B156019-DA37-5AEF-C602-535CAC7CCBF4}"/>
                </a:ext>
              </a:extLst>
            </p:cNvPr>
            <p:cNvSpPr/>
            <p:nvPr/>
          </p:nvSpPr>
          <p:spPr>
            <a:xfrm>
              <a:off x="1449916" y="6693019"/>
              <a:ext cx="1041400" cy="419318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훈련과정 로드맵 구성체계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16DB76D0-B091-5D14-A042-8881FC3266EC}"/>
                </a:ext>
              </a:extLst>
            </p:cNvPr>
            <p:cNvSpPr/>
            <p:nvPr/>
          </p:nvSpPr>
          <p:spPr>
            <a:xfrm>
              <a:off x="2626782" y="6693017"/>
              <a:ext cx="1041400" cy="41931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훈련과정 로드맵 구성체계별 훈련과정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안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C29F75CE-26CB-46F3-C5E8-2C8832EC4471}"/>
                </a:ext>
              </a:extLst>
            </p:cNvPr>
            <p:cNvSpPr/>
            <p:nvPr/>
          </p:nvSpPr>
          <p:spPr>
            <a:xfrm>
              <a:off x="3803650" y="6693017"/>
              <a:ext cx="1041400" cy="419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개년도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훈련과정 로드맵 최종안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58" name="사각형: 잘린 한쪽 모서리 42">
            <a:extLst>
              <a:ext uri="{FF2B5EF4-FFF2-40B4-BE49-F238E27FC236}">
                <a16:creationId xmlns:a16="http://schemas.microsoft.com/office/drawing/2014/main" id="{609B4C42-058F-8F39-941B-1C3B25103B64}"/>
              </a:ext>
            </a:extLst>
          </p:cNvPr>
          <p:cNvSpPr/>
          <p:nvPr/>
        </p:nvSpPr>
        <p:spPr>
          <a:xfrm flipV="1">
            <a:off x="6111214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218F2AA-A250-8178-1D46-9AFE82E80FA8}"/>
              </a:ext>
            </a:extLst>
          </p:cNvPr>
          <p:cNvSpPr/>
          <p:nvPr/>
        </p:nvSpPr>
        <p:spPr>
          <a:xfrm>
            <a:off x="6213531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「훈련과정 체계수립」 결과 예시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2509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15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5922006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KTR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산업전환 공동훈련센터 훈련과정 로드맵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6470915" y="1073705"/>
            <a:ext cx="5089074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Ⅱ.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「운영 전략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전략방향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중장기 발전방안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」과 내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·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외부환경분석 결과를 기반으로 전문가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W/S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을 통해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훈련체계를 수립하고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로드맵을 다음과 같이 도출할 계획임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D9B10182-EB3C-4735-6096-60B46D4F9D5E}"/>
              </a:ext>
            </a:extLst>
          </p:cNvPr>
          <p:cNvSpPr/>
          <p:nvPr/>
        </p:nvSpPr>
        <p:spPr>
          <a:xfrm flipV="1">
            <a:off x="59885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CD83A5-9BE8-9D8E-27C5-DFF1AA0B0B45}"/>
              </a:ext>
            </a:extLst>
          </p:cNvPr>
          <p:cNvSpPr/>
          <p:nvPr/>
        </p:nvSpPr>
        <p:spPr>
          <a:xfrm>
            <a:off x="701167" y="1848777"/>
            <a:ext cx="57728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로드맵」 도출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80FF8-30CB-C287-0146-89175862C2EE}"/>
              </a:ext>
            </a:extLst>
          </p:cNvPr>
          <p:cNvSpPr txBox="1"/>
          <p:nvPr/>
        </p:nvSpPr>
        <p:spPr>
          <a:xfrm>
            <a:off x="634769" y="2276473"/>
            <a:ext cx="314496" cy="2301511"/>
          </a:xfrm>
          <a:prstGeom prst="snip2DiagRect">
            <a:avLst/>
          </a:prstGeom>
          <a:solidFill>
            <a:srgbClr val="0070C0"/>
          </a:solidFill>
        </p:spPr>
        <p:txBody>
          <a:bodyPr vert="wordArtVertRtl" wrap="square" lIns="36000" tIns="0" rIns="36000" bIns="0" rtlCol="0">
            <a:spAutoFit/>
          </a:bodyPr>
          <a:lstStyle/>
          <a:p>
            <a:pPr algn="ctr" latinLnBrk="0"/>
            <a:r>
              <a:rPr lang="ko-KR" altLang="en-US" sz="1200" spc="-15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추진 프로세스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DF7C3-9916-2CED-500E-7F554BEC57F8}"/>
              </a:ext>
            </a:extLst>
          </p:cNvPr>
          <p:cNvSpPr txBox="1"/>
          <p:nvPr/>
        </p:nvSpPr>
        <p:spPr>
          <a:xfrm>
            <a:off x="634769" y="5500688"/>
            <a:ext cx="314496" cy="788353"/>
          </a:xfrm>
          <a:prstGeom prst="snip2DiagRect">
            <a:avLst/>
          </a:prstGeom>
          <a:solidFill>
            <a:srgbClr val="0070C0"/>
          </a:solidFill>
        </p:spPr>
        <p:txBody>
          <a:bodyPr vert="wordArtVertRtl" wrap="square" lIns="36000" tIns="0" rIns="36000" bIns="0" rtlCol="0">
            <a:spAutoFit/>
          </a:bodyPr>
          <a:lstStyle>
            <a:defPPr>
              <a:defRPr lang="ko-KR"/>
            </a:defPPr>
            <a:lvl1pPr algn="ctr">
              <a:defRPr sz="1200" spc="-15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</a:rPr>
              <a:t>산출물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2F66F-BDAC-FAF6-DD22-6C2315A0E0F4}"/>
              </a:ext>
            </a:extLst>
          </p:cNvPr>
          <p:cNvSpPr txBox="1"/>
          <p:nvPr/>
        </p:nvSpPr>
        <p:spPr>
          <a:xfrm>
            <a:off x="634769" y="4645163"/>
            <a:ext cx="314496" cy="788345"/>
          </a:xfrm>
          <a:prstGeom prst="snip2DiagRect">
            <a:avLst/>
          </a:prstGeom>
          <a:solidFill>
            <a:srgbClr val="0070C0"/>
          </a:solidFill>
        </p:spPr>
        <p:txBody>
          <a:bodyPr vert="wordArtVertRtl" wrap="square" lIns="36000" tIns="0" rIns="36000" bIns="0" rtlCol="0">
            <a:spAutoFit/>
          </a:bodyPr>
          <a:lstStyle>
            <a:defPPr>
              <a:defRPr lang="ko-KR"/>
            </a:defPPr>
            <a:lvl1pPr algn="ctr">
              <a:defRPr sz="1200" spc="-15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</a:rPr>
              <a:t>방법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E3CEA1C-8DAD-AAB5-F090-7104BAE4CB33}"/>
              </a:ext>
            </a:extLst>
          </p:cNvPr>
          <p:cNvGrpSpPr/>
          <p:nvPr/>
        </p:nvGrpSpPr>
        <p:grpSpPr>
          <a:xfrm>
            <a:off x="1057044" y="2276473"/>
            <a:ext cx="4707036" cy="4012566"/>
            <a:chOff x="273050" y="4978067"/>
            <a:chExt cx="4572000" cy="2134270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AB471A6-F15B-4448-768A-A7F8562662F7}"/>
                </a:ext>
              </a:extLst>
            </p:cNvPr>
            <p:cNvSpPr/>
            <p:nvPr/>
          </p:nvSpPr>
          <p:spPr>
            <a:xfrm>
              <a:off x="273050" y="4978067"/>
              <a:ext cx="1041400" cy="396044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>
                <a:lnSpc>
                  <a:spcPct val="90000"/>
                </a:lnSpc>
              </a:pPr>
              <a:r>
                <a:rPr kumimoji="1" lang="en-US" altLang="ko-KR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[1</a:t>
              </a:r>
              <a:r>
                <a:rPr kumimoji="1" lang="ko-KR" altLang="en-US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>
                <a:lnSpc>
                  <a:spcPct val="90000"/>
                </a:lnSpc>
              </a:pPr>
              <a:r>
                <a:rPr kumimoji="1" lang="ko-KR" altLang="en-US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훈련과정 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로드맵 초안 도출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D4BD63AB-AB45-7467-8DFA-EA1F58B5CD96}"/>
                </a:ext>
              </a:extLst>
            </p:cNvPr>
            <p:cNvSpPr/>
            <p:nvPr/>
          </p:nvSpPr>
          <p:spPr>
            <a:xfrm>
              <a:off x="273050" y="5409841"/>
              <a:ext cx="1041400" cy="792392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훈련체계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시사점 도출</a:t>
              </a:r>
              <a:endParaRPr kumimoji="1"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운영전략에 따른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시사점 도출</a:t>
              </a:r>
              <a:endParaRPr kumimoji="1"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훈련체계 초안 개발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D17D938-6016-1284-DA9F-32320B56B335}"/>
                </a:ext>
              </a:extLst>
            </p:cNvPr>
            <p:cNvSpPr/>
            <p:nvPr/>
          </p:nvSpPr>
          <p:spPr>
            <a:xfrm>
              <a:off x="1449916" y="4978067"/>
              <a:ext cx="1041400" cy="396044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>
                <a:lnSpc>
                  <a:spcPct val="90000"/>
                </a:lnSpc>
              </a:pPr>
              <a:r>
                <a:rPr kumimoji="1" lang="en-US" altLang="ko-KR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[2</a:t>
              </a:r>
              <a:r>
                <a:rPr kumimoji="1" lang="ko-KR" altLang="en-US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>
                <a:lnSpc>
                  <a:spcPct val="90000"/>
                </a:lnSpc>
              </a:pPr>
              <a:r>
                <a:rPr kumimoji="1" lang="ko-KR" altLang="en-US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훈련로드맵 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개발 </a:t>
              </a:r>
              <a:endParaRPr kumimoji="1" lang="en-US" altLang="ko-KR" sz="105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  <a:p>
              <a:pPr latinLnBrk="0">
                <a:lnSpc>
                  <a:spcPct val="90000"/>
                </a:lnSpc>
              </a:pPr>
              <a:r>
                <a:rPr kumimoji="1" lang="en-US" altLang="ko-KR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1</a:t>
              </a:r>
              <a:r>
                <a:rPr kumimoji="1" lang="ko-KR" altLang="en-US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차 </a:t>
              </a:r>
              <a:r>
                <a:rPr kumimoji="1" lang="en-US" altLang="ko-KR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W/S </a:t>
              </a:r>
              <a:endParaRPr kumimoji="1" lang="en-US" altLang="ko-KR" sz="10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E84E348-F441-4E64-CFC2-E6734B3ECEEF}"/>
                </a:ext>
              </a:extLst>
            </p:cNvPr>
            <p:cNvSpPr/>
            <p:nvPr/>
          </p:nvSpPr>
          <p:spPr>
            <a:xfrm>
              <a:off x="1449916" y="5409841"/>
              <a:ext cx="1041400" cy="792392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전문가 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통한 훈련체계 설계</a:t>
              </a:r>
              <a:endParaRPr kumimoji="1"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훈련과정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유형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진행 단계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산업분류체계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훈련내용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수준에 따른 </a:t>
              </a:r>
              <a:r>
                <a:rPr kumimoji="1" lang="ko-KR" altLang="en-US" sz="9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훈련로드맵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체계 수립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CE9A879-468C-709F-330C-B602E7453989}"/>
                </a:ext>
              </a:extLst>
            </p:cNvPr>
            <p:cNvSpPr/>
            <p:nvPr/>
          </p:nvSpPr>
          <p:spPr>
            <a:xfrm>
              <a:off x="2626782" y="4978067"/>
              <a:ext cx="1041400" cy="396044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>
                <a:lnSpc>
                  <a:spcPct val="90000"/>
                </a:lnSpc>
              </a:pPr>
              <a:r>
                <a:rPr kumimoji="1" lang="en-US" altLang="ko-KR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[3</a:t>
              </a:r>
              <a:r>
                <a:rPr kumimoji="1" lang="ko-KR" altLang="en-US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>
                <a:lnSpc>
                  <a:spcPct val="90000"/>
                </a:lnSpc>
              </a:pPr>
              <a:r>
                <a:rPr kumimoji="1" lang="ko-KR" altLang="en-US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훈련로드맵 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개발 </a:t>
              </a:r>
              <a:endParaRPr kumimoji="1" lang="en-US" altLang="ko-KR" sz="105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  <a:p>
              <a:pPr latinLnBrk="0">
                <a:lnSpc>
                  <a:spcPct val="90000"/>
                </a:lnSpc>
              </a:pPr>
              <a:r>
                <a:rPr kumimoji="1" lang="en-US" altLang="ko-KR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2</a:t>
              </a:r>
              <a:r>
                <a:rPr kumimoji="1" lang="ko-KR" altLang="en-US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차 </a:t>
              </a:r>
              <a:r>
                <a:rPr kumimoji="1" lang="en-US" altLang="ko-KR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W/S </a:t>
              </a:r>
              <a:endParaRPr kumimoji="1" lang="en-US" altLang="ko-KR" sz="10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6220F6E-73B7-28EA-EA9D-201EF2957274}"/>
                </a:ext>
              </a:extLst>
            </p:cNvPr>
            <p:cNvSpPr/>
            <p:nvPr/>
          </p:nvSpPr>
          <p:spPr>
            <a:xfrm>
              <a:off x="2626782" y="5409841"/>
              <a:ext cx="1041400" cy="792392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친환경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화학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·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바이오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분야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 트렌드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기술 동향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협약기업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수요 조사를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통한 훈련과정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안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도출</a:t>
              </a:r>
              <a:endParaRPr kumimoji="1"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훈련체계에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따른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훈련과정 설계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오른쪽 화살표 15">
              <a:extLst>
                <a:ext uri="{FF2B5EF4-FFF2-40B4-BE49-F238E27FC236}">
                  <a16:creationId xmlns:a16="http://schemas.microsoft.com/office/drawing/2014/main" id="{82098191-062C-096F-6549-82BE19B3A4EF}"/>
                </a:ext>
              </a:extLst>
            </p:cNvPr>
            <p:cNvSpPr/>
            <p:nvPr/>
          </p:nvSpPr>
          <p:spPr>
            <a:xfrm>
              <a:off x="1348932" y="5052341"/>
              <a:ext cx="66502" cy="252028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7" name="오른쪽 화살표 16">
              <a:extLst>
                <a:ext uri="{FF2B5EF4-FFF2-40B4-BE49-F238E27FC236}">
                  <a16:creationId xmlns:a16="http://schemas.microsoft.com/office/drawing/2014/main" id="{E5729014-BEE6-9E6F-27DA-278CA77FD164}"/>
                </a:ext>
              </a:extLst>
            </p:cNvPr>
            <p:cNvSpPr/>
            <p:nvPr/>
          </p:nvSpPr>
          <p:spPr>
            <a:xfrm>
              <a:off x="2525798" y="5052341"/>
              <a:ext cx="66502" cy="252028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8" name="오른쪽 화살표 17">
              <a:extLst>
                <a:ext uri="{FF2B5EF4-FFF2-40B4-BE49-F238E27FC236}">
                  <a16:creationId xmlns:a16="http://schemas.microsoft.com/office/drawing/2014/main" id="{E1CB6663-145E-34F4-6C65-1840F2867155}"/>
                </a:ext>
              </a:extLst>
            </p:cNvPr>
            <p:cNvSpPr/>
            <p:nvPr/>
          </p:nvSpPr>
          <p:spPr>
            <a:xfrm>
              <a:off x="3702664" y="5052341"/>
              <a:ext cx="66502" cy="252028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1D475C-F676-5EC0-E1F1-6EA09F47D0FC}"/>
                </a:ext>
              </a:extLst>
            </p:cNvPr>
            <p:cNvSpPr/>
            <p:nvPr/>
          </p:nvSpPr>
          <p:spPr>
            <a:xfrm>
              <a:off x="3803650" y="4978067"/>
              <a:ext cx="1041400" cy="396044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>
                <a:lnSpc>
                  <a:spcPct val="90000"/>
                </a:lnSpc>
              </a:pP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[4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>
                <a:lnSpc>
                  <a:spcPct val="90000"/>
                </a:lnSpc>
              </a:pP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훈련과정 로드맵 개발 및 검증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870C617-344C-A774-2B7D-2A22A04F5E6E}"/>
                </a:ext>
              </a:extLst>
            </p:cNvPr>
            <p:cNvSpPr/>
            <p:nvPr/>
          </p:nvSpPr>
          <p:spPr>
            <a:xfrm>
              <a:off x="3803650" y="5409841"/>
              <a:ext cx="1041400" cy="79239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전략방향에 따른 훈련과정 로드맵 개발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훈련과정 로드맵 검증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2180A548-9C56-88C6-CEB3-AED0A46C2E1C}"/>
                </a:ext>
              </a:extLst>
            </p:cNvPr>
            <p:cNvSpPr/>
            <p:nvPr/>
          </p:nvSpPr>
          <p:spPr>
            <a:xfrm>
              <a:off x="273050" y="6237965"/>
              <a:ext cx="1041400" cy="419318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문헌연구</a:t>
              </a:r>
              <a:endParaRPr kumimoji="1"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내부 연구진 회의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548C92E-27C7-CB2E-6A29-A3179F2F6616}"/>
                </a:ext>
              </a:extLst>
            </p:cNvPr>
            <p:cNvSpPr/>
            <p:nvPr/>
          </p:nvSpPr>
          <p:spPr>
            <a:xfrm>
              <a:off x="1449916" y="6237967"/>
              <a:ext cx="1041400" cy="419318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전문가 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서면검토</a:t>
              </a:r>
              <a:b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7681F7A0-01FF-39A9-C951-D5BCE1FDCE7E}"/>
                </a:ext>
              </a:extLst>
            </p:cNvPr>
            <p:cNvSpPr/>
            <p:nvPr/>
          </p:nvSpPr>
          <p:spPr>
            <a:xfrm>
              <a:off x="2626782" y="6237966"/>
              <a:ext cx="1041400" cy="419318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전문가 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서면검토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99FCA26D-271D-63DA-5A0C-77B9AE3B9D84}"/>
                </a:ext>
              </a:extLst>
            </p:cNvPr>
            <p:cNvSpPr/>
            <p:nvPr/>
          </p:nvSpPr>
          <p:spPr>
            <a:xfrm>
              <a:off x="3803650" y="6237966"/>
              <a:ext cx="1041400" cy="41931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간담회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내부 연구진 회의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4BAA4BA8-225D-2DE4-8C52-489045B46760}"/>
                </a:ext>
              </a:extLst>
            </p:cNvPr>
            <p:cNvSpPr/>
            <p:nvPr/>
          </p:nvSpPr>
          <p:spPr>
            <a:xfrm>
              <a:off x="273050" y="6693016"/>
              <a:ext cx="1041400" cy="419318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훈련체계 초안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0AC56017-D7F5-822F-410F-D8DD9473CBCE}"/>
                </a:ext>
              </a:extLst>
            </p:cNvPr>
            <p:cNvSpPr/>
            <p:nvPr/>
          </p:nvSpPr>
          <p:spPr>
            <a:xfrm>
              <a:off x="1449916" y="6693019"/>
              <a:ext cx="1041400" cy="419318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훈련과정 로드맵 구성체계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24CB5D6A-A87E-EE2E-9E6B-8D5C5E231D05}"/>
                </a:ext>
              </a:extLst>
            </p:cNvPr>
            <p:cNvSpPr/>
            <p:nvPr/>
          </p:nvSpPr>
          <p:spPr>
            <a:xfrm>
              <a:off x="2626782" y="6693017"/>
              <a:ext cx="1041400" cy="419318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훈련과정 로드맵 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구성체계별 훈련과정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kumimoji="1" lang="ko-KR" altLang="en-US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안</a:t>
              </a:r>
              <a:r>
                <a: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3652158C-FDE3-917F-6885-9C5EC005E259}"/>
                </a:ext>
              </a:extLst>
            </p:cNvPr>
            <p:cNvSpPr/>
            <p:nvPr/>
          </p:nvSpPr>
          <p:spPr>
            <a:xfrm>
              <a:off x="3803650" y="6693017"/>
              <a:ext cx="1041400" cy="41931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개년도 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훈련과정 로드맵 최종안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61" name="사각형: 잘린 한쪽 모서리 42">
            <a:extLst>
              <a:ext uri="{FF2B5EF4-FFF2-40B4-BE49-F238E27FC236}">
                <a16:creationId xmlns:a16="http://schemas.microsoft.com/office/drawing/2014/main" id="{F63C1078-0438-8B0E-FB74-FB4DAAF5E83C}"/>
              </a:ext>
            </a:extLst>
          </p:cNvPr>
          <p:cNvSpPr/>
          <p:nvPr/>
        </p:nvSpPr>
        <p:spPr>
          <a:xfrm flipV="1">
            <a:off x="609600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420565F-DF47-9598-970B-5FB222DF9822}"/>
              </a:ext>
            </a:extLst>
          </p:cNvPr>
          <p:cNvSpPr/>
          <p:nvPr/>
        </p:nvSpPr>
        <p:spPr>
          <a:xfrm>
            <a:off x="6198317" y="1848777"/>
            <a:ext cx="53268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로드맵」 결과 예시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B799620C-04F6-5854-8A42-53DEC7F6F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826" y="2276472"/>
            <a:ext cx="5686139" cy="394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7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왼쪽 중괄호 33">
            <a:extLst>
              <a:ext uri="{FF2B5EF4-FFF2-40B4-BE49-F238E27FC236}">
                <a16:creationId xmlns:a16="http://schemas.microsoft.com/office/drawing/2014/main" id="{E2F53AE8-7B9F-050C-FC75-E6D25A016580}"/>
              </a:ext>
            </a:extLst>
          </p:cNvPr>
          <p:cNvSpPr/>
          <p:nvPr/>
        </p:nvSpPr>
        <p:spPr>
          <a:xfrm rot="16200000">
            <a:off x="2186059" y="2609359"/>
            <a:ext cx="230833" cy="2905251"/>
          </a:xfrm>
          <a:prstGeom prst="leftBrace">
            <a:avLst>
              <a:gd name="adj1" fmla="val 188075"/>
              <a:gd name="adj2" fmla="val 50000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  <a:alpha val="50000"/>
                </a:schemeClr>
              </a:gs>
              <a:gs pos="74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16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477085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비연속과정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(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세미나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)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설계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5319767" y="1073705"/>
            <a:ext cx="624022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Ⅱ.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768ACD7-A32E-1CD2-5AF4-0715BF2F1B69}"/>
              </a:ext>
            </a:extLst>
          </p:cNvPr>
          <p:cNvGrpSpPr/>
          <p:nvPr/>
        </p:nvGrpSpPr>
        <p:grpSpPr>
          <a:xfrm>
            <a:off x="501345" y="1894960"/>
            <a:ext cx="11189310" cy="485843"/>
            <a:chOff x="578211" y="2008574"/>
            <a:chExt cx="11189310" cy="485843"/>
          </a:xfrm>
        </p:grpSpPr>
        <p:sp>
          <p:nvSpPr>
            <p:cNvPr id="10" name="오른쪽 화살표 8">
              <a:extLst>
                <a:ext uri="{FF2B5EF4-FFF2-40B4-BE49-F238E27FC236}">
                  <a16:creationId xmlns:a16="http://schemas.microsoft.com/office/drawing/2014/main" id="{FF6DB6F6-A728-B571-A1B4-039F8A7AE8C8}"/>
                </a:ext>
              </a:extLst>
            </p:cNvPr>
            <p:cNvSpPr/>
            <p:nvPr/>
          </p:nvSpPr>
          <p:spPr>
            <a:xfrm>
              <a:off x="578211" y="2008574"/>
              <a:ext cx="11189310" cy="485843"/>
            </a:xfrm>
            <a:prstGeom prst="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05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4A961CE-7F42-F155-8D3B-920D2C989967}"/>
                </a:ext>
              </a:extLst>
            </p:cNvPr>
            <p:cNvSpPr/>
            <p:nvPr/>
          </p:nvSpPr>
          <p:spPr>
            <a:xfrm>
              <a:off x="1160044" y="2008574"/>
              <a:ext cx="2288005" cy="48584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1.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친환경 화학 바이오 분야 세미나 의제 발굴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5125945-F64F-9FD2-50D4-C996FC0C7B0B}"/>
                </a:ext>
              </a:extLst>
            </p:cNvPr>
            <p:cNvSpPr/>
            <p:nvPr/>
          </p:nvSpPr>
          <p:spPr>
            <a:xfrm>
              <a:off x="5028863" y="2008574"/>
              <a:ext cx="2288005" cy="48584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2.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세미나 의제 최종</a:t>
              </a: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안</a:t>
              </a: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)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확정</a:t>
              </a: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3699BC7D-733C-C909-7645-22A3EE576770}"/>
                </a:ext>
              </a:extLst>
            </p:cNvPr>
            <p:cNvSpPr/>
            <p:nvPr/>
          </p:nvSpPr>
          <p:spPr>
            <a:xfrm>
              <a:off x="8897683" y="2008574"/>
              <a:ext cx="2288005" cy="485843"/>
            </a:xfrm>
            <a:prstGeom prst="roundRect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3.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세미나별 세부내용 도출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2EC29B-D438-B39D-9107-25949DBD5DB7}"/>
              </a:ext>
            </a:extLst>
          </p:cNvPr>
          <p:cNvSpPr/>
          <p:nvPr/>
        </p:nvSpPr>
        <p:spPr>
          <a:xfrm>
            <a:off x="304684" y="2455703"/>
            <a:ext cx="3566751" cy="1351841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anchor="t">
            <a:noAutofit/>
          </a:bodyPr>
          <a:lstStyle/>
          <a:p>
            <a:pPr marL="265113" lvl="1" indent="-17145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친환경 </a:t>
            </a:r>
            <a:r>
              <a:rPr kumimoji="1" lang="ko-KR" altLang="en-US" sz="120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화학바이오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산업 관련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국내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·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외 세미나 현황 분석을 통한 의제 후보 발굴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265113" lvl="1" indent="-17145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국내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외 세미나의 주요 키워드 벤치마킹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기존 훈련과정과의 비교 분석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앞서 도출한 훈련과정 로드맵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등을 종합하여 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5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개년도 세미나 의제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안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도출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F14D97-D04E-B153-4292-356EED43D387}"/>
              </a:ext>
            </a:extLst>
          </p:cNvPr>
          <p:cNvSpPr/>
          <p:nvPr/>
        </p:nvSpPr>
        <p:spPr>
          <a:xfrm>
            <a:off x="4380707" y="2455703"/>
            <a:ext cx="3566751" cy="135184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265113" lvl="1" indent="-17145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앞서 도출한 세미나 의제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안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에 대해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전문가 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FGI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를 실시하여 </a:t>
            </a:r>
            <a:r>
              <a:rPr kumimoji="1" lang="ko-KR" altLang="en-US" sz="120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의제별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우선순위 선정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5113" lvl="1" indent="-17145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5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개년도 세미나 의제 최종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안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확정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55550D-40E4-904B-BE93-18705C0DB93E}"/>
              </a:ext>
            </a:extLst>
          </p:cNvPr>
          <p:cNvSpPr/>
          <p:nvPr/>
        </p:nvSpPr>
        <p:spPr>
          <a:xfrm>
            <a:off x="8175160" y="2455703"/>
            <a:ext cx="3566751" cy="135184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265113" lvl="1" indent="-17145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확정된 의제 최종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안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에 대하여 국내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외 현황 분석 결과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훈련과정 로드맵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전문가 의견을 종합하여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세미나별 핵심 주제 및 훈련내용 도출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265113" lvl="1" indent="-17145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5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개년도 훈련과정 로드맵 및 세미나 활용을 위한 제언 제시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" name="사각형: 잘린 한쪽 모서리 42">
            <a:extLst>
              <a:ext uri="{FF2B5EF4-FFF2-40B4-BE49-F238E27FC236}">
                <a16:creationId xmlns:a16="http://schemas.microsoft.com/office/drawing/2014/main" id="{477FB2CC-ECA8-F52A-3C16-4105D0FA7295}"/>
              </a:ext>
            </a:extLst>
          </p:cNvPr>
          <p:cNvSpPr/>
          <p:nvPr/>
        </p:nvSpPr>
        <p:spPr>
          <a:xfrm flipV="1">
            <a:off x="721895" y="1394076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2610F0B-A184-12C6-DE9D-E80CC053A409}"/>
              </a:ext>
            </a:extLst>
          </p:cNvPr>
          <p:cNvSpPr/>
          <p:nvPr/>
        </p:nvSpPr>
        <p:spPr>
          <a:xfrm>
            <a:off x="820211" y="1403701"/>
            <a:ext cx="41804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비연속과정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세미나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설계 프로세스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B72954-40B3-8BD1-B32C-CC2574EBF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41990"/>
              </p:ext>
            </p:extLst>
          </p:nvPr>
        </p:nvGraphicFramePr>
        <p:xfrm>
          <a:off x="465932" y="4410484"/>
          <a:ext cx="3725068" cy="1828800"/>
        </p:xfrm>
        <a:graphic>
          <a:graphicData uri="http://schemas.openxmlformats.org/drawingml/2006/table">
            <a:tbl>
              <a:tblPr/>
              <a:tblGrid>
                <a:gridCol w="277018">
                  <a:extLst>
                    <a:ext uri="{9D8B030D-6E8A-4147-A177-3AD203B41FA5}">
                      <a16:colId xmlns:a16="http://schemas.microsoft.com/office/drawing/2014/main" val="741804700"/>
                    </a:ext>
                  </a:extLst>
                </a:gridCol>
                <a:gridCol w="2657150">
                  <a:extLst>
                    <a:ext uri="{9D8B030D-6E8A-4147-A177-3AD203B41FA5}">
                      <a16:colId xmlns:a16="http://schemas.microsoft.com/office/drawing/2014/main" val="1484262555"/>
                    </a:ext>
                  </a:extLst>
                </a:gridCol>
                <a:gridCol w="790900">
                  <a:extLst>
                    <a:ext uri="{9D8B030D-6E8A-4147-A177-3AD203B41FA5}">
                      <a16:colId xmlns:a16="http://schemas.microsoft.com/office/drawing/2014/main" val="285446527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세미나 주제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주요 내용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주요  키워드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330212"/>
                  </a:ext>
                </a:extLst>
              </a:tr>
              <a:tr h="6076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“2022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친환경 플라스틱 산업 컨퍼런스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”(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폐플라스틱 자원화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리사이클링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열분해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촉매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가스화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화이트바이오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산업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생분해성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바이오플라스틱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“2022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및 지속가능성장 기술 세미나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”(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바이오매스 합성수지 환경마크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바이오화화학소재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전주기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평가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통계적 접근을 통한 바이오 미지물질 분석 등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폐플라스틱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생분해성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환경마크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sng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전주기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평가 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303622"/>
                  </a:ext>
                </a:extLst>
              </a:tr>
              <a:tr h="6076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해외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“The European Bioplastics Conference 2023”(Compostable,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biodegradable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and/or biobased plastics-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latest material and process innovations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PPWR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bioplastics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policy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and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market developments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in the EU, The mechanical and chemical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recycling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of biobased plastics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등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“2021 FS </a:t>
                      </a:r>
                      <a:r>
                        <a:rPr lang="en-US" altLang="ko-KR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Ecopack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; The future of sustainable eco-packaging)”(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지속가능한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포장재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재활용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및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재사용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가능한 포장재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친환경 포장재 기준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바이오기반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포장재 성공사례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등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Biodegradable(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생분해성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), latest material(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신소재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), process innovation (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공정 혁신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), 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지속가능한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재활용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재사용 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6965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18D7463-079F-F1CE-7301-78BEFC99221E}"/>
              </a:ext>
            </a:extLst>
          </p:cNvPr>
          <p:cNvSpPr txBox="1"/>
          <p:nvPr/>
        </p:nvSpPr>
        <p:spPr bwMode="auto">
          <a:xfrm>
            <a:off x="400019" y="4213726"/>
            <a:ext cx="2398413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&lt;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&gt; 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국내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외 세미나 현황 및 주요 키워드 도출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예시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endParaRPr kumimoji="1" lang="ko-KR" altLang="en-US" sz="9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1FE9ADC-FED6-A0D6-219C-6298EBB38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47824"/>
              </p:ext>
            </p:extLst>
          </p:nvPr>
        </p:nvGraphicFramePr>
        <p:xfrm>
          <a:off x="4787707" y="4410484"/>
          <a:ext cx="2811353" cy="18288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741804700"/>
                    </a:ext>
                  </a:extLst>
                </a:gridCol>
                <a:gridCol w="2235353">
                  <a:extLst>
                    <a:ext uri="{9D8B030D-6E8A-4147-A177-3AD203B41FA5}">
                      <a16:colId xmlns:a16="http://schemas.microsoft.com/office/drawing/2014/main" val="1484262555"/>
                    </a:ext>
                  </a:extLst>
                </a:gridCol>
              </a:tblGrid>
              <a:tr h="5343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대상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산업현장 전문가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인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산업계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인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학계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인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교육훈련전문가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인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303622"/>
                  </a:ext>
                </a:extLst>
              </a:tr>
              <a:tr h="344970">
                <a:tc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실시 시기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9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월 말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~10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월 초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서울역 인근 회의장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925359"/>
                  </a:ext>
                </a:extLst>
              </a:tr>
              <a:tr h="9494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의제별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우선순위 선정기준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내용의 중요도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인력 육성의 시급성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기존 훈련과정과의 차별성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최신 경향 반영 여부 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69656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9601B98F-2565-8468-F796-86DBF357E13C}"/>
              </a:ext>
            </a:extLst>
          </p:cNvPr>
          <p:cNvSpPr txBox="1"/>
          <p:nvPr/>
        </p:nvSpPr>
        <p:spPr bwMode="auto">
          <a:xfrm>
            <a:off x="4771491" y="4213726"/>
            <a:ext cx="1212191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&lt;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&gt; 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전문가 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FGI 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개요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안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endParaRPr kumimoji="1" lang="ko-KR" altLang="en-US" sz="9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D458C0-993D-C9B4-397F-FD42CCDDF410}"/>
              </a:ext>
            </a:extLst>
          </p:cNvPr>
          <p:cNvSpPr txBox="1"/>
          <p:nvPr/>
        </p:nvSpPr>
        <p:spPr bwMode="auto">
          <a:xfrm>
            <a:off x="8175160" y="4213726"/>
            <a:ext cx="2246128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&lt;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&gt; 5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개년도 </a:t>
            </a:r>
            <a:r>
              <a:rPr kumimoji="1" lang="ko-KR" altLang="en-US" sz="90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비연속과정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세미나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 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설계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결과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예시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endParaRPr kumimoji="1" lang="ko-KR" altLang="en-US" sz="9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DD744CD8-5A3F-E266-A3F5-2943CFD1A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372600"/>
              </p:ext>
            </p:extLst>
          </p:nvPr>
        </p:nvGraphicFramePr>
        <p:xfrm>
          <a:off x="8191027" y="4410487"/>
          <a:ext cx="3535017" cy="1800960"/>
        </p:xfrm>
        <a:graphic>
          <a:graphicData uri="http://schemas.openxmlformats.org/drawingml/2006/table">
            <a:tbl>
              <a:tblPr/>
              <a:tblGrid>
                <a:gridCol w="439017">
                  <a:extLst>
                    <a:ext uri="{9D8B030D-6E8A-4147-A177-3AD203B41FA5}">
                      <a16:colId xmlns:a16="http://schemas.microsoft.com/office/drawing/2014/main" val="74180470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484262555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85446527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세미나 주제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주요 훈련내용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330212"/>
                  </a:ext>
                </a:extLst>
              </a:tr>
              <a:tr h="36576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차년도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36000" marR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산업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메가트렌드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국내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외 레드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그린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화이트 바이오 산업 동향 및 정부정책 현황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국가별 규제 현황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핵심 기술 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30362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6000" marR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화이트 바이오 산업 사업화 전략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시장 현황 및 사이클 분석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핵심 </a:t>
                      </a:r>
                      <a:r>
                        <a:rPr lang="ko-KR" altLang="en-US" sz="800" u="none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기술별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사업화 방향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재활용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재사용 가능한 포장재 등 성공사례 전파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환경마크 인증기준 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36945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6000" marR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 화학 산업 선진국 탄소저감 이행 현황과 우리나라의 과제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미국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유럽 </a:t>
                      </a:r>
                      <a:r>
                        <a:rPr lang="ko-KR" altLang="en-US" sz="800" u="none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기업의 탄소저감 이행 현황과 국내 기업 현황 비교 분석 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79004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6000" marR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폐플라스틱 화학적 재활용 및 원료 생산공정혁신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폐플라스틱 열분해 기술 및 활용방안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우수사례 공유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발전 방안 제시 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22253"/>
                  </a:ext>
                </a:extLst>
              </a:tr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차년도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…</a:t>
                      </a:r>
                      <a:endParaRPr lang="ko-KR" altLang="en-US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endParaRPr lang="ko-KR" altLang="en-US" sz="800" u="sng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696569"/>
                  </a:ext>
                </a:extLst>
              </a:tr>
            </a:tbl>
          </a:graphicData>
        </a:graphic>
      </p:graphicFrame>
      <p:sp>
        <p:nvSpPr>
          <p:cNvPr id="37" name="왼쪽 중괄호 36">
            <a:extLst>
              <a:ext uri="{FF2B5EF4-FFF2-40B4-BE49-F238E27FC236}">
                <a16:creationId xmlns:a16="http://schemas.microsoft.com/office/drawing/2014/main" id="{87B0D04C-ADA2-825F-2B2E-F3CE5D017783}"/>
              </a:ext>
            </a:extLst>
          </p:cNvPr>
          <p:cNvSpPr/>
          <p:nvPr/>
        </p:nvSpPr>
        <p:spPr>
          <a:xfrm rot="16200000">
            <a:off x="6048666" y="2609359"/>
            <a:ext cx="230833" cy="2905251"/>
          </a:xfrm>
          <a:prstGeom prst="leftBrace">
            <a:avLst>
              <a:gd name="adj1" fmla="val 188075"/>
              <a:gd name="adj2" fmla="val 50000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  <a:alpha val="50000"/>
                </a:schemeClr>
              </a:gs>
              <a:gs pos="74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왼쪽 중괄호 37">
            <a:extLst>
              <a:ext uri="{FF2B5EF4-FFF2-40B4-BE49-F238E27FC236}">
                <a16:creationId xmlns:a16="http://schemas.microsoft.com/office/drawing/2014/main" id="{1EBAF0E4-1CD5-0DE5-DC71-518E2730999E}"/>
              </a:ext>
            </a:extLst>
          </p:cNvPr>
          <p:cNvSpPr/>
          <p:nvPr/>
        </p:nvSpPr>
        <p:spPr>
          <a:xfrm rot="16200000">
            <a:off x="9843119" y="2609359"/>
            <a:ext cx="230833" cy="2905251"/>
          </a:xfrm>
          <a:prstGeom prst="leftBrace">
            <a:avLst>
              <a:gd name="adj1" fmla="val 188075"/>
              <a:gd name="adj2" fmla="val 50000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  <a:alpha val="50000"/>
                </a:schemeClr>
              </a:gs>
              <a:gs pos="74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388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28B17518-581D-DDA4-02AC-4C2C8B15B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605205"/>
              </p:ext>
            </p:extLst>
          </p:nvPr>
        </p:nvGraphicFramePr>
        <p:xfrm>
          <a:off x="6272117" y="2300659"/>
          <a:ext cx="5194126" cy="40080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7063">
                  <a:extLst>
                    <a:ext uri="{9D8B030D-6E8A-4147-A177-3AD203B41FA5}">
                      <a16:colId xmlns:a16="http://schemas.microsoft.com/office/drawing/2014/main" val="2142081586"/>
                    </a:ext>
                  </a:extLst>
                </a:gridCol>
                <a:gridCol w="2597063">
                  <a:extLst>
                    <a:ext uri="{9D8B030D-6E8A-4147-A177-3AD203B41FA5}">
                      <a16:colId xmlns:a16="http://schemas.microsoft.com/office/drawing/2014/main" val="3692956284"/>
                    </a:ext>
                  </a:extLst>
                </a:gridCol>
              </a:tblGrid>
              <a:tr h="2004033">
                <a:tc>
                  <a:txBody>
                    <a:bodyPr/>
                    <a:lstStyle/>
                    <a:p>
                      <a:pPr algn="ctr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936101"/>
                  </a:ext>
                </a:extLst>
              </a:tr>
              <a:tr h="200403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828707"/>
                  </a:ext>
                </a:extLst>
              </a:tr>
            </a:tbl>
          </a:graphicData>
        </a:graphic>
      </p:graphicFrame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17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7" name="직사각형 26"/>
          <p:cNvSpPr/>
          <p:nvPr/>
        </p:nvSpPr>
        <p:spPr>
          <a:xfrm>
            <a:off x="6616700" y="549275"/>
            <a:ext cx="4943289" cy="512953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Ⅱ.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82875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훈련 로드맵 수립 및 훈련과정 개발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548909" y="861339"/>
            <a:ext cx="512351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2.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중간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/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최종성과물 및 성과물 보고계획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cxnSp>
        <p:nvCxnSpPr>
          <p:cNvPr id="34" name="직선 연결선 33"/>
          <p:cNvCxnSpPr>
            <a:stCxn id="29" idx="3"/>
          </p:cNvCxnSpPr>
          <p:nvPr/>
        </p:nvCxnSpPr>
        <p:spPr>
          <a:xfrm>
            <a:off x="5672427" y="1073705"/>
            <a:ext cx="588756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4F3EFE-C119-CE2B-1454-61E4B8061650}"/>
              </a:ext>
            </a:extLst>
          </p:cNvPr>
          <p:cNvSpPr/>
          <p:nvPr/>
        </p:nvSpPr>
        <p:spPr>
          <a:xfrm>
            <a:off x="1964035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고딕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6B75E5-B3E8-DE4D-99E7-2018764356E4}"/>
              </a:ext>
            </a:extLst>
          </p:cNvPr>
          <p:cNvSpPr/>
          <p:nvPr/>
        </p:nvSpPr>
        <p:spPr>
          <a:xfrm>
            <a:off x="3178704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A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고딕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6C9272-2471-3B69-E18C-9C7A4E1FA99E}"/>
              </a:ext>
            </a:extLst>
          </p:cNvPr>
          <p:cNvSpPr/>
          <p:nvPr/>
        </p:nvSpPr>
        <p:spPr>
          <a:xfrm>
            <a:off x="749366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고딕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18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2CD85A-A7C1-FBBE-053C-188E19B3A17E}"/>
              </a:ext>
            </a:extLst>
          </p:cNvPr>
          <p:cNvSpPr/>
          <p:nvPr/>
        </p:nvSpPr>
        <p:spPr>
          <a:xfrm>
            <a:off x="695325" y="1216844"/>
            <a:ext cx="10864664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-294640" fontAlgn="base" latinLnBrk="0">
              <a:lnSpc>
                <a:spcPct val="120000"/>
              </a:lnSpc>
              <a:spcAft>
                <a:spcPts val="500"/>
              </a:spcAft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본 사업을 수행함에 따라 도출되는 주요 성과물 구성과 제출 시기는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3121780-7EFC-0569-E4D8-CFEE49246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047908"/>
              </p:ext>
            </p:extLst>
          </p:nvPr>
        </p:nvGraphicFramePr>
        <p:xfrm>
          <a:off x="697869" y="2306829"/>
          <a:ext cx="5206091" cy="3982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5895">
                  <a:extLst>
                    <a:ext uri="{9D8B030D-6E8A-4147-A177-3AD203B41FA5}">
                      <a16:colId xmlns:a16="http://schemas.microsoft.com/office/drawing/2014/main" val="1524571066"/>
                    </a:ext>
                  </a:extLst>
                </a:gridCol>
                <a:gridCol w="323583">
                  <a:extLst>
                    <a:ext uri="{9D8B030D-6E8A-4147-A177-3AD203B41FA5}">
                      <a16:colId xmlns:a16="http://schemas.microsoft.com/office/drawing/2014/main" val="1778684204"/>
                    </a:ext>
                  </a:extLst>
                </a:gridCol>
                <a:gridCol w="2268488">
                  <a:extLst>
                    <a:ext uri="{9D8B030D-6E8A-4147-A177-3AD203B41FA5}">
                      <a16:colId xmlns:a16="http://schemas.microsoft.com/office/drawing/2014/main" val="4238868988"/>
                    </a:ext>
                  </a:extLst>
                </a:gridCol>
                <a:gridCol w="550396">
                  <a:extLst>
                    <a:ext uri="{9D8B030D-6E8A-4147-A177-3AD203B41FA5}">
                      <a16:colId xmlns:a16="http://schemas.microsoft.com/office/drawing/2014/main" val="2128712769"/>
                    </a:ext>
                  </a:extLst>
                </a:gridCol>
                <a:gridCol w="607729">
                  <a:extLst>
                    <a:ext uri="{9D8B030D-6E8A-4147-A177-3AD203B41FA5}">
                      <a16:colId xmlns:a16="http://schemas.microsoft.com/office/drawing/2014/main" val="1051096642"/>
                    </a:ext>
                  </a:extLst>
                </a:gridCol>
              </a:tblGrid>
              <a:tr h="274002">
                <a:tc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산출물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세부구분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제출시기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334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File </a:t>
                      </a:r>
                      <a:r>
                        <a:rPr lang="ko-KR" altLang="en-US" sz="10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형태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9560"/>
                  </a:ext>
                </a:extLst>
              </a:tr>
              <a:tr h="618035">
                <a:tc row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친환경 </a:t>
                      </a:r>
                      <a:r>
                        <a:rPr kumimoji="1" lang="ko-KR" altLang="en-US" sz="10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화학바이오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분야 내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외부 산업환경 및 교육현황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01.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-85725" algn="l" defTabSz="914400" rtl="0" eaLnBrk="1" fontAlgn="ctr" latinLnBrk="0" hangingPunct="1"/>
                      <a:r>
                        <a:rPr lang="ko-KR" altLang="en-US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산업환경 및 교육훈련 현황 분석 결과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6</a:t>
                      </a:r>
                      <a:r>
                        <a:rPr lang="ko-KR" altLang="en-US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월</a:t>
                      </a:r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98192"/>
                  </a:ext>
                </a:extLst>
              </a:tr>
              <a:tr h="618035">
                <a:tc v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kumimoji="1"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02.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-8572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훈련과정 로드맵 및 세미나 의제 설계를 위한 시사점 도출 결과</a:t>
                      </a:r>
                      <a:endParaRPr lang="en-US" altLang="ko-KR" sz="1000" b="0" i="0" u="none" strike="noStrike" kern="120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6</a:t>
                      </a:r>
                      <a:r>
                        <a:rPr lang="ko-KR" altLang="en-US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월</a:t>
                      </a:r>
                      <a:endParaRPr lang="en-US" altLang="ko-KR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121912"/>
                  </a:ext>
                </a:extLst>
              </a:tr>
              <a:tr h="618035">
                <a:tc row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KTR 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산업전환 공동훈련센터 운영 전략 및 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5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개년도 훈련과정 로드맵 도출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01.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-8572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KTR </a:t>
                      </a:r>
                      <a:r>
                        <a:rPr lang="ko-KR" altLang="en-US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공동훈련센터 운영 전략</a:t>
                      </a:r>
                      <a:endParaRPr lang="en-US" altLang="ko-KR" sz="1000" b="0" i="0" u="none" strike="noStrike" kern="120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10</a:t>
                      </a:r>
                      <a:r>
                        <a:rPr lang="ko-KR" altLang="en-US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월</a:t>
                      </a:r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626598"/>
                  </a:ext>
                </a:extLst>
              </a:tr>
              <a:tr h="618035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800" b="1" i="0" u="none" strike="noStrike">
                        <a:solidFill>
                          <a:srgbClr val="000000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marL="6350" marR="6350" marT="6350" marB="0" anchor="ctr">
                    <a:lnT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02.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 </a:t>
                      </a:r>
                      <a:r>
                        <a:rPr lang="en-US" altLang="ko-KR" sz="1000" b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5</a:t>
                      </a:r>
                      <a:r>
                        <a:rPr lang="ko-KR" altLang="en-US" sz="1000" b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개년도 훈련과정 로드맵</a:t>
                      </a:r>
                      <a:endParaRPr lang="ko-KR" alt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10</a:t>
                      </a:r>
                      <a:r>
                        <a:rPr lang="ko-KR" altLang="en-US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월</a:t>
                      </a:r>
                      <a:endParaRPr lang="en-US" altLang="ko-KR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331807"/>
                  </a:ext>
                </a:extLst>
              </a:tr>
              <a:tr h="618035">
                <a:tc row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비연속과정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세미나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설계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01.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lvl="2" indent="-85725" algn="l" defTabSz="914400" rtl="0" eaLnBrk="1" fontAlgn="ctr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5</a:t>
                      </a:r>
                      <a:r>
                        <a:rPr lang="ko-KR" altLang="en-US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개년도 세미나 의제 최종</a:t>
                      </a:r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안</a:t>
                      </a:r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10</a:t>
                      </a:r>
                      <a:r>
                        <a:rPr lang="ko-KR" altLang="en-US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월</a:t>
                      </a:r>
                      <a:endParaRPr lang="en-US" altLang="ko-KR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ko-KR" alt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7173"/>
                  </a:ext>
                </a:extLst>
              </a:tr>
              <a:tr h="6180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02.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-85725" algn="l" fontAlgn="ctr" latinLnBrk="0"/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훈련과정 로드맵 활용을 위한 제언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11</a:t>
                      </a:r>
                      <a:r>
                        <a:rPr lang="ko-KR" altLang="en-US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ko-KR" alt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586568"/>
                  </a:ext>
                </a:extLst>
              </a:tr>
            </a:tbl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B009E1E6-18EF-BF0C-E6C1-E4FAF4656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716" y="3385652"/>
            <a:ext cx="212479" cy="21600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B305A483-1606-0AE3-0CAF-7487670B15AE}"/>
              </a:ext>
            </a:extLst>
          </p:cNvPr>
          <p:cNvGrpSpPr/>
          <p:nvPr/>
        </p:nvGrpSpPr>
        <p:grpSpPr>
          <a:xfrm>
            <a:off x="5384907" y="4592644"/>
            <a:ext cx="445310" cy="216000"/>
            <a:chOff x="5384907" y="4204119"/>
            <a:chExt cx="445310" cy="216000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C7EB92A-2851-F264-1875-586D18AD3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4907" y="4204119"/>
              <a:ext cx="197618" cy="216000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E6C02210-AD08-5F04-C768-D55AEBD34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7738" y="4204119"/>
              <a:ext cx="212479" cy="216000"/>
            </a:xfrm>
            <a:prstGeom prst="rect">
              <a:avLst/>
            </a:prstGeom>
          </p:spPr>
        </p:pic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99278786-BD80-2198-6C1B-A672EE5D9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716" y="5854501"/>
            <a:ext cx="212479" cy="2160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7A9EABA3-E89B-7A13-950A-A8D0F95247B1}"/>
              </a:ext>
            </a:extLst>
          </p:cNvPr>
          <p:cNvGrpSpPr/>
          <p:nvPr/>
        </p:nvGrpSpPr>
        <p:grpSpPr>
          <a:xfrm>
            <a:off x="5384907" y="5232716"/>
            <a:ext cx="445310" cy="216000"/>
            <a:chOff x="5384907" y="4719376"/>
            <a:chExt cx="445310" cy="216000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C94D9429-EAC0-D328-047A-40DE1C3EB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4907" y="4719376"/>
              <a:ext cx="197618" cy="21600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3D3A95C1-B46E-D2FC-2DFA-36CE1790E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7738" y="4719376"/>
              <a:ext cx="212479" cy="216000"/>
            </a:xfrm>
            <a:prstGeom prst="rect">
              <a:avLst/>
            </a:prstGeom>
          </p:spPr>
        </p:pic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81B3A151-E496-DB6C-EB29-02F656B89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767" y="4392380"/>
            <a:ext cx="2268430" cy="170789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CCA32D65-5EE1-EF1B-FD81-9D1B2F42D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145" y="4392380"/>
            <a:ext cx="2203123" cy="1696418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B223978-9F07-2162-20FE-B0D2E8F27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3145" y="2405764"/>
            <a:ext cx="2235251" cy="169205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6E592C59-4EA4-12D9-347F-8DD73BC8A2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2767" y="2405764"/>
            <a:ext cx="2275733" cy="169205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916DA991-F496-A80E-4A8C-20F516BCEB0A}"/>
              </a:ext>
            </a:extLst>
          </p:cNvPr>
          <p:cNvGrpSpPr/>
          <p:nvPr/>
        </p:nvGrpSpPr>
        <p:grpSpPr>
          <a:xfrm>
            <a:off x="5384907" y="3989148"/>
            <a:ext cx="445310" cy="216000"/>
            <a:chOff x="5384907" y="3707342"/>
            <a:chExt cx="445310" cy="216000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17A5F05C-8C8B-F209-1966-DEE144870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4907" y="3707342"/>
              <a:ext cx="197618" cy="216000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9164662B-6327-6378-DF5E-BEFE37A7B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7738" y="3707342"/>
              <a:ext cx="212479" cy="216000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A815FED-63B8-C098-21B2-5A5636608F86}"/>
              </a:ext>
            </a:extLst>
          </p:cNvPr>
          <p:cNvGrpSpPr/>
          <p:nvPr/>
        </p:nvGrpSpPr>
        <p:grpSpPr>
          <a:xfrm>
            <a:off x="5384907" y="2763868"/>
            <a:ext cx="445310" cy="216000"/>
            <a:chOff x="5384907" y="2672428"/>
            <a:chExt cx="445310" cy="216000"/>
          </a:xfrm>
        </p:grpSpPr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E97C5D6A-DD9B-E258-34D4-ABEA0B43B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4907" y="2672428"/>
              <a:ext cx="197618" cy="216000"/>
            </a:xfrm>
            <a:prstGeom prst="rect">
              <a:avLst/>
            </a:prstGeom>
          </p:spPr>
        </p:pic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1AC00324-8D51-64E7-338D-1C0A0601C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7738" y="2672428"/>
              <a:ext cx="212479" cy="216000"/>
            </a:xfrm>
            <a:prstGeom prst="rect">
              <a:avLst/>
            </a:prstGeom>
          </p:spPr>
        </p:pic>
      </p:grpSp>
      <p:sp>
        <p:nvSpPr>
          <p:cNvPr id="50" name="사각형: 잘린 한쪽 모서리 42">
            <a:extLst>
              <a:ext uri="{FF2B5EF4-FFF2-40B4-BE49-F238E27FC236}">
                <a16:creationId xmlns:a16="http://schemas.microsoft.com/office/drawing/2014/main" id="{732A2906-E09E-B9FA-2244-C1EAA6F3A93B}"/>
              </a:ext>
            </a:extLst>
          </p:cNvPr>
          <p:cNvSpPr/>
          <p:nvPr/>
        </p:nvSpPr>
        <p:spPr>
          <a:xfrm flipV="1">
            <a:off x="598850" y="1712040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D81E558-6C14-9726-5F37-63A4E70D906B}"/>
              </a:ext>
            </a:extLst>
          </p:cNvPr>
          <p:cNvSpPr/>
          <p:nvPr/>
        </p:nvSpPr>
        <p:spPr>
          <a:xfrm>
            <a:off x="701167" y="1744265"/>
            <a:ext cx="43566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성과물 구성 및 제출시기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52" name="사각형: 잘린 한쪽 모서리 42">
            <a:extLst>
              <a:ext uri="{FF2B5EF4-FFF2-40B4-BE49-F238E27FC236}">
                <a16:creationId xmlns:a16="http://schemas.microsoft.com/office/drawing/2014/main" id="{A8517E52-E6A6-7D1B-A850-FF2D19797725}"/>
              </a:ext>
            </a:extLst>
          </p:cNvPr>
          <p:cNvSpPr/>
          <p:nvPr/>
        </p:nvSpPr>
        <p:spPr>
          <a:xfrm flipV="1">
            <a:off x="6169800" y="1712040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E4F1E18-1D5A-EBBD-AF89-5B886373A410}"/>
              </a:ext>
            </a:extLst>
          </p:cNvPr>
          <p:cNvSpPr/>
          <p:nvPr/>
        </p:nvSpPr>
        <p:spPr>
          <a:xfrm>
            <a:off x="6272117" y="1744265"/>
            <a:ext cx="43566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중간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/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최종성과물 도출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예시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C1E4DD-50F1-80A1-D293-F273043002F1}"/>
              </a:ext>
            </a:extLst>
          </p:cNvPr>
          <p:cNvSpPr txBox="1"/>
          <p:nvPr/>
        </p:nvSpPr>
        <p:spPr bwMode="auto">
          <a:xfrm>
            <a:off x="6600864" y="4072912"/>
            <a:ext cx="1957587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algn="just"/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 「전략 방향」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예시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AE6A8C-5870-F95D-D705-971A81390450}"/>
              </a:ext>
            </a:extLst>
          </p:cNvPr>
          <p:cNvSpPr txBox="1"/>
          <p:nvPr/>
        </p:nvSpPr>
        <p:spPr bwMode="auto">
          <a:xfrm>
            <a:off x="9464709" y="4072912"/>
            <a:ext cx="1245854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algn="just"/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훈련과정 체계 수립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예시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E5C803-7ED1-7606-BD56-2A89B7DEFF82}"/>
              </a:ext>
            </a:extLst>
          </p:cNvPr>
          <p:cNvSpPr txBox="1"/>
          <p:nvPr/>
        </p:nvSpPr>
        <p:spPr bwMode="auto">
          <a:xfrm>
            <a:off x="6911845" y="6070501"/>
            <a:ext cx="1335622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algn="just"/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「훈련과정 체계수립」 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예시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A45B5C-D032-5380-2DBA-0718B65F6A94}"/>
              </a:ext>
            </a:extLst>
          </p:cNvPr>
          <p:cNvSpPr txBox="1"/>
          <p:nvPr/>
        </p:nvSpPr>
        <p:spPr bwMode="auto">
          <a:xfrm>
            <a:off x="9282766" y="6070501"/>
            <a:ext cx="1609736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algn="just"/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「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5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개년도 훈련과정 로드맵」 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예시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8862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169790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3.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추진 일정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2246810" y="1073705"/>
            <a:ext cx="9313179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69195B-E2F0-7094-F3A8-92D4243CF92B}"/>
              </a:ext>
            </a:extLst>
          </p:cNvPr>
          <p:cNvSpPr/>
          <p:nvPr/>
        </p:nvSpPr>
        <p:spPr>
          <a:xfrm>
            <a:off x="667957" y="1216844"/>
            <a:ext cx="10864664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제안기관은 과업지시서 분석을 통해 아래와 같이 과업 구분 후 추진 일정을 수립하였으며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발주기관과의 협의를 통해 최종 수행계획을 확정하고자 함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A3D88C-F1FD-7C5C-3452-4767F1D0CB2D}"/>
              </a:ext>
            </a:extLst>
          </p:cNvPr>
          <p:cNvSpPr/>
          <p:nvPr/>
        </p:nvSpPr>
        <p:spPr>
          <a:xfrm>
            <a:off x="1964035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고딕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16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FEB1FA-79DD-27D1-48E7-3B341456786F}"/>
              </a:ext>
            </a:extLst>
          </p:cNvPr>
          <p:cNvSpPr/>
          <p:nvPr/>
        </p:nvSpPr>
        <p:spPr>
          <a:xfrm>
            <a:off x="3178704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A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고딕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F8DF20-E152-7661-4D40-73D1047EBC22}"/>
              </a:ext>
            </a:extLst>
          </p:cNvPr>
          <p:cNvSpPr/>
          <p:nvPr/>
        </p:nvSpPr>
        <p:spPr>
          <a:xfrm>
            <a:off x="749366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고딕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18</a:t>
            </a: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1EEEDD43-482F-D22E-714D-54BC47844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918842"/>
              </p:ext>
            </p:extLst>
          </p:nvPr>
        </p:nvGraphicFramePr>
        <p:xfrm>
          <a:off x="6246570" y="1711555"/>
          <a:ext cx="5313422" cy="4598025"/>
        </p:xfrm>
        <a:graphic>
          <a:graphicData uri="http://schemas.openxmlformats.org/drawingml/2006/table">
            <a:tbl>
              <a:tblPr/>
              <a:tblGrid>
                <a:gridCol w="2800317">
                  <a:extLst>
                    <a:ext uri="{9D8B030D-6E8A-4147-A177-3AD203B41FA5}">
                      <a16:colId xmlns:a16="http://schemas.microsoft.com/office/drawing/2014/main" val="3456456502"/>
                    </a:ext>
                  </a:extLst>
                </a:gridCol>
                <a:gridCol w="359015">
                  <a:extLst>
                    <a:ext uri="{9D8B030D-6E8A-4147-A177-3AD203B41FA5}">
                      <a16:colId xmlns:a16="http://schemas.microsoft.com/office/drawing/2014/main" val="633286063"/>
                    </a:ext>
                  </a:extLst>
                </a:gridCol>
                <a:gridCol w="359015">
                  <a:extLst>
                    <a:ext uri="{9D8B030D-6E8A-4147-A177-3AD203B41FA5}">
                      <a16:colId xmlns:a16="http://schemas.microsoft.com/office/drawing/2014/main" val="1569098419"/>
                    </a:ext>
                  </a:extLst>
                </a:gridCol>
                <a:gridCol w="359015">
                  <a:extLst>
                    <a:ext uri="{9D8B030D-6E8A-4147-A177-3AD203B41FA5}">
                      <a16:colId xmlns:a16="http://schemas.microsoft.com/office/drawing/2014/main" val="2436468702"/>
                    </a:ext>
                  </a:extLst>
                </a:gridCol>
                <a:gridCol w="359015">
                  <a:extLst>
                    <a:ext uri="{9D8B030D-6E8A-4147-A177-3AD203B41FA5}">
                      <a16:colId xmlns:a16="http://schemas.microsoft.com/office/drawing/2014/main" val="1250869440"/>
                    </a:ext>
                  </a:extLst>
                </a:gridCol>
                <a:gridCol w="359015">
                  <a:extLst>
                    <a:ext uri="{9D8B030D-6E8A-4147-A177-3AD203B41FA5}">
                      <a16:colId xmlns:a16="http://schemas.microsoft.com/office/drawing/2014/main" val="1292237097"/>
                    </a:ext>
                  </a:extLst>
                </a:gridCol>
                <a:gridCol w="359015">
                  <a:extLst>
                    <a:ext uri="{9D8B030D-6E8A-4147-A177-3AD203B41FA5}">
                      <a16:colId xmlns:a16="http://schemas.microsoft.com/office/drawing/2014/main" val="1710665419"/>
                    </a:ext>
                  </a:extLst>
                </a:gridCol>
                <a:gridCol w="359015">
                  <a:extLst>
                    <a:ext uri="{9D8B030D-6E8A-4147-A177-3AD203B41FA5}">
                      <a16:colId xmlns:a16="http://schemas.microsoft.com/office/drawing/2014/main" val="519808837"/>
                    </a:ext>
                  </a:extLst>
                </a:gridCol>
              </a:tblGrid>
              <a:tr h="316579">
                <a:tc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6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8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9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11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707955"/>
                  </a:ext>
                </a:extLst>
              </a:tr>
              <a:tr h="237778">
                <a:tc gridSpan="7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 구체화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10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118407"/>
                  </a:ext>
                </a:extLst>
              </a:tr>
              <a:tr h="237892">
                <a:tc>
                  <a:txBody>
                    <a:bodyPr/>
                    <a:lstStyle/>
                    <a:p>
                      <a:pPr marL="266700" marR="0" indent="-85725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구체화 및 착수보고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50" dirty="0"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★ 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867240"/>
                  </a:ext>
                </a:extLst>
              </a:tr>
              <a:tr h="237892">
                <a:tc gridSpan="7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친환경 </a:t>
                      </a:r>
                      <a:r>
                        <a:rPr kumimoji="1" lang="ko-KR" altLang="en-US" sz="10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화학바이오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분야 내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외부 산업환경 및 교육현황 분석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kumimoji="1" lang="ko-KR" altLang="en-US" sz="10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065655"/>
                  </a:ext>
                </a:extLst>
              </a:tr>
              <a:tr h="237892">
                <a:tc>
                  <a:txBody>
                    <a:bodyPr/>
                    <a:lstStyle/>
                    <a:p>
                      <a:pPr marL="266700" marR="0" indent="-85725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산업환경</a:t>
                      </a:r>
                      <a:r>
                        <a:rPr kumimoji="1" lang="en-US" altLang="ko-KR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교육현황 분석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326044"/>
                  </a:ext>
                </a:extLst>
              </a:tr>
              <a:tr h="237892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분석결과 제시 및 시사점 도출</a:t>
                      </a:r>
                      <a:endParaRPr kumimoji="1" lang="en-US" altLang="ko-KR" sz="10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403077"/>
                  </a:ext>
                </a:extLst>
              </a:tr>
              <a:tr h="237892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중간보고</a:t>
                      </a:r>
                      <a:endParaRPr kumimoji="1" lang="en-US" altLang="ko-KR" sz="10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50" dirty="0"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★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012680"/>
                  </a:ext>
                </a:extLst>
              </a:tr>
              <a:tr h="237892">
                <a:tc gridSpan="7"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KTR 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산업전환 공동훈련센터 운영 전략 및 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5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개년도 훈련과정 로드맵 도출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10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866562"/>
                  </a:ext>
                </a:extLst>
              </a:tr>
              <a:tr h="237892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공동훈련센터 운영 전략 도출</a:t>
                      </a:r>
                      <a:endParaRPr kumimoji="1" lang="en-US" altLang="ko-KR" sz="10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21311"/>
                  </a:ext>
                </a:extLst>
              </a:tr>
              <a:tr h="237892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kumimoji="1" lang="ko-KR" altLang="en-US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 분야</a:t>
                      </a:r>
                      <a:r>
                        <a:rPr kumimoji="1" lang="en-US" altLang="ko-KR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수준</a:t>
                      </a:r>
                      <a:r>
                        <a:rPr kumimoji="1" lang="en-US" altLang="ko-KR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내용 개발을 통한 로드맵 설계</a:t>
                      </a:r>
                      <a:endParaRPr kumimoji="1" lang="en-US" altLang="ko-KR" sz="10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215566"/>
                  </a:ext>
                </a:extLst>
              </a:tr>
              <a:tr h="237892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kumimoji="1" lang="ko-KR" altLang="en-US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이해관계자 간 크로스체크</a:t>
                      </a:r>
                      <a:r>
                        <a:rPr kumimoji="1" lang="en-US" altLang="ko-KR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(cross-check)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101935"/>
                  </a:ext>
                </a:extLst>
              </a:tr>
              <a:tr h="237892">
                <a:tc>
                  <a:txBody>
                    <a:bodyPr/>
                    <a:lstStyle/>
                    <a:p>
                      <a:pPr marL="180975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  - </a:t>
                      </a:r>
                      <a:r>
                        <a:rPr kumimoji="1" lang="ko-KR" altLang="en-US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컨설팅 결과물 연계 검토</a:t>
                      </a:r>
                      <a:endParaRPr kumimoji="1" lang="en-US" altLang="ko-KR" sz="10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65019"/>
                  </a:ext>
                </a:extLst>
              </a:tr>
              <a:tr h="237892">
                <a:tc gridSpan="7"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0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비연속과정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세미나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설계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10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119147"/>
                  </a:ext>
                </a:extLst>
              </a:tr>
              <a:tr h="225508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문헌분석을 통한 세미나 의제</a:t>
                      </a:r>
                      <a:r>
                        <a:rPr kumimoji="1" lang="en-US" altLang="ko-KR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후보 발굴</a:t>
                      </a:r>
                      <a:endParaRPr kumimoji="1" lang="en-US" altLang="ko-KR" sz="10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323460"/>
                  </a:ext>
                </a:extLst>
              </a:tr>
              <a:tr h="275856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kumimoji="1" lang="en-US" altLang="ko-KR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</a:t>
                      </a: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개년도 세미나 의제 최종</a:t>
                      </a:r>
                      <a:r>
                        <a:rPr kumimoji="1" lang="en-US" altLang="ko-KR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안</a:t>
                      </a:r>
                      <a:r>
                        <a:rPr kumimoji="1" lang="en-US" altLang="ko-KR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도출</a:t>
                      </a:r>
                      <a:endParaRPr kumimoji="1" lang="en-US" altLang="ko-KR" sz="10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085847"/>
                  </a:ext>
                </a:extLst>
              </a:tr>
              <a:tr h="237892">
                <a:tc>
                  <a:txBody>
                    <a:bodyPr/>
                    <a:lstStyle/>
                    <a:p>
                      <a:pPr marL="266700" marR="635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훈련과정 로드맵 활용을 위한 제언 제시</a:t>
                      </a:r>
                      <a:endParaRPr kumimoji="1" lang="en-US" altLang="ko-KR" sz="10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632029"/>
                  </a:ext>
                </a:extLst>
              </a:tr>
              <a:tr h="211816">
                <a:tc gridSpan="7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최종보고 및 최종보고서 제출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kumimoji="1" lang="ko-KR" altLang="en-US" sz="10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226758"/>
                  </a:ext>
                </a:extLst>
              </a:tr>
              <a:tr h="237892">
                <a:tc>
                  <a:txBody>
                    <a:bodyPr/>
                    <a:lstStyle/>
                    <a:p>
                      <a:pPr marL="266700" marR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최종보고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50" dirty="0"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★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476382"/>
                  </a:ext>
                </a:extLst>
              </a:tr>
              <a:tr h="237892">
                <a:tc>
                  <a:txBody>
                    <a:bodyPr/>
                    <a:lstStyle/>
                    <a:p>
                      <a:pPr marL="266700" marR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보고서 수정</a:t>
                      </a:r>
                      <a:r>
                        <a:rPr kumimoji="1" lang="en-US" altLang="ko-KR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보완 등 사업 마무리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5833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639F1E0-C7BE-F60B-E010-783A59F7C621}"/>
              </a:ext>
            </a:extLst>
          </p:cNvPr>
          <p:cNvSpPr txBox="1"/>
          <p:nvPr/>
        </p:nvSpPr>
        <p:spPr>
          <a:xfrm>
            <a:off x="6228282" y="6279520"/>
            <a:ext cx="11620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6350" lvl="0" indent="0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★ </a:t>
            </a:r>
            <a:r>
              <a:rPr kumimoji="0" lang="en-US" altLang="ko-KR" sz="105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: </a:t>
            </a:r>
            <a:r>
              <a:rPr kumimoji="0" lang="ko-KR" altLang="en-US" sz="105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보고회 실시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B2B7A33-57A1-0473-4020-5EE9724E6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197958"/>
              </p:ext>
            </p:extLst>
          </p:nvPr>
        </p:nvGraphicFramePr>
        <p:xfrm>
          <a:off x="623888" y="1721081"/>
          <a:ext cx="5316892" cy="4588503"/>
        </p:xfrm>
        <a:graphic>
          <a:graphicData uri="http://schemas.openxmlformats.org/drawingml/2006/table">
            <a:tbl>
              <a:tblPr/>
              <a:tblGrid>
                <a:gridCol w="1401312">
                  <a:extLst>
                    <a:ext uri="{9D8B030D-6E8A-4147-A177-3AD203B41FA5}">
                      <a16:colId xmlns:a16="http://schemas.microsoft.com/office/drawing/2014/main" val="1442526141"/>
                    </a:ext>
                  </a:extLst>
                </a:gridCol>
                <a:gridCol w="113158">
                  <a:extLst>
                    <a:ext uri="{9D8B030D-6E8A-4147-A177-3AD203B41FA5}">
                      <a16:colId xmlns:a16="http://schemas.microsoft.com/office/drawing/2014/main" val="3663835789"/>
                    </a:ext>
                  </a:extLst>
                </a:gridCol>
                <a:gridCol w="2596243">
                  <a:extLst>
                    <a:ext uri="{9D8B030D-6E8A-4147-A177-3AD203B41FA5}">
                      <a16:colId xmlns:a16="http://schemas.microsoft.com/office/drawing/2014/main" val="1492289009"/>
                    </a:ext>
                  </a:extLst>
                </a:gridCol>
                <a:gridCol w="117432">
                  <a:extLst>
                    <a:ext uri="{9D8B030D-6E8A-4147-A177-3AD203B41FA5}">
                      <a16:colId xmlns:a16="http://schemas.microsoft.com/office/drawing/2014/main" val="2669522141"/>
                    </a:ext>
                  </a:extLst>
                </a:gridCol>
                <a:gridCol w="1088747">
                  <a:extLst>
                    <a:ext uri="{9D8B030D-6E8A-4147-A177-3AD203B41FA5}">
                      <a16:colId xmlns:a16="http://schemas.microsoft.com/office/drawing/2014/main" val="3054239537"/>
                    </a:ext>
                  </a:extLst>
                </a:gridCol>
              </a:tblGrid>
              <a:tr h="3695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주요</a:t>
                      </a:r>
                      <a:r>
                        <a:rPr lang="ko-KR" altLang="en-US" sz="1000" kern="120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과업</a:t>
                      </a:r>
                    </a:p>
                  </a:txBody>
                  <a:tcPr marL="45720" marR="457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세부내용</a:t>
                      </a:r>
                    </a:p>
                  </a:txBody>
                  <a:tcPr marL="45720" marR="457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방법론</a:t>
                      </a:r>
                    </a:p>
                  </a:txBody>
                  <a:tcPr marL="45720" marR="457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953531"/>
                  </a:ext>
                </a:extLst>
              </a:tr>
              <a:tr h="182772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친환경 </a:t>
                      </a:r>
                      <a:r>
                        <a:rPr kumimoji="1" lang="ko-KR" altLang="en-US" sz="10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화학바이오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분야 내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외부 산업환경 및 교육현황 분석</a:t>
                      </a: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1000" kern="0" spc="-5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산업환경 분석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관련 선행연구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국내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외 산업 동향 및 정부정책 현황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기술변화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노동시장 등 분석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기업 산업전환 대응전략 도출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교육현황 분석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국내외 친환경 </a:t>
                      </a:r>
                      <a:r>
                        <a:rPr lang="ko-KR" altLang="en-US" sz="1050" kern="0" spc="-6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분야 교육훈련 현황 분석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분석결과 제시 및 산업전환 단계별 전략 반영을 위한 시사점 도출</a:t>
                      </a: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1000" kern="0" spc="-5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문헌연구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전문가 자문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488525"/>
                  </a:ext>
                </a:extLst>
              </a:tr>
              <a:tr h="18353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07852"/>
                  </a:ext>
                </a:extLst>
              </a:tr>
              <a:tr h="100180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KTR 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산업전환 공동훈련센터 운영 전략 및 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5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개년도 훈련과정 로드맵 도출</a:t>
                      </a: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1000" kern="0" spc="-5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공동훈련센터 운영 전략 도출 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훈련 분야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수준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내용 개발을 통한 로드맵 설계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이해관계자 간의 크로스체크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(cross-check)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를 통한 유효성 확보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 -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컨설팅 결과물 연계 검토</a:t>
                      </a: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1000" kern="0" spc="-5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문헌연구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전문가 워크숍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(FGI)</a:t>
                      </a: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간담회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서면검토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552244"/>
                  </a:ext>
                </a:extLst>
              </a:tr>
              <a:tr h="18353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27799"/>
                  </a:ext>
                </a:extLst>
              </a:tr>
              <a:tr h="100180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비연속과정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세미나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설계</a:t>
                      </a: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1000" kern="0" spc="-5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훈련로드맵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기반 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개년도 세미나 의제 제시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기존 훈련과정과의 비교를 통한 차별성 제시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훈련과정 로드맵 활용을 위한 제언 제시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1000" kern="0" spc="-5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문헌연구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전문가 워크숍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(FGI)</a:t>
                      </a: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820366"/>
                  </a:ext>
                </a:extLst>
              </a:tr>
            </a:tbl>
          </a:graphicData>
        </a:graphic>
      </p:graphicFrame>
      <p:sp>
        <p:nvSpPr>
          <p:cNvPr id="11" name="슬라이드 번호 개체 틀 4">
            <a:extLst>
              <a:ext uri="{FF2B5EF4-FFF2-40B4-BE49-F238E27FC236}">
                <a16:creationId xmlns:a16="http://schemas.microsoft.com/office/drawing/2014/main" id="{95359A21-FDEB-2917-FCBB-1DC71D1B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449334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18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D157F88-65AB-2D0F-F249-1B1C9C06C355}"/>
              </a:ext>
            </a:extLst>
          </p:cNvPr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Ⅱ.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197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7582" r="23" b="7918"/>
          <a:stretch/>
        </p:blipFill>
        <p:spPr>
          <a:xfrm>
            <a:off x="0" y="-10160"/>
            <a:ext cx="12192000" cy="686816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9DCCB7-EA7F-4C7B-901F-1EB347E0E38A}"/>
              </a:ext>
            </a:extLst>
          </p:cNvPr>
          <p:cNvSpPr/>
          <p:nvPr/>
        </p:nvSpPr>
        <p:spPr>
          <a:xfrm>
            <a:off x="0" y="-10160"/>
            <a:ext cx="12192000" cy="686816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357210" y="1766316"/>
            <a:ext cx="5477580" cy="3325368"/>
          </a:xfrm>
          <a:prstGeom prst="rect">
            <a:avLst/>
          </a:prstGeom>
          <a:solidFill>
            <a:schemeClr val="tx1">
              <a:lumMod val="75000"/>
              <a:lumOff val="2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43873-66A0-4D3C-B342-15841D4442B8}"/>
              </a:ext>
            </a:extLst>
          </p:cNvPr>
          <p:cNvSpPr txBox="1"/>
          <p:nvPr/>
        </p:nvSpPr>
        <p:spPr>
          <a:xfrm>
            <a:off x="3763809" y="2126386"/>
            <a:ext cx="4804136" cy="329321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cxnSp>
        <p:nvCxnSpPr>
          <p:cNvPr id="12" name="직선 연결선 11"/>
          <p:cNvCxnSpPr/>
          <p:nvPr/>
        </p:nvCxnSpPr>
        <p:spPr>
          <a:xfrm flipV="1">
            <a:off x="3870399" y="3070719"/>
            <a:ext cx="4451202" cy="37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109520-8C58-45C8-BCAF-C32FCEF6237B}"/>
              </a:ext>
            </a:extLst>
          </p:cNvPr>
          <p:cNvSpPr txBox="1"/>
          <p:nvPr/>
        </p:nvSpPr>
        <p:spPr>
          <a:xfrm flipH="1">
            <a:off x="3763809" y="2474286"/>
            <a:ext cx="3329758" cy="461665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Ⅲ.</a:t>
            </a:r>
            <a:r>
              <a:rPr lang="ko-KR" altLang="en-US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과업수행 조직 및 관리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763809" y="3066067"/>
            <a:ext cx="2286203" cy="189590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수행조직 구성 및 체계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2.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과업 수행 및 관리 방안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8815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323197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수행조직 구성 및 체계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3780884" y="1073705"/>
            <a:ext cx="7779105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Ⅲ.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과업수행 조직 및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69195B-E2F0-7094-F3A8-92D4243CF92B}"/>
              </a:ext>
            </a:extLst>
          </p:cNvPr>
          <p:cNvSpPr/>
          <p:nvPr/>
        </p:nvSpPr>
        <p:spPr>
          <a:xfrm>
            <a:off x="667957" y="1216844"/>
            <a:ext cx="10864664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제안기관은 본 사업을 추진하기 위해 다음과 같이 조직을 구성하고자 함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A3D88C-F1FD-7C5C-3452-4767F1D0CB2D}"/>
              </a:ext>
            </a:extLst>
          </p:cNvPr>
          <p:cNvSpPr/>
          <p:nvPr/>
        </p:nvSpPr>
        <p:spPr>
          <a:xfrm>
            <a:off x="1964035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고딕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16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FEB1FA-79DD-27D1-48E7-3B341456786F}"/>
              </a:ext>
            </a:extLst>
          </p:cNvPr>
          <p:cNvSpPr/>
          <p:nvPr/>
        </p:nvSpPr>
        <p:spPr>
          <a:xfrm>
            <a:off x="3178704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A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고딕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F8DF20-E152-7661-4D40-73D1047EBC22}"/>
              </a:ext>
            </a:extLst>
          </p:cNvPr>
          <p:cNvSpPr/>
          <p:nvPr/>
        </p:nvSpPr>
        <p:spPr>
          <a:xfrm>
            <a:off x="749366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고딕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18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A784DAA0-A055-BA71-D3D9-84CB70BE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20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C3C4768-01B9-6FE1-F8A0-20D2C233B912}"/>
              </a:ext>
            </a:extLst>
          </p:cNvPr>
          <p:cNvSpPr/>
          <p:nvPr/>
        </p:nvSpPr>
        <p:spPr>
          <a:xfrm>
            <a:off x="632011" y="1700213"/>
            <a:ext cx="5400000" cy="32843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 wrap="square" lIns="232615" tIns="42197" rIns="84393" bIns="42197" anchor="ctr" anchorCtr="0">
            <a:no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/>
          <a:p>
            <a:pPr algn="ctr">
              <a:defRPr/>
            </a:pPr>
            <a:r>
              <a:rPr lang="ko-KR" altLang="en-US" sz="1200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8" panose="02020600000000000000" pitchFamily="18" charset="-127"/>
                <a:ea typeface="a고딕18" panose="02020600000000000000" pitchFamily="18" charset="-127"/>
              </a:rPr>
              <a:t>사업수행 조직 구성</a:t>
            </a:r>
            <a:endParaRPr lang="en-US" altLang="ko-KR" sz="1200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0E3BFB6-9771-E57A-FC2F-4D660510F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285544"/>
              </p:ext>
            </p:extLst>
          </p:nvPr>
        </p:nvGraphicFramePr>
        <p:xfrm>
          <a:off x="628115" y="2585483"/>
          <a:ext cx="5400000" cy="2914924"/>
        </p:xfrm>
        <a:graphic>
          <a:graphicData uri="http://schemas.openxmlformats.org/drawingml/2006/table">
            <a:tbl>
              <a:tblPr/>
              <a:tblGrid>
                <a:gridCol w="547131">
                  <a:extLst>
                    <a:ext uri="{9D8B030D-6E8A-4147-A177-3AD203B41FA5}">
                      <a16:colId xmlns:a16="http://schemas.microsoft.com/office/drawing/2014/main" val="3600690989"/>
                    </a:ext>
                  </a:extLst>
                </a:gridCol>
                <a:gridCol w="855514">
                  <a:extLst>
                    <a:ext uri="{9D8B030D-6E8A-4147-A177-3AD203B41FA5}">
                      <a16:colId xmlns:a16="http://schemas.microsoft.com/office/drawing/2014/main" val="4025563770"/>
                    </a:ext>
                  </a:extLst>
                </a:gridCol>
                <a:gridCol w="231056">
                  <a:extLst>
                    <a:ext uri="{9D8B030D-6E8A-4147-A177-3AD203B41FA5}">
                      <a16:colId xmlns:a16="http://schemas.microsoft.com/office/drawing/2014/main" val="3046094249"/>
                    </a:ext>
                  </a:extLst>
                </a:gridCol>
                <a:gridCol w="319446">
                  <a:extLst>
                    <a:ext uri="{9D8B030D-6E8A-4147-A177-3AD203B41FA5}">
                      <a16:colId xmlns:a16="http://schemas.microsoft.com/office/drawing/2014/main" val="3218149127"/>
                    </a:ext>
                  </a:extLst>
                </a:gridCol>
                <a:gridCol w="562025">
                  <a:extLst>
                    <a:ext uri="{9D8B030D-6E8A-4147-A177-3AD203B41FA5}">
                      <a16:colId xmlns:a16="http://schemas.microsoft.com/office/drawing/2014/main" val="944188614"/>
                    </a:ext>
                  </a:extLst>
                </a:gridCol>
                <a:gridCol w="231056">
                  <a:extLst>
                    <a:ext uri="{9D8B030D-6E8A-4147-A177-3AD203B41FA5}">
                      <a16:colId xmlns:a16="http://schemas.microsoft.com/office/drawing/2014/main" val="3581076526"/>
                    </a:ext>
                  </a:extLst>
                </a:gridCol>
                <a:gridCol w="138498">
                  <a:extLst>
                    <a:ext uri="{9D8B030D-6E8A-4147-A177-3AD203B41FA5}">
                      <a16:colId xmlns:a16="http://schemas.microsoft.com/office/drawing/2014/main" val="3281362983"/>
                    </a:ext>
                  </a:extLst>
                </a:gridCol>
                <a:gridCol w="562025">
                  <a:extLst>
                    <a:ext uri="{9D8B030D-6E8A-4147-A177-3AD203B41FA5}">
                      <a16:colId xmlns:a16="http://schemas.microsoft.com/office/drawing/2014/main" val="1206898867"/>
                    </a:ext>
                  </a:extLst>
                </a:gridCol>
                <a:gridCol w="363239">
                  <a:extLst>
                    <a:ext uri="{9D8B030D-6E8A-4147-A177-3AD203B41FA5}">
                      <a16:colId xmlns:a16="http://schemas.microsoft.com/office/drawing/2014/main" val="3889014403"/>
                    </a:ext>
                  </a:extLst>
                </a:gridCol>
                <a:gridCol w="231056">
                  <a:extLst>
                    <a:ext uri="{9D8B030D-6E8A-4147-A177-3AD203B41FA5}">
                      <a16:colId xmlns:a16="http://schemas.microsoft.com/office/drawing/2014/main" val="390021832"/>
                    </a:ext>
                  </a:extLst>
                </a:gridCol>
                <a:gridCol w="796823">
                  <a:extLst>
                    <a:ext uri="{9D8B030D-6E8A-4147-A177-3AD203B41FA5}">
                      <a16:colId xmlns:a16="http://schemas.microsoft.com/office/drawing/2014/main" val="1526166579"/>
                    </a:ext>
                  </a:extLst>
                </a:gridCol>
                <a:gridCol w="562131">
                  <a:extLst>
                    <a:ext uri="{9D8B030D-6E8A-4147-A177-3AD203B41FA5}">
                      <a16:colId xmlns:a16="http://schemas.microsoft.com/office/drawing/2014/main" val="25538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총괄 책임자</a:t>
                      </a:r>
                      <a:r>
                        <a:rPr lang="en-US" altLang="ko-KR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(PM)</a:t>
                      </a:r>
                      <a:endParaRPr lang="ko-KR" altLang="en-US" sz="1200" b="0" kern="1200" spc="-4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17393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747077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박준석 </a:t>
                      </a:r>
                      <a:r>
                        <a:rPr lang="en-US" altLang="ko-KR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수석연구원</a:t>
                      </a: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040274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5894038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578529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912992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8023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782648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868151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75053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688792"/>
                  </a:ext>
                </a:extLst>
              </a:tr>
              <a:tr h="474553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산업환경 및 교육현황 분석</a:t>
                      </a: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spc="-4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spc="-4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공동훈련센터 운영 전략 및 </a:t>
                      </a:r>
                      <a:r>
                        <a:rPr lang="en-US" altLang="ko-KR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개년도 훈련과정 로드맵 도출</a:t>
                      </a: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spc="-4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spc="-4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4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비연속과정</a:t>
                      </a:r>
                      <a:r>
                        <a:rPr lang="en-US" altLang="ko-KR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세미나</a:t>
                      </a:r>
                      <a:r>
                        <a:rPr lang="en-US" altLang="ko-KR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설계</a:t>
                      </a: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8941835"/>
                  </a:ext>
                </a:extLst>
              </a:tr>
              <a:tr h="684000">
                <a:tc gridSpan="2"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유대훈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책임연구원</a:t>
                      </a: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이석주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선임연구원</a:t>
                      </a:r>
                      <a:endParaRPr lang="en-US" altLang="ko-KR" sz="1200" b="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이지연 </a:t>
                      </a:r>
                      <a:r>
                        <a:rPr lang="en-US" altLang="ko-KR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주임연구원</a:t>
                      </a: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조예슬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선임연구원</a:t>
                      </a:r>
                      <a:endParaRPr lang="en-US" altLang="ko-KR" sz="1200" b="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9965899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4028E87-15FD-CE24-F665-8BC855068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796975"/>
              </p:ext>
            </p:extLst>
          </p:nvPr>
        </p:nvGraphicFramePr>
        <p:xfrm>
          <a:off x="6206613" y="1720547"/>
          <a:ext cx="5361954" cy="4313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926">
                  <a:extLst>
                    <a:ext uri="{9D8B030D-6E8A-4147-A177-3AD203B41FA5}">
                      <a16:colId xmlns:a16="http://schemas.microsoft.com/office/drawing/2014/main" val="2371304561"/>
                    </a:ext>
                  </a:extLst>
                </a:gridCol>
                <a:gridCol w="3760028">
                  <a:extLst>
                    <a:ext uri="{9D8B030D-6E8A-4147-A177-3AD203B41FA5}">
                      <a16:colId xmlns:a16="http://schemas.microsoft.com/office/drawing/2014/main" val="3991411891"/>
                    </a:ext>
                  </a:extLst>
                </a:gridCol>
              </a:tblGrid>
              <a:tr h="3046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업무 분장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000261"/>
                  </a:ext>
                </a:extLst>
              </a:tr>
              <a:tr h="8592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총괄 책임자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(PM)</a:t>
                      </a:r>
                      <a:endParaRPr lang="ko-KR" altLang="en-US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연구에 관한 사항 총괄</a:t>
                      </a: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주요 의사결정</a:t>
                      </a: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착수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중간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최종보고</a:t>
                      </a:r>
                    </a:p>
                  </a:txBody>
                  <a:tcPr marL="72000" marR="17907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948503"/>
                  </a:ext>
                </a:extLst>
              </a:tr>
              <a:tr h="8592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산업환경 및 교육현황 분석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친환경 </a:t>
                      </a:r>
                      <a:r>
                        <a:rPr lang="ko-KR" altLang="en-US" sz="120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산업환경 분석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국내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외 교육현황 분석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분석결과 제시 및 산업전환 단계별 전략 반영을 위한 시사점 도출</a:t>
                      </a:r>
                    </a:p>
                  </a:txBody>
                  <a:tcPr marL="72000" marR="17907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62977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en-US" altLang="ko-KR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KTR </a:t>
                      </a:r>
                      <a:r>
                        <a:rPr kumimoji="1" lang="ko-KR" altLang="en-US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산업전환 공동훈련센터 운영 전략 및 </a:t>
                      </a:r>
                      <a:r>
                        <a:rPr kumimoji="1" lang="en-US" altLang="ko-KR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5</a:t>
                      </a:r>
                      <a:r>
                        <a:rPr kumimoji="1" lang="ko-KR" altLang="en-US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개년도 훈련과정 로드맵 도출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공동훈련센터 운영 전략 도출 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 분야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수준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내용 개발을 통한 로드맵 설계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이해관계자 간의 크로스체크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(cross-check)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를 통한 유효성 확보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kern="0" spc="-6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- 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컨설팅 결과물 연계 검토</a:t>
                      </a:r>
                    </a:p>
                  </a:txBody>
                  <a:tcPr marL="72000" marR="17907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966230"/>
                  </a:ext>
                </a:extLst>
              </a:tr>
              <a:tr h="1065965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20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비연속과정</a:t>
                      </a:r>
                      <a:r>
                        <a:rPr kumimoji="1" lang="en-US" altLang="ko-KR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세미나</a:t>
                      </a:r>
                      <a:r>
                        <a:rPr kumimoji="1" lang="en-US" altLang="ko-KR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설계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세미나 의제 후보 발굴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훈련로드맵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기반 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개년도 세미나 의제 최종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안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도출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훈련과정 로드맵 활용을 위한 제언 제시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72000" marR="17907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783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699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3321743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2.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과업 수행 및 관리 방안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cxnSpLocks/>
            <a:stCxn id="25" idx="3"/>
          </p:cNvCxnSpPr>
          <p:nvPr/>
        </p:nvCxnSpPr>
        <p:spPr>
          <a:xfrm>
            <a:off x="3870652" y="1073705"/>
            <a:ext cx="7689337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Ⅲ.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과업수행 조직 및 관리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A3D88C-F1FD-7C5C-3452-4767F1D0CB2D}"/>
              </a:ext>
            </a:extLst>
          </p:cNvPr>
          <p:cNvSpPr/>
          <p:nvPr/>
        </p:nvSpPr>
        <p:spPr>
          <a:xfrm>
            <a:off x="1964035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고딕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16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FEB1FA-79DD-27D1-48E7-3B341456786F}"/>
              </a:ext>
            </a:extLst>
          </p:cNvPr>
          <p:cNvSpPr/>
          <p:nvPr/>
        </p:nvSpPr>
        <p:spPr>
          <a:xfrm>
            <a:off x="3178704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A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고딕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F8DF20-E152-7661-4D40-73D1047EBC22}"/>
              </a:ext>
            </a:extLst>
          </p:cNvPr>
          <p:cNvSpPr/>
          <p:nvPr/>
        </p:nvSpPr>
        <p:spPr>
          <a:xfrm>
            <a:off x="749366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고딕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18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A784DAA0-A055-BA71-D3D9-84CB70BE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21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B399340-6614-A951-5CF7-CC86A5CEDE6F}"/>
              </a:ext>
            </a:extLst>
          </p:cNvPr>
          <p:cNvSpPr/>
          <p:nvPr/>
        </p:nvSpPr>
        <p:spPr>
          <a:xfrm>
            <a:off x="695325" y="1216844"/>
            <a:ext cx="10864664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R="0" lvl="0" indent="-294640" fontAlgn="base" latinLnBrk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용역 수행 중 추진 조직간 원활한 의사소통을 위해 전담인력을 구성하여 용역의 품질을 높이고 돌발적인 상황에 대처하여 성공적인 사업 수행을 위해 다음과 같은 보고체계를 수립함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53E38D22-5096-4C73-124D-CC0C7EBB3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900636"/>
              </p:ext>
            </p:extLst>
          </p:nvPr>
        </p:nvGraphicFramePr>
        <p:xfrm>
          <a:off x="797643" y="3066999"/>
          <a:ext cx="5026990" cy="1818132"/>
        </p:xfrm>
        <a:graphic>
          <a:graphicData uri="http://schemas.openxmlformats.org/drawingml/2006/table">
            <a:tbl>
              <a:tblPr/>
              <a:tblGrid>
                <a:gridCol w="151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0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9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수행 前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➔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수행 中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➔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수행 後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48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과업범위 명확화</a:t>
                      </a:r>
                    </a:p>
                    <a:p>
                      <a:pPr marL="88900" marR="0" indent="-8890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사업 진행 조직 구성 및 역할 분담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  <a:p>
                      <a:pPr marL="88900" marR="0" indent="-8890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의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사소통 채널 확보 및 돌발상황 대처 방안 마련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단계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별 문제점 파악 및 개선방안 마련</a:t>
                      </a: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수행 중 발주기관 담당자와 지속적인</a:t>
                      </a:r>
                      <a:br>
                        <a:rPr lang="en-US" altLang="ko-KR" sz="11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</a:br>
                      <a:r>
                        <a:rPr lang="ko-KR" altLang="en-US" sz="11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의사소통 및 보고</a:t>
                      </a: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수행 내용</a:t>
                      </a:r>
                      <a:r>
                        <a:rPr lang="en-US" altLang="ko-KR" sz="11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진행의 안정화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최종산출물 정리 및 보고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결과물에 대한 피드백 및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분석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6BF89919-1C7C-2117-680A-ACD297523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837920"/>
              </p:ext>
            </p:extLst>
          </p:nvPr>
        </p:nvGraphicFramePr>
        <p:xfrm>
          <a:off x="6323585" y="3066999"/>
          <a:ext cx="5208254" cy="3111577"/>
        </p:xfrm>
        <a:graphic>
          <a:graphicData uri="http://schemas.openxmlformats.org/drawingml/2006/table">
            <a:tbl>
              <a:tblPr/>
              <a:tblGrid>
                <a:gridCol w="871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6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3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내용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626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착수보고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사업목표 및 범위 확정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추진 계획 및 내용 보고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전담인력 구성 및 업무 분장 보고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계약일로부터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주 이내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10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중간보고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추진 현황에 대한 중간 보고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추후 추진 계획 점검 및 검토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6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월 중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10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최종보고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추진 결과에 대한 보고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결론 및 제언사항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데이터 원본 </a:t>
                      </a:r>
                      <a:r>
                        <a:rPr lang="ko-KR" altLang="en-US" sz="11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가공본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보고서 제출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11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월 중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2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수시보고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주요 사업추진 단계별 결과물에 대한 보고</a:t>
                      </a: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문제점 및 개선사항에 대한 수시보고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이슈 발생시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031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58750" marR="0" indent="-158750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※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본 사업 추진 </a:t>
                      </a:r>
                      <a:r>
                        <a:rPr lang="ko-KR" altLang="en-US" sz="11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절차별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 내용 및 일정은 </a:t>
                      </a:r>
                      <a:r>
                        <a:rPr lang="ko-KR" altLang="en-US" sz="11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예정사항이며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,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최종 일정 등 세부 계획은 발주기관 용역담당자와 사전 협의하여 추진</a:t>
                      </a:r>
                      <a:endParaRPr lang="ko-KR" altLang="en-US" sz="1100" kern="0" spc="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3" name="사각형: 잘린 한쪽 모서리 42">
            <a:extLst>
              <a:ext uri="{FF2B5EF4-FFF2-40B4-BE49-F238E27FC236}">
                <a16:creationId xmlns:a16="http://schemas.microsoft.com/office/drawing/2014/main" id="{62EF30A7-8B78-A30E-52D1-71E416D1FE81}"/>
              </a:ext>
            </a:extLst>
          </p:cNvPr>
          <p:cNvSpPr/>
          <p:nvPr/>
        </p:nvSpPr>
        <p:spPr>
          <a:xfrm flipV="1">
            <a:off x="695325" y="1969454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8BC28C8-7B13-7C05-BCE2-AE61D3983C1B}"/>
              </a:ext>
            </a:extLst>
          </p:cNvPr>
          <p:cNvSpPr/>
          <p:nvPr/>
        </p:nvSpPr>
        <p:spPr>
          <a:xfrm>
            <a:off x="797643" y="2001679"/>
            <a:ext cx="25293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사업 보고 및 협의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4FFF191-D902-37A7-9191-84501C9A3848}"/>
              </a:ext>
            </a:extLst>
          </p:cNvPr>
          <p:cNvSpPr/>
          <p:nvPr/>
        </p:nvSpPr>
        <p:spPr>
          <a:xfrm>
            <a:off x="812563" y="2429695"/>
            <a:ext cx="5208254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5" indent="-142875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발주기관 용역 담당자와 지속적인 의사소통을 통해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절차별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문제점 및 개선사항 등에 대한 논의 후 조치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06A2B1B-3A31-D9EB-DEA1-322481C22228}"/>
              </a:ext>
            </a:extLst>
          </p:cNvPr>
          <p:cNvSpPr/>
          <p:nvPr/>
        </p:nvSpPr>
        <p:spPr>
          <a:xfrm>
            <a:off x="6323585" y="2394589"/>
            <a:ext cx="5208254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5" indent="-142875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본 사업의 보고는 정기보고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착수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중간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최종보고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와 수시보고로 구성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CF21B6-7B97-428B-63AC-4FE591F5BAE9}"/>
              </a:ext>
            </a:extLst>
          </p:cNvPr>
          <p:cNvSpPr txBox="1"/>
          <p:nvPr/>
        </p:nvSpPr>
        <p:spPr bwMode="auto">
          <a:xfrm>
            <a:off x="2459783" y="4885131"/>
            <a:ext cx="1702710" cy="26161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altLang="ko-KR" sz="1100" kern="0" spc="-5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[</a:t>
            </a:r>
            <a:r>
              <a:rPr lang="ko-KR" altLang="en-US" sz="1100" kern="0" spc="-5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그림</a:t>
            </a:r>
            <a:r>
              <a:rPr lang="en-US" altLang="ko-KR" sz="1100" kern="0" spc="-5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] </a:t>
            </a:r>
            <a:r>
              <a:rPr lang="ko-KR" altLang="en-US" sz="1100" kern="0" spc="-5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용역 수행 중 협의계획</a:t>
            </a:r>
          </a:p>
        </p:txBody>
      </p:sp>
    </p:spTree>
    <p:extLst>
      <p:ext uri="{BB962C8B-B14F-4D97-AF65-F5344CB8AC3E}">
        <p14:creationId xmlns:p14="http://schemas.microsoft.com/office/powerpoint/2010/main" val="4054796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15602</TotalTime>
  <Words>4527</Words>
  <Application>Microsoft Office PowerPoint</Application>
  <PresentationFormat>와이드스크린</PresentationFormat>
  <Paragraphs>824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3" baseType="lpstr">
      <vt:lpstr>a고딕14</vt:lpstr>
      <vt:lpstr>SpoqaHanSans-Bold</vt:lpstr>
      <vt:lpstr>Arial</vt:lpstr>
      <vt:lpstr>a고딕13</vt:lpstr>
      <vt:lpstr>a고딕18</vt:lpstr>
      <vt:lpstr>a고딕12</vt:lpstr>
      <vt:lpstr>Wingdings</vt:lpstr>
      <vt:lpstr>맑은 고딕</vt:lpstr>
      <vt:lpstr>SpoqaHanSans-Regular</vt:lpstr>
      <vt:lpstr>a고딕16</vt:lpstr>
      <vt:lpstr>나눔고딕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배종영</dc:creator>
  <cp:lastModifiedBy>jo yeseul</cp:lastModifiedBy>
  <cp:revision>1482</cp:revision>
  <cp:lastPrinted>2023-05-04T02:20:20Z</cp:lastPrinted>
  <dcterms:created xsi:type="dcterms:W3CDTF">2020-09-14T09:09:07Z</dcterms:created>
  <dcterms:modified xsi:type="dcterms:W3CDTF">2023-05-22T02:25:17Z</dcterms:modified>
</cp:coreProperties>
</file>