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60" r:id="rId1"/>
    <p:sldMasterId id="2147483678" r:id="rId2"/>
  </p:sldMasterIdLst>
  <p:notesMasterIdLst>
    <p:notesMasterId r:id="rId31"/>
  </p:notesMasterIdLst>
  <p:handoutMasterIdLst>
    <p:handoutMasterId r:id="rId32"/>
  </p:handoutMasterIdLst>
  <p:sldIdLst>
    <p:sldId id="1327" r:id="rId3"/>
    <p:sldId id="1279" r:id="rId4"/>
    <p:sldId id="1357" r:id="rId5"/>
    <p:sldId id="1377" r:id="rId6"/>
    <p:sldId id="1361" r:id="rId7"/>
    <p:sldId id="1370" r:id="rId8"/>
    <p:sldId id="1368" r:id="rId9"/>
    <p:sldId id="1383" r:id="rId10"/>
    <p:sldId id="1421" r:id="rId11"/>
    <p:sldId id="1438" r:id="rId12"/>
    <p:sldId id="1429" r:id="rId13"/>
    <p:sldId id="1430" r:id="rId14"/>
    <p:sldId id="1418" r:id="rId15"/>
    <p:sldId id="1435" r:id="rId16"/>
    <p:sldId id="1436" r:id="rId17"/>
    <p:sldId id="1437" r:id="rId18"/>
    <p:sldId id="1433" r:id="rId19"/>
    <p:sldId id="1434" r:id="rId20"/>
    <p:sldId id="1416" r:id="rId21"/>
    <p:sldId id="1422" r:id="rId22"/>
    <p:sldId id="1417" r:id="rId23"/>
    <p:sldId id="1378" r:id="rId24"/>
    <p:sldId id="1424" r:id="rId25"/>
    <p:sldId id="1388" r:id="rId26"/>
    <p:sldId id="1420" r:id="rId27"/>
    <p:sldId id="1381" r:id="rId28"/>
    <p:sldId id="1425" r:id="rId29"/>
    <p:sldId id="1426" r:id="rId30"/>
  </p:sldIdLst>
  <p:sldSz cx="9906000" cy="6858000" type="A4"/>
  <p:notesSz cx="6797675" cy="9926638"/>
  <p:embeddedFontLst>
    <p:embeddedFont>
      <p:font typeface="SpoqaHanSans-Bold" panose="020B0600000101010101" charset="-127"/>
      <p:bold r:id="rId33"/>
    </p:embeddedFont>
    <p:embeddedFont>
      <p:font typeface="Arial Narrow" panose="020B0606020202030204" pitchFamily="34" charset="0"/>
      <p:regular r:id="rId34"/>
      <p:bold r:id="rId35"/>
      <p:italic r:id="rId36"/>
      <p:boldItalic r:id="rId37"/>
    </p:embeddedFont>
    <p:embeddedFont>
      <p:font typeface="a고딕12" panose="02020600000000000000" pitchFamily="18" charset="-127"/>
      <p:regular r:id="rId38"/>
    </p:embeddedFont>
    <p:embeddedFont>
      <p:font typeface="a고딕14" panose="02020600000000000000" pitchFamily="18" charset="-127"/>
      <p:regular r:id="rId39"/>
    </p:embeddedFont>
    <p:embeddedFont>
      <p:font typeface="a고딕16" panose="02020600000000000000" pitchFamily="18" charset="-127"/>
      <p:regular r:id="rId40"/>
    </p:embeddedFont>
    <p:embeddedFont>
      <p:font typeface="a고딕17" panose="02020600000000000000" pitchFamily="18" charset="-127"/>
      <p:regular r:id="rId41"/>
    </p:embeddedFont>
    <p:embeddedFont>
      <p:font typeface="a고딕18" panose="02020600000000000000" pitchFamily="18" charset="-127"/>
      <p:regular r:id="rId42"/>
    </p:embeddedFont>
    <p:embeddedFont>
      <p:font typeface="나눔바른고딕" panose="020B0603020101020101" pitchFamily="50" charset="-127"/>
      <p:regular r:id="rId43"/>
      <p:bold r:id="rId44"/>
    </p:embeddedFont>
    <p:embeddedFont>
      <p:font typeface="페이퍼로지 2 ExtraLight" pitchFamily="2" charset="-127"/>
      <p:regular r:id="rId45"/>
    </p:embeddedFont>
    <p:embeddedFont>
      <p:font typeface="페이퍼로지 3 Light" pitchFamily="2" charset="-127"/>
      <p:regular r:id="rId46"/>
    </p:embeddedFont>
    <p:embeddedFont>
      <p:font typeface="페이퍼로지 4 Regular" pitchFamily="2" charset="-127"/>
      <p:regular r:id="rId47"/>
    </p:embeddedFont>
    <p:embeddedFont>
      <p:font typeface="페이퍼로지 5 Medium" pitchFamily="2" charset="-127"/>
      <p:regular r:id="rId48"/>
    </p:embeddedFont>
    <p:embeddedFont>
      <p:font typeface="페이퍼로지 6 SemiBold" pitchFamily="2" charset="-127"/>
      <p:bold r:id="rId49"/>
    </p:embeddedFont>
    <p:embeddedFont>
      <p:font typeface="페이퍼로지 7 Bold" pitchFamily="2" charset="-127"/>
      <p:bold r:id="rId50"/>
    </p:embeddedFont>
    <p:embeddedFont>
      <p:font typeface="페이퍼로지 8 ExtraBold" pitchFamily="2" charset="-127"/>
      <p:bold r:id="rId5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9BF91E1-6BF4-4520-BF3B-8EDD9E77F379}">
          <p14:sldIdLst>
            <p14:sldId id="1327"/>
            <p14:sldId id="1279"/>
          </p14:sldIdLst>
        </p14:section>
        <p14:section name="1장. 개요" id="{86C63093-9F8A-45F4-9F5D-A5DA157709F6}">
          <p14:sldIdLst>
            <p14:sldId id="1357"/>
            <p14:sldId id="1377"/>
            <p14:sldId id="1361"/>
            <p14:sldId id="1370"/>
          </p14:sldIdLst>
        </p14:section>
        <p14:section name="3장. 과업수행계획" id="{7443ED06-6679-432E-BEA8-684C083FD998}">
          <p14:sldIdLst>
            <p14:sldId id="1368"/>
            <p14:sldId id="1383"/>
            <p14:sldId id="1421"/>
            <p14:sldId id="1438"/>
            <p14:sldId id="1429"/>
            <p14:sldId id="1430"/>
            <p14:sldId id="1418"/>
            <p14:sldId id="1435"/>
            <p14:sldId id="1436"/>
            <p14:sldId id="1437"/>
            <p14:sldId id="1433"/>
            <p14:sldId id="1434"/>
            <p14:sldId id="1416"/>
            <p14:sldId id="1422"/>
            <p14:sldId id="1417"/>
            <p14:sldId id="1378"/>
            <p14:sldId id="1424"/>
            <p14:sldId id="1388"/>
            <p14:sldId id="1420"/>
            <p14:sldId id="1381"/>
            <p14:sldId id="1425"/>
            <p14:sldId id="14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217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5" pos="3120" userDrawn="1">
          <p15:clr>
            <a:srgbClr val="A4A3A4"/>
          </p15:clr>
        </p15:guide>
        <p15:guide id="6" orient="horz" pos="4020" userDrawn="1">
          <p15:clr>
            <a:srgbClr val="A4A3A4"/>
          </p15:clr>
        </p15:guide>
        <p15:guide id="8" orient="horz" pos="1185" userDrawn="1">
          <p15:clr>
            <a:srgbClr val="A4A3A4"/>
          </p15:clr>
        </p15:guide>
        <p15:guide id="9" orient="horz" pos="572" userDrawn="1">
          <p15:clr>
            <a:srgbClr val="A4A3A4"/>
          </p15:clr>
        </p15:guide>
        <p15:guide id="10" pos="6023" userDrawn="1">
          <p15:clr>
            <a:srgbClr val="A4A3A4"/>
          </p15:clr>
        </p15:guide>
        <p15:guide id="11" orient="horz" pos="935" userDrawn="1">
          <p15:clr>
            <a:srgbClr val="A4A3A4"/>
          </p15:clr>
        </p15:guide>
        <p15:guide id="12" orient="horz" pos="527" userDrawn="1">
          <p15:clr>
            <a:srgbClr val="A4A3A4"/>
          </p15:clr>
        </p15:guide>
        <p15:guide id="13" pos="3029" userDrawn="1">
          <p15:clr>
            <a:srgbClr val="A4A3A4"/>
          </p15:clr>
        </p15:guide>
        <p15:guide id="14" pos="3211" userDrawn="1">
          <p15:clr>
            <a:srgbClr val="A4A3A4"/>
          </p15:clr>
        </p15:guide>
        <p15:guide id="15" orient="horz" pos="1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OO" initials="O" lastIdx="1" clrIdx="0">
    <p:extLst>
      <p:ext uri="{19B8F6BF-5375-455C-9EA6-DF929625EA0E}">
        <p15:presenceInfo xmlns:p15="http://schemas.microsoft.com/office/powerpoint/2012/main" userId="OO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5D20"/>
    <a:srgbClr val="FF6600"/>
    <a:srgbClr val="344532"/>
    <a:srgbClr val="E2F0D9"/>
    <a:srgbClr val="FFE1FF"/>
    <a:srgbClr val="E1DEC9"/>
    <a:srgbClr val="EEECE1"/>
    <a:srgbClr val="FBE5D6"/>
    <a:srgbClr val="1C82B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34" autoAdjust="0"/>
    <p:restoredTop sz="94435" autoAdjust="0"/>
  </p:normalViewPr>
  <p:slideViewPr>
    <p:cSldViewPr snapToGrid="0">
      <p:cViewPr varScale="1">
        <p:scale>
          <a:sx n="134" d="100"/>
          <a:sy n="134" d="100"/>
        </p:scale>
        <p:origin x="2922" y="336"/>
      </p:cViewPr>
      <p:guideLst>
        <p:guide orient="horz" pos="867"/>
        <p:guide pos="217"/>
        <p:guide orient="horz" pos="2160"/>
        <p:guide pos="3120"/>
        <p:guide orient="horz" pos="4020"/>
        <p:guide orient="horz" pos="1185"/>
        <p:guide orient="horz" pos="572"/>
        <p:guide pos="6023"/>
        <p:guide orient="horz" pos="935"/>
        <p:guide orient="horz" pos="527"/>
        <p:guide pos="3029"/>
        <p:guide pos="3211"/>
        <p:guide orient="horz" pos="12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76"/>
    </p:cViewPr>
  </p:sorterViewPr>
  <p:notesViewPr>
    <p:cSldViewPr snapToGrid="0">
      <p:cViewPr varScale="1">
        <p:scale>
          <a:sx n="105" d="100"/>
          <a:sy n="105" d="100"/>
        </p:scale>
        <p:origin x="5322" y="1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52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19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8.xml"/><Relationship Id="rId41" Type="http://schemas.openxmlformats.org/officeDocument/2006/relationships/font" Target="fonts/font9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5241C90-D41F-9F47-E690-BBBEB3307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B28C55-8EBC-7D2E-DB8A-494ECF8802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8749A-AEBE-406B-81A2-A288812C3376}" type="datetimeFigureOut">
              <a:rPr lang="ko-KR" altLang="en-US" smtClean="0">
                <a:latin typeface="a고딕12" panose="02020600000000000000" pitchFamily="18" charset="-127"/>
                <a:ea typeface="a고딕12" panose="02020600000000000000" pitchFamily="18" charset="-127"/>
              </a:rPr>
              <a:t>2025-12-11</a:t>
            </a:fld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EAB150-3EA2-0975-3E5F-98BEF650EC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7B9F04-0DAD-F49C-01D8-460CD38649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3400F-2808-44FF-B4C7-E90C1E4C3041}" type="slidenum">
              <a:rPr lang="ko-KR" altLang="en-US" smtClean="0">
                <a:latin typeface="a고딕12" panose="02020600000000000000" pitchFamily="18" charset="-127"/>
                <a:ea typeface="a고딕12" panose="02020600000000000000" pitchFamily="18" charset="-127"/>
              </a:rPr>
              <a:t>‹#›</a:t>
            </a:fld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13230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fld id="{E9B4268C-2B08-4556-BBDF-C9F7FDF6B4E0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fld id="{A3BAB538-D59A-4EEA-A623-683E23FFA1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4426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7312" indent="0" defTabSz="914400">
              <a:lnSpc>
                <a:spcPct val="130000"/>
              </a:lnSpc>
              <a:buFont typeface="+mj-lt"/>
              <a:buNone/>
            </a:pP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산업분류체계 분석 이유 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교육로드맵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설계시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교육모듈을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어떻게 분류할 것인가에 대한 시사점을 파악하기 위함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87312" indent="0" defTabSz="914400">
              <a:lnSpc>
                <a:spcPct val="130000"/>
              </a:lnSpc>
              <a:buFont typeface="+mj-lt"/>
              <a:buNone/>
            </a:pP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이를 위해 조사분석한 분류체계 사례 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한국표준사업분류 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11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차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국가기술표준원의 바이오산업 분류체계 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16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년 개정판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화학바이오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산업 </a:t>
            </a:r>
            <a:r>
              <a:rPr kumimoji="0" lang="en-US" altLang="ko-KR" sz="1200" b="0" i="0" u="none" strike="noStrike" kern="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sqf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산업통상자원부의 산업기술 분류체계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유엔 통계국의 제조업 부문 분류체계 등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315912" indent="-228600" defTabSz="914400">
              <a:lnSpc>
                <a:spcPct val="130000"/>
              </a:lnSpc>
              <a:buFont typeface="+mj-lt"/>
              <a:buAutoNum type="arabicPeriod"/>
            </a:pP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각 체계의 분류 기준 및 그에 따른 특징은 무엇인가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? </a:t>
            </a:r>
            <a:endParaRPr lang="en-US" altLang="ko-KR" sz="1200" kern="0" spc="-50" dirty="0">
              <a:solidFill>
                <a:prstClr val="black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315912" indent="-228600" defTabSz="914400">
              <a:lnSpc>
                <a:spcPct val="130000"/>
              </a:lnSpc>
              <a:buFont typeface="+mj-lt"/>
              <a:buAutoNum type="arabicPeriod" startAt="2"/>
            </a:pPr>
            <a:r>
              <a:rPr lang="ko-KR" altLang="en-US" sz="12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분류체계를 </a:t>
            </a:r>
            <a:r>
              <a:rPr lang="ko-KR" altLang="en-US" sz="1200" kern="0" spc="-50" dirty="0" err="1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교육로드맵에</a:t>
            </a:r>
            <a:r>
              <a:rPr lang="ko-KR" altLang="en-US" sz="12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반영한다면</a:t>
            </a:r>
            <a:r>
              <a:rPr lang="en-US" altLang="ko-KR" sz="12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체계별 예상되는 </a:t>
            </a:r>
            <a:r>
              <a:rPr lang="ko-KR" altLang="en-US" sz="1200" kern="0" spc="-50" dirty="0" err="1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교육모듈</a:t>
            </a:r>
            <a:r>
              <a:rPr lang="ko-KR" altLang="en-US" sz="12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구성요소는 무엇인가</a:t>
            </a:r>
            <a:r>
              <a:rPr lang="en-US" altLang="ko-KR" sz="12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?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3836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 분류체계를 분석한 결과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생산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품질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연구개발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상품 기획이 핵심 직무군으로 도출되며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교육훈련과정은 전문성 강화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표준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인증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검증 대응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실증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사례 기반 학습 등으로 재편되고 있어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향후 교육 로드맵은 이러한 변화를 반영하여 설계할 필요가 있습니다</a:t>
            </a:r>
            <a:r>
              <a:rPr lang="en-US" altLang="ko-KR" sz="12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1004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67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>
            <a:lvl1pPr algn="ctr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dirty="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131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>
            <a:lvl1pPr algn="ctr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dirty="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BEFE9C-86E5-D84E-85DD-2751B3EA8E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802" y="6462725"/>
            <a:ext cx="1464098" cy="323898"/>
          </a:xfrm>
          <a:prstGeom prst="rect">
            <a:avLst/>
          </a:prstGeom>
        </p:spPr>
      </p:pic>
      <p:pic>
        <p:nvPicPr>
          <p:cNvPr id="5" name="그림 4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4776020F-9DFC-C6D3-5EB1-A5F1F36D95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3" y="6462725"/>
            <a:ext cx="703127" cy="349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EC10D-68B8-7199-6DB3-217D9162D7CD}"/>
              </a:ext>
            </a:extLst>
          </p:cNvPr>
          <p:cNvSpPr txBox="1"/>
          <p:nvPr userDrawn="1"/>
        </p:nvSpPr>
        <p:spPr>
          <a:xfrm>
            <a:off x="445990" y="-1259838"/>
            <a:ext cx="4078361" cy="26744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산업전환 공동훈련센터 협약기업 분석을 통한 </a:t>
            </a:r>
            <a:r>
              <a:rPr kumimoji="0" lang="ko-KR" altLang="en-US" sz="11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교육로드맵</a:t>
            </a:r>
            <a:r>
              <a:rPr kumimoji="0" lang="ko-KR" altLang="en-US" sz="11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 체계 구축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FAA4CBB-C20B-D7BE-69C5-E3B9D50E9D00}"/>
              </a:ext>
            </a:extLst>
          </p:cNvPr>
          <p:cNvCxnSpPr>
            <a:cxnSpLocks/>
          </p:cNvCxnSpPr>
          <p:nvPr userDrawn="1"/>
        </p:nvCxnSpPr>
        <p:spPr>
          <a:xfrm>
            <a:off x="546895" y="1073705"/>
            <a:ext cx="884559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D87D48-67B5-3DBB-A198-2F824EAB1588}"/>
              </a:ext>
            </a:extLst>
          </p:cNvPr>
          <p:cNvSpPr/>
          <p:nvPr userDrawn="1"/>
        </p:nvSpPr>
        <p:spPr>
          <a:xfrm>
            <a:off x="7439819" y="568960"/>
            <a:ext cx="1952672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Ⅰ. </a:t>
            </a:r>
            <a:r>
              <a:rPr lang="ko-KR" altLang="en-US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27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230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62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137391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34681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033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032666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13932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723376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404069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68311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8045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62393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9" y="6492880"/>
            <a:ext cx="440967" cy="365125"/>
          </a:xfrm>
        </p:spPr>
        <p:txBody>
          <a:bodyPr/>
          <a:lstStyle>
            <a:lvl1pPr algn="ctr">
              <a:defRPr lang="en-US" altLang="ko-KR" sz="812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dirty="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260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9" y="6492880"/>
            <a:ext cx="440967" cy="365125"/>
          </a:xfrm>
        </p:spPr>
        <p:txBody>
          <a:bodyPr/>
          <a:lstStyle>
            <a:lvl1pPr algn="ctr">
              <a:defRPr lang="en-US" altLang="ko-KR" sz="812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dirty="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BEFE9C-86E5-D84E-85DD-2751B3EA8E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803" y="6462725"/>
            <a:ext cx="1464098" cy="323898"/>
          </a:xfrm>
          <a:prstGeom prst="rect">
            <a:avLst/>
          </a:prstGeom>
        </p:spPr>
      </p:pic>
      <p:pic>
        <p:nvPicPr>
          <p:cNvPr id="5" name="그림 4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4776020F-9DFC-C6D3-5EB1-A5F1F36D95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3" y="6462725"/>
            <a:ext cx="703127" cy="349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EC10D-68B8-7199-6DB3-217D9162D7CD}"/>
              </a:ext>
            </a:extLst>
          </p:cNvPr>
          <p:cNvSpPr txBox="1"/>
          <p:nvPr userDrawn="1"/>
        </p:nvSpPr>
        <p:spPr>
          <a:xfrm>
            <a:off x="445990" y="-1259838"/>
            <a:ext cx="2709396" cy="26731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74294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3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협약기업 직무분석 및 맞춤형 훈련과정 개발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FAA4CBB-C20B-D7BE-69C5-E3B9D50E9D00}"/>
              </a:ext>
            </a:extLst>
          </p:cNvPr>
          <p:cNvCxnSpPr>
            <a:cxnSpLocks/>
          </p:cNvCxnSpPr>
          <p:nvPr userDrawn="1"/>
        </p:nvCxnSpPr>
        <p:spPr>
          <a:xfrm>
            <a:off x="546896" y="1073705"/>
            <a:ext cx="884559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D87D48-67B5-3DBB-A198-2F824EAB1588}"/>
              </a:ext>
            </a:extLst>
          </p:cNvPr>
          <p:cNvSpPr/>
          <p:nvPr userDrawn="1"/>
        </p:nvSpPr>
        <p:spPr>
          <a:xfrm>
            <a:off x="7439819" y="568960"/>
            <a:ext cx="1952672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Ⅰ. </a:t>
            </a:r>
            <a:r>
              <a:rPr lang="ko-KR" altLang="en-US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사업 개요</a:t>
            </a:r>
            <a:endParaRPr lang="en-US" altLang="ko-KR" sz="227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82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654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7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고딕12" panose="02020600000000000000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461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E2A4-A3F9-B90B-A568-DE6A1AA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 descr="폰트, 그래픽, 스크린샷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A8B7139-40FB-EBC2-941B-EEF7844A9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5" y="5998951"/>
            <a:ext cx="857209" cy="427397"/>
          </a:xfrm>
          <a:prstGeom prst="rect">
            <a:avLst/>
          </a:prstGeom>
        </p:spPr>
      </p:pic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41203AF7-FC59-D7B6-C084-685906004891}"/>
              </a:ext>
            </a:extLst>
          </p:cNvPr>
          <p:cNvSpPr/>
          <p:nvPr/>
        </p:nvSpPr>
        <p:spPr>
          <a:xfrm rot="16200000">
            <a:off x="6203090" y="-25635"/>
            <a:ext cx="3702833" cy="3703285"/>
          </a:xfrm>
          <a:prstGeom prst="triangle">
            <a:avLst>
              <a:gd name="adj" fmla="val 100000"/>
            </a:avLst>
          </a:prstGeom>
          <a:solidFill>
            <a:srgbClr val="A3A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spc="-50">
              <a:ea typeface="a고딕12" panose="02020600000000000000" pitchFamily="18" charset="-127"/>
            </a:endParaRPr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18A7A4C7-4DBD-8AD9-4BBA-1D97115FCB35}"/>
              </a:ext>
            </a:extLst>
          </p:cNvPr>
          <p:cNvSpPr/>
          <p:nvPr/>
        </p:nvSpPr>
        <p:spPr>
          <a:xfrm>
            <a:off x="4959566" y="1903112"/>
            <a:ext cx="4952999" cy="4953598"/>
          </a:xfrm>
          <a:prstGeom prst="triangle">
            <a:avLst>
              <a:gd name="adj" fmla="val 100000"/>
            </a:avLst>
          </a:prstGeom>
          <a:solidFill>
            <a:srgbClr val="395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spc="-50" dirty="0">
              <a:ea typeface="a고딕12" panose="02020600000000000000" pitchFamily="18" charset="-127"/>
            </a:endParaRPr>
          </a:p>
        </p:txBody>
      </p:sp>
      <p:sp>
        <p:nvSpPr>
          <p:cNvPr id="28" name="평행 사변형 27">
            <a:extLst>
              <a:ext uri="{FF2B5EF4-FFF2-40B4-BE49-F238E27FC236}">
                <a16:creationId xmlns:a16="http://schemas.microsoft.com/office/drawing/2014/main" id="{DC14E535-B01B-BA0B-09BD-32507E0F3960}"/>
              </a:ext>
            </a:extLst>
          </p:cNvPr>
          <p:cNvSpPr/>
          <p:nvPr/>
        </p:nvSpPr>
        <p:spPr>
          <a:xfrm rot="10800000" flipH="1">
            <a:off x="344488" y="-2"/>
            <a:ext cx="1112696" cy="836614"/>
          </a:xfrm>
          <a:prstGeom prst="parallelogram">
            <a:avLst>
              <a:gd name="adj" fmla="val 85282"/>
            </a:avLst>
          </a:prstGeom>
          <a:solidFill>
            <a:srgbClr val="395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spc="-50">
              <a:ea typeface="a고딕12" panose="02020600000000000000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C03859-22E0-E58A-6D41-2A846BD8A66A}"/>
              </a:ext>
            </a:extLst>
          </p:cNvPr>
          <p:cNvSpPr txBox="1"/>
          <p:nvPr/>
        </p:nvSpPr>
        <p:spPr>
          <a:xfrm>
            <a:off x="566535" y="1363022"/>
            <a:ext cx="8882265" cy="348474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sz="3200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산업전환 공동훈련센터 </a:t>
            </a:r>
            <a:endParaRPr lang="en-US" altLang="ko-KR" sz="3200" dirty="0">
              <a:solidFill>
                <a:srgbClr val="395D20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algn="l">
              <a:spcAft>
                <a:spcPts val="1200"/>
              </a:spcAft>
            </a:pPr>
            <a:r>
              <a:rPr lang="ko-KR" altLang="en-US" sz="3200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협약기업 분석을 통한 </a:t>
            </a:r>
            <a:r>
              <a:rPr lang="ko-KR" altLang="en-US" sz="3200" dirty="0" err="1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교육로드맵</a:t>
            </a:r>
            <a:r>
              <a:rPr lang="ko-KR" altLang="en-US" sz="3200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 체계 구축</a:t>
            </a:r>
            <a:endParaRPr lang="en-US" altLang="ko-KR" sz="3575" dirty="0">
              <a:solidFill>
                <a:srgbClr val="395D20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algn="l" latinLnBrk="0"/>
            <a:r>
              <a:rPr lang="en-US" altLang="ko-KR" sz="2925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[</a:t>
            </a:r>
            <a:r>
              <a:rPr lang="ko-KR" altLang="en-US" sz="2925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최종보고</a:t>
            </a:r>
            <a:r>
              <a:rPr lang="en-US" altLang="ko-KR" sz="2925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]</a:t>
            </a:r>
          </a:p>
          <a:p>
            <a:pPr algn="l" latinLnBrk="0"/>
            <a:endParaRPr lang="en-US" altLang="ko-KR" sz="2925" dirty="0">
              <a:solidFill>
                <a:srgbClr val="395D20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algn="l" latinLnBrk="0"/>
            <a:endParaRPr lang="en-US" altLang="ko-KR" sz="2925" dirty="0">
              <a:solidFill>
                <a:srgbClr val="395D20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algn="l" latinLnBrk="0"/>
            <a:endParaRPr lang="en-US" altLang="ko-KR" sz="2925" dirty="0">
              <a:solidFill>
                <a:srgbClr val="395D20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algn="l" latinLnBrk="0"/>
            <a:r>
              <a:rPr lang="en-US" altLang="ko-KR" sz="1600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2025.12.12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8178F8E-CF08-517A-525A-7873B4D51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724" y="6062421"/>
            <a:ext cx="1589789" cy="351461"/>
          </a:xfrm>
          <a:prstGeom prst="rect">
            <a:avLst/>
          </a:prstGeom>
        </p:spPr>
      </p:pic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DBC3A383-12E5-CB96-A72E-5D71B0D33D1F}"/>
              </a:ext>
            </a:extLst>
          </p:cNvPr>
          <p:cNvSpPr/>
          <p:nvPr/>
        </p:nvSpPr>
        <p:spPr>
          <a:xfrm rot="8100000">
            <a:off x="9285354" y="2174562"/>
            <a:ext cx="1248008" cy="1248159"/>
          </a:xfrm>
          <a:prstGeom prst="triangle">
            <a:avLst>
              <a:gd name="adj" fmla="val 100000"/>
            </a:avLst>
          </a:prstGeom>
          <a:solidFill>
            <a:srgbClr val="1B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spc="-50" dirty="0">
              <a:ea typeface="a고딕12" panose="02020600000000000000" pitchFamily="18" charset="-127"/>
            </a:endParaRPr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92AE322E-A5F1-5D65-CD53-4648D46F71C5}"/>
              </a:ext>
            </a:extLst>
          </p:cNvPr>
          <p:cNvSpPr/>
          <p:nvPr/>
        </p:nvSpPr>
        <p:spPr>
          <a:xfrm rot="5400000">
            <a:off x="45" y="6119917"/>
            <a:ext cx="736748" cy="736837"/>
          </a:xfrm>
          <a:prstGeom prst="triangle">
            <a:avLst>
              <a:gd name="adj" fmla="val 100000"/>
            </a:avLst>
          </a:prstGeom>
          <a:solidFill>
            <a:srgbClr val="1B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spc="-50" dirty="0">
              <a:ea typeface="a고딕12" panose="02020600000000000000" pitchFamily="18" charset="-127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D1A751EF-A54C-82D7-BCD3-F69108959BD2}"/>
              </a:ext>
            </a:extLst>
          </p:cNvPr>
          <p:cNvSpPr/>
          <p:nvPr/>
        </p:nvSpPr>
        <p:spPr>
          <a:xfrm rot="16200000">
            <a:off x="7167728" y="-927963"/>
            <a:ext cx="3718202" cy="3718202"/>
          </a:xfrm>
          <a:custGeom>
            <a:avLst/>
            <a:gdLst>
              <a:gd name="connsiteX0" fmla="*/ 6677457 w 6677457"/>
              <a:gd name="connsiteY0" fmla="*/ 3338729 h 6677457"/>
              <a:gd name="connsiteX1" fmla="*/ 3338728 w 6677457"/>
              <a:gd name="connsiteY1" fmla="*/ 6677457 h 6677457"/>
              <a:gd name="connsiteX2" fmla="*/ 0 w 6677457"/>
              <a:gd name="connsiteY2" fmla="*/ 3338729 h 6677457"/>
              <a:gd name="connsiteX3" fmla="*/ 3338729 w 6677457"/>
              <a:gd name="connsiteY3" fmla="*/ 0 h 667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457" h="6677457">
                <a:moveTo>
                  <a:pt x="6677457" y="3338729"/>
                </a:moveTo>
                <a:lnTo>
                  <a:pt x="3338728" y="6677457"/>
                </a:lnTo>
                <a:lnTo>
                  <a:pt x="0" y="3338729"/>
                </a:lnTo>
                <a:lnTo>
                  <a:pt x="3338729" y="0"/>
                </a:lnTo>
                <a:close/>
              </a:path>
            </a:pathLst>
          </a:custGeom>
          <a:blipFill dpi="0" rotWithShape="1">
            <a:blip r:embed="rId4">
              <a:alphaModFix amt="30000"/>
            </a:blip>
            <a:srcRect/>
            <a:stretch>
              <a:fillRect t="-7285" b="7285"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97557E3-E4E6-0E87-BDF5-0DB5BE6615A2}"/>
              </a:ext>
            </a:extLst>
          </p:cNvPr>
          <p:cNvGrpSpPr/>
          <p:nvPr/>
        </p:nvGrpSpPr>
        <p:grpSpPr>
          <a:xfrm>
            <a:off x="345350" y="-1005794"/>
            <a:ext cx="2595052" cy="418447"/>
            <a:chOff x="345350" y="-1005794"/>
            <a:chExt cx="2595052" cy="418447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37C16C7-E5F9-4654-D0A8-76C9D37DAB99}"/>
                </a:ext>
              </a:extLst>
            </p:cNvPr>
            <p:cNvSpPr/>
            <p:nvPr/>
          </p:nvSpPr>
          <p:spPr>
            <a:xfrm>
              <a:off x="345350" y="-1005794"/>
              <a:ext cx="289451" cy="162138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A669787-0456-413E-7CA7-8A5DF439060F}"/>
                </a:ext>
              </a:extLst>
            </p:cNvPr>
            <p:cNvSpPr/>
            <p:nvPr/>
          </p:nvSpPr>
          <p:spPr>
            <a:xfrm>
              <a:off x="729695" y="-1005794"/>
              <a:ext cx="289451" cy="162138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70C2B33-1EE4-898B-502C-63080D39BAC7}"/>
                </a:ext>
              </a:extLst>
            </p:cNvPr>
            <p:cNvSpPr/>
            <p:nvPr/>
          </p:nvSpPr>
          <p:spPr>
            <a:xfrm>
              <a:off x="1114039" y="-1005794"/>
              <a:ext cx="289451" cy="162138"/>
            </a:xfrm>
            <a:prstGeom prst="rect">
              <a:avLst/>
            </a:prstGeom>
            <a:solidFill>
              <a:srgbClr val="F8CE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1B6D265-309B-E36B-FA8C-44A126B688CC}"/>
                </a:ext>
              </a:extLst>
            </p:cNvPr>
            <p:cNvSpPr/>
            <p:nvPr/>
          </p:nvSpPr>
          <p:spPr>
            <a:xfrm>
              <a:off x="1498383" y="-1005794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F34FD96-B7F8-A1FD-9EFC-E0598BA56F70}"/>
                </a:ext>
              </a:extLst>
            </p:cNvPr>
            <p:cNvSpPr/>
            <p:nvPr/>
          </p:nvSpPr>
          <p:spPr>
            <a:xfrm>
              <a:off x="1882727" y="-1005794"/>
              <a:ext cx="289451" cy="162138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81C7A70-BF06-BE02-329E-459BAE4413A8}"/>
                </a:ext>
              </a:extLst>
            </p:cNvPr>
            <p:cNvSpPr/>
            <p:nvPr/>
          </p:nvSpPr>
          <p:spPr>
            <a:xfrm>
              <a:off x="1882727" y="-749485"/>
              <a:ext cx="289451" cy="162138"/>
            </a:xfrm>
            <a:prstGeom prst="rect">
              <a:avLst/>
            </a:prstGeom>
            <a:solidFill>
              <a:srgbClr val="A3A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6D7F86F-FEC4-3B51-D586-4876B10B9F54}"/>
                </a:ext>
              </a:extLst>
            </p:cNvPr>
            <p:cNvSpPr/>
            <p:nvPr/>
          </p:nvSpPr>
          <p:spPr>
            <a:xfrm>
              <a:off x="345350" y="-749485"/>
              <a:ext cx="289451" cy="162138"/>
            </a:xfrm>
            <a:prstGeom prst="rect">
              <a:avLst/>
            </a:prstGeom>
            <a:solidFill>
              <a:srgbClr val="3445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BB49A8E-6FD0-5E5E-8A9B-B35934186417}"/>
                </a:ext>
              </a:extLst>
            </p:cNvPr>
            <p:cNvSpPr/>
            <p:nvPr/>
          </p:nvSpPr>
          <p:spPr>
            <a:xfrm>
              <a:off x="729695" y="-749485"/>
              <a:ext cx="289451" cy="162138"/>
            </a:xfrm>
            <a:prstGeom prst="rect">
              <a:avLst/>
            </a:prstGeom>
            <a:solidFill>
              <a:srgbClr val="395D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2FC9F20-31E5-5A7A-7FBE-DB870D2AEA2A}"/>
                </a:ext>
              </a:extLst>
            </p:cNvPr>
            <p:cNvSpPr/>
            <p:nvPr/>
          </p:nvSpPr>
          <p:spPr>
            <a:xfrm>
              <a:off x="1114039" y="-749485"/>
              <a:ext cx="289451" cy="162138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084" name="직사각형 1083">
              <a:extLst>
                <a:ext uri="{FF2B5EF4-FFF2-40B4-BE49-F238E27FC236}">
                  <a16:creationId xmlns:a16="http://schemas.microsoft.com/office/drawing/2014/main" id="{0433781C-23D7-2A6F-3AF1-B9C06AEB4CC5}"/>
                </a:ext>
              </a:extLst>
            </p:cNvPr>
            <p:cNvSpPr/>
            <p:nvPr/>
          </p:nvSpPr>
          <p:spPr>
            <a:xfrm>
              <a:off x="1496264" y="-749485"/>
              <a:ext cx="289451" cy="16213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089" name="직사각형 1088">
              <a:extLst>
                <a:ext uri="{FF2B5EF4-FFF2-40B4-BE49-F238E27FC236}">
                  <a16:creationId xmlns:a16="http://schemas.microsoft.com/office/drawing/2014/main" id="{AC7FD7B9-7342-D19D-E8FE-574681A68D87}"/>
                </a:ext>
              </a:extLst>
            </p:cNvPr>
            <p:cNvSpPr/>
            <p:nvPr/>
          </p:nvSpPr>
          <p:spPr>
            <a:xfrm>
              <a:off x="2650951" y="-749485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C74C26D-6F76-EF5C-58DD-742A3B308FB2}"/>
                </a:ext>
              </a:extLst>
            </p:cNvPr>
            <p:cNvSpPr/>
            <p:nvPr/>
          </p:nvSpPr>
          <p:spPr>
            <a:xfrm>
              <a:off x="2267074" y="-749485"/>
              <a:ext cx="289451" cy="162138"/>
            </a:xfrm>
            <a:prstGeom prst="rect">
              <a:avLst/>
            </a:prstGeom>
            <a:solidFill>
              <a:srgbClr val="EEEC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6266B90-2BE5-302C-30EA-4C838F5BF7CF}"/>
              </a:ext>
            </a:extLst>
          </p:cNvPr>
          <p:cNvSpPr txBox="1"/>
          <p:nvPr/>
        </p:nvSpPr>
        <p:spPr>
          <a:xfrm>
            <a:off x="2950744" y="-483398"/>
            <a:ext cx="1248713" cy="32898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2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페이퍼로지</a:t>
            </a:r>
            <a:r>
              <a:rPr lang="en-US" altLang="ko-KR" sz="1625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751C69-4528-65C3-210C-6A638F34DF60}"/>
              </a:ext>
            </a:extLst>
          </p:cNvPr>
          <p:cNvSpPr txBox="1"/>
          <p:nvPr/>
        </p:nvSpPr>
        <p:spPr>
          <a:xfrm>
            <a:off x="4253442" y="-483398"/>
            <a:ext cx="1248713" cy="32898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463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페이퍼로지</a:t>
            </a:r>
            <a:r>
              <a:rPr lang="en-US" altLang="ko-KR" sz="1463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0D2FB3-D4F9-87B4-5F3A-966D400DDCF4}"/>
              </a:ext>
            </a:extLst>
          </p:cNvPr>
          <p:cNvSpPr txBox="1"/>
          <p:nvPr/>
        </p:nvSpPr>
        <p:spPr>
          <a:xfrm>
            <a:off x="1648047" y="-483398"/>
            <a:ext cx="1248713" cy="32898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2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페이퍼로지</a:t>
            </a:r>
            <a:r>
              <a:rPr lang="en-US" altLang="ko-KR" sz="1625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0CE2BC-6AFC-760F-0E5D-9C9884B1FA1F}"/>
              </a:ext>
            </a:extLst>
          </p:cNvPr>
          <p:cNvSpPr txBox="1"/>
          <p:nvPr/>
        </p:nvSpPr>
        <p:spPr>
          <a:xfrm>
            <a:off x="345350" y="-483398"/>
            <a:ext cx="1248713" cy="32898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2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페이퍼로지</a:t>
            </a:r>
            <a:r>
              <a:rPr lang="en-US" altLang="ko-KR" sz="1625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00674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>
            <a:extLst>
              <a:ext uri="{FF2B5EF4-FFF2-40B4-BE49-F238E27FC236}">
                <a16:creationId xmlns:a16="http://schemas.microsoft.com/office/drawing/2014/main" id="{509F4061-5750-C4B4-ED92-BD6FA2DF6BC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" y="-706"/>
            <a:ext cx="4952999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445989" y="727514"/>
            <a:ext cx="1358962" cy="3624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5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344532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Contents</a:t>
            </a:r>
          </a:p>
        </p:txBody>
      </p:sp>
      <p:cxnSp>
        <p:nvCxnSpPr>
          <p:cNvPr id="17" name="직선 연결선 16"/>
          <p:cNvCxnSpPr>
            <a:cxnSpLocks/>
            <a:stCxn id="16" idx="3"/>
          </p:cNvCxnSpPr>
          <p:nvPr/>
        </p:nvCxnSpPr>
        <p:spPr>
          <a:xfrm flipV="1">
            <a:off x="1804951" y="878241"/>
            <a:ext cx="7655060" cy="30477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5989" y="323851"/>
            <a:ext cx="3999813" cy="26744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0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협약기업 분석을 통한 </a:t>
            </a:r>
            <a:r>
              <a:rPr lang="ko-KR" altLang="en-US" sz="110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10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 체계 구축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380397B-2E39-E50B-9F72-11C478881295}"/>
              </a:ext>
            </a:extLst>
          </p:cNvPr>
          <p:cNvGrpSpPr/>
          <p:nvPr/>
        </p:nvGrpSpPr>
        <p:grpSpPr>
          <a:xfrm>
            <a:off x="410680" y="3757672"/>
            <a:ext cx="4289530" cy="1618636"/>
            <a:chOff x="410680" y="3040783"/>
            <a:chExt cx="4289530" cy="1618636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226CAB4D-84A4-B9F1-EF62-FB73A7F70941}"/>
                </a:ext>
              </a:extLst>
            </p:cNvPr>
            <p:cNvSpPr/>
            <p:nvPr/>
          </p:nvSpPr>
          <p:spPr>
            <a:xfrm>
              <a:off x="659522" y="3398229"/>
              <a:ext cx="3724410" cy="12516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  <a:buClr>
                  <a:srgbClr val="000000"/>
                </a:buClr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1. </a:t>
              </a:r>
              <a:r>
                <a:rPr lang="ko-KR" altLang="en-US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산업분류체계 및 교육 현황 분석</a:t>
              </a:r>
              <a:endParaRPr lang="en-US" altLang="ko-KR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2. KTR </a:t>
              </a:r>
              <a:r>
                <a:rPr lang="ko-KR" altLang="en-US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협약기업 및 산업 현황 분석</a:t>
              </a:r>
              <a:endParaRPr lang="en-US" altLang="ko-KR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3. KTR </a:t>
              </a:r>
              <a:r>
                <a:rPr lang="ko-KR" altLang="en-US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산업전환 공동훈련센터 교육체계 및 과정 분석</a:t>
              </a:r>
              <a:endParaRPr lang="en-US" altLang="ko-KR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4. KTR </a:t>
              </a:r>
              <a:r>
                <a:rPr lang="ko-KR" altLang="en-US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산업전환 공동훈련센터 </a:t>
              </a:r>
              <a:r>
                <a:rPr lang="ko-KR" altLang="en-US" sz="1300" dirty="0" err="1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교육로드맵</a:t>
              </a:r>
              <a:r>
                <a:rPr lang="ko-KR" altLang="en-US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 </a:t>
              </a:r>
              <a:r>
                <a:rPr lang="ko-KR" altLang="en-US" sz="1300" dirty="0" err="1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재수립</a:t>
              </a:r>
              <a:endParaRPr lang="ko-KR" altLang="en-US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FB4D6A00-BFBE-3479-C8AA-FF89A43CE66A}"/>
                </a:ext>
              </a:extLst>
            </p:cNvPr>
            <p:cNvSpPr/>
            <p:nvPr/>
          </p:nvSpPr>
          <p:spPr>
            <a:xfrm>
              <a:off x="807881" y="3050017"/>
              <a:ext cx="1361270" cy="3742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용역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 추진 결과</a:t>
              </a:r>
              <a:endParaRPr kumimoji="0" lang="en-US" altLang="ko-KR" sz="16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41A301B-C7D4-6639-0D9F-CC01B1800314}"/>
                </a:ext>
              </a:extLst>
            </p:cNvPr>
            <p:cNvSpPr/>
            <p:nvPr/>
          </p:nvSpPr>
          <p:spPr>
            <a:xfrm>
              <a:off x="410680" y="3040783"/>
              <a:ext cx="3561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435941"/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Ⅱ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435941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8DF1B952-ED8A-00BE-52A3-5F594F9A6E00}"/>
                </a:ext>
              </a:extLst>
            </p:cNvPr>
            <p:cNvSpPr/>
            <p:nvPr/>
          </p:nvSpPr>
          <p:spPr>
            <a:xfrm>
              <a:off x="4100316" y="3391747"/>
              <a:ext cx="599894" cy="126767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1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300" b="0" i="0" u="none" strike="noStrike" kern="1200" cap="none" spc="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0</a:t>
              </a: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7</a:t>
              </a:r>
              <a:endParaRPr kumimoji="0" lang="en-US" altLang="ko-KR" sz="13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  <a:p>
              <a:pPr marL="0" marR="0" lvl="1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10</a:t>
              </a:r>
              <a:endParaRPr kumimoji="0" lang="en-US" altLang="ko-KR" sz="13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  <a:p>
              <a:pPr marL="0" marR="0" lvl="1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300" b="0" i="0" u="none" strike="noStrike" kern="1200" cap="none" spc="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18</a:t>
              </a:r>
            </a:p>
            <a:p>
              <a:pPr marL="0" marR="0" lvl="1" indent="0" algn="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300" b="0" i="0" u="none" strike="noStrike" kern="1200" cap="none" spc="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22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CBC8DDA-7A3B-4EBC-EE52-6DFCAA823E78}"/>
                </a:ext>
              </a:extLst>
            </p:cNvPr>
            <p:cNvSpPr/>
            <p:nvPr/>
          </p:nvSpPr>
          <p:spPr>
            <a:xfrm>
              <a:off x="4042542" y="3055170"/>
              <a:ext cx="657668" cy="371337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06</a:t>
              </a:r>
              <a:endParaRPr kumimoji="0" lang="ko-KR" altLang="en-US" sz="16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9B2EFDA-A237-5F0F-B4E8-EE7C53CC54D5}"/>
              </a:ext>
            </a:extLst>
          </p:cNvPr>
          <p:cNvGrpSpPr/>
          <p:nvPr/>
        </p:nvGrpSpPr>
        <p:grpSpPr>
          <a:xfrm>
            <a:off x="410680" y="1481692"/>
            <a:ext cx="4289530" cy="1308988"/>
            <a:chOff x="410680" y="1281632"/>
            <a:chExt cx="4289530" cy="130898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826F636-EBF7-9621-55C2-EC0519387CAF}"/>
                </a:ext>
              </a:extLst>
            </p:cNvPr>
            <p:cNvSpPr/>
            <p:nvPr/>
          </p:nvSpPr>
          <p:spPr>
            <a:xfrm>
              <a:off x="659522" y="1639077"/>
              <a:ext cx="2925000" cy="9515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indent="0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1. </a:t>
              </a:r>
              <a:r>
                <a:rPr lang="ko-KR" altLang="en-US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사업 배경</a:t>
              </a:r>
              <a:endParaRPr lang="en-US" altLang="ko-KR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 indent="0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2. </a:t>
              </a:r>
              <a:r>
                <a:rPr lang="ko-KR" altLang="en-US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사업 목적 및 추진범위</a:t>
              </a:r>
              <a:endParaRPr lang="en-US" altLang="ko-KR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 indent="0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3. </a:t>
              </a:r>
              <a:r>
                <a:rPr lang="ko-KR" altLang="en-US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과업 수행체계</a:t>
              </a:r>
              <a:endParaRPr lang="en-US" altLang="ko-KR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C2CB08C-5120-A2BB-65E2-05CC0F4A5152}"/>
                </a:ext>
              </a:extLst>
            </p:cNvPr>
            <p:cNvSpPr/>
            <p:nvPr/>
          </p:nvSpPr>
          <p:spPr>
            <a:xfrm>
              <a:off x="860781" y="1290866"/>
              <a:ext cx="546945" cy="3742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개요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1592C56-6136-EDBF-A045-B7E068E220C2}"/>
                </a:ext>
              </a:extLst>
            </p:cNvPr>
            <p:cNvSpPr/>
            <p:nvPr/>
          </p:nvSpPr>
          <p:spPr>
            <a:xfrm>
              <a:off x="410680" y="1281632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435941"/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Ⅰ 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435941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A97998B-999A-2D2B-3475-BEB21DDD485A}"/>
                </a:ext>
              </a:extLst>
            </p:cNvPr>
            <p:cNvSpPr/>
            <p:nvPr/>
          </p:nvSpPr>
          <p:spPr>
            <a:xfrm>
              <a:off x="4100316" y="1639080"/>
              <a:ext cx="599894" cy="65193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03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04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05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8586A89-CEB2-A1C7-FAA3-D9C4AD8E8C99}"/>
                </a:ext>
              </a:extLst>
            </p:cNvPr>
            <p:cNvSpPr/>
            <p:nvPr/>
          </p:nvSpPr>
          <p:spPr>
            <a:xfrm>
              <a:off x="4042542" y="1296019"/>
              <a:ext cx="657668" cy="371337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02</a:t>
              </a:r>
              <a:endParaRPr kumimoji="0" lang="ko-KR" altLang="en-US" sz="16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3430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430FE-2B19-D040-BEF6-FEC36584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F9189B53-DC3E-6332-9811-C2BDE231BD9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4074160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B6FED620-E7F5-885A-86F9-5B2E5D40A016}"/>
              </a:ext>
            </a:extLst>
          </p:cNvPr>
          <p:cNvGrpSpPr/>
          <p:nvPr/>
        </p:nvGrpSpPr>
        <p:grpSpPr>
          <a:xfrm>
            <a:off x="795" y="2285874"/>
            <a:ext cx="5132225" cy="2286253"/>
            <a:chOff x="795" y="2384884"/>
            <a:chExt cx="5132225" cy="2286253"/>
          </a:xfrm>
        </p:grpSpPr>
        <p:sp>
          <p:nvSpPr>
            <p:cNvPr id="3" name="Text Placeholder 1">
              <a:extLst>
                <a:ext uri="{FF2B5EF4-FFF2-40B4-BE49-F238E27FC236}">
                  <a16:creationId xmlns:a16="http://schemas.microsoft.com/office/drawing/2014/main" id="{22FE3540-0FA0-8DC9-F175-F2851C2BE42B}"/>
                </a:ext>
              </a:extLst>
            </p:cNvPr>
            <p:cNvSpPr txBox="1">
              <a:spLocks/>
            </p:cNvSpPr>
            <p:nvPr/>
          </p:nvSpPr>
          <p:spPr>
            <a:xfrm>
              <a:off x="795" y="2384884"/>
              <a:ext cx="5132225" cy="1066962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fontAlgn="auto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defRPr/>
              </a:pPr>
              <a:r>
                <a:rPr lang="en-US" altLang="ko-KR" sz="2500" dirty="0">
                  <a:solidFill>
                    <a:srgbClr val="000000"/>
                  </a:solidFill>
                  <a:latin typeface="페이퍼로지 7 Bold" pitchFamily="2" charset="-127"/>
                  <a:ea typeface="페이퍼로지 7 Bold" pitchFamily="2" charset="-127"/>
                </a:rPr>
                <a:t>Ⅰ.</a:t>
              </a:r>
              <a:r>
                <a:rPr lang="ko-KR" altLang="en-US" sz="2500" dirty="0">
                  <a:solidFill>
                    <a:srgbClr val="000000"/>
                  </a:solidFill>
                  <a:latin typeface="페이퍼로지 7 Bold" pitchFamily="2" charset="-127"/>
                  <a:ea typeface="페이퍼로지 7 Bold" pitchFamily="2" charset="-127"/>
                </a:rPr>
                <a:t> 개요</a:t>
              </a:r>
            </a:p>
          </p:txBody>
        </p:sp>
        <p:sp>
          <p:nvSpPr>
            <p:cNvPr id="4" name="Text Placeholder 1">
              <a:extLst>
                <a:ext uri="{FF2B5EF4-FFF2-40B4-BE49-F238E27FC236}">
                  <a16:creationId xmlns:a16="http://schemas.microsoft.com/office/drawing/2014/main" id="{2412321D-1218-0745-87C3-9F8B4BA9C5DF}"/>
                </a:ext>
              </a:extLst>
            </p:cNvPr>
            <p:cNvSpPr txBox="1">
              <a:spLocks/>
            </p:cNvSpPr>
            <p:nvPr/>
          </p:nvSpPr>
          <p:spPr>
            <a:xfrm>
              <a:off x="237270" y="3059292"/>
              <a:ext cx="4355690" cy="1611845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1950" lvl="1" indent="-361950"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  <a:buFont typeface="+mj-lt"/>
                <a:buAutoNum type="arabicPeriod"/>
                <a:defRPr/>
              </a:pPr>
              <a:r>
                <a:rPr lang="ko-KR" altLang="en-US" sz="20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사업 배경</a:t>
              </a:r>
              <a:endParaRPr lang="en-US" altLang="ko-KR" sz="20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361950" lvl="1" indent="-361950"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  <a:buFont typeface="+mj-lt"/>
                <a:buAutoNum type="arabicPeriod"/>
                <a:defRPr/>
              </a:pPr>
              <a:r>
                <a:rPr lang="ko-KR" altLang="en-US" sz="20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사업 목적 및 추진범위</a:t>
              </a:r>
              <a:endParaRPr lang="en-US" altLang="ko-KR" sz="20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361950" lvl="1" indent="-361950"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  <a:buFont typeface="+mj-lt"/>
                <a:buAutoNum type="arabicPeriod"/>
                <a:defRPr/>
              </a:pPr>
              <a:r>
                <a:rPr lang="ko-KR" altLang="en-US" sz="20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과업 수행체계</a:t>
              </a:r>
              <a:endParaRPr lang="en-US" altLang="ko-KR" sz="20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5586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1D25-200A-0CEA-BA20-86418423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88CC89-7950-EA16-6986-A38720F6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 dirty="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3</a:t>
            </a:fld>
            <a:r>
              <a:rPr lang="ko-KR" altLang="en-US" spc="-50" dirty="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 dirty="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22" name="텍스트 개체 틀 1">
            <a:extLst>
              <a:ext uri="{FF2B5EF4-FFF2-40B4-BE49-F238E27FC236}">
                <a16:creationId xmlns:a16="http://schemas.microsoft.com/office/drawing/2014/main" id="{0913678E-723C-1FD0-80E5-814D0C3619C7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산업전환 공동훈련센터 운영의 실효성을 높이기 위해 교육 대상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협약기업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을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분석하여 기업이 속한 산업 환경과 필요 직무를 진단하고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기존 교육과정과의 적합성을 점검하여 수요 기반 교육체계로 재정립할 필요가 있습니다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6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732C56-C75B-72B8-2860-4924295DEC37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Ⅰ.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개요 </a:t>
            </a:r>
            <a:endParaRPr lang="en-US" altLang="ko-KR" sz="1400" spc="-50" dirty="0">
              <a:solidFill>
                <a:srgbClr val="E7E6E6">
                  <a:lumMod val="50000"/>
                </a:srgb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FF366C2-EF83-83E9-BF6A-9CD5937642CA}"/>
              </a:ext>
            </a:extLst>
          </p:cNvPr>
          <p:cNvCxnSpPr>
            <a:cxnSpLocks/>
          </p:cNvCxnSpPr>
          <p:nvPr/>
        </p:nvCxnSpPr>
        <p:spPr>
          <a:xfrm>
            <a:off x="344488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6D8074-F716-9D1A-0B0A-FF0D86F8F5F9}"/>
              </a:ext>
            </a:extLst>
          </p:cNvPr>
          <p:cNvCxnSpPr>
            <a:cxnSpLocks/>
          </p:cNvCxnSpPr>
          <p:nvPr/>
        </p:nvCxnSpPr>
        <p:spPr>
          <a:xfrm>
            <a:off x="5097463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1">
            <a:extLst>
              <a:ext uri="{FF2B5EF4-FFF2-40B4-BE49-F238E27FC236}">
                <a16:creationId xmlns:a16="http://schemas.microsoft.com/office/drawing/2014/main" id="{4070D3B5-37BD-313B-05CD-D7F32E51B55A}"/>
              </a:ext>
            </a:extLst>
          </p:cNvPr>
          <p:cNvSpPr txBox="1">
            <a:spLocks/>
          </p:cNvSpPr>
          <p:nvPr/>
        </p:nvSpPr>
        <p:spPr>
          <a:xfrm>
            <a:off x="344487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친환경 산업 전환과 바이오 화학의 중요성 증가</a:t>
            </a: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30F47BC6-E056-1E96-B6F2-247E5C2E67FA}"/>
              </a:ext>
            </a:extLst>
          </p:cNvPr>
          <p:cNvCxnSpPr>
            <a:cxnSpLocks/>
          </p:cNvCxnSpPr>
          <p:nvPr/>
        </p:nvCxnSpPr>
        <p:spPr>
          <a:xfrm>
            <a:off x="5097463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텍스트 개체 틀 1">
            <a:extLst>
              <a:ext uri="{FF2B5EF4-FFF2-40B4-BE49-F238E27FC236}">
                <a16:creationId xmlns:a16="http://schemas.microsoft.com/office/drawing/2014/main" id="{F0C16395-2925-6E8B-057B-B3B227E19E04}"/>
              </a:ext>
            </a:extLst>
          </p:cNvPr>
          <p:cNvSpPr txBox="1">
            <a:spLocks/>
          </p:cNvSpPr>
          <p:nvPr/>
        </p:nvSpPr>
        <p:spPr>
          <a:xfrm>
            <a:off x="5097462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산업전환 공동훈련센터 개요 및 </a:t>
            </a:r>
            <a:r>
              <a:rPr lang="ko-KR" altLang="en-US" sz="1600" spc="-50" dirty="0" err="1">
                <a:latin typeface="페이퍼로지 6 SemiBold" pitchFamily="2" charset="-127"/>
                <a:ea typeface="페이퍼로지 6 SemiBold" pitchFamily="2" charset="-127"/>
              </a:rPr>
              <a:t>운영시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 고려사항</a:t>
            </a:r>
          </a:p>
        </p:txBody>
      </p: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C098E6CE-A636-C361-B88A-10219A058DA8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219" name="사각형: 둥근 위쪽 모서리 218">
              <a:extLst>
                <a:ext uri="{FF2B5EF4-FFF2-40B4-BE49-F238E27FC236}">
                  <a16:creationId xmlns:a16="http://schemas.microsoft.com/office/drawing/2014/main" id="{24EB01CE-EB57-F2C9-69A0-83A287D05799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5019BEB-BB22-0FCF-47A3-C68C62FDDE40}"/>
                </a:ext>
              </a:extLst>
            </p:cNvPr>
            <p:cNvSpPr txBox="1"/>
            <p:nvPr/>
          </p:nvSpPr>
          <p:spPr>
            <a:xfrm>
              <a:off x="433220" y="170520"/>
              <a:ext cx="882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endParaRPr lang="en-US" altLang="ko-KR" sz="140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사업 배경</a:t>
              </a:r>
            </a:p>
          </p:txBody>
        </p:sp>
      </p:grp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1B1BB1B6-EE5A-5F4A-7CF0-2503412C5125}"/>
              </a:ext>
            </a:extLst>
          </p:cNvPr>
          <p:cNvSpPr/>
          <p:nvPr/>
        </p:nvSpPr>
        <p:spPr>
          <a:xfrm>
            <a:off x="1513166" y="253829"/>
            <a:ext cx="470904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사업 추진 배경</a:t>
            </a:r>
          </a:p>
        </p:txBody>
      </p:sp>
      <p:sp>
        <p:nvSpPr>
          <p:cNvPr id="174" name="사각형: 둥근 위쪽 모서리 50">
            <a:extLst>
              <a:ext uri="{FF2B5EF4-FFF2-40B4-BE49-F238E27FC236}">
                <a16:creationId xmlns:a16="http://schemas.microsoft.com/office/drawing/2014/main" id="{492D8E5F-9366-B4FC-7338-5D3062175A1E}"/>
              </a:ext>
            </a:extLst>
          </p:cNvPr>
          <p:cNvSpPr/>
          <p:nvPr/>
        </p:nvSpPr>
        <p:spPr>
          <a:xfrm rot="5400000">
            <a:off x="5148845" y="1968538"/>
            <a:ext cx="4357688" cy="44687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100" spc="-50" dirty="0"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1BF8B5D-990E-3BA0-714D-647AF0A4E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7" name="사각형: 둥근 위쪽 모서리 50">
            <a:extLst>
              <a:ext uri="{FF2B5EF4-FFF2-40B4-BE49-F238E27FC236}">
                <a16:creationId xmlns:a16="http://schemas.microsoft.com/office/drawing/2014/main" id="{403F4B71-6F77-8838-5AE8-B7CB709D752A}"/>
              </a:ext>
            </a:extLst>
          </p:cNvPr>
          <p:cNvSpPr/>
          <p:nvPr/>
        </p:nvSpPr>
        <p:spPr>
          <a:xfrm rot="5400000">
            <a:off x="400566" y="1970578"/>
            <a:ext cx="4351893" cy="445886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100" spc="-50" dirty="0"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모서리가 둥근 직사각형 79">
            <a:extLst>
              <a:ext uri="{FF2B5EF4-FFF2-40B4-BE49-F238E27FC236}">
                <a16:creationId xmlns:a16="http://schemas.microsoft.com/office/drawing/2014/main" id="{7D3A02B1-EDDC-3590-2224-E27EDE515E0E}"/>
              </a:ext>
            </a:extLst>
          </p:cNvPr>
          <p:cNvSpPr/>
          <p:nvPr/>
        </p:nvSpPr>
        <p:spPr>
          <a:xfrm>
            <a:off x="446247" y="2056330"/>
            <a:ext cx="4260530" cy="4287359"/>
          </a:xfrm>
          <a:prstGeom prst="roundRect">
            <a:avLst>
              <a:gd name="adj" fmla="val 3025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fontAlgn="base" latinLnBrk="0">
              <a:lnSpc>
                <a:spcPct val="120000"/>
              </a:lnSpc>
            </a:pPr>
            <a:endParaRPr lang="en-US" altLang="ko-KR" sz="10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accent5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2C27900-D0C0-B98C-6260-905CFB8756A8}"/>
              </a:ext>
            </a:extLst>
          </p:cNvPr>
          <p:cNvSpPr/>
          <p:nvPr/>
        </p:nvSpPr>
        <p:spPr>
          <a:xfrm>
            <a:off x="535601" y="2261497"/>
            <a:ext cx="4083656" cy="1334292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85725" lvl="0" indent="-85725" fontAlgn="base">
              <a:spcAft>
                <a:spcPts val="5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석유화학산업은 전주기적 탄소 배출량 감축 요구와 재활용 원료 사용 확대 의무 등 까다로운 환경 변화로 인해 실적 부진을 겪고 있으며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이에 대한 대안으로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탄소 배출이 적고 순환형 구조를 가진 바이오 화학이 급부상</a:t>
            </a:r>
            <a:r>
              <a:rPr lang="en-US" altLang="ko-KR" sz="900" spc="-50" baseline="30000" dirty="0">
                <a:solidFill>
                  <a:prstClr val="black">
                    <a:lumMod val="75000"/>
                    <a:lumOff val="25000"/>
                  </a:prstClr>
                </a:solidFill>
                <a:latin typeface="페이퍼로지 3 Light" pitchFamily="2" charset="-127"/>
                <a:ea typeface="페이퍼로지 3 Light" pitchFamily="2" charset="-127"/>
              </a:rPr>
              <a:t>1</a:t>
            </a:r>
            <a:r>
              <a:rPr kumimoji="0" lang="en-US" altLang="ko-KR" sz="900" b="0" i="0" u="none" strike="noStrike" kern="1200" cap="none" spc="-50" normalizeH="0" baseline="3000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  <a:cs typeface="+mn-cs"/>
              </a:rPr>
              <a:t>)</a:t>
            </a:r>
          </a:p>
          <a:p>
            <a:pPr marR="0" fontAlgn="base" latinLnBrk="0">
              <a:spcBef>
                <a:spcPts val="0"/>
              </a:spcBef>
              <a:spcAft>
                <a:spcPts val="500"/>
              </a:spcAft>
            </a:pP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EFC1677-B843-82C0-6110-2322C3CCD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1" y="2769742"/>
            <a:ext cx="1911925" cy="7117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F267AC3-2716-A11B-0573-277F22A22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380" y="2769740"/>
            <a:ext cx="1911925" cy="7117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D254439-6B62-D3C1-DDFD-3523D2EAAA0B}"/>
              </a:ext>
            </a:extLst>
          </p:cNvPr>
          <p:cNvSpPr txBox="1"/>
          <p:nvPr/>
        </p:nvSpPr>
        <p:spPr>
          <a:xfrm>
            <a:off x="1079427" y="3453447"/>
            <a:ext cx="1064385" cy="166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국내 </a:t>
            </a:r>
            <a:r>
              <a:rPr lang="en-US" altLang="ko-KR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대 석유화학사</a:t>
            </a:r>
            <a:r>
              <a:rPr lang="en-US" altLang="ko-KR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합산 영업실적 추이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ACFCE2-DB00-5E36-6701-783A26598224}"/>
              </a:ext>
            </a:extLst>
          </p:cNvPr>
          <p:cNvSpPr txBox="1"/>
          <p:nvPr/>
        </p:nvSpPr>
        <p:spPr>
          <a:xfrm>
            <a:off x="3126542" y="3453447"/>
            <a:ext cx="942953" cy="166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석유화학산업 의 배출량 목표 경로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F71329-6286-FA80-AB77-1E8889F8081B}"/>
              </a:ext>
            </a:extLst>
          </p:cNvPr>
          <p:cNvSpPr txBox="1"/>
          <p:nvPr/>
        </p:nvSpPr>
        <p:spPr>
          <a:xfrm>
            <a:off x="535601" y="3561835"/>
            <a:ext cx="134158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1) </a:t>
            </a:r>
            <a:r>
              <a:rPr lang="ko-KR" altLang="en-US" sz="5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김수강</a:t>
            </a:r>
            <a:r>
              <a:rPr lang="en-US" altLang="ko-KR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(2024) </a:t>
            </a:r>
            <a:r>
              <a:rPr lang="ko-KR" altLang="en-US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한국 석유화학산업의 넷째로 로드맵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0C372-FE42-195B-6D9C-52969F538EB7}"/>
              </a:ext>
            </a:extLst>
          </p:cNvPr>
          <p:cNvSpPr txBox="1"/>
          <p:nvPr/>
        </p:nvSpPr>
        <p:spPr>
          <a:xfrm>
            <a:off x="535601" y="6176800"/>
            <a:ext cx="146117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2) </a:t>
            </a:r>
            <a:r>
              <a:rPr lang="ko-KR" altLang="en-US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한국산업기술진흥협회</a:t>
            </a:r>
            <a:r>
              <a:rPr lang="en-US" altLang="ko-KR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(2021) </a:t>
            </a:r>
            <a:r>
              <a:rPr lang="ko-KR" altLang="en-US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기술과 혁신 </a:t>
            </a:r>
            <a:r>
              <a:rPr lang="en-US" altLang="ko-KR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통권 </a:t>
            </a:r>
            <a:r>
              <a:rPr lang="en-US" altLang="ko-KR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448</a:t>
            </a:r>
            <a:r>
              <a:rPr lang="ko-KR" altLang="en-US" sz="5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호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76EC1AD6-A5D1-D35B-123C-B5CCECCD5B2A}"/>
              </a:ext>
            </a:extLst>
          </p:cNvPr>
          <p:cNvGrpSpPr/>
          <p:nvPr/>
        </p:nvGrpSpPr>
        <p:grpSpPr>
          <a:xfrm>
            <a:off x="949700" y="4163656"/>
            <a:ext cx="3255458" cy="1168670"/>
            <a:chOff x="976582" y="5290194"/>
            <a:chExt cx="3401620" cy="1051199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B0DDE3DA-1948-3CCC-0DFF-0B5CA8976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6582" y="5361146"/>
              <a:ext cx="3208808" cy="980247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D2EB0FA-5C73-15E4-5C4B-FFED330AEECC}"/>
                </a:ext>
              </a:extLst>
            </p:cNvPr>
            <p:cNvSpPr txBox="1"/>
            <p:nvPr/>
          </p:nvSpPr>
          <p:spPr>
            <a:xfrm>
              <a:off x="1393072" y="5290194"/>
              <a:ext cx="2375828" cy="168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kumimoji="1" sz="800" kern="0" spc="-5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5" panose="02020600000000000000" pitchFamily="18" charset="-127"/>
                  <a:ea typeface="a고딕15" panose="02020600000000000000" pitchFamily="18" charset="-127"/>
                </a:defRPr>
              </a:lvl1pPr>
            </a:lstStyle>
            <a:p>
              <a:r>
                <a:rPr lang="en-US" altLang="ko-KR" sz="600" dirty="0"/>
                <a:t>[</a:t>
              </a:r>
              <a:r>
                <a:rPr lang="ko-KR" altLang="en-US" sz="600" dirty="0"/>
                <a:t>기업 전문가들이 인식하는 장기적</a:t>
              </a:r>
              <a:r>
                <a:rPr lang="en-US" altLang="ko-KR" sz="600" dirty="0"/>
                <a:t>(5~10</a:t>
              </a:r>
              <a:r>
                <a:rPr lang="ko-KR" altLang="en-US" sz="600" dirty="0"/>
                <a:t>년</a:t>
              </a:r>
              <a:r>
                <a:rPr lang="en-US" altLang="ko-KR" sz="600" dirty="0"/>
                <a:t>)</a:t>
              </a:r>
              <a:r>
                <a:rPr lang="ko-KR" altLang="en-US" sz="600" dirty="0"/>
                <a:t> </a:t>
              </a:r>
              <a:r>
                <a:rPr lang="en-US" altLang="ko-KR" sz="600" dirty="0"/>
                <a:t>10</a:t>
              </a:r>
              <a:r>
                <a:rPr lang="ko-KR" altLang="en-US" sz="600" dirty="0"/>
                <a:t>대 글로벌 위험</a:t>
              </a:r>
              <a:r>
                <a:rPr lang="en-US" altLang="ko-KR" sz="600" dirty="0"/>
                <a:t>]</a:t>
              </a:r>
              <a:endParaRPr lang="ko-KR" altLang="en-US" sz="6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3AF5180-FF3E-4C89-FF6F-3423E43ADC60}"/>
                </a:ext>
              </a:extLst>
            </p:cNvPr>
            <p:cNvSpPr txBox="1"/>
            <p:nvPr/>
          </p:nvSpPr>
          <p:spPr>
            <a:xfrm>
              <a:off x="2909001" y="6125827"/>
              <a:ext cx="1469201" cy="169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ko-KR" altLang="en-US" sz="5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자료</a:t>
              </a:r>
              <a:r>
                <a:rPr kumimoji="1" lang="en-US" altLang="ko-KR" sz="5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: </a:t>
              </a:r>
              <a:r>
                <a:rPr kumimoji="1" lang="ko-KR" altLang="en-US" sz="5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글로벌 공급망의 </a:t>
              </a:r>
              <a:r>
                <a:rPr kumimoji="1" lang="en-US" altLang="ko-KR" sz="5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ESG </a:t>
              </a:r>
              <a:r>
                <a:rPr kumimoji="1" lang="ko-KR" altLang="en-US" sz="5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강화 방안 </a:t>
              </a:r>
              <a:r>
                <a:rPr kumimoji="1" lang="en-US" altLang="ko-KR" sz="5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(KIET, 2022)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3D6FE4-E519-B9EE-5B43-867F3A04AC9E}"/>
              </a:ext>
            </a:extLst>
          </p:cNvPr>
          <p:cNvSpPr/>
          <p:nvPr/>
        </p:nvSpPr>
        <p:spPr>
          <a:xfrm>
            <a:off x="535601" y="3849994"/>
            <a:ext cx="4083656" cy="2352614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marR="0" indent="-85725" fontAlgn="base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환경 문제에 대한 인식 강화는 자연스럽게 친환경 및 지속가능성을 추구하는 기업 경영을 강화하고 있음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85725" marR="0" indent="-85725" fontAlgn="base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5725" marR="0" indent="-85725" fontAlgn="base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5725" marR="0" indent="-85725" fontAlgn="base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R="0" fontAlgn="base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R="0" fontAlgn="base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5725" marR="0" indent="-85725" fontAlgn="base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5725" marR="0" lvl="0" indent="-85725" algn="l" defTabSz="4572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이에 맞춰 산업은 급변하고 있으며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기업들도 급변하는 환경에 발 빠른 대처를 이어가는 중임</a:t>
            </a:r>
          </a:p>
          <a:p>
            <a:pPr marL="179388" marR="0" lvl="0" indent="-92075" algn="l" defTabSz="4572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- 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많은 글로벌 기업에서 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E(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환경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)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에 대한 역량을 확보하기 위해 노력하고 있음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대표적으로 </a:t>
            </a:r>
            <a:r>
              <a:rPr lang="en-US" altLang="ko-KR" sz="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LG</a:t>
            </a:r>
            <a:r>
              <a:rPr lang="ko-KR" altLang="en-US" sz="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화학은 국내 화학기업 최초로 탄소중립 성장을 선언하여</a:t>
            </a:r>
            <a:r>
              <a:rPr lang="en-US" altLang="ko-KR" sz="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, LCA</a:t>
            </a:r>
            <a:r>
              <a:rPr lang="ko-KR" altLang="en-US" sz="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도입을 통해 탄소중립 달성을 위해 노력하고 있음</a:t>
            </a:r>
            <a:r>
              <a:rPr lang="en-US" altLang="ko-KR" sz="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  <a:r>
              <a:rPr kumimoji="0" lang="en-US" altLang="ko-KR" sz="800" b="0" i="0" u="none" strike="noStrike" kern="1200" cap="none" spc="-50" normalizeH="0" baseline="3000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  <a:cs typeface="+mn-cs"/>
              </a:rPr>
              <a:t> 2) </a:t>
            </a:r>
            <a:endParaRPr kumimoji="0" lang="en-US" altLang="ko-KR" sz="800" b="0" i="0" u="none" strike="noStrike" kern="1200" cap="none" spc="-5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  <a:p>
            <a:pPr marL="179388" marR="0" lvl="0" indent="-92075" algn="l" defTabSz="4572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-  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기후변화 대응을 위한 탄소 저감은 확고한 메가 트렌드이며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특히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화학산업에서의 탄소중립 성장은 에너지 집약적 산업구조를 고려할 때 장기적 관점에서 접근해야 할 난이도 높은 도전적 과제임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  <a:r>
              <a:rPr kumimoji="0" lang="en-US" altLang="ko-KR" sz="800" b="0" i="0" u="none" strike="noStrike" kern="1200" cap="none" spc="-50" normalizeH="0" baseline="3000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  <a:cs typeface="+mn-cs"/>
              </a:rPr>
              <a:t> 2)</a:t>
            </a:r>
            <a:endParaRPr kumimoji="0" lang="en-US" altLang="ko-KR" sz="800" b="0" i="0" u="none" strike="noStrike" kern="1200" cap="none" spc="-5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84F3D46-EE0E-C6B0-617E-645AC449ABA0}"/>
              </a:ext>
            </a:extLst>
          </p:cNvPr>
          <p:cNvSpPr/>
          <p:nvPr/>
        </p:nvSpPr>
        <p:spPr>
          <a:xfrm>
            <a:off x="630920" y="3698561"/>
            <a:ext cx="3416727" cy="1935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환경 강화의 흐름 속 산업 전반에 탄소중립 전환 가속 추세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40D67751-DB4D-EC46-A1D2-4BBF6884F25D}"/>
              </a:ext>
            </a:extLst>
          </p:cNvPr>
          <p:cNvSpPr/>
          <p:nvPr/>
        </p:nvSpPr>
        <p:spPr>
          <a:xfrm>
            <a:off x="630920" y="2113482"/>
            <a:ext cx="3418484" cy="1935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온실가스 저감 등 글로벌 환경 규제 강화에 따른 석유화학산업의 위기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CC9AF02-71A8-6215-5B46-68660FA093BB}"/>
              </a:ext>
            </a:extLst>
          </p:cNvPr>
          <p:cNvGrpSpPr/>
          <p:nvPr/>
        </p:nvGrpSpPr>
        <p:grpSpPr>
          <a:xfrm rot="5400000">
            <a:off x="7096549" y="2395835"/>
            <a:ext cx="505615" cy="4258627"/>
            <a:chOff x="4732519" y="2619448"/>
            <a:chExt cx="650186" cy="3203931"/>
          </a:xfrm>
        </p:grpSpPr>
        <p:sp>
          <p:nvSpPr>
            <p:cNvPr id="43" name="자유형: 도형 172">
              <a:extLst>
                <a:ext uri="{FF2B5EF4-FFF2-40B4-BE49-F238E27FC236}">
                  <a16:creationId xmlns:a16="http://schemas.microsoft.com/office/drawing/2014/main" id="{E7A5F6E6-008A-0343-CF5E-96B595DF0267}"/>
                </a:ext>
              </a:extLst>
            </p:cNvPr>
            <p:cNvSpPr/>
            <p:nvPr/>
          </p:nvSpPr>
          <p:spPr>
            <a:xfrm rot="5400000">
              <a:off x="4256629" y="3095338"/>
              <a:ext cx="1601966" cy="650185"/>
            </a:xfrm>
            <a:custGeom>
              <a:avLst/>
              <a:gdLst>
                <a:gd name="connsiteX0" fmla="*/ 1337310 w 1340588"/>
                <a:gd name="connsiteY0" fmla="*/ 0 h 891540"/>
                <a:gd name="connsiteX1" fmla="*/ 1340588 w 1340588"/>
                <a:gd name="connsiteY1" fmla="*/ 1056 h 891540"/>
                <a:gd name="connsiteX2" fmla="*/ 1340588 w 1340588"/>
                <a:gd name="connsiteY2" fmla="*/ 891540 h 891540"/>
                <a:gd name="connsiteX3" fmla="*/ 0 w 1340588"/>
                <a:gd name="connsiteY3" fmla="*/ 891540 h 891540"/>
                <a:gd name="connsiteX4" fmla="*/ 693420 w 1340588"/>
                <a:gd name="connsiteY4" fmla="*/ 323850 h 891540"/>
                <a:gd name="connsiteX5" fmla="*/ 377190 w 1340588"/>
                <a:gd name="connsiteY5" fmla="*/ 323850 h 891540"/>
                <a:gd name="connsiteX6" fmla="*/ 1337310 w 1340588"/>
                <a:gd name="connsiteY6" fmla="*/ 0 h 89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588" h="891540">
                  <a:moveTo>
                    <a:pt x="1337310" y="0"/>
                  </a:moveTo>
                  <a:lnTo>
                    <a:pt x="1340588" y="1056"/>
                  </a:lnTo>
                  <a:lnTo>
                    <a:pt x="1340588" y="891540"/>
                  </a:lnTo>
                  <a:lnTo>
                    <a:pt x="0" y="891540"/>
                  </a:lnTo>
                  <a:cubicBezTo>
                    <a:pt x="373380" y="669290"/>
                    <a:pt x="480060" y="591820"/>
                    <a:pt x="693420" y="323850"/>
                  </a:cubicBezTo>
                  <a:lnTo>
                    <a:pt x="377190" y="323850"/>
                  </a:lnTo>
                  <a:cubicBezTo>
                    <a:pt x="938530" y="223520"/>
                    <a:pt x="1205230" y="90170"/>
                    <a:pt x="133731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73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44" name="자유형: 도형 173">
              <a:extLst>
                <a:ext uri="{FF2B5EF4-FFF2-40B4-BE49-F238E27FC236}">
                  <a16:creationId xmlns:a16="http://schemas.microsoft.com/office/drawing/2014/main" id="{F971517A-75EA-D0AA-5B64-8C133DE28AEE}"/>
                </a:ext>
              </a:extLst>
            </p:cNvPr>
            <p:cNvSpPr/>
            <p:nvPr/>
          </p:nvSpPr>
          <p:spPr>
            <a:xfrm rot="5400000" flipH="1">
              <a:off x="4256628" y="4697304"/>
              <a:ext cx="1601965" cy="650185"/>
            </a:xfrm>
            <a:custGeom>
              <a:avLst/>
              <a:gdLst>
                <a:gd name="connsiteX0" fmla="*/ 1337310 w 1340588"/>
                <a:gd name="connsiteY0" fmla="*/ 0 h 891540"/>
                <a:gd name="connsiteX1" fmla="*/ 1340588 w 1340588"/>
                <a:gd name="connsiteY1" fmla="*/ 1056 h 891540"/>
                <a:gd name="connsiteX2" fmla="*/ 1340588 w 1340588"/>
                <a:gd name="connsiteY2" fmla="*/ 891540 h 891540"/>
                <a:gd name="connsiteX3" fmla="*/ 0 w 1340588"/>
                <a:gd name="connsiteY3" fmla="*/ 891540 h 891540"/>
                <a:gd name="connsiteX4" fmla="*/ 693420 w 1340588"/>
                <a:gd name="connsiteY4" fmla="*/ 323850 h 891540"/>
                <a:gd name="connsiteX5" fmla="*/ 377190 w 1340588"/>
                <a:gd name="connsiteY5" fmla="*/ 323850 h 891540"/>
                <a:gd name="connsiteX6" fmla="*/ 1337310 w 1340588"/>
                <a:gd name="connsiteY6" fmla="*/ 0 h 89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588" h="891540">
                  <a:moveTo>
                    <a:pt x="1337310" y="0"/>
                  </a:moveTo>
                  <a:lnTo>
                    <a:pt x="1340588" y="1056"/>
                  </a:lnTo>
                  <a:lnTo>
                    <a:pt x="1340588" y="891540"/>
                  </a:lnTo>
                  <a:lnTo>
                    <a:pt x="0" y="891540"/>
                  </a:lnTo>
                  <a:cubicBezTo>
                    <a:pt x="373380" y="669290"/>
                    <a:pt x="480060" y="591820"/>
                    <a:pt x="693420" y="323850"/>
                  </a:cubicBezTo>
                  <a:lnTo>
                    <a:pt x="377190" y="323850"/>
                  </a:lnTo>
                  <a:cubicBezTo>
                    <a:pt x="938530" y="223520"/>
                    <a:pt x="1205230" y="90170"/>
                    <a:pt x="133731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73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pc="-50" dirty="0"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</p:grpSp>
      <p:sp>
        <p:nvSpPr>
          <p:cNvPr id="26" name="모서리가 둥근 직사각형 79">
            <a:extLst>
              <a:ext uri="{FF2B5EF4-FFF2-40B4-BE49-F238E27FC236}">
                <a16:creationId xmlns:a16="http://schemas.microsoft.com/office/drawing/2014/main" id="{ADD1C9A3-0D42-AF3D-6DE0-EC2BD66495A6}"/>
              </a:ext>
            </a:extLst>
          </p:cNvPr>
          <p:cNvSpPr/>
          <p:nvPr/>
        </p:nvSpPr>
        <p:spPr>
          <a:xfrm>
            <a:off x="5197425" y="2056331"/>
            <a:ext cx="4260530" cy="2294593"/>
          </a:xfrm>
          <a:prstGeom prst="roundRect">
            <a:avLst>
              <a:gd name="adj" fmla="val 3025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fontAlgn="base" latinLnBrk="0">
              <a:lnSpc>
                <a:spcPct val="120000"/>
              </a:lnSpc>
            </a:pPr>
            <a:endParaRPr lang="en-US" altLang="ko-KR" sz="10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accent5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175" name="모서리가 둥근 직사각형 95">
            <a:extLst>
              <a:ext uri="{FF2B5EF4-FFF2-40B4-BE49-F238E27FC236}">
                <a16:creationId xmlns:a16="http://schemas.microsoft.com/office/drawing/2014/main" id="{916093DC-3225-EEE2-0DED-0B9E11D60162}"/>
              </a:ext>
            </a:extLst>
          </p:cNvPr>
          <p:cNvSpPr>
            <a:spLocks/>
          </p:cNvSpPr>
          <p:nvPr/>
        </p:nvSpPr>
        <p:spPr>
          <a:xfrm>
            <a:off x="5325505" y="3125185"/>
            <a:ext cx="290561" cy="3105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spc="-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대상</a:t>
            </a:r>
          </a:p>
        </p:txBody>
      </p:sp>
      <p:sp>
        <p:nvSpPr>
          <p:cNvPr id="176" name="모서리가 둥근 직사각형 97">
            <a:extLst>
              <a:ext uri="{FF2B5EF4-FFF2-40B4-BE49-F238E27FC236}">
                <a16:creationId xmlns:a16="http://schemas.microsoft.com/office/drawing/2014/main" id="{2C456708-AB3A-9BE8-66FA-E8A5A167BA65}"/>
              </a:ext>
            </a:extLst>
          </p:cNvPr>
          <p:cNvSpPr>
            <a:spLocks/>
          </p:cNvSpPr>
          <p:nvPr/>
        </p:nvSpPr>
        <p:spPr>
          <a:xfrm>
            <a:off x="5347849" y="3413349"/>
            <a:ext cx="245873" cy="481698"/>
          </a:xfrm>
          <a:prstGeom prst="roundRect">
            <a:avLst>
              <a:gd name="adj" fmla="val 898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spc="-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운영기관</a:t>
            </a:r>
          </a:p>
        </p:txBody>
      </p:sp>
      <p:sp>
        <p:nvSpPr>
          <p:cNvPr id="179" name="모서리가 둥근 직사각형 95">
            <a:extLst>
              <a:ext uri="{FF2B5EF4-FFF2-40B4-BE49-F238E27FC236}">
                <a16:creationId xmlns:a16="http://schemas.microsoft.com/office/drawing/2014/main" id="{27B77238-7160-9639-C66A-B5F17D5DBC66}"/>
              </a:ext>
            </a:extLst>
          </p:cNvPr>
          <p:cNvSpPr>
            <a:spLocks/>
          </p:cNvSpPr>
          <p:nvPr/>
        </p:nvSpPr>
        <p:spPr>
          <a:xfrm>
            <a:off x="5325505" y="2307031"/>
            <a:ext cx="290561" cy="78310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spc="-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설립 목적</a:t>
            </a:r>
          </a:p>
        </p:txBody>
      </p: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368712F0-7844-BAFF-400F-0A80674FD5E8}"/>
              </a:ext>
            </a:extLst>
          </p:cNvPr>
          <p:cNvCxnSpPr>
            <a:cxnSpLocks/>
          </p:cNvCxnSpPr>
          <p:nvPr/>
        </p:nvCxnSpPr>
        <p:spPr>
          <a:xfrm>
            <a:off x="5286743" y="3461971"/>
            <a:ext cx="4082400" cy="0"/>
          </a:xfrm>
          <a:prstGeom prst="line">
            <a:avLst/>
          </a:prstGeom>
          <a:ln w="6350">
            <a:solidFill>
              <a:srgbClr val="0D2B3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FE520BA1-6281-75FB-3FCF-73650EB37BFA}"/>
              </a:ext>
            </a:extLst>
          </p:cNvPr>
          <p:cNvCxnSpPr>
            <a:cxnSpLocks/>
          </p:cNvCxnSpPr>
          <p:nvPr/>
        </p:nvCxnSpPr>
        <p:spPr>
          <a:xfrm>
            <a:off x="5286743" y="3155293"/>
            <a:ext cx="4083656" cy="0"/>
          </a:xfrm>
          <a:prstGeom prst="line">
            <a:avLst/>
          </a:prstGeom>
          <a:ln w="6350">
            <a:solidFill>
              <a:srgbClr val="0D2B3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모서리가 둥근 직사각형 99">
            <a:extLst>
              <a:ext uri="{FF2B5EF4-FFF2-40B4-BE49-F238E27FC236}">
                <a16:creationId xmlns:a16="http://schemas.microsoft.com/office/drawing/2014/main" id="{323DF9B6-A929-B35E-913B-8EB0B894A76B}"/>
              </a:ext>
            </a:extLst>
          </p:cNvPr>
          <p:cNvSpPr>
            <a:spLocks/>
          </p:cNvSpPr>
          <p:nvPr/>
        </p:nvSpPr>
        <p:spPr>
          <a:xfrm>
            <a:off x="5305153" y="3902714"/>
            <a:ext cx="331264" cy="276084"/>
          </a:xfrm>
          <a:prstGeom prst="roundRect">
            <a:avLst>
              <a:gd name="adj" fmla="val 1128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spc="-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필요성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7966E0C-2D44-C264-1ADF-64A370116FDC}"/>
              </a:ext>
            </a:extLst>
          </p:cNvPr>
          <p:cNvCxnSpPr>
            <a:cxnSpLocks/>
          </p:cNvCxnSpPr>
          <p:nvPr/>
        </p:nvCxnSpPr>
        <p:spPr>
          <a:xfrm>
            <a:off x="5286743" y="3817836"/>
            <a:ext cx="4082400" cy="0"/>
          </a:xfrm>
          <a:prstGeom prst="line">
            <a:avLst/>
          </a:prstGeom>
          <a:ln w="6350">
            <a:solidFill>
              <a:srgbClr val="0D2B3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597A75F-132D-E63D-E651-381367490C2B}"/>
              </a:ext>
            </a:extLst>
          </p:cNvPr>
          <p:cNvSpPr/>
          <p:nvPr/>
        </p:nvSpPr>
        <p:spPr>
          <a:xfrm>
            <a:off x="5286743" y="2261497"/>
            <a:ext cx="4083656" cy="2025415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57188" lvl="0" indent="-85725" fontAlgn="base">
              <a:spcAft>
                <a:spcPts val="200"/>
              </a:spcAft>
              <a:buClrTx/>
              <a:buSzPct val="80000"/>
              <a:tabLst/>
              <a:defRPr/>
            </a:pPr>
            <a:endParaRPr lang="en-US" altLang="ko-KR" sz="1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lvl="0" indent="-85725" fontAlgn="base">
              <a:spcAft>
                <a:spcPts val="2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인식도 제고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기업의 산업전환 인식과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인력 조정의 필요성에 대한 인지도 강화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lvl="0" indent="-85725" fontAlgn="base">
              <a:spcAft>
                <a:spcPts val="2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제도적 지원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신기술 개발 인력과 여건이 미흡한 중소기업을 대상으로 산업전환 지원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lvl="0" indent="-85725" fontAlgn="base">
              <a:spcAft>
                <a:spcPts val="2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정보 제공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시기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기술 분야 등의 불확실성 해소를 위한 정보 제공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lvl="0" indent="-85725" fontAlgn="base">
              <a:spcAft>
                <a:spcPts val="2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근로자의 만족도 향상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근로자 개인의 직무 발전을 위한 산업전환 교육과정 개발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연계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lvl="0" indent="-85725" fontAlgn="base">
              <a:spcAft>
                <a:spcPts val="2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endParaRPr lang="en-US" altLang="ko-KR" sz="4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lvl="0" indent="-85725" fontAlgn="base">
              <a:spcAft>
                <a:spcPts val="2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협약기업과 산업 이해관계자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lvl="0" indent="-85725" fontAlgn="base">
              <a:spcAft>
                <a:spcPts val="2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endParaRPr lang="en-US" altLang="ko-KR" sz="10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indent="-85725" fontAlgn="base">
              <a:spcAft>
                <a:spcPts val="200"/>
              </a:spcAft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훈련을 제공할 수 있는 기업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대학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지자체 출연기관 등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indent="-85725" fontAlgn="base">
              <a:spcAft>
                <a:spcPts val="200"/>
              </a:spcAft>
              <a:buSzPct val="80000"/>
              <a:buFont typeface="Arial" panose="020B0604020202020204" pitchFamily="34" charset="0"/>
              <a:buChar char="•"/>
              <a:defRPr/>
            </a:pP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indent="-85725" fontAlgn="base">
              <a:spcAft>
                <a:spcPts val="200"/>
              </a:spcAft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일반훈련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新 산업구조 및 직무에 대한 전반적인 이해도 향상과 인사이트 제공</a:t>
            </a: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357188" indent="-85725" fontAlgn="base">
              <a:spcAft>
                <a:spcPts val="200"/>
              </a:spcAft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직무훈련</a:t>
            </a:r>
            <a:r>
              <a:rPr lang="en-US" altLang="ko-KR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9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새로운 직무 습득에 필요한 체계적 직무교육</a:t>
            </a:r>
          </a:p>
          <a:p>
            <a:pPr marL="357188" lvl="0" indent="-85725" fontAlgn="base">
              <a:spcAft>
                <a:spcPts val="2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endParaRPr lang="en-US" altLang="ko-KR" sz="9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340628A-604F-8B4A-0F69-0C0934B3CA26}"/>
              </a:ext>
            </a:extLst>
          </p:cNvPr>
          <p:cNvSpPr/>
          <p:nvPr/>
        </p:nvSpPr>
        <p:spPr>
          <a:xfrm>
            <a:off x="5382062" y="2113482"/>
            <a:ext cx="1596588" cy="1935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산업전환 공동훈련센터 개요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0C8CBFB-0428-6C00-46B6-253B606408F8}"/>
              </a:ext>
            </a:extLst>
          </p:cNvPr>
          <p:cNvGrpSpPr/>
          <p:nvPr/>
        </p:nvGrpSpPr>
        <p:grpSpPr>
          <a:xfrm>
            <a:off x="5286741" y="4614573"/>
            <a:ext cx="4171214" cy="1729117"/>
            <a:chOff x="5286741" y="4866048"/>
            <a:chExt cx="4171214" cy="1454773"/>
          </a:xfrm>
        </p:grpSpPr>
        <p:sp>
          <p:nvSpPr>
            <p:cNvPr id="214" name="사각형: 둥근 모서리 1">
              <a:extLst>
                <a:ext uri="{FF2B5EF4-FFF2-40B4-BE49-F238E27FC236}">
                  <a16:creationId xmlns:a16="http://schemas.microsoft.com/office/drawing/2014/main" id="{7B415F10-F69E-8142-FECB-565D51540193}"/>
                </a:ext>
              </a:extLst>
            </p:cNvPr>
            <p:cNvSpPr/>
            <p:nvPr/>
          </p:nvSpPr>
          <p:spPr>
            <a:xfrm>
              <a:off x="5286741" y="5030201"/>
              <a:ext cx="1323202" cy="12906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44000" rIns="0" bIns="0" rtlCol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4138" indent="-84138" latinLnBrk="0">
                <a:lnSpc>
                  <a:spcPct val="11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KTR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협약기업에 대한 구체적인 분석 필요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marL="88900" indent="-88900" latinLnBrk="0">
                <a:lnSpc>
                  <a:spcPct val="110000"/>
                </a:lnSpc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-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실질적이고 효율적인 교육훈련 제공을 위해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교육 대상자에 대한 분석이 선행되어야 함</a:t>
              </a:r>
            </a:p>
          </p:txBody>
        </p:sp>
        <p:sp>
          <p:nvSpPr>
            <p:cNvPr id="237" name="사각형: 둥근 모서리 1">
              <a:extLst>
                <a:ext uri="{FF2B5EF4-FFF2-40B4-BE49-F238E27FC236}">
                  <a16:creationId xmlns:a16="http://schemas.microsoft.com/office/drawing/2014/main" id="{31C4C051-8D60-DF38-833E-D7581F178B3C}"/>
                </a:ext>
              </a:extLst>
            </p:cNvPr>
            <p:cNvSpPr/>
            <p:nvPr/>
          </p:nvSpPr>
          <p:spPr>
            <a:xfrm>
              <a:off x="6710747" y="5030270"/>
              <a:ext cx="1323202" cy="12891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44000" rIns="0" bIns="0" rtlCol="0" anchor="t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4138" indent="-84138" latinLnBrk="0">
                <a:lnSpc>
                  <a:spcPct val="11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KTR 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협약기업이 주로 속해 있는 산업에 대한 높은 이해 필요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marL="88900" indent="-88900" latinLnBrk="0">
                <a:lnSpc>
                  <a:spcPct val="110000"/>
                </a:lnSpc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-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해당 산업 환경에서 실질적 으로 요구되는 교육훈련을 제공하여 현장 중심 역량 개발을 도울 수 있음</a:t>
              </a:r>
            </a:p>
          </p:txBody>
        </p:sp>
        <p:sp>
          <p:nvSpPr>
            <p:cNvPr id="239" name="사각형: 둥근 모서리 1">
              <a:extLst>
                <a:ext uri="{FF2B5EF4-FFF2-40B4-BE49-F238E27FC236}">
                  <a16:creationId xmlns:a16="http://schemas.microsoft.com/office/drawing/2014/main" id="{A734582B-D0DF-F162-76A8-AFFC9B049AE2}"/>
                </a:ext>
              </a:extLst>
            </p:cNvPr>
            <p:cNvSpPr/>
            <p:nvPr/>
          </p:nvSpPr>
          <p:spPr>
            <a:xfrm>
              <a:off x="8134753" y="5030201"/>
              <a:ext cx="1323202" cy="12906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44000" rIns="36000" bIns="0" rtlCol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4138" indent="-84138" latinLnBrk="0">
                <a:lnSpc>
                  <a:spcPct val="11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기존 운영체계 분석을 통한 교육체계 재정립 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marL="88900" indent="-88900" latinLnBrk="0">
                <a:lnSpc>
                  <a:spcPct val="110000"/>
                </a:lnSpc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-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체계적으로 센터를 운영하고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일관성 있는 과정 개발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운영 가능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15" name="사각형: 둥근 모서리 1">
              <a:extLst>
                <a:ext uri="{FF2B5EF4-FFF2-40B4-BE49-F238E27FC236}">
                  <a16:creationId xmlns:a16="http://schemas.microsoft.com/office/drawing/2014/main" id="{320D676F-2A29-1518-18EA-8A72D070D9CB}"/>
                </a:ext>
              </a:extLst>
            </p:cNvPr>
            <p:cNvSpPr/>
            <p:nvPr/>
          </p:nvSpPr>
          <p:spPr>
            <a:xfrm>
              <a:off x="5286741" y="4866981"/>
              <a:ext cx="1323202" cy="215696"/>
            </a:xfrm>
            <a:prstGeom prst="roundRect">
              <a:avLst>
                <a:gd name="adj" fmla="val 0"/>
              </a:avLst>
            </a:prstGeom>
            <a:solidFill>
              <a:srgbClr val="FF6600"/>
            </a:solidFill>
            <a:ln w="1905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000" spc="-5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① 교육 대상에 대한 분석</a:t>
              </a:r>
            </a:p>
          </p:txBody>
        </p:sp>
        <p:sp>
          <p:nvSpPr>
            <p:cNvPr id="238" name="사각형: 둥근 모서리 1">
              <a:extLst>
                <a:ext uri="{FF2B5EF4-FFF2-40B4-BE49-F238E27FC236}">
                  <a16:creationId xmlns:a16="http://schemas.microsoft.com/office/drawing/2014/main" id="{BA48D8A5-90DB-8F49-5C3E-3ECD7F71A394}"/>
                </a:ext>
              </a:extLst>
            </p:cNvPr>
            <p:cNvSpPr/>
            <p:nvPr/>
          </p:nvSpPr>
          <p:spPr>
            <a:xfrm>
              <a:off x="6710747" y="4866514"/>
              <a:ext cx="1323202" cy="215696"/>
            </a:xfrm>
            <a:prstGeom prst="roundRect">
              <a:avLst>
                <a:gd name="adj" fmla="val 6597"/>
              </a:avLst>
            </a:prstGeom>
            <a:solidFill>
              <a:srgbClr val="FF6600"/>
            </a:solidFill>
            <a:ln w="1905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000" spc="-5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② 산업에 대한 이해</a:t>
              </a:r>
            </a:p>
          </p:txBody>
        </p:sp>
        <p:sp>
          <p:nvSpPr>
            <p:cNvPr id="240" name="사각형: 둥근 모서리 1">
              <a:extLst>
                <a:ext uri="{FF2B5EF4-FFF2-40B4-BE49-F238E27FC236}">
                  <a16:creationId xmlns:a16="http://schemas.microsoft.com/office/drawing/2014/main" id="{B09638A1-E834-F479-87CE-3019B87DE48D}"/>
                </a:ext>
              </a:extLst>
            </p:cNvPr>
            <p:cNvSpPr/>
            <p:nvPr/>
          </p:nvSpPr>
          <p:spPr>
            <a:xfrm>
              <a:off x="8134753" y="4866048"/>
              <a:ext cx="1323202" cy="215696"/>
            </a:xfrm>
            <a:prstGeom prst="roundRect">
              <a:avLst>
                <a:gd name="adj" fmla="val 6597"/>
              </a:avLst>
            </a:prstGeom>
            <a:solidFill>
              <a:srgbClr val="FF6600"/>
            </a:solidFill>
            <a:ln w="1905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000" spc="-5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③ 교육체계 재정립</a:t>
              </a:r>
            </a:p>
          </p:txBody>
        </p:sp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CE68827-27CE-1009-9167-5EB77A53D3D1}"/>
              </a:ext>
            </a:extLst>
          </p:cNvPr>
          <p:cNvSpPr/>
          <p:nvPr/>
        </p:nvSpPr>
        <p:spPr>
          <a:xfrm>
            <a:off x="5618448" y="4370642"/>
            <a:ext cx="3418484" cy="1935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pc="-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[ </a:t>
            </a:r>
            <a:r>
              <a:rPr lang="ko-KR" altLang="en-US" sz="1000" spc="-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체계적인 센터 운영을 위한 고려사항 </a:t>
            </a:r>
            <a:r>
              <a:rPr lang="en-US" altLang="ko-KR" sz="1000" spc="-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]</a:t>
            </a:r>
            <a:endParaRPr lang="ko-KR" altLang="en-US" sz="1000" spc="-5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0026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2F40F-5CFA-D7D4-0813-A2F30C6A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104">
            <a:extLst>
              <a:ext uri="{FF2B5EF4-FFF2-40B4-BE49-F238E27FC236}">
                <a16:creationId xmlns:a16="http://schemas.microsoft.com/office/drawing/2014/main" id="{D95ADC68-E267-84B0-A1AA-C37A25206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5" y="1527894"/>
            <a:ext cx="9217027" cy="98132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ko-KR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KTR </a:t>
            </a:r>
            <a:r>
              <a:rPr lang="ko-KR" altLang="en-US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협약기업의 </a:t>
            </a:r>
            <a:r>
              <a:rPr lang="ko-KR" altLang="en-US" spc="-50" dirty="0" err="1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바이오화학</a:t>
            </a:r>
            <a:r>
              <a:rPr lang="ko-KR" altLang="en-US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 분야 산업전환 역량 기반 </a:t>
            </a:r>
            <a:r>
              <a:rPr lang="ko-KR" altLang="en-US" spc="-50" dirty="0" err="1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교육로드맵</a:t>
            </a:r>
            <a:r>
              <a:rPr lang="ko-KR" altLang="en-US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 구축을 통한 </a:t>
            </a:r>
            <a:endParaRPr lang="en-US" altLang="ko-KR" spc="-50" dirty="0">
              <a:solidFill>
                <a:srgbClr val="344532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pc="-50" dirty="0">
                <a:solidFill>
                  <a:srgbClr val="FF6600"/>
                </a:solidFill>
                <a:latin typeface="페이퍼로지 7 Bold" pitchFamily="2" charset="-127"/>
                <a:ea typeface="페이퍼로지 7 Bold" pitchFamily="2" charset="-127"/>
              </a:rPr>
              <a:t>KTR </a:t>
            </a:r>
            <a:r>
              <a:rPr lang="ko-KR" altLang="en-US" spc="-50" dirty="0">
                <a:solidFill>
                  <a:srgbClr val="FF6600"/>
                </a:solidFill>
                <a:latin typeface="페이퍼로지 7 Bold" pitchFamily="2" charset="-127"/>
                <a:ea typeface="페이퍼로지 7 Bold" pitchFamily="2" charset="-127"/>
              </a:rPr>
              <a:t>산업전환 공동훈련센터 운영 전략 체계화</a:t>
            </a:r>
            <a:endParaRPr lang="en-US" altLang="ko-KR" spc="-50" dirty="0">
              <a:solidFill>
                <a:srgbClr val="FF660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E7D2886-0E69-AE37-57D0-CA011292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4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748BCA-F217-B4BF-62E6-9EE054EA797C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Ⅰ.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개요 </a:t>
            </a:r>
            <a:endParaRPr lang="en-US" altLang="ko-KR" sz="1400" spc="-50" dirty="0">
              <a:solidFill>
                <a:srgbClr val="E7E6E6">
                  <a:lumMod val="50000"/>
                </a:srgb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BD16BCCF-0629-F47C-58DF-9C93A31515CF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추진 배경에 따른 사업 목적과 이를 달성하기 위한 핵심 과제 및 과업 범위는 다음과 같습니다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7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8" name="직사각형 104">
            <a:extLst>
              <a:ext uri="{FF2B5EF4-FFF2-40B4-BE49-F238E27FC236}">
                <a16:creationId xmlns:a16="http://schemas.microsoft.com/office/drawing/2014/main" id="{D3DF1511-0D5D-7616-B272-5C009D734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2865459"/>
            <a:ext cx="2005200" cy="276999"/>
          </a:xfrm>
          <a:prstGeom prst="rect">
            <a:avLst/>
          </a:prstGeom>
          <a:solidFill>
            <a:srgbClr val="344532"/>
          </a:solidFill>
          <a:ln>
            <a:noFill/>
          </a:ln>
        </p:spPr>
        <p:txBody>
          <a:bodyPr wrap="square">
            <a:sp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/>
            <a:r>
              <a:rPr lang="ko-KR" altLang="en-US" sz="12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핵심 과제</a:t>
            </a:r>
            <a:endParaRPr lang="en-US" altLang="ko-KR" sz="120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0" name="직사각형 104">
            <a:extLst>
              <a:ext uri="{FF2B5EF4-FFF2-40B4-BE49-F238E27FC236}">
                <a16:creationId xmlns:a16="http://schemas.microsoft.com/office/drawing/2014/main" id="{4F7E4F94-7437-7BC3-A885-AABB51DB7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846" y="2865459"/>
            <a:ext cx="2004665" cy="276999"/>
          </a:xfrm>
          <a:prstGeom prst="rect">
            <a:avLst/>
          </a:prstGeom>
          <a:solidFill>
            <a:srgbClr val="344532"/>
          </a:solidFill>
          <a:ln>
            <a:noFill/>
          </a:ln>
        </p:spPr>
        <p:txBody>
          <a:bodyPr wrap="square">
            <a:sp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/>
            <a:r>
              <a:rPr lang="ko-KR" altLang="en-US" sz="12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세부 목표</a:t>
            </a:r>
            <a:endParaRPr lang="en-US" altLang="ko-KR" sz="120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2" name="직사각형 104">
            <a:extLst>
              <a:ext uri="{FF2B5EF4-FFF2-40B4-BE49-F238E27FC236}">
                <a16:creationId xmlns:a16="http://schemas.microsoft.com/office/drawing/2014/main" id="{2A12D7E1-0F4A-217C-DA92-37CBEA14C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6" y="3181527"/>
            <a:ext cx="2005200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54000" rIns="5400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① </a:t>
            </a:r>
            <a:r>
              <a:rPr lang="en-US" altLang="ko-KR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KTR 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산업전환 </a:t>
            </a:r>
            <a:endParaRPr lang="en-US" altLang="ko-KR" sz="14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>
              <a:lnSpc>
                <a:spcPct val="120000"/>
              </a:lnSpc>
            </a:pP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공동훈련센터 협약기업 현황 및 산업환경 분석</a:t>
            </a:r>
            <a:endParaRPr lang="en-US" altLang="ko-KR" sz="14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3" name="직사각형 104">
            <a:extLst>
              <a:ext uri="{FF2B5EF4-FFF2-40B4-BE49-F238E27FC236}">
                <a16:creationId xmlns:a16="http://schemas.microsoft.com/office/drawing/2014/main" id="{246178B4-332F-7C1F-7605-727DE7B79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6" y="4289513"/>
            <a:ext cx="2005200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54000" rIns="5400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② </a:t>
            </a:r>
            <a:r>
              <a:rPr lang="en-US" altLang="ko-KR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KTR 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산업전환 공동훈련센터 교육체계 및 과정 현황 분석 </a:t>
            </a:r>
            <a:endParaRPr lang="en-US" altLang="ko-KR" sz="14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4" name="직사각형 104">
            <a:extLst>
              <a:ext uri="{FF2B5EF4-FFF2-40B4-BE49-F238E27FC236}">
                <a16:creationId xmlns:a16="http://schemas.microsoft.com/office/drawing/2014/main" id="{0E1EB49F-C55A-DC73-F12E-DB1DC1F81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6" y="5397500"/>
            <a:ext cx="2005200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54000" rIns="5400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③ </a:t>
            </a:r>
            <a:r>
              <a:rPr lang="en-US" altLang="ko-KR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KTR 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산업전환 공동훈련센터 교육계획 및 </a:t>
            </a:r>
            <a:endParaRPr lang="en-US" altLang="ko-KR" sz="14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>
              <a:lnSpc>
                <a:spcPct val="120000"/>
              </a:lnSpc>
            </a:pPr>
            <a:r>
              <a:rPr lang="ko-KR" altLang="en-US" sz="140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40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재수립</a:t>
            </a:r>
            <a:endParaRPr lang="en-US" altLang="ko-KR" sz="14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8" name="직사각형 104">
            <a:extLst>
              <a:ext uri="{FF2B5EF4-FFF2-40B4-BE49-F238E27FC236}">
                <a16:creationId xmlns:a16="http://schemas.microsoft.com/office/drawing/2014/main" id="{2E1E0691-5078-508A-0E88-EA32D1CC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847" y="3181527"/>
            <a:ext cx="2004665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0" rIns="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산업전환 공동훈련센터 교육계획 방향성과 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algn="ctr" latinLnBrk="0">
              <a:lnSpc>
                <a:spcPct val="120000"/>
              </a:lnSpc>
            </a:pP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협약기업 분류를 위한 시사점 도출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9" name="직사각형 104">
            <a:extLst>
              <a:ext uri="{FF2B5EF4-FFF2-40B4-BE49-F238E27FC236}">
                <a16:creationId xmlns:a16="http://schemas.microsoft.com/office/drawing/2014/main" id="{8F8C628E-F81F-4FA1-7780-485377576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847" y="4307826"/>
            <a:ext cx="2004665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0" rIns="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협약기업 데이터 기반 산업전환 공동훈련센터 교육체계 개선방안 도출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0" name="직사각형 104">
            <a:extLst>
              <a:ext uri="{FF2B5EF4-FFF2-40B4-BE49-F238E27FC236}">
                <a16:creationId xmlns:a16="http://schemas.microsoft.com/office/drawing/2014/main" id="{F3D0369F-3C63-8D04-3383-D08344E6D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847" y="5444675"/>
            <a:ext cx="2004665" cy="900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ko-KR" altLang="en-US" sz="1200" spc="-50">
                <a:solidFill>
                  <a:srgbClr val="002060"/>
                </a:solidFill>
                <a:latin typeface="페이퍼로지 4 Regular" pitchFamily="2" charset="-127"/>
                <a:ea typeface="페이퍼로지 4 Regular" pitchFamily="2" charset="-127"/>
              </a:rPr>
              <a:t>ㅇㅇㅇ</a:t>
            </a:r>
            <a:endParaRPr lang="en-US" altLang="ko-KR" sz="1200" spc="-50" dirty="0">
              <a:solidFill>
                <a:srgbClr val="00206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9" name="직사각형 104">
            <a:extLst>
              <a:ext uri="{FF2B5EF4-FFF2-40B4-BE49-F238E27FC236}">
                <a16:creationId xmlns:a16="http://schemas.microsoft.com/office/drawing/2014/main" id="{BFD8499A-8B64-1F33-5940-02AF4C86C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714" y="2865459"/>
            <a:ext cx="4983106" cy="276999"/>
          </a:xfrm>
          <a:prstGeom prst="rect">
            <a:avLst/>
          </a:prstGeom>
          <a:solidFill>
            <a:srgbClr val="344532"/>
          </a:solidFill>
          <a:ln>
            <a:noFill/>
          </a:ln>
        </p:spPr>
        <p:txBody>
          <a:bodyPr wrap="square">
            <a:sp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/>
            <a:r>
              <a:rPr lang="ko-KR" altLang="en-US" sz="1200" spc="-5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수행 과업</a:t>
            </a:r>
            <a:endParaRPr lang="en-US" altLang="ko-KR" sz="120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5" name="직사각형 104">
            <a:extLst>
              <a:ext uri="{FF2B5EF4-FFF2-40B4-BE49-F238E27FC236}">
                <a16:creationId xmlns:a16="http://schemas.microsoft.com/office/drawing/2014/main" id="{EDB7C3AB-F7F4-284E-8DFE-A7E6AA6AC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714" y="3181527"/>
            <a:ext cx="4983106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협약기업 현황을 분석하여 기업별 특성 및 지원 필요사항 파악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협약기업의 주요 산업군을 분석하여 산업전환에 필요한 핵심 기술</a:t>
            </a: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역량 파악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주요 산업별 맞춤형 전략 방향 설정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2" name="직사각형 104">
            <a:extLst>
              <a:ext uri="{FF2B5EF4-FFF2-40B4-BE49-F238E27FC236}">
                <a16:creationId xmlns:a16="http://schemas.microsoft.com/office/drawing/2014/main" id="{F9BB613D-CC68-FCF6-0765-2EB68C255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848" y="5397500"/>
            <a:ext cx="2004665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0" rIns="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산업전환 공동훈련센터 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algn="ctr" latinLnBrk="0">
              <a:lnSpc>
                <a:spcPct val="120000"/>
              </a:lnSpc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개년 교육계획 및 운영 전략 수립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C3CE789-A08E-DD72-0A08-6A426DFD1D58}"/>
              </a:ext>
            </a:extLst>
          </p:cNvPr>
          <p:cNvSpPr txBox="1"/>
          <p:nvPr/>
        </p:nvSpPr>
        <p:spPr>
          <a:xfrm>
            <a:off x="1053685" y="1372771"/>
            <a:ext cx="344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3600" b="0" i="0" u="none" strike="noStrike" kern="1200" cap="none" spc="-50" normalizeH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고딕17" panose="02020600000000000000" pitchFamily="18" charset="-127"/>
                <a:ea typeface="a고딕17" panose="02020600000000000000" pitchFamily="18" charset="-127"/>
              </a:rPr>
              <a:t>“</a:t>
            </a:r>
            <a:endParaRPr lang="ko-KR" altLang="en-US" sz="3200" spc="-50" dirty="0">
              <a:solidFill>
                <a:srgbClr val="FF660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2AE45CA-FB9F-34EE-B568-12EBB3C40168}"/>
              </a:ext>
            </a:extLst>
          </p:cNvPr>
          <p:cNvSpPr txBox="1"/>
          <p:nvPr/>
        </p:nvSpPr>
        <p:spPr>
          <a:xfrm>
            <a:off x="8481156" y="2349201"/>
            <a:ext cx="344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3600" b="0" i="0" u="none" strike="noStrike" kern="1200" cap="none" spc="-50" normalizeH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고딕17" panose="02020600000000000000" pitchFamily="18" charset="-127"/>
                <a:ea typeface="a고딕17" panose="02020600000000000000" pitchFamily="18" charset="-127"/>
              </a:rPr>
              <a:t>”</a:t>
            </a:r>
            <a:endParaRPr lang="ko-KR" altLang="en-US" sz="3200" spc="-50" dirty="0">
              <a:solidFill>
                <a:srgbClr val="FF6600"/>
              </a:solidFill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A660567D-56AB-6211-7536-17C0B2250D90}"/>
              </a:ext>
            </a:extLst>
          </p:cNvPr>
          <p:cNvCxnSpPr>
            <a:cxnSpLocks/>
            <a:stCxn id="66" idx="2"/>
            <a:endCxn id="115" idx="0"/>
          </p:cNvCxnSpPr>
          <p:nvPr/>
        </p:nvCxnSpPr>
        <p:spPr>
          <a:xfrm flipH="1">
            <a:off x="4952998" y="2509214"/>
            <a:ext cx="1" cy="14692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타원 114">
            <a:extLst>
              <a:ext uri="{FF2B5EF4-FFF2-40B4-BE49-F238E27FC236}">
                <a16:creationId xmlns:a16="http://schemas.microsoft.com/office/drawing/2014/main" id="{133F82BE-DCF6-0748-1A01-98B57B86DEF1}"/>
              </a:ext>
            </a:extLst>
          </p:cNvPr>
          <p:cNvSpPr/>
          <p:nvPr/>
        </p:nvSpPr>
        <p:spPr>
          <a:xfrm>
            <a:off x="4903815" y="2656140"/>
            <a:ext cx="98365" cy="98365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lnSpc>
                <a:spcPct val="130000"/>
              </a:lnSpc>
            </a:pPr>
            <a:endParaRPr lang="ko-KR" altLang="en-US" spc="-50">
              <a:solidFill>
                <a:srgbClr val="344532"/>
              </a:solidFill>
              <a:latin typeface="a고딕17" panose="02020600000000000000" pitchFamily="18" charset="-127"/>
              <a:ea typeface="a고딕17" panose="02020600000000000000" pitchFamily="18" charset="-127"/>
            </a:endParaRPr>
          </a:p>
        </p:txBody>
      </p:sp>
      <p:sp>
        <p:nvSpPr>
          <p:cNvPr id="46" name="직사각형 104">
            <a:extLst>
              <a:ext uri="{FF2B5EF4-FFF2-40B4-BE49-F238E27FC236}">
                <a16:creationId xmlns:a16="http://schemas.microsoft.com/office/drawing/2014/main" id="{F1A2C899-780B-5EDC-64F5-850DAC305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715" y="4307826"/>
            <a:ext cx="4983106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산업전환 공동훈련센터 교육훈련체계 및 과정 분석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협약기업 및 주요 </a:t>
            </a:r>
            <a:r>
              <a:rPr lang="ko-KR" altLang="en-US" sz="1200" spc="-50" dirty="0" err="1">
                <a:latin typeface="페이퍼로지 4 Regular" pitchFamily="2" charset="-127"/>
                <a:ea typeface="페이퍼로지 4 Regular" pitchFamily="2" charset="-127"/>
              </a:rPr>
              <a:t>산업군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 분석 결과와 기존 교육과정 비교 분석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개선방안 도출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7" name="직사각형 104">
            <a:extLst>
              <a:ext uri="{FF2B5EF4-FFF2-40B4-BE49-F238E27FC236}">
                <a16:creationId xmlns:a16="http://schemas.microsoft.com/office/drawing/2014/main" id="{822746A4-AE3F-BD59-9D6A-802283F3D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715" y="5397500"/>
            <a:ext cx="4983106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산업전환 공동훈련센터 </a:t>
            </a: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개년 교육계획</a:t>
            </a: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(’25-’28)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 수립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산업전환 공동훈련센터 </a:t>
            </a:r>
            <a:r>
              <a:rPr lang="ko-KR" altLang="en-US" sz="1200" spc="-50" dirty="0" err="1"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 재구조화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신규 교육주제 도출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4ED75-24BF-FE2A-693A-AFE12339EE52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2E14530-CD4E-6831-A796-A372D2670711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F1DB6CF3-5BA4-82C6-C398-7293207B14DD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5C888B-8235-D7E4-8DA8-BE4CB6B14BDC}"/>
                </a:ext>
              </a:extLst>
            </p:cNvPr>
            <p:cNvSpPr txBox="1"/>
            <p:nvPr/>
          </p:nvSpPr>
          <p:spPr>
            <a:xfrm>
              <a:off x="433220" y="164300"/>
              <a:ext cx="88200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목적 및 수행과업</a:t>
              </a: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B5E982-703D-755A-DE52-32CFD24099E6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사업 목적 및 추진 범위</a:t>
            </a:r>
          </a:p>
        </p:txBody>
      </p:sp>
    </p:spTree>
    <p:extLst>
      <p:ext uri="{BB962C8B-B14F-4D97-AF65-F5344CB8AC3E}">
        <p14:creationId xmlns:p14="http://schemas.microsoft.com/office/powerpoint/2010/main" val="1210497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29E5D-9709-6912-4FD9-9026D085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8F4AB1-4CAF-5675-D460-43F05BAE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B3A766-3430-1712-14F4-EE3F9D48EC78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Ⅰ.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개요 </a:t>
            </a:r>
            <a:endParaRPr lang="en-US" altLang="ko-KR" sz="1400" spc="-50" dirty="0">
              <a:solidFill>
                <a:srgbClr val="E7E6E6">
                  <a:lumMod val="50000"/>
                </a:srgb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1DCACBCE-EF83-6780-BFAC-D040D54580DD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본 사업을 체계적으로 추진하기 위해 핵심 과제 및 과업 범위를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총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Module, 12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Step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으로 재구조화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하였습니다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4ADD448F-A5A7-420C-1E69-1BE47FD37D99}"/>
              </a:ext>
            </a:extLst>
          </p:cNvPr>
          <p:cNvCxnSpPr>
            <a:cxnSpLocks/>
            <a:stCxn id="237" idx="2"/>
            <a:endCxn id="227" idx="0"/>
          </p:cNvCxnSpPr>
          <p:nvPr/>
        </p:nvCxnSpPr>
        <p:spPr>
          <a:xfrm>
            <a:off x="8553214" y="2546728"/>
            <a:ext cx="0" cy="66683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CBEAC5C9-D0FA-32DE-DBD6-6433B0835520}"/>
              </a:ext>
            </a:extLst>
          </p:cNvPr>
          <p:cNvCxnSpPr>
            <a:cxnSpLocks/>
            <a:stCxn id="218" idx="2"/>
            <a:endCxn id="220" idx="0"/>
          </p:cNvCxnSpPr>
          <p:nvPr/>
        </p:nvCxnSpPr>
        <p:spPr>
          <a:xfrm>
            <a:off x="4248448" y="2546728"/>
            <a:ext cx="0" cy="66683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BCB6388-F5C0-522E-28B8-7502D6B644CF}"/>
              </a:ext>
            </a:extLst>
          </p:cNvPr>
          <p:cNvSpPr/>
          <p:nvPr/>
        </p:nvSpPr>
        <p:spPr>
          <a:xfrm>
            <a:off x="344487" y="1520823"/>
            <a:ext cx="596000" cy="503239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단계</a:t>
            </a:r>
          </a:p>
        </p:txBody>
      </p:sp>
      <p:sp>
        <p:nvSpPr>
          <p:cNvPr id="207" name="화살표: 오각형 206">
            <a:extLst>
              <a:ext uri="{FF2B5EF4-FFF2-40B4-BE49-F238E27FC236}">
                <a16:creationId xmlns:a16="http://schemas.microsoft.com/office/drawing/2014/main" id="{3E2A0854-F587-1356-520A-195E9AE53703}"/>
              </a:ext>
            </a:extLst>
          </p:cNvPr>
          <p:cNvSpPr/>
          <p:nvPr/>
        </p:nvSpPr>
        <p:spPr>
          <a:xfrm>
            <a:off x="1092797" y="1520823"/>
            <a:ext cx="2127453" cy="503239"/>
          </a:xfrm>
          <a:prstGeom prst="homePlate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M1.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과업 구체화</a:t>
            </a:r>
          </a:p>
        </p:txBody>
      </p:sp>
      <p:sp>
        <p:nvSpPr>
          <p:cNvPr id="208" name="화살표: 오각형 207">
            <a:extLst>
              <a:ext uri="{FF2B5EF4-FFF2-40B4-BE49-F238E27FC236}">
                <a16:creationId xmlns:a16="http://schemas.microsoft.com/office/drawing/2014/main" id="{554EA26D-C62C-74FC-1415-233027A14D40}"/>
              </a:ext>
            </a:extLst>
          </p:cNvPr>
          <p:cNvSpPr/>
          <p:nvPr/>
        </p:nvSpPr>
        <p:spPr>
          <a:xfrm>
            <a:off x="3245181" y="1520823"/>
            <a:ext cx="2127453" cy="503239"/>
          </a:xfrm>
          <a:prstGeom prst="homePlate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M2. KTR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협약기업 및 산업 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현황 분석</a:t>
            </a:r>
          </a:p>
        </p:txBody>
      </p:sp>
      <p:sp>
        <p:nvSpPr>
          <p:cNvPr id="209" name="화살표: 오각형 208">
            <a:extLst>
              <a:ext uri="{FF2B5EF4-FFF2-40B4-BE49-F238E27FC236}">
                <a16:creationId xmlns:a16="http://schemas.microsoft.com/office/drawing/2014/main" id="{3C7325CB-E495-91B5-3331-8AAD5CCC8D91}"/>
              </a:ext>
            </a:extLst>
          </p:cNvPr>
          <p:cNvSpPr/>
          <p:nvPr/>
        </p:nvSpPr>
        <p:spPr>
          <a:xfrm>
            <a:off x="5397564" y="1520823"/>
            <a:ext cx="2127453" cy="503239"/>
          </a:xfrm>
          <a:prstGeom prst="homePlate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M3. KTR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산업전환 공동훈련센터 교육체계 및 훈련과정 분석</a:t>
            </a:r>
          </a:p>
        </p:txBody>
      </p:sp>
      <p:sp>
        <p:nvSpPr>
          <p:cNvPr id="210" name="화살표: 오각형 209">
            <a:extLst>
              <a:ext uri="{FF2B5EF4-FFF2-40B4-BE49-F238E27FC236}">
                <a16:creationId xmlns:a16="http://schemas.microsoft.com/office/drawing/2014/main" id="{240EA772-DCB2-90D6-C127-8F075E1C64C4}"/>
              </a:ext>
            </a:extLst>
          </p:cNvPr>
          <p:cNvSpPr/>
          <p:nvPr/>
        </p:nvSpPr>
        <p:spPr>
          <a:xfrm>
            <a:off x="7549948" y="1520823"/>
            <a:ext cx="2127453" cy="503239"/>
          </a:xfrm>
          <a:prstGeom prst="homePlate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M4. KTR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산업전환 공동훈련센터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재수립</a:t>
            </a:r>
            <a:endParaRPr kumimoji="0" lang="ko-KR" altLang="en-US" sz="1200" b="0" i="0" u="none" strike="noStrike" kern="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E131D4E8-B1AB-E748-F93E-8898AD08D232}"/>
              </a:ext>
            </a:extLst>
          </p:cNvPr>
          <p:cNvSpPr/>
          <p:nvPr/>
        </p:nvSpPr>
        <p:spPr>
          <a:xfrm>
            <a:off x="344487" y="2124969"/>
            <a:ext cx="596000" cy="151035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세부 내용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3E6C761-09BD-6B92-9DD8-19000A52A9C5}"/>
              </a:ext>
            </a:extLst>
          </p:cNvPr>
          <p:cNvSpPr/>
          <p:nvPr/>
        </p:nvSpPr>
        <p:spPr>
          <a:xfrm>
            <a:off x="344487" y="3771323"/>
            <a:ext cx="596000" cy="617131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수행방법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D30999BD-DEBF-C69E-4B9C-F0B6B476D3A8}"/>
              </a:ext>
            </a:extLst>
          </p:cNvPr>
          <p:cNvSpPr/>
          <p:nvPr/>
        </p:nvSpPr>
        <p:spPr>
          <a:xfrm>
            <a:off x="344487" y="4524453"/>
            <a:ext cx="596000" cy="185729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r>
              <a:rPr lang="ko-KR" altLang="en-US" sz="11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핵심 산출물</a:t>
            </a: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DC961CCB-69E2-1A66-3CB0-2B6A2ECA7828}"/>
              </a:ext>
            </a:extLst>
          </p:cNvPr>
          <p:cNvSpPr/>
          <p:nvPr/>
        </p:nvSpPr>
        <p:spPr>
          <a:xfrm>
            <a:off x="1092797" y="2124967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바이오화학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산업 </a:t>
            </a:r>
            <a:r>
              <a:rPr lang="ko-KR" altLang="en-US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분류체계 분석</a:t>
            </a:r>
            <a:endParaRPr kumimoji="0" lang="ko-KR" altLang="en-US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1EECE9EC-FAC6-005A-D3E5-6DCAD70ADF63}"/>
              </a:ext>
            </a:extLst>
          </p:cNvPr>
          <p:cNvSpPr/>
          <p:nvPr/>
        </p:nvSpPr>
        <p:spPr>
          <a:xfrm>
            <a:off x="7549948" y="2669266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altLang="ko-KR" sz="1100" kern="0" spc="-5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lang="ko-KR" altLang="en-US" sz="1100" kern="0" spc="-5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산업전환 공동훈련센터 교육로드맵 재수립</a:t>
            </a:r>
            <a:endParaRPr lang="ko-KR" altLang="en-US" sz="1100" kern="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EA3708FF-0BA3-14F8-E19C-8C4F6C472995}"/>
              </a:ext>
            </a:extLst>
          </p:cNvPr>
          <p:cNvSpPr/>
          <p:nvPr/>
        </p:nvSpPr>
        <p:spPr>
          <a:xfrm>
            <a:off x="3245181" y="2124967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협약기업 현황 분석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6B09BA2F-9006-007C-0210-8B09402F28B6}"/>
              </a:ext>
            </a:extLst>
          </p:cNvPr>
          <p:cNvSpPr/>
          <p:nvPr/>
        </p:nvSpPr>
        <p:spPr>
          <a:xfrm>
            <a:off x="3245181" y="2669266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협약기업 주요 </a:t>
            </a:r>
            <a:r>
              <a:rPr kumimoji="0" lang="ko-KR" altLang="en-US" sz="11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산업군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환경분석</a:t>
            </a:r>
            <a:endParaRPr lang="en-US" altLang="ko-KR" sz="1100" kern="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452C412D-1B0E-81E5-0D7F-F735DF190063}"/>
              </a:ext>
            </a:extLst>
          </p:cNvPr>
          <p:cNvSpPr/>
          <p:nvPr/>
        </p:nvSpPr>
        <p:spPr>
          <a:xfrm>
            <a:off x="3245181" y="3213564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협약기업 주요 </a:t>
            </a:r>
            <a:r>
              <a:rPr kumimoji="0" lang="ko-KR" altLang="en-US" sz="11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산업군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맞춤형 전략 방향 수립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CA8985E-E083-487B-1038-8D2457E141AA}"/>
              </a:ext>
            </a:extLst>
          </p:cNvPr>
          <p:cNvSpPr/>
          <p:nvPr/>
        </p:nvSpPr>
        <p:spPr>
          <a:xfrm>
            <a:off x="5397564" y="2124967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산업전환 공동훈련센터 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교육체계 분석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A7500BBC-EB1F-1F31-743F-89DA0D1AC5D6}"/>
              </a:ext>
            </a:extLst>
          </p:cNvPr>
          <p:cNvSpPr/>
          <p:nvPr/>
        </p:nvSpPr>
        <p:spPr>
          <a:xfrm>
            <a:off x="5397564" y="3213564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산업전환 공동훈련센터 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교육체계 개선방안 도출</a:t>
            </a:r>
          </a:p>
        </p:txBody>
      </p:sp>
      <p:cxnSp>
        <p:nvCxnSpPr>
          <p:cNvPr id="223" name="연결선: 꺾임 222">
            <a:extLst>
              <a:ext uri="{FF2B5EF4-FFF2-40B4-BE49-F238E27FC236}">
                <a16:creationId xmlns:a16="http://schemas.microsoft.com/office/drawing/2014/main" id="{378EFCD5-C5B3-CBED-34E0-B494D4A7E7E9}"/>
              </a:ext>
            </a:extLst>
          </p:cNvPr>
          <p:cNvCxnSpPr>
            <a:cxnSpLocks/>
            <a:stCxn id="254" idx="3"/>
            <a:endCxn id="218" idx="1"/>
          </p:cNvCxnSpPr>
          <p:nvPr/>
        </p:nvCxnSpPr>
        <p:spPr>
          <a:xfrm flipV="1">
            <a:off x="3099330" y="2335848"/>
            <a:ext cx="145851" cy="1088597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cxnSp>
        <p:nvCxnSpPr>
          <p:cNvPr id="224" name="연결선: 꺾임 223">
            <a:extLst>
              <a:ext uri="{FF2B5EF4-FFF2-40B4-BE49-F238E27FC236}">
                <a16:creationId xmlns:a16="http://schemas.microsoft.com/office/drawing/2014/main" id="{BDE66E7F-7C3D-E875-AA26-A5D6A37ABD27}"/>
              </a:ext>
            </a:extLst>
          </p:cNvPr>
          <p:cNvCxnSpPr>
            <a:cxnSpLocks/>
            <a:stCxn id="220" idx="3"/>
            <a:endCxn id="221" idx="1"/>
          </p:cNvCxnSpPr>
          <p:nvPr/>
        </p:nvCxnSpPr>
        <p:spPr>
          <a:xfrm flipV="1">
            <a:off x="5251714" y="2335848"/>
            <a:ext cx="145850" cy="1088597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F6592281-67C5-37E9-5272-17E6271BBDAE}"/>
              </a:ext>
            </a:extLst>
          </p:cNvPr>
          <p:cNvCxnSpPr>
            <a:cxnSpLocks/>
            <a:stCxn id="221" idx="2"/>
            <a:endCxn id="222" idx="0"/>
          </p:cNvCxnSpPr>
          <p:nvPr/>
        </p:nvCxnSpPr>
        <p:spPr>
          <a:xfrm>
            <a:off x="6400831" y="2546729"/>
            <a:ext cx="0" cy="66683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cxnSp>
        <p:nvCxnSpPr>
          <p:cNvPr id="226" name="연결선: 꺾임 225">
            <a:extLst>
              <a:ext uri="{FF2B5EF4-FFF2-40B4-BE49-F238E27FC236}">
                <a16:creationId xmlns:a16="http://schemas.microsoft.com/office/drawing/2014/main" id="{BA54965C-0701-262B-716D-F313D3599248}"/>
              </a:ext>
            </a:extLst>
          </p:cNvPr>
          <p:cNvCxnSpPr>
            <a:cxnSpLocks/>
            <a:stCxn id="222" idx="3"/>
            <a:endCxn id="237" idx="1"/>
          </p:cNvCxnSpPr>
          <p:nvPr/>
        </p:nvCxnSpPr>
        <p:spPr>
          <a:xfrm flipV="1">
            <a:off x="7404098" y="2335848"/>
            <a:ext cx="145851" cy="1088597"/>
          </a:xfrm>
          <a:prstGeom prst="bentConnector3">
            <a:avLst>
              <a:gd name="adj1" fmla="val 36379"/>
            </a:avLst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AD377B52-13A3-597B-A02B-B0690ADB20B0}"/>
              </a:ext>
            </a:extLst>
          </p:cNvPr>
          <p:cNvSpPr/>
          <p:nvPr/>
        </p:nvSpPr>
        <p:spPr>
          <a:xfrm>
            <a:off x="7549948" y="3213565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신규 교육주제 도출</a:t>
            </a: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CC708D29-CFFF-5D32-E215-437DC530BF4D}"/>
              </a:ext>
            </a:extLst>
          </p:cNvPr>
          <p:cNvSpPr/>
          <p:nvPr/>
        </p:nvSpPr>
        <p:spPr>
          <a:xfrm>
            <a:off x="5397564" y="2669266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산업전환 공동훈련센터 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훈련과정 분석</a:t>
            </a: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8E44AD4F-4688-3C37-603A-69A630503976}"/>
              </a:ext>
            </a:extLst>
          </p:cNvPr>
          <p:cNvSpPr/>
          <p:nvPr/>
        </p:nvSpPr>
        <p:spPr>
          <a:xfrm>
            <a:off x="1092797" y="3771323"/>
            <a:ext cx="2006533" cy="61713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36000" tIns="72000" rIns="36000" bIns="72000" rtlCol="0" anchor="ctr"/>
          <a:lstStyle/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문헌분석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31953C10-4B1C-DB68-31D2-605B90E86783}"/>
              </a:ext>
            </a:extLst>
          </p:cNvPr>
          <p:cNvSpPr/>
          <p:nvPr/>
        </p:nvSpPr>
        <p:spPr>
          <a:xfrm>
            <a:off x="3245181" y="3771323"/>
            <a:ext cx="2006533" cy="61713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36000" tIns="72000" rIns="36000" bIns="72000" rtlCol="0" anchor="ctr"/>
          <a:lstStyle/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문헌분석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설문조사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전문가 자문회의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A3145448-E607-FC83-E4AE-6C40C9BC7925}"/>
              </a:ext>
            </a:extLst>
          </p:cNvPr>
          <p:cNvSpPr/>
          <p:nvPr/>
        </p:nvSpPr>
        <p:spPr>
          <a:xfrm>
            <a:off x="5397564" y="3771323"/>
            <a:ext cx="2006533" cy="61713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36000" tIns="72000" rIns="36000" bIns="72000" rtlCol="0" anchor="ctr"/>
          <a:lstStyle/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문헌분석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개발 연구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전문가 인터뷰</a:t>
            </a: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A0CACFB1-CFA2-8694-2D31-152B768560E0}"/>
              </a:ext>
            </a:extLst>
          </p:cNvPr>
          <p:cNvSpPr/>
          <p:nvPr/>
        </p:nvSpPr>
        <p:spPr>
          <a:xfrm>
            <a:off x="7549948" y="3771324"/>
            <a:ext cx="2006533" cy="61713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36000" tIns="72000" rIns="36000" bIns="72000" rtlCol="0" anchor="ctr"/>
          <a:lstStyle/>
          <a:p>
            <a:pPr marL="180975" indent="-93663" defTabSz="914400">
              <a:buFont typeface="Arial" panose="020B0604020202020204" pitchFamily="34" charset="0"/>
              <a:buChar char="•"/>
            </a:pPr>
            <a:r>
              <a:rPr lang="ko-KR" altLang="en-US" sz="11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연구진 회의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개발 연구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전문가 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FGI</a:t>
            </a:r>
            <a:endParaRPr kumimoji="0" lang="ko-KR" altLang="en-US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C455DC7D-FDF6-F37E-062A-3BEF428CE060}"/>
              </a:ext>
            </a:extLst>
          </p:cNvPr>
          <p:cNvSpPr/>
          <p:nvPr/>
        </p:nvSpPr>
        <p:spPr>
          <a:xfrm>
            <a:off x="1092797" y="4524453"/>
            <a:ext cx="2006533" cy="1857297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ysClr val="window" lastClr="FFFFFF"/>
            </a:bgClr>
          </a:patt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36000" tIns="72000" rIns="36000" bIns="72000" rtlCol="0" anchor="t"/>
          <a:lstStyle/>
          <a:p>
            <a:pPr marL="180975" marR="0" lvl="0" indent="-93663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바이오화학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산업 분류체계 분석 결과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kern="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바이오화학</a:t>
            </a:r>
            <a:r>
              <a:rPr lang="en-US" altLang="ko-KR" sz="11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 교육현황 분석 결과</a:t>
            </a:r>
            <a:endParaRPr lang="en-US" altLang="ko-KR" sz="11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E4BD0FA0-E3F7-0165-3DF3-B4D9F405C69F}"/>
              </a:ext>
            </a:extLst>
          </p:cNvPr>
          <p:cNvSpPr/>
          <p:nvPr/>
        </p:nvSpPr>
        <p:spPr>
          <a:xfrm>
            <a:off x="3245181" y="4524453"/>
            <a:ext cx="2006533" cy="1857297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ysClr val="window" lastClr="FFFFFF"/>
            </a:bgClr>
          </a:patt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36000" tIns="72000" rIns="36000" bIns="72000" rtlCol="0" anchor="t"/>
          <a:lstStyle/>
          <a:p>
            <a:pPr marL="180975" marR="0" lvl="0" indent="-93663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KTR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협약기업 분석 결과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협약기업 주요 </a:t>
            </a:r>
            <a:r>
              <a:rPr kumimoji="0" lang="ko-KR" altLang="en-US" sz="11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산업군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환경분석 결과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주요 </a:t>
            </a:r>
            <a:r>
              <a:rPr kumimoji="0" lang="ko-KR" altLang="en-US" sz="11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산업군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맞춤형 전략 방향 수립 결과</a:t>
            </a: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98F04168-8437-64B2-2140-C46A2DCD4C0B}"/>
              </a:ext>
            </a:extLst>
          </p:cNvPr>
          <p:cNvSpPr/>
          <p:nvPr/>
        </p:nvSpPr>
        <p:spPr>
          <a:xfrm>
            <a:off x="5397564" y="4524453"/>
            <a:ext cx="2006533" cy="1857297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ysClr val="window" lastClr="FFFFFF"/>
            </a:bgClr>
          </a:patt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36000" tIns="72000" rIns="36000" bIns="72000" rtlCol="0" anchor="t"/>
          <a:lstStyle/>
          <a:p>
            <a:pPr marL="180975" marR="0" lvl="0" indent="-93663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KTR</a:t>
            </a:r>
            <a:r>
              <a:rPr lang="ko-KR" altLang="en-US" sz="11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산업전환 공동훈련센터 교육체계 및 훈련과정 분석 결과</a:t>
            </a:r>
            <a:endParaRPr lang="en-US" altLang="ko-KR" sz="11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lang="ko-KR" altLang="en-US" sz="11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산업전환 공동훈련센터 교육체계 개선방안</a:t>
            </a:r>
            <a:endParaRPr lang="en-US" altLang="ko-KR" sz="11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EEDF2F7E-CAC5-5106-8534-EA61DD933CFC}"/>
              </a:ext>
            </a:extLst>
          </p:cNvPr>
          <p:cNvSpPr/>
          <p:nvPr/>
        </p:nvSpPr>
        <p:spPr>
          <a:xfrm>
            <a:off x="7549948" y="4524453"/>
            <a:ext cx="2006533" cy="1857297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ysClr val="window" lastClr="FFFFFF"/>
            </a:bgClr>
          </a:patt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36000" tIns="72000" rIns="36000" bIns="72000" rtlCol="0" anchor="t"/>
          <a:lstStyle/>
          <a:p>
            <a:pPr marL="180975" marR="0" lvl="0" indent="-93663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산업전환 공동훈련센터 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개년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(25-28)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교육계획 수립 결과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산업전환 공동훈련센터 </a:t>
            </a:r>
            <a:r>
              <a:rPr kumimoji="0" lang="ko-KR" altLang="en-US" sz="11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교육로드맵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ko-KR" altLang="en-US" sz="11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재수립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결과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산업별 신규 교육주제</a:t>
            </a:r>
            <a:endParaRPr kumimoji="0" lang="ko-KR" altLang="en-US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85A0E6BC-5515-B46C-6D62-B706A308B838}"/>
              </a:ext>
            </a:extLst>
          </p:cNvPr>
          <p:cNvSpPr/>
          <p:nvPr/>
        </p:nvSpPr>
        <p:spPr>
          <a:xfrm>
            <a:off x="7549948" y="2124967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altLang="ko-KR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lang="ko-KR" altLang="en-US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산업전환 공동훈련센터 </a:t>
            </a:r>
            <a:endParaRPr lang="en-US" altLang="ko-KR" sz="1100" kern="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algn="ctr" defTabSz="914400">
              <a:defRPr/>
            </a:pPr>
            <a:r>
              <a:rPr lang="en-US" altLang="ko-KR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개년 교육계획 수립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962912B-5E3A-3B43-B3F8-D30A4F513901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26F22BBF-1A82-4DC6-2526-8AB12631A6C2}"/>
              </a:ext>
            </a:extLst>
          </p:cNvPr>
          <p:cNvGrpSpPr/>
          <p:nvPr/>
        </p:nvGrpSpPr>
        <p:grpSpPr>
          <a:xfrm>
            <a:off x="344487" y="-7270"/>
            <a:ext cx="1059001" cy="735932"/>
            <a:chOff x="344487" y="-7270"/>
            <a:chExt cx="1059001" cy="735932"/>
          </a:xfrm>
          <a:solidFill>
            <a:srgbClr val="344532"/>
          </a:solidFill>
        </p:grpSpPr>
        <p:sp>
          <p:nvSpPr>
            <p:cNvPr id="242" name="사각형: 둥근 위쪽 모서리 241">
              <a:extLst>
                <a:ext uri="{FF2B5EF4-FFF2-40B4-BE49-F238E27FC236}">
                  <a16:creationId xmlns:a16="http://schemas.microsoft.com/office/drawing/2014/main" id="{8F462A86-EA8F-FBF2-BD85-96412511A5E9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24C97C92-CB9A-E2F4-3917-3E300DDDC1F3}"/>
                </a:ext>
              </a:extLst>
            </p:cNvPr>
            <p:cNvSpPr txBox="1"/>
            <p:nvPr/>
          </p:nvSpPr>
          <p:spPr>
            <a:xfrm>
              <a:off x="344487" y="300781"/>
              <a:ext cx="1059001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2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Framework</a:t>
              </a:r>
              <a:endParaRPr lang="ko-KR" altLang="en-US" sz="12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E1710C92-221C-0C6A-6FC5-321856379507}"/>
              </a:ext>
            </a:extLst>
          </p:cNvPr>
          <p:cNvSpPr/>
          <p:nvPr/>
        </p:nvSpPr>
        <p:spPr>
          <a:xfrm>
            <a:off x="1513166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과업 수행체계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B81FA1D2-D36D-1B00-BF1B-A0CE7E8A5AA4}"/>
              </a:ext>
            </a:extLst>
          </p:cNvPr>
          <p:cNvSpPr/>
          <p:nvPr/>
        </p:nvSpPr>
        <p:spPr>
          <a:xfrm>
            <a:off x="1092797" y="3213564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r>
              <a:rPr lang="ko-KR" altLang="en-US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시사점 도출</a:t>
            </a:r>
          </a:p>
        </p:txBody>
      </p:sp>
      <p:cxnSp>
        <p:nvCxnSpPr>
          <p:cNvPr id="257" name="직선 화살표 연결선 256">
            <a:extLst>
              <a:ext uri="{FF2B5EF4-FFF2-40B4-BE49-F238E27FC236}">
                <a16:creationId xmlns:a16="http://schemas.microsoft.com/office/drawing/2014/main" id="{357CE64E-BBE5-9420-227E-FB17166E7506}"/>
              </a:ext>
            </a:extLst>
          </p:cNvPr>
          <p:cNvCxnSpPr>
            <a:cxnSpLocks/>
            <a:stCxn id="214" idx="2"/>
            <a:endCxn id="254" idx="0"/>
          </p:cNvCxnSpPr>
          <p:nvPr/>
        </p:nvCxnSpPr>
        <p:spPr>
          <a:xfrm>
            <a:off x="2096064" y="2546728"/>
            <a:ext cx="0" cy="66683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9D4EE653-C761-F457-6B0E-A167754C5B8E}"/>
              </a:ext>
            </a:extLst>
          </p:cNvPr>
          <p:cNvSpPr/>
          <p:nvPr/>
        </p:nvSpPr>
        <p:spPr>
          <a:xfrm>
            <a:off x="1092797" y="2669266"/>
            <a:ext cx="2006533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바이오화학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 교육현황 분석</a:t>
            </a:r>
            <a:endParaRPr kumimoji="0" lang="ko-KR" altLang="en-US" sz="11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98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9985E-F987-BDC4-A7CC-C6101F83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023C5F3E-F455-EF86-204F-226826ED92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355689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AE877B9-4C9E-DE73-A3A3-516213968962}"/>
              </a:ext>
            </a:extLst>
          </p:cNvPr>
          <p:cNvGrpSpPr/>
          <p:nvPr/>
        </p:nvGrpSpPr>
        <p:grpSpPr>
          <a:xfrm>
            <a:off x="795" y="2085845"/>
            <a:ext cx="5132225" cy="2286253"/>
            <a:chOff x="795" y="2384884"/>
            <a:chExt cx="5132225" cy="2286253"/>
          </a:xfrm>
        </p:grpSpPr>
        <p:sp>
          <p:nvSpPr>
            <p:cNvPr id="3" name="Text Placeholder 1">
              <a:extLst>
                <a:ext uri="{FF2B5EF4-FFF2-40B4-BE49-F238E27FC236}">
                  <a16:creationId xmlns:a16="http://schemas.microsoft.com/office/drawing/2014/main" id="{A41BD705-D4D9-7633-41AF-29FFDCCD6BD1}"/>
                </a:ext>
              </a:extLst>
            </p:cNvPr>
            <p:cNvSpPr txBox="1">
              <a:spLocks/>
            </p:cNvSpPr>
            <p:nvPr/>
          </p:nvSpPr>
          <p:spPr>
            <a:xfrm>
              <a:off x="795" y="2384884"/>
              <a:ext cx="5132225" cy="1066962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 Narrow" pitchFamily="34" charset="0"/>
                <a:buNone/>
                <a:tabLst/>
                <a:defRPr/>
              </a:pPr>
              <a:r>
                <a:rPr kumimoji="0" lang="en-US" altLang="ko-KR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7 Bold" pitchFamily="2" charset="-127"/>
                  <a:ea typeface="페이퍼로지 7 Bold" pitchFamily="2" charset="-127"/>
                  <a:sym typeface="+mn-lt"/>
                </a:rPr>
                <a:t>Ⅱ. </a:t>
              </a:r>
              <a:r>
                <a:rPr kumimoji="0" lang="ko-KR" alt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7 Bold" pitchFamily="2" charset="-127"/>
                  <a:ea typeface="페이퍼로지 7 Bold" pitchFamily="2" charset="-127"/>
                  <a:sym typeface="+mn-lt"/>
                </a:rPr>
                <a:t>용역 추진 결과 </a:t>
              </a:r>
            </a:p>
          </p:txBody>
        </p:sp>
        <p:sp>
          <p:nvSpPr>
            <p:cNvPr id="4" name="Text Placeholder 1">
              <a:extLst>
                <a:ext uri="{FF2B5EF4-FFF2-40B4-BE49-F238E27FC236}">
                  <a16:creationId xmlns:a16="http://schemas.microsoft.com/office/drawing/2014/main" id="{B5AAD177-75FA-A195-2C7A-8FED2429B427}"/>
                </a:ext>
              </a:extLst>
            </p:cNvPr>
            <p:cNvSpPr txBox="1">
              <a:spLocks/>
            </p:cNvSpPr>
            <p:nvPr/>
          </p:nvSpPr>
          <p:spPr>
            <a:xfrm>
              <a:off x="237270" y="3059292"/>
              <a:ext cx="4355690" cy="1611845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1950" lvl="1" indent="-361950"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  <a:buFont typeface="+mj-lt"/>
                <a:buAutoNum type="arabicPeriod"/>
                <a:defRPr/>
              </a:pPr>
              <a:r>
                <a:rPr lang="ko-KR" altLang="en-US" sz="18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산업분류체계 및 교육 현황 분석</a:t>
              </a:r>
              <a:endParaRPr lang="en-US" altLang="ko-KR" sz="18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361950" lvl="1" indent="-361950"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  <a:buFont typeface="+mj-lt"/>
                <a:buAutoNum type="arabicPeriod"/>
                <a:defRPr/>
              </a:pPr>
              <a:r>
                <a:rPr lang="en-US" altLang="ko-KR" sz="18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KTR </a:t>
              </a:r>
              <a:r>
                <a:rPr lang="ko-KR" altLang="en-US" sz="18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협약기업 및 산업 현황 분석</a:t>
              </a:r>
              <a:endParaRPr lang="en-US" altLang="ko-KR" sz="18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361950" lvl="1" indent="-361950"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  <a:buFont typeface="+mj-lt"/>
                <a:buAutoNum type="arabicPeriod"/>
                <a:defRPr/>
              </a:pPr>
              <a:r>
                <a:rPr lang="en-US" altLang="ko-KR" sz="18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KTR </a:t>
              </a:r>
              <a:r>
                <a:rPr lang="ko-KR" altLang="en-US" sz="18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산업전환 공동훈련센터 교육체계 및 훈련과정 분석</a:t>
              </a:r>
              <a:endParaRPr lang="en-US" altLang="ko-KR" sz="18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361950" lvl="1" indent="-361950"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  <a:buFont typeface="+mj-lt"/>
                <a:buAutoNum type="arabicPeriod"/>
                <a:defRPr/>
              </a:pPr>
              <a:r>
                <a:rPr lang="en-US" altLang="ko-KR" sz="18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KTR </a:t>
              </a:r>
              <a:r>
                <a:rPr lang="ko-KR" altLang="en-US" sz="18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산업전환 공동훈련센터 </a:t>
              </a:r>
              <a:r>
                <a:rPr lang="ko-KR" altLang="en-US" sz="1800" dirty="0" err="1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교육로드맵</a:t>
              </a:r>
              <a:r>
                <a:rPr lang="ko-KR" altLang="en-US" sz="18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800" dirty="0" err="1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재수립</a:t>
              </a:r>
              <a:endParaRPr lang="ko-KR" altLang="en-US" sz="18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1225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05E9-CE14-5DA5-3910-4A0AF7AC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9F7522-7634-5066-F1AC-1D6B4E2C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2917AA-8513-AA9E-F246-2C30F24690FE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C12202D5-709D-F6A8-700E-9C97C76AE38C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협약기업 분류체계 도출을 위해 화학 산업의 다양한 분류체계를 분석한 결과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분류기준은 생산활동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투입물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최종 산출물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유망 기술 등 다양하였으나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 간 경계를 명확히 하는 기준은 최종 산출물인 것으로 판단하였습니다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1C480C-77B8-0D06-598A-491E6D974195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7496F69-32E2-8693-431E-ECF196F5F07C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29B2B185-59BB-7004-FDCF-9F585269F407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822C50-53F8-0D6B-9C5C-54594D00229D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2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1</a:t>
              </a:r>
              <a:endParaRPr lang="ko-KR" altLang="en-US" sz="12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6CA390-1DA5-91CC-C16D-4DB8CC93A7C3}"/>
              </a:ext>
            </a:extLst>
          </p:cNvPr>
          <p:cNvSpPr/>
          <p:nvPr/>
        </p:nvSpPr>
        <p:spPr>
          <a:xfrm>
            <a:off x="1513166" y="253829"/>
            <a:ext cx="589728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1.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산업 분류체계 분석</a:t>
            </a: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1DFF04F7-B715-4F51-6807-49CA4759431D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바이오</a:t>
            </a:r>
            <a:r>
              <a:rPr lang="en-US" altLang="ko-KR" sz="1600" spc="-50" dirty="0">
                <a:latin typeface="페이퍼로지 6 SemiBold" pitchFamily="2" charset="-127"/>
                <a:ea typeface="페이퍼로지 6 SemiBold" pitchFamily="2" charset="-127"/>
              </a:rPr>
              <a:t>)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화학 산업 분류체계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ED991425-F3B4-EBD0-97AC-4AE5A688D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415113"/>
              </p:ext>
            </p:extLst>
          </p:nvPr>
        </p:nvGraphicFramePr>
        <p:xfrm>
          <a:off x="6688769" y="2156295"/>
          <a:ext cx="2844540" cy="3416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71">
                  <a:extLst>
                    <a:ext uri="{9D8B030D-6E8A-4147-A177-3AD203B41FA5}">
                      <a16:colId xmlns:a16="http://schemas.microsoft.com/office/drawing/2014/main" val="4097505058"/>
                    </a:ext>
                  </a:extLst>
                </a:gridCol>
                <a:gridCol w="932999">
                  <a:extLst>
                    <a:ext uri="{9D8B030D-6E8A-4147-A177-3AD203B41FA5}">
                      <a16:colId xmlns:a16="http://schemas.microsoft.com/office/drawing/2014/main" val="548682433"/>
                    </a:ext>
                  </a:extLst>
                </a:gridCol>
                <a:gridCol w="476701">
                  <a:extLst>
                    <a:ext uri="{9D8B030D-6E8A-4147-A177-3AD203B41FA5}">
                      <a16:colId xmlns:a16="http://schemas.microsoft.com/office/drawing/2014/main" val="1869508752"/>
                    </a:ext>
                  </a:extLst>
                </a:gridCol>
                <a:gridCol w="945569">
                  <a:extLst>
                    <a:ext uri="{9D8B030D-6E8A-4147-A177-3AD203B41FA5}">
                      <a16:colId xmlns:a16="http://schemas.microsoft.com/office/drawing/2014/main" val="2855067320"/>
                    </a:ext>
                  </a:extLst>
                </a:gridCol>
              </a:tblGrid>
              <a:tr h="14655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산업분야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하위산업분야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산업분야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하위산업분야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474501"/>
                  </a:ext>
                </a:extLst>
              </a:tr>
              <a:tr h="146553"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의약품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의약품 생산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플라스틱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플라스틱 </a:t>
                      </a: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컴파운딩</a:t>
                      </a:r>
                      <a:endParaRPr lang="ko-KR" altLang="en-US" sz="700" b="0" kern="12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87799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의약품 품질관리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플라스틱 제품성형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578450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의약품 연구개발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플라스틱 후공정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87949"/>
                  </a:ext>
                </a:extLst>
              </a:tr>
              <a:tr h="146553"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 화학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바이오화학제품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생산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플라스틱 품질검사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312761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바이오화학제품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품질관리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플라스틱 품질보증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12836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바이오화학제품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연구개발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플라스틱 소재연구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460665"/>
                  </a:ext>
                </a:extLst>
              </a:tr>
              <a:tr h="146553">
                <a:tc rowSpan="4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 의약품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바이오의약품 생산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플라스틱 제품 개발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895910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바이오의약품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품질관리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고무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고무 컴파운딩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943231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바이오의약품 품질보증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고무제품 제조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56027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바이오의약품 연구개발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고무 품질관리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17216"/>
                  </a:ext>
                </a:extLst>
              </a:tr>
              <a:tr h="146553">
                <a:tc rowSpan="6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정밀화학 제품제조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정밀화학제품 생산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고무 품질보증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660222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정밀화학제품 설비관리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고무 재료개발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996352"/>
                  </a:ext>
                </a:extLst>
              </a:tr>
              <a:tr h="1896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정밀화학제품 안전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환경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 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보건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위생 관리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고무 제품개발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13400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정밀화학제품 물류관리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 생산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154775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정밀화학제품 품질관리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 품질관리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88404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정밀화학제품 연구개발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 품질보증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810328"/>
                  </a:ext>
                </a:extLst>
              </a:tr>
              <a:tr h="146553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석유화학 제품제조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석유화학제품 생산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 상품기획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98333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석유화학제품 품질관리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화장품제형 연구개발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580940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석유화학제품 설비관리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화장품소재 개발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793665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석유화학제품 안전환경관리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 유효성연구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037082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석유화학제품 연구개발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 안전성연구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584882"/>
                  </a:ext>
                </a:extLst>
              </a:tr>
              <a:tr h="146553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</a:pP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석유화학제품 생산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 분석연구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11816"/>
                  </a:ext>
                </a:extLst>
              </a:tr>
            </a:tbl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09E541E-5CA5-C0A9-F01F-78214AF610BF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603A6BE-1B21-68FB-6F2B-348019BAE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554364"/>
              </p:ext>
            </p:extLst>
          </p:nvPr>
        </p:nvGraphicFramePr>
        <p:xfrm>
          <a:off x="349352" y="2156294"/>
          <a:ext cx="3282512" cy="3413760"/>
        </p:xfrm>
        <a:graphic>
          <a:graphicData uri="http://schemas.openxmlformats.org/drawingml/2006/table">
            <a:tbl>
              <a:tblPr/>
              <a:tblGrid>
                <a:gridCol w="333692">
                  <a:extLst>
                    <a:ext uri="{9D8B030D-6E8A-4147-A177-3AD203B41FA5}">
                      <a16:colId xmlns:a16="http://schemas.microsoft.com/office/drawing/2014/main" val="3930420672"/>
                    </a:ext>
                  </a:extLst>
                </a:gridCol>
                <a:gridCol w="464820">
                  <a:extLst>
                    <a:ext uri="{9D8B030D-6E8A-4147-A177-3AD203B41FA5}">
                      <a16:colId xmlns:a16="http://schemas.microsoft.com/office/drawing/2014/main" val="230808619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329718181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959624007"/>
                    </a:ext>
                  </a:extLst>
                </a:gridCol>
              </a:tblGrid>
              <a:tr h="64560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중분류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소분류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세분류</a:t>
                      </a:r>
                      <a:endParaRPr lang="ko-KR" altLang="en-US" sz="700" b="0" kern="12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세세분류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199584"/>
                  </a:ext>
                </a:extLst>
              </a:tr>
              <a:tr h="64560">
                <a:tc rowSpan="31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화학 물질 및 화학 제품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기초 화학물질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기초 유기화학 물질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fontAlgn="base" latinLnBrk="0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석유화학계 기초 화학 물질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704225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Arial"/>
                        </a:rPr>
                        <a:t>바이오매스계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Arial"/>
                        </a:rPr>
                        <a:t> 기초 화학물질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9299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기초 유기화학 물질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144053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기초 무기화학 물질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수소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70586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산소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질소 및 기타 산업용 가스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16444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기초 무기화학 물질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252501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무기 안료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염료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유연제 및 기타 착색제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무기 안료용 금속 산화물 및 관련 제품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901532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염료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조제 무기 안료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유연제 및 기타 </a:t>
                      </a: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착색계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17258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합성고무 및 플라스틱 물질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합성고무 및 플라스틱 물질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합성고무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16383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Arial"/>
                        </a:rPr>
                        <a:t>합성수지 및 기타 플라스틱 물질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114734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Arial"/>
                        </a:rPr>
                        <a:t>혼성 및 재생 플라스틱 소재 물질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103473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비료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농약 및 살균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살충제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비료 및 질소 화합물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질소 화합물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질소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인산 및 </a:t>
                      </a: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칼리질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화학비료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966885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복합비료 및 기타 화학비료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247098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유기질 비료 및 </a:t>
                      </a: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상토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608053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살균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살충제 및 농약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화학 살균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살충제 및 농업용 약제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724211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생물 살균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살충제 및 식물보호제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385905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3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화학제품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잉크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페인트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코팅제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및 유사제품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일반용 도료 및 관련제품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67557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요업용 도포제 및 관련제품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674798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인쇄 잉크 및 회화용 물감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932893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세제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 및 </a:t>
                      </a:r>
                      <a:r>
                        <a:rPr lang="ko-KR" altLang="en-US" sz="700" b="0" kern="1200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광택제</a:t>
                      </a: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계면활성제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535468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치약</a:t>
                      </a:r>
                      <a:r>
                        <a:rPr lang="en-US" altLang="ko-KR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비누 및 기타 세제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464853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화장품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470287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표면 광택제 및 실내 가향제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594793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그 외 기타 화학제품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감광 재료 및 관련 화학제품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815517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가공 및 정제염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175063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접착제 및 젤라틴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348388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화약 및 불꽃 제품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33462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Arial"/>
                        </a:rPr>
                        <a:t>바이오 연료 및 혼합물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732687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그 외 기타 분류 안된 화학제품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541214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화학섬유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화학섬유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합성섬유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133413"/>
                  </a:ext>
                </a:extLst>
              </a:tr>
              <a:tr h="64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Arial"/>
                        </a:rPr>
                        <a:t>재생 섬유 제조업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70873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E224313-ACC7-2038-3482-7D50A69E3D8F}"/>
              </a:ext>
            </a:extLst>
          </p:cNvPr>
          <p:cNvSpPr txBox="1"/>
          <p:nvPr/>
        </p:nvSpPr>
        <p:spPr>
          <a:xfrm>
            <a:off x="349352" y="1948582"/>
            <a:ext cx="33058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[</a:t>
            </a:r>
            <a:r>
              <a:rPr kumimoji="0" lang="ko-KR" altLang="en-US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한국표준산업분류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(KS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I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C) 11</a:t>
            </a:r>
            <a:r>
              <a:rPr kumimoji="0" lang="ko-KR" altLang="en-US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차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(2024 </a:t>
            </a:r>
            <a:r>
              <a:rPr kumimoji="0" lang="ko-KR" altLang="en-US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개정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  <a:r>
              <a:rPr kumimoji="0" lang="ko-KR" altLang="en-US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] </a:t>
            </a:r>
            <a:endParaRPr lang="ko-KR" altLang="en-US" sz="20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0B28F2B-2B5A-63D5-3CDD-310283395538}"/>
              </a:ext>
            </a:extLst>
          </p:cNvPr>
          <p:cNvSpPr/>
          <p:nvPr/>
        </p:nvSpPr>
        <p:spPr>
          <a:xfrm>
            <a:off x="342684" y="5625795"/>
            <a:ext cx="3289180" cy="735933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180975" indent="-93663" defTabSz="914400"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생산활동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+</a:t>
            </a:r>
            <a:r>
              <a:rPr lang="ko-KR" altLang="en-US" sz="90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투입물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+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최종 산출물의 유사성을 기준으로 분류</a:t>
            </a:r>
            <a:endParaRPr lang="en-US" altLang="ko-KR" sz="90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80975" indent="-93663" defTabSz="914400">
              <a:buFont typeface="Arial" panose="020B0604020202020204" pitchFamily="34" charset="0"/>
              <a:buChar char="•"/>
            </a:pP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11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차 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(2024)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에서는 기존의 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'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화학산업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=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석유화학산업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'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이라는 전통적 인식에서 벗어나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‘</a:t>
            </a:r>
            <a:r>
              <a:rPr lang="ko-KR" altLang="en-US" sz="90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바이오매스계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기초 화학물질 제조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’, ‘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혼성 및 재생 플라스틱 소재 물질 제조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’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등이 세세분류에서 언급되기 시작</a:t>
            </a:r>
            <a:endParaRPr lang="en-US" altLang="ko-KR" sz="90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80975" indent="-93663" defTabSz="914400"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다만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실무</a:t>
            </a:r>
            <a:r>
              <a:rPr lang="en-US" altLang="ko-KR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정책에서 표준적으로 쓰이는 단위는 </a:t>
            </a:r>
            <a:r>
              <a:rPr lang="en-US" altLang="ko-KR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‘</a:t>
            </a:r>
            <a:r>
              <a:rPr lang="ko-KR" altLang="en-US" sz="900" kern="0" spc="-50" dirty="0" err="1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세분류</a:t>
            </a:r>
            <a:r>
              <a:rPr lang="en-US" altLang="ko-KR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’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임</a:t>
            </a:r>
            <a:endParaRPr lang="en-US" altLang="ko-KR" sz="90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ED79077-8680-8FBC-3C9C-4039E1273B97}"/>
              </a:ext>
            </a:extLst>
          </p:cNvPr>
          <p:cNvSpPr/>
          <p:nvPr/>
        </p:nvSpPr>
        <p:spPr>
          <a:xfrm>
            <a:off x="3713987" y="5625795"/>
            <a:ext cx="2916000" cy="735933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180975" lvl="0" indent="-93663" defTabSz="914400" fontAlgn="base"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기업들이 생명공학기술을 이용하여 수행하는 산업활동을 대상으로 </a:t>
            </a:r>
            <a:r>
              <a:rPr lang="ko-KR" altLang="en-US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산출물의 특성</a:t>
            </a:r>
            <a:r>
              <a:rPr lang="en-US" altLang="ko-KR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기능 및 </a:t>
            </a:r>
            <a:r>
              <a:rPr lang="ko-KR" altLang="en-US" sz="900" kern="0" spc="-50" dirty="0" err="1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수요처</a:t>
            </a:r>
            <a:r>
              <a:rPr lang="en-US" altLang="ko-KR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으로 설정</a:t>
            </a:r>
            <a:endParaRPr lang="en-US" altLang="ko-KR" sz="90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80975" indent="-93663" defTabSz="914400" fontAlgn="base"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앞서 살펴본 전통적 화학산업 중심의 분류체계들과 달리 바이오 산업을 독립된 산업군으로 구성한 체계</a:t>
            </a:r>
            <a:endParaRPr lang="en-US" altLang="ko-KR" sz="90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80975" indent="-93663" defTabSz="914400" fontAlgn="base"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각 분류는 제품 종류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서비스 유형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응용 분야 등을 세부적으로 포함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BFCB628-CACD-E96B-7A42-3C4F5662A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076738"/>
              </p:ext>
            </p:extLst>
          </p:nvPr>
        </p:nvGraphicFramePr>
        <p:xfrm>
          <a:off x="3713987" y="2156295"/>
          <a:ext cx="2915999" cy="3414128"/>
        </p:xfrm>
        <a:graphic>
          <a:graphicData uri="http://schemas.openxmlformats.org/drawingml/2006/table">
            <a:tbl>
              <a:tblPr/>
              <a:tblGrid>
                <a:gridCol w="397460">
                  <a:extLst>
                    <a:ext uri="{9D8B030D-6E8A-4147-A177-3AD203B41FA5}">
                      <a16:colId xmlns:a16="http://schemas.microsoft.com/office/drawing/2014/main" val="3275240363"/>
                    </a:ext>
                  </a:extLst>
                </a:gridCol>
                <a:gridCol w="941131">
                  <a:extLst>
                    <a:ext uri="{9D8B030D-6E8A-4147-A177-3AD203B41FA5}">
                      <a16:colId xmlns:a16="http://schemas.microsoft.com/office/drawing/2014/main" val="685838701"/>
                    </a:ext>
                  </a:extLst>
                </a:gridCol>
                <a:gridCol w="397460">
                  <a:extLst>
                    <a:ext uri="{9D8B030D-6E8A-4147-A177-3AD203B41FA5}">
                      <a16:colId xmlns:a16="http://schemas.microsoft.com/office/drawing/2014/main" val="2469944235"/>
                    </a:ext>
                  </a:extLst>
                </a:gridCol>
                <a:gridCol w="1179948">
                  <a:extLst>
                    <a:ext uri="{9D8B030D-6E8A-4147-A177-3AD203B41FA5}">
                      <a16:colId xmlns:a16="http://schemas.microsoft.com/office/drawing/2014/main" val="3934134512"/>
                    </a:ext>
                  </a:extLst>
                </a:gridCol>
              </a:tblGrid>
              <a:tr h="109473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산업분야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하위산업분야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산업분야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하위산업분야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377900"/>
                  </a:ext>
                </a:extLst>
              </a:tr>
              <a:tr h="109473">
                <a:tc rowSpan="24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의약산업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바이오항생제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0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 환경산업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환경처리용 생물제제 및 시스템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77198"/>
                  </a:ext>
                </a:extLst>
              </a:tr>
              <a:tr h="26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바이오저분자량의약품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16734"/>
                  </a:ext>
                </a:extLst>
              </a:tr>
              <a:tr h="834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생물 고정화 소재 및 설비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53247"/>
                  </a:ext>
                </a:extLst>
              </a:tr>
              <a:tr h="26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백신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054289"/>
                  </a:ext>
                </a:extLst>
              </a:tr>
              <a:tr h="834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환경</a:t>
                      </a:r>
                      <a:r>
                        <a:rPr lang="en-US" altLang="ko-KR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자원 재활용 제제 및 시스템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361329"/>
                  </a:ext>
                </a:extLst>
              </a:tr>
              <a:tr h="31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호르몬제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761457"/>
                  </a:ext>
                </a:extLst>
              </a:tr>
              <a:tr h="780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환경오염 측정기구 및 진단</a:t>
                      </a:r>
                      <a:r>
                        <a:rPr lang="en-US" altLang="ko-KR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, </a:t>
                      </a: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서비스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872653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치료용 항체 및 </a:t>
                      </a: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사이토카인제제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88"/>
                  </a:ext>
                </a:extLst>
              </a:tr>
              <a:tr h="177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바이오 환경제품 및 서비스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475107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혈액제제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89201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의료기기 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 센서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528845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세포기반치료제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77195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체외진단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070556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유전자의약품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501528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바이오센서</a:t>
                      </a:r>
                      <a:r>
                        <a:rPr lang="en-US" altLang="ko-KR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/</a:t>
                      </a: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마커 장착 의료기기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505291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바이오진단의약품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136048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바이오의료기기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693182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효소 및 </a:t>
                      </a: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생균의약품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602297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3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 장비 및 기기 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유전자</a:t>
                      </a:r>
                      <a:r>
                        <a:rPr lang="en-US" altLang="ko-KR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/</a:t>
                      </a: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단백질</a:t>
                      </a:r>
                      <a:r>
                        <a:rPr lang="en-US" altLang="ko-KR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/</a:t>
                      </a: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펩타이드 분석</a:t>
                      </a:r>
                      <a:r>
                        <a:rPr lang="en-US" altLang="ko-KR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합성</a:t>
                      </a:r>
                      <a:r>
                        <a:rPr lang="en-US" altLang="ko-KR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 </a:t>
                      </a: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생산 기기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707583"/>
                  </a:ext>
                </a:extLst>
              </a:tr>
              <a:tr h="1094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바이오소재</a:t>
                      </a: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의약품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262158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동물용 </a:t>
                      </a: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바이오의약품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816665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세포 분석</a:t>
                      </a:r>
                      <a:r>
                        <a:rPr lang="en-US" altLang="ko-KR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배양 장비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093736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</a:t>
                      </a: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바이오의약품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212928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다기능 및 기타 분석기기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577696"/>
                  </a:ext>
                </a:extLst>
              </a:tr>
              <a:tr h="41695">
                <a:tc rowSpan="15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 화학</a:t>
                      </a:r>
                      <a:r>
                        <a:rPr lang="en-US" altLang="ko-KR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endParaRPr lang="ko-KR" altLang="en-US" sz="700" b="0" kern="12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에너지 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 고분자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795931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연구 및 생산장비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069571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산업용 효소 및 </a:t>
                      </a: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시약류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957797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공정용 부품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674749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연구</a:t>
                      </a:r>
                      <a:r>
                        <a:rPr lang="en-US" altLang="ko-KR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실험용 효소 및 </a:t>
                      </a: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시약류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421793"/>
                  </a:ext>
                </a:extLst>
              </a:tr>
              <a:tr h="171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</a:t>
                      </a: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바이오장비</a:t>
                      </a: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및 기기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389647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바이오화장품</a:t>
                      </a: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및 생활화학제품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666698"/>
                  </a:ext>
                </a:extLst>
              </a:tr>
              <a:tr h="177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자원산업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종자 및 묘목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416651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바이오농약</a:t>
                      </a: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 및 비료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547798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유전자변형 생물체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069795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바이오연료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782764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실험동물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139006"/>
                  </a:ext>
                </a:extLst>
              </a:tr>
              <a:tr h="41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</a:t>
                      </a: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바이오화학</a:t>
                      </a:r>
                      <a:r>
                        <a:rPr lang="en-US" altLang="ko-KR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에너지 제품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99071"/>
                  </a:ext>
                </a:extLst>
              </a:tr>
              <a:tr h="1094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바이오자원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296735"/>
                  </a:ext>
                </a:extLst>
              </a:tr>
              <a:tr h="67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1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서비스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 위탁생산</a:t>
                      </a:r>
                      <a:r>
                        <a:rPr lang="en-US" altLang="ko-KR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대행 서비스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174171"/>
                  </a:ext>
                </a:extLst>
              </a:tr>
              <a:tr h="109473">
                <a:tc rowSpan="10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kern="120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식품산업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건강기능식품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025453"/>
                  </a:ext>
                </a:extLst>
              </a:tr>
              <a:tr h="1094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식품용 미생물 및 효소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 분석</a:t>
                      </a:r>
                      <a:r>
                        <a:rPr lang="en-US" altLang="ko-KR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진단 서시브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79335"/>
                  </a:ext>
                </a:extLst>
              </a:tr>
              <a:tr h="26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식품첨가물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071232"/>
                  </a:ext>
                </a:extLst>
              </a:tr>
              <a:tr h="834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임상</a:t>
                      </a:r>
                      <a:r>
                        <a:rPr lang="en-US" altLang="ko-KR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비임상 연구개발 서비스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93285"/>
                  </a:ext>
                </a:extLst>
              </a:tr>
              <a:tr h="26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발효식품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139714"/>
                  </a:ext>
                </a:extLst>
              </a:tr>
              <a:tr h="834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연구개발 서비스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000122"/>
                  </a:ext>
                </a:extLst>
              </a:tr>
              <a:tr h="26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사료첨가제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551814"/>
                  </a:ext>
                </a:extLst>
              </a:tr>
              <a:tr h="834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가공 및 처리</a:t>
                      </a:r>
                      <a:r>
                        <a:rPr lang="en-US" altLang="ko-KR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·</a:t>
                      </a:r>
                      <a:r>
                        <a:rPr lang="ko-KR" altLang="en-US" sz="700" b="0" kern="1200" spc="-6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보관 서비스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850321"/>
                  </a:ext>
                </a:extLst>
              </a:tr>
              <a:tr h="26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</a:t>
                      </a: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바이오식품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935870"/>
                  </a:ext>
                </a:extLst>
              </a:tr>
              <a:tr h="1094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38100" lvl="0" indent="-85725" algn="l" defTabSz="914400" rtl="0" eaLnBrk="1" fontAlgn="base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ts val="900"/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기타 </a:t>
                      </a:r>
                      <a:r>
                        <a:rPr lang="ko-KR" altLang="en-US" sz="7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페이퍼로지 2 ExtraLight" pitchFamily="2" charset="-127"/>
                          <a:ea typeface="페이퍼로지 2 ExtraLight" pitchFamily="2" charset="-127"/>
                          <a:cs typeface="Arial"/>
                        </a:rPr>
                        <a:t>바이오서비스업</a:t>
                      </a:r>
                      <a:endParaRPr lang="ko-KR" altLang="en-US" sz="7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latin typeface="페이퍼로지 2 ExtraLight" pitchFamily="2" charset="-127"/>
                        <a:ea typeface="페이퍼로지 2 ExtraLight" pitchFamily="2" charset="-127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3015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7F8D27D-B215-6952-505E-FF12279C2CAF}"/>
              </a:ext>
            </a:extLst>
          </p:cNvPr>
          <p:cNvSpPr txBox="1"/>
          <p:nvPr/>
        </p:nvSpPr>
        <p:spPr>
          <a:xfrm>
            <a:off x="3747770" y="1948582"/>
            <a:ext cx="28484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[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국가기술표준원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바이오산업 분류체계 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(2016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개정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] </a:t>
            </a:r>
            <a:endParaRPr lang="ko-KR" alt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D74577-4B40-E5C4-2BD1-6A39BEA577D5}"/>
              </a:ext>
            </a:extLst>
          </p:cNvPr>
          <p:cNvSpPr txBox="1"/>
          <p:nvPr/>
        </p:nvSpPr>
        <p:spPr>
          <a:xfrm>
            <a:off x="6708214" y="1948582"/>
            <a:ext cx="28484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[</a:t>
            </a:r>
            <a:r>
              <a:rPr kumimoji="0" lang="ko-KR" altLang="en-US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화학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·</a:t>
            </a:r>
            <a:r>
              <a:rPr kumimoji="0" lang="ko-KR" altLang="en-US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바이오산업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SQF]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</a:t>
            </a:r>
            <a:endParaRPr lang="ko-KR" altLang="en-US" sz="20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B24039-B74B-5FEE-A5CF-39C6EADF1383}"/>
              </a:ext>
            </a:extLst>
          </p:cNvPr>
          <p:cNvSpPr/>
          <p:nvPr/>
        </p:nvSpPr>
        <p:spPr>
          <a:xfrm>
            <a:off x="6708214" y="5625795"/>
            <a:ext cx="2844540" cy="735933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180975" indent="-93663" defTabSz="914400" fontAlgn="base"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산업 분야는 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KSIC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기반 전문가 회의를 통해 도출하며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의약품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바이오의약품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정밀화학제품제조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석유화학제품제조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플라스틱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고무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화장품 등 </a:t>
            </a:r>
            <a:r>
              <a:rPr lang="ko-KR" altLang="en-US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산출물 중심의 </a:t>
            </a:r>
            <a:r>
              <a:rPr lang="en-US" altLang="ko-KR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8</a:t>
            </a:r>
            <a:r>
              <a:rPr lang="ko-KR" altLang="en-US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 영역</a:t>
            </a: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으로 세분화 되어 있음</a:t>
            </a:r>
            <a:r>
              <a:rPr lang="en-US" altLang="ko-KR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  <a:p>
            <a:pPr marL="180975" indent="-93663" defTabSz="914400" fontAlgn="base">
              <a:buFont typeface="Arial" panose="020B0604020202020204" pitchFamily="34" charset="0"/>
              <a:buChar char="•"/>
            </a:pPr>
            <a:r>
              <a:rPr lang="ko-KR" altLang="en-US" sz="9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전 산업 분야의 공통적인 </a:t>
            </a:r>
            <a:r>
              <a:rPr lang="ko-KR" altLang="en-US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핵심 직무군은 생산</a:t>
            </a:r>
            <a:r>
              <a:rPr lang="en-US" altLang="ko-KR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-</a:t>
            </a:r>
            <a:r>
              <a:rPr lang="ko-KR" altLang="en-US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품질</a:t>
            </a:r>
            <a:r>
              <a:rPr lang="en-US" altLang="ko-KR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-</a:t>
            </a:r>
            <a:r>
              <a:rPr lang="ko-KR" altLang="en-US" sz="900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연구개발</a:t>
            </a:r>
          </a:p>
        </p:txBody>
      </p:sp>
    </p:spTree>
    <p:extLst>
      <p:ext uri="{BB962C8B-B14F-4D97-AF65-F5344CB8AC3E}">
        <p14:creationId xmlns:p14="http://schemas.microsoft.com/office/powerpoint/2010/main" val="3993964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1F767-5854-94EA-2AE2-10AC7F19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FCEBC31-CF6F-0D7C-8D46-3F1C5C87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C23BE5-DEE6-D60C-1BBC-8983616EA1D2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CB25DAB4-C2B9-B839-8EED-68C81A930B5F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발주기관과 논의하여 </a:t>
            </a:r>
            <a:r>
              <a:rPr lang="ko-KR" altLang="en-US" sz="17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플라스틱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의료기기 분야를 중점 분석 대상으로 설정하고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주요 교육기관을 조사하여 공통 교육 주제를 재구성하고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주제별 내용과 방식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시간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대상을 정리하였습니다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D0766B-D722-05DE-0FFD-23BE2EEAC43B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028922-B1AF-7498-5322-CFA75F9031CD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4356CC59-AF43-4569-545C-4E5A949063FF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BDA43B-DAB3-51B1-8E2E-CA9614A1DA3E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2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1</a:t>
              </a:r>
              <a:endParaRPr lang="ko-KR" altLang="en-US" sz="12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31A54D-55E8-86D3-FD38-6BDD7D9C3A27}"/>
              </a:ext>
            </a:extLst>
          </p:cNvPr>
          <p:cNvSpPr/>
          <p:nvPr/>
        </p:nvSpPr>
        <p:spPr>
          <a:xfrm>
            <a:off x="1513166" y="253829"/>
            <a:ext cx="589728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2.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산업 교육과정 현황 분석</a:t>
            </a:r>
            <a:endParaRPr lang="en-US" altLang="ko-KR" sz="1400" spc="-50" dirty="0">
              <a:solidFill>
                <a:schemeClr val="accent6">
                  <a:lumMod val="7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B4D6FE8-99C1-8DB2-DC53-5972479B9815}"/>
              </a:ext>
            </a:extLst>
          </p:cNvPr>
          <p:cNvCxnSpPr>
            <a:cxnSpLocks/>
          </p:cNvCxnSpPr>
          <p:nvPr/>
        </p:nvCxnSpPr>
        <p:spPr>
          <a:xfrm>
            <a:off x="344487" y="1871431"/>
            <a:ext cx="9217026" cy="9588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텍스트 개체 틀 1">
            <a:extLst>
              <a:ext uri="{FF2B5EF4-FFF2-40B4-BE49-F238E27FC236}">
                <a16:creationId xmlns:a16="http://schemas.microsoft.com/office/drawing/2014/main" id="{DAAB014F-ABC2-81F5-8D41-B518F749161E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9217026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교육과정 현황 분석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6792A35E-3A2F-EFC4-C87A-44A6FA7F8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609267"/>
              </p:ext>
            </p:extLst>
          </p:nvPr>
        </p:nvGraphicFramePr>
        <p:xfrm>
          <a:off x="2125449" y="3577418"/>
          <a:ext cx="7423580" cy="131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036">
                  <a:extLst>
                    <a:ext uri="{9D8B030D-6E8A-4147-A177-3AD203B41FA5}">
                      <a16:colId xmlns:a16="http://schemas.microsoft.com/office/drawing/2014/main" val="3934409486"/>
                    </a:ext>
                  </a:extLst>
                </a:gridCol>
                <a:gridCol w="1880841">
                  <a:extLst>
                    <a:ext uri="{9D8B030D-6E8A-4147-A177-3AD203B41FA5}">
                      <a16:colId xmlns:a16="http://schemas.microsoft.com/office/drawing/2014/main" val="4214223839"/>
                    </a:ext>
                  </a:extLst>
                </a:gridCol>
                <a:gridCol w="1651901">
                  <a:extLst>
                    <a:ext uri="{9D8B030D-6E8A-4147-A177-3AD203B41FA5}">
                      <a16:colId xmlns:a16="http://schemas.microsoft.com/office/drawing/2014/main" val="35451794"/>
                    </a:ext>
                  </a:extLst>
                </a:gridCol>
                <a:gridCol w="1651901">
                  <a:extLst>
                    <a:ext uri="{9D8B030D-6E8A-4147-A177-3AD203B41FA5}">
                      <a16:colId xmlns:a16="http://schemas.microsoft.com/office/drawing/2014/main" val="3186974057"/>
                    </a:ext>
                  </a:extLst>
                </a:gridCol>
                <a:gridCol w="1651901">
                  <a:extLst>
                    <a:ext uri="{9D8B030D-6E8A-4147-A177-3AD203B41FA5}">
                      <a16:colId xmlns:a16="http://schemas.microsoft.com/office/drawing/2014/main" val="302843694"/>
                    </a:ext>
                  </a:extLst>
                </a:gridCol>
              </a:tblGrid>
              <a:tr h="14913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ko-KR" altLang="en-US" sz="800" b="0" spc="-50" baseline="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  <a:endParaRPr lang="ko-KR" altLang="en-US" sz="800" b="0" kern="1200" spc="-50" baseline="0" dirty="0">
                        <a:solidFill>
                          <a:schemeClr val="lt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폐플라스틱 자원화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리사이클링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화학적 리사이클링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공정기술 심화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 err="1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생분해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 err="1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바이오플라스틱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소재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사업화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친환경 응용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순환경제 확장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5756"/>
                  </a:ext>
                </a:extLst>
              </a:tr>
              <a:tr h="4025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교육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재활용 필요성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정책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제도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물리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열적 재활용 기술 비교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공정별 핵심기술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실증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상용화 사례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PCR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적용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열분해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가스화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해중합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등 전환 공정 원리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촉매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단량체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회수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플랜트 적용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PBS·PBAT·PLA·PHA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 소재 기술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물성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생분해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퇴비화 평가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인증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표준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적용 실증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시장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공급망 분석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신사업 전략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패키징 소재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적용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연포장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라벨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배리어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자원순환 확장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폐자원 에너지화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), CCUS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 탄소저감 연계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39640"/>
                  </a:ext>
                </a:extLst>
              </a:tr>
              <a:tr h="1213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 방식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오프라인 혼합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오프라인 혼합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오프라인 혼합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오프라인 혼합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367841"/>
                  </a:ext>
                </a:extLst>
              </a:tr>
              <a:tr h="1213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5~6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 내외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 내외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3~6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 내외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4~6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 내외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537639"/>
                  </a:ext>
                </a:extLst>
              </a:tr>
              <a:tr h="2150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대상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플라스틱 재활용 기술 담당자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공정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사업화 실무자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플랜트 설계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기획 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화학적 재활용 공정 개발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운영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플랜트 엔지니어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기술 실무자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생분해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소재 개발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인증 담당자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패키징 소재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 개발자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플랜트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에너지 전환 실무자 등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813513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81549902-804F-10D2-D091-E02DA36E5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686308"/>
              </p:ext>
            </p:extLst>
          </p:nvPr>
        </p:nvGraphicFramePr>
        <p:xfrm>
          <a:off x="2137934" y="5069964"/>
          <a:ext cx="7423579" cy="130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036">
                  <a:extLst>
                    <a:ext uri="{9D8B030D-6E8A-4147-A177-3AD203B41FA5}">
                      <a16:colId xmlns:a16="http://schemas.microsoft.com/office/drawing/2014/main" val="3934409486"/>
                    </a:ext>
                  </a:extLst>
                </a:gridCol>
                <a:gridCol w="2443845">
                  <a:extLst>
                    <a:ext uri="{9D8B030D-6E8A-4147-A177-3AD203B41FA5}">
                      <a16:colId xmlns:a16="http://schemas.microsoft.com/office/drawing/2014/main" val="4214223839"/>
                    </a:ext>
                  </a:extLst>
                </a:gridCol>
                <a:gridCol w="2196349">
                  <a:extLst>
                    <a:ext uri="{9D8B030D-6E8A-4147-A177-3AD203B41FA5}">
                      <a16:colId xmlns:a16="http://schemas.microsoft.com/office/drawing/2014/main" val="35451794"/>
                    </a:ext>
                  </a:extLst>
                </a:gridCol>
                <a:gridCol w="2196349">
                  <a:extLst>
                    <a:ext uri="{9D8B030D-6E8A-4147-A177-3AD203B41FA5}">
                      <a16:colId xmlns:a16="http://schemas.microsoft.com/office/drawing/2014/main" val="3186974057"/>
                    </a:ext>
                  </a:extLst>
                </a:gridCol>
              </a:tblGrid>
              <a:tr h="2359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ko-KR" altLang="en-US" sz="800" b="0" spc="-50" baseline="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  <a:endParaRPr lang="ko-KR" altLang="en-US" sz="800" b="0" kern="1200" spc="-50" baseline="0" dirty="0">
                        <a:solidFill>
                          <a:schemeClr val="lt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의료기기 규제과학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(RA) 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전문가 양성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의료기기 해외 인허가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국제인증 대응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의료기기 인허가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규제 대응 실무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5756"/>
                  </a:ext>
                </a:extLst>
              </a:tr>
              <a:tr h="3402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교육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RA 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전주기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시판 전 인허가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임상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품질관리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사후관리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해외 인허가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체계 학습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미국 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FDA,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유럽 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CE-MDR/IVDR,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주요국 인허가 절차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문서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임상평가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요구 비교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인허가 절차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규정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표준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시험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검증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기술문서 작성 실습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디지털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·AI/SW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규제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사이버보안 대응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39640"/>
                  </a:ext>
                </a:extLst>
              </a:tr>
              <a:tr h="1919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 방식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온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오프라인 혼합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오프라인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오프라인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367841"/>
                  </a:ext>
                </a:extLst>
              </a:tr>
              <a:tr h="1919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40h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내외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4~12h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내외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3~16h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내외</a:t>
                      </a:r>
                    </a:p>
                  </a:txBody>
                  <a:tcPr marL="55600" marR="55600" marT="15372" marB="153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537639"/>
                  </a:ext>
                </a:extLst>
              </a:tr>
              <a:tr h="3402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대상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RA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 수행자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인허가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임상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해외규제 담당 재직자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해외 인허가 담당자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국제인증 취득 관련 실무자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인허가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시험 실무자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디지털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·AI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규제 대응 담당자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801213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F0A27EE-459F-802F-A3A3-290F9E591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69179"/>
              </p:ext>
            </p:extLst>
          </p:nvPr>
        </p:nvGraphicFramePr>
        <p:xfrm>
          <a:off x="2125449" y="2097088"/>
          <a:ext cx="7436065" cy="130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65">
                  <a:extLst>
                    <a:ext uri="{9D8B030D-6E8A-4147-A177-3AD203B41FA5}">
                      <a16:colId xmlns:a16="http://schemas.microsoft.com/office/drawing/2014/main" val="3934409486"/>
                    </a:ext>
                  </a:extLst>
                </a:gridCol>
                <a:gridCol w="1893663">
                  <a:extLst>
                    <a:ext uri="{9D8B030D-6E8A-4147-A177-3AD203B41FA5}">
                      <a16:colId xmlns:a16="http://schemas.microsoft.com/office/drawing/2014/main" val="4214223839"/>
                    </a:ext>
                  </a:extLst>
                </a:gridCol>
                <a:gridCol w="1654679">
                  <a:extLst>
                    <a:ext uri="{9D8B030D-6E8A-4147-A177-3AD203B41FA5}">
                      <a16:colId xmlns:a16="http://schemas.microsoft.com/office/drawing/2014/main" val="35451794"/>
                    </a:ext>
                  </a:extLst>
                </a:gridCol>
                <a:gridCol w="1654679">
                  <a:extLst>
                    <a:ext uri="{9D8B030D-6E8A-4147-A177-3AD203B41FA5}">
                      <a16:colId xmlns:a16="http://schemas.microsoft.com/office/drawing/2014/main" val="3186974057"/>
                    </a:ext>
                  </a:extLst>
                </a:gridCol>
                <a:gridCol w="1654679">
                  <a:extLst>
                    <a:ext uri="{9D8B030D-6E8A-4147-A177-3AD203B41FA5}">
                      <a16:colId xmlns:a16="http://schemas.microsoft.com/office/drawing/2014/main" val="302843694"/>
                    </a:ext>
                  </a:extLst>
                </a:gridCol>
              </a:tblGrid>
              <a:tr h="15610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ko-KR" altLang="en-US" sz="800" b="0" spc="-50" baseline="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  <a:endParaRPr lang="ko-KR" altLang="en-US" sz="800" b="0" kern="1200" spc="-50" baseline="0" dirty="0">
                        <a:solidFill>
                          <a:schemeClr val="lt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화학물질 안전관리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규제이해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화학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이화학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 err="1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크로마토그래피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분석 실무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화학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고분자 기초 이론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 err="1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방폭</a:t>
                      </a:r>
                      <a:r>
                        <a:rPr lang="en-US" altLang="ko-KR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 err="1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전기방폭</a:t>
                      </a:r>
                      <a:r>
                        <a:rPr lang="ko-KR" altLang="en-US" sz="800" b="0" kern="1200" spc="-50" baseline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설비 안전관리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5756"/>
                  </a:ext>
                </a:extLst>
              </a:tr>
              <a:tr h="4115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교육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화학물질 안전관리 역할 이해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사고 특성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물성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화관법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화평법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취급시설 안전기준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공정 위험성평가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(PSM·HAZOP),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사고 사례 분석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실험실 안전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·SOP,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기초 이화학 시험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UV/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분광 분석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HPLC·GC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원리와 조건 설정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크로마토그램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해석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GLP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리포트 작성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분자 구조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화학결합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평형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산염기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고분자 개념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물성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라디칼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이온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배위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단계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개환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공중합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등 중합 원리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폭발 위험 원리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방폭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구역 분류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방폭기기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종류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기호 해석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폭발위험장소 산정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(KGS/IEC),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설치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점검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유지관리 실무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39640"/>
                  </a:ext>
                </a:extLst>
              </a:tr>
              <a:tr h="1269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 방식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온라인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온라인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온라인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오프라인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367841"/>
                  </a:ext>
                </a:extLst>
              </a:tr>
              <a:tr h="1269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8~16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 내외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16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 내외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6~8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 내외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16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시간 내외</a:t>
                      </a:r>
                    </a:p>
                  </a:txBody>
                  <a:tcPr marL="42676" marR="42676" marT="11799" marB="1179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537639"/>
                  </a:ext>
                </a:extLst>
              </a:tr>
              <a:tr h="2251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대상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제조업 안전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환경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보건 실무자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화학사고 예방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안전진단 종사자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 분석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품질관리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·R&amp;D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실무자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분석장비 활용 재직자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소재 산업 재직자 및 실무자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5400040" algn="r"/>
                          <a:tab pos="5400040" algn="r"/>
                        </a:tabLst>
                      </a:pP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석유화학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정밀화학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전기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설비</a:t>
                      </a:r>
                      <a:r>
                        <a:rPr lang="en-US" altLang="ko-KR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1200" spc="-5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안전 실무자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6274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3EAD38C-2F83-4624-4F18-B4CEC14AA511}"/>
              </a:ext>
            </a:extLst>
          </p:cNvPr>
          <p:cNvSpPr txBox="1"/>
          <p:nvPr/>
        </p:nvSpPr>
        <p:spPr>
          <a:xfrm>
            <a:off x="590575" y="2097088"/>
            <a:ext cx="1450277" cy="1300320"/>
          </a:xfrm>
          <a:prstGeom prst="rect">
            <a:avLst/>
          </a:prstGeom>
          <a:noFill/>
          <a:ln>
            <a:solidFill>
              <a:srgbClr val="344532"/>
            </a:solidFill>
          </a:ln>
        </p:spPr>
        <p:txBody>
          <a:bodyPr wrap="square" anchor="ctr">
            <a:no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플랜트교육본부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국가인적자원개발컨소시엄 </a:t>
            </a:r>
            <a:r>
              <a:rPr kumimoji="0" lang="ko-KR" altLang="en-US" sz="800" b="0" i="0" u="none" strike="noStrike" kern="1200" cap="none" spc="-5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울산테크노파크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등 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개 교육기관의 교육과정 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17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개 과정을 참고함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. </a:t>
            </a:r>
          </a:p>
          <a:p>
            <a:pPr marL="85725" marR="0" lvl="0" indent="-857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800" b="0" i="1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(</a:t>
            </a:r>
            <a:r>
              <a:rPr kumimoji="0" lang="ko-KR" altLang="en-US" sz="800" b="0" i="1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예시</a:t>
            </a:r>
            <a:r>
              <a:rPr kumimoji="0" lang="en-US" altLang="ko-KR" sz="800" b="0" i="1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) </a:t>
            </a:r>
            <a:r>
              <a:rPr kumimoji="0" lang="ko-KR" altLang="en-US" sz="800" b="0" i="1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플랜트교육본부의 폐자원 에너지 기술 및 활용</a:t>
            </a:r>
            <a:r>
              <a:rPr kumimoji="0" lang="en-US" altLang="ko-KR" sz="800" b="0" i="1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(</a:t>
            </a:r>
            <a:r>
              <a:rPr kumimoji="0" lang="ko-KR" altLang="en-US" sz="800" b="0" i="1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순환</a:t>
            </a:r>
            <a:r>
              <a:rPr kumimoji="0" lang="en-US" altLang="ko-KR" sz="800" b="0" i="1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), </a:t>
            </a:r>
            <a:r>
              <a:rPr kumimoji="0" lang="ko-KR" altLang="en-US" sz="800" b="0" i="1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한남대학교의 </a:t>
            </a:r>
            <a:r>
              <a:rPr kumimoji="0" lang="ko-KR" altLang="en-US" sz="800" b="0" i="1" u="none" strike="noStrike" kern="1200" cap="none" spc="-5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바이오화학</a:t>
            </a:r>
            <a:r>
              <a:rPr kumimoji="0" lang="ko-KR" altLang="en-US" sz="800" b="0" i="1" u="none" strike="noStrike" kern="1200" cap="none" spc="-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정보 개론 재직자 교육프로그램 등   </a:t>
            </a:r>
            <a:endParaRPr kumimoji="0" lang="ko-KR" altLang="en-US" sz="900" b="0" i="1" u="none" strike="noStrike" kern="1200" cap="none" spc="-5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6B013D-5E2E-E85F-D3FF-1FDA340A859F}"/>
              </a:ext>
            </a:extLst>
          </p:cNvPr>
          <p:cNvSpPr txBox="1"/>
          <p:nvPr/>
        </p:nvSpPr>
        <p:spPr>
          <a:xfrm>
            <a:off x="356972" y="2095942"/>
            <a:ext cx="149006" cy="1300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  <a:lvl2pPr marL="0" lvl="1" algn="ctr" defTabSz="914400">
              <a:lnSpc>
                <a:spcPct val="130000"/>
              </a:lnSpc>
              <a:defRPr sz="1100" kern="0" spc="-5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defRPr>
            </a:lvl2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100" dirty="0" err="1">
                <a:solidFill>
                  <a:schemeClr val="bg1"/>
                </a:solidFill>
              </a:rPr>
              <a:t>바이오화학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E4CC1A-F008-FC83-2B0C-61F9F58390FF}"/>
              </a:ext>
            </a:extLst>
          </p:cNvPr>
          <p:cNvSpPr txBox="1"/>
          <p:nvPr/>
        </p:nvSpPr>
        <p:spPr>
          <a:xfrm>
            <a:off x="590575" y="3584099"/>
            <a:ext cx="1450277" cy="1300320"/>
          </a:xfrm>
          <a:prstGeom prst="rect">
            <a:avLst/>
          </a:prstGeom>
          <a:noFill/>
          <a:ln>
            <a:solidFill>
              <a:srgbClr val="344532"/>
            </a:solidFill>
          </a:ln>
        </p:spPr>
        <p:txBody>
          <a:bodyPr wrap="square" anchor="ctr">
            <a:noAutofit/>
          </a:bodyPr>
          <a:lstStyle/>
          <a:p>
            <a:pPr marL="85725" indent="-85725">
              <a:buFont typeface="Arial" panose="020B0604020202020204" pitchFamily="34" charset="0"/>
              <a:buChar char="•"/>
              <a:defRPr/>
            </a:pPr>
            <a:r>
              <a:rPr lang="ko-KR" altLang="en-US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플랜트교육본부</a:t>
            </a:r>
            <a:r>
              <a:rPr lang="en-US" altLang="ko-KR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산업교육연구소</a:t>
            </a:r>
            <a:r>
              <a:rPr lang="en-US" altLang="ko-KR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800" spc="-5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한국미래기술교육연구원</a:t>
            </a:r>
            <a:r>
              <a:rPr lang="ko-KR" altLang="en-US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 등 </a:t>
            </a:r>
            <a:r>
              <a:rPr lang="en-US" altLang="ko-KR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5</a:t>
            </a:r>
            <a:r>
              <a:rPr lang="ko-KR" altLang="en-US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개 교육기관의 교육 및 세미나 </a:t>
            </a:r>
            <a:r>
              <a:rPr lang="en-US" altLang="ko-KR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26</a:t>
            </a:r>
            <a:r>
              <a:rPr lang="ko-KR" altLang="en-US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개 과정을 참고함</a:t>
            </a:r>
            <a:r>
              <a:rPr lang="en-US" altLang="ko-KR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. 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예시</a:t>
            </a:r>
            <a:r>
              <a:rPr lang="en-US" altLang="ko-KR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플랜트교육본부의 바이오 플라스틱 사업 환경 이해</a:t>
            </a:r>
            <a:r>
              <a:rPr lang="en-US" altLang="ko-KR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산업교육연구소의 바이오 플라스틱 플랜트 생산공정 개념설계 등   </a:t>
            </a:r>
            <a:endParaRPr lang="ko-KR" altLang="en-US" sz="900" i="1" spc="-50" dirty="0"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BCF339-20F0-63CE-87B7-A40491F31585}"/>
              </a:ext>
            </a:extLst>
          </p:cNvPr>
          <p:cNvSpPr txBox="1"/>
          <p:nvPr/>
        </p:nvSpPr>
        <p:spPr>
          <a:xfrm>
            <a:off x="356972" y="3582953"/>
            <a:ext cx="149006" cy="1300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  <a:lvl2pPr marL="0" lvl="1" algn="ctr" defTabSz="914400">
              <a:lnSpc>
                <a:spcPct val="130000"/>
              </a:lnSpc>
              <a:defRPr sz="1100" kern="0" spc="-5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defRPr>
            </a:lvl2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chemeClr val="bg1"/>
                </a:solidFill>
              </a:rPr>
              <a:t>플라스틱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D811C5-DB0D-F36F-0C6A-38037F8F4563}"/>
              </a:ext>
            </a:extLst>
          </p:cNvPr>
          <p:cNvSpPr txBox="1"/>
          <p:nvPr/>
        </p:nvSpPr>
        <p:spPr>
          <a:xfrm>
            <a:off x="590575" y="5071111"/>
            <a:ext cx="1450277" cy="1300320"/>
          </a:xfrm>
          <a:prstGeom prst="rect">
            <a:avLst/>
          </a:prstGeom>
          <a:noFill/>
          <a:ln>
            <a:solidFill>
              <a:srgbClr val="344532"/>
            </a:solidFill>
          </a:ln>
        </p:spPr>
        <p:txBody>
          <a:bodyPr wrap="square" anchor="ctr">
            <a:noAutofit/>
          </a:bodyPr>
          <a:lstStyle/>
          <a:p>
            <a:pPr marL="85725" indent="-85725">
              <a:buFont typeface="Arial" panose="020B0604020202020204" pitchFamily="34" charset="0"/>
              <a:buChar char="•"/>
              <a:defRPr/>
            </a:pPr>
            <a:r>
              <a:rPr lang="ko-KR" altLang="en-US" sz="800" spc="-5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한국보건복지인재원</a:t>
            </a:r>
            <a:r>
              <a:rPr lang="en-US" altLang="ko-KR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800" spc="-5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국가임상시험지원재단</a:t>
            </a:r>
            <a:r>
              <a:rPr lang="ko-KR" altLang="en-US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 등 </a:t>
            </a:r>
            <a:r>
              <a:rPr lang="en-US" altLang="ko-KR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10</a:t>
            </a:r>
            <a:r>
              <a:rPr lang="ko-KR" altLang="en-US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개 교육기관</a:t>
            </a:r>
            <a:r>
              <a:rPr lang="en-US" altLang="ko-KR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협회의 교육 및 세미나 </a:t>
            </a:r>
            <a:r>
              <a:rPr lang="en-US" altLang="ko-KR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18</a:t>
            </a:r>
            <a:r>
              <a:rPr lang="ko-KR" altLang="en-US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개 과정을 참고함</a:t>
            </a:r>
            <a:r>
              <a:rPr lang="en-US" altLang="ko-KR" sz="8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9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예시</a:t>
            </a:r>
            <a:r>
              <a:rPr lang="en-US" altLang="ko-KR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800" i="1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한국보건복지인재원의</a:t>
            </a:r>
            <a:r>
              <a:rPr lang="ko-KR" altLang="en-US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800" i="1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혁신의료기기인허가입문과정</a:t>
            </a:r>
            <a:r>
              <a:rPr lang="en-US" altLang="ko-KR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화학경제연구원 </a:t>
            </a:r>
            <a:r>
              <a:rPr lang="ko-KR" altLang="en-US" sz="800" i="1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화이트바이오</a:t>
            </a:r>
            <a:r>
              <a:rPr lang="ko-KR" altLang="en-US" sz="800" i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기술세미나 등</a:t>
            </a:r>
            <a:endParaRPr lang="en-US" altLang="ko-KR" sz="800" i="1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112CA-E858-02DC-34BF-190F6746FD8D}"/>
              </a:ext>
            </a:extLst>
          </p:cNvPr>
          <p:cNvSpPr txBox="1"/>
          <p:nvPr/>
        </p:nvSpPr>
        <p:spPr>
          <a:xfrm>
            <a:off x="356972" y="5069965"/>
            <a:ext cx="149006" cy="1300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  <a:lvl2pPr marL="0" lvl="1" algn="ctr" defTabSz="914400">
              <a:lnSpc>
                <a:spcPct val="130000"/>
              </a:lnSpc>
              <a:defRPr sz="1100" kern="0" spc="-5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defRPr>
            </a:lvl2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100">
                <a:solidFill>
                  <a:schemeClr val="bg1"/>
                </a:solidFill>
              </a:rPr>
              <a:t>의료기기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32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4FC83-DA44-46FC-C189-EEA88D639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B484787-5640-928D-2065-870D86EB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C81655-6219-AC44-5206-9FC175F6DD4C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E0EDE4F8-C071-A44E-703B-0D9B41AF0BA4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산업 분류체계와 교육훈련과정 현황을 분석한 시사점은 다음과 같습니다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C636-EBE7-B29D-5EC3-6E7C0D5D71EB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A7EBBE9-02DB-B9D8-D1CC-98CE2B6AE61F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A23D7FDA-8CF9-DAF4-9FA0-9891A82D68B5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B6DE33-EAB9-415D-3ED5-B7771849F898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2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1</a:t>
              </a:r>
              <a:endParaRPr lang="ko-KR" altLang="en-US" sz="12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5BA532-B2DB-62B6-1EBD-A5B70194EDC0}"/>
              </a:ext>
            </a:extLst>
          </p:cNvPr>
          <p:cNvSpPr/>
          <p:nvPr/>
        </p:nvSpPr>
        <p:spPr>
          <a:xfrm>
            <a:off x="1513166" y="253829"/>
            <a:ext cx="589728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3.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시사점 도출</a:t>
            </a:r>
            <a:endParaRPr lang="en-US" altLang="ko-KR" sz="1400" spc="-50" dirty="0">
              <a:solidFill>
                <a:schemeClr val="accent6">
                  <a:lumMod val="7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1DBC14DC-433D-3F30-85B5-D89090009703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시사점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E4E98FC-EBB3-83B1-4A53-EDB4C24E4A51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952A673-CBB8-2718-8401-56F7A3EB623F}"/>
              </a:ext>
            </a:extLst>
          </p:cNvPr>
          <p:cNvSpPr/>
          <p:nvPr/>
        </p:nvSpPr>
        <p:spPr>
          <a:xfrm>
            <a:off x="5097463" y="2072166"/>
            <a:ext cx="4464051" cy="434609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rtlCol="0" anchor="t"/>
          <a:lstStyle/>
          <a:p>
            <a:pPr fontAlgn="base">
              <a:lnSpc>
                <a:spcPct val="150000"/>
              </a:lnSpc>
              <a:spcBef>
                <a:spcPct val="0"/>
              </a:spcBef>
              <a:buSzPct val="80000"/>
            </a:pP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3B2596-67A5-0129-EDAD-5689B968B47A}"/>
              </a:ext>
            </a:extLst>
          </p:cNvPr>
          <p:cNvSpPr txBox="1"/>
          <p:nvPr/>
        </p:nvSpPr>
        <p:spPr>
          <a:xfrm>
            <a:off x="5223456" y="2682575"/>
            <a:ext cx="4212065" cy="823105"/>
          </a:xfrm>
          <a:prstGeom prst="rect">
            <a:avLst/>
          </a:prstGeom>
          <a:solidFill>
            <a:srgbClr val="EEECE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176213" lvl="1" indent="-166688" defTabSz="914400"/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☞ 각 기관의 교육훈련과정은 </a:t>
            </a:r>
            <a:r>
              <a:rPr lang="ko-KR" altLang="en-US" sz="1100" kern="0" spc="-50" dirty="0" err="1"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플라스틱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의료기기 등 산업 전환 분야를 폭넓게 포괄하며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직무 수행에 필요한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전문성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과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현장 실무 역량을 강화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하도록 구성되고 있음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기술 심화 학습과 더불어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정책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제도 변화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산업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시장 동향을 함께 다루는 교육과정이 확대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되는 추세임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60B0B7-84AF-EBE4-3700-76B42E0C02D3}"/>
              </a:ext>
            </a:extLst>
          </p:cNvPr>
          <p:cNvSpPr txBox="1"/>
          <p:nvPr/>
        </p:nvSpPr>
        <p:spPr>
          <a:xfrm>
            <a:off x="5069717" y="2489096"/>
            <a:ext cx="3886293" cy="18662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9525" lvl="1" defTabSz="914400"/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1.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산업 전환 대응을 위한 직무</a:t>
            </a:r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실무역량 강화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90757-168B-5A98-73E6-46A1ACF99A9B}"/>
              </a:ext>
            </a:extLst>
          </p:cNvPr>
          <p:cNvSpPr txBox="1"/>
          <p:nvPr/>
        </p:nvSpPr>
        <p:spPr>
          <a:xfrm>
            <a:off x="5215905" y="5056771"/>
            <a:ext cx="4212065" cy="1264930"/>
          </a:xfrm>
          <a:prstGeom prst="rect">
            <a:avLst/>
          </a:prstGeom>
          <a:solidFill>
            <a:srgbClr val="EEECE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176213" lvl="1" indent="-166688" defTabSz="914400"/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☞ 다수 과정에서 공정 실증 사례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상용화 성공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실패 사례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안전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사고 사례 등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현장 기반 콘텐츠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가 강화되는 추세임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이는 산업 현장이 개념 이해보다 실제 데이터를 근거로 공정을 선택하고 사업화 결정을 내리는 판단 역량을 중시하고 있음을 보여줌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176213" lvl="1" indent="6350" defTabSz="914400"/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따라서 교육 과정에 실증 데이터 해석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경제성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사업성 판단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리스크 요인 분석 등을 반영하여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교육과정이 현장과 직접 이어지도록 설계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하는 방안을 고려할 필요가 있음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A774DF-6C66-4900-2555-5EF183D5DA61}"/>
              </a:ext>
            </a:extLst>
          </p:cNvPr>
          <p:cNvSpPr txBox="1"/>
          <p:nvPr/>
        </p:nvSpPr>
        <p:spPr>
          <a:xfrm>
            <a:off x="5097463" y="4856206"/>
            <a:ext cx="3886293" cy="18662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9525" lvl="1" defTabSz="914400"/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3.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실증</a:t>
            </a:r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사례 기반 학습 확대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C08FD3-6D73-FF07-678B-FA889CF4E5AF}"/>
              </a:ext>
            </a:extLst>
          </p:cNvPr>
          <p:cNvSpPr txBox="1"/>
          <p:nvPr/>
        </p:nvSpPr>
        <p:spPr>
          <a:xfrm>
            <a:off x="5215904" y="3736056"/>
            <a:ext cx="4212065" cy="1045351"/>
          </a:xfrm>
          <a:prstGeom prst="rect">
            <a:avLst/>
          </a:prstGeom>
          <a:solidFill>
            <a:srgbClr val="EEECE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176213" lvl="1" indent="-166688" defTabSz="914400"/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☞ </a:t>
            </a:r>
            <a:r>
              <a:rPr lang="ko-KR" altLang="en-US" sz="1100" kern="0" spc="-50" dirty="0" err="1">
                <a:latin typeface="페이퍼로지 4 Regular" pitchFamily="2" charset="-127"/>
                <a:ea typeface="페이퍼로지 4 Regular" pitchFamily="2" charset="-127"/>
              </a:rPr>
              <a:t>생분해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바이오 플라스틱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폐플라스틱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의료기기 교육과정 전반에서 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ISO, MDR/FDA, GR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등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국제 규격과 국내 인증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시험 요구사항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을 핵심 내용으로 다루는 비중이 확대되고 있음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  <a:p>
            <a:pPr marL="176213" lvl="1" indent="-166688" defTabSz="914400"/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☞ 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표준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인증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검증은 기술 개발 이후의 후속 절차가 아니라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소재 설계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공정 개발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인허가 전략 수립 단계부터 함께 고려해야 하는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기본 역량으로 인식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되고 있음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851CD5-A7CD-250F-7A85-D91107321270}"/>
              </a:ext>
            </a:extLst>
          </p:cNvPr>
          <p:cNvSpPr txBox="1"/>
          <p:nvPr/>
        </p:nvSpPr>
        <p:spPr>
          <a:xfrm>
            <a:off x="5097463" y="3535491"/>
            <a:ext cx="3886293" cy="18662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9525" lvl="1" defTabSz="914400"/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2. 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표준 인증</a:t>
            </a:r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검증 대응 역량 강화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CDF267-45F7-70E1-7E67-9CA0275C9F1C}"/>
              </a:ext>
            </a:extLst>
          </p:cNvPr>
          <p:cNvSpPr txBox="1"/>
          <p:nvPr/>
        </p:nvSpPr>
        <p:spPr>
          <a:xfrm>
            <a:off x="5097463" y="2082489"/>
            <a:ext cx="4464050" cy="282586"/>
          </a:xfrm>
          <a:prstGeom prst="rect">
            <a:avLst/>
          </a:prstGeom>
          <a:solidFill>
            <a:srgbClr val="395D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</a:lstStyle>
          <a:p>
            <a:pPr marL="87312" lvl="1" algn="ctr" defTabSz="914400"/>
            <a:r>
              <a:rPr lang="ko-KR" altLang="en-US" sz="12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교육훈련과정 현황 분석 시사점</a:t>
            </a:r>
            <a:endParaRPr lang="en-US" altLang="ko-KR" sz="1200" kern="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ABB80D9-A52E-4BD8-A779-B6FB0ADFAC4E}"/>
              </a:ext>
            </a:extLst>
          </p:cNvPr>
          <p:cNvSpPr/>
          <p:nvPr/>
        </p:nvSpPr>
        <p:spPr>
          <a:xfrm>
            <a:off x="344486" y="2072166"/>
            <a:ext cx="4464051" cy="434609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rtlCol="0" anchor="t"/>
          <a:lstStyle/>
          <a:p>
            <a:pPr fontAlgn="base">
              <a:lnSpc>
                <a:spcPct val="150000"/>
              </a:lnSpc>
              <a:spcBef>
                <a:spcPct val="0"/>
              </a:spcBef>
              <a:buSzPct val="80000"/>
            </a:pP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1AD04D-416C-2005-CC98-136B4BC3124E}"/>
              </a:ext>
            </a:extLst>
          </p:cNvPr>
          <p:cNvSpPr txBox="1"/>
          <p:nvPr/>
        </p:nvSpPr>
        <p:spPr>
          <a:xfrm>
            <a:off x="470479" y="2682575"/>
            <a:ext cx="4212000" cy="823105"/>
          </a:xfrm>
          <a:prstGeom prst="rect">
            <a:avLst/>
          </a:prstGeom>
          <a:solidFill>
            <a:srgbClr val="EEECE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176213" lvl="1" indent="-166688" defTabSz="914400"/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☞ 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KSIC 11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차 개정에서 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‘</a:t>
            </a:r>
            <a:r>
              <a:rPr lang="ko-KR" altLang="en-US" sz="1100" kern="0" spc="-50" dirty="0" err="1">
                <a:latin typeface="페이퍼로지 4 Regular" pitchFamily="2" charset="-127"/>
                <a:ea typeface="페이퍼로지 4 Regular" pitchFamily="2" charset="-127"/>
              </a:rPr>
              <a:t>바이오매스계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기초 화학물질 제조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’, ‘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혼성 및 재생 플라스틱 소재 물질 제조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’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등의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세세분류가 신설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되고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바이오 산업을 독립된 산업군으로 구성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하는 등 국가 차원의 관리 대상으로 점차 부각되고 있음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F9FB5-0426-6B7A-F4C1-00B30446483F}"/>
              </a:ext>
            </a:extLst>
          </p:cNvPr>
          <p:cNvSpPr txBox="1"/>
          <p:nvPr/>
        </p:nvSpPr>
        <p:spPr>
          <a:xfrm>
            <a:off x="316740" y="2489096"/>
            <a:ext cx="3886293" cy="18662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9525" lvl="1" defTabSz="914400"/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1.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100" kern="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바이오화학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산업의 중요성 확대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563D1D-B43C-C090-0BE8-48441F03F8E8}"/>
              </a:ext>
            </a:extLst>
          </p:cNvPr>
          <p:cNvSpPr txBox="1"/>
          <p:nvPr/>
        </p:nvSpPr>
        <p:spPr>
          <a:xfrm>
            <a:off x="462928" y="5056771"/>
            <a:ext cx="4212000" cy="1264930"/>
          </a:xfrm>
          <a:prstGeom prst="rect">
            <a:avLst/>
          </a:prstGeom>
          <a:solidFill>
            <a:srgbClr val="EEECE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176213" lvl="1" indent="-166688" defTabSz="914400"/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☞ 화학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바이오 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SQF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에서는 플라스틱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고무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화장품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의약품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 err="1">
                <a:latin typeface="페이퍼로지 4 Regular" pitchFamily="2" charset="-127"/>
                <a:ea typeface="페이퍼로지 4 Regular" pitchFamily="2" charset="-127"/>
              </a:rPr>
              <a:t>바이오의약품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 err="1"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석유화학제품제조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정밀화학제품제조 등 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8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개 산업 분야로 구분하여 직무체계를 세분화하고 있음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176213" lvl="1" indent="-166688" defTabSz="914400"/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☞ 산업 분야 전반에서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생산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품질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연구개발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제품 기획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직무가 공통 핵심 직무군으로 도출되고 있으므로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향후 교육 로드맵 설계 시 산업별 특성을 반영하되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생산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-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품질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-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연구개발 직무를 중심으로 설계할 필요가 있음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7A1344-C990-60D5-7D1B-E8EB6A91F09B}"/>
              </a:ext>
            </a:extLst>
          </p:cNvPr>
          <p:cNvSpPr txBox="1"/>
          <p:nvPr/>
        </p:nvSpPr>
        <p:spPr>
          <a:xfrm>
            <a:off x="344486" y="4856206"/>
            <a:ext cx="3886293" cy="18662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9525" lvl="1" defTabSz="914400"/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3.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100" kern="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바이오화학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산업의 핵심 </a:t>
            </a:r>
            <a:r>
              <a:rPr lang="ko-KR" altLang="en-US" sz="1100" kern="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직무군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1B096C-E02F-1596-1443-D67A9E22D913}"/>
              </a:ext>
            </a:extLst>
          </p:cNvPr>
          <p:cNvSpPr txBox="1"/>
          <p:nvPr/>
        </p:nvSpPr>
        <p:spPr>
          <a:xfrm>
            <a:off x="462927" y="3736056"/>
            <a:ext cx="4212000" cy="1045351"/>
          </a:xfrm>
          <a:prstGeom prst="rect">
            <a:avLst/>
          </a:prstGeom>
          <a:solidFill>
            <a:srgbClr val="EEECE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176213" lvl="1" indent="-166688" defTabSz="914400"/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☞ </a:t>
            </a:r>
            <a:r>
              <a:rPr lang="ko-KR" altLang="en-US" sz="1100" kern="0" spc="-50" dirty="0" err="1"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관련 산업분류체계에서 주로 적용되는 분류 기준은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생산활동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 err="1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투입물</a:t>
            </a:r>
            <a:r>
              <a:rPr lang="en-US" altLang="ko-KR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dirty="0">
                <a:solidFill>
                  <a:schemeClr val="accent2"/>
                </a:solidFill>
                <a:latin typeface="페이퍼로지 5 Medium" pitchFamily="2" charset="-127"/>
                <a:ea typeface="페이퍼로지 5 Medium" pitchFamily="2" charset="-127"/>
              </a:rPr>
              <a:t>최종 산출물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로 구분되고 있음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  <a:p>
            <a:pPr marL="176213" lvl="1" indent="-166688" defTabSz="914400"/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☞ 해당 기준을 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100" kern="0" spc="-50" dirty="0" err="1"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현황 분석과 </a:t>
            </a:r>
            <a:r>
              <a:rPr lang="ko-KR" altLang="en-US" sz="1100" kern="0" spc="-50" dirty="0" err="1">
                <a:latin typeface="페이퍼로지 4 Regular" pitchFamily="2" charset="-127"/>
                <a:ea typeface="페이퍼로지 4 Regular" pitchFamily="2" charset="-127"/>
              </a:rPr>
              <a:t>재수립</a:t>
            </a:r>
            <a:r>
              <a:rPr lang="ko-KR" altLang="en-US" sz="1100" kern="0" spc="-50" dirty="0">
                <a:latin typeface="페이퍼로지 4 Regular" pitchFamily="2" charset="-127"/>
                <a:ea typeface="페이퍼로지 4 Regular" pitchFamily="2" charset="-127"/>
              </a:rPr>
              <a:t> 설계 시 적용하겠음</a:t>
            </a:r>
            <a:r>
              <a:rPr lang="en-US" altLang="ko-KR" sz="1100" kern="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CB1D8E-6E6B-973F-56A4-E4697E7803A7}"/>
              </a:ext>
            </a:extLst>
          </p:cNvPr>
          <p:cNvSpPr txBox="1"/>
          <p:nvPr/>
        </p:nvSpPr>
        <p:spPr>
          <a:xfrm>
            <a:off x="344486" y="3535491"/>
            <a:ext cx="3886293" cy="18662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9525" lvl="1" defTabSz="914400"/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2. </a:t>
            </a:r>
            <a:r>
              <a:rPr lang="ko-KR" altLang="en-US" sz="1100" kern="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바이오화학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산업 분류기준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693513-11D1-4613-3DD1-5D4DB73C397F}"/>
              </a:ext>
            </a:extLst>
          </p:cNvPr>
          <p:cNvSpPr txBox="1"/>
          <p:nvPr/>
        </p:nvSpPr>
        <p:spPr>
          <a:xfrm>
            <a:off x="344486" y="2082489"/>
            <a:ext cx="4464050" cy="282586"/>
          </a:xfrm>
          <a:prstGeom prst="rect">
            <a:avLst/>
          </a:prstGeom>
          <a:solidFill>
            <a:srgbClr val="395D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</a:lstStyle>
          <a:p>
            <a:pPr marL="87312" lvl="1" algn="ctr" defTabSz="914400"/>
            <a:r>
              <a:rPr lang="en-US" altLang="ko-KR" sz="12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2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바이오</a:t>
            </a:r>
            <a:r>
              <a:rPr lang="en-US" altLang="ko-KR" sz="12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r>
              <a:rPr lang="ko-KR" altLang="en-US" sz="12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화학 산업 분류체계 분석 시사점</a:t>
            </a:r>
          </a:p>
        </p:txBody>
      </p:sp>
    </p:spTree>
    <p:extLst>
      <p:ext uri="{BB962C8B-B14F-4D97-AF65-F5344CB8AC3E}">
        <p14:creationId xmlns:p14="http://schemas.microsoft.com/office/powerpoint/2010/main" val="79086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05315-1BF7-A4D8-CEE0-422FDC02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ECE91D8-83A2-FA0A-1B47-57FCCDB7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134AE1-DECD-0272-56D8-4660A5C3F182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9BDB2B39-BCD5-E326-6447-E81BC6BA44F1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KTR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과 협약을 맺은 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182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개 기업을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분석한 결과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제조업 중심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(47%)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으로 분포되어 있으며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주요 사업 아이템은 플라스틱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화장품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의료기기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컨설팅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연구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검사 지원 서비스 비중이 높게 나타났습니다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A3C4B-37AB-1CE1-25B9-5A7D5B1966A6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2FD8E72-E655-396A-5E52-7E09559D7587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AB6A0C9B-2610-4E7A-4FCB-8193F5CAAE61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DBE2F5-C6BD-C51A-B8DB-B24B9F99BBB7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2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2</a:t>
              </a:r>
              <a:endParaRPr lang="ko-KR" altLang="en-US" sz="12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320A7D-9370-DD52-54E7-991FD1DA86B2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4.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 현황 분석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8486A8E-9703-DA08-548D-0D3A34BEAC0B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199113" cy="8801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1">
            <a:extLst>
              <a:ext uri="{FF2B5EF4-FFF2-40B4-BE49-F238E27FC236}">
                <a16:creationId xmlns:a16="http://schemas.microsoft.com/office/drawing/2014/main" id="{DD7646E5-3B30-41C3-4C32-7BE74A4E9F0A}"/>
              </a:ext>
            </a:extLst>
          </p:cNvPr>
          <p:cNvSpPr txBox="1">
            <a:spLocks/>
          </p:cNvSpPr>
          <p:nvPr/>
        </p:nvSpPr>
        <p:spPr>
          <a:xfrm>
            <a:off x="344486" y="1538206"/>
            <a:ext cx="9199113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6 SemiBold" pitchFamily="2" charset="-127"/>
                <a:ea typeface="페이퍼로지 6 SemiBold" pitchFamily="2" charset="-127"/>
              </a:rPr>
              <a:t>KTR 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협약기업 기초정보 조사 분석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76F2D1-6692-4290-AADF-6142CB462392}"/>
              </a:ext>
            </a:extLst>
          </p:cNvPr>
          <p:cNvSpPr txBox="1"/>
          <p:nvPr/>
        </p:nvSpPr>
        <p:spPr>
          <a:xfrm>
            <a:off x="5097463" y="1916234"/>
            <a:ext cx="4464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국세청산업분류 기준 </a:t>
            </a:r>
            <a:r>
              <a:rPr lang="en-US" altLang="ko-KR" sz="9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KTR </a:t>
            </a:r>
            <a:r>
              <a:rPr lang="ko-KR" altLang="en-US" sz="9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협약기업 분류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88C264-7F70-8ED2-3B39-3CC0E94CB79E}"/>
              </a:ext>
            </a:extLst>
          </p:cNvPr>
          <p:cNvSpPr txBox="1"/>
          <p:nvPr/>
        </p:nvSpPr>
        <p:spPr>
          <a:xfrm>
            <a:off x="356972" y="1921513"/>
            <a:ext cx="4464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KTR </a:t>
            </a:r>
            <a:r>
              <a:rPr lang="ko-KR" altLang="en-US" sz="9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협약기업 기초정보 조사결과 표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5DC9DD5-F6BB-057E-D066-87EAD9D9F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996678"/>
              </p:ext>
            </p:extLst>
          </p:nvPr>
        </p:nvGraphicFramePr>
        <p:xfrm>
          <a:off x="353539" y="2145088"/>
          <a:ext cx="4454997" cy="3462547"/>
        </p:xfrm>
        <a:graphic>
          <a:graphicData uri="http://schemas.openxmlformats.org/drawingml/2006/table">
            <a:tbl>
              <a:tblPr/>
              <a:tblGrid>
                <a:gridCol w="230661">
                  <a:extLst>
                    <a:ext uri="{9D8B030D-6E8A-4147-A177-3AD203B41FA5}">
                      <a16:colId xmlns:a16="http://schemas.microsoft.com/office/drawing/2014/main" val="302967789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6591449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14097048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882570324"/>
                    </a:ext>
                  </a:extLst>
                </a:gridCol>
                <a:gridCol w="331470">
                  <a:extLst>
                    <a:ext uri="{9D8B030D-6E8A-4147-A177-3AD203B41FA5}">
                      <a16:colId xmlns:a16="http://schemas.microsoft.com/office/drawing/2014/main" val="833358503"/>
                    </a:ext>
                  </a:extLst>
                </a:gridCol>
                <a:gridCol w="549828">
                  <a:extLst>
                    <a:ext uri="{9D8B030D-6E8A-4147-A177-3AD203B41FA5}">
                      <a16:colId xmlns:a16="http://schemas.microsoft.com/office/drawing/2014/main" val="1018199103"/>
                    </a:ext>
                  </a:extLst>
                </a:gridCol>
                <a:gridCol w="440649">
                  <a:extLst>
                    <a:ext uri="{9D8B030D-6E8A-4147-A177-3AD203B41FA5}">
                      <a16:colId xmlns:a16="http://schemas.microsoft.com/office/drawing/2014/main" val="2278394417"/>
                    </a:ext>
                  </a:extLst>
                </a:gridCol>
                <a:gridCol w="440649">
                  <a:extLst>
                    <a:ext uri="{9D8B030D-6E8A-4147-A177-3AD203B41FA5}">
                      <a16:colId xmlns:a16="http://schemas.microsoft.com/office/drawing/2014/main" val="1720373442"/>
                    </a:ext>
                  </a:extLst>
                </a:gridCol>
                <a:gridCol w="562442">
                  <a:extLst>
                    <a:ext uri="{9D8B030D-6E8A-4147-A177-3AD203B41FA5}">
                      <a16:colId xmlns:a16="http://schemas.microsoft.com/office/drawing/2014/main" val="226257446"/>
                    </a:ext>
                  </a:extLst>
                </a:gridCol>
                <a:gridCol w="437212">
                  <a:extLst>
                    <a:ext uri="{9D8B030D-6E8A-4147-A177-3AD203B41FA5}">
                      <a16:colId xmlns:a16="http://schemas.microsoft.com/office/drawing/2014/main" val="1143225421"/>
                    </a:ext>
                  </a:extLst>
                </a:gridCol>
                <a:gridCol w="312736">
                  <a:extLst>
                    <a:ext uri="{9D8B030D-6E8A-4147-A177-3AD203B41FA5}">
                      <a16:colId xmlns:a16="http://schemas.microsoft.com/office/drawing/2014/main" val="2502835312"/>
                    </a:ext>
                  </a:extLst>
                </a:gridCol>
              </a:tblGrid>
              <a:tr h="111696">
                <a:tc rowSpan="2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6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소속명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근로자 수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명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24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 수료</a:t>
                      </a:r>
                      <a:endParaRPr lang="en-US" altLang="ko-KR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명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국세청 산업분류체계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주력 사업 </a:t>
                      </a: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item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바이오화학 관련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기업</a:t>
                      </a:r>
                    </a:p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433416"/>
                  </a:ext>
                </a:extLst>
              </a:tr>
              <a:tr h="2233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세분류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855563"/>
                  </a:ext>
                </a:extLst>
              </a:tr>
              <a:tr h="335086"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</a:t>
                      </a: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lang="ko-KR" altLang="en-US" sz="700" b="0" i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신성에어로겔</a:t>
                      </a:r>
                      <a:endParaRPr lang="ko-KR" altLang="en-US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도매 및 소매업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도매 및 상품 중개업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전문 도매업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재생용 재료 및 기타 상품 전문 도매업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플라스틱 합성피혁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endParaRPr lang="ko-KR" altLang="en-US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</a:t>
                      </a:r>
                      <a:endParaRPr lang="en-US" altLang="ko-KR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108909"/>
                  </a:ext>
                </a:extLst>
              </a:tr>
              <a:tr h="446779"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</a:t>
                      </a: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)KOTITI</a:t>
                      </a: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시험연구원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전문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과학 및 기술 서비스업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건축 기술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엔지니어링 및 기타 과학기술 서비스업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과학기술 서비스업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기술 시험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검사 및 분석업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섬유산업 및 의류 연구개발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시험분석 및 품질검사 서비스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546719"/>
                  </a:ext>
                </a:extLst>
              </a:tr>
              <a:tr h="335086"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한국산업기술시험원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전문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과학 및 기술 서비스업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연구개발업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자연과학 및 공학 연구개발업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공학 연구개발업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품질인증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표준계측 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641499"/>
                  </a:ext>
                </a:extLst>
              </a:tr>
              <a:tr h="335086"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플루케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 물질 및 화학제품 제조업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;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의약품 제외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화학제품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세제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화장품 및 광택제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화장품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비건매니큐어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비건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</a:t>
                      </a:r>
                      <a:endParaRPr lang="en-US" altLang="ko-KR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82763"/>
                  </a:ext>
                </a:extLst>
              </a:tr>
              <a:tr h="446779"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에이엠트리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 물질 및 화학제품 제조업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;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의약품 제외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기초 화학물질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기초 유기화학 물질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디스플레이 및 전자재료용 유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무기 소재 연구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소재로 사업 영역 확장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</a:t>
                      </a:r>
                      <a:endParaRPr lang="en-US" altLang="ko-KR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327728"/>
                  </a:ext>
                </a:extLst>
              </a:tr>
              <a:tr h="446779"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코오롱인더스트리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ko-KR" altLang="en-US" sz="700" b="0" i="0" kern="12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4088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 물질 및 화학제품 제조업</a:t>
                      </a: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; </a:t>
                      </a: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의약품 제외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화학섬유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화학섬유 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합성섬유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재생섬유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합성수지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필름 제조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06723"/>
                  </a:ext>
                </a:extLst>
              </a:tr>
              <a:tr h="670170"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기본에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endParaRPr lang="en-US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도매 및 소매업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도매 및 상품 중개업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생활용품 도매업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생활용 포장</a:t>
                      </a: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b="0" i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위생요품</a:t>
                      </a: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문구용품 및 출판 인쇄물 도매업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소독티슈</a:t>
                      </a:r>
                      <a:r>
                        <a:rPr lang="en-US" altLang="ko-KR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청소용품 등</a:t>
                      </a:r>
                      <a:endParaRPr lang="ko-KR" altLang="en-US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</a:t>
                      </a:r>
                      <a:endParaRPr lang="en-US" altLang="ko-KR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728505"/>
                  </a:ext>
                </a:extLst>
              </a:tr>
              <a:tr h="111696">
                <a:tc gridSpan="1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6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51720" marR="51720" marT="10128" marB="101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en-US" sz="600" b="0" i="0" kern="12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51720" marR="51720" marT="10128" marB="101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en-US" sz="600" b="0" i="0" kern="12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51720" marR="51720" marT="10128" marB="101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6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51720" marR="51720" marT="10128" marB="101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600" b="0" i="0" kern="12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51720" marR="51720" marT="10128" marB="101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600" b="0" i="0" kern="12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51720" marR="51720" marT="10128" marB="101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6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51720" marR="51720" marT="10128" marB="101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6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51720" marR="51720" marT="10128" marB="101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6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51720" marR="51720" marT="10128" marB="101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6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51720" marR="51720" marT="10128" marB="101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7099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601F550F-C7EC-F3D6-95E7-7F9CEC4F93C0}"/>
              </a:ext>
            </a:extLst>
          </p:cNvPr>
          <p:cNvSpPr/>
          <p:nvPr/>
        </p:nvSpPr>
        <p:spPr>
          <a:xfrm>
            <a:off x="342684" y="5730148"/>
            <a:ext cx="4454996" cy="709530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180975" indent="-93663" defTabSz="914400">
              <a:buFont typeface="Arial" panose="020B0604020202020204" pitchFamily="34" charset="0"/>
              <a:buChar char="•"/>
            </a:pPr>
            <a:r>
              <a:rPr lang="ko-KR" altLang="en-US" sz="1000" spc="-50" dirty="0" err="1"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 구성을 위한 분류체계를 도출하고자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, KTR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과 협약을 맺은 </a:t>
            </a:r>
            <a:r>
              <a:rPr lang="en-US" altLang="ko-KR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182</a:t>
            </a:r>
            <a:r>
              <a:rPr lang="ko-KR" altLang="en-US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 기업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의 규모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업종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산업별 세부 업종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소재지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주요 생산품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서비스 등 핵심 특성을 종합적으로 분석함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  <a:p>
            <a:pPr marL="180975" indent="-93663" defTabSz="914400">
              <a:buFont typeface="Arial" panose="020B0604020202020204" pitchFamily="34" charset="0"/>
              <a:buChar char="•"/>
            </a:pP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기존 기업 정보의 분류 방식의 일관성이 필요하여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 사업자등록번호 기반의 국세청 산업분류 체계를 적용하여 업종을 재구성함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6F5CC954-BCA9-E260-6CC7-00304D44B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119490"/>
              </p:ext>
            </p:extLst>
          </p:nvPr>
        </p:nvGraphicFramePr>
        <p:xfrm>
          <a:off x="5097463" y="2145086"/>
          <a:ext cx="4454997" cy="2344368"/>
        </p:xfrm>
        <a:graphic>
          <a:graphicData uri="http://schemas.openxmlformats.org/drawingml/2006/table">
            <a:tbl>
              <a:tblPr/>
              <a:tblGrid>
                <a:gridCol w="381435">
                  <a:extLst>
                    <a:ext uri="{9D8B030D-6E8A-4147-A177-3AD203B41FA5}">
                      <a16:colId xmlns:a16="http://schemas.microsoft.com/office/drawing/2014/main" val="2895598313"/>
                    </a:ext>
                  </a:extLst>
                </a:gridCol>
                <a:gridCol w="1083578">
                  <a:extLst>
                    <a:ext uri="{9D8B030D-6E8A-4147-A177-3AD203B41FA5}">
                      <a16:colId xmlns:a16="http://schemas.microsoft.com/office/drawing/2014/main" val="2636101377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2134554686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4200168509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104068868"/>
                    </a:ext>
                  </a:extLst>
                </a:gridCol>
                <a:gridCol w="584391">
                  <a:extLst>
                    <a:ext uri="{9D8B030D-6E8A-4147-A177-3AD203B41FA5}">
                      <a16:colId xmlns:a16="http://schemas.microsoft.com/office/drawing/2014/main" val="2988925826"/>
                    </a:ext>
                  </a:extLst>
                </a:gridCol>
                <a:gridCol w="652420">
                  <a:extLst>
                    <a:ext uri="{9D8B030D-6E8A-4147-A177-3AD203B41FA5}">
                      <a16:colId xmlns:a16="http://schemas.microsoft.com/office/drawing/2014/main" val="3930743510"/>
                    </a:ext>
                  </a:extLst>
                </a:gridCol>
              </a:tblGrid>
              <a:tr h="97682">
                <a:tc rowSpan="2" grid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기업 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교육수료인원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평균 근로자 수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명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815534"/>
                  </a:ext>
                </a:extLst>
              </a:tr>
              <a:tr h="9768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기업 수 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비중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(%)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인원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명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비중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(%)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538754"/>
                  </a:ext>
                </a:extLst>
              </a:tr>
              <a:tr h="97682">
                <a:tc gridSpan="2"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47.1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667645"/>
                  </a:ext>
                </a:extLst>
              </a:tr>
              <a:tr h="97682">
                <a:tc row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ko-KR" altLang="en-US" sz="700" b="0" i="0" u="none" strike="noStrike" kern="12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rgbClr val="FF66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rgbClr val="FF66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rgbClr val="FF66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rgbClr val="FF66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rgbClr val="FF66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36.6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rgbClr val="FF66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406478"/>
                  </a:ext>
                </a:extLst>
              </a:tr>
              <a:tr h="976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7536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285081"/>
                  </a:ext>
                </a:extLst>
              </a:tr>
              <a:tr h="97682">
                <a:tc gridSpan="2"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전문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과학 및 기술 서비스업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18.1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24.6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039164"/>
                  </a:ext>
                </a:extLst>
              </a:tr>
              <a:tr h="97682">
                <a:tc row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565454"/>
                  </a:ext>
                </a:extLst>
              </a:tr>
              <a:tr h="976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435173"/>
                  </a:ext>
                </a:extLst>
              </a:tr>
              <a:tr h="97682">
                <a:tc gridSpan="2"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도매 및 소매업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26.9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23.8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659690"/>
                  </a:ext>
                </a:extLst>
              </a:tr>
              <a:tr h="97682">
                <a:tc row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24.2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19.3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215417"/>
                  </a:ext>
                </a:extLst>
              </a:tr>
              <a:tr h="976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1978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565013"/>
                  </a:ext>
                </a:extLst>
              </a:tr>
              <a:tr h="97682">
                <a:tc gridSpan="2"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협회 및 단체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수리 및 기타 개인 서비스업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691341"/>
                  </a:ext>
                </a:extLst>
              </a:tr>
              <a:tr h="97682">
                <a:tc row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7025"/>
                  </a:ext>
                </a:extLst>
              </a:tr>
              <a:tr h="976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4179"/>
                  </a:ext>
                </a:extLst>
              </a:tr>
              <a:tr h="97682">
                <a:tc gridSpan="2"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정보통신업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819198"/>
                  </a:ext>
                </a:extLst>
              </a:tr>
              <a:tr h="97682">
                <a:tc row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753489"/>
                  </a:ext>
                </a:extLst>
              </a:tr>
              <a:tr h="976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974595"/>
                  </a:ext>
                </a:extLst>
              </a:tr>
              <a:tr h="97682">
                <a:tc gridSpan="2"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건설업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938671"/>
                  </a:ext>
                </a:extLst>
              </a:tr>
              <a:tr h="97682">
                <a:tc row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416220"/>
                  </a:ext>
                </a:extLst>
              </a:tr>
              <a:tr h="976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888057"/>
                  </a:ext>
                </a:extLst>
              </a:tr>
              <a:tr h="97682">
                <a:tc gridSpan="2"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농업</a:t>
                      </a:r>
                      <a:r>
                        <a:rPr lang="en-US" altLang="ko-KR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임업 및 어업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856011"/>
                  </a:ext>
                </a:extLst>
              </a:tr>
              <a:tr h="97682">
                <a:tc row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중소기업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805935"/>
                  </a:ext>
                </a:extLst>
              </a:tr>
              <a:tr h="976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264104"/>
                  </a:ext>
                </a:extLst>
              </a:tr>
              <a:tr h="97682">
                <a:tc grid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555310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1FBCF094-09FB-DA38-8D55-AE1B330A5FB1}"/>
              </a:ext>
            </a:extLst>
          </p:cNvPr>
          <p:cNvSpPr/>
          <p:nvPr/>
        </p:nvSpPr>
        <p:spPr>
          <a:xfrm>
            <a:off x="5097463" y="5475900"/>
            <a:ext cx="4464050" cy="960177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180975" indent="-93663" defTabSz="914400">
              <a:buFont typeface="Arial" panose="020B0604020202020204" pitchFamily="34" charset="0"/>
              <a:buChar char="•"/>
            </a:pP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산업분류 및 규모 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×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기업 수 및 </a:t>
            </a:r>
            <a:r>
              <a:rPr lang="ko-KR" altLang="en-US" sz="1000" spc="-50" dirty="0" err="1">
                <a:latin typeface="페이퍼로지 4 Regular" pitchFamily="2" charset="-127"/>
                <a:ea typeface="페이퍼로지 4 Regular" pitchFamily="2" charset="-127"/>
              </a:rPr>
              <a:t>교육수료인원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) KTR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협약기업은 </a:t>
            </a:r>
            <a:r>
              <a:rPr lang="ko-KR" altLang="en-US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대분류 기준 제조업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에 해당하는 기업이</a:t>
            </a:r>
            <a:r>
              <a:rPr lang="ko-KR" altLang="en-US" sz="1000" spc="-50" dirty="0">
                <a:solidFill>
                  <a:srgbClr val="474747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91</a:t>
            </a:r>
            <a:r>
              <a:rPr lang="ko-KR" altLang="en-US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개로 전체 </a:t>
            </a:r>
            <a:r>
              <a:rPr lang="en-US" altLang="ko-KR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185</a:t>
            </a:r>
            <a:r>
              <a:rPr lang="ko-KR" altLang="en-US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 중 </a:t>
            </a:r>
            <a:r>
              <a:rPr lang="en-US" altLang="ko-KR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50%</a:t>
            </a:r>
            <a:r>
              <a:rPr lang="ko-KR" altLang="en-US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를 차지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하며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이들의 </a:t>
            </a:r>
            <a:r>
              <a:rPr lang="en-US" altLang="ko-KR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24</a:t>
            </a:r>
            <a:r>
              <a:rPr lang="ko-KR" altLang="en-US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년 교육수료 인원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은 전체의 </a:t>
            </a:r>
            <a:r>
              <a:rPr lang="en-US" altLang="ko-KR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47%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로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공동훈련센터의 주요 훈련대상이 제조업 관련 기업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임을 확인할 수 있었음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180975" indent="-93663" defTabSz="914400">
              <a:buFont typeface="Arial" panose="020B0604020202020204" pitchFamily="34" charset="0"/>
              <a:buChar char="•"/>
            </a:pP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주요 사업아이템 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×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기업 수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) KTR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협약기업의 주요 사업 아이템은 크게 </a:t>
            </a:r>
            <a:r>
              <a:rPr lang="en-US" altLang="ko-KR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10</a:t>
            </a:r>
            <a:r>
              <a:rPr lang="ko-KR" altLang="en-US" sz="10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 분야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로 구분됨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화장품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컨설팅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연구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검사 지원 서비스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각 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18.6%),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플라스틱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(13.7%),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정밀화학제품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(10.9%),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의료기기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(8.2%)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순으로 높게 나타남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738C94A-E259-1DD3-4960-93681C938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650870"/>
              </p:ext>
            </p:extLst>
          </p:nvPr>
        </p:nvGraphicFramePr>
        <p:xfrm>
          <a:off x="5097463" y="4710936"/>
          <a:ext cx="4483120" cy="704242"/>
        </p:xfrm>
        <a:graphic>
          <a:graphicData uri="http://schemas.openxmlformats.org/drawingml/2006/table">
            <a:tbl>
              <a:tblPr/>
              <a:tblGrid>
                <a:gridCol w="936000">
                  <a:extLst>
                    <a:ext uri="{9D8B030D-6E8A-4147-A177-3AD203B41FA5}">
                      <a16:colId xmlns:a16="http://schemas.microsoft.com/office/drawing/2014/main" val="568871723"/>
                    </a:ext>
                  </a:extLst>
                </a:gridCol>
                <a:gridCol w="643414">
                  <a:extLst>
                    <a:ext uri="{9D8B030D-6E8A-4147-A177-3AD203B41FA5}">
                      <a16:colId xmlns:a16="http://schemas.microsoft.com/office/drawing/2014/main" val="513831206"/>
                    </a:ext>
                  </a:extLst>
                </a:gridCol>
                <a:gridCol w="643414">
                  <a:extLst>
                    <a:ext uri="{9D8B030D-6E8A-4147-A177-3AD203B41FA5}">
                      <a16:colId xmlns:a16="http://schemas.microsoft.com/office/drawing/2014/main" val="401586460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717089718"/>
                    </a:ext>
                  </a:extLst>
                </a:gridCol>
                <a:gridCol w="662146">
                  <a:extLst>
                    <a:ext uri="{9D8B030D-6E8A-4147-A177-3AD203B41FA5}">
                      <a16:colId xmlns:a16="http://schemas.microsoft.com/office/drawing/2014/main" val="2156635602"/>
                    </a:ext>
                  </a:extLst>
                </a:gridCol>
                <a:gridCol w="662146">
                  <a:extLst>
                    <a:ext uri="{9D8B030D-6E8A-4147-A177-3AD203B41FA5}">
                      <a16:colId xmlns:a16="http://schemas.microsoft.com/office/drawing/2014/main" val="3885847997"/>
                    </a:ext>
                  </a:extLst>
                </a:gridCol>
              </a:tblGrid>
              <a:tr h="100606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기업 수 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비율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(%)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기업 수 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비율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(%)</a:t>
                      </a:r>
                      <a:endParaRPr lang="ko-KR" altLang="en-US" sz="7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27173"/>
                  </a:ext>
                </a:extLst>
              </a:tr>
              <a:tr h="100606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고무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정밀화학제품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11.0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123179"/>
                  </a:ext>
                </a:extLst>
              </a:tr>
              <a:tr h="100606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기초화학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컨설팅</a:t>
                      </a:r>
                      <a:r>
                        <a:rPr lang="en-US" altLang="ko-KR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검사</a:t>
                      </a:r>
                      <a:r>
                        <a:rPr lang="en-US" altLang="ko-KR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18.1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186988"/>
                  </a:ext>
                </a:extLst>
              </a:tr>
              <a:tr h="100606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섬유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플라스틱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13.7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728536"/>
                  </a:ext>
                </a:extLst>
              </a:tr>
              <a:tr h="100606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8.3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화장품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kern="1200" spc="-50" baseline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18.7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059331"/>
                  </a:ext>
                </a:extLst>
              </a:tr>
              <a:tr h="100606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연료</a:t>
                      </a:r>
                      <a:r>
                        <a:rPr lang="en-US" altLang="ko-KR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에너지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기타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22.0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749491"/>
                  </a:ext>
                </a:extLst>
              </a:tr>
              <a:tr h="100606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의약품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Total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en-US" sz="7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94991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739D9E9-6EED-0053-DA8C-8974B3B6BA7F}"/>
              </a:ext>
            </a:extLst>
          </p:cNvPr>
          <p:cNvSpPr txBox="1"/>
          <p:nvPr/>
        </p:nvSpPr>
        <p:spPr>
          <a:xfrm>
            <a:off x="5097463" y="4481628"/>
            <a:ext cx="44549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KTR </a:t>
            </a:r>
            <a:r>
              <a:rPr lang="ko-KR" altLang="en-US" sz="9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협약기업 주요 사업아이템 기준 분류 결과 </a:t>
            </a:r>
          </a:p>
        </p:txBody>
      </p:sp>
    </p:spTree>
    <p:extLst>
      <p:ext uri="{BB962C8B-B14F-4D97-AF65-F5344CB8AC3E}">
        <p14:creationId xmlns:p14="http://schemas.microsoft.com/office/powerpoint/2010/main" val="2723766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165AD-F8CD-9962-6311-D60EF6AB0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2BDA5F8-9B6E-DA15-7975-F644DB42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6DB5EC-6212-3CAF-F945-31C8AAA22558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D6DCC760-5B5B-CBAB-7D08-F568AEC05B14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협약기업의 산업전환 수준을 파악하기 위해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협약기업 특성에 부합하도록 기존 설문지를 개선하고 설문조사를 실시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하였습니다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F954E-901D-C2F1-78C2-57014DF8F8D2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C207FE0-DD18-5C83-D4C5-A5694DE09F1B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D48CAD6E-0357-AF32-0ECB-62188BCE8193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D8D2A1-C2D6-0647-728D-CE5D5A5E4D15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2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2</a:t>
              </a:r>
              <a:endParaRPr lang="ko-KR" altLang="en-US" sz="12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8E4CD7-E58D-0E56-F10A-073B0349EB4E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4.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 현황 분석</a:t>
            </a:r>
          </a:p>
        </p:txBody>
      </p:sp>
      <p:sp>
        <p:nvSpPr>
          <p:cNvPr id="15" name="사각형: 둥근 모서리 1">
            <a:extLst>
              <a:ext uri="{FF2B5EF4-FFF2-40B4-BE49-F238E27FC236}">
                <a16:creationId xmlns:a16="http://schemas.microsoft.com/office/drawing/2014/main" id="{FE0596BF-AA4A-AB18-3645-7DFADEFF7F3A}"/>
              </a:ext>
            </a:extLst>
          </p:cNvPr>
          <p:cNvSpPr/>
          <p:nvPr/>
        </p:nvSpPr>
        <p:spPr>
          <a:xfrm>
            <a:off x="344488" y="1955643"/>
            <a:ext cx="4464050" cy="442078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3445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 latinLnBrk="0">
              <a:lnSpc>
                <a:spcPct val="120000"/>
              </a:lnSpc>
              <a:defRPr/>
            </a:pPr>
            <a:r>
              <a:rPr lang="en-US" altLang="ko-KR" sz="1400" spc="-50" dirty="0">
                <a:solidFill>
                  <a:schemeClr val="bg1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altLang="en-US" sz="140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회의 목적</a:t>
            </a:r>
            <a:endParaRPr lang="en-US" altLang="ko-KR" sz="140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82550" latinLnBrk="0">
              <a:lnSpc>
                <a:spcPct val="120000"/>
              </a:lnSpc>
              <a:spcAft>
                <a:spcPts val="300"/>
              </a:spcAft>
              <a:buFontTx/>
              <a:buChar char="-"/>
              <a:defRPr/>
            </a:pP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수준 진단 설문 개선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안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의 적절성 및 문항 구성의 완성도를 높이기 위해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KTR 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협약기업의 현장전문가를 대상으로 검증회의를 실시함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266700" indent="-85725" defTabSz="457200" latinLnBrk="0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500" spc="-50" dirty="0"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lvl="0" defTabSz="457200" latinLnBrk="0">
              <a:lnSpc>
                <a:spcPct val="120000"/>
              </a:lnSpc>
              <a:defRPr/>
            </a:pPr>
            <a:r>
              <a:rPr lang="en-US" altLang="ko-KR" sz="1400" spc="-50" dirty="0">
                <a:solidFill>
                  <a:prstClr val="white">
                    <a:lumMod val="50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02 </a:t>
            </a:r>
            <a:r>
              <a:rPr lang="ko-KR" altLang="en-US" sz="140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회의 개요</a:t>
            </a:r>
            <a:endParaRPr lang="en-US" altLang="ko-KR" sz="140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82550" latinLnBrk="0">
              <a:lnSpc>
                <a:spcPct val="120000"/>
              </a:lnSpc>
              <a:spcAft>
                <a:spcPts val="300"/>
              </a:spcAft>
              <a:buFontTx/>
              <a:buChar char="-"/>
              <a:defRPr/>
            </a:pP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일시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: 2025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월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13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일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화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), 10:00~11:00</a:t>
            </a:r>
          </a:p>
          <a:p>
            <a:pPr marL="171450" indent="-82550" latinLnBrk="0">
              <a:lnSpc>
                <a:spcPct val="120000"/>
              </a:lnSpc>
              <a:spcAft>
                <a:spcPts val="300"/>
              </a:spcAft>
              <a:buFontTx/>
              <a:buChar char="-"/>
              <a:defRPr/>
            </a:pP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장소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05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서울비즈허브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센터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205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호</a:t>
            </a:r>
            <a:endParaRPr lang="en-US" altLang="ko-KR" sz="105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266700" indent="-85725">
              <a:lnSpc>
                <a:spcPct val="120000"/>
              </a:lnSpc>
              <a:defRPr/>
            </a:pPr>
            <a:endParaRPr lang="en-US" altLang="ko-KR" sz="1100" spc="-50" dirty="0"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7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05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1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1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1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4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4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0FCC19A-97D2-E389-5703-5B03D34D82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29" b="-848"/>
          <a:stretch>
            <a:fillRect/>
          </a:stretch>
        </p:blipFill>
        <p:spPr>
          <a:xfrm>
            <a:off x="2834641" y="3718505"/>
            <a:ext cx="1891522" cy="858966"/>
          </a:xfrm>
          <a:prstGeom prst="rect">
            <a:avLst/>
          </a:prstGeom>
          <a:ln>
            <a:noFill/>
          </a:ln>
        </p:spPr>
      </p:pic>
      <p:sp>
        <p:nvSpPr>
          <p:cNvPr id="25" name="사각형: 잘린 한쪽 모서리 24">
            <a:extLst>
              <a:ext uri="{FF2B5EF4-FFF2-40B4-BE49-F238E27FC236}">
                <a16:creationId xmlns:a16="http://schemas.microsoft.com/office/drawing/2014/main" id="{45524527-11E2-843A-135D-6C67BB4271A7}"/>
              </a:ext>
            </a:extLst>
          </p:cNvPr>
          <p:cNvSpPr/>
          <p:nvPr/>
        </p:nvSpPr>
        <p:spPr>
          <a:xfrm>
            <a:off x="354012" y="1493371"/>
            <a:ext cx="3303588" cy="314074"/>
          </a:xfrm>
          <a:prstGeom prst="snip1Rect">
            <a:avLst>
              <a:gd name="adj" fmla="val 25536"/>
            </a:avLst>
          </a:prstGeom>
        </p:spPr>
        <p:txBody>
          <a:bodyPr vert="horz" lIns="91440" tIns="45720" rIns="91440" bIns="45720" rtlCol="0" anchor="t"/>
          <a:lstStyle/>
          <a:p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산업전환 수준 진단지 개선</a:t>
            </a:r>
            <a:r>
              <a:rPr lang="en-US" altLang="ko-KR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안</a:t>
            </a:r>
            <a:r>
              <a:rPr lang="en-US" altLang="ko-KR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) </a:t>
            </a:r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검증회의</a:t>
            </a:r>
          </a:p>
        </p:txBody>
      </p:sp>
      <p:sp>
        <p:nvSpPr>
          <p:cNvPr id="33" name="사각형: 둥근 모서리 1">
            <a:extLst>
              <a:ext uri="{FF2B5EF4-FFF2-40B4-BE49-F238E27FC236}">
                <a16:creationId xmlns:a16="http://schemas.microsoft.com/office/drawing/2014/main" id="{5FD12DB6-ACEB-0AC1-3641-2CCE64A16C08}"/>
              </a:ext>
            </a:extLst>
          </p:cNvPr>
          <p:cNvSpPr/>
          <p:nvPr/>
        </p:nvSpPr>
        <p:spPr>
          <a:xfrm>
            <a:off x="5097463" y="1955643"/>
            <a:ext cx="4464051" cy="442078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3445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5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01 </a:t>
            </a:r>
            <a:r>
              <a:rPr lang="ko-KR" altLang="en-US" sz="140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설문 개요</a:t>
            </a:r>
            <a:endParaRPr kumimoji="0" lang="en-US" altLang="ko-KR" sz="1400" b="0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  <a:p>
            <a:pPr marL="171450" indent="-82550" latinLnBrk="0">
              <a:lnSpc>
                <a:spcPct val="120000"/>
              </a:lnSpc>
              <a:buFontTx/>
              <a:buChar char="-"/>
            </a:pP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일시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: 2025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 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월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23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일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~ 6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월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13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일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(23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일 간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171450" indent="-82550" latinLnBrk="0">
              <a:lnSpc>
                <a:spcPct val="120000"/>
              </a:lnSpc>
              <a:buFontTx/>
              <a:buChar char="-"/>
            </a:pP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응답률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: 182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개 기업 중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70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개 기업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(38.5%)</a:t>
            </a:r>
          </a:p>
          <a:p>
            <a:pPr marL="171450" indent="-82550" latinLnBrk="0">
              <a:lnSpc>
                <a:spcPct val="120000"/>
              </a:lnSpc>
              <a:buFontTx/>
              <a:buChar char="-"/>
            </a:pPr>
            <a:endParaRPr lang="en-US" altLang="ko-KR" sz="1050" spc="-50" dirty="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5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02 </a:t>
            </a:r>
            <a:r>
              <a:rPr lang="ko-KR" altLang="en-US" sz="140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주요 </a:t>
            </a:r>
            <a:r>
              <a:rPr kumimoji="0" lang="ko-KR" altLang="en-US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결과</a:t>
            </a:r>
            <a:endParaRPr kumimoji="0" lang="en-US" altLang="ko-KR" sz="1400" b="0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  <a:p>
            <a:pPr marL="171450" marR="0" lvl="0" indent="-82550" fontAlgn="auto" latinLnBrk="0">
              <a:lnSpc>
                <a:spcPct val="120000"/>
              </a:lnSpc>
              <a:buClrTx/>
              <a:buSzTx/>
              <a:buFontTx/>
              <a:buChar char="-"/>
              <a:tabLst/>
              <a:defRPr/>
            </a:pP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소재지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수도권 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54.3%, 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중부권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30.0%, 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남부권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15.7%</a:t>
            </a:r>
          </a:p>
          <a:p>
            <a:pPr marL="171450" marR="0" lvl="0" indent="-82550" fontAlgn="auto" latinLnBrk="0">
              <a:lnSpc>
                <a:spcPct val="120000"/>
              </a:lnSpc>
              <a:buClrTx/>
              <a:buSzTx/>
              <a:buFontTx/>
              <a:buChar char="-"/>
              <a:tabLst/>
              <a:defRPr/>
            </a:pP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주요 생산품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화장품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플라스틱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의료기기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생활용품 등</a:t>
            </a:r>
            <a:endParaRPr lang="en-US" altLang="ko-KR" sz="105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lvl="0" indent="-82550" latinLnBrk="0">
              <a:lnSpc>
                <a:spcPct val="120000"/>
              </a:lnSpc>
              <a:buFontTx/>
              <a:buChar char="-"/>
              <a:defRPr/>
            </a:pP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진행단계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선제대응단계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10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개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(14.3%), 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전환단계 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57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(81.4%), 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정착단계 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개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(4.3%)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endParaRPr lang="en-US" altLang="ko-KR" sz="105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marR="0" lvl="0" indent="-82550" fontAlgn="auto" latinLnBrk="0">
              <a:lnSpc>
                <a:spcPct val="120000"/>
              </a:lnSpc>
              <a:buClrTx/>
              <a:buSzTx/>
              <a:buFontTx/>
              <a:buChar char="-"/>
              <a:tabLst/>
              <a:defRPr/>
            </a:pP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산업환경 변화의 영향력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산업환경 변화가 ‘기업 경영에 영향을 주고 있다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(97.1%)’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고 인식</a:t>
            </a:r>
            <a:endParaRPr lang="en-US" altLang="ko-KR" sz="105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marR="0" lvl="0" indent="-82550" fontAlgn="auto" latinLnBrk="0">
              <a:lnSpc>
                <a:spcPct val="120000"/>
              </a:lnSpc>
              <a:buClrTx/>
              <a:buSzTx/>
              <a:buFontTx/>
              <a:buChar char="-"/>
              <a:tabLst/>
              <a:defRPr/>
            </a:pP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(3~5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 내 경영 추진 전략 방향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</a:p>
          <a:p>
            <a:pPr marL="358775" marR="0" lvl="0" indent="-92075" algn="l" defTabSz="457200" rtl="0" eaLnBrk="1" fontAlgn="auto" latinLnBrk="0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‘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신시장 진출 및 사업 다각화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(41.4%)’</a:t>
            </a:r>
          </a:p>
          <a:p>
            <a:pPr marL="358775" marR="0" lvl="0" indent="-92075" algn="l" defTabSz="457200" rtl="0" eaLnBrk="1" fontAlgn="auto" latinLnBrk="0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‘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친환경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탄소중립 대응 강화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(38.6%)’, </a:t>
            </a:r>
          </a:p>
          <a:p>
            <a:pPr marL="358775" marR="0" lvl="0" indent="-92075" algn="l" defTabSz="457200" rtl="0" eaLnBrk="1" fontAlgn="auto" latinLnBrk="0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‘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내부 역량 강화 및 인력 재구성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(15.7%)’ 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순으로 높은 결과를 보임</a:t>
            </a:r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latinLnBrk="0">
              <a:lnSpc>
                <a:spcPct val="120000"/>
              </a:lnSpc>
            </a:pPr>
            <a:endParaRPr lang="en-US" altLang="ko-KR" sz="120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사각형: 잘린 한쪽 모서리 33">
            <a:extLst>
              <a:ext uri="{FF2B5EF4-FFF2-40B4-BE49-F238E27FC236}">
                <a16:creationId xmlns:a16="http://schemas.microsoft.com/office/drawing/2014/main" id="{DB0B1E07-734B-C658-7491-A47FFF1312D8}"/>
              </a:ext>
            </a:extLst>
          </p:cNvPr>
          <p:cNvSpPr/>
          <p:nvPr/>
        </p:nvSpPr>
        <p:spPr>
          <a:xfrm>
            <a:off x="5060950" y="1493371"/>
            <a:ext cx="3303588" cy="314074"/>
          </a:xfrm>
          <a:prstGeom prst="snip1Rect">
            <a:avLst>
              <a:gd name="adj" fmla="val 25536"/>
            </a:avLst>
          </a:prstGeom>
        </p:spPr>
        <p:txBody>
          <a:bodyPr vert="horz" lIns="91440" tIns="45720" rIns="91440" bIns="45720" rtlCol="0" anchor="t"/>
          <a:lstStyle/>
          <a:p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산업전환 수준 진단 설문조사 결과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4CB451CB-4B4A-602F-EEF9-A257E8542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227443"/>
              </p:ext>
            </p:extLst>
          </p:nvPr>
        </p:nvGraphicFramePr>
        <p:xfrm>
          <a:off x="548184" y="3718505"/>
          <a:ext cx="2204188" cy="858965"/>
        </p:xfrm>
        <a:graphic>
          <a:graphicData uri="http://schemas.openxmlformats.org/drawingml/2006/table">
            <a:tbl>
              <a:tblPr/>
              <a:tblGrid>
                <a:gridCol w="822094">
                  <a:extLst>
                    <a:ext uri="{9D8B030D-6E8A-4147-A177-3AD203B41FA5}">
                      <a16:colId xmlns:a16="http://schemas.microsoft.com/office/drawing/2014/main" val="3329669138"/>
                    </a:ext>
                  </a:extLst>
                </a:gridCol>
                <a:gridCol w="691047">
                  <a:extLst>
                    <a:ext uri="{9D8B030D-6E8A-4147-A177-3AD203B41FA5}">
                      <a16:colId xmlns:a16="http://schemas.microsoft.com/office/drawing/2014/main" val="1902078048"/>
                    </a:ext>
                  </a:extLst>
                </a:gridCol>
                <a:gridCol w="691047">
                  <a:extLst>
                    <a:ext uri="{9D8B030D-6E8A-4147-A177-3AD203B41FA5}">
                      <a16:colId xmlns:a16="http://schemas.microsoft.com/office/drawing/2014/main" val="3220593357"/>
                    </a:ext>
                  </a:extLst>
                </a:gridCol>
              </a:tblGrid>
              <a:tr h="171793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3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소속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3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성명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3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직위 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640406"/>
                  </a:ext>
                </a:extLst>
              </a:tr>
              <a:tr h="171793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월포스</a:t>
                      </a:r>
                      <a:endParaRPr lang="ko-KR" altLang="en-US" sz="8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OOO</a:t>
                      </a:r>
                      <a:endParaRPr lang="ko-KR" altLang="en-US" sz="8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이사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714680"/>
                  </a:ext>
                </a:extLst>
              </a:tr>
              <a:tr h="171793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에버켐텍</a:t>
                      </a:r>
                      <a:endParaRPr lang="ko-KR" altLang="en-US" sz="8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우</a:t>
                      </a:r>
                      <a:r>
                        <a:rPr lang="en-US" altLang="ko-KR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</a:t>
                      </a:r>
                      <a:endParaRPr lang="ko-KR" altLang="en-US" sz="8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매니저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126188"/>
                  </a:ext>
                </a:extLst>
              </a:tr>
              <a:tr h="1717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코리아나화장품</a:t>
                      </a:r>
                      <a:endParaRPr lang="ko-KR" altLang="en-US" sz="8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박</a:t>
                      </a:r>
                      <a:r>
                        <a:rPr lang="en-US" altLang="ko-KR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</a:t>
                      </a:r>
                      <a:endParaRPr lang="ko-KR" altLang="en-US" sz="8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책임연구원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35089"/>
                  </a:ext>
                </a:extLst>
              </a:tr>
              <a:tr h="171793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태남생활건강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</a:t>
                      </a:r>
                      <a:r>
                        <a:rPr lang="en-US" altLang="ko-KR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</a:t>
                      </a:r>
                      <a:endParaRPr lang="ko-KR" altLang="en-US" sz="8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팀장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77820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304D68E6-92F8-B58F-524F-9029F04C70B5}"/>
              </a:ext>
            </a:extLst>
          </p:cNvPr>
          <p:cNvSpPr txBox="1"/>
          <p:nvPr/>
        </p:nvSpPr>
        <p:spPr>
          <a:xfrm>
            <a:off x="548184" y="3520339"/>
            <a:ext cx="2342617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marR="0" lvl="0" defTabSz="457200" rtl="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&lt;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표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자문위원 명단</a:t>
            </a:r>
            <a:endParaRPr lang="en-US" altLang="ko-KR" sz="800" spc="-50" dirty="0"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90B25DA-F1FE-3E25-1F6C-C8E2EA47B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300648"/>
              </p:ext>
            </p:extLst>
          </p:nvPr>
        </p:nvGraphicFramePr>
        <p:xfrm>
          <a:off x="5172785" y="5059627"/>
          <a:ext cx="4313406" cy="1255776"/>
        </p:xfrm>
        <a:graphic>
          <a:graphicData uri="http://schemas.openxmlformats.org/drawingml/2006/table">
            <a:tbl>
              <a:tblPr/>
              <a:tblGrid>
                <a:gridCol w="854927">
                  <a:extLst>
                    <a:ext uri="{9D8B030D-6E8A-4147-A177-3AD203B41FA5}">
                      <a16:colId xmlns:a16="http://schemas.microsoft.com/office/drawing/2014/main" val="1199572366"/>
                    </a:ext>
                  </a:extLst>
                </a:gridCol>
                <a:gridCol w="3458479">
                  <a:extLst>
                    <a:ext uri="{9D8B030D-6E8A-4147-A177-3AD203B41FA5}">
                      <a16:colId xmlns:a16="http://schemas.microsoft.com/office/drawing/2014/main" val="4183005378"/>
                    </a:ext>
                  </a:extLst>
                </a:gridCol>
              </a:tblGrid>
              <a:tr h="147094">
                <a:tc gridSpan="2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조사 결과 및 애로사항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03030"/>
                  </a:ext>
                </a:extLst>
              </a:tr>
              <a:tr h="2424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산업환경변화에 대한 대응 부족</a:t>
                      </a:r>
                      <a:endParaRPr lang="en-US" sz="9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산업환경 변화에 대한 대응을 위한 전담 인력이 준비되지 않은 기업이 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58.6%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로 높은 비율을 보임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→ 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체계적인 대응체계와 전담 인력 배치가 필요함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. </a:t>
                      </a:r>
                      <a:endParaRPr lang="ko-KR" altLang="en-US" sz="9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009681"/>
                  </a:ext>
                </a:extLst>
              </a:tr>
              <a:tr h="349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디지털 전환 및 자동화 추진 단계</a:t>
                      </a:r>
                      <a:endParaRPr lang="en-US" sz="9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업계 대비 디지털 전환 수준이 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‘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업계 평균 수준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’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이나 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‘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다소 뒤처짐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’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으로 나타남</a:t>
                      </a:r>
                      <a:endParaRPr lang="en-US" altLang="ko-KR" sz="9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38100" marR="3810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→ 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 개발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품질관리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고객 수요 예측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물류 관리 등에서 디지털화 및 자동화를 통한 경쟁력 강화 필요함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. </a:t>
                      </a:r>
                      <a:endParaRPr lang="ko-KR" altLang="en-US" sz="9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915140"/>
                  </a:ext>
                </a:extLst>
              </a:tr>
              <a:tr h="2423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전환의 주요 장애물</a:t>
                      </a:r>
                      <a:endParaRPr lang="en-US" sz="9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대부분 탄소저감 및 친환경 전환에 대해 일부 검토 및 계획만 진행 중임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. </a:t>
                      </a:r>
                    </a:p>
                    <a:p>
                      <a:pPr marL="38100" marR="3810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→ 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탄소저감과 친환경 전환을 위한 자금 확보 및 전문 인력 양성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등이 필요함</a:t>
                      </a:r>
                      <a:r>
                        <a:rPr lang="en-US" altLang="ko-KR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.</a:t>
                      </a:r>
                      <a:endParaRPr lang="ko-KR" altLang="en-US" sz="9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045835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85F218-0192-113D-B5D8-98E58437ECA5}"/>
              </a:ext>
            </a:extLst>
          </p:cNvPr>
          <p:cNvSpPr/>
          <p:nvPr/>
        </p:nvSpPr>
        <p:spPr>
          <a:xfrm>
            <a:off x="426864" y="4702404"/>
            <a:ext cx="4299298" cy="1612999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180975" indent="-93663" defTabSz="914400"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조사항목 및 문항 수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총 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 영역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35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문항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으로 구성</a:t>
            </a:r>
            <a:endParaRPr lang="en-US" altLang="ko-KR" sz="105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66700" indent="-88900" defTabSz="914400">
              <a:spcAft>
                <a:spcPts val="600"/>
              </a:spcAft>
              <a:buFont typeface="페이퍼로지 5 Medium" pitchFamily="2" charset="-127"/>
              <a:buChar char="‐"/>
            </a:pP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사업체 현황 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9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문항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산업환경 변화 인식 수준 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6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문항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산업환경 변화 대응체계 및 준비 수준 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8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문항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시스템 및 프로세스의 디지털전환 수준 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6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문항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탄소중립 및 친환경 전환 수준 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6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문항</a:t>
            </a:r>
            <a:endParaRPr lang="en-US" altLang="ko-KR" sz="105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80975" indent="-93663" defTabSz="914400"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산업전환 단계 구분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기업의 산업전환 수준 진단 결과 점수에 따라 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수준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으로 구분</a:t>
            </a:r>
            <a:endParaRPr lang="en-US" altLang="ko-KR" sz="105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266700" indent="-88900" defTabSz="914400">
              <a:spcBef>
                <a:spcPts val="100"/>
              </a:spcBef>
              <a:spcAft>
                <a:spcPts val="600"/>
              </a:spcAft>
              <a:buFont typeface="페이퍼로지 5 Medium" pitchFamily="2" charset="-127"/>
              <a:buChar char="‐"/>
            </a:pP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­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총점 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75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점 기준  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30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점 미만은 ‘</a:t>
            </a:r>
            <a:r>
              <a:rPr lang="en-US" altLang="ko-KR" sz="1050" spc="-50" dirty="0" err="1">
                <a:latin typeface="페이퍼로지 4 Regular" pitchFamily="2" charset="-127"/>
                <a:ea typeface="페이퍼로지 4 Regular" pitchFamily="2" charset="-127"/>
              </a:rPr>
              <a:t>Lv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 1 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선제대응단계’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, 30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점 이상 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60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점 미만은 ‘</a:t>
            </a:r>
            <a:r>
              <a:rPr lang="en-US" altLang="ko-KR" sz="1050" spc="-50" dirty="0" err="1">
                <a:latin typeface="페이퍼로지 4 Regular" pitchFamily="2" charset="-127"/>
                <a:ea typeface="페이퍼로지 4 Regular" pitchFamily="2" charset="-127"/>
              </a:rPr>
              <a:t>Lv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 2 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전환단계’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, 60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점 이상 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75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점 이하는 ‘</a:t>
            </a:r>
            <a:r>
              <a:rPr lang="en-US" altLang="ko-KR" sz="1050" spc="-50" dirty="0" err="1">
                <a:latin typeface="페이퍼로지 4 Regular" pitchFamily="2" charset="-127"/>
                <a:ea typeface="페이퍼로지 4 Regular" pitchFamily="2" charset="-127"/>
              </a:rPr>
              <a:t>Lv</a:t>
            </a:r>
            <a:r>
              <a:rPr lang="en-US" altLang="ko-KR" sz="1050" spc="-50" dirty="0">
                <a:latin typeface="페이퍼로지 4 Regular" pitchFamily="2" charset="-127"/>
                <a:ea typeface="페이퍼로지 4 Regular" pitchFamily="2" charset="-127"/>
              </a:rPr>
              <a:t> 3 </a:t>
            </a:r>
            <a:r>
              <a:rPr lang="ko-KR" altLang="en-US" sz="1050" spc="-50" dirty="0" err="1">
                <a:latin typeface="페이퍼로지 4 Regular" pitchFamily="2" charset="-127"/>
                <a:ea typeface="페이퍼로지 4 Regular" pitchFamily="2" charset="-127"/>
              </a:rPr>
              <a:t>정착단계’로</a:t>
            </a:r>
            <a:r>
              <a:rPr lang="ko-KR" altLang="en-US" sz="1050" spc="-50" dirty="0">
                <a:latin typeface="페이퍼로지 4 Regular" pitchFamily="2" charset="-127"/>
                <a:ea typeface="페이퍼로지 4 Regular" pitchFamily="2" charset="-127"/>
              </a:rPr>
              <a:t> 구분</a:t>
            </a:r>
            <a:endParaRPr lang="en-US" altLang="ko-KR" sz="105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412B09A-3625-4C0B-707F-50B27C0E2C4E}"/>
              </a:ext>
            </a:extLst>
          </p:cNvPr>
          <p:cNvCxnSpPr>
            <a:cxnSpLocks/>
          </p:cNvCxnSpPr>
          <p:nvPr/>
        </p:nvCxnSpPr>
        <p:spPr>
          <a:xfrm>
            <a:off x="344487" y="1892380"/>
            <a:ext cx="4464050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84AFF93-E38A-3CA7-F035-7431064C81B2}"/>
              </a:ext>
            </a:extLst>
          </p:cNvPr>
          <p:cNvCxnSpPr>
            <a:cxnSpLocks/>
          </p:cNvCxnSpPr>
          <p:nvPr/>
        </p:nvCxnSpPr>
        <p:spPr>
          <a:xfrm>
            <a:off x="5097463" y="1892380"/>
            <a:ext cx="4464050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1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5036F-9B8B-AC78-E6C5-E51556CB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481BEB-B308-D1F0-B68E-CA3CC4F3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F169E9-C4E4-5BA4-F622-E4F095CFCD3D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B9AAA4FB-188E-C0F5-E411-3E7659690598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기존 제조업 중심의 설문 항목을 산업환경 변화 인식 및 대응 노력 수준을 조사하는 항목으로 수정하였으며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</a:p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탄소 저감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친환경 전환 수준 조사 항목을 신설하였습니다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8DADB-8197-82A9-7041-292B46030328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FBDD20B-D839-A349-AD3E-551BC894E65F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E01E1604-8B4D-274C-737B-0ECA464CEEB2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EA90B7-523A-EA84-7887-CC49A97B9DD6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2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2</a:t>
              </a:r>
              <a:endParaRPr lang="ko-KR" altLang="en-US" sz="12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4E309C-C43C-25E6-3CB6-C9C23F2C1102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4.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 현황 분석</a:t>
            </a:r>
          </a:p>
        </p:txBody>
      </p:sp>
      <p:sp>
        <p:nvSpPr>
          <p:cNvPr id="25" name="사각형: 잘린 한쪽 모서리 24">
            <a:extLst>
              <a:ext uri="{FF2B5EF4-FFF2-40B4-BE49-F238E27FC236}">
                <a16:creationId xmlns:a16="http://schemas.microsoft.com/office/drawing/2014/main" id="{F3A1906C-4C3F-40F8-04BF-ABB725BB7E3F}"/>
              </a:ext>
            </a:extLst>
          </p:cNvPr>
          <p:cNvSpPr/>
          <p:nvPr/>
        </p:nvSpPr>
        <p:spPr>
          <a:xfrm>
            <a:off x="354012" y="1493371"/>
            <a:ext cx="6816408" cy="314074"/>
          </a:xfrm>
          <a:prstGeom prst="snip1Rect">
            <a:avLst>
              <a:gd name="adj" fmla="val 25536"/>
            </a:avLst>
          </a:prstGeom>
        </p:spPr>
        <p:txBody>
          <a:bodyPr vert="horz" lIns="91440" tIns="45720" rIns="91440" bIns="45720" rtlCol="0" anchor="t"/>
          <a:lstStyle/>
          <a:p>
            <a:r>
              <a:rPr lang="en-US" altLang="ko-KR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참고자료</a:t>
            </a:r>
            <a:r>
              <a:rPr lang="en-US" altLang="ko-KR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) </a:t>
            </a:r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기존 산업전환 진단 설문지 개선 내용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A10AA27-51D6-60AF-3A78-D6D2228BCD04}"/>
              </a:ext>
            </a:extLst>
          </p:cNvPr>
          <p:cNvCxnSpPr>
            <a:cxnSpLocks/>
          </p:cNvCxnSpPr>
          <p:nvPr/>
        </p:nvCxnSpPr>
        <p:spPr>
          <a:xfrm>
            <a:off x="344487" y="1871431"/>
            <a:ext cx="9210830" cy="8693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EEF6C5-CBC1-8151-B3C9-1C38BDDB3753}"/>
              </a:ext>
            </a:extLst>
          </p:cNvPr>
          <p:cNvGrpSpPr/>
          <p:nvPr/>
        </p:nvGrpSpPr>
        <p:grpSpPr>
          <a:xfrm>
            <a:off x="354012" y="2274694"/>
            <a:ext cx="4348358" cy="4105907"/>
            <a:chOff x="354012" y="2566769"/>
            <a:chExt cx="4348358" cy="367682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825EF82-3237-648E-A912-A24025C0110F}"/>
                </a:ext>
              </a:extLst>
            </p:cNvPr>
            <p:cNvSpPr/>
            <p:nvPr/>
          </p:nvSpPr>
          <p:spPr>
            <a:xfrm>
              <a:off x="354013" y="2566769"/>
              <a:ext cx="251060" cy="121330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생산 프로세스 체계화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수준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4DB5F48-4BB9-DACE-E915-DBB8B5C20F6C}"/>
                </a:ext>
              </a:extLst>
            </p:cNvPr>
            <p:cNvSpPr/>
            <p:nvPr/>
          </p:nvSpPr>
          <p:spPr>
            <a:xfrm>
              <a:off x="665798" y="2877512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생산계획 관련 업무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수요 및 주문대응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중장기 생산계획 수립 등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프로세스의 수준은 어떠한 단계입니까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9E317C7-510D-4788-AF45-D06E7B4084DC}"/>
                </a:ext>
              </a:extLst>
            </p:cNvPr>
            <p:cNvSpPr/>
            <p:nvPr/>
          </p:nvSpPr>
          <p:spPr>
            <a:xfrm>
              <a:off x="665798" y="3032884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공정관리 업무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사업계획 수립 및 지시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이상발생 대응 관리 등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프로세스의 수준은 어떠한 단계입니까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D542890-61A6-70F8-9EA9-6C38C5DD93CA}"/>
                </a:ext>
              </a:extLst>
            </p:cNvPr>
            <p:cNvSpPr/>
            <p:nvPr/>
          </p:nvSpPr>
          <p:spPr>
            <a:xfrm>
              <a:off x="665798" y="3188254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품질관리 업무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품질정보 관리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검사데이터 관리 등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프로세스의 수준은 어떠한 단계입니까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960290B-81B1-1C4A-6980-45BBFAA852C5}"/>
                </a:ext>
              </a:extLst>
            </p:cNvPr>
            <p:cNvSpPr/>
            <p:nvPr/>
          </p:nvSpPr>
          <p:spPr>
            <a:xfrm>
              <a:off x="665798" y="3343626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설비관리 업무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설비가동 관리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설비보전 관리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보전 자재관리 등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프로세스의 수준은 어떠한 단계입니까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AA2AA13-9B05-723F-C2CE-7FB919C62E8B}"/>
                </a:ext>
              </a:extLst>
            </p:cNvPr>
            <p:cNvSpPr/>
            <p:nvPr/>
          </p:nvSpPr>
          <p:spPr>
            <a:xfrm>
              <a:off x="665798" y="3498997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물류운영 업무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구매 및 외주관리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자재관리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출하배송관리 등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프로세스의 수준은 어떠한 단계입니까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F121A2D-7799-6CF6-8598-BDA8DE2C498B}"/>
                </a:ext>
              </a:extLst>
            </p:cNvPr>
            <p:cNvSpPr/>
            <p:nvPr/>
          </p:nvSpPr>
          <p:spPr>
            <a:xfrm>
              <a:off x="665798" y="3654369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귀사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공장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의 설비자동화 수준은 어떠한 단계입니까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9E77014-CADD-5FA9-0235-B9E5523C521F}"/>
                </a:ext>
              </a:extLst>
            </p:cNvPr>
            <p:cNvSpPr/>
            <p:nvPr/>
          </p:nvSpPr>
          <p:spPr>
            <a:xfrm>
              <a:off x="665798" y="2566769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기업의 업무 추진 전반에 있어서 시스템 자동화가 이루어지고 있습니까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58D39AF-14D4-A8F9-F7B4-EE5747D3ED49}"/>
                </a:ext>
              </a:extLst>
            </p:cNvPr>
            <p:cNvSpPr/>
            <p:nvPr/>
          </p:nvSpPr>
          <p:spPr>
            <a:xfrm>
              <a:off x="665798" y="2722140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제품개발 업무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제품개발 절차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제품설계 및 검정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공정설계 및 검증 등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프로세스의 수준은 어떠하십니까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EAA3F96-B410-CD59-B855-7C29918E0D0D}"/>
                </a:ext>
              </a:extLst>
            </p:cNvPr>
            <p:cNvSpPr/>
            <p:nvPr/>
          </p:nvSpPr>
          <p:spPr>
            <a:xfrm>
              <a:off x="354013" y="3829063"/>
              <a:ext cx="251060" cy="78757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전환 인식과 대응수준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941D021-58C2-D993-42F1-9C2FE9CBEEBA}"/>
                </a:ext>
              </a:extLst>
            </p:cNvPr>
            <p:cNvSpPr/>
            <p:nvPr/>
          </p:nvSpPr>
          <p:spPr>
            <a:xfrm>
              <a:off x="354012" y="4665127"/>
              <a:ext cx="251060" cy="7180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공감대 한 형성수준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AB16234-190F-FC46-ACE2-5210D83A8F49}"/>
                </a:ext>
              </a:extLst>
            </p:cNvPr>
            <p:cNvSpPr/>
            <p:nvPr/>
          </p:nvSpPr>
          <p:spPr>
            <a:xfrm>
              <a:off x="354012" y="5431658"/>
              <a:ext cx="251060" cy="8119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전환 지원수준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D75FAE7-6FC2-5E8A-6543-0866CA35BE2E}"/>
                </a:ext>
              </a:extLst>
            </p:cNvPr>
            <p:cNvSpPr/>
            <p:nvPr/>
          </p:nvSpPr>
          <p:spPr>
            <a:xfrm>
              <a:off x="665798" y="3839579"/>
              <a:ext cx="4036572" cy="2251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기업이 속해 있는 산업분야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예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: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자동차 엔진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베터리 등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에 대하여 산업전환의 방향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정도 등에 대해 이해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분석하고 있습니까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A3D7F69-3329-685D-81FD-E4B9D5932967}"/>
                </a:ext>
              </a:extLst>
            </p:cNvPr>
            <p:cNvSpPr/>
            <p:nvPr/>
          </p:nvSpPr>
          <p:spPr>
            <a:xfrm>
              <a:off x="665798" y="4110804"/>
              <a:ext cx="4036572" cy="13788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산업전환과 관련하여 필요성을 인식하고 구체적인 대응 방안을 마련하고 있습니까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 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BC65591D-F727-A36B-3EE5-3D7A270EA0F2}"/>
                </a:ext>
              </a:extLst>
            </p:cNvPr>
            <p:cNvSpPr/>
            <p:nvPr/>
          </p:nvSpPr>
          <p:spPr>
            <a:xfrm>
              <a:off x="665797" y="4294779"/>
              <a:ext cx="4036572" cy="13788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기업차원에서 사업전환 전략을 수립하여 경영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투자에 반영하고 있습니까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6BA272B-ABE5-4759-C093-FD7CBA03C3FB}"/>
                </a:ext>
              </a:extLst>
            </p:cNvPr>
            <p:cNvSpPr/>
            <p:nvPr/>
          </p:nvSpPr>
          <p:spPr>
            <a:xfrm>
              <a:off x="665796" y="4478755"/>
              <a:ext cx="4036572" cy="13788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전사적으로 산업전환을 수행하는데 필요한 조직의 업무 역할과 책임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(R&amp;R)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을 명확히 정의하고 있습니까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9E2732C-A9FD-2933-FD2C-73F27481E869}"/>
                </a:ext>
              </a:extLst>
            </p:cNvPr>
            <p:cNvSpPr/>
            <p:nvPr/>
          </p:nvSpPr>
          <p:spPr>
            <a:xfrm>
              <a:off x="665798" y="4665127"/>
              <a:ext cx="4036572" cy="2251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indent="0" algn="just" fontAlgn="base" latinLnBrk="1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사업전환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생산방식의 변화 등에 따라 근로자의 직무전환 필요성이나 직무전환 지원의 필요성에 대해 검토가 이루어지고 있습니까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933EC4E4-10DB-A493-5C83-EF172F357FF4}"/>
                </a:ext>
              </a:extLst>
            </p:cNvPr>
            <p:cNvSpPr/>
            <p:nvPr/>
          </p:nvSpPr>
          <p:spPr>
            <a:xfrm>
              <a:off x="665798" y="4930017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사업전환에 따라 근로자의 직무에 어떠한 영향을 끼치는지에 대한 검토가 이루어졌습니까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82EBCE0-B1C9-A608-85D0-FD5CA5C22745}"/>
                </a:ext>
              </a:extLst>
            </p:cNvPr>
            <p:cNvSpPr/>
            <p:nvPr/>
          </p:nvSpPr>
          <p:spPr>
            <a:xfrm>
              <a:off x="665798" y="5095475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사업전환에 따라 근로자의 일자리에 어떠한 영향을 끼치는지에 대한 검토가 이루어졌습니까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D043235-ADEB-B775-240B-F8B734D17A73}"/>
                </a:ext>
              </a:extLst>
            </p:cNvPr>
            <p:cNvSpPr/>
            <p:nvPr/>
          </p:nvSpPr>
          <p:spPr>
            <a:xfrm>
              <a:off x="665798" y="5260932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직무전환 및 이에 따른 영향력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준비 방안 등과 관련하여 구성원 간의 공감대를 형성하였습니까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7FBE848-AFA0-982E-D22B-50B25EAA1B7D}"/>
                </a:ext>
              </a:extLst>
            </p:cNvPr>
            <p:cNvSpPr/>
            <p:nvPr/>
          </p:nvSpPr>
          <p:spPr>
            <a:xfrm>
              <a:off x="665798" y="5431658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indent="0" algn="just" fontAlgn="base" latinLnBrk="1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직무전환을 위한 근로자의 기술수준 및 격차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전환 직무 등을 분석하여 교육훈련 방안을 수립하였습니까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6B410724-CA0A-71D2-7E11-2B886A7B5779}"/>
                </a:ext>
              </a:extLst>
            </p:cNvPr>
            <p:cNvSpPr/>
            <p:nvPr/>
          </p:nvSpPr>
          <p:spPr>
            <a:xfrm>
              <a:off x="665798" y="5593095"/>
              <a:ext cx="403657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indent="0" algn="just" fontAlgn="base" latinLnBrk="1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직무전환에 따라 재교육이나 직무전환 교육이 필요한 근로자에게 적절한 교육훈련이 제공되고 있습니까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3E01DCBC-1574-E53D-A4FA-20AB42DA0F59}"/>
                </a:ext>
              </a:extLst>
            </p:cNvPr>
            <p:cNvSpPr/>
            <p:nvPr/>
          </p:nvSpPr>
          <p:spPr>
            <a:xfrm>
              <a:off x="665797" y="5754533"/>
              <a:ext cx="4036572" cy="2266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직무전환으로 인해 직무가 없어진 근로자에게 타직무에 대한 교육훈련을 통해 계속 근로를 공식적으로 보장하고 있습니까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 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9BF5B5AB-117E-FB7D-FAAC-590B145537D1}"/>
                </a:ext>
              </a:extLst>
            </p:cNvPr>
            <p:cNvSpPr/>
            <p:nvPr/>
          </p:nvSpPr>
          <p:spPr>
            <a:xfrm>
              <a:off x="665796" y="6016930"/>
              <a:ext cx="4036572" cy="22666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기업내 취약집단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여성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비정규직 등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에게도 재교육 또는 기술향상 훈련 등 기회가 평등하게 지원될 수 있습니까</a:t>
              </a:r>
              <a:r>
                <a:rPr lang="en-US" altLang="ko-KR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5645B3C-155D-EEE1-1D0D-0BD31F0929AF}"/>
              </a:ext>
            </a:extLst>
          </p:cNvPr>
          <p:cNvGrpSpPr/>
          <p:nvPr/>
        </p:nvGrpSpPr>
        <p:grpSpPr>
          <a:xfrm>
            <a:off x="5096983" y="2274694"/>
            <a:ext cx="4474055" cy="4105907"/>
            <a:chOff x="5096983" y="2417673"/>
            <a:chExt cx="4474055" cy="3981619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C5919A1-C0A8-A22B-4605-258A8899DB71}"/>
                </a:ext>
              </a:extLst>
            </p:cNvPr>
            <p:cNvSpPr/>
            <p:nvPr/>
          </p:nvSpPr>
          <p:spPr>
            <a:xfrm>
              <a:off x="5096988" y="2417673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다음 환경 변화는 귀사의 현재 기업 경영에 어느 정도 영향을 끼치고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35DDEC8-331A-90E8-5A4E-5F8C3DC3C1DB}"/>
                </a:ext>
              </a:extLst>
            </p:cNvPr>
            <p:cNvSpPr/>
            <p:nvPr/>
          </p:nvSpPr>
          <p:spPr>
            <a:xfrm>
              <a:off x="5096987" y="2571808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환경 변화에 따라 주력 상품 또는 서비스가 변화할 것으로 예상하는 시점은 </a:t>
              </a:r>
              <a:r>
                <a:rPr lang="ko-KR" altLang="en-US" sz="700" dirty="0" err="1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언제입니까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44FCAB0E-3149-4370-7944-A175B00D7463}"/>
                </a:ext>
              </a:extLst>
            </p:cNvPr>
            <p:cNvSpPr/>
            <p:nvPr/>
          </p:nvSpPr>
          <p:spPr>
            <a:xfrm>
              <a:off x="5096986" y="2725943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향후 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3~5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년 내 가장 중요하게 추진하고자 하는 경영전략 방향은 무엇입니까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72FCECA7-4E75-E795-7FBF-67034670A04C}"/>
                </a:ext>
              </a:extLst>
            </p:cNvPr>
            <p:cNvSpPr/>
            <p:nvPr/>
          </p:nvSpPr>
          <p:spPr>
            <a:xfrm>
              <a:off x="5096985" y="2880078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경영전략 방향에 가장 큰 영향을 미친 내부 요인은 무엇입니까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AB2A983-7744-6C28-4937-7DA4088EFA67}"/>
                </a:ext>
              </a:extLst>
            </p:cNvPr>
            <p:cNvSpPr/>
            <p:nvPr/>
          </p:nvSpPr>
          <p:spPr>
            <a:xfrm>
              <a:off x="5096984" y="3034213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산업전환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예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: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탄소중립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디지털 등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을 성공적으로 추진하기 위해 가장 중요한 요인은 무엇입니까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4F05261C-5F92-0AD0-29D7-6D732AA069BF}"/>
                </a:ext>
              </a:extLst>
            </p:cNvPr>
            <p:cNvSpPr/>
            <p:nvPr/>
          </p:nvSpPr>
          <p:spPr>
            <a:xfrm>
              <a:off x="5096984" y="3188348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산업전환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예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: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탄소중립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디지털 등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을 추진하는 데 있어 현재 또는 향후 예상되는 어려움은 무엇입니까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C95D34ED-E018-AA40-ED53-3EC67E0C4BA5}"/>
                </a:ext>
              </a:extLst>
            </p:cNvPr>
            <p:cNvSpPr/>
            <p:nvPr/>
          </p:nvSpPr>
          <p:spPr>
            <a:xfrm>
              <a:off x="5097003" y="3496617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경영진과 조직은 산업 전환 대응을 위한 책임자 지정 등 실행 의지를 명확히 보이고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316066D5-3030-9FD6-9103-FDB1C984CB94}"/>
                </a:ext>
              </a:extLst>
            </p:cNvPr>
            <p:cNvSpPr/>
            <p:nvPr/>
          </p:nvSpPr>
          <p:spPr>
            <a:xfrm>
              <a:off x="5097002" y="3650752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산업전환의 필요성과 방향성을 이해하며 이에 따른 대응 전략을 수립한 경험이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40E91945-71BB-8518-3D35-822F93ED842A}"/>
                </a:ext>
              </a:extLst>
            </p:cNvPr>
            <p:cNvSpPr/>
            <p:nvPr/>
          </p:nvSpPr>
          <p:spPr>
            <a:xfrm>
              <a:off x="5097001" y="3804887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최근 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1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년 간 산업환경 변화와 관련하여 임직원 대상 교육을 실시한 경험이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7E3D02CA-7F20-6735-358A-2BFBD217DE61}"/>
                </a:ext>
              </a:extLst>
            </p:cNvPr>
            <p:cNvSpPr/>
            <p:nvPr/>
          </p:nvSpPr>
          <p:spPr>
            <a:xfrm>
              <a:off x="5097000" y="3959022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조직 내에서 산업전환에 따른 직무 변화를 인지하며 그에 대한 논의 경험이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60E7EA6-8E5B-070B-6E90-DDB531F55BE1}"/>
                </a:ext>
              </a:extLst>
            </p:cNvPr>
            <p:cNvSpPr/>
            <p:nvPr/>
          </p:nvSpPr>
          <p:spPr>
            <a:xfrm>
              <a:off x="5096999" y="4113157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산업전환에 따른 직무 재편에 대비해 직무분석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교육훈련 등 필요한 체계를 갖추고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B17859CC-E097-1EDE-547B-2252BA1A3655}"/>
                </a:ext>
              </a:extLst>
            </p:cNvPr>
            <p:cNvSpPr/>
            <p:nvPr/>
          </p:nvSpPr>
          <p:spPr>
            <a:xfrm>
              <a:off x="5096999" y="4267293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산업전환 과정에서 발생할 수 있는 직원 내 갈등에 대해 해소하기 위한 제도적 지원 방안이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E13DDF66-03A0-E3CA-7C93-6140B8F27DC7}"/>
                </a:ext>
              </a:extLst>
            </p:cNvPr>
            <p:cNvSpPr/>
            <p:nvPr/>
          </p:nvSpPr>
          <p:spPr>
            <a:xfrm>
              <a:off x="5096998" y="4421428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산업전환 대응에 있어 외부 훈련기관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협력사 등과 연계 의지가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5EA525C-3D23-25B1-815F-40074402514F}"/>
                </a:ext>
              </a:extLst>
            </p:cNvPr>
            <p:cNvSpPr/>
            <p:nvPr/>
          </p:nvSpPr>
          <p:spPr>
            <a:xfrm>
              <a:off x="5096997" y="4575562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생산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시험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서비스 등 업무에 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ERP, LIMS, AI(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플랫폼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)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등 자동화 시스템을 적용하여 운영하고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19E6D71-8CA7-6E38-260D-42A47E294687}"/>
                </a:ext>
              </a:extLst>
            </p:cNvPr>
            <p:cNvSpPr/>
            <p:nvPr/>
          </p:nvSpPr>
          <p:spPr>
            <a:xfrm>
              <a:off x="5096996" y="4729697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제품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서비스 개발과 관리 업무가 표준화된 절차에 따라 데이터 기반으로 체계적으로 관리되고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D2173AC4-A1B0-C1FD-B849-C7E440697D8D}"/>
                </a:ext>
              </a:extLst>
            </p:cNvPr>
            <p:cNvSpPr/>
            <p:nvPr/>
          </p:nvSpPr>
          <p:spPr>
            <a:xfrm>
              <a:off x="5096996" y="4883832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수요 예측 및 작업 계획 업무가 체계적인 정보를 기반으로 수행되고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9B7F7F4-EA7B-8405-E798-29BF5A8A364E}"/>
                </a:ext>
              </a:extLst>
            </p:cNvPr>
            <p:cNvSpPr/>
            <p:nvPr/>
          </p:nvSpPr>
          <p:spPr>
            <a:xfrm>
              <a:off x="5096995" y="5037967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일정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납기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진행 등 운영 관리가 디지털 기반으로 통합 관리되고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1876B50F-56D0-2187-459E-C648262AB9F0}"/>
                </a:ext>
              </a:extLst>
            </p:cNvPr>
            <p:cNvSpPr/>
            <p:nvPr/>
          </p:nvSpPr>
          <p:spPr>
            <a:xfrm>
              <a:off x="5096993" y="5192102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설비 및 자산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예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: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시험장비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제조설비 등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의 점검 및 보전 계획이 디지털 기반으로 운영되고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9CC5A9A4-A6AB-52C6-1E28-69440AFF19F6}"/>
                </a:ext>
              </a:extLst>
            </p:cNvPr>
            <p:cNvSpPr/>
            <p:nvPr/>
          </p:nvSpPr>
          <p:spPr>
            <a:xfrm>
              <a:off x="5096992" y="5346237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귀사의 자동화 시스템화 및 프로세스 수준은 동종 업계 평균과 비교하여 어느 정도라고 판단하십니까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46847571-9A7E-31CA-2567-5621AEC7A445}"/>
                </a:ext>
              </a:extLst>
            </p:cNvPr>
            <p:cNvSpPr/>
            <p:nvPr/>
          </p:nvSpPr>
          <p:spPr>
            <a:xfrm>
              <a:off x="5096991" y="5500372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탄소중립과 친환경 대응을 위한 필요성을 느끼고 준비가 되어있습니까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074CEEE-29BF-2DD9-A471-145A6C1234CC}"/>
                </a:ext>
              </a:extLst>
            </p:cNvPr>
            <p:cNvSpPr/>
            <p:nvPr/>
          </p:nvSpPr>
          <p:spPr>
            <a:xfrm>
              <a:off x="5096991" y="5654506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대응을 위해 실천 노력은 어느 수준입니까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64A37B9-50C8-8F16-580C-5BE2FA7C2613}"/>
                </a:ext>
              </a:extLst>
            </p:cNvPr>
            <p:cNvSpPr/>
            <p:nvPr/>
          </p:nvSpPr>
          <p:spPr>
            <a:xfrm>
              <a:off x="5096990" y="5808641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탄소중립 전환을 위해 노력하고 있는 것은 무엇입니까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E07D5575-FFB0-D4F1-14FC-742F0FD23C64}"/>
                </a:ext>
              </a:extLst>
            </p:cNvPr>
            <p:cNvSpPr/>
            <p:nvPr/>
          </p:nvSpPr>
          <p:spPr>
            <a:xfrm>
              <a:off x="5096989" y="5962776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필요하지 않다고 느끼는 이유를 말씀해 주십시오</a:t>
              </a: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7472847-667F-ADD2-9FDA-9676FF782DF2}"/>
                </a:ext>
              </a:extLst>
            </p:cNvPr>
            <p:cNvSpPr/>
            <p:nvPr/>
          </p:nvSpPr>
          <p:spPr>
            <a:xfrm>
              <a:off x="5096988" y="6116916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탄소중립 전환을 추진하는 데 있어 가장 큰 애로사항은 무엇입니까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 (1,2 </a:t>
              </a: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순위 선택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9EB0C7C1-A148-A3C7-93BA-1E9924DDCA77}"/>
                </a:ext>
              </a:extLst>
            </p:cNvPr>
            <p:cNvSpPr/>
            <p:nvPr/>
          </p:nvSpPr>
          <p:spPr>
            <a:xfrm>
              <a:off x="5096988" y="6272287"/>
              <a:ext cx="4182792" cy="125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탄소중립 및 친환경 전환 수준은 동종 업계 평균과 비교하여 어느 정도라고 판단하십니까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A153A34B-0C74-B2A2-B72B-C90595986629}"/>
                </a:ext>
              </a:extLst>
            </p:cNvPr>
            <p:cNvSpPr/>
            <p:nvPr/>
          </p:nvSpPr>
          <p:spPr>
            <a:xfrm>
              <a:off x="9305504" y="2417673"/>
              <a:ext cx="262118" cy="90255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산업환경 변화인식수준</a:t>
              </a: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E795154D-1FB2-7FD6-B855-50701798DCCE}"/>
                </a:ext>
              </a:extLst>
            </p:cNvPr>
            <p:cNvSpPr/>
            <p:nvPr/>
          </p:nvSpPr>
          <p:spPr>
            <a:xfrm>
              <a:off x="5096983" y="3342482"/>
              <a:ext cx="4182792" cy="1257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R="0" indent="0" fontAlgn="base">
                <a:lnSpc>
                  <a:spcPct val="12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산업 환경의 변화 대응을 위해 사내 전담 조직이 설치되어 있습니까</a:t>
              </a:r>
              <a:r>
                <a:rPr lang="en-US" altLang="ko-KR" sz="7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?</a:t>
              </a:r>
              <a:endParaRPr lang="ko-KR" altLang="en-US" sz="7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7FC1D0C-BA36-25A9-4D55-3DAEC4384AD2}"/>
                </a:ext>
              </a:extLst>
            </p:cNvPr>
            <p:cNvSpPr/>
            <p:nvPr/>
          </p:nvSpPr>
          <p:spPr>
            <a:xfrm>
              <a:off x="9308920" y="3342482"/>
              <a:ext cx="262118" cy="12046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5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산업 </a:t>
              </a:r>
              <a:r>
                <a:rPr lang="ko-KR" altLang="en-US" sz="500" dirty="0" err="1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환경변화대응체계및</a:t>
              </a:r>
              <a:r>
                <a:rPr lang="ko-KR" altLang="en-US" sz="5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 준비수준</a:t>
              </a: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1D4D3E2-ABC5-D654-8BA2-010890368B98}"/>
                </a:ext>
              </a:extLst>
            </p:cNvPr>
            <p:cNvSpPr/>
            <p:nvPr/>
          </p:nvSpPr>
          <p:spPr>
            <a:xfrm>
              <a:off x="9308920" y="4569380"/>
              <a:ext cx="262118" cy="898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디지털전환 수준 </a:t>
              </a: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C69B7CAC-8767-A212-BBAA-B7BE8B6C09A2}"/>
                </a:ext>
              </a:extLst>
            </p:cNvPr>
            <p:cNvSpPr/>
            <p:nvPr/>
          </p:nvSpPr>
          <p:spPr>
            <a:xfrm>
              <a:off x="9308920" y="5500372"/>
              <a:ext cx="262118" cy="8989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친환경 전환 수준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F7506FF-266B-711B-8423-330C13610385}"/>
              </a:ext>
            </a:extLst>
          </p:cNvPr>
          <p:cNvGrpSpPr/>
          <p:nvPr/>
        </p:nvGrpSpPr>
        <p:grpSpPr>
          <a:xfrm>
            <a:off x="7591099" y="1629717"/>
            <a:ext cx="1964218" cy="189170"/>
            <a:chOff x="5096982" y="1629717"/>
            <a:chExt cx="4182797" cy="18917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FD02527-E2E7-206B-F435-61C67EB24DEC}"/>
                </a:ext>
              </a:extLst>
            </p:cNvPr>
            <p:cNvSpPr/>
            <p:nvPr/>
          </p:nvSpPr>
          <p:spPr>
            <a:xfrm>
              <a:off x="5096982" y="1629717"/>
              <a:ext cx="2038653" cy="18916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기존 문항 개편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BD70717D-CEE2-EDD8-EF92-AB3175C20DAE}"/>
                </a:ext>
              </a:extLst>
            </p:cNvPr>
            <p:cNvSpPr/>
            <p:nvPr/>
          </p:nvSpPr>
          <p:spPr>
            <a:xfrm>
              <a:off x="7241126" y="1629718"/>
              <a:ext cx="2038653" cy="18916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신규 작성</a:t>
              </a:r>
              <a:endParaRPr lang="en-US" altLang="ko-KR" sz="100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EEF2FE9E-693A-7E57-EB2E-646CF154C0EA}"/>
              </a:ext>
            </a:extLst>
          </p:cNvPr>
          <p:cNvCxnSpPr>
            <a:stCxn id="41" idx="3"/>
            <a:endCxn id="72" idx="1"/>
          </p:cNvCxnSpPr>
          <p:nvPr/>
        </p:nvCxnSpPr>
        <p:spPr>
          <a:xfrm>
            <a:off x="4702370" y="2344881"/>
            <a:ext cx="394627" cy="2219875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CA11A375-55E7-C831-393C-65638E1466A9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4704994" y="2639109"/>
            <a:ext cx="392002" cy="2084594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542086A5-3C54-7E6F-465A-BC86C46526D7}"/>
              </a:ext>
            </a:extLst>
          </p:cNvPr>
          <p:cNvCxnSpPr>
            <a:stCxn id="35" idx="3"/>
            <a:endCxn id="74" idx="1"/>
          </p:cNvCxnSpPr>
          <p:nvPr/>
        </p:nvCxnSpPr>
        <p:spPr>
          <a:xfrm>
            <a:off x="4702370" y="2691888"/>
            <a:ext cx="394626" cy="2190761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F80ACA39-A663-DE40-8917-52ED865E5241}"/>
              </a:ext>
            </a:extLst>
          </p:cNvPr>
          <p:cNvCxnSpPr>
            <a:cxnSpLocks/>
            <a:stCxn id="36" idx="3"/>
            <a:endCxn id="74" idx="1"/>
          </p:cNvCxnSpPr>
          <p:nvPr/>
        </p:nvCxnSpPr>
        <p:spPr>
          <a:xfrm>
            <a:off x="4702370" y="2865392"/>
            <a:ext cx="394626" cy="2017257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389D89DD-77BF-3807-E322-D94F721CAD19}"/>
              </a:ext>
            </a:extLst>
          </p:cNvPr>
          <p:cNvCxnSpPr>
            <a:stCxn id="37" idx="3"/>
            <a:endCxn id="73" idx="1"/>
          </p:cNvCxnSpPr>
          <p:nvPr/>
        </p:nvCxnSpPr>
        <p:spPr>
          <a:xfrm>
            <a:off x="4702370" y="3038893"/>
            <a:ext cx="394626" cy="168481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52E60FE-20E5-D4CE-9864-457A9B00BBB4}"/>
              </a:ext>
            </a:extLst>
          </p:cNvPr>
          <p:cNvCxnSpPr>
            <a:stCxn id="38" idx="3"/>
            <a:endCxn id="76" idx="1"/>
          </p:cNvCxnSpPr>
          <p:nvPr/>
        </p:nvCxnSpPr>
        <p:spPr>
          <a:xfrm>
            <a:off x="4702370" y="3212397"/>
            <a:ext cx="394623" cy="1988145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C73CAE4B-5FDF-0B9C-6FEA-E1229A9824C3}"/>
              </a:ext>
            </a:extLst>
          </p:cNvPr>
          <p:cNvCxnSpPr>
            <a:stCxn id="39" idx="3"/>
            <a:endCxn id="75" idx="1"/>
          </p:cNvCxnSpPr>
          <p:nvPr/>
        </p:nvCxnSpPr>
        <p:spPr>
          <a:xfrm>
            <a:off x="4702370" y="3385900"/>
            <a:ext cx="394625" cy="1655696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0C564A4A-9CF9-E4F1-5396-A6F42E30C852}"/>
              </a:ext>
            </a:extLst>
          </p:cNvPr>
          <p:cNvCxnSpPr>
            <a:stCxn id="40" idx="3"/>
            <a:endCxn id="77" idx="1"/>
          </p:cNvCxnSpPr>
          <p:nvPr/>
        </p:nvCxnSpPr>
        <p:spPr>
          <a:xfrm>
            <a:off x="4702370" y="3559404"/>
            <a:ext cx="394622" cy="1800084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7AA9FEA2-76B3-3DF2-4B2F-A82665894652}"/>
              </a:ext>
            </a:extLst>
          </p:cNvPr>
          <p:cNvCxnSpPr>
            <a:stCxn id="47" idx="3"/>
            <a:endCxn id="65" idx="1"/>
          </p:cNvCxnSpPr>
          <p:nvPr/>
        </p:nvCxnSpPr>
        <p:spPr>
          <a:xfrm flipV="1">
            <a:off x="4702370" y="3611078"/>
            <a:ext cx="394632" cy="464828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3AD3788F-7F2D-9C17-1649-5B17659312F9}"/>
              </a:ext>
            </a:extLst>
          </p:cNvPr>
          <p:cNvCxnSpPr>
            <a:stCxn id="46" idx="3"/>
            <a:endCxn id="63" idx="1"/>
          </p:cNvCxnSpPr>
          <p:nvPr/>
        </p:nvCxnSpPr>
        <p:spPr>
          <a:xfrm flipV="1">
            <a:off x="4702370" y="3134240"/>
            <a:ext cx="394614" cy="687505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4669DCCF-AEB2-D303-D26A-D886B63C2D0D}"/>
              </a:ext>
            </a:extLst>
          </p:cNvPr>
          <p:cNvCxnSpPr>
            <a:stCxn id="46" idx="3"/>
            <a:endCxn id="62" idx="1"/>
          </p:cNvCxnSpPr>
          <p:nvPr/>
        </p:nvCxnSpPr>
        <p:spPr>
          <a:xfrm flipV="1">
            <a:off x="4702370" y="2975294"/>
            <a:ext cx="394614" cy="846451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B3FB061C-DA7E-39A5-22E8-28F54140FC48}"/>
              </a:ext>
            </a:extLst>
          </p:cNvPr>
          <p:cNvCxnSpPr>
            <a:stCxn id="49" idx="3"/>
            <a:endCxn id="64" idx="1"/>
          </p:cNvCxnSpPr>
          <p:nvPr/>
        </p:nvCxnSpPr>
        <p:spPr>
          <a:xfrm flipV="1">
            <a:off x="4702368" y="3452132"/>
            <a:ext cx="394635" cy="1034665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4CC2A6C7-9ADF-3C01-EC88-75D4A921442B}"/>
              </a:ext>
            </a:extLst>
          </p:cNvPr>
          <p:cNvCxnSpPr>
            <a:stCxn id="48" idx="3"/>
            <a:endCxn id="85" idx="1"/>
          </p:cNvCxnSpPr>
          <p:nvPr/>
        </p:nvCxnSpPr>
        <p:spPr>
          <a:xfrm flipV="1">
            <a:off x="4702369" y="3293185"/>
            <a:ext cx="394614" cy="988166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6E81F4C-55F2-FD73-5150-A3CB4BB68331}"/>
              </a:ext>
            </a:extLst>
          </p:cNvPr>
          <p:cNvCxnSpPr>
            <a:stCxn id="48" idx="3"/>
            <a:endCxn id="64" idx="1"/>
          </p:cNvCxnSpPr>
          <p:nvPr/>
        </p:nvCxnSpPr>
        <p:spPr>
          <a:xfrm flipV="1">
            <a:off x="4702369" y="3452132"/>
            <a:ext cx="394634" cy="829219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C2A772FB-7FF6-A586-6A0E-A247DAF5228F}"/>
              </a:ext>
            </a:extLst>
          </p:cNvPr>
          <p:cNvCxnSpPr>
            <a:stCxn id="51" idx="3"/>
            <a:endCxn id="67" idx="1"/>
          </p:cNvCxnSpPr>
          <p:nvPr/>
        </p:nvCxnSpPr>
        <p:spPr>
          <a:xfrm flipV="1">
            <a:off x="4702370" y="3928971"/>
            <a:ext cx="394630" cy="105495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E7689BA0-C068-0EF0-F17C-A2AFC2C3F41F}"/>
              </a:ext>
            </a:extLst>
          </p:cNvPr>
          <p:cNvCxnSpPr>
            <a:stCxn id="50" idx="3"/>
            <a:endCxn id="67" idx="1"/>
          </p:cNvCxnSpPr>
          <p:nvPr/>
        </p:nvCxnSpPr>
        <p:spPr>
          <a:xfrm flipV="1">
            <a:off x="4702370" y="3928971"/>
            <a:ext cx="394630" cy="814664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23F1CE9A-83B1-0F9C-1FD1-D2A53A1BE98F}"/>
              </a:ext>
            </a:extLst>
          </p:cNvPr>
          <p:cNvCxnSpPr>
            <a:stCxn id="52" idx="3"/>
            <a:endCxn id="67" idx="1"/>
          </p:cNvCxnSpPr>
          <p:nvPr/>
        </p:nvCxnSpPr>
        <p:spPr>
          <a:xfrm flipV="1">
            <a:off x="4702370" y="3928971"/>
            <a:ext cx="394630" cy="1239717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3C440FD2-95C4-9799-FE60-CF0F18E793BF}"/>
              </a:ext>
            </a:extLst>
          </p:cNvPr>
          <p:cNvCxnSpPr>
            <a:stCxn id="53" idx="3"/>
            <a:endCxn id="69" idx="1"/>
          </p:cNvCxnSpPr>
          <p:nvPr/>
        </p:nvCxnSpPr>
        <p:spPr>
          <a:xfrm flipV="1">
            <a:off x="4702370" y="4246865"/>
            <a:ext cx="394629" cy="1106589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7D952008-895C-E68A-0602-2D2DB6031333}"/>
              </a:ext>
            </a:extLst>
          </p:cNvPr>
          <p:cNvCxnSpPr>
            <a:stCxn id="54" idx="3"/>
            <a:endCxn id="68" idx="1"/>
          </p:cNvCxnSpPr>
          <p:nvPr/>
        </p:nvCxnSpPr>
        <p:spPr>
          <a:xfrm flipV="1">
            <a:off x="4702370" y="4087917"/>
            <a:ext cx="394629" cy="1456186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DE6F5649-EEAA-35D5-5C88-F49D2FAB5894}"/>
              </a:ext>
            </a:extLst>
          </p:cNvPr>
          <p:cNvCxnSpPr>
            <a:stCxn id="55" idx="3"/>
            <a:endCxn id="66" idx="1"/>
          </p:cNvCxnSpPr>
          <p:nvPr/>
        </p:nvCxnSpPr>
        <p:spPr>
          <a:xfrm flipV="1">
            <a:off x="4702370" y="3770024"/>
            <a:ext cx="394631" cy="1954356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F701C9D-3DB7-1301-0D7C-E93D7A3ACF81}"/>
              </a:ext>
            </a:extLst>
          </p:cNvPr>
          <p:cNvCxnSpPr>
            <a:stCxn id="56" idx="3"/>
            <a:endCxn id="69" idx="1"/>
          </p:cNvCxnSpPr>
          <p:nvPr/>
        </p:nvCxnSpPr>
        <p:spPr>
          <a:xfrm flipV="1">
            <a:off x="4702369" y="4246865"/>
            <a:ext cx="394630" cy="1714162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C72FB09-4D1D-C2CA-524A-11E11871B924}"/>
              </a:ext>
            </a:extLst>
          </p:cNvPr>
          <p:cNvSpPr txBox="1"/>
          <p:nvPr/>
        </p:nvSpPr>
        <p:spPr>
          <a:xfrm>
            <a:off x="344487" y="1953536"/>
            <a:ext cx="4318951" cy="2065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</a:lstStyle>
          <a:p>
            <a:pPr marL="87312" lvl="1" algn="ctr" defTabSz="914400"/>
            <a:r>
              <a:rPr lang="en-US" altLang="ko-KR" sz="1200" kern="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As-is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58276-57E0-031E-DF41-CA112AA46EDE}"/>
              </a:ext>
            </a:extLst>
          </p:cNvPr>
          <p:cNvSpPr txBox="1"/>
          <p:nvPr/>
        </p:nvSpPr>
        <p:spPr>
          <a:xfrm>
            <a:off x="5096982" y="1949868"/>
            <a:ext cx="4458173" cy="212920"/>
          </a:xfrm>
          <a:prstGeom prst="rect">
            <a:avLst/>
          </a:prstGeom>
          <a:solidFill>
            <a:srgbClr val="395D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</a:lstStyle>
          <a:p>
            <a:pPr marL="87312" lvl="1" algn="ctr" defTabSz="914400"/>
            <a:r>
              <a:rPr lang="en-US" altLang="ko-KR" sz="11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To-be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4668D7A-015D-2056-C035-E08D18002D46}"/>
              </a:ext>
            </a:extLst>
          </p:cNvPr>
          <p:cNvGrpSpPr/>
          <p:nvPr/>
        </p:nvGrpSpPr>
        <p:grpSpPr>
          <a:xfrm>
            <a:off x="4795722" y="1977955"/>
            <a:ext cx="168976" cy="151394"/>
            <a:chOff x="599972" y="1973685"/>
            <a:chExt cx="307997" cy="236097"/>
          </a:xfrm>
        </p:grpSpPr>
        <p:sp>
          <p:nvSpPr>
            <p:cNvPr id="13" name="갈매기형 수장 40">
              <a:extLst>
                <a:ext uri="{FF2B5EF4-FFF2-40B4-BE49-F238E27FC236}">
                  <a16:creationId xmlns:a16="http://schemas.microsoft.com/office/drawing/2014/main" id="{397D4DCF-5399-822F-866E-88BF1D627773}"/>
                </a:ext>
              </a:extLst>
            </p:cNvPr>
            <p:cNvSpPr/>
            <p:nvPr/>
          </p:nvSpPr>
          <p:spPr>
            <a:xfrm>
              <a:off x="599972" y="1973685"/>
              <a:ext cx="192319" cy="23609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  <p:sp>
          <p:nvSpPr>
            <p:cNvPr id="14" name="갈매기형 수장 41">
              <a:extLst>
                <a:ext uri="{FF2B5EF4-FFF2-40B4-BE49-F238E27FC236}">
                  <a16:creationId xmlns:a16="http://schemas.microsoft.com/office/drawing/2014/main" id="{629052F1-1CCC-CA3F-8B92-C1B31F6C0D49}"/>
                </a:ext>
              </a:extLst>
            </p:cNvPr>
            <p:cNvSpPr/>
            <p:nvPr/>
          </p:nvSpPr>
          <p:spPr>
            <a:xfrm>
              <a:off x="708580" y="1973685"/>
              <a:ext cx="199389" cy="236097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3826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68F01-D1C6-73EE-2197-25C9D585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349896-BB45-68C0-9F91-330FABCD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34E6BA-A383-9535-0803-9A8B20725664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A4922AF4-7B15-76AA-C3EB-ADAEAA37DCAA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환경 규제가 강화되면서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재활용 플라스틱 활용이 점차 확대되고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바이오 기반 소재가 친환경 대안으로 주목받고 있습니다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이에 따라 정책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기술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시장 전반에서 재활용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바이오 소재 중심의 산업 전환이 가속화되고 있습니다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20D47-DA86-469F-1E75-8CBB7007B5BE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FF1F7AD6-DCF2-DF41-D1DD-76A16740EC35}"/>
              </a:ext>
            </a:extLst>
          </p:cNvPr>
          <p:cNvSpPr/>
          <p:nvPr/>
        </p:nvSpPr>
        <p:spPr>
          <a:xfrm rot="10800000">
            <a:off x="344953" y="-7270"/>
            <a:ext cx="1058535" cy="735932"/>
          </a:xfrm>
          <a:prstGeom prst="round2SameRect">
            <a:avLst/>
          </a:prstGeom>
          <a:solidFill>
            <a:srgbClr val="344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08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BA030-6966-8E1B-F1E3-9B27143F9D41}"/>
              </a:ext>
            </a:extLst>
          </p:cNvPr>
          <p:cNvSpPr txBox="1"/>
          <p:nvPr/>
        </p:nvSpPr>
        <p:spPr>
          <a:xfrm>
            <a:off x="433220" y="300781"/>
            <a:ext cx="882000" cy="276999"/>
          </a:xfrm>
          <a:prstGeom prst="rect">
            <a:avLst/>
          </a:prstGeom>
          <a:grp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spc="-5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defRPr>
            </a:lvl1pPr>
          </a:lstStyle>
          <a:p>
            <a:r>
              <a:rPr lang="en-US" altLang="ko-KR" dirty="0"/>
              <a:t>Module 2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CF42E4-E17F-61DF-CE02-3307FEC8F6D1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5.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 주요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산업군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환경분석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33A4F77-F4F3-C21B-C4D3-B7EFCC802376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4757382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">
            <a:extLst>
              <a:ext uri="{FF2B5EF4-FFF2-40B4-BE49-F238E27FC236}">
                <a16:creationId xmlns:a16="http://schemas.microsoft.com/office/drawing/2014/main" id="{C25B7A75-5107-DC99-93DC-4A00D4A73B4A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플라스틱 환경분석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DE82E80D-8C56-9024-CFA9-06E4E88506A1}"/>
              </a:ext>
            </a:extLst>
          </p:cNvPr>
          <p:cNvSpPr/>
          <p:nvPr/>
        </p:nvSpPr>
        <p:spPr bwMode="auto">
          <a:xfrm>
            <a:off x="371942" y="3690835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0" cap="none" spc="0" normalizeH="0" baseline="0" noProof="0" dirty="0">
                <a:ln>
                  <a:noFill/>
                </a:ln>
                <a:solidFill>
                  <a:srgbClr val="474747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환경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(E)</a:t>
            </a:r>
            <a:endParaRPr kumimoji="1" lang="ko-KR" altLang="en-US" sz="800" i="0" u="none" strike="noStrike" kern="0" cap="none" spc="0" normalizeH="0" baseline="0" noProof="0" dirty="0">
              <a:ln>
                <a:noFill/>
              </a:ln>
              <a:solidFill>
                <a:srgbClr val="474747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61CC6691-6C42-83A8-1D58-CB3B3B81BB31}"/>
              </a:ext>
            </a:extLst>
          </p:cNvPr>
          <p:cNvSpPr/>
          <p:nvPr/>
        </p:nvSpPr>
        <p:spPr bwMode="auto">
          <a:xfrm>
            <a:off x="371942" y="2963014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기술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(T)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4AFD9364-191A-6690-FD23-A85703E2C110}"/>
              </a:ext>
            </a:extLst>
          </p:cNvPr>
          <p:cNvSpPr/>
          <p:nvPr/>
        </p:nvSpPr>
        <p:spPr bwMode="auto">
          <a:xfrm>
            <a:off x="371942" y="2235193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사회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(S</a:t>
            </a:r>
            <a:r>
              <a:rPr kumimoji="1" lang="en-US" altLang="ko-KR" sz="800" i="0" u="none" strike="noStrike" kern="0" cap="none" spc="0" normalizeH="0" baseline="0" noProof="0" dirty="0">
                <a:ln>
                  <a:noFill/>
                </a:ln>
                <a:solidFill>
                  <a:srgbClr val="474747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kumimoji="1" lang="ko-KR" altLang="en-US" sz="800" i="0" u="none" strike="noStrike" kern="0" cap="none" spc="0" normalizeH="0" baseline="0" noProof="0" dirty="0">
              <a:ln>
                <a:noFill/>
              </a:ln>
              <a:solidFill>
                <a:srgbClr val="474747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A78F293E-E1AB-4D70-0A50-7052E79E92AA}"/>
              </a:ext>
            </a:extLst>
          </p:cNvPr>
          <p:cNvSpPr/>
          <p:nvPr/>
        </p:nvSpPr>
        <p:spPr bwMode="auto">
          <a:xfrm>
            <a:off x="371942" y="5146477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정책</a:t>
            </a:r>
            <a:r>
              <a:rPr kumimoji="1" lang="en-US" altLang="ko-KR" sz="800" i="0" u="none" strike="noStrike" kern="0" cap="none" spc="0" normalizeH="0" baseline="0" noProof="0" dirty="0">
                <a:ln>
                  <a:noFill/>
                </a:ln>
                <a:solidFill>
                  <a:srgbClr val="474747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(P)</a:t>
            </a:r>
            <a:endParaRPr kumimoji="1" lang="ko-KR" altLang="en-US" sz="800" i="0" u="none" strike="noStrike" kern="0" cap="none" spc="0" normalizeH="0" baseline="0" noProof="0" dirty="0">
              <a:ln>
                <a:noFill/>
              </a:ln>
              <a:solidFill>
                <a:srgbClr val="474747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2448AC6-C848-470D-72F8-CC1CE06D7DF0}"/>
              </a:ext>
            </a:extLst>
          </p:cNvPr>
          <p:cNvSpPr/>
          <p:nvPr/>
        </p:nvSpPr>
        <p:spPr bwMode="auto">
          <a:xfrm>
            <a:off x="371942" y="4418656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경제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(E)</a:t>
            </a:r>
            <a:endParaRPr kumimoji="1" lang="ko-KR" altLang="en-US" sz="800" i="0" u="none" strike="noStrike" kern="0" cap="none" spc="0" normalizeH="0" baseline="0" noProof="0" dirty="0">
              <a:ln>
                <a:noFill/>
              </a:ln>
              <a:solidFill>
                <a:srgbClr val="474747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AB2D51-A064-6FE6-ADA0-86A626C34958}"/>
              </a:ext>
            </a:extLst>
          </p:cNvPr>
          <p:cNvSpPr/>
          <p:nvPr/>
        </p:nvSpPr>
        <p:spPr>
          <a:xfrm>
            <a:off x="830576" y="2020883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친환경 플라스틱 수요가 증가하고 있으나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바이오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생분해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 플라스틱에 대한 이해 부족과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그린워싱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 우려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로 올바른 사용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·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폐기 가이드라인 마련 필요성이 커지고 있음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기업 측면에서는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ESG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경영이 필수 의제로 논의 중이지만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국내 중소기업의 환경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(E)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역량은 주요국 대비 낮아 산업 차원의 인식 제고와 대응 강화가 요구됨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6FED996-10DA-FD4D-34AD-EE89535EFBD9}"/>
              </a:ext>
            </a:extLst>
          </p:cNvPr>
          <p:cNvSpPr/>
          <p:nvPr/>
        </p:nvSpPr>
        <p:spPr bwMode="auto">
          <a:xfrm>
            <a:off x="371942" y="5874297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교육</a:t>
            </a:r>
            <a:endParaRPr kumimoji="1" lang="en-US" altLang="ko-KR" sz="9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474747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현황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8FCF828-FCF5-0BEF-8C25-FF65F3D32014}"/>
              </a:ext>
            </a:extLst>
          </p:cNvPr>
          <p:cNvGrpSpPr/>
          <p:nvPr/>
        </p:nvGrpSpPr>
        <p:grpSpPr>
          <a:xfrm>
            <a:off x="7368540" y="2076236"/>
            <a:ext cx="2192973" cy="4199786"/>
            <a:chOff x="7812152" y="2333805"/>
            <a:chExt cx="1495159" cy="394221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F771B5-9F23-F403-E40B-256F6CD5EFAB}"/>
                </a:ext>
              </a:extLst>
            </p:cNvPr>
            <p:cNvSpPr txBox="1"/>
            <p:nvPr/>
          </p:nvSpPr>
          <p:spPr>
            <a:xfrm>
              <a:off x="7812152" y="2333805"/>
              <a:ext cx="1495159" cy="638792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범용 플라스틱에서 </a:t>
              </a:r>
              <a:r>
                <a:rPr lang="ko-KR" altLang="en-US"/>
                <a:t>고부가 친환경</a:t>
              </a:r>
              <a:r>
                <a:rPr lang="en-US" altLang="ko-KR" dirty="0"/>
                <a:t>·</a:t>
              </a:r>
              <a:r>
                <a:rPr lang="ko-KR" altLang="en-US" dirty="0"/>
                <a:t>기능성 소재로의 전환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CA4114-2FEE-573A-F432-DFA5F8B89336}"/>
                </a:ext>
              </a:extLst>
            </p:cNvPr>
            <p:cNvSpPr txBox="1"/>
            <p:nvPr/>
          </p:nvSpPr>
          <p:spPr>
            <a:xfrm>
              <a:off x="7812152" y="3159661"/>
              <a:ext cx="1495159" cy="638792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재생 원료 사용 의무화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2704F3-711A-25E0-7B31-796EB72C4491}"/>
                </a:ext>
              </a:extLst>
            </p:cNvPr>
            <p:cNvSpPr txBox="1"/>
            <p:nvPr/>
          </p:nvSpPr>
          <p:spPr>
            <a:xfrm>
              <a:off x="7812152" y="3985517"/>
              <a:ext cx="1495159" cy="638792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/>
                <a:t>재활용 등급</a:t>
              </a:r>
              <a:r>
                <a:rPr lang="en-US" altLang="ko-KR"/>
                <a:t>·</a:t>
              </a:r>
              <a:r>
                <a:rPr lang="ko-KR" altLang="en-US"/>
                <a:t>라벨링</a:t>
              </a:r>
              <a:r>
                <a:rPr lang="en-US" altLang="ko-KR" dirty="0"/>
                <a:t>, </a:t>
              </a:r>
              <a:r>
                <a:rPr lang="ko-KR" altLang="en-US" dirty="0"/>
                <a:t>친환경 인증 대응 강화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FE5CA1-9363-4F47-AF73-BBCEE3B54358}"/>
                </a:ext>
              </a:extLst>
            </p:cNvPr>
            <p:cNvSpPr txBox="1"/>
            <p:nvPr/>
          </p:nvSpPr>
          <p:spPr>
            <a:xfrm>
              <a:off x="7812152" y="4811372"/>
              <a:ext cx="1495159" cy="638792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폐플라스틱의 원료화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E7B4E9D-B72B-72D9-01E6-772A1C00BBD9}"/>
                </a:ext>
              </a:extLst>
            </p:cNvPr>
            <p:cNvSpPr txBox="1"/>
            <p:nvPr/>
          </p:nvSpPr>
          <p:spPr>
            <a:xfrm>
              <a:off x="7812152" y="5637230"/>
              <a:ext cx="1495159" cy="638792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공정의 디지털화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0C54A7-1F51-3B79-9A3C-6E8EFDC30735}"/>
              </a:ext>
            </a:extLst>
          </p:cNvPr>
          <p:cNvSpPr/>
          <p:nvPr/>
        </p:nvSpPr>
        <p:spPr>
          <a:xfrm>
            <a:off x="830576" y="2759875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바이오 소재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산업화 단계에 진입한 제품에는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Starch blends, PLA, PHA, PBS, PBAT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등이 있으며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대부분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단일 소재보다는 생분해성 소재 혼합 방식을 사용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동시에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물성 개선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을 위해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가소제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등 기능 개선 첨가제와 코팅 기술 개발도 함께 이뤄지고 있음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3600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폐플라스틱 재활용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품질 저하가 없고 재활용 횟수 제한이 없는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화학적 재활용이 핵심 기술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중 하나로 평가됨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49D52AF-F725-E2B5-CFDF-5E2A60ECDC03}"/>
              </a:ext>
            </a:extLst>
          </p:cNvPr>
          <p:cNvSpPr/>
          <p:nvPr/>
        </p:nvSpPr>
        <p:spPr>
          <a:xfrm>
            <a:off x="830576" y="3498867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lvl="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팬데믹 이후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플라스틱 폐기물 발생량이 최근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5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년간 연평균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11%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증가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이에 비해 재활용은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6%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로 생태계에 플라스틱이 미치는 영향이 매우 심각함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36000" lvl="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UN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환경총회에서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175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개국이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’24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년까지 플라스틱 오염 종식을 위한 국제협약을 체결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플라스틱 생산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사용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폐기 등 전주기를 고려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한 지속가능한  순환경제 접근 방식을 포함함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BEE2A63-B541-AF57-E1C5-9C04D8A707A2}"/>
              </a:ext>
            </a:extLst>
          </p:cNvPr>
          <p:cNvSpPr/>
          <p:nvPr/>
        </p:nvSpPr>
        <p:spPr>
          <a:xfrm>
            <a:off x="833645" y="4976851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주요국은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’22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년 이후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플라스틱 패키징의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PCR 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사용의무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목표를 확대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중이며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한국은 재활용 등급 분류와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라벨링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 체계의 법제화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가 빠르게 진행 중임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</a:t>
            </a:r>
          </a:p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’24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년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범부처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차원의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‘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첨단바이오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이니셔티브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’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를 수립해 석유화학 소재를 대체할 바이오 플라스틱을 통한 지속 가능한 산업구조 구축을 추진함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1FF2C44-2973-9DA3-6051-059578DAF224}"/>
              </a:ext>
            </a:extLst>
          </p:cNvPr>
          <p:cNvSpPr/>
          <p:nvPr/>
        </p:nvSpPr>
        <p:spPr>
          <a:xfrm>
            <a:off x="833645" y="4237859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lvl="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글로벌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바이오 플라스틱 산업은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2022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124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억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천만 달러에서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연평균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17.8%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성장률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을 기록하며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2032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638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억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천만 달러의 시장을 형성할 것으로 전망됨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36000" lvl="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국내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의 경우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2020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억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5,660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만 달러를 기록했으며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기간 내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(’20-’25)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연평균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13.5%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의 성장률을 나타낼 것으로 전망됨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A5AFC4B-6282-7F94-C9AF-BD984853796E}"/>
              </a:ext>
            </a:extLst>
          </p:cNvPr>
          <p:cNvSpPr/>
          <p:nvPr/>
        </p:nvSpPr>
        <p:spPr>
          <a:xfrm>
            <a:off x="838052" y="5715843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국내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8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개 교육기관의 최근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개년 바이오 플라스틱 관련 교육을 대상으로 토픽 모델링을 진행한 결과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‘바이오 플라스틱의 정책 및 시장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전망’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이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35.9%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로 가장 높은 결과를 보임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뒤이어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‘시험 및 분석 방법’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‘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바이오매스 및 원료 개발’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‘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바이오 플라스틱 및 순환경제’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‘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지속가능한 기술 및 인증’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‘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제품 사용화 및 전략’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‘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탄소중립 및 에너지’ 등이 높게 나타남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4EB04A9-1DBE-2C45-A9D7-AF5C39164396}"/>
              </a:ext>
            </a:extLst>
          </p:cNvPr>
          <p:cNvSpPr/>
          <p:nvPr/>
        </p:nvSpPr>
        <p:spPr>
          <a:xfrm>
            <a:off x="5438029" y="1735604"/>
            <a:ext cx="1495159" cy="3356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anchor="ctr"/>
          <a:lstStyle/>
          <a:p>
            <a:pPr algn="ctr" defTabSz="914395">
              <a:lnSpc>
                <a:spcPct val="120000"/>
              </a:lnSpc>
            </a:pP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[</a:t>
            </a:r>
            <a:r>
              <a:rPr lang="ko-KR" altLang="en-US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배경</a:t>
            </a: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]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19ADBAB-0183-51F1-92DF-D9E49998008C}"/>
              </a:ext>
            </a:extLst>
          </p:cNvPr>
          <p:cNvSpPr/>
          <p:nvPr/>
        </p:nvSpPr>
        <p:spPr>
          <a:xfrm>
            <a:off x="7717447" y="1735604"/>
            <a:ext cx="1495159" cy="3356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anchor="ctr"/>
          <a:lstStyle/>
          <a:p>
            <a:pPr algn="ctr" defTabSz="914395">
              <a:lnSpc>
                <a:spcPct val="120000"/>
              </a:lnSpc>
            </a:pP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[</a:t>
            </a:r>
            <a:r>
              <a:rPr lang="ko-KR" altLang="en-US" spc="-50" dirty="0" err="1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전환트렌드</a:t>
            </a: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]</a:t>
            </a:r>
          </a:p>
        </p:txBody>
      </p:sp>
      <p:sp>
        <p:nvSpPr>
          <p:cNvPr id="50" name="Freeform 61">
            <a:extLst>
              <a:ext uri="{FF2B5EF4-FFF2-40B4-BE49-F238E27FC236}">
                <a16:creationId xmlns:a16="http://schemas.microsoft.com/office/drawing/2014/main" id="{A302D0C6-2145-505D-AE73-774E7C4BF8A8}"/>
              </a:ext>
            </a:extLst>
          </p:cNvPr>
          <p:cNvSpPr>
            <a:spLocks/>
          </p:cNvSpPr>
          <p:nvPr/>
        </p:nvSpPr>
        <p:spPr bwMode="auto">
          <a:xfrm>
            <a:off x="5127757" y="2019123"/>
            <a:ext cx="346675" cy="4423962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9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45F60F-3100-9034-B59F-5DBE3DB4CCBF}"/>
              </a:ext>
            </a:extLst>
          </p:cNvPr>
          <p:cNvSpPr txBox="1"/>
          <p:nvPr/>
        </p:nvSpPr>
        <p:spPr>
          <a:xfrm>
            <a:off x="5438029" y="2404118"/>
            <a:ext cx="1495159" cy="748190"/>
          </a:xfrm>
          <a:prstGeom prst="roundRect">
            <a:avLst/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36000" rIns="36000" anchor="ctr">
            <a:noAutofit/>
          </a:bodyPr>
          <a:lstStyle>
            <a:defPPr>
              <a:defRPr lang="en-US"/>
            </a:defPPr>
            <a:lvl1pPr algn="ctr">
              <a:spcAft>
                <a:spcPts val="600"/>
              </a:spcAft>
              <a:defRPr sz="1100" spc="-50">
                <a:latin typeface="페이퍼로지 6 SemiBold" pitchFamily="2" charset="-127"/>
                <a:ea typeface="페이퍼로지 6 SemiBold" pitchFamily="2" charset="-127"/>
              </a:defRPr>
            </a:lvl1pPr>
          </a:lstStyle>
          <a:p>
            <a:r>
              <a:rPr lang="ko-KR" altLang="en-US" dirty="0"/>
              <a:t>플라스틱 폐기물로 인한 환경 오염 문제 급증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A182C7-9921-79A3-401C-C855B06495CC}"/>
              </a:ext>
            </a:extLst>
          </p:cNvPr>
          <p:cNvSpPr txBox="1"/>
          <p:nvPr/>
        </p:nvSpPr>
        <p:spPr>
          <a:xfrm>
            <a:off x="5438029" y="3386918"/>
            <a:ext cx="1495159" cy="748190"/>
          </a:xfrm>
          <a:prstGeom prst="roundRect">
            <a:avLst/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36000" rIns="36000" anchor="ctr">
            <a:noAutofit/>
          </a:bodyPr>
          <a:lstStyle>
            <a:defPPr>
              <a:defRPr lang="en-US"/>
            </a:defPPr>
            <a:lvl1pPr algn="ctr">
              <a:spcAft>
                <a:spcPts val="600"/>
              </a:spcAft>
              <a:defRPr sz="1100" spc="-50">
                <a:latin typeface="페이퍼로지 6 SemiBold" pitchFamily="2" charset="-127"/>
                <a:ea typeface="페이퍼로지 6 SemiBold" pitchFamily="2" charset="-127"/>
              </a:defRPr>
            </a:lvl1pPr>
          </a:lstStyle>
          <a:p>
            <a:r>
              <a:rPr lang="ko-KR" altLang="en-US" dirty="0"/>
              <a:t>온실가스 감축 목표 설정 등 글로벌 환경 규제 강화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3FD347-CD5A-1955-0E00-E98EF0374B9F}"/>
              </a:ext>
            </a:extLst>
          </p:cNvPr>
          <p:cNvSpPr txBox="1"/>
          <p:nvPr/>
        </p:nvSpPr>
        <p:spPr>
          <a:xfrm>
            <a:off x="5438029" y="4369718"/>
            <a:ext cx="1495159" cy="748190"/>
          </a:xfrm>
          <a:prstGeom prst="roundRect">
            <a:avLst/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36000" rIns="36000" anchor="ctr">
            <a:noAutofit/>
          </a:bodyPr>
          <a:lstStyle>
            <a:defPPr>
              <a:defRPr lang="en-US"/>
            </a:defPPr>
            <a:lvl1pPr algn="ctr">
              <a:spcAft>
                <a:spcPts val="600"/>
              </a:spcAft>
              <a:defRPr sz="1100" spc="-50">
                <a:latin typeface="페이퍼로지 6 SemiBold" pitchFamily="2" charset="-127"/>
                <a:ea typeface="페이퍼로지 6 SemiBold" pitchFamily="2" charset="-127"/>
              </a:defRPr>
            </a:lvl1pPr>
          </a:lstStyle>
          <a:p>
            <a:r>
              <a:rPr lang="ko-KR" altLang="en-US" dirty="0"/>
              <a:t>석유화학 산업의 공급 과잉과 수요 감소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080CBF-D09D-2865-5AAA-189BA60D081E}"/>
              </a:ext>
            </a:extLst>
          </p:cNvPr>
          <p:cNvSpPr txBox="1"/>
          <p:nvPr/>
        </p:nvSpPr>
        <p:spPr>
          <a:xfrm>
            <a:off x="5438029" y="5352517"/>
            <a:ext cx="1495159" cy="748190"/>
          </a:xfrm>
          <a:prstGeom prst="roundRect">
            <a:avLst/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36000" rIns="36000" anchor="ctr">
            <a:noAutofit/>
          </a:bodyPr>
          <a:lstStyle>
            <a:defPPr>
              <a:defRPr lang="en-US"/>
            </a:defPPr>
            <a:lvl1pPr algn="ctr">
              <a:spcAft>
                <a:spcPts val="600"/>
              </a:spcAft>
              <a:defRPr sz="1100" spc="-50">
                <a:latin typeface="페이퍼로지 6 SemiBold" pitchFamily="2" charset="-127"/>
                <a:ea typeface="페이퍼로지 6 SemiBold" pitchFamily="2" charset="-127"/>
              </a:defRPr>
            </a:lvl1pPr>
          </a:lstStyle>
          <a:p>
            <a:r>
              <a:rPr lang="ko-KR" altLang="en-US" dirty="0"/>
              <a:t>인력난과 인건비 상승 등 경영 여건 악화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B05F25D-25B0-02C4-F653-B9972565D7DC}"/>
              </a:ext>
            </a:extLst>
          </p:cNvPr>
          <p:cNvCxnSpPr>
            <a:stCxn id="27" idx="3"/>
            <a:endCxn id="13" idx="1"/>
          </p:cNvCxnSpPr>
          <p:nvPr/>
        </p:nvCxnSpPr>
        <p:spPr>
          <a:xfrm flipV="1">
            <a:off x="6933188" y="2416500"/>
            <a:ext cx="435352" cy="361713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B2C6E3E-4A35-6797-4F52-5FBD0C46DB30}"/>
              </a:ext>
            </a:extLst>
          </p:cNvPr>
          <p:cNvCxnSpPr>
            <a:cxnSpLocks/>
            <a:stCxn id="27" idx="3"/>
            <a:endCxn id="18" idx="1"/>
          </p:cNvCxnSpPr>
          <p:nvPr/>
        </p:nvCxnSpPr>
        <p:spPr>
          <a:xfrm>
            <a:off x="6933188" y="2778213"/>
            <a:ext cx="435352" cy="518101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8CECCB2C-0B55-B392-CF5C-994F0BE7535C}"/>
              </a:ext>
            </a:extLst>
          </p:cNvPr>
          <p:cNvCxnSpPr>
            <a:cxnSpLocks/>
            <a:stCxn id="27" idx="3"/>
            <a:endCxn id="20" idx="1"/>
          </p:cNvCxnSpPr>
          <p:nvPr/>
        </p:nvCxnSpPr>
        <p:spPr>
          <a:xfrm>
            <a:off x="6933188" y="2778213"/>
            <a:ext cx="435352" cy="1397915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6D9E216-479F-1A06-6F75-8B70C8C3D7C4}"/>
              </a:ext>
            </a:extLst>
          </p:cNvPr>
          <p:cNvCxnSpPr>
            <a:cxnSpLocks/>
            <a:stCxn id="27" idx="3"/>
            <a:endCxn id="22" idx="1"/>
          </p:cNvCxnSpPr>
          <p:nvPr/>
        </p:nvCxnSpPr>
        <p:spPr>
          <a:xfrm>
            <a:off x="6933188" y="2778213"/>
            <a:ext cx="435352" cy="2277729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6E22230-CA31-599D-72F9-AF749569738D}"/>
              </a:ext>
            </a:extLst>
          </p:cNvPr>
          <p:cNvCxnSpPr>
            <a:cxnSpLocks/>
            <a:stCxn id="30" idx="3"/>
            <a:endCxn id="13" idx="1"/>
          </p:cNvCxnSpPr>
          <p:nvPr/>
        </p:nvCxnSpPr>
        <p:spPr>
          <a:xfrm flipV="1">
            <a:off x="6933188" y="2416500"/>
            <a:ext cx="435352" cy="1344513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62D935C-F975-94F5-BE18-39BE0BB2FFC3}"/>
              </a:ext>
            </a:extLst>
          </p:cNvPr>
          <p:cNvCxnSpPr>
            <a:cxnSpLocks/>
            <a:stCxn id="30" idx="3"/>
            <a:endCxn id="18" idx="1"/>
          </p:cNvCxnSpPr>
          <p:nvPr/>
        </p:nvCxnSpPr>
        <p:spPr>
          <a:xfrm flipV="1">
            <a:off x="6933188" y="3296314"/>
            <a:ext cx="435352" cy="464699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3426D9D-756C-CDE9-8048-6A5DD61AD499}"/>
              </a:ext>
            </a:extLst>
          </p:cNvPr>
          <p:cNvCxnSpPr>
            <a:cxnSpLocks/>
            <a:stCxn id="30" idx="3"/>
            <a:endCxn id="20" idx="1"/>
          </p:cNvCxnSpPr>
          <p:nvPr/>
        </p:nvCxnSpPr>
        <p:spPr>
          <a:xfrm>
            <a:off x="6933188" y="3761013"/>
            <a:ext cx="435352" cy="415115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214AADD-965A-F913-EBF1-C787E8544D19}"/>
              </a:ext>
            </a:extLst>
          </p:cNvPr>
          <p:cNvCxnSpPr>
            <a:cxnSpLocks/>
            <a:stCxn id="30" idx="3"/>
            <a:endCxn id="22" idx="1"/>
          </p:cNvCxnSpPr>
          <p:nvPr/>
        </p:nvCxnSpPr>
        <p:spPr>
          <a:xfrm>
            <a:off x="6933188" y="3761013"/>
            <a:ext cx="435352" cy="1294929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1ECDC5E-E313-12D7-5D27-7FFA7A6F4E24}"/>
              </a:ext>
            </a:extLst>
          </p:cNvPr>
          <p:cNvCxnSpPr>
            <a:cxnSpLocks/>
            <a:stCxn id="32" idx="3"/>
            <a:endCxn id="16" idx="1"/>
          </p:cNvCxnSpPr>
          <p:nvPr/>
        </p:nvCxnSpPr>
        <p:spPr>
          <a:xfrm>
            <a:off x="6933188" y="4743813"/>
            <a:ext cx="435352" cy="1191945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BBC4777-DB21-8C53-9248-7084B159DEA5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6933188" y="2452733"/>
            <a:ext cx="435352" cy="2291080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7BB267C-040E-8BC6-2982-06D74CD70697}"/>
              </a:ext>
            </a:extLst>
          </p:cNvPr>
          <p:cNvCxnSpPr>
            <a:cxnSpLocks/>
            <a:stCxn id="32" idx="3"/>
            <a:endCxn id="20" idx="1"/>
          </p:cNvCxnSpPr>
          <p:nvPr/>
        </p:nvCxnSpPr>
        <p:spPr>
          <a:xfrm flipV="1">
            <a:off x="6933188" y="4176128"/>
            <a:ext cx="435352" cy="567685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6D8431C-AA36-143E-6892-A3886E2B0A5E}"/>
              </a:ext>
            </a:extLst>
          </p:cNvPr>
          <p:cNvCxnSpPr>
            <a:cxnSpLocks/>
            <a:stCxn id="34" idx="3"/>
            <a:endCxn id="16" idx="1"/>
          </p:cNvCxnSpPr>
          <p:nvPr/>
        </p:nvCxnSpPr>
        <p:spPr>
          <a:xfrm>
            <a:off x="6933188" y="5726612"/>
            <a:ext cx="435352" cy="209146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2EC1F59C-AF4D-BE13-BD37-E9DFC93B81EE}"/>
              </a:ext>
            </a:extLst>
          </p:cNvPr>
          <p:cNvCxnSpPr>
            <a:cxnSpLocks/>
            <a:stCxn id="34" idx="3"/>
            <a:endCxn id="22" idx="1"/>
          </p:cNvCxnSpPr>
          <p:nvPr/>
        </p:nvCxnSpPr>
        <p:spPr>
          <a:xfrm flipV="1">
            <a:off x="6933188" y="5055942"/>
            <a:ext cx="435352" cy="670670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CBE4F5CB-7208-12D3-BFEB-B059E8DF8B0F}"/>
              </a:ext>
            </a:extLst>
          </p:cNvPr>
          <p:cNvCxnSpPr>
            <a:cxnSpLocks/>
            <a:stCxn id="34" idx="3"/>
            <a:endCxn id="13" idx="1"/>
          </p:cNvCxnSpPr>
          <p:nvPr/>
        </p:nvCxnSpPr>
        <p:spPr>
          <a:xfrm flipV="1">
            <a:off x="6933188" y="2416500"/>
            <a:ext cx="435352" cy="3310112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572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E4788-7AE1-534C-5126-87FE9119D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7011029-2D16-1840-BC64-718188F60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66E2E0-D4B8-5269-F548-90AC6E24BB49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FBE0B878-098F-6868-2495-D06F05D4E25A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고령화 및 만성질환 증가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디지털 헬스케어 기술 고도화 등 의료기기 산업의 구조 변화와 경쟁이 심화되고 있어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인허가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품질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사이버보안 등 전 주기 대응역량 강화가 필요한 상황입니다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09218-F216-8ECC-FB06-F256A924D443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D2C4C0BC-E10E-5249-991B-37E7A98CEF68}"/>
              </a:ext>
            </a:extLst>
          </p:cNvPr>
          <p:cNvSpPr/>
          <p:nvPr/>
        </p:nvSpPr>
        <p:spPr>
          <a:xfrm rot="10800000">
            <a:off x="344953" y="-7270"/>
            <a:ext cx="1058535" cy="735932"/>
          </a:xfrm>
          <a:prstGeom prst="round2SameRect">
            <a:avLst/>
          </a:prstGeom>
          <a:solidFill>
            <a:srgbClr val="344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08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D3A876-78E4-BFFA-545A-42F3D18001ED}"/>
              </a:ext>
            </a:extLst>
          </p:cNvPr>
          <p:cNvSpPr txBox="1"/>
          <p:nvPr/>
        </p:nvSpPr>
        <p:spPr>
          <a:xfrm>
            <a:off x="433220" y="300781"/>
            <a:ext cx="882000" cy="276999"/>
          </a:xfrm>
          <a:prstGeom prst="rect">
            <a:avLst/>
          </a:prstGeom>
          <a:grp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spc="-5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defRPr>
            </a:lvl1pPr>
          </a:lstStyle>
          <a:p>
            <a:r>
              <a:rPr lang="en-US" altLang="ko-KR" dirty="0"/>
              <a:t>Module 2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02BD17-7EA9-8AB0-A661-F72C84C60CED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5.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 주요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산업군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환경분석</a:t>
            </a:r>
          </a:p>
        </p:txBody>
      </p:sp>
      <p:sp>
        <p:nvSpPr>
          <p:cNvPr id="15" name="텍스트 개체 틀 1">
            <a:extLst>
              <a:ext uri="{FF2B5EF4-FFF2-40B4-BE49-F238E27FC236}">
                <a16:creationId xmlns:a16="http://schemas.microsoft.com/office/drawing/2014/main" id="{18C7EBFF-979A-AD8E-7C79-D1E0093A4A63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의료기기 환경분석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1DE73D22-3181-5954-17AF-0D23BA57BB7B}"/>
              </a:ext>
            </a:extLst>
          </p:cNvPr>
          <p:cNvSpPr/>
          <p:nvPr/>
        </p:nvSpPr>
        <p:spPr bwMode="auto">
          <a:xfrm>
            <a:off x="371942" y="3538435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환경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(E)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BFFC1F4B-E801-E428-9647-564C95066DB9}"/>
              </a:ext>
            </a:extLst>
          </p:cNvPr>
          <p:cNvSpPr/>
          <p:nvPr/>
        </p:nvSpPr>
        <p:spPr bwMode="auto">
          <a:xfrm>
            <a:off x="371942" y="2810614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기술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(T)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C16DB6D-FFA3-5DC0-B68F-81430A59BF18}"/>
              </a:ext>
            </a:extLst>
          </p:cNvPr>
          <p:cNvSpPr/>
          <p:nvPr/>
        </p:nvSpPr>
        <p:spPr bwMode="auto">
          <a:xfrm>
            <a:off x="371942" y="2082793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사회</a:t>
            </a:r>
            <a:r>
              <a:rPr kumimoji="1" lang="en-US" altLang="ko-KR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(S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23563C6F-5A63-7DAB-9A6C-EBC60C3CECE4}"/>
              </a:ext>
            </a:extLst>
          </p:cNvPr>
          <p:cNvSpPr/>
          <p:nvPr/>
        </p:nvSpPr>
        <p:spPr bwMode="auto">
          <a:xfrm>
            <a:off x="371942" y="4994077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정책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(P)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D9A185D4-1967-855B-4818-4A4054F60AE6}"/>
              </a:ext>
            </a:extLst>
          </p:cNvPr>
          <p:cNvSpPr/>
          <p:nvPr/>
        </p:nvSpPr>
        <p:spPr bwMode="auto">
          <a:xfrm>
            <a:off x="371942" y="4266256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경제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(E)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AD915642-CA3B-D65A-3FBD-0A4E3F60B0BA}"/>
              </a:ext>
            </a:extLst>
          </p:cNvPr>
          <p:cNvSpPr/>
          <p:nvPr/>
        </p:nvSpPr>
        <p:spPr bwMode="auto">
          <a:xfrm>
            <a:off x="371942" y="5721897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교육</a:t>
            </a:r>
            <a:endParaRPr kumimoji="1" lang="en-US" altLang="ko-KR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현황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1385120-311F-BEA2-9C26-4213C02E43BA}"/>
              </a:ext>
            </a:extLst>
          </p:cNvPr>
          <p:cNvGrpSpPr/>
          <p:nvPr/>
        </p:nvGrpSpPr>
        <p:grpSpPr>
          <a:xfrm>
            <a:off x="7368539" y="2082793"/>
            <a:ext cx="2192974" cy="4243864"/>
            <a:chOff x="7368539" y="2242293"/>
            <a:chExt cx="2192974" cy="408436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E460C2-0AFF-2255-AB1D-ED1350454AED}"/>
                </a:ext>
              </a:extLst>
            </p:cNvPr>
            <p:cNvSpPr txBox="1"/>
            <p:nvPr/>
          </p:nvSpPr>
          <p:spPr>
            <a:xfrm>
              <a:off x="7368540" y="2242293"/>
              <a:ext cx="2192973" cy="840635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친환경성과 기술 효율을 동시에 고려한 친환경 제품 설계 및 생산체계 강화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66477A-07EC-CB1D-DE84-9824B5B8CFA0}"/>
                </a:ext>
              </a:extLst>
            </p:cNvPr>
            <p:cNvSpPr txBox="1"/>
            <p:nvPr/>
          </p:nvSpPr>
          <p:spPr>
            <a:xfrm>
              <a:off x="7368540" y="3323536"/>
              <a:ext cx="2192973" cy="840635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/>
                <a:t>플랫폼</a:t>
              </a:r>
              <a:r>
                <a:rPr lang="en-US" altLang="ko-KR" dirty="0"/>
                <a:t>, </a:t>
              </a:r>
              <a:r>
                <a:rPr lang="ko-KR" altLang="en-US" dirty="0"/>
                <a:t>서비스 </a:t>
              </a:r>
              <a:r>
                <a:rPr lang="ko-KR" altLang="en-US"/>
                <a:t>기반 </a:t>
              </a:r>
              <a:r>
                <a:rPr lang="en-US" altLang="ko-KR"/>
                <a:t>SaaS</a:t>
              </a:r>
              <a:r>
                <a:rPr lang="en-US" altLang="ko-KR" dirty="0"/>
                <a:t>(Software as a Service) </a:t>
              </a:r>
              <a:r>
                <a:rPr lang="ko-KR" altLang="en-US" dirty="0"/>
                <a:t>의료기기 비즈니스 모델 확산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C2E4617-EB45-E093-2FC9-A5322C56B28F}"/>
                </a:ext>
              </a:extLst>
            </p:cNvPr>
            <p:cNvSpPr txBox="1"/>
            <p:nvPr/>
          </p:nvSpPr>
          <p:spPr>
            <a:xfrm>
              <a:off x="7368540" y="4404779"/>
              <a:ext cx="2192973" cy="840635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의료기기 사용환경 복잡성 증가에 따른  </a:t>
              </a:r>
              <a:r>
                <a:rPr lang="ko-KR" altLang="en-US"/>
                <a:t>제품 안전성</a:t>
              </a:r>
              <a:r>
                <a:rPr lang="en-US" altLang="ko-KR"/>
                <a:t>, </a:t>
              </a:r>
              <a:r>
                <a:rPr lang="ko-KR" altLang="en-US"/>
                <a:t>사후관리</a:t>
              </a:r>
              <a:r>
                <a:rPr lang="en-US" altLang="ko-KR" dirty="0"/>
                <a:t>, </a:t>
              </a:r>
              <a:r>
                <a:rPr lang="ko-KR" altLang="en-US" dirty="0"/>
                <a:t>사이버보안 중심 규제 강화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44613B-2162-9F0D-B3D9-100B511228BF}"/>
                </a:ext>
              </a:extLst>
            </p:cNvPr>
            <p:cNvSpPr txBox="1"/>
            <p:nvPr/>
          </p:nvSpPr>
          <p:spPr>
            <a:xfrm>
              <a:off x="7368539" y="5486022"/>
              <a:ext cx="2192973" cy="840635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하드웨어 중심 산업에서 </a:t>
              </a:r>
              <a:r>
                <a:rPr lang="en-US" altLang="ko-KR" dirty="0"/>
                <a:t>SW, AI </a:t>
              </a:r>
              <a:r>
                <a:rPr lang="ko-KR" altLang="en-US" dirty="0"/>
                <a:t>기반 스마트 의료기기 산업으로의 전환</a:t>
              </a:r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48B233D-FB3A-982E-14A5-D1F5590AED34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4757382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1A0C26-5A12-7BE5-8E9B-B4C8954257D3}"/>
              </a:ext>
            </a:extLst>
          </p:cNvPr>
          <p:cNvSpPr/>
          <p:nvPr/>
        </p:nvSpPr>
        <p:spPr>
          <a:xfrm>
            <a:off x="830576" y="2020883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전 세계적으로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인구 고령화 및 만성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질환자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 증가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가 예상되면서 조기 진단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예방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개인 맞춤형 진료 및 관리에 대한 수요가 증가하고 있음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3600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의료에 대한 소비자 인식이 높아지면서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웨어러블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가정용 스마트 의료기기의 소비가 확대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이는 자신의 건강을 관리할 수 있도록 돕고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결과적으로 전반적인 의료기기 수요 증가로 이어지고 있음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6626C1-44D2-8C83-D4C7-404A5EEF86C0}"/>
              </a:ext>
            </a:extLst>
          </p:cNvPr>
          <p:cNvSpPr/>
          <p:nvPr/>
        </p:nvSpPr>
        <p:spPr>
          <a:xfrm>
            <a:off x="830576" y="2759875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스마트 의료기기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디지털 혁신은 의료기기 제조 산업 성장의 핵심 동인으로 평가되며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ICT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가 융합된 디지털 의료기기인 진단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모니터링 장치와 치료장치의 확산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이 가속화되고 있음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  <a:p>
            <a:pPr marL="3600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친환경 의료기기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제품의 전 생애주기에서 친환경 설계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가 중요한 화두로 부상함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친환경성과 기술 효율을 동시에 고려한 디자인 전략이 활발히 전개 중임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C4FBDE-D10F-6C34-E854-5C0FDE864CA5}"/>
              </a:ext>
            </a:extLst>
          </p:cNvPr>
          <p:cNvSpPr/>
          <p:nvPr/>
        </p:nvSpPr>
        <p:spPr>
          <a:xfrm>
            <a:off x="830576" y="3498867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의료기기 시장에서도 친환경에 대한 수요가 점차 증가하고 있음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소비자 인식조사 결과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의료 분야에서 지속가능성의 중요성을 인식하는 소비자 비율은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36%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에서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80%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로 증가했음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</a:t>
            </a:r>
          </a:p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다만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한국의 경우 국내 도입 상황에 대한 평가를 묻는 질문에서 전체 응답자의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26%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만이 ‘널리’ 혹은 ‘어느 정도’ 도입돼 있다고 응답함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4D3FC54-F9E8-9B35-B386-9D3E1D6B99AF}"/>
              </a:ext>
            </a:extLst>
          </p:cNvPr>
          <p:cNvSpPr/>
          <p:nvPr/>
        </p:nvSpPr>
        <p:spPr>
          <a:xfrm>
            <a:off x="833645" y="4976851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의료기기 산업은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정책 환경의 영향을 크게 받는 특성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을 지님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'23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년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발표한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 「제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1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차 의료기기 산업 육성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지원 종합계획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('23~'27)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」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을 통해 ‘국가필수의료기기’ 제도를 도입하고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의료현장 필수 품목을 선정해 안정적 공급을 위한 기술개발을 지원 중임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또한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‘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디지털의료제품법’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을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통해 디지털 기술 적용 의료제품의 특성을 반영한 평가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인력 양성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R&amp;D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등 지원 근거를 마련하는 등 다양한 정책을 시행하고 있음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D478A85-7AE1-59C8-1976-2C97A56F96DA}"/>
              </a:ext>
            </a:extLst>
          </p:cNvPr>
          <p:cNvSpPr/>
          <p:nvPr/>
        </p:nvSpPr>
        <p:spPr>
          <a:xfrm>
            <a:off x="833645" y="4237859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지난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5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년간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(‘18~ ‘22)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글로벌 상위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10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개 국가의 글로벌 의료기기 시장 규모는 연평균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5%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이내 성장에 그쳤으나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미국과 한국은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8%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이상의 높은 성장률을 기록함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</a:t>
            </a:r>
          </a:p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인공지능과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머신러닝을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활용해 질병을 감지하고 환자 건강 상태에 대한 실시간 통찰력을 제공하는 스마트 의료기기는 산업 내 새로운 트렌드로 부상함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91A6801-CDED-02A9-539A-DF70549E6C06}"/>
              </a:ext>
            </a:extLst>
          </p:cNvPr>
          <p:cNvSpPr/>
          <p:nvPr/>
        </p:nvSpPr>
        <p:spPr>
          <a:xfrm>
            <a:off x="838052" y="5715843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국내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11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개 교육기관의 최근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2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개년 의료기기 관련 교육을 대상으로 토픽 모델링을 진행한 결과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‘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의료기기 인증 및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품질관리’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가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21,3%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로 가장 높은 결과를 보임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뒤이어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‘해외 인허가 및 인증’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‘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품질 관리 및 안전’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‘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사이버 보안 기술’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‘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연구개발 및 혁신’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‘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문서 작성 및 제출’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‘GMP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및 품질 시스템’ 등이 높게 나타남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395FF32-77D3-B8D5-D652-9350DCD4B28D}"/>
              </a:ext>
            </a:extLst>
          </p:cNvPr>
          <p:cNvSpPr/>
          <p:nvPr/>
        </p:nvSpPr>
        <p:spPr>
          <a:xfrm>
            <a:off x="5438029" y="1735604"/>
            <a:ext cx="1495159" cy="3356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anchor="ctr"/>
          <a:lstStyle/>
          <a:p>
            <a:pPr algn="ctr" defTabSz="914395">
              <a:lnSpc>
                <a:spcPct val="120000"/>
              </a:lnSpc>
            </a:pP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[</a:t>
            </a:r>
            <a:r>
              <a:rPr lang="ko-KR" altLang="en-US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배경</a:t>
            </a: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803798F-28AE-CDD1-D418-FFAEB8EAA1A9}"/>
              </a:ext>
            </a:extLst>
          </p:cNvPr>
          <p:cNvSpPr/>
          <p:nvPr/>
        </p:nvSpPr>
        <p:spPr>
          <a:xfrm>
            <a:off x="7717447" y="1735604"/>
            <a:ext cx="1495159" cy="3356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anchor="ctr"/>
          <a:lstStyle/>
          <a:p>
            <a:pPr algn="ctr" defTabSz="914395">
              <a:lnSpc>
                <a:spcPct val="120000"/>
              </a:lnSpc>
            </a:pP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[</a:t>
            </a:r>
            <a:r>
              <a:rPr lang="ko-KR" altLang="en-US" spc="-50" dirty="0" err="1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전환트렌드</a:t>
            </a: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]</a:t>
            </a:r>
          </a:p>
        </p:txBody>
      </p:sp>
      <p:sp>
        <p:nvSpPr>
          <p:cNvPr id="39" name="Freeform 61">
            <a:extLst>
              <a:ext uri="{FF2B5EF4-FFF2-40B4-BE49-F238E27FC236}">
                <a16:creationId xmlns:a16="http://schemas.microsoft.com/office/drawing/2014/main" id="{D74FF427-E065-5ACB-CE16-B023E18263E6}"/>
              </a:ext>
            </a:extLst>
          </p:cNvPr>
          <p:cNvSpPr>
            <a:spLocks/>
          </p:cNvSpPr>
          <p:nvPr/>
        </p:nvSpPr>
        <p:spPr bwMode="auto">
          <a:xfrm>
            <a:off x="5127757" y="2019123"/>
            <a:ext cx="346675" cy="4423962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9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C150425-7328-D71E-A19F-E0CAE6E07D62}"/>
              </a:ext>
            </a:extLst>
          </p:cNvPr>
          <p:cNvCxnSpPr>
            <a:cxnSpLocks/>
            <a:stCxn id="10" idx="3"/>
            <a:endCxn id="24" idx="1"/>
          </p:cNvCxnSpPr>
          <p:nvPr/>
        </p:nvCxnSpPr>
        <p:spPr>
          <a:xfrm flipV="1">
            <a:off x="6933188" y="2519525"/>
            <a:ext cx="435352" cy="193804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96D2E6-4005-A59F-9D60-08428CAAA4BF}"/>
              </a:ext>
            </a:extLst>
          </p:cNvPr>
          <p:cNvSpPr txBox="1"/>
          <p:nvPr/>
        </p:nvSpPr>
        <p:spPr>
          <a:xfrm>
            <a:off x="5438029" y="2393933"/>
            <a:ext cx="1495159" cy="638792"/>
          </a:xfrm>
          <a:prstGeom prst="roundRect">
            <a:avLst/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36000" rIns="3600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ko-KR" altLang="en-US" sz="1100" spc="-50" dirty="0">
                <a:latin typeface="페이퍼로지 6 SemiBold" pitchFamily="2" charset="-127"/>
                <a:ea typeface="페이퍼로지 6 SemiBold" pitchFamily="2" charset="-127"/>
              </a:rPr>
              <a:t>온실가스 감축 목표 설정 등 글로벌 환경 규제 강화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93AF20-FDF8-F83B-BB11-8C0EB484DCD6}"/>
              </a:ext>
            </a:extLst>
          </p:cNvPr>
          <p:cNvSpPr txBox="1"/>
          <p:nvPr/>
        </p:nvSpPr>
        <p:spPr>
          <a:xfrm>
            <a:off x="5438029" y="3157605"/>
            <a:ext cx="1495159" cy="638792"/>
          </a:xfrm>
          <a:prstGeom prst="roundRect">
            <a:avLst/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36000" rIns="3600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ko-KR" altLang="en-US" sz="1100" spc="-50" dirty="0">
                <a:latin typeface="페이퍼로지 6 SemiBold" pitchFamily="2" charset="-127"/>
                <a:ea typeface="페이퍼로지 6 SemiBold" pitchFamily="2" charset="-127"/>
              </a:rPr>
              <a:t>고령화 및 만성질환 증가로 인한 조기 진단</a:t>
            </a:r>
            <a:r>
              <a:rPr lang="en-US" altLang="ko-KR" sz="1100" spc="-50" dirty="0"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sz="1100" spc="-50" dirty="0">
                <a:latin typeface="페이퍼로지 6 SemiBold" pitchFamily="2" charset="-127"/>
                <a:ea typeface="페이퍼로지 6 SemiBold" pitchFamily="2" charset="-127"/>
              </a:rPr>
              <a:t>예방 등 개인 맞춤형 수요 증가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DAF811-C6FA-5390-50BD-407F174D5E6B}"/>
              </a:ext>
            </a:extLst>
          </p:cNvPr>
          <p:cNvSpPr txBox="1"/>
          <p:nvPr/>
        </p:nvSpPr>
        <p:spPr>
          <a:xfrm>
            <a:off x="5438029" y="3921277"/>
            <a:ext cx="1495159" cy="638792"/>
          </a:xfrm>
          <a:prstGeom prst="roundRect">
            <a:avLst/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36000" rIns="3600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ko-KR" altLang="en-US" sz="1100" spc="-50" dirty="0">
                <a:latin typeface="페이퍼로지 6 SemiBold" pitchFamily="2" charset="-127"/>
                <a:ea typeface="페이퍼로지 6 SemiBold" pitchFamily="2" charset="-127"/>
              </a:rPr>
              <a:t>빅데이터</a:t>
            </a:r>
            <a:r>
              <a:rPr lang="en-US" altLang="ko-KR" sz="1100" spc="-50" dirty="0">
                <a:latin typeface="페이퍼로지 6 SemiBold" pitchFamily="2" charset="-127"/>
                <a:ea typeface="페이퍼로지 6 SemiBold" pitchFamily="2" charset="-127"/>
              </a:rPr>
              <a:t>, AI </a:t>
            </a:r>
            <a:r>
              <a:rPr lang="ko-KR" altLang="en-US" sz="1100" spc="-50" dirty="0">
                <a:latin typeface="페이퍼로지 6 SemiBold" pitchFamily="2" charset="-127"/>
                <a:ea typeface="페이퍼로지 6 SemiBold" pitchFamily="2" charset="-127"/>
              </a:rPr>
              <a:t>등 </a:t>
            </a:r>
            <a:r>
              <a:rPr lang="en-US" altLang="ko-KR" sz="1100" spc="-50" dirty="0">
                <a:latin typeface="페이퍼로지 6 SemiBold" pitchFamily="2" charset="-127"/>
                <a:ea typeface="페이퍼로지 6 SemiBold" pitchFamily="2" charset="-127"/>
              </a:rPr>
              <a:t>ICT </a:t>
            </a:r>
            <a:r>
              <a:rPr lang="ko-KR" altLang="en-US" sz="1100" spc="-50" dirty="0">
                <a:latin typeface="페이퍼로지 6 SemiBold" pitchFamily="2" charset="-127"/>
                <a:ea typeface="페이퍼로지 6 SemiBold" pitchFamily="2" charset="-127"/>
              </a:rPr>
              <a:t>융합을 통한 디지털 헬스케어 기술 고도화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25D129-B872-98AC-8CCC-03E20CAD70FC}"/>
              </a:ext>
            </a:extLst>
          </p:cNvPr>
          <p:cNvSpPr txBox="1"/>
          <p:nvPr/>
        </p:nvSpPr>
        <p:spPr>
          <a:xfrm>
            <a:off x="5438029" y="4684949"/>
            <a:ext cx="1495159" cy="638792"/>
          </a:xfrm>
          <a:prstGeom prst="roundRect">
            <a:avLst/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36000" rIns="3600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ko-KR" altLang="en-US" sz="1100" spc="-50" dirty="0">
                <a:latin typeface="페이퍼로지 6 SemiBold" pitchFamily="2" charset="-127"/>
                <a:ea typeface="페이퍼로지 6 SemiBold" pitchFamily="2" charset="-127"/>
              </a:rPr>
              <a:t>의료기기 친환경</a:t>
            </a:r>
            <a:r>
              <a:rPr lang="en-US" altLang="ko-KR" sz="1100" spc="-50" dirty="0"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100" spc="-50" dirty="0">
                <a:latin typeface="페이퍼로지 6 SemiBold" pitchFamily="2" charset="-127"/>
                <a:ea typeface="페이퍼로지 6 SemiBold" pitchFamily="2" charset="-127"/>
              </a:rPr>
              <a:t>지속가능성 인식 확산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495EB3-E01D-24C6-F8F5-FB9258F05110}"/>
              </a:ext>
            </a:extLst>
          </p:cNvPr>
          <p:cNvSpPr txBox="1"/>
          <p:nvPr/>
        </p:nvSpPr>
        <p:spPr>
          <a:xfrm>
            <a:off x="5438029" y="5448622"/>
            <a:ext cx="1495159" cy="638792"/>
          </a:xfrm>
          <a:prstGeom prst="roundRect">
            <a:avLst/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36000" rIns="3600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ko-KR" altLang="en-US" sz="1100" spc="-50" dirty="0">
                <a:latin typeface="페이퍼로지 6 SemiBold" pitchFamily="2" charset="-127"/>
                <a:ea typeface="페이퍼로지 6 SemiBold" pitchFamily="2" charset="-127"/>
              </a:rPr>
              <a:t>글로벌 기업의 빅테크</a:t>
            </a:r>
            <a:r>
              <a:rPr lang="en-US" altLang="ko-KR" sz="1100" spc="-50" dirty="0"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100" spc="-50" dirty="0">
                <a:latin typeface="페이퍼로지 6 SemiBold" pitchFamily="2" charset="-127"/>
                <a:ea typeface="페이퍼로지 6 SemiBold" pitchFamily="2" charset="-127"/>
              </a:rPr>
              <a:t>및 플랫폼 기업의 의료기기 산업 진출 등 경쟁 심화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0875FE9-A756-CCC2-30F9-FB7ACA6C8101}"/>
              </a:ext>
            </a:extLst>
          </p:cNvPr>
          <p:cNvCxnSpPr>
            <a:cxnSpLocks/>
            <a:stCxn id="16" idx="3"/>
            <a:endCxn id="26" idx="1"/>
          </p:cNvCxnSpPr>
          <p:nvPr/>
        </p:nvCxnSpPr>
        <p:spPr>
          <a:xfrm>
            <a:off x="6933188" y="3477001"/>
            <a:ext cx="435352" cy="165991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9EF08BC-3678-B18E-0EB8-23AD1B2FFC85}"/>
              </a:ext>
            </a:extLst>
          </p:cNvPr>
          <p:cNvCxnSpPr>
            <a:cxnSpLocks/>
            <a:stCxn id="16" idx="3"/>
            <a:endCxn id="28" idx="1"/>
          </p:cNvCxnSpPr>
          <p:nvPr/>
        </p:nvCxnSpPr>
        <p:spPr>
          <a:xfrm>
            <a:off x="6933188" y="3477001"/>
            <a:ext cx="435352" cy="1289458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98136A1-2187-E3A4-02A6-9D8AE08EECE9}"/>
              </a:ext>
            </a:extLst>
          </p:cNvPr>
          <p:cNvCxnSpPr>
            <a:cxnSpLocks/>
            <a:stCxn id="16" idx="3"/>
            <a:endCxn id="29" idx="1"/>
          </p:cNvCxnSpPr>
          <p:nvPr/>
        </p:nvCxnSpPr>
        <p:spPr>
          <a:xfrm>
            <a:off x="6933188" y="3477001"/>
            <a:ext cx="435351" cy="2412925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F2A79F0-3807-0F3A-A41D-6F90A0EF8B4A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>
            <a:off x="6933188" y="4240673"/>
            <a:ext cx="435351" cy="1649253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C1DA5E0-F9EF-1EBD-64D5-B55C27A17242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6933188" y="4240673"/>
            <a:ext cx="435352" cy="525786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9463F219-EB82-F40F-06AC-9EE5E913BA06}"/>
              </a:ext>
            </a:extLst>
          </p:cNvPr>
          <p:cNvCxnSpPr>
            <a:cxnSpLocks/>
            <a:stCxn id="17" idx="3"/>
            <a:endCxn id="26" idx="1"/>
          </p:cNvCxnSpPr>
          <p:nvPr/>
        </p:nvCxnSpPr>
        <p:spPr>
          <a:xfrm flipV="1">
            <a:off x="6933188" y="3642992"/>
            <a:ext cx="435352" cy="597681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608AD6C3-59AB-2FA4-C2FF-6819C64F3355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 flipV="1">
            <a:off x="6933188" y="2519525"/>
            <a:ext cx="435352" cy="2484820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6A08A95-8A8B-7A0B-1A90-AABA67B4B72A}"/>
              </a:ext>
            </a:extLst>
          </p:cNvPr>
          <p:cNvCxnSpPr>
            <a:cxnSpLocks/>
            <a:stCxn id="35" idx="3"/>
            <a:endCxn id="26" idx="1"/>
          </p:cNvCxnSpPr>
          <p:nvPr/>
        </p:nvCxnSpPr>
        <p:spPr>
          <a:xfrm flipV="1">
            <a:off x="6933188" y="3642992"/>
            <a:ext cx="435352" cy="2125026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75A4C12-5930-260F-55FC-653C3268A344}"/>
              </a:ext>
            </a:extLst>
          </p:cNvPr>
          <p:cNvCxnSpPr>
            <a:cxnSpLocks/>
            <a:stCxn id="35" idx="3"/>
            <a:endCxn id="28" idx="1"/>
          </p:cNvCxnSpPr>
          <p:nvPr/>
        </p:nvCxnSpPr>
        <p:spPr>
          <a:xfrm flipV="1">
            <a:off x="6933188" y="4766459"/>
            <a:ext cx="435352" cy="1001559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512FC810-57A4-39FE-40E2-F386E0F0750E}"/>
              </a:ext>
            </a:extLst>
          </p:cNvPr>
          <p:cNvCxnSpPr>
            <a:cxnSpLocks/>
            <a:stCxn id="35" idx="3"/>
            <a:endCxn id="29" idx="1"/>
          </p:cNvCxnSpPr>
          <p:nvPr/>
        </p:nvCxnSpPr>
        <p:spPr>
          <a:xfrm>
            <a:off x="6933188" y="5768018"/>
            <a:ext cx="435351" cy="121908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910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7963E-F72F-3DE2-B18E-CE36CE6C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1C93A05-0A39-D1A7-B323-0321D4F9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255F42-7F2C-4189-0AD4-24CD8DB53BBB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4ADF8064-B7F5-51AB-219E-DDFDC2ACD605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화장품 산업은 강화된 안전성을 요구하는 제도적 흐름 속에서 첨단 및 디지털 기술을 융합하여 성장하고 있으며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소비자의 동물 복지 및 친환경화 수요에 대응하여 변화하고 있습니다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AE4FF-2D47-DC3D-D900-78577C7E5095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1AA85801-9C9E-36AC-44C0-BB698778B44C}"/>
              </a:ext>
            </a:extLst>
          </p:cNvPr>
          <p:cNvSpPr/>
          <p:nvPr/>
        </p:nvSpPr>
        <p:spPr>
          <a:xfrm rot="10800000">
            <a:off x="344953" y="-7270"/>
            <a:ext cx="1058535" cy="735932"/>
          </a:xfrm>
          <a:prstGeom prst="round2SameRect">
            <a:avLst/>
          </a:prstGeom>
          <a:solidFill>
            <a:srgbClr val="344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08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3E225-C5B4-2572-9F07-550E07A63B0D}"/>
              </a:ext>
            </a:extLst>
          </p:cNvPr>
          <p:cNvSpPr txBox="1"/>
          <p:nvPr/>
        </p:nvSpPr>
        <p:spPr>
          <a:xfrm>
            <a:off x="433220" y="300781"/>
            <a:ext cx="882000" cy="276999"/>
          </a:xfrm>
          <a:prstGeom prst="rect">
            <a:avLst/>
          </a:prstGeom>
          <a:grp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spc="-5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defRPr>
            </a:lvl1pPr>
          </a:lstStyle>
          <a:p>
            <a:r>
              <a:rPr lang="en-US" altLang="ko-KR" dirty="0"/>
              <a:t>Module 2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E5C87D-8B2A-BD00-79E6-DA9CB096C4C1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5.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 주요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산업군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환경분석</a:t>
            </a:r>
          </a:p>
        </p:txBody>
      </p:sp>
      <p:sp>
        <p:nvSpPr>
          <p:cNvPr id="15" name="텍스트 개체 틀 1">
            <a:extLst>
              <a:ext uri="{FF2B5EF4-FFF2-40B4-BE49-F238E27FC236}">
                <a16:creationId xmlns:a16="http://schemas.microsoft.com/office/drawing/2014/main" id="{B3FC7D9F-8A8F-D6A7-5B50-D40F7F6C0E06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화장품 환경분석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F3A5569-E071-5FB0-5516-0D72EA4271BE}"/>
              </a:ext>
            </a:extLst>
          </p:cNvPr>
          <p:cNvGrpSpPr/>
          <p:nvPr/>
        </p:nvGrpSpPr>
        <p:grpSpPr>
          <a:xfrm>
            <a:off x="7368541" y="2082793"/>
            <a:ext cx="2192972" cy="4260857"/>
            <a:chOff x="7368541" y="2191947"/>
            <a:chExt cx="2192972" cy="415170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F17E90-1900-483D-A73A-79E3EEF45D6D}"/>
                </a:ext>
              </a:extLst>
            </p:cNvPr>
            <p:cNvSpPr txBox="1"/>
            <p:nvPr/>
          </p:nvSpPr>
          <p:spPr>
            <a:xfrm>
              <a:off x="7368541" y="2191947"/>
              <a:ext cx="2192972" cy="663819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탄소 저감을 위한 친환경 제품 설계 </a:t>
              </a:r>
              <a:r>
                <a:rPr lang="en-US" altLang="ko-KR" dirty="0"/>
                <a:t>(</a:t>
              </a:r>
              <a:r>
                <a:rPr lang="ko-KR" altLang="en-US" dirty="0"/>
                <a:t>소재</a:t>
              </a:r>
              <a:r>
                <a:rPr lang="en-US" altLang="ko-KR" dirty="0"/>
                <a:t>, </a:t>
              </a:r>
              <a:r>
                <a:rPr lang="ko-KR" altLang="en-US" dirty="0"/>
                <a:t>공정</a:t>
              </a:r>
              <a:r>
                <a:rPr lang="en-US" altLang="ko-KR" dirty="0"/>
                <a:t>, </a:t>
              </a:r>
              <a:r>
                <a:rPr lang="ko-KR" altLang="en-US" dirty="0"/>
                <a:t>용기</a:t>
              </a:r>
              <a:r>
                <a:rPr lang="en-US" altLang="ko-KR" dirty="0"/>
                <a:t>, </a:t>
              </a:r>
              <a:r>
                <a:rPr lang="ko-KR" altLang="en-US" dirty="0"/>
                <a:t>포장재 등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3F63A1-2453-BBDE-BE9C-AA5E6BFCFD2C}"/>
                </a:ext>
              </a:extLst>
            </p:cNvPr>
            <p:cNvSpPr txBox="1"/>
            <p:nvPr/>
          </p:nvSpPr>
          <p:spPr>
            <a:xfrm>
              <a:off x="7368541" y="3063919"/>
              <a:ext cx="2192972" cy="663819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브랜드 기획과 마케팅 역량 강화 필요</a:t>
              </a:r>
              <a:endParaRPr lang="en-US" altLang="ko-KR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8A535BA-EE8E-3F6D-9473-E6ED1E6160A1}"/>
                </a:ext>
              </a:extLst>
            </p:cNvPr>
            <p:cNvSpPr txBox="1"/>
            <p:nvPr/>
          </p:nvSpPr>
          <p:spPr>
            <a:xfrm>
              <a:off x="7368541" y="3935890"/>
              <a:ext cx="2192972" cy="663819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책임판매업자의 규제 및 인허가 대응 역량 강화 필요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5DDEA1E-0DFC-ECC8-4F4E-47FC96303117}"/>
                </a:ext>
              </a:extLst>
            </p:cNvPr>
            <p:cNvSpPr txBox="1"/>
            <p:nvPr/>
          </p:nvSpPr>
          <p:spPr>
            <a:xfrm>
              <a:off x="7368541" y="4807861"/>
              <a:ext cx="2192972" cy="663819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제품 안전성</a:t>
              </a:r>
              <a:r>
                <a:rPr lang="en-US" altLang="ko-KR" dirty="0"/>
                <a:t> </a:t>
              </a:r>
              <a:r>
                <a:rPr lang="ko-KR" altLang="en-US" dirty="0"/>
                <a:t>및</a:t>
              </a:r>
              <a:r>
                <a:rPr lang="en-US" altLang="ko-KR" dirty="0"/>
                <a:t> </a:t>
              </a:r>
              <a:r>
                <a:rPr lang="ko-KR" altLang="en-US" dirty="0"/>
                <a:t>효능의 과학적 검증 기준 강화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52EEB9C-DA88-70F8-984D-E1EEC9F2C614}"/>
                </a:ext>
              </a:extLst>
            </p:cNvPr>
            <p:cNvSpPr txBox="1"/>
            <p:nvPr/>
          </p:nvSpPr>
          <p:spPr>
            <a:xfrm>
              <a:off x="7368541" y="5679831"/>
              <a:ext cx="2192972" cy="663819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en-US" altLang="ko-KR"/>
                <a:t>AI </a:t>
              </a:r>
              <a:r>
                <a:rPr lang="ko-KR" altLang="en-US"/>
                <a:t>진단</a:t>
              </a:r>
              <a:r>
                <a:rPr lang="en-US" altLang="ko-KR"/>
                <a:t>, </a:t>
              </a:r>
              <a:r>
                <a:rPr lang="ko-KR" altLang="en-US"/>
                <a:t>가상체험</a:t>
              </a:r>
              <a:r>
                <a:rPr lang="en-US" altLang="ko-KR" dirty="0"/>
                <a:t> </a:t>
              </a:r>
              <a:r>
                <a:rPr lang="ko-KR" altLang="en-US" dirty="0"/>
                <a:t>기반 마케팅 등 디지털 기술 접목 범위 확대</a:t>
              </a:r>
            </a:p>
          </p:txBody>
        </p:sp>
      </p:grpSp>
      <p:sp>
        <p:nvSpPr>
          <p:cNvPr id="9" name="타원 8">
            <a:extLst>
              <a:ext uri="{FF2B5EF4-FFF2-40B4-BE49-F238E27FC236}">
                <a16:creationId xmlns:a16="http://schemas.microsoft.com/office/drawing/2014/main" id="{997929D2-F481-301A-A2D4-8A9117D5C73A}"/>
              </a:ext>
            </a:extLst>
          </p:cNvPr>
          <p:cNvSpPr/>
          <p:nvPr/>
        </p:nvSpPr>
        <p:spPr bwMode="auto">
          <a:xfrm>
            <a:off x="371942" y="3538435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환경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(E)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35D5A85-5D93-669B-4D72-7605F42480FC}"/>
              </a:ext>
            </a:extLst>
          </p:cNvPr>
          <p:cNvSpPr/>
          <p:nvPr/>
        </p:nvSpPr>
        <p:spPr bwMode="auto">
          <a:xfrm>
            <a:off x="371942" y="2810614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기술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(T)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D4556AD-3485-0483-54DC-438896C549AF}"/>
              </a:ext>
            </a:extLst>
          </p:cNvPr>
          <p:cNvSpPr/>
          <p:nvPr/>
        </p:nvSpPr>
        <p:spPr bwMode="auto">
          <a:xfrm>
            <a:off x="371942" y="2082793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사회</a:t>
            </a:r>
            <a:r>
              <a:rPr kumimoji="1" lang="en-US" altLang="ko-KR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(S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6F4E398-2677-5636-4C8F-19F3EEB2493F}"/>
              </a:ext>
            </a:extLst>
          </p:cNvPr>
          <p:cNvSpPr/>
          <p:nvPr/>
        </p:nvSpPr>
        <p:spPr bwMode="auto">
          <a:xfrm>
            <a:off x="371942" y="4994077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정책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(P)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4818A20-C72D-D83F-8331-925646F12467}"/>
              </a:ext>
            </a:extLst>
          </p:cNvPr>
          <p:cNvSpPr/>
          <p:nvPr/>
        </p:nvSpPr>
        <p:spPr bwMode="auto">
          <a:xfrm>
            <a:off x="371942" y="4266256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경제</a:t>
            </a:r>
            <a:r>
              <a:rPr kumimoji="1" lang="en-US" altLang="ko-KR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(E)</a:t>
            </a:r>
            <a:endParaRPr kumimoji="1" lang="ko-KR" altLang="en-US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D22EB83-B352-6D6A-FD5C-DA8DCA3317E2}"/>
              </a:ext>
            </a:extLst>
          </p:cNvPr>
          <p:cNvSpPr/>
          <p:nvPr/>
        </p:nvSpPr>
        <p:spPr bwMode="auto">
          <a:xfrm>
            <a:off x="371942" y="5721897"/>
            <a:ext cx="392730" cy="351615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395D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18000" rIns="36000" bIns="1800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교육</a:t>
            </a:r>
            <a:endParaRPr kumimoji="1" lang="en-US" altLang="ko-KR" sz="800" kern="0" dirty="0">
              <a:solidFill>
                <a:srgbClr val="474747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 dirty="0">
                <a:solidFill>
                  <a:srgbClr val="474747"/>
                </a:solidFill>
                <a:latin typeface="페이퍼로지 6 SemiBold" pitchFamily="2" charset="-127"/>
                <a:ea typeface="페이퍼로지 6 SemiBold" pitchFamily="2" charset="-127"/>
              </a:rPr>
              <a:t>현황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A8FF7FB-24D2-C0A1-752A-10D489284092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4757382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F3B8E2-8871-5C16-1B4D-D2CEB539FD54}"/>
              </a:ext>
            </a:extLst>
          </p:cNvPr>
          <p:cNvSpPr/>
          <p:nvPr/>
        </p:nvSpPr>
        <p:spPr>
          <a:xfrm>
            <a:off x="830576" y="2020883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2024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년 화장품 산업 트렌드로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초개인화 화장품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홈 뷰티 디바이스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스키니멀리즘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스킨케어와 기능성 화장품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클린뷰티와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 지속가능 뷰티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마케팅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/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유통 채널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-SNS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가 제시됨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36000" indent="-36000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화장품 산업은 소비자의 수요 변화에 대한 민감도가 매우 높은 산업임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최근 소비자들은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제품의 성분 안정성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뿐만 아니라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기획부터 폐기까지 산업 전 과정에 걸쳐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환경과 동물 복지에 대한 고려를 더욱 중시</a:t>
            </a:r>
            <a:r>
              <a:rPr lang="ko-KR" altLang="en-US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하는 경향을 보이고 있음</a:t>
            </a:r>
            <a:r>
              <a:rPr lang="en-US" altLang="ko-KR" sz="90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5044DB-7E29-1460-E44F-DD8519DF575E}"/>
              </a:ext>
            </a:extLst>
          </p:cNvPr>
          <p:cNvSpPr/>
          <p:nvPr/>
        </p:nvSpPr>
        <p:spPr>
          <a:xfrm>
            <a:off x="830576" y="2759875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생명공학기술의 발달로 피부과학 분야 연구가 급진전하면서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마이크로바이옴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엑소좀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 등 바이오 기반 신소재 개발이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활발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해졌음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</a:t>
            </a:r>
          </a:p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경피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약물 전달 기술이나 맞춤형 화장품 제형 기술과 같은 첨단 기술이 제품 개발에 적용되고 있으며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AI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를 활용한 피부 진단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제형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맞춤화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신소재 발견 용이화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가상 체험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(VTO, AR)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등 디지털 기술의 융합이 산업 전반에 걸쳐 큰 영향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을 미치고 있음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0D67FF-2748-7ECF-9A2E-A2938A9FE086}"/>
              </a:ext>
            </a:extLst>
          </p:cNvPr>
          <p:cNvSpPr/>
          <p:nvPr/>
        </p:nvSpPr>
        <p:spPr>
          <a:xfrm>
            <a:off x="830576" y="3498867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화장품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원료뿐만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아니라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화장품의 패키징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에도 상품의 용도와 유형에 따라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재활용 및 재생 플라스틱 등 다양한 원재료가 활용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되고 있음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주요국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(EU,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미국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일본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중국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한국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)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은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2022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년 이후부터 플라스틱 패키징에 대한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PCR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사용 의무 또는 목표를 점진적으로 도입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하고 있음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560D4EB-E51C-81FE-6F02-83CE521F0134}"/>
              </a:ext>
            </a:extLst>
          </p:cNvPr>
          <p:cNvSpPr/>
          <p:nvPr/>
        </p:nvSpPr>
        <p:spPr>
          <a:xfrm>
            <a:off x="833645" y="4976851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국제적으로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화장품에 대한 안전 규제가 강화되는 추세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이나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중소기업이 대부분인 산업 특성상 해외 수출규제 장벽에 자체적으로 대응할 역량이 부족함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정부는 화장품 산업의 신뢰 기반 질적 성장을 위해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안전 책임과 안전 역량의 선진화를 추진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하고 있으며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2028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년 ‘안전성 평가 제도’ 시행을 목표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로 단계적 도입을 계획하고 있음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093CC41-36BD-9BFE-9247-5238DE581E2C}"/>
              </a:ext>
            </a:extLst>
          </p:cNvPr>
          <p:cNvSpPr/>
          <p:nvPr/>
        </p:nvSpPr>
        <p:spPr>
          <a:xfrm>
            <a:off x="833645" y="4237859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2025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년 상반기 우리나라 화장품 수출액은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55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억 달러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약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7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조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5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천억 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)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로 역대 최대치를 경신함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이러한 추세는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‘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K-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뷰티’ 브랜드의 점유율 확대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에 기인한 구조적 성장으로 해석됨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미국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일본 등을 중심으로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K-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뷰티는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트렌디한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이미지와 자연 친화적 성분을 강점으로 하여 수요가 증가하고 있으며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이를 공략한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한국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인디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 브랜드와 중저가 제품군이 좋은 반응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을 얻고 있음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EF089F0-9E65-A5D4-4012-7D9A3F779FDC}"/>
              </a:ext>
            </a:extLst>
          </p:cNvPr>
          <p:cNvSpPr/>
          <p:nvPr/>
        </p:nvSpPr>
        <p:spPr>
          <a:xfrm>
            <a:off x="838052" y="5715843"/>
            <a:ext cx="4263818" cy="681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" marR="0" lvl="0" indent="-36000" algn="l" defTabSz="457200" rtl="0" eaLnBrk="1" fontAlgn="auto" latinLnBrk="0" hangingPunct="1"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국내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10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개 교육기관의 최근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2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개년 의료기기 관련 교육 및 세미나 등을 대상으로 토픽 모델링을 진행한 결과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‘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제형 개발 및 </a:t>
            </a:r>
            <a:r>
              <a:rPr lang="ko-KR" altLang="en-US" sz="900" spc="-50" dirty="0" err="1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연구’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가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25.0%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로 가장 높은 결과를 보임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뒤이어 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‘품질 및 안전관리’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‘</a:t>
            </a:r>
            <a:r>
              <a:rPr lang="ko-KR" altLang="en-US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법령 및 준수 교육’</a:t>
            </a:r>
            <a:r>
              <a:rPr lang="en-US" altLang="ko-KR" sz="90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‘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시험 및 평가’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‘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친환경 화장품 개발’ 등이 높게 나타남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50" name="Freeform 61">
            <a:extLst>
              <a:ext uri="{FF2B5EF4-FFF2-40B4-BE49-F238E27FC236}">
                <a16:creationId xmlns:a16="http://schemas.microsoft.com/office/drawing/2014/main" id="{3704F7AE-9603-FA48-2E8D-5928AE307DF2}"/>
              </a:ext>
            </a:extLst>
          </p:cNvPr>
          <p:cNvSpPr>
            <a:spLocks/>
          </p:cNvSpPr>
          <p:nvPr/>
        </p:nvSpPr>
        <p:spPr bwMode="auto">
          <a:xfrm>
            <a:off x="5127757" y="2019123"/>
            <a:ext cx="346675" cy="4423962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9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153A3A5-6673-232B-79D0-BDDE789DB1EB}"/>
              </a:ext>
            </a:extLst>
          </p:cNvPr>
          <p:cNvSpPr/>
          <p:nvPr/>
        </p:nvSpPr>
        <p:spPr>
          <a:xfrm>
            <a:off x="5438029" y="1735604"/>
            <a:ext cx="1495159" cy="3356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anchor="ctr"/>
          <a:lstStyle/>
          <a:p>
            <a:pPr algn="ctr" defTabSz="914395">
              <a:lnSpc>
                <a:spcPct val="120000"/>
              </a:lnSpc>
            </a:pP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[</a:t>
            </a:r>
            <a:r>
              <a:rPr lang="ko-KR" altLang="en-US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배경</a:t>
            </a: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]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5603D04-F522-0608-2EB3-803AB7B13EFF}"/>
              </a:ext>
            </a:extLst>
          </p:cNvPr>
          <p:cNvSpPr/>
          <p:nvPr/>
        </p:nvSpPr>
        <p:spPr>
          <a:xfrm>
            <a:off x="7717447" y="1735604"/>
            <a:ext cx="1495159" cy="3356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anchor="ctr"/>
          <a:lstStyle/>
          <a:p>
            <a:pPr algn="ctr" defTabSz="914395">
              <a:lnSpc>
                <a:spcPct val="120000"/>
              </a:lnSpc>
            </a:pP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[</a:t>
            </a:r>
            <a:r>
              <a:rPr lang="ko-KR" altLang="en-US" spc="-50" dirty="0" err="1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전환트렌드</a:t>
            </a:r>
            <a:r>
              <a:rPr lang="en-US" altLang="ko-KR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rPr>
              <a:t>]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DDE8A04B-B002-A6C4-D281-66DD5DE90C8E}"/>
              </a:ext>
            </a:extLst>
          </p:cNvPr>
          <p:cNvCxnSpPr>
            <a:cxnSpLocks/>
            <a:stCxn id="27" idx="3"/>
            <a:endCxn id="13" idx="1"/>
          </p:cNvCxnSpPr>
          <p:nvPr/>
        </p:nvCxnSpPr>
        <p:spPr>
          <a:xfrm flipV="1">
            <a:off x="6972765" y="2423429"/>
            <a:ext cx="395776" cy="289925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DD3FC9F2-8F72-E284-E1D7-F6864578E649}"/>
              </a:ext>
            </a:extLst>
          </p:cNvPr>
          <p:cNvGrpSpPr/>
          <p:nvPr/>
        </p:nvGrpSpPr>
        <p:grpSpPr>
          <a:xfrm>
            <a:off x="5438029" y="2409376"/>
            <a:ext cx="1534736" cy="3621869"/>
            <a:chOff x="5438029" y="2658276"/>
            <a:chExt cx="1534736" cy="362186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A61B46-0BFC-B4A0-BE2C-A2C94A5A0939}"/>
                </a:ext>
              </a:extLst>
            </p:cNvPr>
            <p:cNvSpPr txBox="1"/>
            <p:nvPr/>
          </p:nvSpPr>
          <p:spPr>
            <a:xfrm>
              <a:off x="5438029" y="2658276"/>
              <a:ext cx="1534736" cy="607955"/>
            </a:xfrm>
            <a:prstGeom prst="roundRect">
              <a:avLst/>
            </a:prstGeom>
            <a:solidFill>
              <a:srgbClr val="EEECE1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100" spc="-50"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온실가스 감축 목표 설정 등 글로벌 환경 규제 강화</a:t>
              </a:r>
              <a:endParaRPr lang="en-US" altLang="ko-KR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A3B3E5-2809-19C5-5D11-C0E660A613CA}"/>
                </a:ext>
              </a:extLst>
            </p:cNvPr>
            <p:cNvSpPr txBox="1"/>
            <p:nvPr/>
          </p:nvSpPr>
          <p:spPr>
            <a:xfrm>
              <a:off x="5438029" y="3411755"/>
              <a:ext cx="1534736" cy="607955"/>
            </a:xfrm>
            <a:prstGeom prst="roundRect">
              <a:avLst/>
            </a:prstGeom>
            <a:solidFill>
              <a:srgbClr val="EEECE1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100" spc="-50"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 err="1"/>
                <a:t>인디</a:t>
              </a:r>
              <a:r>
                <a:rPr lang="ko-KR" altLang="en-US" dirty="0"/>
                <a:t> 브랜드의 시장 </a:t>
              </a:r>
              <a:r>
                <a:rPr lang="ko-KR" altLang="en-US"/>
                <a:t>주도권 확보</a:t>
              </a:r>
              <a:endParaRPr lang="en-US" altLang="ko-KR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81BFF2-BB5C-4571-7637-73326146B508}"/>
                </a:ext>
              </a:extLst>
            </p:cNvPr>
            <p:cNvSpPr txBox="1"/>
            <p:nvPr/>
          </p:nvSpPr>
          <p:spPr>
            <a:xfrm>
              <a:off x="5438029" y="4165233"/>
              <a:ext cx="1534736" cy="607955"/>
            </a:xfrm>
            <a:prstGeom prst="roundRect">
              <a:avLst/>
            </a:prstGeom>
            <a:solidFill>
              <a:srgbClr val="EEECE1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100" spc="-50"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독성 또는 유해 성분 없는 </a:t>
              </a:r>
              <a:r>
                <a:rPr lang="ko-KR" altLang="en-US" dirty="0" err="1"/>
                <a:t>클린</a:t>
              </a:r>
              <a:r>
                <a:rPr lang="ko-KR" altLang="en-US" dirty="0"/>
                <a:t> 뷰티가 시장의 기본값으로 </a:t>
              </a:r>
              <a:r>
                <a:rPr lang="ko-KR" altLang="en-US"/>
                <a:t>자리매김 </a:t>
              </a:r>
              <a:endParaRPr lang="en-US" altLang="ko-KR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65D7B68-C54D-C27D-6BFC-0E11C545C8EF}"/>
                </a:ext>
              </a:extLst>
            </p:cNvPr>
            <p:cNvSpPr txBox="1"/>
            <p:nvPr/>
          </p:nvSpPr>
          <p:spPr>
            <a:xfrm>
              <a:off x="5438029" y="4918711"/>
              <a:ext cx="1534736" cy="607955"/>
            </a:xfrm>
            <a:prstGeom prst="roundRect">
              <a:avLst/>
            </a:prstGeom>
            <a:solidFill>
              <a:srgbClr val="EEECE1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100" spc="-50"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/>
                <a:t>고기능성 바이오</a:t>
              </a:r>
              <a:r>
                <a:rPr lang="en-US" altLang="ko-KR"/>
                <a:t> </a:t>
              </a:r>
              <a:r>
                <a:rPr lang="ko-KR" altLang="en-US"/>
                <a:t>기반 </a:t>
              </a:r>
              <a:r>
                <a:rPr lang="ko-KR" altLang="en-US" dirty="0"/>
                <a:t>성분 연구 개발 활성화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3D8D024-BC29-B2A9-A01F-F561773C746C}"/>
                </a:ext>
              </a:extLst>
            </p:cNvPr>
            <p:cNvSpPr txBox="1"/>
            <p:nvPr/>
          </p:nvSpPr>
          <p:spPr>
            <a:xfrm>
              <a:off x="5438029" y="5672190"/>
              <a:ext cx="1534736" cy="607955"/>
            </a:xfrm>
            <a:prstGeom prst="roundRect">
              <a:avLst/>
            </a:prstGeom>
            <a:solidFill>
              <a:srgbClr val="EEECE1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100" spc="-50"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dirty="0"/>
                <a:t>개인 데이터 기반 초개인화 제품 수요 증가</a:t>
              </a:r>
            </a:p>
          </p:txBody>
        </p:sp>
      </p:grp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06000205-67EF-2A22-9782-70C93A04EFF4}"/>
              </a:ext>
            </a:extLst>
          </p:cNvPr>
          <p:cNvCxnSpPr>
            <a:cxnSpLocks/>
            <a:stCxn id="30" idx="3"/>
            <a:endCxn id="18" idx="1"/>
          </p:cNvCxnSpPr>
          <p:nvPr/>
        </p:nvCxnSpPr>
        <p:spPr>
          <a:xfrm flipV="1">
            <a:off x="6972765" y="3318326"/>
            <a:ext cx="395776" cy="148507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E5FBEE54-C520-4F12-9B43-BB696273A159}"/>
              </a:ext>
            </a:extLst>
          </p:cNvPr>
          <p:cNvCxnSpPr>
            <a:cxnSpLocks/>
            <a:stCxn id="30" idx="3"/>
            <a:endCxn id="13" idx="1"/>
          </p:cNvCxnSpPr>
          <p:nvPr/>
        </p:nvCxnSpPr>
        <p:spPr>
          <a:xfrm flipV="1">
            <a:off x="6972765" y="2423429"/>
            <a:ext cx="395776" cy="1043404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E2DB5A1D-5266-DBC8-2BEB-1FB2EC93B968}"/>
              </a:ext>
            </a:extLst>
          </p:cNvPr>
          <p:cNvCxnSpPr>
            <a:cxnSpLocks/>
            <a:stCxn id="30" idx="3"/>
            <a:endCxn id="20" idx="1"/>
          </p:cNvCxnSpPr>
          <p:nvPr/>
        </p:nvCxnSpPr>
        <p:spPr>
          <a:xfrm>
            <a:off x="6972765" y="3466833"/>
            <a:ext cx="395776" cy="746390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E3F2660-4114-09A8-A3DF-10370ED01AF3}"/>
              </a:ext>
            </a:extLst>
          </p:cNvPr>
          <p:cNvCxnSpPr>
            <a:cxnSpLocks/>
            <a:stCxn id="32" idx="3"/>
            <a:endCxn id="22" idx="1"/>
          </p:cNvCxnSpPr>
          <p:nvPr/>
        </p:nvCxnSpPr>
        <p:spPr>
          <a:xfrm>
            <a:off x="6972765" y="4220311"/>
            <a:ext cx="395776" cy="887808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68A01D08-EB6B-445E-622A-F420F372F315}"/>
              </a:ext>
            </a:extLst>
          </p:cNvPr>
          <p:cNvCxnSpPr>
            <a:cxnSpLocks/>
            <a:stCxn id="32" idx="3"/>
            <a:endCxn id="13" idx="1"/>
          </p:cNvCxnSpPr>
          <p:nvPr/>
        </p:nvCxnSpPr>
        <p:spPr>
          <a:xfrm flipV="1">
            <a:off x="6972765" y="2423429"/>
            <a:ext cx="395776" cy="1796882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414DBC8-DC94-F77A-B430-AA983F628344}"/>
              </a:ext>
            </a:extLst>
          </p:cNvPr>
          <p:cNvCxnSpPr>
            <a:cxnSpLocks/>
            <a:stCxn id="32" idx="3"/>
            <a:endCxn id="18" idx="1"/>
          </p:cNvCxnSpPr>
          <p:nvPr/>
        </p:nvCxnSpPr>
        <p:spPr>
          <a:xfrm flipV="1">
            <a:off x="6972765" y="3318326"/>
            <a:ext cx="395776" cy="901985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7D29FEB-6FCC-CEF7-6A69-3E06BD621D2A}"/>
              </a:ext>
            </a:extLst>
          </p:cNvPr>
          <p:cNvCxnSpPr>
            <a:cxnSpLocks/>
            <a:stCxn id="34" idx="3"/>
            <a:endCxn id="18" idx="1"/>
          </p:cNvCxnSpPr>
          <p:nvPr/>
        </p:nvCxnSpPr>
        <p:spPr>
          <a:xfrm flipV="1">
            <a:off x="6972765" y="3318326"/>
            <a:ext cx="395776" cy="1655463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AC67B8A-95BC-BDB8-605E-8F5E65894288}"/>
              </a:ext>
            </a:extLst>
          </p:cNvPr>
          <p:cNvCxnSpPr>
            <a:cxnSpLocks/>
            <a:stCxn id="34" idx="3"/>
            <a:endCxn id="22" idx="1"/>
          </p:cNvCxnSpPr>
          <p:nvPr/>
        </p:nvCxnSpPr>
        <p:spPr>
          <a:xfrm>
            <a:off x="6972765" y="4973789"/>
            <a:ext cx="395776" cy="134330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88DF4A34-E12F-5732-BAF6-F69ED06B1CC0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6972765" y="5727268"/>
            <a:ext cx="395776" cy="275746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1BD34D8-701E-42CF-D2E6-4901D4083F85}"/>
              </a:ext>
            </a:extLst>
          </p:cNvPr>
          <p:cNvCxnSpPr>
            <a:cxnSpLocks/>
            <a:stCxn id="32" idx="3"/>
            <a:endCxn id="20" idx="1"/>
          </p:cNvCxnSpPr>
          <p:nvPr/>
        </p:nvCxnSpPr>
        <p:spPr>
          <a:xfrm flipV="1">
            <a:off x="6972765" y="4213223"/>
            <a:ext cx="395776" cy="7088"/>
          </a:xfrm>
          <a:prstGeom prst="straightConnector1">
            <a:avLst/>
          </a:prstGeom>
          <a:ln w="6350">
            <a:solidFill>
              <a:srgbClr val="344532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73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9E094-A4C8-22E8-6F90-B972F2C4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404570A-CDF6-36C6-B39A-F2FB6DA56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62BBB4-7C15-54CE-2665-3F965EC24FEE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FD8258DC-AE93-DE9C-A65C-C4115506249A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산업별 이슈를 세밀하게 파악하기 위해 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STEEP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분석 결과를 활용하여 현장 전문가를 대상으로 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FGI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를 실시하였습니다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7C851-3776-E19C-E822-C9DACDA6B2E8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DB1DD382-2197-7ECE-2A4B-D080FCBB5D28}"/>
              </a:ext>
            </a:extLst>
          </p:cNvPr>
          <p:cNvSpPr/>
          <p:nvPr/>
        </p:nvSpPr>
        <p:spPr>
          <a:xfrm rot="10800000">
            <a:off x="344953" y="-7270"/>
            <a:ext cx="1058535" cy="735932"/>
          </a:xfrm>
          <a:prstGeom prst="round2SameRect">
            <a:avLst/>
          </a:prstGeom>
          <a:solidFill>
            <a:srgbClr val="344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108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74D9A-097C-D45B-53B5-7BA94391FC56}"/>
              </a:ext>
            </a:extLst>
          </p:cNvPr>
          <p:cNvSpPr txBox="1"/>
          <p:nvPr/>
        </p:nvSpPr>
        <p:spPr>
          <a:xfrm>
            <a:off x="433220" y="300781"/>
            <a:ext cx="882000" cy="276999"/>
          </a:xfrm>
          <a:prstGeom prst="rect">
            <a:avLst/>
          </a:prstGeom>
          <a:grp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spc="-5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defRPr>
            </a:lvl1pPr>
          </a:lstStyle>
          <a:p>
            <a:r>
              <a:rPr lang="en-US" altLang="ko-KR" dirty="0"/>
              <a:t>Module 2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3898D3-8EF9-880C-51A6-BE88CA176B96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5.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 주요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산업군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환경분석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2DC764-2E98-F035-1B4B-1420C0874F02}"/>
              </a:ext>
            </a:extLst>
          </p:cNvPr>
          <p:cNvSpPr txBox="1"/>
          <p:nvPr/>
        </p:nvSpPr>
        <p:spPr>
          <a:xfrm>
            <a:off x="344488" y="1930911"/>
            <a:ext cx="4499999" cy="439517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5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altLang="en-US" sz="140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회의 목</a:t>
            </a:r>
            <a:r>
              <a:rPr kumimoji="0" lang="ko-KR" altLang="en-US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적</a:t>
            </a:r>
            <a:endParaRPr lang="en-US" altLang="ko-KR" sz="140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∙ KTR 2026</a:t>
            </a:r>
            <a:r>
              <a:rPr lang="ko-KR" altLang="en-US" sz="1100" spc="-50" dirty="0">
                <a:latin typeface="페이퍼로지 4 Regular" pitchFamily="2" charset="-127"/>
                <a:ea typeface="페이퍼로지 4 Regular" pitchFamily="2" charset="-127"/>
              </a:rPr>
              <a:t>년도 신규 산업전환 훈련과정 개발을 위해</a:t>
            </a: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100" spc="-50" dirty="0">
                <a:latin typeface="페이퍼로지 4 Regular" pitchFamily="2" charset="-127"/>
                <a:ea typeface="페이퍼로지 4 Regular" pitchFamily="2" charset="-127"/>
              </a:rPr>
              <a:t> 각 산업 분야별 현황을 자세히 파악하고 희망하는 교육 내용을 도출하기 위함</a:t>
            </a: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500" spc="-50" dirty="0"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5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02 </a:t>
            </a:r>
            <a:r>
              <a:rPr kumimoji="0" lang="ko-KR" altLang="en-US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회의 개요</a:t>
            </a:r>
            <a:endParaRPr kumimoji="0" lang="en-US" altLang="ko-KR" sz="1400" b="0" i="0" u="none" strike="noStrike" kern="1200" cap="none" spc="-50" normalizeH="0" baseline="0" noProof="0" dirty="0">
              <a:ln>
                <a:noFill/>
              </a:ln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266700" indent="-85725">
              <a:lnSpc>
                <a:spcPct val="120000"/>
              </a:lnSpc>
              <a:defRPr/>
            </a:pP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∙ </a:t>
            </a:r>
            <a:r>
              <a:rPr lang="ko-KR" altLang="en-US" sz="1100" spc="-50" dirty="0">
                <a:latin typeface="페이퍼로지 4 Regular" pitchFamily="2" charset="-127"/>
                <a:ea typeface="페이퍼로지 4 Regular" pitchFamily="2" charset="-127"/>
              </a:rPr>
              <a:t>기간 </a:t>
            </a: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: 2025</a:t>
            </a:r>
            <a:r>
              <a:rPr lang="ko-KR" altLang="en-US" sz="1100" spc="-50" dirty="0"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7</a:t>
            </a:r>
            <a:r>
              <a:rPr lang="ko-KR" altLang="en-US" sz="1100" spc="-50" dirty="0">
                <a:latin typeface="페이퍼로지 4 Regular" pitchFamily="2" charset="-127"/>
                <a:ea typeface="페이퍼로지 4 Regular" pitchFamily="2" charset="-127"/>
              </a:rPr>
              <a:t>월 </a:t>
            </a: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14</a:t>
            </a:r>
            <a:r>
              <a:rPr lang="ko-KR" altLang="en-US" sz="1100" spc="-50" dirty="0">
                <a:latin typeface="페이퍼로지 4 Regular" pitchFamily="2" charset="-127"/>
                <a:ea typeface="페이퍼로지 4 Regular" pitchFamily="2" charset="-127"/>
              </a:rPr>
              <a:t>일 </a:t>
            </a: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(10:00~16:30)</a:t>
            </a:r>
          </a:p>
          <a:p>
            <a:pPr marL="266700" indent="-85725">
              <a:lnSpc>
                <a:spcPct val="120000"/>
              </a:lnSpc>
              <a:defRPr/>
            </a:pP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∙ </a:t>
            </a:r>
            <a:r>
              <a:rPr lang="ko-KR" altLang="en-US" sz="1100" spc="-50" dirty="0">
                <a:latin typeface="페이퍼로지 4 Regular" pitchFamily="2" charset="-127"/>
                <a:ea typeface="페이퍼로지 4 Regular" pitchFamily="2" charset="-127"/>
              </a:rPr>
              <a:t>방법 </a:t>
            </a: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100" spc="-50" dirty="0">
                <a:latin typeface="페이퍼로지 4 Regular" pitchFamily="2" charset="-127"/>
                <a:ea typeface="페이퍼로지 4 Regular" pitchFamily="2" charset="-127"/>
              </a:rPr>
              <a:t>전문가별 자문 분야를 고려하여 회의 분리 운영 </a:t>
            </a: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100" spc="-50" dirty="0">
                <a:latin typeface="페이퍼로지 4 Regular" pitchFamily="2" charset="-127"/>
                <a:ea typeface="페이퍼로지 4 Regular" pitchFamily="2" charset="-127"/>
              </a:rPr>
              <a:t>총 </a:t>
            </a: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1100" spc="-50" dirty="0">
                <a:latin typeface="페이퍼로지 4 Regular" pitchFamily="2" charset="-127"/>
                <a:ea typeface="페이퍼로지 4 Regular" pitchFamily="2" charset="-127"/>
              </a:rPr>
              <a:t>회 실시</a:t>
            </a:r>
            <a:r>
              <a:rPr lang="en-US" altLang="ko-KR" sz="1100" spc="-5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266700" indent="-85725">
              <a:lnSpc>
                <a:spcPct val="120000"/>
              </a:lnSpc>
              <a:defRPr/>
            </a:pPr>
            <a:endParaRPr lang="en-US" altLang="ko-KR" sz="1100" spc="-50" dirty="0"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7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05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1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1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1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4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4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34B768B-98F6-74D6-E1BC-EAAC0FD6ECF7}"/>
              </a:ext>
            </a:extLst>
          </p:cNvPr>
          <p:cNvGraphicFramePr>
            <a:graphicFrameLocks noGrp="1"/>
          </p:cNvGraphicFramePr>
          <p:nvPr/>
        </p:nvGraphicFramePr>
        <p:xfrm>
          <a:off x="446889" y="3664875"/>
          <a:ext cx="4295196" cy="1558440"/>
        </p:xfrm>
        <a:graphic>
          <a:graphicData uri="http://schemas.openxmlformats.org/drawingml/2006/table">
            <a:tbl>
              <a:tblPr/>
              <a:tblGrid>
                <a:gridCol w="1290471">
                  <a:extLst>
                    <a:ext uri="{9D8B030D-6E8A-4147-A177-3AD203B41FA5}">
                      <a16:colId xmlns:a16="http://schemas.microsoft.com/office/drawing/2014/main" val="3329669138"/>
                    </a:ext>
                  </a:extLst>
                </a:gridCol>
                <a:gridCol w="1001575">
                  <a:extLst>
                    <a:ext uri="{9D8B030D-6E8A-4147-A177-3AD203B41FA5}">
                      <a16:colId xmlns:a16="http://schemas.microsoft.com/office/drawing/2014/main" val="1902078048"/>
                    </a:ext>
                  </a:extLst>
                </a:gridCol>
                <a:gridCol w="1001575">
                  <a:extLst>
                    <a:ext uri="{9D8B030D-6E8A-4147-A177-3AD203B41FA5}">
                      <a16:colId xmlns:a16="http://schemas.microsoft.com/office/drawing/2014/main" val="3220593357"/>
                    </a:ext>
                  </a:extLst>
                </a:gridCol>
                <a:gridCol w="1001575">
                  <a:extLst>
                    <a:ext uri="{9D8B030D-6E8A-4147-A177-3AD203B41FA5}">
                      <a16:colId xmlns:a16="http://schemas.microsoft.com/office/drawing/2014/main" val="1643067357"/>
                    </a:ext>
                  </a:extLst>
                </a:gridCol>
              </a:tblGrid>
              <a:tr h="87005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3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소속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3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성명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3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직위 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관련 산업분야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640406"/>
                  </a:ext>
                </a:extLst>
              </a:tr>
              <a:tr h="87005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라파앤코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진</a:t>
                      </a:r>
                      <a:r>
                        <a:rPr lang="en-US" altLang="ko-KR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대표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화장품</a:t>
                      </a:r>
                      <a:r>
                        <a:rPr lang="en-US" altLang="ko-KR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뷰티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714680"/>
                  </a:ext>
                </a:extLst>
              </a:tr>
              <a:tr h="87005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딜라이트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</a:t>
                      </a:r>
                      <a:r>
                        <a:rPr lang="en-US" altLang="ko-KR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과장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화장품</a:t>
                      </a:r>
                      <a:r>
                        <a:rPr lang="en-US" altLang="ko-KR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뷰티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126188"/>
                  </a:ext>
                </a:extLst>
              </a:tr>
              <a:tr h="870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뉴퐁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유</a:t>
                      </a:r>
                      <a:r>
                        <a:rPr lang="en-US" altLang="ko-KR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팀장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35089"/>
                  </a:ext>
                </a:extLst>
              </a:tr>
              <a:tr h="155922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한국화학융합시험연구원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</a:t>
                      </a:r>
                      <a:r>
                        <a:rPr lang="en-US" altLang="ko-KR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책임연구원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778207"/>
                  </a:ext>
                </a:extLst>
              </a:tr>
              <a:tr h="87005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한국화학융합시험연구원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진</a:t>
                      </a:r>
                      <a:r>
                        <a:rPr lang="en-US" altLang="ko-KR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 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책임연구원</a:t>
                      </a:r>
                      <a:endParaRPr 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</a:t>
                      </a:r>
                      <a:endParaRPr 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51845"/>
                  </a:ext>
                </a:extLst>
              </a:tr>
              <a:tr h="87005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더데이원랩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김</a:t>
                      </a:r>
                      <a:r>
                        <a:rPr lang="en-US" altLang="ko-KR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영업이사</a:t>
                      </a:r>
                      <a:endParaRPr 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바이오플라스틱</a:t>
                      </a:r>
                      <a:endParaRPr 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976319"/>
                  </a:ext>
                </a:extLst>
              </a:tr>
              <a:tr h="87005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선진이노텍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</a:t>
                      </a:r>
                      <a:r>
                        <a:rPr lang="en-US" altLang="ko-KR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19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395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592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78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5987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184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381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579" algn="l" defTabSz="914395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팀장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바이오플라스틱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96049"/>
                  </a:ext>
                </a:extLst>
              </a:tr>
              <a:tr h="8700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한국바이오플라스틱협회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김</a:t>
                      </a:r>
                      <a:r>
                        <a:rPr lang="en-US" altLang="ko-KR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OO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교수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 err="1">
                          <a:ln>
                            <a:solidFill>
                              <a:srgbClr val="1F497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바이오플라스틱</a:t>
                      </a:r>
                      <a:endParaRPr lang="ko-KR" altLang="en-US" sz="900" b="0" kern="1200" spc="-50" dirty="0">
                        <a:ln>
                          <a:solidFill>
                            <a:srgbClr val="1F497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01927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1FAA458-FD13-5ABF-C878-AD56B0D0FF2C}"/>
              </a:ext>
            </a:extLst>
          </p:cNvPr>
          <p:cNvSpPr/>
          <p:nvPr/>
        </p:nvSpPr>
        <p:spPr>
          <a:xfrm>
            <a:off x="5410986" y="1958359"/>
            <a:ext cx="4149965" cy="4145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“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친환경 용기의 불명확한 기준과 높은 비용의 문제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”</a:t>
            </a:r>
          </a:p>
          <a:p>
            <a:pPr algn="ctr"/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친환경 용기의 정의 및 인증 기준이 불분명하고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비용 부담이 커 실제 적용이 어려움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05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7657153-4DFA-6F84-8360-574691723603}"/>
              </a:ext>
            </a:extLst>
          </p:cNvPr>
          <p:cNvSpPr/>
          <p:nvPr/>
        </p:nvSpPr>
        <p:spPr>
          <a:xfrm>
            <a:off x="5410986" y="2450120"/>
            <a:ext cx="4149965" cy="4145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“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국가별 상이한 규제로  인한 수출의 어려움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”</a:t>
            </a:r>
          </a:p>
          <a:p>
            <a:pPr algn="ctr"/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금지 성분과 인증의 차이로 수출이 제한되는 경우 多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탄소관련 문서 실무 향상 필요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A15B4B2-FF19-7CAC-6C9A-7D251F155F0B}"/>
              </a:ext>
            </a:extLst>
          </p:cNvPr>
          <p:cNvSpPr/>
          <p:nvPr/>
        </p:nvSpPr>
        <p:spPr>
          <a:xfrm>
            <a:off x="5410986" y="2941881"/>
            <a:ext cx="4149965" cy="4145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“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기획 및 실무를 분리한 맞춤형 교육의 필요성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”</a:t>
            </a:r>
          </a:p>
          <a:p>
            <a:pPr algn="ctr"/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브랜딩 기획과 문서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인증대응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등 실무 대상 교육을 분리해 운영하기를 희망함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05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6B182B2-661B-229B-7C03-7D94E0BAEC5C}"/>
              </a:ext>
            </a:extLst>
          </p:cNvPr>
          <p:cNvSpPr/>
          <p:nvPr/>
        </p:nvSpPr>
        <p:spPr>
          <a:xfrm>
            <a:off x="5410986" y="3925403"/>
            <a:ext cx="4149965" cy="4145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“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시장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정책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연계형 교육 요구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”</a:t>
            </a:r>
          </a:p>
          <a:p>
            <a:pPr algn="ctr"/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정부기관별 정책 불일치는 시장에 혼란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정책에 따라 기획할 수 있는 인재 양성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11D7593-C1ED-B8E8-D82D-354833BE9D4A}"/>
              </a:ext>
            </a:extLst>
          </p:cNvPr>
          <p:cNvSpPr/>
          <p:nvPr/>
        </p:nvSpPr>
        <p:spPr>
          <a:xfrm>
            <a:off x="5410986" y="3433642"/>
            <a:ext cx="4149965" cy="4145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“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복합소재 기술의 중요성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”</a:t>
            </a:r>
          </a:p>
          <a:p>
            <a:pPr algn="ctr"/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단일소재보다 복합 소재 기반의 바이오 플라스틱 기술이 부각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공정에 대한 이해필요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90D4932-CB73-363E-6D01-C0A4FC0F82E3}"/>
              </a:ext>
            </a:extLst>
          </p:cNvPr>
          <p:cNvSpPr/>
          <p:nvPr/>
        </p:nvSpPr>
        <p:spPr>
          <a:xfrm>
            <a:off x="5410986" y="4417164"/>
            <a:ext cx="4149965" cy="4145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“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사례 중심 교육의 필요성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”</a:t>
            </a:r>
          </a:p>
          <a:p>
            <a:pPr algn="ctr"/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단순 이론보다는 </a:t>
            </a:r>
            <a:r>
              <a:rPr lang="ko-KR" altLang="en-US" sz="105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바이오플라스틱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제품의 실제 사례를 기반으로 한 현장형 교육 필요</a:t>
            </a:r>
            <a:endParaRPr lang="en-US" altLang="ko-KR" sz="105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7375BA-F927-3531-6850-315705C1C81C}"/>
              </a:ext>
            </a:extLst>
          </p:cNvPr>
          <p:cNvSpPr txBox="1"/>
          <p:nvPr/>
        </p:nvSpPr>
        <p:spPr>
          <a:xfrm>
            <a:off x="446889" y="3466708"/>
            <a:ext cx="2180624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marR="0" lvl="0" defTabSz="457200" rtl="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&lt;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표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자문위원 명단</a:t>
            </a:r>
            <a:endParaRPr lang="en-US" altLang="ko-KR" sz="800" spc="-50" dirty="0"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8045614-292C-D2A8-F22C-8373A36830F3}"/>
              </a:ext>
            </a:extLst>
          </p:cNvPr>
          <p:cNvSpPr/>
          <p:nvPr/>
        </p:nvSpPr>
        <p:spPr>
          <a:xfrm>
            <a:off x="5410986" y="4908925"/>
            <a:ext cx="4149965" cy="4145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“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허가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인증절차의 복잡성과 실무 부담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”</a:t>
            </a:r>
          </a:p>
          <a:p>
            <a:pPr algn="ctr"/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기술보다 인허가 과정이 큰 부담이며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국가별 기술문서 대응에 대한 실무 역량 필요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78466CD-7D0B-4F64-893D-7E9B3D0843C7}"/>
              </a:ext>
            </a:extLst>
          </p:cNvPr>
          <p:cNvSpPr/>
          <p:nvPr/>
        </p:nvSpPr>
        <p:spPr>
          <a:xfrm>
            <a:off x="5410986" y="5400686"/>
            <a:ext cx="4149965" cy="4145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“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친환경 소재의 </a:t>
            </a:r>
            <a:r>
              <a:rPr lang="ko-KR" altLang="en-US" sz="1050" spc="-50" dirty="0" err="1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밸리데이션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(Validation)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 부담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”</a:t>
            </a:r>
          </a:p>
          <a:p>
            <a:pPr algn="ctr"/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친환경 소재 사용시 품질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성능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검증 절차 </a:t>
            </a:r>
            <a:r>
              <a:rPr lang="ko-KR" altLang="en-US" sz="105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재수행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필요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인증 관련 문서화가 요구됨</a:t>
            </a:r>
            <a:endParaRPr lang="en-US" altLang="ko-KR" sz="105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52CC056-4601-70DE-731F-AE5D75B1D81D}"/>
              </a:ext>
            </a:extLst>
          </p:cNvPr>
          <p:cNvSpPr/>
          <p:nvPr/>
        </p:nvSpPr>
        <p:spPr>
          <a:xfrm>
            <a:off x="5410986" y="5892449"/>
            <a:ext cx="4149965" cy="4145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“</a:t>
            </a:r>
            <a:r>
              <a:rPr lang="ko-KR" altLang="en-US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디지털 의료기기 보안 및 표준 부재 문제</a:t>
            </a:r>
            <a: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”</a:t>
            </a:r>
            <a:br>
              <a:rPr lang="en-US" altLang="ko-KR" sz="105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</a:b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사이버보안 표준 체계가 미흡한 상황</a:t>
            </a:r>
            <a:r>
              <a:rPr lang="en-US" altLang="ko-KR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관련법규 이해 및 현장 적용을 위한 교육 필요</a:t>
            </a:r>
            <a:endParaRPr lang="en-US" altLang="ko-KR" sz="105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CBADEC2-C724-E0F8-F9AD-F3EFFD54AA5C}"/>
              </a:ext>
            </a:extLst>
          </p:cNvPr>
          <p:cNvSpPr/>
          <p:nvPr/>
        </p:nvSpPr>
        <p:spPr>
          <a:xfrm>
            <a:off x="443320" y="5362575"/>
            <a:ext cx="2056040" cy="9461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A53055-BD99-7D3A-068D-9A147B50A2EA}"/>
              </a:ext>
            </a:extLst>
          </p:cNvPr>
          <p:cNvSpPr/>
          <p:nvPr/>
        </p:nvSpPr>
        <p:spPr>
          <a:xfrm>
            <a:off x="2676479" y="5362575"/>
            <a:ext cx="2056040" cy="94615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75CD17C-6CDE-05F2-8932-244CCB93A239}"/>
              </a:ext>
            </a:extLst>
          </p:cNvPr>
          <p:cNvSpPr/>
          <p:nvPr/>
        </p:nvSpPr>
        <p:spPr>
          <a:xfrm>
            <a:off x="4999992" y="2302790"/>
            <a:ext cx="306386" cy="7424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100" spc="-100" dirty="0">
                <a:solidFill>
                  <a:schemeClr val="bg1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화장품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8482883-B167-AA11-4DFB-0A9C28862CB2}"/>
              </a:ext>
            </a:extLst>
          </p:cNvPr>
          <p:cNvSpPr/>
          <p:nvPr/>
        </p:nvSpPr>
        <p:spPr>
          <a:xfrm>
            <a:off x="4999992" y="3683268"/>
            <a:ext cx="306386" cy="1000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100" spc="-100" dirty="0">
                <a:solidFill>
                  <a:schemeClr val="bg1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바이오 플라스틱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9CD4E3F-FDEA-0148-6F8F-CA23B999F18E}"/>
              </a:ext>
            </a:extLst>
          </p:cNvPr>
          <p:cNvSpPr/>
          <p:nvPr/>
        </p:nvSpPr>
        <p:spPr>
          <a:xfrm>
            <a:off x="4999992" y="5216903"/>
            <a:ext cx="306386" cy="7424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100" spc="-100" dirty="0">
                <a:solidFill>
                  <a:schemeClr val="bg1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의료기기</a:t>
            </a:r>
          </a:p>
        </p:txBody>
      </p:sp>
      <p:sp>
        <p:nvSpPr>
          <p:cNvPr id="82" name="왼쪽 중괄호 81">
            <a:extLst>
              <a:ext uri="{FF2B5EF4-FFF2-40B4-BE49-F238E27FC236}">
                <a16:creationId xmlns:a16="http://schemas.microsoft.com/office/drawing/2014/main" id="{BF528D2B-B8B0-B0D3-CB37-C2C51803C50F}"/>
              </a:ext>
            </a:extLst>
          </p:cNvPr>
          <p:cNvSpPr/>
          <p:nvPr/>
        </p:nvSpPr>
        <p:spPr>
          <a:xfrm>
            <a:off x="5251901" y="1958359"/>
            <a:ext cx="159086" cy="1392316"/>
          </a:xfrm>
          <a:prstGeom prst="leftBrace">
            <a:avLst/>
          </a:prstGeom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왼쪽 중괄호 31">
            <a:extLst>
              <a:ext uri="{FF2B5EF4-FFF2-40B4-BE49-F238E27FC236}">
                <a16:creationId xmlns:a16="http://schemas.microsoft.com/office/drawing/2014/main" id="{B2D353B0-4A4E-7D4A-0CAF-9FF0960B071E}"/>
              </a:ext>
            </a:extLst>
          </p:cNvPr>
          <p:cNvSpPr/>
          <p:nvPr/>
        </p:nvSpPr>
        <p:spPr>
          <a:xfrm>
            <a:off x="5251901" y="3435228"/>
            <a:ext cx="159086" cy="1392316"/>
          </a:xfrm>
          <a:prstGeom prst="leftBrace">
            <a:avLst/>
          </a:prstGeom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234E5C3B-5AA3-9690-8175-3597D5B37308}"/>
              </a:ext>
            </a:extLst>
          </p:cNvPr>
          <p:cNvSpPr/>
          <p:nvPr/>
        </p:nvSpPr>
        <p:spPr>
          <a:xfrm>
            <a:off x="5251901" y="4901863"/>
            <a:ext cx="159086" cy="1392316"/>
          </a:xfrm>
          <a:prstGeom prst="leftBrace">
            <a:avLst/>
          </a:prstGeom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텍스트 개체 틀 1">
            <a:extLst>
              <a:ext uri="{FF2B5EF4-FFF2-40B4-BE49-F238E27FC236}">
                <a16:creationId xmlns:a16="http://schemas.microsoft.com/office/drawing/2014/main" id="{47CBE502-2286-DFE9-BFD9-CF6B574B08A7}"/>
              </a:ext>
            </a:extLst>
          </p:cNvPr>
          <p:cNvSpPr txBox="1">
            <a:spLocks/>
          </p:cNvSpPr>
          <p:nvPr/>
        </p:nvSpPr>
        <p:spPr>
          <a:xfrm>
            <a:off x="200025" y="1464334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endParaRPr lang="en-US" altLang="ko-KR" sz="1700" spc="-50" dirty="0">
              <a:highlight>
                <a:srgbClr val="FFFF00"/>
              </a:highlight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87DB74D-C5DC-F800-428A-ED4F722E36DD}"/>
              </a:ext>
            </a:extLst>
          </p:cNvPr>
          <p:cNvCxnSpPr>
            <a:cxnSpLocks/>
          </p:cNvCxnSpPr>
          <p:nvPr/>
        </p:nvCxnSpPr>
        <p:spPr>
          <a:xfrm>
            <a:off x="362462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텍스트 개체 틀 1">
            <a:extLst>
              <a:ext uri="{FF2B5EF4-FFF2-40B4-BE49-F238E27FC236}">
                <a16:creationId xmlns:a16="http://schemas.microsoft.com/office/drawing/2014/main" id="{880C5580-A8E4-2E49-4D76-339BDF2ABCB5}"/>
              </a:ext>
            </a:extLst>
          </p:cNvPr>
          <p:cNvSpPr txBox="1">
            <a:spLocks/>
          </p:cNvSpPr>
          <p:nvPr/>
        </p:nvSpPr>
        <p:spPr>
          <a:xfrm>
            <a:off x="344487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자문회의 운영 개요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FD89CFB-EF92-A118-F49D-2C133A02CCC8}"/>
              </a:ext>
            </a:extLst>
          </p:cNvPr>
          <p:cNvCxnSpPr>
            <a:cxnSpLocks/>
          </p:cNvCxnSpPr>
          <p:nvPr/>
        </p:nvCxnSpPr>
        <p:spPr>
          <a:xfrm>
            <a:off x="5060953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텍스트 개체 틀 1">
            <a:extLst>
              <a:ext uri="{FF2B5EF4-FFF2-40B4-BE49-F238E27FC236}">
                <a16:creationId xmlns:a16="http://schemas.microsoft.com/office/drawing/2014/main" id="{5BD8FD4A-8472-62B9-3D2E-1C8560EDB5D3}"/>
              </a:ext>
            </a:extLst>
          </p:cNvPr>
          <p:cNvSpPr txBox="1">
            <a:spLocks/>
          </p:cNvSpPr>
          <p:nvPr/>
        </p:nvSpPr>
        <p:spPr>
          <a:xfrm>
            <a:off x="5060952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전문가 주요 의견</a:t>
            </a:r>
          </a:p>
        </p:txBody>
      </p:sp>
    </p:spTree>
    <p:extLst>
      <p:ext uri="{BB962C8B-B14F-4D97-AF65-F5344CB8AC3E}">
        <p14:creationId xmlns:p14="http://schemas.microsoft.com/office/powerpoint/2010/main" val="631210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4F14E-9DAF-A7B2-616C-64E91EC53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24E6783-DD33-0595-E1B1-98A3B8AC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73A855-287D-6A36-2BD5-847615E8EF9A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EFCA20CD-3E56-0035-BB2B-FD87788ECB7A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5338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문헌분석 결과를 기반으로 전문가 자문회의를 실시하고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기업 지원 필요사항과 산업별 요구되는 기술 및 역량 등을 종합하여 주요 산업군에 맞춘 전략 방향을 수립하였습니다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92E1C-3F54-956A-0D55-47ABB17245DE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A919B0B-1F55-F372-39E1-04008406050B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49EF90B0-6F2C-E9AC-CDC0-C68A99F8CE1E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E1FDDE-5047-0945-EFF1-8F5AC3E1BF66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2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717A61-3888-5DB5-E4A8-6D31CD10C2F5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6.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 주요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산업군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맞춤형 전략 방향 수립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FA2F034-F2A3-91B4-CBBF-5C36308D7A3E}"/>
              </a:ext>
            </a:extLst>
          </p:cNvPr>
          <p:cNvCxnSpPr>
            <a:cxnSpLocks/>
          </p:cNvCxnSpPr>
          <p:nvPr/>
        </p:nvCxnSpPr>
        <p:spPr>
          <a:xfrm>
            <a:off x="344487" y="1871431"/>
            <a:ext cx="9217026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1D14D017-AA50-EFF1-206A-AFFB014B5CA7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맞춤형 전략 방향 수립 결과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CE9B064-B5A4-2353-4A63-E42BA33C1AC2}"/>
              </a:ext>
            </a:extLst>
          </p:cNvPr>
          <p:cNvSpPr/>
          <p:nvPr/>
        </p:nvSpPr>
        <p:spPr>
          <a:xfrm>
            <a:off x="1561370" y="2031683"/>
            <a:ext cx="1852390" cy="226887"/>
          </a:xfrm>
          <a:prstGeom prst="rect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최종목표</a:t>
            </a:r>
            <a:endParaRPr kumimoji="0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CCE002B-83A6-40CC-1A08-0E08AFEB2C5F}"/>
              </a:ext>
            </a:extLst>
          </p:cNvPr>
          <p:cNvSpPr/>
          <p:nvPr/>
        </p:nvSpPr>
        <p:spPr>
          <a:xfrm>
            <a:off x="5993658" y="2031683"/>
            <a:ext cx="3567854" cy="226887"/>
          </a:xfrm>
          <a:prstGeom prst="rect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세부 내용</a:t>
            </a:r>
            <a:endParaRPr kumimoji="0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16E175-AA36-3D2F-2E40-F5F5E58EAC4A}"/>
              </a:ext>
            </a:extLst>
          </p:cNvPr>
          <p:cNvSpPr/>
          <p:nvPr/>
        </p:nvSpPr>
        <p:spPr>
          <a:xfrm>
            <a:off x="333586" y="2031683"/>
            <a:ext cx="1128168" cy="226887"/>
          </a:xfrm>
          <a:prstGeom prst="rect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분야</a:t>
            </a:r>
            <a:endParaRPr kumimoji="0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09D50F2-0E6D-612D-E620-EE272E8F751A}"/>
              </a:ext>
            </a:extLst>
          </p:cNvPr>
          <p:cNvSpPr/>
          <p:nvPr/>
        </p:nvSpPr>
        <p:spPr>
          <a:xfrm>
            <a:off x="3488482" y="2031683"/>
            <a:ext cx="2447498" cy="226887"/>
          </a:xfrm>
          <a:prstGeom prst="rect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전략</a:t>
            </a:r>
            <a:endParaRPr kumimoji="0" lang="en-US" altLang="ko-KR" sz="1000" b="0" i="0" u="none" strike="noStrike" kern="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65C5C4C-4552-4853-06ED-67F4D0D7B145}"/>
              </a:ext>
            </a:extLst>
          </p:cNvPr>
          <p:cNvSpPr/>
          <p:nvPr/>
        </p:nvSpPr>
        <p:spPr>
          <a:xfrm>
            <a:off x="6001841" y="4238825"/>
            <a:ext cx="3559671" cy="103314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90000" tIns="3600" rIns="90000" bIns="3600" rtlCol="0" anchor="ctr"/>
          <a:lstStyle/>
          <a:p>
            <a:pPr defTabSz="914400"/>
            <a:r>
              <a:rPr lang="ko-KR" altLang="ko-KR" sz="1000" kern="0" dirty="0">
                <a:latin typeface="페이퍼로지 4 Regular" pitchFamily="2" charset="-127"/>
                <a:ea typeface="페이퍼로지 4 Regular" pitchFamily="2" charset="-127"/>
              </a:rPr>
              <a:t>의료기기 시장에 새로 진입하는 기업은 의료기기 개발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주기에 대한 </a:t>
            </a:r>
            <a:r>
              <a:rPr lang="ko-KR" altLang="ko-KR" sz="1000" kern="0" dirty="0">
                <a:latin typeface="페이퍼로지 4 Regular" pitchFamily="2" charset="-127"/>
                <a:ea typeface="페이퍼로지 4 Regular" pitchFamily="2" charset="-127"/>
              </a:rPr>
              <a:t>배경지식이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미흡한 경우가 많음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ko-KR" sz="1000" kern="0" dirty="0">
                <a:latin typeface="페이퍼로지 4 Regular" pitchFamily="2" charset="-127"/>
                <a:ea typeface="페이퍼로지 4 Regular" pitchFamily="2" charset="-127"/>
              </a:rPr>
              <a:t>반면,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기존 의료기기 </a:t>
            </a:r>
            <a:r>
              <a:rPr lang="ko-KR" altLang="ko-KR" sz="1000" kern="0" dirty="0">
                <a:latin typeface="페이퍼로지 4 Regular" pitchFamily="2" charset="-127"/>
                <a:ea typeface="페이퍼로지 4 Regular" pitchFamily="2" charset="-127"/>
              </a:rPr>
              <a:t>기업은 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HW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에서 </a:t>
            </a:r>
            <a:r>
              <a:rPr lang="ko-KR" altLang="ko-KR" sz="1000" kern="0" dirty="0">
                <a:latin typeface="페이퍼로지 4 Regular" pitchFamily="2" charset="-127"/>
                <a:ea typeface="페이퍼로지 4 Regular" pitchFamily="2" charset="-127"/>
              </a:rPr>
              <a:t>SW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 기술이 접목되며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ko-KR" sz="1000" kern="0" dirty="0">
                <a:latin typeface="페이퍼로지 4 Regular" pitchFamily="2" charset="-127"/>
                <a:ea typeface="페이퍼로지 4 Regular" pitchFamily="2" charset="-127"/>
              </a:rPr>
              <a:t> 사이버보안, 규제 대응 등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새로운 규제</a:t>
            </a:r>
            <a:r>
              <a:rPr lang="ko-KR" altLang="ko-KR" sz="1000" kern="0" dirty="0">
                <a:latin typeface="페이퍼로지 4 Regular" pitchFamily="2" charset="-127"/>
                <a:ea typeface="페이퍼로지 4 Regular" pitchFamily="2" charset="-127"/>
              </a:rPr>
              <a:t>에 직면하고 있음.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  <a:p>
            <a:pPr defTabSz="914400"/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한편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국가별 요구하는 기준이 상이함에 따라 제품의 성숙도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타겟 국가에 따라 전략적 접근이 요구되는 산업임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4F12DFC-8EEA-8568-ECBD-75BA47795306}"/>
              </a:ext>
            </a:extLst>
          </p:cNvPr>
          <p:cNvSpPr/>
          <p:nvPr/>
        </p:nvSpPr>
        <p:spPr>
          <a:xfrm>
            <a:off x="333586" y="4238825"/>
            <a:ext cx="1119733" cy="103314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의료기기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F0EEEF7-0A6B-5972-6BB3-F7F90440CA13}"/>
              </a:ext>
            </a:extLst>
          </p:cNvPr>
          <p:cNvSpPr/>
          <p:nvPr/>
        </p:nvSpPr>
        <p:spPr>
          <a:xfrm>
            <a:off x="333586" y="5350275"/>
            <a:ext cx="1119733" cy="1035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화장품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0434A2C-3A63-E9E5-0468-2EAFB3585367}"/>
              </a:ext>
            </a:extLst>
          </p:cNvPr>
          <p:cNvSpPr/>
          <p:nvPr/>
        </p:nvSpPr>
        <p:spPr>
          <a:xfrm>
            <a:off x="1561370" y="4238825"/>
            <a:ext cx="1841396" cy="10331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algn="ctr" defTabSz="914400">
              <a:defRPr/>
            </a:pP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의료기기 개발 전주기를 이해하고</a:t>
            </a:r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고도화 되는 규제</a:t>
            </a:r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기술 요구에 대응할 수 있는 실무형 전문 인력 양성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C1025911-A4A1-D06F-D1B4-836B33103268}"/>
              </a:ext>
            </a:extLst>
          </p:cNvPr>
          <p:cNvSpPr/>
          <p:nvPr/>
        </p:nvSpPr>
        <p:spPr>
          <a:xfrm>
            <a:off x="6001841" y="5350276"/>
            <a:ext cx="3559671" cy="103528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90000" tIns="3600" rIns="90000" bIns="3600" rtlCol="0" anchor="ctr"/>
          <a:lstStyle/>
          <a:p>
            <a:pPr defTabSz="914400" fontAlgn="base">
              <a:spcBef>
                <a:spcPct val="0"/>
              </a:spcBef>
              <a:spcAft>
                <a:spcPts val="600"/>
              </a:spcAft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화장품 시장은 </a:t>
            </a:r>
            <a:r>
              <a:rPr lang="ko-KR" altLang="en-US" sz="1000" kern="0" dirty="0" err="1">
                <a:latin typeface="페이퍼로지 4 Regular" pitchFamily="2" charset="-127"/>
                <a:ea typeface="페이퍼로지 4 Regular" pitchFamily="2" charset="-127"/>
              </a:rPr>
              <a:t>인디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 브랜드가 주도권을 가져가는 구조로 변화되고 있으며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kern="0" dirty="0" err="1">
                <a:latin typeface="페이퍼로지 4 Regular" pitchFamily="2" charset="-127"/>
                <a:ea typeface="페이퍼로지 4 Regular" pitchFamily="2" charset="-127"/>
              </a:rPr>
              <a:t>클린뷰티는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 차별화 요소가 아닌 기본 요건으로 자리 잡음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b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이에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 브랜드 경쟁력은 ‘얼마나 친환경 가치를 제품에 설계하고 </a:t>
            </a:r>
            <a:r>
              <a:rPr lang="ko-KR" altLang="en-US" sz="1000" kern="0" dirty="0" err="1">
                <a:latin typeface="페이퍼로지 4 Regular" pitchFamily="2" charset="-127"/>
                <a:ea typeface="페이퍼로지 4 Regular" pitchFamily="2" charset="-127"/>
              </a:rPr>
              <a:t>전달하느냐’로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 이동하고 있으며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친환경 제품 기획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브랜딩 전략과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사업장의 지속가능성 관리 역량 강화가 중요한 과제로 부상하고 있음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89BC1810-FB00-7427-3600-F33F5E064B47}"/>
              </a:ext>
            </a:extLst>
          </p:cNvPr>
          <p:cNvSpPr/>
          <p:nvPr/>
        </p:nvSpPr>
        <p:spPr>
          <a:xfrm>
            <a:off x="1561370" y="5350275"/>
            <a:ext cx="1841396" cy="10352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algn="ctr" defTabSz="914400">
              <a:defRPr/>
            </a:pP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친환경 가치 기반의 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 defTabSz="914400">
              <a:defRPr/>
            </a:pP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제품 개발</a:t>
            </a:r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브랜딩 및 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 defTabSz="914400">
              <a:defRPr/>
            </a:pP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지속가능한 사업장 운영 역량을 갖춘 화장품 산업 실무 인력 양성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98E8CDE-9E36-4B27-58EC-39C96DC6697E}"/>
              </a:ext>
            </a:extLst>
          </p:cNvPr>
          <p:cNvSpPr/>
          <p:nvPr/>
        </p:nvSpPr>
        <p:spPr>
          <a:xfrm>
            <a:off x="6004560" y="2311910"/>
            <a:ext cx="3567854" cy="185622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90000" tIns="3600" rIns="90000" bIns="3600" rtlCol="0" anchor="ctr"/>
          <a:lstStyle/>
          <a:p>
            <a:pPr defTabSz="914400">
              <a:lnSpc>
                <a:spcPct val="110000"/>
              </a:lnSpc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친환경 소재 연구개발은 주로 대기업 중심으로 이루어지고 있으며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국내 다수의 기업은 이미 개발된 소재를 활용하여 제품을 설계하고 가공하는 영역에 집중하고 있음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  <a:p>
            <a:pPr defTabSz="914400">
              <a:lnSpc>
                <a:spcPct val="110000"/>
              </a:lnSpc>
              <a:defRPr/>
            </a:pP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  <a:p>
            <a:pPr defTabSz="914400">
              <a:lnSpc>
                <a:spcPct val="110000"/>
              </a:lnSpc>
              <a:defRPr/>
            </a:pP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협약기업 또한 중소기업 비중이 높아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바이오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재생 소재 기반 제품의 사업화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제품 개발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응용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플라스틱 가공 및 </a:t>
            </a:r>
            <a:r>
              <a:rPr lang="ko-KR" altLang="en-US" sz="1000" kern="0" dirty="0" err="1">
                <a:latin typeface="페이퍼로지 4 Regular" pitchFamily="2" charset="-127"/>
                <a:ea typeface="페이퍼로지 4 Regular" pitchFamily="2" charset="-127"/>
              </a:rPr>
              <a:t>후공정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 등 실질적인 제품 구현과 관련된 직무 교육 수요가 높을 것으로 예상됨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C6E0EB-6624-37E9-5045-C68E0E172ED8}"/>
              </a:ext>
            </a:extLst>
          </p:cNvPr>
          <p:cNvSpPr/>
          <p:nvPr/>
        </p:nvSpPr>
        <p:spPr>
          <a:xfrm>
            <a:off x="333584" y="2311913"/>
            <a:ext cx="360000" cy="18562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플라스틱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63A6932-2953-9EB3-1D81-E755FCC269E3}"/>
              </a:ext>
            </a:extLst>
          </p:cNvPr>
          <p:cNvSpPr/>
          <p:nvPr/>
        </p:nvSpPr>
        <p:spPr>
          <a:xfrm>
            <a:off x="755781" y="2311913"/>
            <a:ext cx="711221" cy="89443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바이오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pc="-50" dirty="0">
                <a:latin typeface="페이퍼로지 6 SemiBold" pitchFamily="2" charset="-127"/>
                <a:ea typeface="페이퍼로지 6 SemiBold" pitchFamily="2" charset="-127"/>
              </a:rPr>
              <a:t>플라스틱</a:t>
            </a:r>
            <a:endParaRPr kumimoji="0" lang="ko-KR" altLang="en-US" sz="1100" b="0" i="0" u="none" strike="noStrike" kern="0" cap="none" spc="-50" normalizeH="0" baseline="0" noProof="0" dirty="0">
              <a:ln>
                <a:noFill/>
              </a:ln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7B285FF-8676-6516-8782-AA3B5386119D}"/>
              </a:ext>
            </a:extLst>
          </p:cNvPr>
          <p:cNvSpPr/>
          <p:nvPr/>
        </p:nvSpPr>
        <p:spPr>
          <a:xfrm>
            <a:off x="755781" y="3273707"/>
            <a:ext cx="711221" cy="89443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ko-KR" altLang="en-US" sz="1100" kern="0" spc="-50" dirty="0">
                <a:latin typeface="페이퍼로지 6 SemiBold" pitchFamily="2" charset="-127"/>
                <a:ea typeface="페이퍼로지 6 SemiBold" pitchFamily="2" charset="-127"/>
              </a:rPr>
              <a:t>플라스틱 재활용</a:t>
            </a:r>
            <a:endParaRPr kumimoji="0" lang="ko-KR" altLang="en-US" sz="1100" b="0" i="0" u="none" strike="noStrike" kern="0" cap="none" spc="-50" normalizeH="0" baseline="0" noProof="0" dirty="0">
              <a:ln>
                <a:noFill/>
              </a:ln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06C613A-E244-627F-023A-F56D5B250DB0}"/>
              </a:ext>
            </a:extLst>
          </p:cNvPr>
          <p:cNvSpPr/>
          <p:nvPr/>
        </p:nvSpPr>
        <p:spPr>
          <a:xfrm>
            <a:off x="1561370" y="2311912"/>
            <a:ext cx="1841396" cy="8944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algn="ctr" defTabSz="914400">
              <a:defRPr/>
            </a:pP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바이오 기반 소재를 활용하여 지속 가능하고 시장 요구에 부합하는 제품을 설계</a:t>
            </a:r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가공</a:t>
            </a:r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사업화 할 수 있는 인력 양성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27769C1-BDAF-C4FC-8500-050777792F96}"/>
              </a:ext>
            </a:extLst>
          </p:cNvPr>
          <p:cNvSpPr/>
          <p:nvPr/>
        </p:nvSpPr>
        <p:spPr>
          <a:xfrm>
            <a:off x="1561370" y="3273707"/>
            <a:ext cx="1841396" cy="8944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algn="ctr" defTabSz="914400">
              <a:defRPr/>
            </a:pP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재생 플라스틱 소재를 활용하여 품질</a:t>
            </a:r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성능이 확보된 제품을 안정적으로 생산</a:t>
            </a:r>
            <a:r>
              <a:rPr lang="en-US" altLang="ko-KR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100" kern="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사업화 할 수 있는 인력 양성</a:t>
            </a:r>
            <a:endParaRPr lang="en-US" altLang="ko-KR" sz="1100" kern="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75F90F3-A27F-CD93-FCCF-F20BB7870602}"/>
              </a:ext>
            </a:extLst>
          </p:cNvPr>
          <p:cNvSpPr/>
          <p:nvPr/>
        </p:nvSpPr>
        <p:spPr>
          <a:xfrm>
            <a:off x="3500790" y="2311912"/>
            <a:ext cx="2432972" cy="89443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182563" indent="-182563" defTabSz="914400">
              <a:buFont typeface="+mj-lt"/>
              <a:buAutoNum type="arabicPeriod"/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바이오 소재 이해 기반 제품 설계 역량 강화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82563" indent="-182563" defTabSz="914400">
              <a:buFont typeface="+mj-lt"/>
              <a:buAutoNum type="arabicPeriod"/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바이오 플라스틱에 적합한 가공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품질 기술 확보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82563" indent="-182563" defTabSz="914400">
              <a:buFont typeface="+mj-lt"/>
              <a:buAutoNum type="arabicPeriod"/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시장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·ESG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요구에 대응하는 제품 사업화 역량 확보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4C490FB-D51D-CC1D-3B27-18A387BE66F3}"/>
              </a:ext>
            </a:extLst>
          </p:cNvPr>
          <p:cNvSpPr/>
          <p:nvPr/>
        </p:nvSpPr>
        <p:spPr>
          <a:xfrm>
            <a:off x="3500790" y="3273707"/>
            <a:ext cx="2432972" cy="89443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182563" indent="-182563" defTabSz="914400">
              <a:buFont typeface="+mj-lt"/>
              <a:buAutoNum type="arabicPeriod"/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재생원료 특성 이해와 제품화 설계 역량 강화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82563" indent="-182563" defTabSz="914400">
              <a:buFont typeface="+mj-lt"/>
              <a:buAutoNum type="arabicPeriod"/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재생 플라스틱의 가공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품질 안정화 기술 확보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82563" indent="-182563" defTabSz="914400">
              <a:buFont typeface="+mj-lt"/>
              <a:buAutoNum type="arabicPeriod"/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고부가가치 제품 전환과 사업화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·ESG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대응 역량 확보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93FF4FF-B113-E7D5-6E63-F0D1C497076A}"/>
              </a:ext>
            </a:extLst>
          </p:cNvPr>
          <p:cNvSpPr/>
          <p:nvPr/>
        </p:nvSpPr>
        <p:spPr>
          <a:xfrm>
            <a:off x="3495803" y="4238825"/>
            <a:ext cx="2432972" cy="103314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182563" indent="-182563" defTabSz="914400">
              <a:buFont typeface="+mj-lt"/>
              <a:buAutoNum type="arabicPeriod"/>
              <a:tabLst>
                <a:tab pos="182563" algn="l"/>
              </a:tabLst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의료기기 전주기에 대한 기초 역량 강화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82563" indent="-182563" defTabSz="914400">
              <a:buFont typeface="+mj-lt"/>
              <a:buAutoNum type="arabicPeriod"/>
              <a:tabLst>
                <a:tab pos="182563" algn="l"/>
              </a:tabLst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국가별 규제 차이를 고려한 글로벌 인허가 대응 역량 강화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82563" indent="-182563" defTabSz="914400">
              <a:buFont typeface="+mj-lt"/>
              <a:buAutoNum type="arabicPeriod"/>
              <a:tabLst>
                <a:tab pos="182563" algn="l"/>
              </a:tabLst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제품 성숙도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기술 변화에 대응하는 직무별 전문성 고도화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AABB900-9366-F611-3E3C-F997DFA28810}"/>
              </a:ext>
            </a:extLst>
          </p:cNvPr>
          <p:cNvSpPr/>
          <p:nvPr/>
        </p:nvSpPr>
        <p:spPr>
          <a:xfrm>
            <a:off x="3495803" y="5350275"/>
            <a:ext cx="2432972" cy="103528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182563" indent="-182563" defTabSz="914400">
              <a:buFont typeface="+mj-lt"/>
              <a:buAutoNum type="arabicPeriod"/>
              <a:tabLst>
                <a:tab pos="182563" algn="l"/>
              </a:tabLst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친환경 제품 기획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·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브랜딩 역량 강화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82563" indent="-182563" defTabSz="914400">
              <a:buFont typeface="+mj-lt"/>
              <a:buAutoNum type="arabicPeriod"/>
              <a:tabLst>
                <a:tab pos="182563" algn="l"/>
              </a:tabLst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성장 단계 기업을 위한 사업장 지속가능성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관리 역량 강화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82563" indent="-182563" defTabSz="914400">
              <a:buFont typeface="+mj-lt"/>
              <a:buAutoNum type="arabicPeriod"/>
              <a:tabLst>
                <a:tab pos="182563" algn="l"/>
              </a:tabLst>
              <a:defRPr/>
            </a:pP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친환경 패키징</a:t>
            </a:r>
            <a:r>
              <a:rPr lang="en-US" altLang="ko-KR" sz="1000" kern="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000" kern="0" dirty="0">
                <a:latin typeface="페이퍼로지 4 Regular" pitchFamily="2" charset="-127"/>
                <a:ea typeface="페이퍼로지 4 Regular" pitchFamily="2" charset="-127"/>
              </a:rPr>
              <a:t>용기 전환 및 재활용성 개선 역량 강화</a:t>
            </a:r>
            <a:endParaRPr lang="en-US" altLang="ko-KR" sz="1000" kern="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120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2913C-3AE4-407A-3AAC-2B2BF144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948013C-2AB3-C4E9-DF24-0AB157387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684CB1-23F5-FB55-5F7F-FBCD9D4BFCF0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9F46AF22-ACE6-7540-122D-CAE2D8C9246B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</a:t>
            </a:r>
            <a:r>
              <a:rPr lang="ko-KR" altLang="en-US" sz="17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재수립을 위해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기존 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차년도 </a:t>
            </a:r>
            <a:r>
              <a:rPr lang="ko-KR" altLang="en-US" sz="17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교육로드맵의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구성요소를 분석하여 현 체계의 구조적 특성과 개선 필요점을 도출하였습니다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0829FF-92F3-603C-0E54-535A15FD6A7C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FD08663-4B0D-8871-CE78-DFC3B72B1EF6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DE78D9A1-F02C-D153-144E-60BC4BAF4738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BB1575-DB0C-61FA-1C9B-4362670CDC86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3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4C9154-74E8-88B2-B0A0-9E495C074848}"/>
              </a:ext>
            </a:extLst>
          </p:cNvPr>
          <p:cNvSpPr/>
          <p:nvPr/>
        </p:nvSpPr>
        <p:spPr>
          <a:xfrm>
            <a:off x="1513166" y="253829"/>
            <a:ext cx="5692812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7.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교육체계 분석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D295AA5-32DA-35AE-8881-EA6150CD294A}"/>
              </a:ext>
            </a:extLst>
          </p:cNvPr>
          <p:cNvCxnSpPr>
            <a:cxnSpLocks/>
          </p:cNvCxnSpPr>
          <p:nvPr/>
        </p:nvCxnSpPr>
        <p:spPr>
          <a:xfrm>
            <a:off x="344487" y="1871431"/>
            <a:ext cx="9217026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텍스트 개체 틀 1">
            <a:extLst>
              <a:ext uri="{FF2B5EF4-FFF2-40B4-BE49-F238E27FC236}">
                <a16:creationId xmlns:a16="http://schemas.microsoft.com/office/drawing/2014/main" id="{72EDF7DD-873B-7958-B9BD-E00A440DAD96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 err="1"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 현황 분석</a:t>
            </a:r>
            <a:r>
              <a:rPr lang="en-US" altLang="ko-KR" sz="1600" spc="-50" dirty="0">
                <a:latin typeface="페이퍼로지 6 SemiBold" pitchFamily="2" charset="-127"/>
                <a:ea typeface="페이퍼로지 6 SemiBold" pitchFamily="2" charset="-127"/>
              </a:rPr>
              <a:t>(As-is)</a:t>
            </a:r>
            <a:endParaRPr lang="ko-KR" altLang="en-US" sz="1600" spc="-5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37AF4-6F40-941D-3675-546016630CBD}"/>
              </a:ext>
            </a:extLst>
          </p:cNvPr>
          <p:cNvSpPr txBox="1"/>
          <p:nvPr/>
        </p:nvSpPr>
        <p:spPr>
          <a:xfrm>
            <a:off x="344486" y="2024063"/>
            <a:ext cx="1201791" cy="2559108"/>
          </a:xfrm>
          <a:prstGeom prst="rect">
            <a:avLst/>
          </a:prstGeom>
          <a:solidFill>
            <a:srgbClr val="E1DEC9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lvl="1" algn="ctr" defTabSz="914400">
              <a:lnSpc>
                <a:spcPct val="110000"/>
              </a:lnSpc>
            </a:pPr>
            <a:r>
              <a:rPr lang="en-US" altLang="ko-KR" sz="1000" kern="0" spc="-5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000" kern="0" spc="-5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수준</a:t>
            </a:r>
            <a:r>
              <a:rPr lang="en-US" altLang="ko-KR" sz="1000" kern="0" spc="-5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</a:p>
          <a:p>
            <a:pPr marL="0" lvl="1" algn="ctr" defTabSz="914400">
              <a:lnSpc>
                <a:spcPct val="110000"/>
              </a:lnSpc>
            </a:pPr>
            <a:r>
              <a:rPr lang="ko-KR" altLang="en-US" sz="1000" kern="0" spc="-50">
                <a:latin typeface="페이퍼로지 5 Medium" pitchFamily="2" charset="-127"/>
                <a:ea typeface="페이퍼로지 5 Medium" pitchFamily="2" charset="-127"/>
              </a:rPr>
              <a:t>입문 </a:t>
            </a: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→ 중급 →  고급</a:t>
            </a:r>
            <a:endParaRPr lang="en-US" altLang="ko-KR" sz="1000" kern="0" spc="-50">
              <a:latin typeface="페이퍼로지 5 Medium" pitchFamily="2" charset="-127"/>
              <a:ea typeface="페이퍼로지 5 Medium" pitchFamily="2" charset="-127"/>
            </a:endParaRPr>
          </a:p>
          <a:p>
            <a:pPr marL="0" lvl="1" algn="ctr" defTabSz="914400">
              <a:lnSpc>
                <a:spcPct val="110000"/>
              </a:lnSpc>
            </a:pPr>
            <a:r>
              <a:rPr lang="ko-KR" altLang="en-US" sz="1000" kern="0" spc="-50">
                <a:latin typeface="페이퍼로지 5 Medium" pitchFamily="2" charset="-127"/>
                <a:ea typeface="페이퍼로지 5 Medium" pitchFamily="2" charset="-127"/>
              </a:rPr>
              <a:t>▼</a:t>
            </a:r>
            <a:endParaRPr lang="en-US" altLang="ko-KR" sz="1000" kern="0" spc="-50">
              <a:latin typeface="페이퍼로지 5 Medium" pitchFamily="2" charset="-127"/>
              <a:ea typeface="페이퍼로지 5 Medium" pitchFamily="2" charset="-127"/>
            </a:endParaRPr>
          </a:p>
          <a:p>
            <a:pPr marL="0" lvl="1" algn="ctr" defTabSz="914400">
              <a:lnSpc>
                <a:spcPct val="110000"/>
              </a:lnSpc>
            </a:pPr>
            <a:r>
              <a:rPr lang="ko-KR" altLang="en-US" sz="1000" kern="0" spc="-50">
                <a:latin typeface="페이퍼로지 5 Medium" pitchFamily="2" charset="-127"/>
                <a:ea typeface="페이퍼로지 5 Medium" pitchFamily="2" charset="-127"/>
              </a:rPr>
              <a:t>교육 </a:t>
            </a: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수준 정의 부재</a:t>
            </a:r>
            <a:r>
              <a:rPr lang="en-US" altLang="ko-KR" sz="1000" kern="0" spc="-5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0" lvl="1" algn="ctr" defTabSz="914400">
              <a:lnSpc>
                <a:spcPct val="110000"/>
              </a:lnSpc>
            </a:pPr>
            <a:r>
              <a:rPr lang="ko-KR" altLang="en-US" sz="1000" kern="0" spc="-50">
                <a:latin typeface="페이퍼로지 5 Medium" pitchFamily="2" charset="-127"/>
                <a:ea typeface="페이퍼로지 5 Medium" pitchFamily="2" charset="-127"/>
              </a:rPr>
              <a:t>이에</a:t>
            </a:r>
            <a:r>
              <a:rPr lang="en-US" altLang="ko-KR" sz="1000" kern="0" spc="-5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00" kern="0" spc="-50">
                <a:latin typeface="페이퍼로지 5 Medium" pitchFamily="2" charset="-127"/>
                <a:ea typeface="페이퍼로지 5 Medium" pitchFamily="2" charset="-127"/>
              </a:rPr>
              <a:t>기존 </a:t>
            </a: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과정은 어떤 특징을 가진 과정인지</a:t>
            </a:r>
            <a:r>
              <a:rPr lang="en-US" altLang="ko-KR" sz="1000" kern="0" spc="-5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00" kern="0" spc="-50">
                <a:latin typeface="페이퍼로지 5 Medium" pitchFamily="2" charset="-127"/>
                <a:ea typeface="페이퍼로지 5 Medium" pitchFamily="2" charset="-127"/>
              </a:rPr>
              <a:t>신규 </a:t>
            </a: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과정은 어느 수준에 부합하는지 등 판단 기준 설정 필요</a:t>
            </a:r>
            <a:endParaRPr lang="en-US" altLang="ko-KR" sz="1000" kern="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05C294D-BD6F-9BAB-3643-4FC78E553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464" y="2035978"/>
            <a:ext cx="6690683" cy="34019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58" name="그룹 57">
            <a:extLst>
              <a:ext uri="{FF2B5EF4-FFF2-40B4-BE49-F238E27FC236}">
                <a16:creationId xmlns:a16="http://schemas.microsoft.com/office/drawing/2014/main" id="{5D2D945D-DC9E-49B9-558D-D5D2BF37BB10}"/>
              </a:ext>
            </a:extLst>
          </p:cNvPr>
          <p:cNvGrpSpPr/>
          <p:nvPr/>
        </p:nvGrpSpPr>
        <p:grpSpPr>
          <a:xfrm>
            <a:off x="1657727" y="2024063"/>
            <a:ext cx="6637809" cy="2986884"/>
            <a:chOff x="1660802" y="2024063"/>
            <a:chExt cx="7069726" cy="298688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1A0AF90-C4BC-1D02-67B4-3FADA66972A4}"/>
                </a:ext>
              </a:extLst>
            </p:cNvPr>
            <p:cNvSpPr/>
            <p:nvPr/>
          </p:nvSpPr>
          <p:spPr>
            <a:xfrm>
              <a:off x="1660802" y="2024063"/>
              <a:ext cx="429934" cy="2592470"/>
            </a:xfrm>
            <a:prstGeom prst="rect">
              <a:avLst/>
            </a:prstGeom>
            <a:noFill/>
            <a:ln w="19050"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A62EC6C-8328-FDBC-5EF8-CB926D38B588}"/>
                </a:ext>
              </a:extLst>
            </p:cNvPr>
            <p:cNvSpPr/>
            <p:nvPr/>
          </p:nvSpPr>
          <p:spPr>
            <a:xfrm>
              <a:off x="2254862" y="4765367"/>
              <a:ext cx="1550140" cy="245580"/>
            </a:xfrm>
            <a:prstGeom prst="rect">
              <a:avLst/>
            </a:prstGeom>
            <a:noFill/>
            <a:ln w="19050"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CF3B649-E95F-F1B7-7C9D-506707296B1F}"/>
                </a:ext>
              </a:extLst>
            </p:cNvPr>
            <p:cNvSpPr/>
            <p:nvPr/>
          </p:nvSpPr>
          <p:spPr>
            <a:xfrm>
              <a:off x="3882919" y="4765367"/>
              <a:ext cx="1550141" cy="245580"/>
            </a:xfrm>
            <a:prstGeom prst="rect">
              <a:avLst/>
            </a:prstGeom>
            <a:noFill/>
            <a:ln w="19050"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8C7DE4FA-9104-E513-B308-1D6A9C257B88}"/>
                </a:ext>
              </a:extLst>
            </p:cNvPr>
            <p:cNvSpPr/>
            <p:nvPr/>
          </p:nvSpPr>
          <p:spPr>
            <a:xfrm>
              <a:off x="5534641" y="4765367"/>
              <a:ext cx="1550141" cy="245580"/>
            </a:xfrm>
            <a:prstGeom prst="rect">
              <a:avLst/>
            </a:prstGeom>
            <a:noFill/>
            <a:ln w="19050"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0C928E-62FE-5CD6-1929-7B0FE9E1C605}"/>
                </a:ext>
              </a:extLst>
            </p:cNvPr>
            <p:cNvSpPr/>
            <p:nvPr/>
          </p:nvSpPr>
          <p:spPr>
            <a:xfrm>
              <a:off x="7163503" y="4765367"/>
              <a:ext cx="1550141" cy="245580"/>
            </a:xfrm>
            <a:prstGeom prst="rect">
              <a:avLst/>
            </a:prstGeom>
            <a:noFill/>
            <a:ln w="19050"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9866567-801E-CCB5-9AE0-327B013BF291}"/>
                </a:ext>
              </a:extLst>
            </p:cNvPr>
            <p:cNvSpPr/>
            <p:nvPr/>
          </p:nvSpPr>
          <p:spPr>
            <a:xfrm>
              <a:off x="2209437" y="2024063"/>
              <a:ext cx="6521091" cy="2592470"/>
            </a:xfrm>
            <a:prstGeom prst="rect">
              <a:avLst/>
            </a:prstGeom>
            <a:noFill/>
            <a:ln w="19050"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A1B9F82-DC26-7D61-DF16-9C800AEA5897}"/>
              </a:ext>
            </a:extLst>
          </p:cNvPr>
          <p:cNvGrpSpPr/>
          <p:nvPr/>
        </p:nvGrpSpPr>
        <p:grpSpPr>
          <a:xfrm rot="16200000">
            <a:off x="820094" y="4635546"/>
            <a:ext cx="1351906" cy="2160930"/>
            <a:chOff x="344487" y="2279567"/>
            <a:chExt cx="1606672" cy="2559108"/>
          </a:xfrm>
        </p:grpSpPr>
        <p:sp>
          <p:nvSpPr>
            <p:cNvPr id="37" name="이등변 삼각형 36">
              <a:extLst>
                <a:ext uri="{FF2B5EF4-FFF2-40B4-BE49-F238E27FC236}">
                  <a16:creationId xmlns:a16="http://schemas.microsoft.com/office/drawing/2014/main" id="{6AD3F2FB-1E14-E74B-F5DE-596AFCD5AF75}"/>
                </a:ext>
              </a:extLst>
            </p:cNvPr>
            <p:cNvSpPr/>
            <p:nvPr/>
          </p:nvSpPr>
          <p:spPr>
            <a:xfrm rot="5400000">
              <a:off x="1503416" y="4168743"/>
              <a:ext cx="359836" cy="535651"/>
            </a:xfrm>
            <a:prstGeom prst="triangle">
              <a:avLst>
                <a:gd name="adj" fmla="val 100000"/>
              </a:avLst>
            </a:prstGeom>
            <a:solidFill>
              <a:srgbClr val="E1DEC9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tIns="0" rIns="90000" bIns="0" rtlCol="0" anchor="ctr"/>
            <a:lstStyle/>
            <a:p>
              <a:pPr fontAlgn="base">
                <a:lnSpc>
                  <a:spcPct val="110000"/>
                </a:lnSpc>
                <a:spcBef>
                  <a:spcPct val="0"/>
                </a:spcBef>
                <a:buSzPct val="80000"/>
              </a:pPr>
              <a:endPara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86E09CD-8C39-16A0-8C28-57216CA151B5}"/>
                </a:ext>
              </a:extLst>
            </p:cNvPr>
            <p:cNvSpPr txBox="1"/>
            <p:nvPr/>
          </p:nvSpPr>
          <p:spPr>
            <a:xfrm>
              <a:off x="344487" y="2279567"/>
              <a:ext cx="1071020" cy="2559108"/>
            </a:xfrm>
            <a:prstGeom prst="rect">
              <a:avLst/>
            </a:prstGeom>
            <a:solidFill>
              <a:srgbClr val="E1DEC9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vert="eaVert" lIns="0" tIns="0" rIns="0" bIns="0" rtlCol="0" anchor="ctr"/>
            <a:lstStyle>
              <a:defPPr>
                <a:defRPr lang="en-US"/>
              </a:defPPr>
              <a:lvl1pPr fontAlgn="base">
                <a:lnSpc>
                  <a:spcPct val="150000"/>
                </a:lnSpc>
                <a:spcBef>
                  <a:spcPct val="0"/>
                </a:spcBef>
                <a:buSzPct val="80000"/>
                <a:defRPr kumimoji="1" sz="1100" kern="0" spc="-5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lvl="1" algn="ctr" defTabSz="914400">
                <a:lnSpc>
                  <a:spcPct val="110000"/>
                </a:lnSpc>
              </a:pPr>
              <a:r>
                <a:rPr lang="en-US" altLang="ko-KR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(</a:t>
              </a:r>
              <a:r>
                <a:rPr lang="ko-KR" altLang="en-US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교육분야 </a:t>
              </a:r>
              <a:r>
                <a:rPr lang="en-US" altLang="ko-KR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1) 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ESG,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탄소중립 인사이트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응용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lvl="1" algn="ctr" defTabSz="914400">
                <a:lnSpc>
                  <a:spcPct val="110000"/>
                </a:lnSpc>
              </a:pP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▼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lvl="1" algn="ctr" defTabSz="914400">
                <a:lnSpc>
                  <a:spcPct val="110000"/>
                </a:lnSpc>
              </a:pP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하나의 분야 안에 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3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개의 콘텐츠 포함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lvl="1" algn="ctr" defTabSz="914400">
                <a:lnSpc>
                  <a:spcPct val="110000"/>
                </a:lnSpc>
              </a:pP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과정 간의 연계성과 학습경로 파악이 어려움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B65F603-D9BE-2CB4-420D-4078A61AC460}"/>
              </a:ext>
            </a:extLst>
          </p:cNvPr>
          <p:cNvGrpSpPr/>
          <p:nvPr/>
        </p:nvGrpSpPr>
        <p:grpSpPr>
          <a:xfrm rot="16200000">
            <a:off x="3229805" y="4653637"/>
            <a:ext cx="1315724" cy="2160930"/>
            <a:chOff x="344487" y="2279567"/>
            <a:chExt cx="1563671" cy="2559108"/>
          </a:xfrm>
        </p:grpSpPr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7ABF3FC0-66B9-A18E-2200-649552640F6D}"/>
                </a:ext>
              </a:extLst>
            </p:cNvPr>
            <p:cNvSpPr/>
            <p:nvPr/>
          </p:nvSpPr>
          <p:spPr>
            <a:xfrm rot="5400000">
              <a:off x="1481915" y="4040032"/>
              <a:ext cx="359836" cy="492650"/>
            </a:xfrm>
            <a:prstGeom prst="triangle">
              <a:avLst>
                <a:gd name="adj" fmla="val 59283"/>
              </a:avLst>
            </a:prstGeom>
            <a:solidFill>
              <a:srgbClr val="E1DEC9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tIns="0" rIns="90000" bIns="0" rtlCol="0" anchor="ctr"/>
            <a:lstStyle/>
            <a:p>
              <a:pPr fontAlgn="base">
                <a:lnSpc>
                  <a:spcPct val="110000"/>
                </a:lnSpc>
                <a:spcBef>
                  <a:spcPct val="0"/>
                </a:spcBef>
                <a:buSzPct val="80000"/>
              </a:pPr>
              <a:endParaRPr kumimoji="1" lang="ko-KR" altLang="en-US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F54CB73-BFB7-243E-0BDF-62143D2E4356}"/>
                </a:ext>
              </a:extLst>
            </p:cNvPr>
            <p:cNvSpPr txBox="1"/>
            <p:nvPr/>
          </p:nvSpPr>
          <p:spPr>
            <a:xfrm>
              <a:off x="344487" y="2279567"/>
              <a:ext cx="1071020" cy="2559108"/>
            </a:xfrm>
            <a:prstGeom prst="rect">
              <a:avLst/>
            </a:prstGeom>
            <a:solidFill>
              <a:srgbClr val="E1DEC9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vert="eaVert" lIns="0" tIns="0" rIns="0" bIns="0" rtlCol="0" anchor="ctr"/>
            <a:lstStyle>
              <a:defPPr>
                <a:defRPr lang="en-US"/>
              </a:defPPr>
              <a:lvl1pPr fontAlgn="base">
                <a:lnSpc>
                  <a:spcPct val="150000"/>
                </a:lnSpc>
                <a:spcBef>
                  <a:spcPct val="0"/>
                </a:spcBef>
                <a:buSzPct val="80000"/>
                <a:defRPr kumimoji="1" sz="1100" kern="0" spc="-5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lvl="1" algn="ctr" defTabSz="914400">
                <a:lnSpc>
                  <a:spcPct val="110000"/>
                </a:lnSpc>
              </a:pPr>
              <a:r>
                <a:rPr lang="en-US" altLang="ko-KR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(</a:t>
              </a:r>
              <a:r>
                <a:rPr lang="ko-KR" altLang="en-US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교육분야 </a:t>
              </a:r>
              <a:r>
                <a:rPr lang="en-US" altLang="ko-KR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2)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친환경 화학 산업 전반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lvl="1" algn="ctr" defTabSz="914400">
                <a:lnSpc>
                  <a:spcPct val="110000"/>
                </a:lnSpc>
              </a:pP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▼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lvl="1" algn="ctr" defTabSz="914400">
                <a:lnSpc>
                  <a:spcPct val="110000"/>
                </a:lnSpc>
              </a:pP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산업 동향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이외에도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제품화 전략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규제 대응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프로젝트 관리 등 실무역량 과정 포함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  <a:p>
              <a:pPr marL="0" lvl="1" algn="ctr" defTabSz="914400">
                <a:lnSpc>
                  <a:spcPct val="110000"/>
                </a:lnSpc>
              </a:pP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과정 간 연계성과 학습경로 파악이 어려움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87E4CC5-6D53-0B73-627A-B164F2E5D458}"/>
              </a:ext>
            </a:extLst>
          </p:cNvPr>
          <p:cNvGrpSpPr/>
          <p:nvPr/>
        </p:nvGrpSpPr>
        <p:grpSpPr>
          <a:xfrm rot="16200000">
            <a:off x="5449560" y="4635546"/>
            <a:ext cx="1351906" cy="2160930"/>
            <a:chOff x="344487" y="2279567"/>
            <a:chExt cx="1606672" cy="2559108"/>
          </a:xfrm>
        </p:grpSpPr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000A92A9-48C6-7AE1-0031-9C86D9382371}"/>
                </a:ext>
              </a:extLst>
            </p:cNvPr>
            <p:cNvSpPr/>
            <p:nvPr/>
          </p:nvSpPr>
          <p:spPr>
            <a:xfrm rot="5400000">
              <a:off x="1503416" y="2627390"/>
              <a:ext cx="359836" cy="535651"/>
            </a:xfrm>
            <a:prstGeom prst="triangle">
              <a:avLst>
                <a:gd name="adj" fmla="val 100000"/>
              </a:avLst>
            </a:prstGeom>
            <a:solidFill>
              <a:srgbClr val="E1DEC9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tIns="0" rIns="90000" bIns="0" rtlCol="0" anchor="ctr"/>
            <a:lstStyle/>
            <a:p>
              <a:pPr fontAlgn="base">
                <a:lnSpc>
                  <a:spcPct val="110000"/>
                </a:lnSpc>
                <a:spcBef>
                  <a:spcPct val="0"/>
                </a:spcBef>
                <a:buSzPct val="80000"/>
              </a:pPr>
              <a:endPara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4BEDD1D-8DD9-37F3-DFE8-E12076281CCF}"/>
                </a:ext>
              </a:extLst>
            </p:cNvPr>
            <p:cNvSpPr txBox="1"/>
            <p:nvPr/>
          </p:nvSpPr>
          <p:spPr>
            <a:xfrm>
              <a:off x="344487" y="2279567"/>
              <a:ext cx="1071020" cy="2559108"/>
            </a:xfrm>
            <a:prstGeom prst="rect">
              <a:avLst/>
            </a:prstGeom>
            <a:solidFill>
              <a:srgbClr val="E1DEC9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vert="eaVert" lIns="0" tIns="0" rIns="0" bIns="0" rtlCol="0" anchor="ctr"/>
            <a:lstStyle>
              <a:defPPr>
                <a:defRPr lang="en-US"/>
              </a:defPPr>
              <a:lvl1pPr fontAlgn="base">
                <a:lnSpc>
                  <a:spcPct val="150000"/>
                </a:lnSpc>
                <a:spcBef>
                  <a:spcPct val="0"/>
                </a:spcBef>
                <a:buSzPct val="80000"/>
                <a:defRPr kumimoji="1" sz="1100" kern="0" spc="-5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lvl="1" algn="ctr" defTabSz="914400">
                <a:lnSpc>
                  <a:spcPct val="110000"/>
                </a:lnSpc>
              </a:pPr>
              <a:r>
                <a:rPr lang="en-US" altLang="ko-KR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(</a:t>
              </a:r>
              <a:r>
                <a:rPr lang="ko-KR" altLang="en-US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교육분야 </a:t>
              </a:r>
              <a:r>
                <a:rPr lang="en-US" altLang="ko-KR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3)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바이오 고분자 및 첨가제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lvl="1" algn="ctr" defTabSz="914400">
                <a:lnSpc>
                  <a:spcPct val="110000"/>
                </a:lnSpc>
              </a:pP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▼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lvl="1" algn="ctr" defTabSz="914400">
                <a:lnSpc>
                  <a:spcPct val="110000"/>
                </a:lnSpc>
              </a:pP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바이오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000" kern="0" spc="-50" dirty="0" err="1">
                  <a:latin typeface="페이퍼로지 5 Medium" pitchFamily="2" charset="-127"/>
                  <a:ea typeface="페이퍼로지 5 Medium" pitchFamily="2" charset="-127"/>
                </a:rPr>
                <a:t>생분해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 뿐만 아니라 폐플라스틱의 재활용 과정도 배치되어 있어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교육분야 및 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lvl="1" algn="ctr" defTabSz="914400">
                <a:lnSpc>
                  <a:spcPct val="110000"/>
                </a:lnSpc>
              </a:pP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범위 재설정 필요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EB09B00-E48B-A8D8-56C2-722186566E4E}"/>
              </a:ext>
            </a:extLst>
          </p:cNvPr>
          <p:cNvGrpSpPr/>
          <p:nvPr/>
        </p:nvGrpSpPr>
        <p:grpSpPr>
          <a:xfrm rot="16200000">
            <a:off x="7702109" y="4635546"/>
            <a:ext cx="1351906" cy="2160930"/>
            <a:chOff x="344487" y="2279567"/>
            <a:chExt cx="1606672" cy="2559108"/>
          </a:xfrm>
        </p:grpSpPr>
        <p:sp>
          <p:nvSpPr>
            <p:cNvPr id="53" name="이등변 삼각형 52">
              <a:extLst>
                <a:ext uri="{FF2B5EF4-FFF2-40B4-BE49-F238E27FC236}">
                  <a16:creationId xmlns:a16="http://schemas.microsoft.com/office/drawing/2014/main" id="{603B77DF-254B-055E-C450-41329ADCA14E}"/>
                </a:ext>
              </a:extLst>
            </p:cNvPr>
            <p:cNvSpPr/>
            <p:nvPr/>
          </p:nvSpPr>
          <p:spPr>
            <a:xfrm rot="5400000">
              <a:off x="1503416" y="2714094"/>
              <a:ext cx="359836" cy="535651"/>
            </a:xfrm>
            <a:prstGeom prst="triangle">
              <a:avLst>
                <a:gd name="adj" fmla="val 24765"/>
              </a:avLst>
            </a:prstGeom>
            <a:solidFill>
              <a:srgbClr val="E1DEC9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tIns="0" rIns="90000" bIns="0" rtlCol="0" anchor="ctr"/>
            <a:lstStyle/>
            <a:p>
              <a:pPr fontAlgn="base">
                <a:lnSpc>
                  <a:spcPct val="110000"/>
                </a:lnSpc>
                <a:spcBef>
                  <a:spcPct val="0"/>
                </a:spcBef>
                <a:buSzPct val="80000"/>
              </a:pPr>
              <a:endPara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05D1E15-5F42-7D57-1DA6-A597834FFC3D}"/>
                </a:ext>
              </a:extLst>
            </p:cNvPr>
            <p:cNvSpPr txBox="1"/>
            <p:nvPr/>
          </p:nvSpPr>
          <p:spPr>
            <a:xfrm>
              <a:off x="344487" y="2279567"/>
              <a:ext cx="1071020" cy="2559108"/>
            </a:xfrm>
            <a:prstGeom prst="rect">
              <a:avLst/>
            </a:prstGeom>
            <a:solidFill>
              <a:srgbClr val="E1DEC9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vert="eaVert" lIns="0" tIns="0" rIns="0" bIns="0" rtlCol="0" anchor="ctr"/>
            <a:lstStyle>
              <a:defPPr>
                <a:defRPr lang="en-US"/>
              </a:defPPr>
              <a:lvl1pPr fontAlgn="base">
                <a:lnSpc>
                  <a:spcPct val="150000"/>
                </a:lnSpc>
                <a:spcBef>
                  <a:spcPct val="0"/>
                </a:spcBef>
                <a:buSzPct val="80000"/>
                <a:defRPr kumimoji="1" sz="1100" kern="0" spc="-5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lvl="1" algn="ctr" defTabSz="914400">
                <a:lnSpc>
                  <a:spcPct val="110000"/>
                </a:lnSpc>
              </a:pPr>
              <a:r>
                <a:rPr lang="en-US" altLang="ko-KR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(</a:t>
              </a:r>
              <a:r>
                <a:rPr lang="ko-KR" altLang="en-US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교육분야 </a:t>
              </a:r>
              <a:r>
                <a:rPr lang="en-US" altLang="ko-KR" sz="1000" kern="0" spc="-50" dirty="0">
                  <a:solidFill>
                    <a:srgbClr val="FF6600"/>
                  </a:solidFill>
                  <a:latin typeface="페이퍼로지 6 SemiBold" pitchFamily="2" charset="-127"/>
                  <a:ea typeface="페이퍼로지 6 SemiBold" pitchFamily="2" charset="-127"/>
                </a:rPr>
                <a:t>4)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화장품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생활화학제품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lvl="1" algn="ctr" defTabSz="914400">
                <a:lnSpc>
                  <a:spcPct val="110000"/>
                </a:lnSpc>
              </a:pP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▼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lvl="1" algn="ctr" defTabSz="914400">
                <a:lnSpc>
                  <a:spcPct val="110000"/>
                </a:lnSpc>
              </a:pP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현재 화장품 관련 교육으로만 구성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.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분야 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3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의 도출 기준은 </a:t>
              </a:r>
              <a:r>
                <a:rPr lang="ko-KR" altLang="en-US" sz="1000" kern="0" spc="-50" dirty="0" err="1">
                  <a:latin typeface="페이퍼로지 5 Medium" pitchFamily="2" charset="-127"/>
                  <a:ea typeface="페이퍼로지 5 Medium" pitchFamily="2" charset="-127"/>
                </a:rPr>
                <a:t>투입물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(Input), 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분야 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4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의 도출 기준은 산출물</a:t>
              </a:r>
              <a:r>
                <a:rPr lang="en-US" altLang="ko-KR" sz="1000" kern="0" spc="-50" dirty="0">
                  <a:latin typeface="페이퍼로지 5 Medium" pitchFamily="2" charset="-127"/>
                  <a:ea typeface="페이퍼로지 5 Medium" pitchFamily="2" charset="-127"/>
                </a:rPr>
                <a:t>(Output)</a:t>
              </a:r>
              <a:r>
                <a:rPr lang="ko-KR" altLang="en-US" sz="1000" kern="0" spc="-50" dirty="0">
                  <a:latin typeface="페이퍼로지 5 Medium" pitchFamily="2" charset="-127"/>
                  <a:ea typeface="페이퍼로지 5 Medium" pitchFamily="2" charset="-127"/>
                </a:rPr>
                <a:t>이므로 재설정 필요</a:t>
              </a:r>
              <a:endParaRPr lang="en-US" altLang="ko-KR" sz="1000" kern="0" spc="-5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B8EFB2F-9E63-F498-1859-60DFAECA1436}"/>
              </a:ext>
            </a:extLst>
          </p:cNvPr>
          <p:cNvSpPr txBox="1"/>
          <p:nvPr/>
        </p:nvSpPr>
        <p:spPr>
          <a:xfrm>
            <a:off x="8412596" y="2024063"/>
            <a:ext cx="1150334" cy="2559108"/>
          </a:xfrm>
          <a:prstGeom prst="rect">
            <a:avLst/>
          </a:prstGeom>
          <a:solidFill>
            <a:srgbClr val="E1DEC9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lvl="1" algn="ctr" defTabSz="914400">
              <a:lnSpc>
                <a:spcPct val="110000"/>
              </a:lnSpc>
            </a:pP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과정</a:t>
            </a: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) </a:t>
            </a:r>
          </a:p>
          <a:p>
            <a:pPr marL="0" lvl="1" algn="ctr" defTabSz="914400">
              <a:lnSpc>
                <a:spcPct val="110000"/>
              </a:lnSpc>
            </a:pP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총 </a:t>
            </a:r>
            <a:r>
              <a:rPr lang="en-US" altLang="ko-KR" sz="1000" kern="0" spc="-50" dirty="0">
                <a:latin typeface="페이퍼로지 5 Medium" pitchFamily="2" charset="-127"/>
                <a:ea typeface="페이퍼로지 5 Medium" pitchFamily="2" charset="-127"/>
              </a:rPr>
              <a:t>22</a:t>
            </a: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개 과정 개설</a:t>
            </a:r>
            <a:endParaRPr lang="en-US" altLang="ko-KR" sz="1000" kern="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0" lvl="1" algn="ctr" defTabSz="914400">
              <a:lnSpc>
                <a:spcPct val="110000"/>
              </a:lnSpc>
            </a:pP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▼</a:t>
            </a:r>
            <a:endParaRPr lang="en-US" altLang="ko-KR" sz="1000" kern="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0" lvl="1" algn="ctr" defTabSz="914400">
              <a:lnSpc>
                <a:spcPct val="110000"/>
              </a:lnSpc>
            </a:pP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산업 변화 대응을 위한 인사이트</a:t>
            </a:r>
            <a:r>
              <a:rPr lang="en-US" altLang="ko-KR" sz="1000" kern="0" spc="-5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과정과 직무 특화 교육과정 등으로 구성</a:t>
            </a:r>
            <a:r>
              <a:rPr lang="en-US" altLang="ko-KR" sz="1000" kern="0" spc="-50" dirty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0" lvl="1" algn="ctr" defTabSz="914400">
              <a:lnSpc>
                <a:spcPct val="110000"/>
              </a:lnSpc>
            </a:pP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다만</a:t>
            </a:r>
            <a:r>
              <a:rPr lang="en-US" altLang="ko-KR" sz="1000" kern="0" spc="-5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직무별 육성 </a:t>
            </a:r>
            <a:endParaRPr lang="en-US" altLang="ko-KR" sz="1000" kern="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0" lvl="1" algn="ctr" defTabSz="914400">
              <a:lnSpc>
                <a:spcPct val="110000"/>
              </a:lnSpc>
            </a:pP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목표가 구체적으로 설정되지 않아</a:t>
            </a:r>
            <a:r>
              <a:rPr lang="en-US" altLang="ko-KR" sz="1000" kern="0" spc="-5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교육체계의 방향성과 과정 개발</a:t>
            </a:r>
            <a:r>
              <a:rPr lang="en-US" altLang="ko-KR" sz="1000" kern="0" spc="-50" dirty="0"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개선 전략 </a:t>
            </a:r>
            <a:endParaRPr lang="en-US" altLang="ko-KR" sz="1000" kern="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0" lvl="1" algn="ctr" defTabSz="914400">
              <a:lnSpc>
                <a:spcPct val="110000"/>
              </a:lnSpc>
            </a:pPr>
            <a:r>
              <a:rPr lang="ko-KR" altLang="en-US" sz="1000" kern="0" spc="-50" dirty="0">
                <a:latin typeface="페이퍼로지 5 Medium" pitchFamily="2" charset="-127"/>
                <a:ea typeface="페이퍼로지 5 Medium" pitchFamily="2" charset="-127"/>
              </a:rPr>
              <a:t>수립 필요</a:t>
            </a:r>
            <a:endParaRPr lang="en-US" altLang="ko-KR" sz="1000" kern="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F42244F8-609D-D2D8-A677-96A954522F20}"/>
              </a:ext>
            </a:extLst>
          </p:cNvPr>
          <p:cNvSpPr/>
          <p:nvPr/>
        </p:nvSpPr>
        <p:spPr>
          <a:xfrm rot="5400000">
            <a:off x="1460409" y="3135025"/>
            <a:ext cx="303848" cy="218621"/>
          </a:xfrm>
          <a:prstGeom prst="triangle">
            <a:avLst>
              <a:gd name="adj" fmla="val 56897"/>
            </a:avLst>
          </a:prstGeom>
          <a:solidFill>
            <a:srgbClr val="E1DEC9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/>
          <a:p>
            <a:pPr fontAlgn="base">
              <a:lnSpc>
                <a:spcPct val="110000"/>
              </a:lnSpc>
              <a:spcBef>
                <a:spcPct val="0"/>
              </a:spcBef>
              <a:buSzPct val="80000"/>
            </a:pPr>
            <a:endParaRPr kumimoji="1" lang="ko-KR" altLang="en-US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1AD259F5-AABA-CE97-116A-115166EAB91B}"/>
              </a:ext>
            </a:extLst>
          </p:cNvPr>
          <p:cNvSpPr/>
          <p:nvPr/>
        </p:nvSpPr>
        <p:spPr>
          <a:xfrm rot="16200000">
            <a:off x="8148439" y="3089068"/>
            <a:ext cx="303848" cy="310536"/>
          </a:xfrm>
          <a:prstGeom prst="triangle">
            <a:avLst>
              <a:gd name="adj" fmla="val 55330"/>
            </a:avLst>
          </a:prstGeom>
          <a:solidFill>
            <a:srgbClr val="E1DEC9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tIns="0" rIns="90000" bIns="0" rtlCol="0" anchor="ctr"/>
          <a:lstStyle/>
          <a:p>
            <a:pPr fontAlgn="base">
              <a:lnSpc>
                <a:spcPct val="110000"/>
              </a:lnSpc>
              <a:spcBef>
                <a:spcPct val="0"/>
              </a:spcBef>
              <a:buSzPct val="80000"/>
            </a:pPr>
            <a:endParaRPr kumimoji="1" lang="ko-KR" altLang="en-US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2044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90F0-6BDB-B499-AB9D-ABF76E44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D6FFFA-25C1-BDBE-8B07-D3AA2B1E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AF9F9E-2F5D-D43C-90A7-C4C5CE4D3B42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84CBB07C-5E12-36DF-072A-036C756273B5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/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26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년 운영 예정인 훈련과정 간의 연계성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관련 직무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필요 경력 등을 분석하여 학습경로의 방향성을 도출하였으며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이는 </a:t>
            </a:r>
            <a:r>
              <a:rPr lang="ko-KR" altLang="en-US" sz="17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재수립의 근거로 활용하였습니다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5EF7A-1F4C-79EB-E40F-D81ACC7F6531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F69DEF1-E3FB-0CAA-4A55-56E5DCD4DBD7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FFE5531C-7AF1-73FF-A0EE-E663DD4F4214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B079579-CC5C-FDB2-A06B-335ED86CBF45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3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FF0BA5-9798-B498-8867-3F6EA82C16BB}"/>
              </a:ext>
            </a:extLst>
          </p:cNvPr>
          <p:cNvSpPr/>
          <p:nvPr/>
        </p:nvSpPr>
        <p:spPr>
          <a:xfrm>
            <a:off x="1513166" y="253829"/>
            <a:ext cx="5692812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8.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훈련과정 분석</a:t>
            </a:r>
          </a:p>
        </p:txBody>
      </p:sp>
      <p:sp>
        <p:nvSpPr>
          <p:cNvPr id="42" name="텍스트 개체 틀 1">
            <a:extLst>
              <a:ext uri="{FF2B5EF4-FFF2-40B4-BE49-F238E27FC236}">
                <a16:creationId xmlns:a16="http://schemas.microsoft.com/office/drawing/2014/main" id="{5B7F749B-160A-32A4-02AC-015BE40CEB5E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6 SemiBold" pitchFamily="2" charset="-127"/>
                <a:ea typeface="페이퍼로지 6 SemiBold" pitchFamily="2" charset="-127"/>
              </a:rPr>
              <a:t>26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년 교육과정 분석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251BBA-453F-C8A5-7777-D823EBB7037D}"/>
              </a:ext>
            </a:extLst>
          </p:cNvPr>
          <p:cNvSpPr txBox="1"/>
          <p:nvPr/>
        </p:nvSpPr>
        <p:spPr>
          <a:xfrm>
            <a:off x="7412922" y="2024062"/>
            <a:ext cx="2150008" cy="4357687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>
            <a:defPPr>
              <a:defRPr lang="en-US"/>
            </a:defPPr>
            <a:lvl1pPr marL="180975" indent="-93663" defTabSz="914400">
              <a:buFont typeface="Arial" panose="020B0604020202020204" pitchFamily="34" charset="0"/>
              <a:buChar char="•"/>
              <a:defRPr sz="900" kern="0" spc="-5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defRPr>
            </a:lvl1pPr>
          </a:lstStyle>
          <a:p>
            <a:pPr marL="0" lvl="1" algn="ctr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050" kern="0" spc="-50" dirty="0">
                <a:latin typeface="페이퍼로지 6 SemiBold" pitchFamily="2" charset="-127"/>
                <a:ea typeface="페이퍼로지 6 SemiBold" pitchFamily="2" charset="-127"/>
              </a:rPr>
              <a:t>[Key Finding]</a:t>
            </a:r>
          </a:p>
          <a:p>
            <a:pPr marL="0" lvl="1" algn="ctr" defTabSz="914400">
              <a:lnSpc>
                <a:spcPct val="110000"/>
              </a:lnSpc>
              <a:spcAft>
                <a:spcPts val="300"/>
              </a:spcAft>
            </a:pPr>
            <a:endParaRPr lang="en-US" altLang="ko-KR" sz="1050" kern="0" spc="-50" dirty="0">
              <a:latin typeface="페이퍼로지 6 SemiBold" pitchFamily="2" charset="-127"/>
              <a:ea typeface="페이퍼로지 6 SemiBold" pitchFamily="2" charset="-127"/>
            </a:endParaRPr>
          </a:p>
          <a:p>
            <a:pPr marL="85725" lvl="1" indent="-85725" defTabSz="9144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교육 </a:t>
            </a:r>
            <a:r>
              <a:rPr lang="ko-KR" altLang="en-US" sz="1050" kern="0" spc="-50" dirty="0">
                <a:latin typeface="페이퍼로지 6 SemiBold" pitchFamily="2" charset="-127"/>
                <a:ea typeface="페이퍼로지 6 SemiBold" pitchFamily="2" charset="-127"/>
              </a:rPr>
              <a:t>주제는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산업전환 동향</a:t>
            </a: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’, ‘ESG 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경영</a:t>
            </a: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’, ‘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환경평가</a:t>
            </a: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’, ‘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탄소 관리</a:t>
            </a: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’, ‘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플라스틱</a:t>
            </a: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’, ‘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화장품</a:t>
            </a: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’, ‘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의료기기</a:t>
            </a: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’ 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등으로 구분할 수 있었으며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향후 로드맵 </a:t>
            </a:r>
            <a:r>
              <a:rPr lang="ko-KR" altLang="en-US" sz="1050" kern="0" spc="-50" dirty="0" err="1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재수립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시 이러한 주제군을 기반으로 구조화 가능</a:t>
            </a:r>
            <a:endParaRPr lang="en-US" altLang="ko-KR" sz="1050" kern="0" spc="-50" dirty="0">
              <a:solidFill>
                <a:prstClr val="black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0" lvl="1" defTabSz="914400">
              <a:lnSpc>
                <a:spcPct val="110000"/>
              </a:lnSpc>
              <a:spcAft>
                <a:spcPts val="300"/>
              </a:spcAft>
              <a:defRPr/>
            </a:pPr>
            <a:endParaRPr lang="en-US" altLang="ko-KR" sz="400" kern="0" spc="-50" dirty="0">
              <a:solidFill>
                <a:prstClr val="black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85725" lvl="1" indent="-85725" defTabSz="9144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일부 훈련과정은 과정명만으로 교육 수준과 범위를 파악하기 어려워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교과목 구성 및 세부교육내용까지 면밀히 검토할 필요가 있음 </a:t>
            </a:r>
            <a:endParaRPr lang="en-US" altLang="ko-KR" sz="1050" kern="0" spc="-50" dirty="0">
              <a:solidFill>
                <a:prstClr val="black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7800" lvl="1" indent="-177800" defTabSz="91440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    - 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예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. ‘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친환경 소재 제품화 기본 전략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’, ‘</a:t>
            </a:r>
            <a:r>
              <a:rPr lang="ko-KR" altLang="en-US" sz="1050" kern="0" spc="-50" dirty="0" err="1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바이오화학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R&amp;D 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관리 실무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의 교육 내용은 바이오 플라스틱에 중점을 두고 있음</a:t>
            </a:r>
            <a:endParaRPr lang="en-US" altLang="ko-KR" sz="1050" kern="0" spc="-50" dirty="0">
              <a:solidFill>
                <a:prstClr val="black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0" lvl="1" defTabSz="91440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4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 </a:t>
            </a:r>
          </a:p>
          <a:p>
            <a:pPr marL="85725" lvl="1" indent="-85725" defTabSz="9144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교육과정 간 내용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난이도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학습목표 등을 살펴본 결과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직무 기반으로 과정을 분류하고 선후 연계 구조를 정립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할 경우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학습자의 직무 수준에 맞는 단계별 성장 경로를 제공하고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교육 내용 간 중복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단절을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최소화 하는 등 교육체계의 정합성을 높일 것으로 판단됨</a:t>
            </a:r>
            <a:endParaRPr lang="en-US" altLang="ko-KR" sz="1050" kern="0" spc="-50" dirty="0">
              <a:solidFill>
                <a:prstClr val="black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E9A47AA-7F07-F481-CA81-1332DD292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977367"/>
              </p:ext>
            </p:extLst>
          </p:nvPr>
        </p:nvGraphicFramePr>
        <p:xfrm>
          <a:off x="343071" y="2032689"/>
          <a:ext cx="7007848" cy="4349062"/>
        </p:xfrm>
        <a:graphic>
          <a:graphicData uri="http://schemas.openxmlformats.org/drawingml/2006/table">
            <a:tbl>
              <a:tblPr/>
              <a:tblGrid>
                <a:gridCol w="216425">
                  <a:extLst>
                    <a:ext uri="{9D8B030D-6E8A-4147-A177-3AD203B41FA5}">
                      <a16:colId xmlns:a16="http://schemas.microsoft.com/office/drawing/2014/main" val="545925046"/>
                    </a:ext>
                  </a:extLst>
                </a:gridCol>
                <a:gridCol w="225666">
                  <a:extLst>
                    <a:ext uri="{9D8B030D-6E8A-4147-A177-3AD203B41FA5}">
                      <a16:colId xmlns:a16="http://schemas.microsoft.com/office/drawing/2014/main" val="43897906"/>
                    </a:ext>
                  </a:extLst>
                </a:gridCol>
                <a:gridCol w="1979469">
                  <a:extLst>
                    <a:ext uri="{9D8B030D-6E8A-4147-A177-3AD203B41FA5}">
                      <a16:colId xmlns:a16="http://schemas.microsoft.com/office/drawing/2014/main" val="2916139220"/>
                    </a:ext>
                  </a:extLst>
                </a:gridCol>
                <a:gridCol w="4207669">
                  <a:extLst>
                    <a:ext uri="{9D8B030D-6E8A-4147-A177-3AD203B41FA5}">
                      <a16:colId xmlns:a16="http://schemas.microsoft.com/office/drawing/2014/main" val="2996621404"/>
                    </a:ext>
                  </a:extLst>
                </a:gridCol>
                <a:gridCol w="378619">
                  <a:extLst>
                    <a:ext uri="{9D8B030D-6E8A-4147-A177-3AD203B41FA5}">
                      <a16:colId xmlns:a16="http://schemas.microsoft.com/office/drawing/2014/main" val="835294701"/>
                    </a:ext>
                  </a:extLst>
                </a:gridCol>
              </a:tblGrid>
              <a:tr h="12795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chemeClr val="bg1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연번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chemeClr val="bg1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훈련과정명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chemeClr val="bg1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주요 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chemeClr val="bg1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시간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949028"/>
                  </a:ext>
                </a:extLst>
              </a:tr>
              <a:tr h="282841">
                <a:tc rowSpan="18"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일반</a:t>
                      </a:r>
                      <a:endParaRPr lang="en-US" altLang="ko-KR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/</a:t>
                      </a: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전문</a:t>
                      </a:r>
                      <a:endParaRPr lang="en-US" altLang="ko-KR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과정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1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친환경 소재 제품화 기본 전략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바이오플라스틱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소재별 핵심기술 및 산업 접근전략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외 시험 및 인증현황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 플라스틱 산업 지식재산권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(IP)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및 선행기술조사 전략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바이오플라스틱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사례</a:t>
                      </a:r>
                    </a:p>
                  </a:txBody>
                  <a:tcPr marL="0" marR="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8H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21775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지속가능 경영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지속가능 경영 개론 및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788809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3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관리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산업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R&amp;D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프로젝트 통합 성과 및 리스크 관리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관련 사례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6H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552584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화장품 브랜딩 기본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화장품 브랜딩 기획 실무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및 디자인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8H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044522"/>
                  </a:ext>
                </a:extLst>
              </a:tr>
              <a:tr h="135519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5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플라스틱 재활용 산업 및 인증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플라스틱 재활용 개론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국내외 재활용 동향 및 법률과 제도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en-US" altLang="ko-KR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LCA&amp;Scope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3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와 플라스틱 재활용 연계성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7H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536870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6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LCA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기본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LCA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개론 및 활용 방안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LCA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실습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14H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554066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7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화학산업 </a:t>
                      </a: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Scope 3 </a:t>
                      </a:r>
                      <a:r>
                        <a:rPr lang="ko-KR" altLang="en-US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배출량 산정 실무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Scope 3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배출량 산정 개요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산정 경계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및 데이터 수집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방법론 및 사례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5H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584305"/>
                  </a:ext>
                </a:extLst>
              </a:tr>
              <a:tr h="246455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8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화학물질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화학제품 규제대응 실무 과정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화평법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및 </a:t>
                      </a: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화관법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최신 동향과 대응방안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안전확인대상 생활제품 지정 및 안전표시기준 설명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생활화학제품 및 살생물제 안전관리법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7H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02206"/>
                  </a:ext>
                </a:extLst>
              </a:tr>
              <a:tr h="135519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9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클린뷰티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화장품 기술 및 인증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클린뷰티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화장품 정의 및 필수조건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천연유기농 화장품 </a:t>
                      </a: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식약처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인증 및 문서심사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문서 작성 실습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119215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10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클린뷰티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화장품 안정성 평가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화장품 안정성 시험 이론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시험 실습 및 분석 실습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8H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010196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11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클린화장품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특화 탄소발자국 보고서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클린화장품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정의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및 탄소발자국 표준과 요구사항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LCA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보고서 작성 실습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7H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432840"/>
                  </a:ext>
                </a:extLst>
              </a:tr>
              <a:tr h="135519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12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바이오플라스틱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엘라스토머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제품 분석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바이오플라스틱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첨가제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물성 향상을 위한 측정 기본 원리 및 실무 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크로마토그래피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실무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물성 향상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열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7H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450018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13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경영 데이터관리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경영을 위한 데이터 관리 방법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환경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사회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지배구조 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KPI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설정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7H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500243"/>
                  </a:ext>
                </a:extLst>
              </a:tr>
              <a:tr h="246455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14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생분해성 수지 제품 시험 인증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소재 산업기술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생분해성 플라스틱 규제 정책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생분해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플라스틱 국내외 인증 기준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EL724 “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생분해성 수지제품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”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시험방법 및 실습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6H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38588"/>
                  </a:ext>
                </a:extLst>
              </a:tr>
              <a:tr h="246455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15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환경규제물질 규제대응을 위한 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ICP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활용 무기분석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고위험물질 평가를 위한 표준 및 무기분석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(ICP),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유해물질 프로세스 구축을 위한 분석 이론 및 실습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할로겐 규제 대응을 위한 분석 이론 및 실습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6H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045807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16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 플라스틱 사출성형 이해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 플라스틱 소재 종류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특성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 플라스틱 사출금형 제작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및 사출성형 기법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8H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205173"/>
                  </a:ext>
                </a:extLst>
              </a:tr>
              <a:tr h="246455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17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소재를 활용한 의료기기 인증과 기술문서 작성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소재 의료기기 시장 진입을 위한 전략 수립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소재 적용 사례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수출규제와 인증 및 기술문서 이론과 실습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16H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627025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18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의료기기 사이버보안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의료기기 사이버보안 개념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국내외 규제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위협모델링 실습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SBOM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분석 및 취약점 연계 실습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16H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155049"/>
                  </a:ext>
                </a:extLst>
              </a:tr>
              <a:tr h="135519">
                <a:tc rowSpan="7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세미나 과정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19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기업 저탄소 경영을 위한 친환경제도 이해하기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기후변화 관련 산업계 주요동향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탄소배출량 산정방법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환경 </a:t>
                      </a: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라벨링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이해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제품별 유해화학물질 규제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341095"/>
                  </a:ext>
                </a:extLst>
              </a:tr>
              <a:tr h="135519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20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그린워싱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규제 동향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제품환경라벨 기준 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(ISO 14021)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개론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그린워싱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정의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국내외 주요 사례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및 공시 규정과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규제 동향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248123"/>
                  </a:ext>
                </a:extLst>
              </a:tr>
              <a:tr h="246455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21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제품 에코디자인 규정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에코디자인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(ESPR)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요구사항의 이해 및 적용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디지털 제품 여권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(DPP)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활용법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화학 산업에서의 산업 동향 및 규정 변화에 따른 대응 전략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917692"/>
                  </a:ext>
                </a:extLst>
              </a:tr>
              <a:tr h="246455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22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순환 경제와 폐플라스틱 재생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: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최신 동향과 첨단 분리기술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폐플라스틱 재생 원료 개념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최신 동향 및 시장 진출 현황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폐플라스틱 분리 기술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압출성형 분야 재생 플라스틱 활용 기술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711153"/>
                  </a:ext>
                </a:extLst>
              </a:tr>
              <a:tr h="246455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23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재활용 및 </a:t>
                      </a: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생분해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 플라스틱 제품의 스마트 생산관리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재생 플라스틱 생산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품질관리방안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 err="1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생분해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 플라스틱 제품 생산관리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AI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활용 데이터 분석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899382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24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지속가능 패키징 트렌드와 대응 전략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지속가능한 패키징 소재 기술 동향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 플라스틱 지속가능한 포장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060371"/>
                  </a:ext>
                </a:extLst>
              </a:tr>
              <a:tr h="127957">
                <a:tc vMerge="1"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-4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25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화학 산업의 디지털 전환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l" defTabSz="914400" rtl="0" eaLnBrk="1" fontAlgn="base" latinLnBrk="0" hangingPunct="1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디지털 전환의 이해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국내외 디지털 트윈 추진 현황</a:t>
                      </a: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DX </a:t>
                      </a:r>
                      <a:r>
                        <a:rPr lang="ko-KR" alt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추진 전략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ctr" defTabSz="914400" rtl="0" eaLnBrk="1" fontAlgn="base" latinLnBrk="0" hangingPunct="1">
                        <a:lnSpc>
                          <a:spcPct val="90000"/>
                        </a:lnSpc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4H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86340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A7027534-39E6-D6DC-A138-FA5C53015ECA}"/>
              </a:ext>
            </a:extLst>
          </p:cNvPr>
          <p:cNvGrpSpPr/>
          <p:nvPr/>
        </p:nvGrpSpPr>
        <p:grpSpPr>
          <a:xfrm>
            <a:off x="5080928" y="1900908"/>
            <a:ext cx="2262371" cy="104677"/>
            <a:chOff x="5786437" y="1675872"/>
            <a:chExt cx="3638734" cy="13470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17412A1-64BA-8B69-DFFC-FBFF236F04B8}"/>
                </a:ext>
              </a:extLst>
            </p:cNvPr>
            <p:cNvSpPr/>
            <p:nvPr/>
          </p:nvSpPr>
          <p:spPr>
            <a:xfrm>
              <a:off x="5786437" y="1675872"/>
              <a:ext cx="1171576" cy="13470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ko-KR" altLang="en-US" sz="700" kern="0" spc="-40" dirty="0">
                  <a:solidFill>
                    <a:sysClr val="windowText" lastClr="000000"/>
                  </a:solidFill>
                  <a:latin typeface="페이퍼로지 3 Light" pitchFamily="2" charset="-127"/>
                  <a:ea typeface="페이퍼로지 3 Light" pitchFamily="2" charset="-127"/>
                </a:rPr>
                <a:t>플라스틱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EFDA8D5-C815-3BF3-E0B7-08085751F789}"/>
                </a:ext>
              </a:extLst>
            </p:cNvPr>
            <p:cNvSpPr/>
            <p:nvPr/>
          </p:nvSpPr>
          <p:spPr>
            <a:xfrm>
              <a:off x="7020016" y="1675872"/>
              <a:ext cx="1171576" cy="1347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ko-KR" altLang="en-US" sz="700" kern="0" spc="-40" dirty="0">
                  <a:solidFill>
                    <a:sysClr val="windowText" lastClr="000000"/>
                  </a:solidFill>
                  <a:latin typeface="페이퍼로지 3 Light" pitchFamily="2" charset="-127"/>
                  <a:ea typeface="페이퍼로지 3 Light" pitchFamily="2" charset="-127"/>
                </a:rPr>
                <a:t>화장품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23A3360-20E0-A8C3-AFD3-6FBB48D98250}"/>
                </a:ext>
              </a:extLst>
            </p:cNvPr>
            <p:cNvSpPr/>
            <p:nvPr/>
          </p:nvSpPr>
          <p:spPr>
            <a:xfrm>
              <a:off x="8253595" y="1675872"/>
              <a:ext cx="1171576" cy="13470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ko-KR" altLang="en-US" sz="700" kern="0" spc="-40" dirty="0">
                  <a:solidFill>
                    <a:sysClr val="windowText" lastClr="000000"/>
                  </a:solidFill>
                  <a:latin typeface="페이퍼로지 3 Light" pitchFamily="2" charset="-127"/>
                  <a:ea typeface="페이퍼로지 3 Light" pitchFamily="2" charset="-127"/>
                </a:rPr>
                <a:t>의료기기</a:t>
              </a:r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C95BA69-FB93-A12D-6539-073BDEA371A9}"/>
              </a:ext>
            </a:extLst>
          </p:cNvPr>
          <p:cNvCxnSpPr>
            <a:cxnSpLocks/>
          </p:cNvCxnSpPr>
          <p:nvPr/>
        </p:nvCxnSpPr>
        <p:spPr>
          <a:xfrm>
            <a:off x="344487" y="1871431"/>
            <a:ext cx="7020000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948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AB3E-2DA5-3E43-AB38-D60EC613D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BDEA82-A2A1-38E6-1F51-C9F63788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56710F-3C49-E9A3-9C96-E37C9E12DB4A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356A0D63-FDFA-A0BD-F8D0-9152EF5C712F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</a:t>
            </a:r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23~26</a:t>
            </a:r>
            <a:r>
              <a:rPr lang="ko-KR" altLang="en-US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년 과정의 개</a:t>
            </a:r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폐강 분석 결과</a:t>
            </a:r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과정 수는 </a:t>
            </a:r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9</a:t>
            </a:r>
            <a:r>
              <a:rPr lang="ko-KR" altLang="en-US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개에서 </a:t>
            </a:r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25</a:t>
            </a:r>
            <a:r>
              <a:rPr lang="ko-KR" altLang="en-US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개로 확대되었고</a:t>
            </a:r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내용은 산업 동향 중심에서 </a:t>
            </a:r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ESG, </a:t>
            </a:r>
            <a:r>
              <a:rPr lang="ko-KR" altLang="en-US" sz="16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클린뷰티</a:t>
            </a:r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바이오 플라스틱 및 재활용</a:t>
            </a:r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의료기기 등 분야별 실무 과정 중심으로 재편되고 있습니다</a:t>
            </a:r>
            <a:r>
              <a:rPr lang="en-US" altLang="ko-KR" sz="16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0B664-5AD1-D449-7594-9B123764479C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897E076-F025-2E09-E98E-6504353273E3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5FCEE6B6-0844-0269-2F02-883E99CE3269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B741FB-71AF-1537-51F9-6272E28FD1AD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3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DA3B-D55F-252C-C227-C83FB2ECFF45}"/>
              </a:ext>
            </a:extLst>
          </p:cNvPr>
          <p:cNvSpPr/>
          <p:nvPr/>
        </p:nvSpPr>
        <p:spPr>
          <a:xfrm>
            <a:off x="1513166" y="253829"/>
            <a:ext cx="5692812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8.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훈련과정 분석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2E7FA12-847D-D8C8-A718-D35205FA4ADD}"/>
              </a:ext>
            </a:extLst>
          </p:cNvPr>
          <p:cNvCxnSpPr>
            <a:cxnSpLocks/>
          </p:cNvCxnSpPr>
          <p:nvPr/>
        </p:nvCxnSpPr>
        <p:spPr>
          <a:xfrm>
            <a:off x="344487" y="1871431"/>
            <a:ext cx="6861490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텍스트 개체 틀 1">
            <a:extLst>
              <a:ext uri="{FF2B5EF4-FFF2-40B4-BE49-F238E27FC236}">
                <a16:creationId xmlns:a16="http://schemas.microsoft.com/office/drawing/2014/main" id="{9B424992-11B7-7BE2-B878-0BCA8BC114E6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교육과정 구성 변화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69E817-BE60-F594-7A9A-16C908A70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43587"/>
              </p:ext>
            </p:extLst>
          </p:nvPr>
        </p:nvGraphicFramePr>
        <p:xfrm>
          <a:off x="344484" y="2019387"/>
          <a:ext cx="6861493" cy="4392968"/>
        </p:xfrm>
        <a:graphic>
          <a:graphicData uri="http://schemas.openxmlformats.org/drawingml/2006/table">
            <a:tbl>
              <a:tblPr/>
              <a:tblGrid>
                <a:gridCol w="235397">
                  <a:extLst>
                    <a:ext uri="{9D8B030D-6E8A-4147-A177-3AD203B41FA5}">
                      <a16:colId xmlns:a16="http://schemas.microsoft.com/office/drawing/2014/main" val="4138074207"/>
                    </a:ext>
                  </a:extLst>
                </a:gridCol>
                <a:gridCol w="1656524">
                  <a:extLst>
                    <a:ext uri="{9D8B030D-6E8A-4147-A177-3AD203B41FA5}">
                      <a16:colId xmlns:a16="http://schemas.microsoft.com/office/drawing/2014/main" val="3005876545"/>
                    </a:ext>
                  </a:extLst>
                </a:gridCol>
                <a:gridCol w="1656524">
                  <a:extLst>
                    <a:ext uri="{9D8B030D-6E8A-4147-A177-3AD203B41FA5}">
                      <a16:colId xmlns:a16="http://schemas.microsoft.com/office/drawing/2014/main" val="425942109"/>
                    </a:ext>
                  </a:extLst>
                </a:gridCol>
                <a:gridCol w="1656524">
                  <a:extLst>
                    <a:ext uri="{9D8B030D-6E8A-4147-A177-3AD203B41FA5}">
                      <a16:colId xmlns:a16="http://schemas.microsoft.com/office/drawing/2014/main" val="4228418912"/>
                    </a:ext>
                  </a:extLst>
                </a:gridCol>
                <a:gridCol w="1656524">
                  <a:extLst>
                    <a:ext uri="{9D8B030D-6E8A-4147-A177-3AD203B41FA5}">
                      <a16:colId xmlns:a16="http://schemas.microsoft.com/office/drawing/2014/main" val="582619232"/>
                    </a:ext>
                  </a:extLst>
                </a:gridCol>
              </a:tblGrid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No</a:t>
                      </a:r>
                      <a:endParaRPr lang="ko-KR" altLang="en-US" sz="800" kern="0" spc="-4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2023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(9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개 과정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8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2024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(15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개 과정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8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(22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개 과정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8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2026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(25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개 과정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8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14535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및 탄소중립 시대 준비를 위한 대응전략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바이오화학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산업전환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, ESG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대응전략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바이오화학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산업전환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, ESG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대응전략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631141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탄소 저감 및 탄소 </a:t>
                      </a: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배출권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산정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화이트바이오 저탄소 경영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화이트바이오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저탄소 경영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200273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화이트바이오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산업 동향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화이트바이오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산업 동향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화이트바이오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산업 동향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953371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화이트바이오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산업 활성화 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767862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화이트바이오 산업기술과 인증제도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265847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패키지 산업 및 개발의 이해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지속가능 패키징 트렌드와 대응 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083972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 산업의 디지털 전환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119983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8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탄소중립을 위한 친환경 제도 이해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탄소중립을 위한 친환경 제도 이해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기업 저탄소 경영을 위한 친환경제도 이해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975856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그린워싱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현황과 대응전략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그린워싱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현황과 대응전략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그린워싱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규제 동향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826476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제품 에코디자인 규정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제품 에코디자인 규정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777247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지속가능 경영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지속가능 경영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지속가능 경영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836522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경영 데이터관리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경영 데이터관리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605216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13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화학산업 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Scope 3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배출량 산정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화학산업 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Scope 3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배출량 산정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56222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14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바이오화학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LCA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기본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바이오화학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LCA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기본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088873"/>
                  </a:ext>
                </a:extLst>
              </a:tr>
              <a:tr h="2076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15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화장품 산업의 </a:t>
                      </a: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클린뷰티와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이슈 대응전략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585796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16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 화장품 기술 인증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화장품 기술 인증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화장품 기술 및 인증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 화장품 기술 및 인증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02970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17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 화장품 안정성 평가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 화장품 안정성 평가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화장품 안정성 평가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화장품 안정성 평가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367156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18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화장품 브랜딩 기본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화장품 브랜딩 기본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화장품 브랜딩 기본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90001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19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클린화장품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특화 탄소발자국 보고서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149242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바이오플라스틱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산업 동향과 인증 기본 이해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791688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21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소재 제품화 기본 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소재 제품화 기본 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소재 제품화 기본 전략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355996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22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화이트바이오 </a:t>
                      </a:r>
                      <a:r>
                        <a:rPr lang="en-US" altLang="ko-KR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R&amp;D </a:t>
                      </a: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프로젝트 통합관리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바이오화학 </a:t>
                      </a:r>
                      <a:r>
                        <a:rPr lang="en-US" altLang="ko-KR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R&amp;D </a:t>
                      </a: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관리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바이오화학 </a:t>
                      </a:r>
                      <a:r>
                        <a:rPr lang="en-US" altLang="ko-KR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R&amp;D </a:t>
                      </a: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관리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406066"/>
                  </a:ext>
                </a:extLst>
              </a:tr>
              <a:tr h="2076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23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환경 친화적 제품 생산을 위한 생분해성 시험평가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생분해성 수지 제품 시험 인증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생분해성 수지 제품 시험 인증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18589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24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바이오플라스틱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/</a:t>
                      </a: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엘라스토머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제품분석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바이오플라스틱</a:t>
                      </a:r>
                      <a:r>
                        <a:rPr lang="en-US" altLang="ko-KR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/</a:t>
                      </a: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엘라스토머 제품 분석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바이오플라스틱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/</a:t>
                      </a: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엘라스토머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제품 분석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95634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25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 플라스틱 사출성형 이해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722385"/>
                  </a:ext>
                </a:extLst>
              </a:tr>
              <a:tr h="2076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26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80000"/>
                        </a:lnSpc>
                        <a:buNone/>
                      </a:pPr>
                      <a:endParaRPr lang="ko-KR" altLang="en-US" sz="800" spc="-50" baseline="0" dirty="0"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제품개발을 위한 재활용 산업 및 인증 이해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플라스틱 재활용 산업 및 인증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플라스틱 재활용 산업 및 인증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864807"/>
                  </a:ext>
                </a:extLst>
              </a:tr>
              <a:tr h="2076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27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재활용 및 </a:t>
                      </a: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생분해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바이오 플라스틱 제품의 스마트 생산관리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재활용 및 </a:t>
                      </a:r>
                      <a:r>
                        <a:rPr lang="ko-KR" altLang="en-US" sz="8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생분해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바이오 플라스틱 제품의 스마트 생산관리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754761"/>
                  </a:ext>
                </a:extLst>
              </a:tr>
              <a:tr h="2258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28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순환경제와 폐플라스틱 재생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최신동향과 첨단 분리 기술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순환경제와 폐플라스틱 재생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최신동향과 첨단 분리 기술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055618"/>
                  </a:ext>
                </a:extLst>
              </a:tr>
              <a:tr h="2076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29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환경규제물질 규제대응을 위한 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ICP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활용 무기분석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환경규제물질 규제대응을 위한 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ICP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활용 무기분석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90922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30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화학물질</a:t>
                      </a:r>
                      <a:r>
                        <a:rPr lang="en-US" altLang="ko-KR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화학제품 규제대응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화학물질</a:t>
                      </a:r>
                      <a:r>
                        <a:rPr lang="en-US" altLang="ko-KR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화학제품 규제대응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374054"/>
                  </a:ext>
                </a:extLst>
              </a:tr>
              <a:tr h="2076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31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소재를 활용한 의료기기 인증과 기술문서 작성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773946"/>
                  </a:ext>
                </a:extLst>
              </a:tr>
              <a:tr h="1109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4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32</a:t>
                      </a:r>
                    </a:p>
                  </a:txBody>
                  <a:tcPr marL="0" marR="0" marT="7200" marB="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en-US" sz="800" kern="0" spc="-50" baseline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38100" indent="0" algn="ctr" fontAlgn="base" latinLnBrk="0">
                        <a:lnSpc>
                          <a:spcPct val="80000"/>
                        </a:lnSpc>
                        <a:buNone/>
                      </a:pPr>
                      <a:r>
                        <a:rPr lang="ko-KR" altLang="en-US" sz="8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의료기기 사이버보안 실무</a:t>
                      </a:r>
                    </a:p>
                  </a:txBody>
                  <a:tcPr marL="0" marR="0" marT="7200" marB="72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20480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60047F2-3F10-3AFD-29CB-E634D07FE4CD}"/>
              </a:ext>
            </a:extLst>
          </p:cNvPr>
          <p:cNvSpPr txBox="1"/>
          <p:nvPr/>
        </p:nvSpPr>
        <p:spPr>
          <a:xfrm>
            <a:off x="7412922" y="2024062"/>
            <a:ext cx="2150008" cy="4357687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rIns="36000" rtlCol="0" anchor="ctr"/>
          <a:lstStyle>
            <a:defPPr>
              <a:defRPr lang="en-US"/>
            </a:defPPr>
            <a:lvl1pPr marL="180975" indent="-93663" defTabSz="914400">
              <a:buFont typeface="Arial" panose="020B0604020202020204" pitchFamily="34" charset="0"/>
              <a:buChar char="•"/>
              <a:defRPr sz="900" kern="0" spc="-5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defRPr>
            </a:lvl1pPr>
          </a:lstStyle>
          <a:p>
            <a:pPr marL="0" lvl="1" algn="ctr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050" kern="0" spc="-50" dirty="0">
                <a:latin typeface="페이퍼로지 6 SemiBold" pitchFamily="2" charset="-127"/>
                <a:ea typeface="페이퍼로지 6 SemiBold" pitchFamily="2" charset="-127"/>
              </a:rPr>
              <a:t>[Key Finding]</a:t>
            </a:r>
          </a:p>
          <a:p>
            <a:pPr marL="85725" lvl="1" indent="-85725" defTabSz="9144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sz="1050" kern="0" spc="-50" dirty="0">
              <a:solidFill>
                <a:srgbClr val="FF660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85725" lvl="1" indent="-85725" defTabSz="9144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과정 수</a:t>
            </a: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23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년 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9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개 과정으로 시작하여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, 3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년간 과정 개발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개선을 통해 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26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년 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25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개 운영 예정</a:t>
            </a:r>
            <a:endParaRPr lang="en-US" altLang="ko-KR" sz="1050" kern="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5725" lvl="1" indent="-85725" defTabSz="9144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과정 개발 방향</a:t>
            </a:r>
            <a:r>
              <a:rPr lang="en-US" altLang="ko-KR" sz="1050" kern="0" spc="-50" dirty="0">
                <a:solidFill>
                  <a:srgbClr val="FF6600"/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초기 산업동향 중심의 인식 제고형 과정에서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,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24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년 이후 실무 중심 과정으로 점차 전환되며 교육의 실질화가 이루어지고 있음</a:t>
            </a:r>
            <a:endParaRPr lang="en-US" altLang="ko-KR" sz="1050" kern="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5725" lvl="1" indent="-85725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 - (23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년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산업 동향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 중심의 인사이트 과정과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‘</a:t>
            </a:r>
            <a:r>
              <a:rPr lang="ko-KR" altLang="en-US" sz="1050" kern="0" spc="-50" dirty="0" err="1">
                <a:latin typeface="페이퍼로지 5 Medium" pitchFamily="2" charset="-127"/>
                <a:ea typeface="페이퍼로지 5 Medium" pitchFamily="2" charset="-127"/>
              </a:rPr>
              <a:t>클린뷰티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 중심 과정 개발</a:t>
            </a:r>
            <a:endParaRPr lang="en-US" altLang="ko-KR" sz="1050" kern="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5725" lvl="1" indent="-85725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 - (24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년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기존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인사이트 과정의 통폐합과　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‘ESG’, ‘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바이오 플라스틱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’, ‘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재활용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’ 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관련 과정 신설</a:t>
            </a:r>
            <a:endParaRPr lang="en-US" altLang="ko-KR" sz="1050" kern="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5725" lvl="1" indent="-85725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 - (25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년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) ‘LCA’, ‘ESG’, ‘Scope 3’ 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등 산업 공통 </a:t>
            </a:r>
            <a:r>
              <a:rPr lang="en-US" altLang="ko-KR" sz="1050" kern="0" spc="-50" dirty="0" err="1">
                <a:latin typeface="페이퍼로지 5 Medium" pitchFamily="2" charset="-127"/>
                <a:ea typeface="페이퍼로지 5 Medium" pitchFamily="2" charset="-127"/>
              </a:rPr>
              <a:t>실무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50" kern="0" spc="-50" dirty="0" err="1">
                <a:latin typeface="페이퍼로지 5 Medium" pitchFamily="2" charset="-127"/>
                <a:ea typeface="페이퍼로지 5 Medium" pitchFamily="2" charset="-127"/>
              </a:rPr>
              <a:t>과정이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50" kern="0" spc="-50" dirty="0" err="1">
                <a:latin typeface="페이퍼로지 5 Medium" pitchFamily="2" charset="-127"/>
                <a:ea typeface="페이퍼로지 5 Medium" pitchFamily="2" charset="-127"/>
              </a:rPr>
              <a:t>추가되었고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, ‘</a:t>
            </a:r>
            <a:r>
              <a:rPr lang="en-US" altLang="ko-KR" sz="1050" kern="0" spc="-50" dirty="0" err="1">
                <a:latin typeface="페이퍼로지 5 Medium" pitchFamily="2" charset="-127"/>
                <a:ea typeface="페이퍼로지 5 Medium" pitchFamily="2" charset="-127"/>
              </a:rPr>
              <a:t>플라스틱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50" kern="0" spc="-50" dirty="0" err="1">
                <a:latin typeface="페이퍼로지 5 Medium" pitchFamily="2" charset="-127"/>
                <a:ea typeface="페이퍼로지 5 Medium" pitchFamily="2" charset="-127"/>
              </a:rPr>
              <a:t>재활용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’ 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분야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과정 확대</a:t>
            </a:r>
            <a:endParaRPr lang="en-US" altLang="ko-KR" sz="1050" kern="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85725" lvl="1" indent="-85725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  - (26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년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산업 동향 관련 과정의 통폐합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화장품 및 플라스틱 실무 과정 추가</a:t>
            </a:r>
            <a:r>
              <a:rPr lang="en-US" altLang="ko-KR" sz="1050" kern="0" spc="-50" dirty="0">
                <a:latin typeface="페이퍼로지 5 Medium" pitchFamily="2" charset="-127"/>
                <a:ea typeface="페이퍼로지 5 Medium" pitchFamily="2" charset="-127"/>
              </a:rPr>
              <a:t>, ‘</a:t>
            </a:r>
            <a:r>
              <a:rPr lang="ko-KR" altLang="en-US" sz="1050" kern="0" spc="-50" dirty="0">
                <a:latin typeface="페이퍼로지 5 Medium" pitchFamily="2" charset="-127"/>
                <a:ea typeface="페이퍼로지 5 Medium" pitchFamily="2" charset="-127"/>
              </a:rPr>
              <a:t>의료기기’ 분야 신설</a:t>
            </a:r>
          </a:p>
        </p:txBody>
      </p:sp>
    </p:spTree>
    <p:extLst>
      <p:ext uri="{BB962C8B-B14F-4D97-AF65-F5344CB8AC3E}">
        <p14:creationId xmlns:p14="http://schemas.microsoft.com/office/powerpoint/2010/main" val="760099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B8AE-75A7-543F-2AB9-DECB3F64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5E7459-7112-9894-49C7-6E9360921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r>
              <a:rPr kumimoji="0" lang="ko-KR" altLang="en-US" sz="813" b="0" i="0" u="none" strike="noStrike" kern="1200" cap="none" spc="-50" normalizeH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0BFC4B-F43D-12C9-FC37-3BFFD64B8129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BBC5E966-306C-6AF4-1201-3961E4C0E2D2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Module 1~3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의 분석 결과를 종합하여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교육체계 개선을 위한 핵심 과제를 도출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E5002-DA2D-7067-5020-00335B59E59F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D3636C8-21A5-7F99-29D9-0BF2C28C0114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98FC7E47-D8BA-F9FC-0B04-D06A81ACAC50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7B042B-89D4-9E61-BC12-0AB30C4B6EE3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3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95CB83-9E5E-58BA-E7AB-80A9B2CA8A92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9.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교육체계 개선방안 도출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22D7B73-599C-B333-77A5-B8602787CBF8}"/>
              </a:ext>
            </a:extLst>
          </p:cNvPr>
          <p:cNvSpPr/>
          <p:nvPr/>
        </p:nvSpPr>
        <p:spPr>
          <a:xfrm>
            <a:off x="356972" y="2024063"/>
            <a:ext cx="4464049" cy="434609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rtlCol="0" anchor="t"/>
          <a:lstStyle/>
          <a:p>
            <a:pPr fontAlgn="base">
              <a:lnSpc>
                <a:spcPct val="150000"/>
              </a:lnSpc>
              <a:spcBef>
                <a:spcPct val="0"/>
              </a:spcBef>
              <a:buSzPct val="80000"/>
            </a:pP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642F73-A682-E127-BD19-5858680E9A51}"/>
              </a:ext>
            </a:extLst>
          </p:cNvPr>
          <p:cNvSpPr txBox="1"/>
          <p:nvPr/>
        </p:nvSpPr>
        <p:spPr>
          <a:xfrm>
            <a:off x="515779" y="2564536"/>
            <a:ext cx="4146435" cy="1001073"/>
          </a:xfrm>
          <a:prstGeom prst="roundRect">
            <a:avLst>
              <a:gd name="adj" fmla="val 6018"/>
            </a:avLst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36000" rIns="3600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ko-KR" altLang="en-US" sz="1400" kern="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과제 </a:t>
            </a:r>
            <a:r>
              <a:rPr lang="en-US" altLang="ko-KR" sz="1400" kern="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1 </a:t>
            </a:r>
          </a:p>
          <a:p>
            <a:pPr algn="ctr">
              <a:spcAft>
                <a:spcPts val="600"/>
              </a:spcAft>
            </a:pPr>
            <a:r>
              <a:rPr lang="en-US" altLang="ko-KR" sz="1400" spc="-50" dirty="0">
                <a:latin typeface="페이퍼로지 6 SemiBold" pitchFamily="2" charset="-127"/>
                <a:ea typeface="페이퍼로지 6 SemiBold" pitchFamily="2" charset="-127"/>
              </a:rPr>
              <a:t>KTR </a:t>
            </a:r>
            <a:r>
              <a:rPr lang="ko-KR" altLang="en-US" sz="1400" spc="-50" dirty="0">
                <a:latin typeface="페이퍼로지 6 SemiBold" pitchFamily="2" charset="-127"/>
                <a:ea typeface="페이퍼로지 6 SemiBold" pitchFamily="2" charset="-127"/>
              </a:rPr>
              <a:t>산업전환 공동훈련센터 </a:t>
            </a:r>
            <a:r>
              <a:rPr lang="en-US" altLang="ko-KR" sz="1400" spc="-50" dirty="0">
                <a:latin typeface="페이퍼로지 6 SemiBold" pitchFamily="2" charset="-127"/>
                <a:ea typeface="페이퍼로지 6 SemiBold" pitchFamily="2" charset="-127"/>
              </a:rPr>
              <a:t>4</a:t>
            </a:r>
            <a:r>
              <a:rPr lang="ko-KR" altLang="en-US" sz="1400" spc="-50" dirty="0">
                <a:latin typeface="페이퍼로지 6 SemiBold" pitchFamily="2" charset="-127"/>
                <a:ea typeface="페이퍼로지 6 SemiBold" pitchFamily="2" charset="-127"/>
              </a:rPr>
              <a:t>개년 교육계획 수립</a:t>
            </a:r>
            <a:endParaRPr lang="en-US" altLang="ko-KR" sz="1400" spc="-5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BDD5CD-39C7-5AC1-D5B5-8D1BAE6FC59E}"/>
              </a:ext>
            </a:extLst>
          </p:cNvPr>
          <p:cNvSpPr txBox="1"/>
          <p:nvPr/>
        </p:nvSpPr>
        <p:spPr>
          <a:xfrm>
            <a:off x="515779" y="3891808"/>
            <a:ext cx="4146435" cy="1001073"/>
          </a:xfrm>
          <a:prstGeom prst="roundRect">
            <a:avLst>
              <a:gd name="adj" fmla="val 7539"/>
            </a:avLst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72000" rIns="7200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ko-KR" altLang="en-US" sz="1400" kern="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과제 </a:t>
            </a:r>
            <a:r>
              <a:rPr lang="en-US" altLang="ko-KR" sz="1400" kern="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2</a:t>
            </a:r>
          </a:p>
          <a:p>
            <a:pPr algn="ctr">
              <a:spcAft>
                <a:spcPts val="600"/>
              </a:spcAft>
            </a:pPr>
            <a:r>
              <a:rPr lang="en-US" altLang="ko-KR" sz="1400" spc="-50" dirty="0">
                <a:latin typeface="페이퍼로지 6 SemiBold" pitchFamily="2" charset="-127"/>
                <a:ea typeface="페이퍼로지 6 SemiBold" pitchFamily="2" charset="-127"/>
              </a:rPr>
              <a:t>KTR </a:t>
            </a:r>
            <a:r>
              <a:rPr lang="ko-KR" altLang="en-US" sz="1400" spc="-50" dirty="0">
                <a:latin typeface="페이퍼로지 6 SemiBold" pitchFamily="2" charset="-127"/>
                <a:ea typeface="페이퍼로지 6 SemiBold" pitchFamily="2" charset="-127"/>
              </a:rPr>
              <a:t>산업전환 공동훈련센터 </a:t>
            </a:r>
            <a:r>
              <a:rPr lang="ko-KR" altLang="en-US" sz="1400" spc="-50" dirty="0" err="1"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400" spc="-50" dirty="0"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400" spc="-50" dirty="0" err="1">
                <a:latin typeface="페이퍼로지 6 SemiBold" pitchFamily="2" charset="-127"/>
                <a:ea typeface="페이퍼로지 6 SemiBold" pitchFamily="2" charset="-127"/>
              </a:rPr>
              <a:t>재수립</a:t>
            </a:r>
            <a:endParaRPr lang="en-US" altLang="ko-KR" sz="1400" spc="-5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683DAE-8A1A-3215-75DF-D8D4FAC9561D}"/>
              </a:ext>
            </a:extLst>
          </p:cNvPr>
          <p:cNvSpPr txBox="1"/>
          <p:nvPr/>
        </p:nvSpPr>
        <p:spPr>
          <a:xfrm>
            <a:off x="441618" y="2105268"/>
            <a:ext cx="4294757" cy="243855"/>
          </a:xfrm>
          <a:prstGeom prst="rect">
            <a:avLst/>
          </a:prstGeom>
          <a:solidFill>
            <a:srgbClr val="395D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</a:lstStyle>
          <a:p>
            <a:pPr marL="87312" lvl="1" algn="ctr" defTabSz="914400"/>
            <a:r>
              <a:rPr lang="ko-KR" altLang="en-US" sz="11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핵심 과제</a:t>
            </a:r>
            <a:endParaRPr lang="en-US" altLang="ko-KR" sz="1100" kern="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5389F4-DB53-C192-3295-05700395FC02}"/>
              </a:ext>
            </a:extLst>
          </p:cNvPr>
          <p:cNvSpPr txBox="1"/>
          <p:nvPr/>
        </p:nvSpPr>
        <p:spPr>
          <a:xfrm>
            <a:off x="515779" y="5219080"/>
            <a:ext cx="4146435" cy="1001073"/>
          </a:xfrm>
          <a:prstGeom prst="roundRect">
            <a:avLst>
              <a:gd name="adj" fmla="val 8300"/>
            </a:avLst>
          </a:prstGeom>
          <a:solidFill>
            <a:srgbClr val="EEECE1"/>
          </a:solidFill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72000" rIns="7200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ko-KR" altLang="en-US" sz="1400" kern="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과제 </a:t>
            </a:r>
            <a:r>
              <a:rPr lang="en-US" altLang="ko-KR" sz="1400" kern="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3  </a:t>
            </a:r>
          </a:p>
          <a:p>
            <a:pPr algn="ctr">
              <a:spcAft>
                <a:spcPts val="600"/>
              </a:spcAft>
            </a:pPr>
            <a:r>
              <a:rPr lang="ko-KR" altLang="en-US" sz="1400" spc="-50" dirty="0">
                <a:latin typeface="페이퍼로지 6 SemiBold" pitchFamily="2" charset="-127"/>
                <a:ea typeface="페이퍼로지 6 SemiBold" pitchFamily="2" charset="-127"/>
              </a:rPr>
              <a:t>산업별 특성과 수요 반영한 신규 교육주제 제시</a:t>
            </a:r>
            <a:endParaRPr lang="en-US" altLang="ko-KR" sz="1400" spc="-5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FD0F9A51-49A1-8941-ACB9-4B9A4801AF26}"/>
              </a:ext>
            </a:extLst>
          </p:cNvPr>
          <p:cNvCxnSpPr>
            <a:cxnSpLocks/>
          </p:cNvCxnSpPr>
          <p:nvPr/>
        </p:nvCxnSpPr>
        <p:spPr>
          <a:xfrm>
            <a:off x="344487" y="1871431"/>
            <a:ext cx="9217026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텍스트 개체 틀 1">
            <a:extLst>
              <a:ext uri="{FF2B5EF4-FFF2-40B4-BE49-F238E27FC236}">
                <a16:creationId xmlns:a16="http://schemas.microsoft.com/office/drawing/2014/main" id="{622C1B3A-C0BA-BE5E-5658-51499C3FA759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교육체계 개선방안 도출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17A811-BFC8-EAAE-4BAD-F7AA2448E213}"/>
              </a:ext>
            </a:extLst>
          </p:cNvPr>
          <p:cNvSpPr txBox="1"/>
          <p:nvPr/>
        </p:nvSpPr>
        <p:spPr>
          <a:xfrm>
            <a:off x="5105559" y="2719741"/>
            <a:ext cx="4463574" cy="6906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85725" lvl="1" indent="-85725" defTabSz="9144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4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개년 교육 계획의 기대성과 설정</a:t>
            </a:r>
            <a:endParaRPr lang="en-US" altLang="ko-KR" sz="1400" kern="0" spc="-50" dirty="0">
              <a:solidFill>
                <a:prstClr val="black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85725" lvl="1" indent="-85725" defTabSz="9144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연도별 계획 실행방향 및 운영방안 설정</a:t>
            </a:r>
            <a:endParaRPr lang="en-US" altLang="ko-KR" sz="1400" kern="0" spc="-50" dirty="0">
              <a:solidFill>
                <a:prstClr val="black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E9F393-2842-58AD-84F4-11A60FDC05F8}"/>
              </a:ext>
            </a:extLst>
          </p:cNvPr>
          <p:cNvSpPr txBox="1"/>
          <p:nvPr/>
        </p:nvSpPr>
        <p:spPr>
          <a:xfrm>
            <a:off x="5105559" y="4028417"/>
            <a:ext cx="4463574" cy="7278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en-US"/>
            </a:defPPr>
            <a:lvl2pPr marL="85725" marR="0" lvl="1" indent="-85725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 kumimoji="0" sz="1050" b="0" i="0" u="none" strike="noStrike" kern="0" cap="none" spc="-5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defRPr>
            </a:lvl2pPr>
          </a:lstStyle>
          <a:p>
            <a:pPr lvl="1">
              <a:defRPr/>
            </a:pPr>
            <a:r>
              <a:rPr lang="ko-KR" altLang="en-US" sz="1400" dirty="0"/>
              <a:t>교육분야별</a:t>
            </a:r>
            <a:r>
              <a:rPr lang="en-US" altLang="ko-KR" sz="1400" dirty="0"/>
              <a:t>·</a:t>
            </a:r>
            <a:r>
              <a:rPr lang="ko-KR" altLang="en-US" sz="1400" dirty="0"/>
              <a:t>직무별</a:t>
            </a:r>
            <a:r>
              <a:rPr lang="en-US" altLang="ko-KR" sz="1400" dirty="0"/>
              <a:t> </a:t>
            </a:r>
            <a:r>
              <a:rPr lang="ko-KR" altLang="en-US" sz="1400" dirty="0"/>
              <a:t>분류체계 재정립</a:t>
            </a:r>
            <a:endParaRPr lang="en-US" altLang="ko-KR" sz="1400" dirty="0"/>
          </a:p>
          <a:p>
            <a:pPr lvl="1">
              <a:defRPr/>
            </a:pPr>
            <a:r>
              <a:rPr lang="ko-KR" altLang="en-US" sz="1400" dirty="0"/>
              <a:t>교육수준체계 재정립</a:t>
            </a:r>
            <a:endParaRPr lang="en-US" altLang="ko-KR" sz="1400" dirty="0"/>
          </a:p>
          <a:p>
            <a:pPr lvl="1">
              <a:defRPr/>
            </a:pPr>
            <a:r>
              <a:rPr lang="ko-KR" altLang="en-US" sz="1400" dirty="0"/>
              <a:t>과정 간의 연계성을 강화한 학습경로 설정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7480BA-CDF8-C399-F022-A35AD2064D4F}"/>
              </a:ext>
            </a:extLst>
          </p:cNvPr>
          <p:cNvSpPr txBox="1"/>
          <p:nvPr/>
        </p:nvSpPr>
        <p:spPr>
          <a:xfrm>
            <a:off x="5105559" y="5355689"/>
            <a:ext cx="4463574" cy="7278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en-US"/>
            </a:defPPr>
            <a:lvl2pPr marL="85725" marR="0" lvl="1" indent="-85725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 kumimoji="0" sz="1050" b="0" i="0" u="none" strike="noStrike" kern="0" cap="none" spc="-5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defRPr>
            </a:lvl2pPr>
          </a:lstStyle>
          <a:p>
            <a:pPr lvl="1">
              <a:defRPr/>
            </a:pPr>
            <a:r>
              <a:rPr lang="en-US" altLang="ko-KR" sz="1400" dirty="0"/>
              <a:t>KTR </a:t>
            </a:r>
            <a:r>
              <a:rPr lang="ko-KR" altLang="en-US" sz="1400" dirty="0"/>
              <a:t>산업전환 공동훈련센터 강사진 회의를 통한 </a:t>
            </a:r>
            <a:r>
              <a:rPr lang="en-US" altLang="ko-KR" sz="1400" dirty="0"/>
              <a:t>27,</a:t>
            </a:r>
            <a:r>
              <a:rPr lang="ko-KR" altLang="en-US" sz="1400" dirty="0"/>
              <a:t> </a:t>
            </a:r>
            <a:r>
              <a:rPr lang="en-US" altLang="ko-KR" sz="1400" dirty="0"/>
              <a:t>28</a:t>
            </a:r>
            <a:r>
              <a:rPr lang="ko-KR" altLang="en-US" sz="1400" dirty="0"/>
              <a:t>년 </a:t>
            </a:r>
            <a:r>
              <a:rPr lang="ko-KR" altLang="en-US" sz="1400" dirty="0" err="1"/>
              <a:t>교육콘텐츠</a:t>
            </a:r>
            <a:r>
              <a:rPr lang="ko-KR" altLang="en-US" sz="1400" dirty="0"/>
              <a:t> 도출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714140-1783-2C9B-BCDC-408A16C232AB}"/>
              </a:ext>
            </a:extLst>
          </p:cNvPr>
          <p:cNvSpPr txBox="1"/>
          <p:nvPr/>
        </p:nvSpPr>
        <p:spPr>
          <a:xfrm>
            <a:off x="5169625" y="2105268"/>
            <a:ext cx="4294757" cy="24385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</a:lstStyle>
          <a:p>
            <a:pPr marL="87312" lvl="1" algn="ctr" defTabSz="914400"/>
            <a:r>
              <a:rPr lang="ko-KR" altLang="en-US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수행 내용</a:t>
            </a:r>
            <a:endParaRPr lang="en-US" altLang="ko-KR" sz="1100" kern="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1965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2BE55-4D8E-DA4F-1E4C-15C93D7A5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>
            <a:extLst>
              <a:ext uri="{FF2B5EF4-FFF2-40B4-BE49-F238E27FC236}">
                <a16:creationId xmlns:a16="http://schemas.microsoft.com/office/drawing/2014/main" id="{428CC9D0-BD95-B13A-0A21-95FAE426BC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01360" y="2329988"/>
            <a:ext cx="5103280" cy="288076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2E9683-7DA5-7837-F625-2E9542CA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r>
              <a:rPr kumimoji="0" lang="ko-KR" altLang="en-US" sz="813" b="0" i="0" u="none" strike="noStrike" kern="1200" cap="none" spc="-50" normalizeH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302DAE-E164-557D-2458-290D2EF1E40D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B7F407C4-21C5-3079-73FC-B3C76AC6D798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개년 교육계획은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산업별 전략과 교육체계 개선 방안을 기반으로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연차별 전략과 실행방안을 단계적으로 구성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02580-52B7-553E-72A8-A1F798450491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04AFAA8-91CB-5C1E-154A-6B596DCC18CD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3DAD6832-4A6C-1E22-F1E8-61FEFF3982D8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22F15F-DDC8-42DE-E028-890881FCE97F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4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A3A747-AAAF-500C-FD8E-737E9426A9CD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10.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개년 교육계획 수립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A40283D9-37A0-B389-AF34-F329DEC3323B}"/>
              </a:ext>
            </a:extLst>
          </p:cNvPr>
          <p:cNvCxnSpPr>
            <a:cxnSpLocks/>
          </p:cNvCxnSpPr>
          <p:nvPr/>
        </p:nvCxnSpPr>
        <p:spPr>
          <a:xfrm>
            <a:off x="344487" y="1871431"/>
            <a:ext cx="9217026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텍스트 개체 틀 1">
            <a:extLst>
              <a:ext uri="{FF2B5EF4-FFF2-40B4-BE49-F238E27FC236}">
                <a16:creationId xmlns:a16="http://schemas.microsoft.com/office/drawing/2014/main" id="{C2577A8B-0072-024F-4178-04FEB13BA3D0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6 SemiBold" pitchFamily="2" charset="-127"/>
                <a:ea typeface="페이퍼로지 6 SemiBold" pitchFamily="2" charset="-127"/>
              </a:rPr>
              <a:t>KTR 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산업전환 공동훈련센터 </a:t>
            </a:r>
            <a:r>
              <a:rPr lang="en-US" altLang="ko-KR" sz="1600" spc="-50" dirty="0">
                <a:latin typeface="페이퍼로지 6 SemiBold" pitchFamily="2" charset="-127"/>
                <a:ea typeface="페이퍼로지 6 SemiBold" pitchFamily="2" charset="-127"/>
              </a:rPr>
              <a:t>4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개년 교육계획 수립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6E286-E916-0D5D-6937-86CA2086EEF4}"/>
              </a:ext>
            </a:extLst>
          </p:cNvPr>
          <p:cNvSpPr txBox="1"/>
          <p:nvPr/>
        </p:nvSpPr>
        <p:spPr>
          <a:xfrm>
            <a:off x="914401" y="2035231"/>
            <a:ext cx="864711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 defTabSz="914400"/>
            <a:r>
              <a:rPr lang="ko-KR" altLang="en-US" sz="1500" kern="0" spc="-50" dirty="0" err="1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바이오화학</a:t>
            </a:r>
            <a:r>
              <a:rPr lang="ko-KR" altLang="en-US" sz="15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 산업의 기술</a:t>
            </a:r>
            <a:r>
              <a:rPr lang="en-US" altLang="ko-KR" sz="15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5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규제</a:t>
            </a:r>
            <a:r>
              <a:rPr lang="en-US" altLang="ko-KR" sz="15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5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시장 변화를 통합적으로 이해하고 실행할 수 있는 산업전환 융합형 실무 인력 양성</a:t>
            </a:r>
            <a:endParaRPr lang="en-US" altLang="ko-KR" sz="1500" kern="0" spc="-50" dirty="0">
              <a:solidFill>
                <a:srgbClr val="34453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B94D02-3A9D-C5FB-366A-82A54C1F21D8}"/>
              </a:ext>
            </a:extLst>
          </p:cNvPr>
          <p:cNvSpPr txBox="1"/>
          <p:nvPr/>
        </p:nvSpPr>
        <p:spPr>
          <a:xfrm>
            <a:off x="449648" y="2035231"/>
            <a:ext cx="668973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lvl="1" algn="ctr" defTabSz="914400"/>
            <a:r>
              <a:rPr lang="ko-KR" altLang="en-US" sz="14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목표</a:t>
            </a:r>
            <a:endParaRPr lang="en-US" altLang="ko-KR" sz="1400" kern="0" spc="-50" dirty="0">
              <a:solidFill>
                <a:srgbClr val="34453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D87BE-A2CE-1321-6A49-304FB73A4C96}"/>
              </a:ext>
            </a:extLst>
          </p:cNvPr>
          <p:cNvSpPr txBox="1"/>
          <p:nvPr/>
        </p:nvSpPr>
        <p:spPr>
          <a:xfrm>
            <a:off x="449648" y="2766740"/>
            <a:ext cx="668973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lvl="1" algn="ctr" defTabSz="914400"/>
            <a:r>
              <a:rPr lang="ko-KR" altLang="en-US" sz="14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비전</a:t>
            </a:r>
            <a:endParaRPr lang="en-US" altLang="ko-KR" sz="1400" kern="0" spc="-50" dirty="0">
              <a:solidFill>
                <a:srgbClr val="34453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22AE23-9C91-5B76-F9AC-D37A2F11E96A}"/>
              </a:ext>
            </a:extLst>
          </p:cNvPr>
          <p:cNvSpPr txBox="1"/>
          <p:nvPr/>
        </p:nvSpPr>
        <p:spPr>
          <a:xfrm>
            <a:off x="914401" y="2766740"/>
            <a:ext cx="864711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 defTabSz="914400"/>
            <a:r>
              <a:rPr lang="ko-KR" altLang="en-US" sz="15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글로벌 기술</a:t>
            </a:r>
            <a:r>
              <a:rPr lang="en-US" altLang="ko-KR" sz="15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5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규제 변화에 선제적으로 대응하는 </a:t>
            </a:r>
            <a:r>
              <a:rPr lang="ko-KR" altLang="en-US" sz="1500" kern="0" spc="-50" dirty="0" err="1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바이오화학</a:t>
            </a:r>
            <a:r>
              <a:rPr lang="ko-KR" altLang="en-US" sz="15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 산업의 대표 교육 플랫폼으로 성장</a:t>
            </a:r>
            <a:endParaRPr lang="en-US" altLang="ko-KR" sz="1500" kern="0" spc="-50" dirty="0">
              <a:solidFill>
                <a:srgbClr val="34453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D77FBD-362C-6286-FA59-41D997719E06}"/>
              </a:ext>
            </a:extLst>
          </p:cNvPr>
          <p:cNvSpPr txBox="1"/>
          <p:nvPr/>
        </p:nvSpPr>
        <p:spPr>
          <a:xfrm>
            <a:off x="298768" y="3482860"/>
            <a:ext cx="970732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lvl="1" algn="ctr" defTabSz="914400"/>
            <a:r>
              <a:rPr lang="ko-KR" altLang="en-US" sz="14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연도별 전략</a:t>
            </a:r>
            <a:endParaRPr lang="en-US" altLang="ko-KR" sz="1400" kern="0" spc="-50" dirty="0">
              <a:solidFill>
                <a:srgbClr val="34453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7B0820-001D-D56A-3547-CFD803060FA7}"/>
              </a:ext>
            </a:extLst>
          </p:cNvPr>
          <p:cNvSpPr txBox="1"/>
          <p:nvPr/>
        </p:nvSpPr>
        <p:spPr>
          <a:xfrm>
            <a:off x="449648" y="4245148"/>
            <a:ext cx="668973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lvl="1" algn="ctr" defTabSz="914400"/>
            <a:r>
              <a:rPr lang="ko-KR" altLang="en-US" sz="14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실행계획</a:t>
            </a:r>
            <a:endParaRPr lang="en-US" altLang="ko-KR" sz="1400" kern="0" spc="-50" dirty="0">
              <a:solidFill>
                <a:srgbClr val="34453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279CC4-C648-340D-623A-7EF7622DF3EC}"/>
              </a:ext>
            </a:extLst>
          </p:cNvPr>
          <p:cNvSpPr txBox="1"/>
          <p:nvPr/>
        </p:nvSpPr>
        <p:spPr>
          <a:xfrm>
            <a:off x="1513166" y="3482860"/>
            <a:ext cx="1718300" cy="657322"/>
          </a:xfrm>
          <a:prstGeom prst="rect">
            <a:avLst/>
          </a:prstGeom>
          <a:solidFill>
            <a:srgbClr val="344532"/>
          </a:solidFill>
        </p:spPr>
        <p:txBody>
          <a:bodyPr wrap="square" lIns="36000" rIns="36000" anchor="ctr">
            <a:noAutofit/>
          </a:bodyPr>
          <a:lstStyle/>
          <a:p>
            <a:pPr marL="0" lvl="1" algn="ctr" defTabSz="914400"/>
            <a:r>
              <a:rPr lang="en-US" altLang="ko-KR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(’25) </a:t>
            </a:r>
            <a:r>
              <a:rPr lang="ko-KR" altLang="en-US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체계적 운영을 위한 기반 구축</a:t>
            </a:r>
            <a:endParaRPr lang="en-US" altLang="ko-KR" sz="1400" kern="0" spc="-5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marL="0" lvl="1" algn="ctr" defTabSz="914400"/>
            <a:r>
              <a:rPr lang="en-US" altLang="ko-KR" sz="900" i="1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(*</a:t>
            </a:r>
            <a:r>
              <a:rPr lang="ko-KR" altLang="en-US" sz="900" i="1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본 용역의 과업범위로 설정</a:t>
            </a:r>
            <a:r>
              <a:rPr lang="en-US" altLang="ko-KR" sz="900" i="1" kern="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F38BDA-C568-8166-2936-1233FA3B1663}"/>
              </a:ext>
            </a:extLst>
          </p:cNvPr>
          <p:cNvSpPr txBox="1"/>
          <p:nvPr/>
        </p:nvSpPr>
        <p:spPr>
          <a:xfrm>
            <a:off x="3623182" y="3482861"/>
            <a:ext cx="1718300" cy="657321"/>
          </a:xfrm>
          <a:prstGeom prst="rect">
            <a:avLst/>
          </a:prstGeom>
          <a:solidFill>
            <a:srgbClr val="344532"/>
          </a:solidFill>
        </p:spPr>
        <p:txBody>
          <a:bodyPr wrap="square" lIns="36000" rIns="36000" anchor="ctr">
            <a:noAutofit/>
          </a:bodyPr>
          <a:lstStyle/>
          <a:p>
            <a:pPr marL="0" lvl="1" algn="ctr" defTabSz="914400"/>
            <a:r>
              <a:rPr lang="en-US" altLang="ko-KR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(’26) </a:t>
            </a:r>
            <a:r>
              <a:rPr lang="ko-KR" altLang="en-US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체계적인 교육 </a:t>
            </a:r>
            <a:endParaRPr lang="en-US" altLang="ko-KR" sz="1400" kern="0" spc="-5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marL="0" lvl="1" algn="ctr" defTabSz="914400"/>
            <a:r>
              <a:rPr lang="ko-KR" altLang="en-US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확대 및 운영</a:t>
            </a:r>
            <a:endParaRPr lang="en-US" altLang="ko-KR" sz="1400" kern="0" spc="-5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F86965-79A6-1CD5-610E-B5FC1D6C4CA9}"/>
              </a:ext>
            </a:extLst>
          </p:cNvPr>
          <p:cNvSpPr txBox="1"/>
          <p:nvPr/>
        </p:nvSpPr>
        <p:spPr>
          <a:xfrm>
            <a:off x="5733198" y="3482861"/>
            <a:ext cx="1718300" cy="657321"/>
          </a:xfrm>
          <a:prstGeom prst="rect">
            <a:avLst/>
          </a:prstGeom>
          <a:solidFill>
            <a:srgbClr val="344532"/>
          </a:solidFill>
        </p:spPr>
        <p:txBody>
          <a:bodyPr wrap="square" lIns="36000" rIns="36000" anchor="ctr">
            <a:noAutofit/>
          </a:bodyPr>
          <a:lstStyle/>
          <a:p>
            <a:pPr marL="0" lvl="1" algn="ctr" defTabSz="914400"/>
            <a:r>
              <a:rPr lang="en-US" altLang="ko-KR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(’27) </a:t>
            </a:r>
            <a:r>
              <a:rPr lang="ko-KR" altLang="en-US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공동훈련센터 </a:t>
            </a:r>
            <a:endParaRPr lang="en-US" altLang="ko-KR" sz="1400" kern="0" spc="-5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marL="0" lvl="1" algn="ctr" defTabSz="914400"/>
            <a:r>
              <a:rPr lang="ko-KR" altLang="en-US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운영 최적화</a:t>
            </a:r>
            <a:endParaRPr lang="en-US" altLang="ko-KR" sz="1400" kern="0" spc="-5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94C475-227A-BDB9-574D-2EA1CCB8D513}"/>
              </a:ext>
            </a:extLst>
          </p:cNvPr>
          <p:cNvSpPr txBox="1"/>
          <p:nvPr/>
        </p:nvSpPr>
        <p:spPr>
          <a:xfrm>
            <a:off x="1513166" y="4245148"/>
            <a:ext cx="1718300" cy="2143390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72000" rIns="90000" bIns="72000" rtlCol="0" anchor="t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</a:lstStyle>
          <a:p>
            <a:pPr marL="92075" lvl="1" indent="-92075" defTabSz="9144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n-US" altLang="ko-KR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협약기업 분석</a:t>
            </a:r>
            <a:endParaRPr lang="en-US" altLang="ko-KR" sz="1200" kern="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92075" lvl="1" indent="-92075" defTabSz="9144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현 교육체계 분석</a:t>
            </a:r>
            <a:endParaRPr lang="en-US" altLang="ko-KR" sz="1200" kern="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92075" lvl="1" indent="-92075" defTabSz="9144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교육체계 개편에 따른 협약기업 맞춤형 </a:t>
            </a:r>
            <a:r>
              <a:rPr lang="ko-KR" altLang="en-US" sz="1200" kern="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교육로드맵</a:t>
            </a: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수립</a:t>
            </a:r>
            <a:endParaRPr lang="en-US" altLang="ko-KR" sz="1200" kern="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92075" lvl="1" indent="-92075" defTabSz="9144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신규 개발 필요 영역 도출</a:t>
            </a:r>
            <a:endParaRPr lang="en-US" altLang="ko-KR" sz="1050" i="1" kern="0" spc="-50" dirty="0">
              <a:solidFill>
                <a:srgbClr val="FF66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E7060C-FDF1-5089-6B79-4FF6F362D3BB}"/>
              </a:ext>
            </a:extLst>
          </p:cNvPr>
          <p:cNvSpPr txBox="1"/>
          <p:nvPr/>
        </p:nvSpPr>
        <p:spPr>
          <a:xfrm>
            <a:off x="3623182" y="4245148"/>
            <a:ext cx="1718300" cy="2143390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72000" rIns="90000" bIns="72000" rtlCol="0" anchor="t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92075" lvl="1" indent="-92075" defTabSz="9144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sz="1200" kern="0" spc="-5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2pPr>
          </a:lstStyle>
          <a:p>
            <a:pPr lvl="1">
              <a:lnSpc>
                <a:spcPct val="100000"/>
              </a:lnSpc>
            </a:pPr>
            <a:r>
              <a:rPr lang="ko-KR" altLang="en-US" dirty="0"/>
              <a:t>산업군별 강사 간담회 통한 교육 개발 우선순위 설정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우선순위 기반 신규과정 개발</a:t>
            </a:r>
            <a:r>
              <a:rPr lang="en-US" altLang="ko-KR" dirty="0"/>
              <a:t>·</a:t>
            </a:r>
            <a:r>
              <a:rPr lang="ko-KR" altLang="en-US" dirty="0"/>
              <a:t>운영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성과평가를 통한 과정 통폐합 등 교육 효과성 강화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실습</a:t>
            </a:r>
            <a:r>
              <a:rPr lang="en-US" altLang="ko-KR" dirty="0"/>
              <a:t>·</a:t>
            </a:r>
            <a:r>
              <a:rPr lang="ko-KR" altLang="en-US" dirty="0"/>
              <a:t>장비 기반 교육 인프라 확충 검토</a:t>
            </a:r>
            <a:endParaRPr lang="en-US" altLang="ko-KR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262A10-C58A-1C5C-D073-5338CE31F2D2}"/>
              </a:ext>
            </a:extLst>
          </p:cNvPr>
          <p:cNvSpPr txBox="1"/>
          <p:nvPr/>
        </p:nvSpPr>
        <p:spPr>
          <a:xfrm>
            <a:off x="5733198" y="4245148"/>
            <a:ext cx="1718300" cy="2143390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72000" rIns="90000" bIns="72000" rtlCol="0" anchor="t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92075" lvl="1" indent="-92075" defTabSz="9144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sz="1200" kern="0" spc="-5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2pPr>
          </a:lstStyle>
          <a:p>
            <a:pPr lvl="1">
              <a:lnSpc>
                <a:spcPct val="100000"/>
              </a:lnSpc>
            </a:pPr>
            <a:r>
              <a:rPr lang="ko-KR" altLang="en-US" dirty="0"/>
              <a:t>장기적으로 유지할 핵심 과정 선정 및 노후 과정 축소 또는 개편 등 교육 운영 내실화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산업 최신 트렌드 반영한 신규 교육 모듈 추가 검토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기업</a:t>
            </a:r>
            <a:r>
              <a:rPr lang="en-US" altLang="ko-KR" dirty="0"/>
              <a:t>-</a:t>
            </a:r>
            <a:r>
              <a:rPr lang="ko-KR" altLang="en-US" dirty="0"/>
              <a:t>교육기관 공동 교육 모델 등 교육 전문성 강화 방안 검토</a:t>
            </a:r>
            <a:endParaRPr lang="en-US" altLang="ko-K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8D38A0-358E-964E-1D3F-9916BF711F5C}"/>
              </a:ext>
            </a:extLst>
          </p:cNvPr>
          <p:cNvSpPr txBox="1"/>
          <p:nvPr/>
        </p:nvSpPr>
        <p:spPr>
          <a:xfrm>
            <a:off x="7843213" y="3482861"/>
            <a:ext cx="1718300" cy="657321"/>
          </a:xfrm>
          <a:prstGeom prst="rect">
            <a:avLst/>
          </a:prstGeom>
          <a:solidFill>
            <a:srgbClr val="344532"/>
          </a:solidFill>
        </p:spPr>
        <p:txBody>
          <a:bodyPr wrap="square" lIns="36000" rIns="36000" anchor="ctr">
            <a:noAutofit/>
          </a:bodyPr>
          <a:lstStyle/>
          <a:p>
            <a:pPr marL="0" lvl="1" algn="ctr" defTabSz="914400"/>
            <a:r>
              <a:rPr lang="en-US" altLang="ko-KR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(’28) </a:t>
            </a:r>
            <a:r>
              <a:rPr lang="ko-KR" altLang="en-US" sz="1400" kern="0" spc="-50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교육로드맵</a:t>
            </a:r>
            <a:r>
              <a:rPr lang="ko-KR" altLang="en-US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endParaRPr lang="en-US" altLang="ko-KR" sz="1400" kern="0" spc="-5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marL="0" lvl="1" algn="ctr" defTabSz="914400"/>
            <a:r>
              <a:rPr lang="ko-KR" altLang="en-US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고도화</a:t>
            </a:r>
            <a:endParaRPr lang="en-US" altLang="ko-KR" sz="1400" kern="0" spc="-5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86F7A7-8CE0-22D4-E671-71A81E4CE4DD}"/>
              </a:ext>
            </a:extLst>
          </p:cNvPr>
          <p:cNvSpPr txBox="1"/>
          <p:nvPr/>
        </p:nvSpPr>
        <p:spPr>
          <a:xfrm>
            <a:off x="7843213" y="4245148"/>
            <a:ext cx="1718300" cy="2143390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72000" rIns="90000" bIns="72000" rtlCol="0" anchor="t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92075" lvl="1" indent="-92075" defTabSz="9144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92075" algn="l"/>
              </a:tabLst>
              <a:defRPr sz="1200" kern="0" spc="-5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2pPr>
          </a:lstStyle>
          <a:p>
            <a:pPr lvl="1">
              <a:lnSpc>
                <a:spcPct val="100000"/>
              </a:lnSpc>
            </a:pPr>
            <a:r>
              <a:rPr lang="ko-KR" altLang="en-US" dirty="0"/>
              <a:t>협약기업 분석 결과 </a:t>
            </a:r>
            <a:r>
              <a:rPr lang="ko-KR" altLang="en-US" dirty="0" err="1"/>
              <a:t>재반영</a:t>
            </a:r>
            <a:r>
              <a:rPr lang="ko-KR" altLang="en-US" dirty="0"/>
              <a:t> 등 로드맵 전면 검토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산업</a:t>
            </a:r>
            <a:r>
              <a:rPr lang="en-US" altLang="ko-KR" dirty="0"/>
              <a:t>·</a:t>
            </a:r>
            <a:r>
              <a:rPr lang="ko-KR" altLang="en-US" dirty="0"/>
              <a:t>규제 변화 반영하여 보완 필요영역 개선</a:t>
            </a:r>
            <a:endParaRPr lang="en-US" altLang="ko-KR" dirty="0"/>
          </a:p>
          <a:p>
            <a:pPr marL="0" lvl="1" indent="0">
              <a:lnSpc>
                <a:spcPct val="100000"/>
              </a:lnSpc>
              <a:buNone/>
            </a:pPr>
            <a:endParaRPr lang="en-US" altLang="ko-KR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74ECE0AD-D9BD-B9FD-E0E8-D1AE73060F63}"/>
              </a:ext>
            </a:extLst>
          </p:cNvPr>
          <p:cNvGrpSpPr/>
          <p:nvPr/>
        </p:nvGrpSpPr>
        <p:grpSpPr>
          <a:xfrm>
            <a:off x="3308811" y="3689912"/>
            <a:ext cx="237026" cy="243218"/>
            <a:chOff x="599972" y="1973685"/>
            <a:chExt cx="307997" cy="236097"/>
          </a:xfrm>
        </p:grpSpPr>
        <p:sp>
          <p:nvSpPr>
            <p:cNvPr id="64" name="갈매기형 수장 40">
              <a:extLst>
                <a:ext uri="{FF2B5EF4-FFF2-40B4-BE49-F238E27FC236}">
                  <a16:creationId xmlns:a16="http://schemas.microsoft.com/office/drawing/2014/main" id="{551AD9E5-479C-E78F-4703-E232664FF025}"/>
                </a:ext>
              </a:extLst>
            </p:cNvPr>
            <p:cNvSpPr/>
            <p:nvPr/>
          </p:nvSpPr>
          <p:spPr>
            <a:xfrm>
              <a:off x="599972" y="1973685"/>
              <a:ext cx="192319" cy="23609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  <p:sp>
          <p:nvSpPr>
            <p:cNvPr id="65" name="갈매기형 수장 41">
              <a:extLst>
                <a:ext uri="{FF2B5EF4-FFF2-40B4-BE49-F238E27FC236}">
                  <a16:creationId xmlns:a16="http://schemas.microsoft.com/office/drawing/2014/main" id="{DBB98400-D560-4F48-A114-75CC86C39701}"/>
                </a:ext>
              </a:extLst>
            </p:cNvPr>
            <p:cNvSpPr/>
            <p:nvPr/>
          </p:nvSpPr>
          <p:spPr>
            <a:xfrm>
              <a:off x="708580" y="1973685"/>
              <a:ext cx="199389" cy="236097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9433C32-8BEE-6A18-6B0E-0ABF8A9A139C}"/>
              </a:ext>
            </a:extLst>
          </p:cNvPr>
          <p:cNvGrpSpPr/>
          <p:nvPr/>
        </p:nvGrpSpPr>
        <p:grpSpPr>
          <a:xfrm>
            <a:off x="5418827" y="3689912"/>
            <a:ext cx="237026" cy="243218"/>
            <a:chOff x="599972" y="1973685"/>
            <a:chExt cx="307997" cy="236097"/>
          </a:xfrm>
        </p:grpSpPr>
        <p:sp>
          <p:nvSpPr>
            <p:cNvPr id="67" name="갈매기형 수장 40">
              <a:extLst>
                <a:ext uri="{FF2B5EF4-FFF2-40B4-BE49-F238E27FC236}">
                  <a16:creationId xmlns:a16="http://schemas.microsoft.com/office/drawing/2014/main" id="{C20FF728-EA76-BB8B-ED77-B12C4437C485}"/>
                </a:ext>
              </a:extLst>
            </p:cNvPr>
            <p:cNvSpPr/>
            <p:nvPr/>
          </p:nvSpPr>
          <p:spPr>
            <a:xfrm>
              <a:off x="599972" y="1973685"/>
              <a:ext cx="192319" cy="23609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  <p:sp>
          <p:nvSpPr>
            <p:cNvPr id="68" name="갈매기형 수장 41">
              <a:extLst>
                <a:ext uri="{FF2B5EF4-FFF2-40B4-BE49-F238E27FC236}">
                  <a16:creationId xmlns:a16="http://schemas.microsoft.com/office/drawing/2014/main" id="{9C30FE72-E3E6-CE0A-1755-759E19308C09}"/>
                </a:ext>
              </a:extLst>
            </p:cNvPr>
            <p:cNvSpPr/>
            <p:nvPr/>
          </p:nvSpPr>
          <p:spPr>
            <a:xfrm>
              <a:off x="708580" y="1973685"/>
              <a:ext cx="199389" cy="236097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EED6553-F10F-2E2C-2D8B-196B462C9C64}"/>
              </a:ext>
            </a:extLst>
          </p:cNvPr>
          <p:cNvGrpSpPr/>
          <p:nvPr/>
        </p:nvGrpSpPr>
        <p:grpSpPr>
          <a:xfrm>
            <a:off x="7528843" y="3689912"/>
            <a:ext cx="237026" cy="243218"/>
            <a:chOff x="599972" y="1973685"/>
            <a:chExt cx="307997" cy="236097"/>
          </a:xfrm>
        </p:grpSpPr>
        <p:sp>
          <p:nvSpPr>
            <p:cNvPr id="70" name="갈매기형 수장 40">
              <a:extLst>
                <a:ext uri="{FF2B5EF4-FFF2-40B4-BE49-F238E27FC236}">
                  <a16:creationId xmlns:a16="http://schemas.microsoft.com/office/drawing/2014/main" id="{67D60BB3-3E53-4285-CA19-636D9B7F6DF6}"/>
                </a:ext>
              </a:extLst>
            </p:cNvPr>
            <p:cNvSpPr/>
            <p:nvPr/>
          </p:nvSpPr>
          <p:spPr>
            <a:xfrm>
              <a:off x="599972" y="1973685"/>
              <a:ext cx="192319" cy="23609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  <p:sp>
          <p:nvSpPr>
            <p:cNvPr id="72" name="갈매기형 수장 41">
              <a:extLst>
                <a:ext uri="{FF2B5EF4-FFF2-40B4-BE49-F238E27FC236}">
                  <a16:creationId xmlns:a16="http://schemas.microsoft.com/office/drawing/2014/main" id="{64CFDB1A-E71B-45EC-5801-64954077D540}"/>
                </a:ext>
              </a:extLst>
            </p:cNvPr>
            <p:cNvSpPr/>
            <p:nvPr/>
          </p:nvSpPr>
          <p:spPr>
            <a:xfrm>
              <a:off x="708580" y="1973685"/>
              <a:ext cx="199389" cy="236097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1404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99278-0AD0-4730-1043-0C6E13EA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EFC3CF6F-DFA5-2293-8839-869FAF658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97027"/>
              </p:ext>
            </p:extLst>
          </p:nvPr>
        </p:nvGraphicFramePr>
        <p:xfrm>
          <a:off x="5648086" y="5090001"/>
          <a:ext cx="3913427" cy="1287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3427">
                  <a:extLst>
                    <a:ext uri="{9D8B030D-6E8A-4147-A177-3AD203B41FA5}">
                      <a16:colId xmlns:a16="http://schemas.microsoft.com/office/drawing/2014/main" val="519947461"/>
                    </a:ext>
                  </a:extLst>
                </a:gridCol>
              </a:tblGrid>
              <a:tr h="1287128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endParaRPr lang="en-US" altLang="ko-KR" sz="1300" kern="1200" spc="-50" dirty="0">
                        <a:solidFill>
                          <a:srgbClr val="344532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239904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6A46195-A06B-2074-24EA-19E198029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B09130-62E3-3B51-6946-119045D533C8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3D2C5339-655A-42C1-77DE-AF2CFA7A010F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산업분류체계 분석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KTR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협약기업 분석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주요 </a:t>
            </a:r>
            <a:r>
              <a:rPr lang="ko-KR" altLang="en-US" sz="17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산업군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환경분석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KTR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교육체계 및 과정 분석 결과를 종합하여 </a:t>
            </a:r>
            <a:r>
              <a:rPr lang="ko-KR" altLang="en-US" sz="1700" spc="-50" dirty="0" err="1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 err="1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재수립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 방향을 설계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26163-EE42-341B-5EF7-067259FCECD8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E107B1F-64E7-4932-BFA2-B1382AA00A10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4FAF7CA8-DB7C-73EB-ADA3-938300236743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34A773-8436-DD32-110F-32FA4796FDAC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4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7C1D4D-11E4-44AF-E8C9-FEB93461BBD4}"/>
              </a:ext>
            </a:extLst>
          </p:cNvPr>
          <p:cNvSpPr/>
          <p:nvPr/>
        </p:nvSpPr>
        <p:spPr>
          <a:xfrm>
            <a:off x="1513166" y="253829"/>
            <a:ext cx="5692812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11.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재수립</a:t>
            </a:r>
            <a:endParaRPr lang="ko-KR" altLang="en-US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F38A08D-9646-5E68-D4D5-E694CA5DDF93}"/>
              </a:ext>
            </a:extLst>
          </p:cNvPr>
          <p:cNvCxnSpPr>
            <a:cxnSpLocks/>
          </p:cNvCxnSpPr>
          <p:nvPr/>
        </p:nvCxnSpPr>
        <p:spPr>
          <a:xfrm>
            <a:off x="344487" y="1871431"/>
            <a:ext cx="9217026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텍스트 개체 틀 1">
            <a:extLst>
              <a:ext uri="{FF2B5EF4-FFF2-40B4-BE49-F238E27FC236}">
                <a16:creationId xmlns:a16="http://schemas.microsoft.com/office/drawing/2014/main" id="{B78A5B6B-DAB9-55FA-315F-73EFCFA9FB66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 err="1"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600" spc="-50" dirty="0" err="1">
                <a:latin typeface="페이퍼로지 6 SemiBold" pitchFamily="2" charset="-127"/>
                <a:ea typeface="페이퍼로지 6 SemiBold" pitchFamily="2" charset="-127"/>
              </a:rPr>
              <a:t>재수립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 설계 방향</a:t>
            </a:r>
            <a:endParaRPr lang="en-US" altLang="ko-KR" sz="1600" spc="-5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783A0BBF-4F3A-AC99-94FE-10FDF92B2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229402"/>
              </p:ext>
            </p:extLst>
          </p:nvPr>
        </p:nvGraphicFramePr>
        <p:xfrm>
          <a:off x="344487" y="2035058"/>
          <a:ext cx="1316673" cy="1600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673">
                  <a:extLst>
                    <a:ext uri="{9D8B030D-6E8A-4147-A177-3AD203B41FA5}">
                      <a16:colId xmlns:a16="http://schemas.microsoft.com/office/drawing/2014/main" val="1947820587"/>
                    </a:ext>
                  </a:extLst>
                </a:gridCol>
              </a:tblGrid>
              <a:tr h="30418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kern="1200" spc="-50" dirty="0">
                          <a:solidFill>
                            <a:schemeClr val="dk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개선과제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283412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lvl="0" algn="ctr" defTabSz="914400">
                        <a:defRPr/>
                      </a:pPr>
                      <a:r>
                        <a:rPr lang="ko-KR" altLang="en-US" sz="1300" spc="-50" dirty="0" err="1">
                          <a:solidFill>
                            <a:srgbClr val="344532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교육모듈</a:t>
                      </a:r>
                      <a:r>
                        <a:rPr lang="ko-KR" altLang="en-US" sz="1300" spc="-50" dirty="0">
                          <a:solidFill>
                            <a:srgbClr val="344532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</a:t>
                      </a:r>
                      <a:endParaRPr lang="en-US" altLang="ko-KR" sz="1300" spc="-50" dirty="0">
                        <a:solidFill>
                          <a:srgbClr val="344532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pPr lvl="0" algn="ctr" defTabSz="914400">
                        <a:defRPr/>
                      </a:pPr>
                      <a:r>
                        <a:rPr lang="ko-KR" altLang="en-US" sz="1300" spc="-50" dirty="0">
                          <a:solidFill>
                            <a:srgbClr val="344532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재설계</a:t>
                      </a:r>
                      <a:endParaRPr lang="en-US" altLang="ko-KR" sz="1300" spc="-50" dirty="0">
                        <a:solidFill>
                          <a:srgbClr val="344532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235967437"/>
                  </a:ext>
                </a:extLst>
              </a:tr>
            </a:tbl>
          </a:graphicData>
        </a:graphic>
      </p:graphicFrame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5A84D395-A437-BF4B-5484-543FA8BD6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48101"/>
              </p:ext>
            </p:extLst>
          </p:nvPr>
        </p:nvGraphicFramePr>
        <p:xfrm>
          <a:off x="1760210" y="2036406"/>
          <a:ext cx="3573792" cy="1597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896">
                  <a:extLst>
                    <a:ext uri="{9D8B030D-6E8A-4147-A177-3AD203B41FA5}">
                      <a16:colId xmlns:a16="http://schemas.microsoft.com/office/drawing/2014/main" val="315612181"/>
                    </a:ext>
                  </a:extLst>
                </a:gridCol>
                <a:gridCol w="1786896">
                  <a:extLst>
                    <a:ext uri="{9D8B030D-6E8A-4147-A177-3AD203B41FA5}">
                      <a16:colId xmlns:a16="http://schemas.microsoft.com/office/drawing/2014/main" val="2679741756"/>
                    </a:ext>
                  </a:extLst>
                </a:gridCol>
              </a:tblGrid>
              <a:tr h="30149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altLang="ko-KR" sz="1050" kern="1200" spc="-50" dirty="0">
                          <a:solidFill>
                            <a:schemeClr val="dk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As-is</a:t>
                      </a:r>
                      <a:endParaRPr lang="ko-KR" altLang="en-US" sz="1050" kern="1200" spc="-50" dirty="0">
                        <a:solidFill>
                          <a:schemeClr val="dk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ko-KR" altLang="en-US" sz="1050" kern="1200" spc="-50" dirty="0">
                          <a:solidFill>
                            <a:schemeClr val="dk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설계 방향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677199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marL="88900" lvl="1" indent="-88900" defTabSz="914400" fontAlgn="base" latinLnBrk="0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1(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공통과정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: </a:t>
                      </a:r>
                      <a:r>
                        <a:rPr lang="ko-KR" altLang="en-US" sz="1050" kern="1200" spc="-5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산업 전반</a:t>
                      </a:r>
                      <a:endParaRPr lang="en-US" altLang="ko-KR" sz="105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lvl="1" indent="-88900" defTabSz="914400" fontAlgn="base" latinLnBrk="0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2(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분야별 일반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특화 과정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): </a:t>
                      </a:r>
                      <a:r>
                        <a:rPr lang="ko-KR" altLang="en-US" sz="1050" kern="1200" spc="-5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주요 산업 분류별</a:t>
                      </a:r>
                      <a:endParaRPr lang="en-US" altLang="ko-KR" sz="105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lvl="1" indent="-88900" algn="l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 내용의 적용 범위에 따라 모듈 분리</a:t>
                      </a:r>
                      <a:endParaRPr lang="en-US" altLang="ko-KR" sz="105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179388" lvl="1" indent="-179388" algn="l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    - 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 동향 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vs 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조직 경영 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vs 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 특화 직무</a:t>
                      </a:r>
                    </a:p>
                    <a:p>
                      <a:pPr marL="182563" lvl="1" indent="-182563" algn="l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   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- 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산업특화는 산출물에 따라 분류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506922"/>
                  </a:ext>
                </a:extLst>
              </a:tr>
            </a:tbl>
          </a:graphicData>
        </a:graphic>
      </p:graphicFrame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4BE7D280-8676-F956-E2BD-4A5A03D28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212258"/>
              </p:ext>
            </p:extLst>
          </p:nvPr>
        </p:nvGraphicFramePr>
        <p:xfrm>
          <a:off x="5639790" y="2035058"/>
          <a:ext cx="3921723" cy="1600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1723">
                  <a:extLst>
                    <a:ext uri="{9D8B030D-6E8A-4147-A177-3AD203B41FA5}">
                      <a16:colId xmlns:a16="http://schemas.microsoft.com/office/drawing/2014/main" val="1150251216"/>
                    </a:ext>
                  </a:extLst>
                </a:gridCol>
              </a:tblGrid>
              <a:tr h="30418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altLang="ko-KR" sz="1050" kern="1200" spc="-5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To-Be</a:t>
                      </a:r>
                      <a:endParaRPr lang="ko-KR" altLang="en-US" sz="1050" kern="1200" spc="-5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281917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marL="88900" lvl="1" indent="-88900" defTabSz="914400" fontAlgn="base" latinLnBrk="0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모듈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1(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인사이트 과정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) : 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바이오 화학 산업 동향</a:t>
                      </a:r>
                      <a:endParaRPr lang="en-US" altLang="ko-KR" sz="11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marL="88900" lvl="1" indent="-88900" defTabSz="914400" fontAlgn="base" latinLnBrk="0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모듈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2(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실무 공통 과정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) : 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환경 경영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, ESG 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경영</a:t>
                      </a:r>
                      <a:endParaRPr lang="en-US" altLang="ko-KR" sz="11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marL="88900" lvl="1" indent="-88900" defTabSz="914400" fontAlgn="base" latinLnBrk="0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모듈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3(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산업 특화 과정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) : 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플라스틱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/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재활용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), 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의료기기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화장품</a:t>
                      </a:r>
                      <a:r>
                        <a:rPr lang="en-US" altLang="ko-KR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11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페이퍼로지 4 Regular" pitchFamily="2" charset="-127"/>
                          <a:ea typeface="페이퍼로지 4 Regular" pitchFamily="2" charset="-127"/>
                        </a:rPr>
                        <a:t>정밀화학</a:t>
                      </a:r>
                      <a:endParaRPr lang="en-US" altLang="ko-KR" sz="11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2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855237"/>
                  </a:ext>
                </a:extLst>
              </a:tr>
            </a:tbl>
          </a:graphicData>
        </a:graphic>
      </p:graphicFrame>
      <p:grpSp>
        <p:nvGrpSpPr>
          <p:cNvPr id="90" name="그룹 89">
            <a:extLst>
              <a:ext uri="{FF2B5EF4-FFF2-40B4-BE49-F238E27FC236}">
                <a16:creationId xmlns:a16="http://schemas.microsoft.com/office/drawing/2014/main" id="{39EC4D73-F0FE-4B4D-18C3-5F37A42C42FD}"/>
              </a:ext>
            </a:extLst>
          </p:cNvPr>
          <p:cNvGrpSpPr/>
          <p:nvPr/>
        </p:nvGrpSpPr>
        <p:grpSpPr>
          <a:xfrm>
            <a:off x="5411229" y="2748456"/>
            <a:ext cx="168976" cy="173390"/>
            <a:chOff x="599972" y="1973685"/>
            <a:chExt cx="307997" cy="236097"/>
          </a:xfrm>
        </p:grpSpPr>
        <p:sp>
          <p:nvSpPr>
            <p:cNvPr id="91" name="갈매기형 수장 40">
              <a:extLst>
                <a:ext uri="{FF2B5EF4-FFF2-40B4-BE49-F238E27FC236}">
                  <a16:creationId xmlns:a16="http://schemas.microsoft.com/office/drawing/2014/main" id="{0F9A0D99-8896-9733-9D63-08BE0B692164}"/>
                </a:ext>
              </a:extLst>
            </p:cNvPr>
            <p:cNvSpPr/>
            <p:nvPr/>
          </p:nvSpPr>
          <p:spPr>
            <a:xfrm>
              <a:off x="599972" y="1973685"/>
              <a:ext cx="192319" cy="23609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  <p:sp>
          <p:nvSpPr>
            <p:cNvPr id="92" name="갈매기형 수장 41">
              <a:extLst>
                <a:ext uri="{FF2B5EF4-FFF2-40B4-BE49-F238E27FC236}">
                  <a16:creationId xmlns:a16="http://schemas.microsoft.com/office/drawing/2014/main" id="{E05BEF1D-E900-646C-BD1B-818A7CA3FE99}"/>
                </a:ext>
              </a:extLst>
            </p:cNvPr>
            <p:cNvSpPr/>
            <p:nvPr/>
          </p:nvSpPr>
          <p:spPr>
            <a:xfrm>
              <a:off x="708580" y="1973685"/>
              <a:ext cx="199389" cy="236097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</p:grp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550D70AA-099F-5456-43BF-F242B32A2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301070"/>
              </p:ext>
            </p:extLst>
          </p:nvPr>
        </p:nvGraphicFramePr>
        <p:xfrm>
          <a:off x="5659558" y="5113823"/>
          <a:ext cx="3890483" cy="1239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316">
                  <a:extLst>
                    <a:ext uri="{9D8B030D-6E8A-4147-A177-3AD203B41FA5}">
                      <a16:colId xmlns:a16="http://schemas.microsoft.com/office/drawing/2014/main" val="2346916506"/>
                    </a:ext>
                  </a:extLst>
                </a:gridCol>
                <a:gridCol w="1097389">
                  <a:extLst>
                    <a:ext uri="{9D8B030D-6E8A-4147-A177-3AD203B41FA5}">
                      <a16:colId xmlns:a16="http://schemas.microsoft.com/office/drawing/2014/main" val="2243268439"/>
                    </a:ext>
                  </a:extLst>
                </a:gridCol>
                <a:gridCol w="1097389">
                  <a:extLst>
                    <a:ext uri="{9D8B030D-6E8A-4147-A177-3AD203B41FA5}">
                      <a16:colId xmlns:a16="http://schemas.microsoft.com/office/drawing/2014/main" val="499754857"/>
                    </a:ext>
                  </a:extLst>
                </a:gridCol>
                <a:gridCol w="1097389">
                  <a:extLst>
                    <a:ext uri="{9D8B030D-6E8A-4147-A177-3AD203B41FA5}">
                      <a16:colId xmlns:a16="http://schemas.microsoft.com/office/drawing/2014/main" val="1542933022"/>
                    </a:ext>
                  </a:extLst>
                </a:gridCol>
              </a:tblGrid>
              <a:tr h="161846">
                <a:tc rowSpan="2">
                  <a:txBody>
                    <a:bodyPr/>
                    <a:lstStyle/>
                    <a:p>
                      <a:pPr algn="r" latinLnBrk="0">
                        <a:lnSpc>
                          <a:spcPct val="90000"/>
                        </a:lnSpc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수준</a:t>
                      </a:r>
                      <a:endParaRPr lang="en-US" altLang="ko-KR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algn="l" latinLnBrk="0">
                        <a:lnSpc>
                          <a:spcPct val="90000"/>
                        </a:lnSpc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산업전환 진행단계별 </a:t>
                      </a:r>
                      <a:r>
                        <a:rPr lang="en-US" altLang="ko-KR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x </a:t>
                      </a: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훈련 목표별 로드맵 구성 체계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551570"/>
                  </a:ext>
                </a:extLst>
              </a:tr>
              <a:tr h="1618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en-US" altLang="ko-KR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Lv1</a:t>
                      </a:r>
                      <a:endParaRPr lang="ko-KR" altLang="en-US" sz="800" b="0" kern="0" spc="-6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en-US" altLang="ko-KR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Lv2</a:t>
                      </a:r>
                      <a:endParaRPr lang="ko-KR" altLang="en-US" sz="800" b="0" kern="0" spc="-6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en-US" altLang="ko-KR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Lv3</a:t>
                      </a:r>
                      <a:endParaRPr lang="ko-KR" altLang="en-US" sz="800" b="0" kern="0" spc="-6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084430"/>
                  </a:ext>
                </a:extLst>
              </a:tr>
              <a:tr h="311473"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산업특화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기본 개념 이해 및 기초 실무역량 강화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규제 변화 기반 실무 적용 역량 강화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고도화된 분석</a:t>
                      </a:r>
                      <a:r>
                        <a:rPr lang="en-US" altLang="ko-KR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</a:t>
                      </a: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비즈니스 전략 수립 능력 강화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622786"/>
                  </a:ext>
                </a:extLst>
              </a:tr>
              <a:tr h="3929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실무 공통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기본 구조</a:t>
                      </a:r>
                      <a:r>
                        <a:rPr lang="en-US" altLang="ko-KR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용어</a:t>
                      </a:r>
                      <a:r>
                        <a:rPr lang="en-US" altLang="ko-KR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0" spc="-6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밸류체인</a:t>
                      </a: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이해 및 기초 실무 역량 강화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 주요 트렌드</a:t>
                      </a:r>
                      <a:r>
                        <a:rPr lang="en-US" altLang="ko-KR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규제 변화 해석 등 실무 적용 역량 강화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 변화에 기반한 전략적 사업 방향성 제안</a:t>
                      </a:r>
                      <a:r>
                        <a:rPr lang="en-US" altLang="ko-KR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신규 비즈니스 기회 발굴 역량 강화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563364"/>
                  </a:ext>
                </a:extLst>
              </a:tr>
              <a:tr h="211413"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인사이트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6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 환경 변화를 이해하고 본인의 직무에 적용 가능한 인사이트를 도출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900" b="0" kern="0" spc="-50" baseline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900" b="0" kern="0" spc="-50" baseline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010008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8D624061-2624-96C7-9C92-6001F93A1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199677"/>
              </p:ext>
            </p:extLst>
          </p:nvPr>
        </p:nvGraphicFramePr>
        <p:xfrm>
          <a:off x="337356" y="3712405"/>
          <a:ext cx="1316673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673">
                  <a:extLst>
                    <a:ext uri="{9D8B030D-6E8A-4147-A177-3AD203B41FA5}">
                      <a16:colId xmlns:a16="http://schemas.microsoft.com/office/drawing/2014/main" val="519947461"/>
                    </a:ext>
                  </a:extLst>
                </a:gridCol>
              </a:tblGrid>
              <a:tr h="1296000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1300" kern="1200" spc="-50" dirty="0" err="1">
                          <a:solidFill>
                            <a:srgbClr val="344532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세부교육모듈</a:t>
                      </a:r>
                      <a:r>
                        <a:rPr lang="ko-KR" altLang="en-US" sz="1300" kern="1200" spc="-50" dirty="0">
                          <a:solidFill>
                            <a:srgbClr val="344532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endParaRPr lang="en-US" altLang="ko-KR" sz="1300" kern="1200" spc="-50" dirty="0">
                        <a:solidFill>
                          <a:srgbClr val="344532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1300" kern="1200" spc="-50" dirty="0">
                          <a:solidFill>
                            <a:srgbClr val="344532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재설계</a:t>
                      </a:r>
                      <a:endParaRPr lang="en-US" altLang="ko-KR" sz="1300" kern="1200" spc="-50" dirty="0">
                        <a:solidFill>
                          <a:srgbClr val="344532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873239904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93F34E0F-8518-3EEB-2F18-C06FDEC05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913363"/>
              </p:ext>
            </p:extLst>
          </p:nvPr>
        </p:nvGraphicFramePr>
        <p:xfrm>
          <a:off x="1760210" y="3712405"/>
          <a:ext cx="3573792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896">
                  <a:extLst>
                    <a:ext uri="{9D8B030D-6E8A-4147-A177-3AD203B41FA5}">
                      <a16:colId xmlns:a16="http://schemas.microsoft.com/office/drawing/2014/main" val="3398911975"/>
                    </a:ext>
                  </a:extLst>
                </a:gridCol>
                <a:gridCol w="1786896">
                  <a:extLst>
                    <a:ext uri="{9D8B030D-6E8A-4147-A177-3AD203B41FA5}">
                      <a16:colId xmlns:a16="http://schemas.microsoft.com/office/drawing/2014/main" val="3116952595"/>
                    </a:ext>
                  </a:extLst>
                </a:gridCol>
              </a:tblGrid>
              <a:tr h="1296000"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1-1 : ESG,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탄소중립 인사이트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응용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1-2 :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화학 산업 전반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2-1 :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고분자 및 첨가제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2-2 :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화장품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생활화학제품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바이오산업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SQF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‘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연구개발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’, ‘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생산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‘, ‘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’, ‘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기획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’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 활용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61606"/>
                  </a:ext>
                </a:extLst>
              </a:tr>
            </a:tbl>
          </a:graphicData>
        </a:graphic>
      </p:graphicFrame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102C007E-C45F-5BD0-9170-24A7525F2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96765"/>
              </p:ext>
            </p:extLst>
          </p:nvPr>
        </p:nvGraphicFramePr>
        <p:xfrm>
          <a:off x="5646934" y="3712405"/>
          <a:ext cx="3921723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1723">
                  <a:extLst>
                    <a:ext uri="{9D8B030D-6E8A-4147-A177-3AD203B41FA5}">
                      <a16:colId xmlns:a16="http://schemas.microsoft.com/office/drawing/2014/main" val="1334084095"/>
                    </a:ext>
                  </a:extLst>
                </a:gridCol>
              </a:tblGrid>
              <a:tr h="1296000"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</a:t>
                      </a:r>
                      <a:r>
                        <a:rPr lang="en-US" altLang="ko-KR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2-1: </a:t>
                      </a:r>
                      <a:r>
                        <a:rPr lang="ko-KR" altLang="en-US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환경 경영</a:t>
                      </a:r>
                      <a:endParaRPr lang="en-US" altLang="ko-KR" sz="1050" b="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</a:t>
                      </a:r>
                      <a:r>
                        <a:rPr lang="en-US" altLang="ko-KR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2-2: ESG </a:t>
                      </a:r>
                      <a:r>
                        <a:rPr lang="ko-KR" altLang="en-US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경영</a:t>
                      </a:r>
                      <a:endParaRPr lang="en-US" altLang="ko-KR" sz="1050" b="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</a:t>
                      </a:r>
                      <a:r>
                        <a:rPr lang="en-US" altLang="ko-KR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3-1: </a:t>
                      </a:r>
                      <a:r>
                        <a:rPr lang="ko-KR" altLang="en-US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플라스틱 </a:t>
                      </a:r>
                      <a:r>
                        <a:rPr lang="en-US" altLang="ko-KR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</a:t>
                      </a:r>
                    </a:p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</a:t>
                      </a:r>
                      <a:r>
                        <a:rPr lang="en-US" altLang="ko-KR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3-2 :</a:t>
                      </a:r>
                      <a:r>
                        <a:rPr lang="ko-KR" altLang="en-US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플라스틱 생산</a:t>
                      </a:r>
                      <a:endParaRPr lang="en-US" altLang="ko-KR" sz="1050" b="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</a:t>
                      </a:r>
                      <a:r>
                        <a:rPr lang="en-US" altLang="ko-KR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3-3 : </a:t>
                      </a:r>
                      <a:r>
                        <a:rPr lang="ko-KR" altLang="en-US" sz="1050" b="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재생 플라스틱 생산</a:t>
                      </a:r>
                    </a:p>
                  </a:txBody>
                  <a:tcPr marL="72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840973"/>
                  </a:ext>
                </a:extLst>
              </a:tr>
            </a:tbl>
          </a:graphicData>
        </a:graphic>
      </p:graphicFrame>
      <p:sp>
        <p:nvSpPr>
          <p:cNvPr id="102" name="TextBox 101">
            <a:extLst>
              <a:ext uri="{FF2B5EF4-FFF2-40B4-BE49-F238E27FC236}">
                <a16:creationId xmlns:a16="http://schemas.microsoft.com/office/drawing/2014/main" id="{3A01BB0B-BB23-0A7C-4F83-3BC5C634D17C}"/>
              </a:ext>
            </a:extLst>
          </p:cNvPr>
          <p:cNvSpPr txBox="1"/>
          <p:nvPr/>
        </p:nvSpPr>
        <p:spPr>
          <a:xfrm>
            <a:off x="7602856" y="3871810"/>
            <a:ext cx="1965788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marR="0" lvl="1" indent="-88900" defTabSz="914400" fontAlgn="base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모듈 </a:t>
            </a:r>
            <a:r>
              <a:rPr lang="en-US" altLang="ko-KR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3-4:</a:t>
            </a:r>
            <a:r>
              <a:rPr lang="ko-KR" altLang="en-US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 의료기기 규제 대응</a:t>
            </a:r>
            <a:endParaRPr lang="en-US" altLang="ko-KR" sz="105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marR="0" lvl="1" indent="-88900" defTabSz="914400" fontAlgn="base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모듈 </a:t>
            </a:r>
            <a:r>
              <a:rPr lang="en-US" altLang="ko-KR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3-5: </a:t>
            </a:r>
            <a:r>
              <a:rPr lang="ko-KR" altLang="en-US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친환경 화장품 기획</a:t>
            </a:r>
            <a:endParaRPr lang="en-US" altLang="ko-KR" sz="105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marR="0" lvl="1" indent="-88900" defTabSz="914400" fontAlgn="base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모듈 </a:t>
            </a:r>
            <a:r>
              <a:rPr lang="en-US" altLang="ko-KR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3-6: </a:t>
            </a:r>
            <a:r>
              <a:rPr lang="ko-KR" altLang="en-US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친환경 화장품</a:t>
            </a:r>
            <a:r>
              <a:rPr lang="en-US" altLang="ko-KR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규제 대응</a:t>
            </a:r>
            <a:endParaRPr lang="en-US" altLang="ko-KR" sz="105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marR="0" lvl="1" indent="-88900" defTabSz="914400" fontAlgn="base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모듈 </a:t>
            </a:r>
            <a:r>
              <a:rPr lang="en-US" altLang="ko-KR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3-7: </a:t>
            </a:r>
            <a:r>
              <a:rPr lang="ko-KR" altLang="en-US" sz="105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</a:rPr>
              <a:t>정밀화학 규제 대응</a:t>
            </a:r>
          </a:p>
        </p:txBody>
      </p:sp>
      <p:graphicFrame>
        <p:nvGraphicFramePr>
          <p:cNvPr id="108" name="표 107">
            <a:extLst>
              <a:ext uri="{FF2B5EF4-FFF2-40B4-BE49-F238E27FC236}">
                <a16:creationId xmlns:a16="http://schemas.microsoft.com/office/drawing/2014/main" id="{86E9EA53-4B6F-53F7-E860-5BA219550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316505"/>
              </p:ext>
            </p:extLst>
          </p:nvPr>
        </p:nvGraphicFramePr>
        <p:xfrm>
          <a:off x="1760210" y="5085565"/>
          <a:ext cx="3573792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896">
                  <a:extLst>
                    <a:ext uri="{9D8B030D-6E8A-4147-A177-3AD203B41FA5}">
                      <a16:colId xmlns:a16="http://schemas.microsoft.com/office/drawing/2014/main" val="1416533361"/>
                    </a:ext>
                  </a:extLst>
                </a:gridCol>
                <a:gridCol w="1786896">
                  <a:extLst>
                    <a:ext uri="{9D8B030D-6E8A-4147-A177-3AD203B41FA5}">
                      <a16:colId xmlns:a16="http://schemas.microsoft.com/office/drawing/2014/main" val="3634020968"/>
                    </a:ext>
                  </a:extLst>
                </a:gridCol>
              </a:tblGrid>
              <a:tr h="1296000"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입문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중급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고급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산업전환 진행단계에 따라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단계 설정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단계별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-50" normalizeH="0" baseline="0" dirty="0" err="1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교육모듈별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정의 수립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8583"/>
                  </a:ext>
                </a:extLst>
              </a:tr>
            </a:tbl>
          </a:graphicData>
        </a:graphic>
      </p:graphicFrame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FCBF5C3C-AD5A-A0C6-3C52-764B33C67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645841"/>
              </p:ext>
            </p:extLst>
          </p:nvPr>
        </p:nvGraphicFramePr>
        <p:xfrm>
          <a:off x="337356" y="5085565"/>
          <a:ext cx="1316673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673">
                  <a:extLst>
                    <a:ext uri="{9D8B030D-6E8A-4147-A177-3AD203B41FA5}">
                      <a16:colId xmlns:a16="http://schemas.microsoft.com/office/drawing/2014/main" val="519947461"/>
                    </a:ext>
                  </a:extLst>
                </a:gridCol>
              </a:tblGrid>
              <a:tr h="1296000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1300" kern="1200" spc="-50" dirty="0">
                          <a:solidFill>
                            <a:srgbClr val="344532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교육 수준 정의</a:t>
                      </a:r>
                      <a:endParaRPr lang="en-US" altLang="ko-KR" sz="1300" kern="1200" spc="-50" dirty="0">
                        <a:solidFill>
                          <a:srgbClr val="344532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873239904"/>
                  </a:ext>
                </a:extLst>
              </a:tr>
            </a:tbl>
          </a:graphicData>
        </a:graphic>
      </p:graphicFrame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4F1CE06B-DBA1-C645-0976-358C0F05571F}"/>
              </a:ext>
            </a:extLst>
          </p:cNvPr>
          <p:cNvGrpSpPr/>
          <p:nvPr/>
        </p:nvGrpSpPr>
        <p:grpSpPr>
          <a:xfrm>
            <a:off x="5411229" y="4273710"/>
            <a:ext cx="168976" cy="173390"/>
            <a:chOff x="599972" y="1973685"/>
            <a:chExt cx="307997" cy="236097"/>
          </a:xfrm>
        </p:grpSpPr>
        <p:sp>
          <p:nvSpPr>
            <p:cNvPr id="119" name="갈매기형 수장 40">
              <a:extLst>
                <a:ext uri="{FF2B5EF4-FFF2-40B4-BE49-F238E27FC236}">
                  <a16:creationId xmlns:a16="http://schemas.microsoft.com/office/drawing/2014/main" id="{05409328-D4DB-86C5-2231-7E3D2A4C02A7}"/>
                </a:ext>
              </a:extLst>
            </p:cNvPr>
            <p:cNvSpPr/>
            <p:nvPr/>
          </p:nvSpPr>
          <p:spPr>
            <a:xfrm>
              <a:off x="599972" y="1973685"/>
              <a:ext cx="192319" cy="23609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  <p:sp>
          <p:nvSpPr>
            <p:cNvPr id="120" name="갈매기형 수장 41">
              <a:extLst>
                <a:ext uri="{FF2B5EF4-FFF2-40B4-BE49-F238E27FC236}">
                  <a16:creationId xmlns:a16="http://schemas.microsoft.com/office/drawing/2014/main" id="{7C6D15F8-E3E2-0998-F919-6E076F09F3D9}"/>
                </a:ext>
              </a:extLst>
            </p:cNvPr>
            <p:cNvSpPr/>
            <p:nvPr/>
          </p:nvSpPr>
          <p:spPr>
            <a:xfrm>
              <a:off x="708580" y="1973685"/>
              <a:ext cx="199389" cy="236097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C271D70-5104-F713-791D-7988D7DCCE09}"/>
              </a:ext>
            </a:extLst>
          </p:cNvPr>
          <p:cNvGrpSpPr/>
          <p:nvPr/>
        </p:nvGrpSpPr>
        <p:grpSpPr>
          <a:xfrm>
            <a:off x="5411229" y="5646870"/>
            <a:ext cx="168976" cy="173390"/>
            <a:chOff x="599972" y="1973685"/>
            <a:chExt cx="307997" cy="236097"/>
          </a:xfrm>
        </p:grpSpPr>
        <p:sp>
          <p:nvSpPr>
            <p:cNvPr id="122" name="갈매기형 수장 40">
              <a:extLst>
                <a:ext uri="{FF2B5EF4-FFF2-40B4-BE49-F238E27FC236}">
                  <a16:creationId xmlns:a16="http://schemas.microsoft.com/office/drawing/2014/main" id="{0196D434-535F-BF12-A738-F25C8542CE01}"/>
                </a:ext>
              </a:extLst>
            </p:cNvPr>
            <p:cNvSpPr/>
            <p:nvPr/>
          </p:nvSpPr>
          <p:spPr>
            <a:xfrm>
              <a:off x="599972" y="1973685"/>
              <a:ext cx="192319" cy="23609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  <p:sp>
          <p:nvSpPr>
            <p:cNvPr id="123" name="갈매기형 수장 41">
              <a:extLst>
                <a:ext uri="{FF2B5EF4-FFF2-40B4-BE49-F238E27FC236}">
                  <a16:creationId xmlns:a16="http://schemas.microsoft.com/office/drawing/2014/main" id="{6F1C510B-FCB9-5C2D-96C2-DED0FBBD05A5}"/>
                </a:ext>
              </a:extLst>
            </p:cNvPr>
            <p:cNvSpPr/>
            <p:nvPr/>
          </p:nvSpPr>
          <p:spPr>
            <a:xfrm>
              <a:off x="708580" y="1973685"/>
              <a:ext cx="199389" cy="236097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8260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0FB6B-E71B-1FE0-40D4-65EDA83BB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D9C26DC-E386-7E43-0D43-1564F326BFD5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FAB26305-2CC3-35E7-E5CB-A875BB804CE4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新 </a:t>
            </a:r>
            <a:r>
              <a:rPr lang="ko-KR" altLang="en-US" sz="17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교육로드맵은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분류체계 개편에 따라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기존 과정을 재배치하고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과정 간의 연계성을 학습경로로 구조화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하여 교육생의 이해를 제고하도록 설계하였습니다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1AA89-3218-40A3-E543-B332C151D053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75160B2-E452-F13A-489A-64B3B7B9EE6A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CE67F9A0-DDF1-DD15-DACF-68B55B56CB67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8D97DD-ABEA-617A-16FB-1A448D346F9B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4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A33324-2CC7-6026-81C4-5D0A6A230D5A}"/>
              </a:ext>
            </a:extLst>
          </p:cNvPr>
          <p:cNvSpPr/>
          <p:nvPr/>
        </p:nvSpPr>
        <p:spPr>
          <a:xfrm>
            <a:off x="1513166" y="253829"/>
            <a:ext cx="5692812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11. KTR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재수립</a:t>
            </a:r>
            <a:endParaRPr lang="ko-KR" altLang="en-US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AC4FB3C-8EE4-1511-FB20-DD0651BCC4EC}"/>
              </a:ext>
            </a:extLst>
          </p:cNvPr>
          <p:cNvCxnSpPr>
            <a:cxnSpLocks/>
          </p:cNvCxnSpPr>
          <p:nvPr/>
        </p:nvCxnSpPr>
        <p:spPr>
          <a:xfrm>
            <a:off x="344487" y="1871431"/>
            <a:ext cx="9217026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텍스트 개체 틀 1">
            <a:extLst>
              <a:ext uri="{FF2B5EF4-FFF2-40B4-BE49-F238E27FC236}">
                <a16:creationId xmlns:a16="http://schemas.microsoft.com/office/drawing/2014/main" id="{0394061B-BA36-A9CD-F326-DE19D1F24D2A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 err="1"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 개선</a:t>
            </a:r>
            <a:r>
              <a:rPr lang="en-US" altLang="ko-KR" sz="1600" spc="-50" dirty="0"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600" spc="-50" dirty="0">
                <a:latin typeface="페이퍼로지 6 SemiBold" pitchFamily="2" charset="-127"/>
                <a:ea typeface="페이퍼로지 6 SemiBold" pitchFamily="2" charset="-127"/>
              </a:rPr>
              <a:t>안</a:t>
            </a:r>
            <a:r>
              <a:rPr lang="en-US" altLang="ko-KR" sz="1600" spc="-50" dirty="0"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600" spc="-5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F0F18F91-16B4-1835-5BCC-CC5A3AED6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6" y="2715077"/>
            <a:ext cx="4318953" cy="3666673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B693B06F-6108-4EC1-E973-E41F20037D15}"/>
              </a:ext>
            </a:extLst>
          </p:cNvPr>
          <p:cNvSpPr txBox="1"/>
          <p:nvPr/>
        </p:nvSpPr>
        <p:spPr>
          <a:xfrm>
            <a:off x="344487" y="1953536"/>
            <a:ext cx="4318951" cy="2365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</a:lstStyle>
          <a:p>
            <a:pPr marL="87312" lvl="1" algn="ctr" defTabSz="914400"/>
            <a:r>
              <a:rPr lang="en-US" altLang="ko-KR" sz="1200" kern="0" spc="-50" dirty="0">
                <a:solidFill>
                  <a:prstClr val="black"/>
                </a:solidFill>
                <a:latin typeface="페이퍼로지 6 SemiBold" pitchFamily="2" charset="-127"/>
                <a:ea typeface="페이퍼로지 6 SemiBold" pitchFamily="2" charset="-127"/>
              </a:rPr>
              <a:t>As-is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8E811CB-17AA-D12A-E216-6E2A229DD6A9}"/>
              </a:ext>
            </a:extLst>
          </p:cNvPr>
          <p:cNvSpPr txBox="1"/>
          <p:nvPr/>
        </p:nvSpPr>
        <p:spPr>
          <a:xfrm>
            <a:off x="5096982" y="1949867"/>
            <a:ext cx="4458173" cy="243855"/>
          </a:xfrm>
          <a:prstGeom prst="rect">
            <a:avLst/>
          </a:prstGeom>
          <a:solidFill>
            <a:srgbClr val="395D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marL="180975" marR="0" lvl="0" indent="-93663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0" spc="-50">
                <a:latin typeface="페이퍼로지 5 Medium" pitchFamily="2" charset="-127"/>
                <a:ea typeface="페이퍼로지 5 Medium" pitchFamily="2" charset="-127"/>
              </a:defRPr>
            </a:lvl1pPr>
          </a:lstStyle>
          <a:p>
            <a:pPr marL="87312" lvl="1" algn="ctr" defTabSz="914400"/>
            <a:r>
              <a:rPr lang="en-US" altLang="ko-KR" sz="11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To-be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2A65C40B-7C43-1E93-E69B-F97EB626A5BD}"/>
              </a:ext>
            </a:extLst>
          </p:cNvPr>
          <p:cNvGrpSpPr/>
          <p:nvPr/>
        </p:nvGrpSpPr>
        <p:grpSpPr>
          <a:xfrm>
            <a:off x="4795722" y="1977955"/>
            <a:ext cx="168976" cy="173390"/>
            <a:chOff x="599972" y="1973685"/>
            <a:chExt cx="307997" cy="236097"/>
          </a:xfrm>
        </p:grpSpPr>
        <p:sp>
          <p:nvSpPr>
            <p:cNvPr id="120" name="갈매기형 수장 40">
              <a:extLst>
                <a:ext uri="{FF2B5EF4-FFF2-40B4-BE49-F238E27FC236}">
                  <a16:creationId xmlns:a16="http://schemas.microsoft.com/office/drawing/2014/main" id="{D9307585-0963-4557-6A6D-66186F0AE7CF}"/>
                </a:ext>
              </a:extLst>
            </p:cNvPr>
            <p:cNvSpPr/>
            <p:nvPr/>
          </p:nvSpPr>
          <p:spPr>
            <a:xfrm>
              <a:off x="599972" y="1973685"/>
              <a:ext cx="192319" cy="23609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  <p:sp>
          <p:nvSpPr>
            <p:cNvPr id="121" name="갈매기형 수장 41">
              <a:extLst>
                <a:ext uri="{FF2B5EF4-FFF2-40B4-BE49-F238E27FC236}">
                  <a16:creationId xmlns:a16="http://schemas.microsoft.com/office/drawing/2014/main" id="{3B78ED42-A771-D846-92C5-CB946AC9567D}"/>
                </a:ext>
              </a:extLst>
            </p:cNvPr>
            <p:cNvSpPr/>
            <p:nvPr/>
          </p:nvSpPr>
          <p:spPr>
            <a:xfrm>
              <a:off x="708580" y="1973685"/>
              <a:ext cx="199389" cy="236097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11482BB-00E0-BB52-767E-5FA23CE8949B}"/>
              </a:ext>
            </a:extLst>
          </p:cNvPr>
          <p:cNvGrpSpPr/>
          <p:nvPr/>
        </p:nvGrpSpPr>
        <p:grpSpPr>
          <a:xfrm>
            <a:off x="5097463" y="2204657"/>
            <a:ext cx="4464050" cy="4212813"/>
            <a:chOff x="5097462" y="2307877"/>
            <a:chExt cx="4464051" cy="4109593"/>
          </a:xfrm>
        </p:grpSpPr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2C863997-EA53-9A11-F4C1-620ECA063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97462" y="2307877"/>
              <a:ext cx="4464051" cy="4109593"/>
            </a:xfrm>
            <a:prstGeom prst="rect">
              <a:avLst/>
            </a:prstGeom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</p:pic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FC13CC1-CE91-1C6D-5286-4520833B7323}"/>
                </a:ext>
              </a:extLst>
            </p:cNvPr>
            <p:cNvSpPr txBox="1"/>
            <p:nvPr/>
          </p:nvSpPr>
          <p:spPr>
            <a:xfrm>
              <a:off x="5123655" y="2369831"/>
              <a:ext cx="1455738" cy="107722"/>
            </a:xfrm>
            <a:prstGeom prst="rect">
              <a:avLst/>
            </a:prstGeom>
            <a:solidFill>
              <a:srgbClr val="344532"/>
            </a:solidFill>
          </p:spPr>
          <p:txBody>
            <a:bodyPr wrap="square" tIns="0" bIns="0">
              <a:spAutoFit/>
            </a:bodyPr>
            <a:lstStyle/>
            <a:p>
              <a:pPr marL="0" lvl="1" algn="ctr" defTabSz="914400"/>
              <a:r>
                <a:rPr lang="ko-KR" altLang="en-US" sz="700" kern="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산업전환 진행단계</a:t>
              </a:r>
              <a:endParaRPr lang="en-US" altLang="ko-KR" sz="700" kern="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A8FDF8F-39FC-19D4-B094-CCDDA34B3700}"/>
                </a:ext>
              </a:extLst>
            </p:cNvPr>
            <p:cNvSpPr txBox="1"/>
            <p:nvPr/>
          </p:nvSpPr>
          <p:spPr>
            <a:xfrm>
              <a:off x="6622255" y="2341174"/>
              <a:ext cx="864395" cy="165036"/>
            </a:xfrm>
            <a:prstGeom prst="rect">
              <a:avLst/>
            </a:prstGeom>
            <a:solidFill>
              <a:srgbClr val="344532"/>
            </a:solidFill>
          </p:spPr>
          <p:txBody>
            <a:bodyPr wrap="square" tIns="36000" bIns="36000">
              <a:spAutoFit/>
            </a:bodyPr>
            <a:lstStyle/>
            <a:p>
              <a:pPr marL="0" lvl="1" algn="ctr" defTabSz="914400"/>
              <a:r>
                <a:rPr lang="en-US" altLang="ko-KR" sz="600" kern="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Lv1 </a:t>
              </a:r>
              <a:r>
                <a:rPr lang="ko-KR" altLang="en-US" sz="600" kern="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선제대응단계</a:t>
              </a:r>
              <a:endParaRPr lang="en-US" altLang="ko-KR" sz="600" kern="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B7C618C-0EBA-4589-DB78-869ACC5D2F73}"/>
                </a:ext>
              </a:extLst>
            </p:cNvPr>
            <p:cNvSpPr txBox="1"/>
            <p:nvPr/>
          </p:nvSpPr>
          <p:spPr>
            <a:xfrm>
              <a:off x="7645397" y="2341174"/>
              <a:ext cx="864395" cy="165036"/>
            </a:xfrm>
            <a:prstGeom prst="rect">
              <a:avLst/>
            </a:prstGeom>
            <a:solidFill>
              <a:srgbClr val="344532"/>
            </a:solidFill>
          </p:spPr>
          <p:txBody>
            <a:bodyPr wrap="square" tIns="36000" bIns="36000">
              <a:spAutoFit/>
            </a:bodyPr>
            <a:lstStyle/>
            <a:p>
              <a:pPr marL="0" lvl="1" algn="ctr" defTabSz="914400"/>
              <a:r>
                <a:rPr lang="en-US" altLang="ko-KR" sz="600" kern="0" dirty="0" err="1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Lv</a:t>
              </a:r>
              <a:r>
                <a:rPr lang="en-US" altLang="ko-KR" sz="600" kern="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 2 </a:t>
              </a:r>
              <a:r>
                <a:rPr lang="ko-KR" altLang="en-US" sz="600" kern="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전환단계</a:t>
              </a:r>
              <a:endParaRPr lang="en-US" altLang="ko-KR" sz="600" kern="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EED736A-45EA-390C-31E4-0896B256AC0E}"/>
                </a:ext>
              </a:extLst>
            </p:cNvPr>
            <p:cNvSpPr txBox="1"/>
            <p:nvPr/>
          </p:nvSpPr>
          <p:spPr>
            <a:xfrm>
              <a:off x="8647107" y="2341174"/>
              <a:ext cx="864395" cy="165036"/>
            </a:xfrm>
            <a:prstGeom prst="rect">
              <a:avLst/>
            </a:prstGeom>
            <a:solidFill>
              <a:srgbClr val="344532"/>
            </a:solidFill>
          </p:spPr>
          <p:txBody>
            <a:bodyPr wrap="square" tIns="36000" bIns="36000">
              <a:spAutoFit/>
            </a:bodyPr>
            <a:lstStyle/>
            <a:p>
              <a:pPr marL="0" lvl="1" algn="ctr" defTabSz="914400"/>
              <a:r>
                <a:rPr lang="en-US" altLang="ko-KR" sz="600" kern="0" dirty="0" err="1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Lv</a:t>
              </a:r>
              <a:r>
                <a:rPr lang="en-US" altLang="ko-KR" sz="600" kern="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 3 </a:t>
              </a:r>
              <a:r>
                <a:rPr lang="ko-KR" altLang="en-US" sz="600" kern="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정착단계</a:t>
              </a:r>
              <a:endParaRPr lang="en-US" altLang="ko-KR" sz="600" kern="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29975E79-1B04-4546-3953-BC6D06F9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101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9D9C-8B4E-C732-4981-001E0ACD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2913E0-9816-DD88-E212-C02237A1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r>
              <a:rPr kumimoji="0" lang="ko-KR" altLang="en-US" sz="813" b="0" i="0" u="none" strike="noStrike" kern="120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BF91F2-2BAB-23ED-3545-8F159FC5F595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1833CD3A-1F5E-5E03-F62D-0DD1669E2137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강사진 회의를 실시를 통해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산업별 필요 직무 및 핵심 역량과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그에 따른 신규 교육 주제를 도출하였습니다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5C257-9C52-A689-CFD8-780A17E8DC09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5425AD2-080B-5F1C-946C-C065E5377264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E64B2274-C69E-5616-04BD-8814E69D209C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D2143E-86F3-F9F4-EFB9-1801A2D70EEA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4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9636F-C345-721C-5DF9-43F76C764A52}"/>
              </a:ext>
            </a:extLst>
          </p:cNvPr>
          <p:cNvSpPr/>
          <p:nvPr/>
        </p:nvSpPr>
        <p:spPr>
          <a:xfrm>
            <a:off x="1513166" y="253829"/>
            <a:ext cx="464633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12.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신규 교육주제 도출</a:t>
            </a:r>
          </a:p>
        </p:txBody>
      </p:sp>
      <p:sp>
        <p:nvSpPr>
          <p:cNvPr id="9" name="사각형: 둥근 모서리 1">
            <a:extLst>
              <a:ext uri="{FF2B5EF4-FFF2-40B4-BE49-F238E27FC236}">
                <a16:creationId xmlns:a16="http://schemas.microsoft.com/office/drawing/2014/main" id="{7535064C-30E0-1BB4-67FF-D4469A965D96}"/>
              </a:ext>
            </a:extLst>
          </p:cNvPr>
          <p:cNvSpPr/>
          <p:nvPr/>
        </p:nvSpPr>
        <p:spPr>
          <a:xfrm>
            <a:off x="344488" y="2024062"/>
            <a:ext cx="4464050" cy="435768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3445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 latinLnBrk="0">
              <a:lnSpc>
                <a:spcPct val="120000"/>
              </a:lnSpc>
              <a:defRPr/>
            </a:pPr>
            <a:r>
              <a:rPr lang="en-US" altLang="ko-KR" sz="1400" spc="-50" dirty="0">
                <a:solidFill>
                  <a:schemeClr val="bg1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altLang="en-US" sz="140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회의 목적</a:t>
            </a:r>
            <a:endParaRPr lang="en-US" altLang="ko-KR" sz="140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266700" marR="38100" indent="-85725" defTabSz="457200" fontAlgn="base" latinLnBrk="0">
              <a:lnSpc>
                <a:spcPct val="120000"/>
              </a:lnSpc>
              <a:spcAft>
                <a:spcPts val="300"/>
              </a:spcAft>
              <a:defRPr/>
            </a:pP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∙  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산업별 전환 방향과 산업전환 대응 인력 수요를 검토하고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기존 교육과정과의 비교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분석을 통해 필요 역량과 신규 </a:t>
            </a:r>
            <a:r>
              <a:rPr lang="ko-KR" altLang="en-US" sz="11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교육콘텐츠를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도출하기 위함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10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266700" indent="-85725" defTabSz="457200" latinLnBrk="0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500" spc="-50" dirty="0"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lvl="0" defTabSz="457200" latinLnBrk="0">
              <a:lnSpc>
                <a:spcPct val="120000"/>
              </a:lnSpc>
              <a:defRPr/>
            </a:pPr>
            <a:r>
              <a:rPr lang="en-US" altLang="ko-KR" sz="1400" spc="-50" dirty="0">
                <a:solidFill>
                  <a:prstClr val="white">
                    <a:lumMod val="50000"/>
                  </a:prstClr>
                </a:solidFill>
                <a:latin typeface="페이퍼로지 5 Medium" pitchFamily="2" charset="-127"/>
                <a:ea typeface="페이퍼로지 5 Medium" pitchFamily="2" charset="-127"/>
              </a:rPr>
              <a:t>02 </a:t>
            </a:r>
            <a:r>
              <a:rPr lang="ko-KR" altLang="en-US" sz="140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회의 개요</a:t>
            </a:r>
            <a:endParaRPr lang="en-US" altLang="ko-KR" sz="1400" spc="-5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266700" marR="38100" indent="-85725" defTabSz="457200" fontAlgn="base" latinLnBrk="0">
              <a:spcAft>
                <a:spcPts val="300"/>
              </a:spcAft>
              <a:defRPr/>
            </a:pP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∙ 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일시 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: 2025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12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월 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9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일 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화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) ~10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일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수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266700" marR="38100" indent="-85725" defTabSz="457200" fontAlgn="base" latinLnBrk="0">
              <a:spcAft>
                <a:spcPts val="300"/>
              </a:spcAft>
              <a:defRPr/>
            </a:pP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∙ 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방법 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: Zoom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을 활용한 </a:t>
            </a:r>
            <a:r>
              <a:rPr lang="ko-KR" altLang="en-US" sz="11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비대면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회의</a:t>
            </a:r>
            <a:endParaRPr lang="en-US" altLang="ko-KR" sz="110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266700" indent="-85725">
              <a:lnSpc>
                <a:spcPct val="120000"/>
              </a:lnSpc>
              <a:defRPr/>
            </a:pPr>
            <a:endParaRPr lang="en-US" altLang="ko-KR" sz="1100" spc="-50" dirty="0"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defRPr/>
            </a:pPr>
            <a:endParaRPr lang="en-US" altLang="ko-KR" sz="1100" spc="-50" dirty="0"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9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05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1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1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4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6700" indent="-85725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200" spc="-50" dirty="0">
              <a:solidFill>
                <a:schemeClr val="tx1">
                  <a:lumMod val="65000"/>
                  <a:lumOff val="3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5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03 </a:t>
            </a:r>
            <a:r>
              <a:rPr kumimoji="0" lang="ko-KR" altLang="en-US" sz="1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회의 내용</a:t>
            </a:r>
            <a:endParaRPr kumimoji="0" lang="en-US" altLang="ko-KR" sz="1400" b="0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  <a:p>
            <a:pPr marL="266700" marR="38100" lvl="0" indent="-85725" defTabSz="457200" fontAlgn="base" latinLnBrk="0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∙ 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산업별 전환 방향성에 따른 필요 인력</a:t>
            </a: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및 역량 논의</a:t>
            </a:r>
            <a:endParaRPr lang="en-US" altLang="ko-KR" sz="110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266700" marR="38100" lvl="0" indent="-85725" defTabSz="457200" fontAlgn="base" latinLnBrk="0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∙ 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기존 교육과정 개선 방향 논의</a:t>
            </a:r>
            <a:endParaRPr lang="en-US" altLang="ko-KR" sz="110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266700" marR="38100" lvl="0" indent="-85725" defTabSz="457200" fontAlgn="base" latinLnBrk="0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∙ </a:t>
            </a:r>
            <a:r>
              <a:rPr lang="ko-KR" altLang="en-US" sz="11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신규 개발이 필요한 교육 주제 도출 등</a:t>
            </a:r>
            <a:endParaRPr lang="en-US" altLang="ko-KR" sz="110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5F175C55-C7BA-DC32-C578-E230E37E0FE4}"/>
              </a:ext>
            </a:extLst>
          </p:cNvPr>
          <p:cNvSpPr/>
          <p:nvPr/>
        </p:nvSpPr>
        <p:spPr>
          <a:xfrm>
            <a:off x="354012" y="1493371"/>
            <a:ext cx="3303588" cy="314074"/>
          </a:xfrm>
          <a:prstGeom prst="snip1Rect">
            <a:avLst>
              <a:gd name="adj" fmla="val 25536"/>
            </a:avLst>
          </a:prstGeom>
        </p:spPr>
        <p:txBody>
          <a:bodyPr vert="horz" lIns="91440" tIns="45720" rIns="91440" bIns="45720" rtlCol="0" anchor="t"/>
          <a:lstStyle/>
          <a:p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회의 개요 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A2FFD8E-AC8E-97C7-55B0-A67504B2A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372232"/>
              </p:ext>
            </p:extLst>
          </p:nvPr>
        </p:nvGraphicFramePr>
        <p:xfrm>
          <a:off x="426864" y="3719383"/>
          <a:ext cx="4299298" cy="1581976"/>
        </p:xfrm>
        <a:graphic>
          <a:graphicData uri="http://schemas.openxmlformats.org/drawingml/2006/table">
            <a:tbl>
              <a:tblPr/>
              <a:tblGrid>
                <a:gridCol w="1127616">
                  <a:extLst>
                    <a:ext uri="{9D8B030D-6E8A-4147-A177-3AD203B41FA5}">
                      <a16:colId xmlns:a16="http://schemas.microsoft.com/office/drawing/2014/main" val="332966913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1902078048"/>
                    </a:ext>
                  </a:extLst>
                </a:gridCol>
                <a:gridCol w="2508742">
                  <a:extLst>
                    <a:ext uri="{9D8B030D-6E8A-4147-A177-3AD203B41FA5}">
                      <a16:colId xmlns:a16="http://schemas.microsoft.com/office/drawing/2014/main" val="3220593357"/>
                    </a:ext>
                  </a:extLst>
                </a:gridCol>
              </a:tblGrid>
              <a:tr h="143816"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성명</a:t>
                      </a:r>
                      <a:r>
                        <a:rPr lang="en-US" altLang="ko-KR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강의 과목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640406"/>
                  </a:ext>
                </a:extLst>
              </a:tr>
              <a:tr h="143816"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과학기술연합대학원대학교</a:t>
                      </a:r>
                      <a:endParaRPr lang="en-US" altLang="ko-KR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김상용 교수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플라스틱 소재별 핵심기술 및 산업 접근 전략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714680"/>
                  </a:ext>
                </a:extLst>
              </a:tr>
              <a:tr h="143816"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더데이원랩</a:t>
                      </a:r>
                      <a:endParaRPr lang="ko-KR" altLang="en-US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김인호 이사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친환경 소재 적용 사례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126188"/>
                  </a:ext>
                </a:extLst>
              </a:tr>
              <a:tr h="143816"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한국화학연구원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신지훈 책임</a:t>
                      </a:r>
                      <a:endParaRPr lang="en-US" altLang="ko-KR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바이오복합재료</a:t>
                      </a: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물성 측정 기본 원리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35089"/>
                  </a:ext>
                </a:extLst>
              </a:tr>
              <a:tr h="143816"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비즈엔몰드</a:t>
                      </a:r>
                      <a:endParaRPr lang="ko-KR" altLang="en-US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원용기 대표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플라스틱 생산을 위한 사출금형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778207"/>
                  </a:ext>
                </a:extLst>
              </a:tr>
              <a:tr h="143816"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SK Microworks</a:t>
                      </a:r>
                      <a:endParaRPr lang="ko-KR" altLang="en-US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한권형 연구위원</a:t>
                      </a:r>
                      <a:endParaRPr lang="en-US" altLang="ko-KR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0" spc="-7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b="0" kern="0" spc="-7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b="0" kern="0" spc="-7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b="0" kern="0" spc="-7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프로젝트 활동 프로세스와 관리 포인트 현장 실무사례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698137"/>
                  </a:ext>
                </a:extLst>
              </a:tr>
              <a:tr h="143816"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엘메디</a:t>
                      </a:r>
                      <a:endParaRPr lang="en-US" altLang="ko-KR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김영인 대표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의료기기 사이버보안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52224"/>
                  </a:ext>
                </a:extLst>
              </a:tr>
              <a:tr h="143816"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케이에이치메디케어</a:t>
                      </a:r>
                      <a:endParaRPr lang="en-US" altLang="ko-KR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이덕연</a:t>
                      </a: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전무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소재를 활용한 의료기기 인증과 기술문서 작성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398851"/>
                  </a:ext>
                </a:extLst>
              </a:tr>
              <a:tr h="143816"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브랜드앤브랜더스</a:t>
                      </a:r>
                      <a:endParaRPr lang="en-US" altLang="ko-KR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정인숙 대표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브랜딩 개론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616687"/>
                  </a:ext>
                </a:extLst>
              </a:tr>
              <a:tr h="143816"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라파앤코</a:t>
                      </a:r>
                      <a:endParaRPr lang="ko-KR" altLang="en-US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진선희</a:t>
                      </a: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대표</a:t>
                      </a:r>
                      <a:endParaRPr lang="en-US" altLang="ko-KR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브랜딩 기획 및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239241"/>
                  </a:ext>
                </a:extLst>
              </a:tr>
              <a:tr h="143816">
                <a:tc>
                  <a:txBody>
                    <a:bodyPr/>
                    <a:lstStyle/>
                    <a:p>
                      <a:pPr marL="0" marR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에코에이블</a:t>
                      </a:r>
                      <a:endParaRPr lang="ko-KR" altLang="en-US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차경훈</a:t>
                      </a: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대표</a:t>
                      </a:r>
                      <a:endParaRPr lang="en-US" altLang="ko-KR" sz="800" b="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5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클린화장품</a:t>
                      </a: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전과정평가</a:t>
                      </a:r>
                      <a:r>
                        <a:rPr lang="en-US" altLang="ko-KR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(LCA) </a:t>
                      </a:r>
                      <a:r>
                        <a:rPr lang="ko-KR" altLang="en-US" sz="800" b="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보고서 작성 실무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27520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3104DB5-48A0-F950-240C-6B6F0C57D984}"/>
              </a:ext>
            </a:extLst>
          </p:cNvPr>
          <p:cNvSpPr txBox="1"/>
          <p:nvPr/>
        </p:nvSpPr>
        <p:spPr>
          <a:xfrm>
            <a:off x="426864" y="3544076"/>
            <a:ext cx="2180624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marR="0" lvl="0" defTabSz="457200" rtl="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&lt;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표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강사진 명단</a:t>
            </a:r>
            <a:endParaRPr lang="en-US" altLang="ko-KR" sz="800" spc="-50" dirty="0"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976C054C-C55A-84AA-23C8-EBC5A9280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538654"/>
              </p:ext>
            </p:extLst>
          </p:nvPr>
        </p:nvGraphicFramePr>
        <p:xfrm>
          <a:off x="5105084" y="2031683"/>
          <a:ext cx="4472176" cy="4348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176">
                  <a:extLst>
                    <a:ext uri="{9D8B030D-6E8A-4147-A177-3AD203B41FA5}">
                      <a16:colId xmlns:a16="http://schemas.microsoft.com/office/drawing/2014/main" val="3156121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2559156"/>
                    </a:ext>
                  </a:extLst>
                </a:gridCol>
                <a:gridCol w="1125900">
                  <a:extLst>
                    <a:ext uri="{9D8B030D-6E8A-4147-A177-3AD203B41FA5}">
                      <a16:colId xmlns:a16="http://schemas.microsoft.com/office/drawing/2014/main" val="1502114588"/>
                    </a:ext>
                  </a:extLst>
                </a:gridCol>
                <a:gridCol w="2582100">
                  <a:extLst>
                    <a:ext uri="{9D8B030D-6E8A-4147-A177-3AD203B41FA5}">
                      <a16:colId xmlns:a16="http://schemas.microsoft.com/office/drawing/2014/main" val="3386679022"/>
                    </a:ext>
                  </a:extLst>
                </a:gridCol>
              </a:tblGrid>
              <a:tr h="13112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역량 개발</a:t>
                      </a:r>
                      <a:r>
                        <a:rPr lang="en-US" altLang="ko-KR" sz="900" b="0" kern="1200" spc="-50" dirty="0"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spc="-50" dirty="0"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강화 필요 직무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spc="-50" dirty="0"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핵심 역량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677199"/>
                  </a:ext>
                </a:extLst>
              </a:tr>
              <a:tr h="262254">
                <a:tc rowSpan="7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플라</a:t>
                      </a:r>
                      <a:endParaRPr lang="en-US" altLang="ko-KR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스틱</a:t>
                      </a:r>
                      <a:endParaRPr lang="en-US" altLang="ko-KR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</a:t>
                      </a:r>
                      <a:endParaRPr lang="ko-KR" altLang="en-US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</a:t>
                      </a: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기능성</a:t>
                      </a: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 설계</a:t>
                      </a: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응용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특성 고려한 제품 구조 설계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기능성 요소 구현 및 성형 적용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친환경성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규제 적합성 검토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응용 제품 개발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506922"/>
                  </a:ext>
                </a:extLst>
              </a:tr>
              <a:tr h="2331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플라스틱 재활용 공정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화학적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물리적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재활용 기술 개발 및 공정 설계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재활용 원료의 물성 안정화 기술 연구 등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929860"/>
                  </a:ext>
                </a:extLst>
              </a:tr>
              <a:tr h="349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성형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생분해성 원료 배합 및 성형 조건 설정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수지 특성에 맞춘 성형조건 최적화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사출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압출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압축 등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생산 공정 중 물성 변화 관리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불순물 대응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271625"/>
                  </a:ext>
                </a:extLst>
              </a:tr>
              <a:tr h="2622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플라스틱 재활용 공정 최적화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세척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압출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펠릿화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등 재활용 공정 운영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오염도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불순물 제거 공정 개선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재생 원료 물성 균질화 및 품질 안정화 기술 적용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40516"/>
                  </a:ext>
                </a:extLst>
              </a:tr>
              <a:tr h="131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공정 최적화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공정 시뮬레이션을 통한 불량 예측과 제어 기술 등 공정 효율 최적화</a:t>
                      </a:r>
                      <a:endParaRPr lang="en-US" altLang="ko-KR" sz="8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77569"/>
                  </a:ext>
                </a:extLst>
              </a:tr>
              <a:tr h="2622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규제</a:t>
                      </a: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 </a:t>
                      </a: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제품 규제 및 품질 대응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제품 물성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생분해도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안정성 평가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인증 시험 및 대응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국제 규제 및 표준 기반 품질 기준 수립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079301"/>
                  </a:ext>
                </a:extLst>
              </a:tr>
              <a:tr h="248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제품 사업 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환경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순환경제 정책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및 시장 동향 분석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소재 개발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생산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판매 전 주기 관점에서 사업성 분석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재생 소재 제품 시장진입 전략 수립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453637"/>
                  </a:ext>
                </a:extLst>
              </a:tr>
              <a:tr h="349672">
                <a:tc rowSpan="4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</a:t>
                      </a:r>
                      <a:endParaRPr lang="en-US" altLang="ko-KR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기기</a:t>
                      </a:r>
                      <a:endParaRPr lang="en-US" altLang="ko-KR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</a:t>
                      </a:r>
                      <a:endParaRPr lang="ko-KR" altLang="en-US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소프트웨어 검증</a:t>
                      </a: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-5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밸리데이션</a:t>
                      </a:r>
                      <a:endParaRPr lang="ko-KR" altLang="en-US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5941" marR="35941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소프트웨어 버전관리 및 성능 검증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추적성 매트릭스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요구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–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설계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–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시험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확보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이상 상황 시나리오 시험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문서 기반 규제 대응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(IEC 62304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ko-KR" altLang="en-US" sz="8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5941" marR="35941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49203"/>
                  </a:ext>
                </a:extLst>
              </a:tr>
              <a:tr h="2622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8900" lvl="1" indent="-88900" algn="l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ko-KR" altLang="en-US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스마트 의료기기 성능</a:t>
                      </a: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임상평가</a:t>
                      </a:r>
                    </a:p>
                  </a:txBody>
                  <a:tcPr marL="35941" marR="35941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임상시험 설계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Real-world data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유효성 검증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성능시험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임상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인허가 자료 간 연계 관리</a:t>
                      </a:r>
                    </a:p>
                  </a:txBody>
                  <a:tcPr marL="35941" marR="35941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454831"/>
                  </a:ext>
                </a:extLst>
              </a:tr>
              <a:tr h="349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8900" lvl="1" indent="-88900" algn="l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ko-KR" altLang="en-US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사이버보안 관리</a:t>
                      </a:r>
                    </a:p>
                  </a:txBody>
                  <a:tcPr marL="35941" marR="35941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보안 취약점 분석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기기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앱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클라우드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장비 간 보안 설계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</a:t>
                      </a:r>
                      <a:r>
                        <a:rPr lang="ko-KR" altLang="en-US" sz="800" kern="1200" spc="-5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위변조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및 공격 방어 및 보안 업데이트 관리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글로벌 사이버보안 규제 및 요구 대응</a:t>
                      </a:r>
                    </a:p>
                  </a:txBody>
                  <a:tcPr marL="35941" marR="35941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015673"/>
                  </a:ext>
                </a:extLst>
              </a:tr>
              <a:tr h="248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패키징 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포장재 전환 전략 수립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원가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안전성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영향 종합 평가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환경규제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및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시장 트렌드 분석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197615"/>
                  </a:ext>
                </a:extLst>
              </a:tr>
              <a:tr h="248918">
                <a:tc rowSpan="4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화장품</a:t>
                      </a:r>
                      <a:endParaRPr lang="en-US" altLang="ko-KR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</a:t>
                      </a:r>
                      <a:endParaRPr lang="ko-KR" altLang="en-US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글로벌 규제 반영한 </a:t>
                      </a:r>
                      <a:r>
                        <a:rPr lang="ko-KR" altLang="en-US" sz="800" kern="1200" spc="-5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클린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제형 설계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리필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재사용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재활용 패키징과의 상호작용 검토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AI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제형 안정성 예측 및 최적화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185355"/>
                  </a:ext>
                </a:extLst>
              </a:tr>
              <a:tr h="2622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규제</a:t>
                      </a:r>
                      <a:r>
                        <a:rPr lang="en-US" altLang="ko-KR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 </a:t>
                      </a: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환경 평가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원료 환경 영향 평가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 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LCA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수행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포장재 </a:t>
                      </a:r>
                      <a:r>
                        <a:rPr lang="ko-KR" altLang="en-US" sz="800" kern="1200" spc="-5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환경성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평가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환경 규제 및 정책 대응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64160"/>
                  </a:ext>
                </a:extLst>
              </a:tr>
              <a:tr h="349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기획자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비건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클린뷰티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트렌드 분석 및 컨셉 기획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소비자 요구 분석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타겟 국가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판매 대상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관련 규제 및 인증 분석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원료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용기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부자재 적합성 검토 및 선정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187475"/>
                  </a:ext>
                </a:extLst>
              </a:tr>
              <a:tr h="248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90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위탁생산 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제조사 친환경 공정 적용 타당성 검토 및 선정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생산 일정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원료 수급 관리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생산 이슈 조율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공정 변경 시 기술 검토</a:t>
                      </a:r>
                      <a:r>
                        <a:rPr lang="en-US" altLang="ko-KR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영향 분석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740717"/>
                  </a:ext>
                </a:extLst>
              </a:tr>
            </a:tbl>
          </a:graphicData>
        </a:graphic>
      </p:graphicFrame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C9EDD4A-6480-24AE-61D1-E569C457AA11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4464050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BF50EBB-2EF5-2B07-DA54-C8353D5B280B}"/>
              </a:ext>
            </a:extLst>
          </p:cNvPr>
          <p:cNvSpPr txBox="1"/>
          <p:nvPr/>
        </p:nvSpPr>
        <p:spPr>
          <a:xfrm>
            <a:off x="5125648" y="1852200"/>
            <a:ext cx="2180624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marR="0" lvl="0" defTabSz="457200" rtl="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&lt;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표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&gt; 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산업군별 주요 결과</a:t>
            </a:r>
            <a:endParaRPr lang="en-US" altLang="ko-KR" sz="800" spc="-50" dirty="0"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5E7325DC-355C-6B10-26DE-935646BD4BA8}"/>
              </a:ext>
            </a:extLst>
          </p:cNvPr>
          <p:cNvCxnSpPr>
            <a:cxnSpLocks/>
          </p:cNvCxnSpPr>
          <p:nvPr/>
        </p:nvCxnSpPr>
        <p:spPr>
          <a:xfrm>
            <a:off x="5105084" y="1875393"/>
            <a:ext cx="4464050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잘린 한쪽 모서리 48">
            <a:extLst>
              <a:ext uri="{FF2B5EF4-FFF2-40B4-BE49-F238E27FC236}">
                <a16:creationId xmlns:a16="http://schemas.microsoft.com/office/drawing/2014/main" id="{0CAB42B7-160C-24DD-1CE2-5C28E0533200}"/>
              </a:ext>
            </a:extLst>
          </p:cNvPr>
          <p:cNvSpPr/>
          <p:nvPr/>
        </p:nvSpPr>
        <p:spPr>
          <a:xfrm>
            <a:off x="5105084" y="1493371"/>
            <a:ext cx="3303588" cy="314074"/>
          </a:xfrm>
          <a:prstGeom prst="snip1Rect">
            <a:avLst>
              <a:gd name="adj" fmla="val 25536"/>
            </a:avLst>
          </a:prstGeom>
        </p:spPr>
        <p:txBody>
          <a:bodyPr vert="horz" lIns="91440" tIns="45720" rIns="91440" bIns="45720" rtlCol="0" anchor="t"/>
          <a:lstStyle/>
          <a:p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산업별 필요 직무 및 핵심 역량</a:t>
            </a:r>
          </a:p>
        </p:txBody>
      </p:sp>
    </p:spTree>
    <p:extLst>
      <p:ext uri="{BB962C8B-B14F-4D97-AF65-F5344CB8AC3E}">
        <p14:creationId xmlns:p14="http://schemas.microsoft.com/office/powerpoint/2010/main" val="3417458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404D3-4005-964C-F89D-4C9E0EF0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9FD245B-75CD-B4CB-FAD0-D5DC6752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5680B5-97C1-F643-4ED6-5961594CA01F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489D562B-2CE0-DE02-B328-ECA33629126B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 강사진 회의를 실시를 통해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산업별 필요 직무 및 핵심 역량과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그에 따른 신규 교육 주제를 도출하였습니다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44BC4-888C-2633-24C7-069B14D01870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FEFBAA4-8009-3B69-7C85-84A475C741E8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9B6C722A-6428-FAFD-56A3-3CC7FDB35428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110456-7987-8B4B-EA81-3C1BC60FC6BB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4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ED6C9B-245B-56BB-BA14-F33D679485D8}"/>
              </a:ext>
            </a:extLst>
          </p:cNvPr>
          <p:cNvSpPr/>
          <p:nvPr/>
        </p:nvSpPr>
        <p:spPr>
          <a:xfrm>
            <a:off x="1513166" y="253829"/>
            <a:ext cx="464633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12.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신규 교육주제 도출</a:t>
            </a: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2404D2FC-C5C9-FBD2-A748-62DAFF6B4FF7}"/>
              </a:ext>
            </a:extLst>
          </p:cNvPr>
          <p:cNvSpPr/>
          <p:nvPr/>
        </p:nvSpPr>
        <p:spPr>
          <a:xfrm>
            <a:off x="354012" y="1493371"/>
            <a:ext cx="3303588" cy="314074"/>
          </a:xfrm>
          <a:prstGeom prst="snip1Rect">
            <a:avLst>
              <a:gd name="adj" fmla="val 25536"/>
            </a:avLst>
          </a:prstGeom>
        </p:spPr>
        <p:txBody>
          <a:bodyPr vert="horz" lIns="91440" tIns="45720" rIns="91440" bIns="45720" rtlCol="0" anchor="t"/>
          <a:lstStyle/>
          <a:p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신규 교육주제 도출 결과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C66903-2C22-02E4-0205-D7F264DE9458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FA27821-F5F4-78ED-FB47-15DC8838A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7407"/>
              </p:ext>
            </p:extLst>
          </p:nvPr>
        </p:nvGraphicFramePr>
        <p:xfrm>
          <a:off x="344487" y="2031681"/>
          <a:ext cx="9217025" cy="4351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338">
                  <a:extLst>
                    <a:ext uri="{9D8B030D-6E8A-4147-A177-3AD203B41FA5}">
                      <a16:colId xmlns:a16="http://schemas.microsoft.com/office/drawing/2014/main" val="315612181"/>
                    </a:ext>
                  </a:extLst>
                </a:gridCol>
                <a:gridCol w="1544955">
                  <a:extLst>
                    <a:ext uri="{9D8B030D-6E8A-4147-A177-3AD203B41FA5}">
                      <a16:colId xmlns:a16="http://schemas.microsoft.com/office/drawing/2014/main" val="2252559156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872284187"/>
                    </a:ext>
                  </a:extLst>
                </a:gridCol>
                <a:gridCol w="2314892">
                  <a:extLst>
                    <a:ext uri="{9D8B030D-6E8A-4147-A177-3AD203B41FA5}">
                      <a16:colId xmlns:a16="http://schemas.microsoft.com/office/drawing/2014/main" val="3386679022"/>
                    </a:ext>
                  </a:extLst>
                </a:gridCol>
              </a:tblGrid>
              <a:tr h="19772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spc="-50" dirty="0"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spc="-50" dirty="0"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필요 직무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spc="-50" dirty="0"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 주제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spc="-50" dirty="0"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개발방향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677199"/>
                  </a:ext>
                </a:extLst>
              </a:tr>
              <a:tr h="345490">
                <a:tc rowSpan="4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플라스틱</a:t>
                      </a:r>
                      <a:endParaRPr lang="en-US" altLang="ko-KR" sz="105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기능성 제품 설계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응용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 설계 및 응용을 위한 다양한 실무 스킬 및 최신 사례</a:t>
                      </a:r>
                      <a:r>
                        <a:rPr kumimoji="0" lang="en-US" altLang="ko-KR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(</a:t>
                      </a:r>
                      <a:r>
                        <a:rPr kumimoji="0" lang="ko-KR" altLang="en-US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예</a:t>
                      </a:r>
                      <a:r>
                        <a:rPr kumimoji="0" lang="en-US" altLang="ko-KR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3D </a:t>
                      </a:r>
                      <a:r>
                        <a:rPr kumimoji="0" lang="ko-KR" altLang="en-US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프린팅 활용한 시제품 제작</a:t>
                      </a:r>
                      <a:r>
                        <a:rPr kumimoji="0" lang="en-US" altLang="ko-KR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</a:t>
                      </a:r>
                      <a:endParaRPr kumimoji="0" lang="en-US" altLang="ko-KR" sz="1050" b="0" i="0" u="none" strike="noStrike" kern="1200" cap="none" spc="-50" normalizeH="0" baseline="0" noProof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실습형 과정이 필요하므로 장비 확충 가능 여부 검토 필요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506922"/>
                  </a:ext>
                </a:extLst>
              </a:tr>
              <a:tr h="345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성형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소개 가공 기술 실무 교육</a:t>
                      </a:r>
                      <a:r>
                        <a:rPr kumimoji="0" lang="en-US" altLang="ko-KR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: </a:t>
                      </a:r>
                      <a:r>
                        <a:rPr kumimoji="0" lang="ko-KR" altLang="en-US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사출</a:t>
                      </a:r>
                      <a:r>
                        <a:rPr kumimoji="0" lang="en-US" altLang="ko-KR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압출</a:t>
                      </a:r>
                      <a:r>
                        <a:rPr kumimoji="0" lang="en-US" altLang="ko-KR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noProof="0" dirty="0" err="1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블로우</a:t>
                      </a:r>
                      <a:r>
                        <a:rPr kumimoji="0" lang="en-US" altLang="ko-KR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진공 등</a:t>
                      </a:r>
                      <a:endParaRPr kumimoji="0" lang="en-US" altLang="ko-KR" sz="1050" b="0" i="0" u="none" strike="noStrike" kern="1200" cap="none" spc="-50" normalizeH="0" baseline="0" noProof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기업 수요를 파악하여 기술별 단일 과정으로 개발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754088"/>
                  </a:ext>
                </a:extLst>
              </a:tr>
              <a:tr h="4801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제품 사업 기획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시장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동향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예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.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빠르게 성장 중인 중국 시장 동향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및 성공 사례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국제 규제 동향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예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.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유럽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PPWR,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해양 </a:t>
                      </a:r>
                      <a:r>
                        <a:rPr kumimoji="0" lang="ko-KR" altLang="en-US" sz="1050" b="0" i="0" u="none" strike="noStrike" kern="1200" cap="none" spc="-50" normalizeH="0" baseline="0" dirty="0" err="1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생분해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등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에 따른 대응전략 사례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‘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제품화 기본 전략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’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개편을 통한 교과목 추가 또는 기존 교안 업데이트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730856"/>
                  </a:ext>
                </a:extLst>
              </a:tr>
              <a:tr h="4801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제품 규제 및 품질 대응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시험인증 뿐만 아니라 국제 규제에 대응할 수 있도록 전략적 접근 필요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‘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제품화 기본 전략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’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또는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‘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생분해성 수지 제품 시험 인증 실무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’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과정 </a:t>
                      </a:r>
                      <a:r>
                        <a:rPr kumimoji="0" lang="ko-KR" altLang="en-US" sz="1050" b="0" i="0" u="none" strike="noStrike" kern="1200" cap="none" spc="-50" normalizeH="0" baseline="0" dirty="0" err="1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개편시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반영 검토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57866"/>
                  </a:ext>
                </a:extLst>
              </a:tr>
              <a:tr h="345490">
                <a:tc rowSpan="3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</a:t>
                      </a:r>
                      <a:endParaRPr lang="en-US" altLang="ko-KR" sz="105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스마트 의료기기 성능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임상평가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임상평가 관련 교육 필요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임상평가 전 과정 기획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AI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평가 설계 등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강사 확보가 선행되어야 하며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에 신규 과정 개발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49203"/>
                  </a:ext>
                </a:extLst>
              </a:tr>
              <a:tr h="345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소프트웨어 검증</a:t>
                      </a:r>
                      <a:r>
                        <a:rPr lang="en-US" altLang="ko-KR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5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밸리데이션</a:t>
                      </a:r>
                      <a:endParaRPr lang="ko-KR" altLang="en-US" sz="105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ISO 62304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SW </a:t>
                      </a:r>
                      <a:r>
                        <a:rPr kumimoji="0" lang="ko-KR" altLang="en-US" sz="1050" b="0" i="0" u="none" strike="noStrike" kern="1200" cap="none" spc="-50" normalizeH="0" baseline="0" dirty="0" err="1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밸리데이션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교육 필요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.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표준 이해 → 문서화 실습 → 실사용증거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구축 등 심화 과정으로 단계적 접근 가능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강사 확보가 선행되어야 하며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이후 기업 수요에 따라 단계별 과정으로 개발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762892"/>
                  </a:ext>
                </a:extLst>
              </a:tr>
              <a:tr h="6402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패키징 설계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포장재 전환 전략 수립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원가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안전성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영향 종합 평가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환경규제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및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시장 트렌드 분석</a:t>
                      </a:r>
                    </a:p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요소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포장재 등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를 접목시킨 제품을 운송할 때 제품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Life Cycle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에 영향 받지 않도록 패키징을 단순화하거나 관리할 수 있는 능력 필요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산업이 친환경화에 보수적으로 대응하는 만큼 기업 수요 확인 후 개발이 필수적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593103"/>
                  </a:ext>
                </a:extLst>
              </a:tr>
              <a:tr h="345490">
                <a:tc rowSpan="3">
                  <a:txBody>
                    <a:bodyPr/>
                    <a:lstStyle/>
                    <a:p>
                      <a:pPr marL="0" lvl="1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화장품</a:t>
                      </a:r>
                      <a:endParaRPr lang="en-US" altLang="ko-KR" sz="1050" kern="1200" spc="-5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위탁생산 관리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기획한 친환경 화장품을 생산하기 위해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ODM/OEM </a:t>
                      </a:r>
                      <a:r>
                        <a:rPr kumimoji="0" lang="ko-KR" altLang="en-US" sz="1050" b="0" i="0" u="none" strike="noStrike" kern="1200" cap="none" spc="-50" normalizeH="0" baseline="0" dirty="0" err="1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선정시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고려사항 뿐만 아니라 기술 및 규제 관점에서 조율할 수 있는 교육 필요</a:t>
                      </a:r>
                      <a:endParaRPr kumimoji="0" lang="en-US" altLang="ko-KR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  환경성과 제조사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역량을 구분하여 평가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협업할 수 있는 교육 구성 필요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185355"/>
                  </a:ext>
                </a:extLst>
              </a:tr>
              <a:tr h="345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환경 평가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 측면과 사업장 측면에서의 환경평가 교육이 별도 필요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 측면은 용기의 탈플라스틱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포장재 사용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 err="1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클린뷰티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등이라면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사업장 측면은 </a:t>
                      </a:r>
                      <a:r>
                        <a:rPr kumimoji="0" lang="ko-KR" altLang="en-US" sz="1050" b="0" i="0" u="none" strike="noStrike" kern="1200" cap="none" spc="-50" normalizeH="0" baseline="0" dirty="0" err="1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에코바디스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en-US" altLang="ko-KR" sz="1050" b="0" i="0" u="none" strike="noStrike" kern="1200" cap="none" spc="-50" normalizeH="0" baseline="0" dirty="0" err="1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EcoVadis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탄소정보공개 프로젝트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(CDP)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 기준 충족 필요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 관련 교육과 사업장 측면 환경 관리 교육 분리하여 개발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534648"/>
                  </a:ext>
                </a:extLst>
              </a:tr>
              <a:tr h="345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kern="1200" spc="-5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기획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개발 전략 수립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기획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수출국별 규제 동향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수출 절차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  <a:p>
                      <a:pPr marL="182563" marR="0" lvl="1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전문업체 정보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원가관리 방법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성공사례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등에 대한 교육 필요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endParaRPr kumimoji="0" lang="ko-KR" altLang="en-US" sz="1050" b="0" i="0" u="none" strike="noStrike" kern="1200" cap="none" spc="-50" normalizeH="0" baseline="0" dirty="0">
                        <a:ln>
                          <a:solidFill>
                            <a:srgbClr val="4472C4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1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‘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브랜딩 기본 실무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’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심화 과정으로 설계</a:t>
                      </a:r>
                      <a:r>
                        <a:rPr kumimoji="0" lang="en-US" altLang="ko-KR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. </a:t>
                      </a:r>
                      <a:r>
                        <a:rPr kumimoji="0" lang="ko-KR" altLang="en-US" sz="1050" b="0" i="0" u="none" strike="noStrike" kern="1200" cap="none" spc="-50" normalizeH="0" baseline="0" dirty="0">
                          <a:ln>
                            <a:solidFill>
                              <a:srgbClr val="4472C4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다만 강사 섭외 선행 필요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86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206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E3CD3-DAF4-E57B-B41C-E41263D7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ED7267-78D0-EE4D-15FB-932679E8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00691" y="6492878"/>
            <a:ext cx="504619" cy="326997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r>
              <a:rPr kumimoji="0" lang="ko-KR" altLang="en-US" sz="813" b="0" i="0" u="none" strike="noStrike" kern="120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347F3D-6E6E-A1F8-71C1-36EF1AF57769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Ⅱ.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용역 추진 결과 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E03235B1-EC80-72E7-9CA1-75D895BEC319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신규 교육 주제를 </a:t>
            </a:r>
            <a:r>
              <a:rPr lang="ko-KR" altLang="en-US" sz="1700" spc="-5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교육로드맵에</a:t>
            </a:r>
            <a:r>
              <a:rPr lang="ko-KR" altLang="en-US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반영한 결과는 다음과 같습니다</a:t>
            </a:r>
            <a:r>
              <a:rPr lang="en-US" altLang="ko-KR" sz="17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37966-B2CC-248C-5870-6EE89553A929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74EC28-11B2-08E2-1B5C-88590B525A96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201575F7-E100-8449-5FEC-A5AFA90A33DB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255CF5-F1B5-37AF-3A1A-906280540C69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en-US" altLang="ko-KR" dirty="0"/>
                <a:t>Module 4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114C47-770F-6812-8F28-E203A6F90FAB}"/>
              </a:ext>
            </a:extLst>
          </p:cNvPr>
          <p:cNvSpPr/>
          <p:nvPr/>
        </p:nvSpPr>
        <p:spPr>
          <a:xfrm>
            <a:off x="1513166" y="253829"/>
            <a:ext cx="464633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 12.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신규 교육주제 도출</a:t>
            </a: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9D233829-8736-8756-1B92-6CC8B89419AA}"/>
              </a:ext>
            </a:extLst>
          </p:cNvPr>
          <p:cNvSpPr/>
          <p:nvPr/>
        </p:nvSpPr>
        <p:spPr>
          <a:xfrm>
            <a:off x="354012" y="1493371"/>
            <a:ext cx="3303588" cy="314074"/>
          </a:xfrm>
          <a:prstGeom prst="snip1Rect">
            <a:avLst>
              <a:gd name="adj" fmla="val 25536"/>
            </a:avLst>
          </a:prstGeom>
        </p:spPr>
        <p:txBody>
          <a:bodyPr vert="horz" lIns="91440" tIns="45720" rIns="91440" bIns="45720" rtlCol="0" anchor="t"/>
          <a:lstStyle/>
          <a:p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신규 교육주제 로드맵 반영</a:t>
            </a:r>
            <a:r>
              <a:rPr lang="en-US" altLang="ko-KR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결과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B7FAB83-C7A1-1D9F-92AD-5AED4D6F1FA7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0A329E43-28A8-0BD8-4096-3E5842169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46901"/>
              </p:ext>
            </p:extLst>
          </p:nvPr>
        </p:nvGraphicFramePr>
        <p:xfrm>
          <a:off x="354012" y="2024062"/>
          <a:ext cx="9204527" cy="4357689"/>
        </p:xfrm>
        <a:graphic>
          <a:graphicData uri="http://schemas.openxmlformats.org/drawingml/2006/table">
            <a:tbl>
              <a:tblPr firstRow="1" bandRow="1"/>
              <a:tblGrid>
                <a:gridCol w="382987">
                  <a:extLst>
                    <a:ext uri="{9D8B030D-6E8A-4147-A177-3AD203B41FA5}">
                      <a16:colId xmlns:a16="http://schemas.microsoft.com/office/drawing/2014/main" val="3482716306"/>
                    </a:ext>
                  </a:extLst>
                </a:gridCol>
                <a:gridCol w="929876">
                  <a:extLst>
                    <a:ext uri="{9D8B030D-6E8A-4147-A177-3AD203B41FA5}">
                      <a16:colId xmlns:a16="http://schemas.microsoft.com/office/drawing/2014/main" val="2189819658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812001947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48077521"/>
                    </a:ext>
                  </a:extLst>
                </a:gridCol>
                <a:gridCol w="171450">
                  <a:extLst>
                    <a:ext uri="{9D8B030D-6E8A-4147-A177-3AD203B41FA5}">
                      <a16:colId xmlns:a16="http://schemas.microsoft.com/office/drawing/2014/main" val="1580051063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3086776824"/>
                    </a:ext>
                  </a:extLst>
                </a:gridCol>
                <a:gridCol w="167264">
                  <a:extLst>
                    <a:ext uri="{9D8B030D-6E8A-4147-A177-3AD203B41FA5}">
                      <a16:colId xmlns:a16="http://schemas.microsoft.com/office/drawing/2014/main" val="49220003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57674983"/>
                    </a:ext>
                  </a:extLst>
                </a:gridCol>
              </a:tblGrid>
              <a:tr h="240135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산업전환 진행단계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050" kern="0" spc="-4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Lv1 </a:t>
                      </a:r>
                      <a:r>
                        <a:rPr lang="ko-KR" altLang="en-US" sz="1050" kern="0" spc="-4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선제대응단계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050" kern="0" spc="-40" dirty="0" err="1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Lv</a:t>
                      </a:r>
                      <a:r>
                        <a:rPr lang="en-US" altLang="ko-KR" sz="1050" kern="0" spc="-4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2 </a:t>
                      </a:r>
                      <a:r>
                        <a:rPr lang="ko-KR" altLang="en-US" sz="1050" kern="0" spc="-4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전환단계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050" kern="0" spc="-4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Lv3 </a:t>
                      </a:r>
                      <a:r>
                        <a:rPr lang="ko-KR" altLang="en-US" sz="1050" kern="0" spc="-4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정착단계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994007"/>
                  </a:ext>
                </a:extLst>
              </a:tr>
              <a:tr h="714113">
                <a:tc rowSpan="1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산업 </a:t>
                      </a:r>
                      <a:endParaRPr lang="en-US" altLang="ko-KR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특화</a:t>
                      </a:r>
                      <a:endParaRPr lang="en-US" altLang="ko-KR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 플라스틱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 플라스틱 </a:t>
                      </a:r>
                      <a:r>
                        <a:rPr lang="en-US" altLang="ko-KR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R&amp;D</a:t>
                      </a:r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en-US" altLang="ko-KR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013065"/>
                  </a:ext>
                </a:extLst>
              </a:tr>
              <a:tr h="37584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 플라스틱 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987252"/>
                  </a:ext>
                </a:extLst>
              </a:tr>
              <a:tr h="33826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플라스틱 재활용</a:t>
                      </a:r>
                      <a:endParaRPr lang="ko-KR" altLang="en-US" sz="16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재생 플라스틱 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663718"/>
                  </a:ext>
                </a:extLst>
              </a:tr>
              <a:tr h="673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5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6634"/>
                  </a:ext>
                </a:extLst>
              </a:tr>
              <a:tr h="3006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의료기기</a:t>
                      </a:r>
                      <a:endParaRPr lang="ko-KR" altLang="en-US" sz="16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의료기기 </a:t>
                      </a:r>
                      <a:r>
                        <a:rPr lang="en-US" altLang="ko-KR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R&amp;D</a:t>
                      </a:r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35934"/>
                  </a:ext>
                </a:extLst>
              </a:tr>
              <a:tr h="3006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의료기기 규제 및 품질 인증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596651"/>
                  </a:ext>
                </a:extLst>
              </a:tr>
              <a:tr h="673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5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674779"/>
                  </a:ext>
                </a:extLst>
              </a:tr>
              <a:tr h="26309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화장품</a:t>
                      </a:r>
                      <a:endParaRPr lang="ko-KR" altLang="en-US" sz="16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친환경 화장품 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483676"/>
                  </a:ext>
                </a:extLst>
              </a:tr>
              <a:tr h="26309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0" spc="-40" dirty="0" err="1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클린뷰티</a:t>
                      </a:r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규제 및 품질 인증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350615"/>
                  </a:ext>
                </a:extLst>
              </a:tr>
              <a:tr h="26309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 err="1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클린뷰티</a:t>
                      </a:r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R&amp;D</a:t>
                      </a:r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00615"/>
                  </a:ext>
                </a:extLst>
              </a:tr>
              <a:tr h="673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176935"/>
                  </a:ext>
                </a:extLst>
              </a:tr>
              <a:tr h="26309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정밀화학</a:t>
                      </a:r>
                      <a:endParaRPr lang="ko-KR" altLang="en-US" sz="16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규제 및 품질 인증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135220"/>
                  </a:ext>
                </a:extLst>
              </a:tr>
              <a:tr h="673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651600"/>
                  </a:ext>
                </a:extLst>
              </a:tr>
              <a:tr h="255442">
                <a:tc rowSpan="3"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실무 공통 과정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환경 경영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51683"/>
                  </a:ext>
                </a:extLst>
              </a:tr>
              <a:tr h="255442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317564"/>
                  </a:ext>
                </a:extLst>
              </a:tr>
              <a:tr h="255442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100" kern="0" spc="-4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1050" kern="0" spc="-4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경영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2B93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40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50" kern="0" spc="-4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A72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08711"/>
                  </a:ext>
                </a:extLst>
              </a:tr>
            </a:tbl>
          </a:graphicData>
        </a:graphic>
      </p:graphicFrame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3AAEA45-5B2F-E091-526A-3DCBD94314C9}"/>
              </a:ext>
            </a:extLst>
          </p:cNvPr>
          <p:cNvSpPr/>
          <p:nvPr/>
        </p:nvSpPr>
        <p:spPr>
          <a:xfrm>
            <a:off x="3210699" y="2499151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친환경 소재 제품화 기본 전략 </a:t>
            </a: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개편</a:t>
            </a: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000" kern="0" spc="-50" dirty="0">
              <a:solidFill>
                <a:srgbClr val="FF660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26F0F91-0AF2-ACB2-C9DD-DC02D5831614}"/>
              </a:ext>
            </a:extLst>
          </p:cNvPr>
          <p:cNvSpPr/>
          <p:nvPr/>
        </p:nvSpPr>
        <p:spPr>
          <a:xfrm>
            <a:off x="5393643" y="2319153"/>
            <a:ext cx="1944000" cy="25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4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바이오화학</a:t>
            </a:r>
            <a:r>
              <a:rPr kumimoji="0" lang="ko-KR" altLang="en-US" sz="1000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R&amp;D </a:t>
            </a:r>
            <a:r>
              <a:rPr kumimoji="0" lang="ko-KR" altLang="en-US" sz="1000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관리 실무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7E45007-3DA5-3355-7147-992739863D56}"/>
              </a:ext>
            </a:extLst>
          </p:cNvPr>
          <p:cNvSpPr/>
          <p:nvPr/>
        </p:nvSpPr>
        <p:spPr>
          <a:xfrm>
            <a:off x="7582821" y="2319153"/>
            <a:ext cx="1944000" cy="25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생분해성 수지 제품 시험 인증 실무</a:t>
            </a:r>
            <a:endParaRPr kumimoji="0" lang="en-US" altLang="ko-KR" sz="10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48BDBA3-9791-65C0-2581-E7CC3AB67FDA}"/>
              </a:ext>
            </a:extLst>
          </p:cNvPr>
          <p:cNvSpPr/>
          <p:nvPr/>
        </p:nvSpPr>
        <p:spPr>
          <a:xfrm>
            <a:off x="7582821" y="2629043"/>
            <a:ext cx="1944000" cy="28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>
              <a:lnSpc>
                <a:spcPct val="80000"/>
              </a:lnSpc>
            </a:pPr>
            <a:r>
              <a:rPr lang="ko-KR" altLang="en-US" sz="1000" kern="0" spc="-50" dirty="0" err="1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바이오플라스틱</a:t>
            </a:r>
            <a:r>
              <a:rPr lang="en-US" altLang="ko-KR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/</a:t>
            </a:r>
            <a:r>
              <a:rPr lang="ko-KR" altLang="en-US" sz="1000" kern="0" spc="-50" dirty="0" err="1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엘라스토머</a:t>
            </a: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 제품 </a:t>
            </a:r>
            <a:endParaRPr lang="en-US" altLang="ko-KR" sz="1000" kern="0" spc="-5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 defTabSz="914400" fontAlgn="base">
              <a:lnSpc>
                <a:spcPct val="80000"/>
              </a:lnSpc>
            </a:pP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분석 실무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D2AA461-480F-138A-06EC-F1499DFE2C93}"/>
              </a:ext>
            </a:extLst>
          </p:cNvPr>
          <p:cNvSpPr/>
          <p:nvPr/>
        </p:nvSpPr>
        <p:spPr>
          <a:xfrm>
            <a:off x="3210699" y="2993729"/>
            <a:ext cx="1944000" cy="15339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바이오 플라스틱 사출성형 이해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30FFB6E-5EB6-2EDB-3B9C-615B2B379758}"/>
              </a:ext>
            </a:extLst>
          </p:cNvPr>
          <p:cNvSpPr/>
          <p:nvPr/>
        </p:nvSpPr>
        <p:spPr>
          <a:xfrm>
            <a:off x="5393643" y="3018220"/>
            <a:ext cx="1944000" cy="28600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>
              <a:lnSpc>
                <a:spcPct val="90000"/>
              </a:lnSpc>
            </a:pP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재활용 및 </a:t>
            </a:r>
            <a:r>
              <a:rPr lang="ko-KR" altLang="en-US" sz="1000" kern="0" spc="-50" dirty="0" err="1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생분해</a:t>
            </a:r>
            <a:r>
              <a:rPr lang="en-US" altLang="ko-KR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바이오</a:t>
            </a:r>
            <a:r>
              <a:rPr lang="en-US" altLang="ko-KR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플라스틱 제품의 스마트 생산관리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BD8C7E79-7D6C-55E1-E981-6DC100B40F53}"/>
              </a:ext>
            </a:extLst>
          </p:cNvPr>
          <p:cNvSpPr/>
          <p:nvPr/>
        </p:nvSpPr>
        <p:spPr>
          <a:xfrm>
            <a:off x="3210699" y="3419969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순환경제와 폐플라스틱 재생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DF450047-0316-9798-902A-9AC7D5E8F68B}"/>
              </a:ext>
            </a:extLst>
          </p:cNvPr>
          <p:cNvSpPr/>
          <p:nvPr/>
        </p:nvSpPr>
        <p:spPr>
          <a:xfrm>
            <a:off x="5393643" y="3398537"/>
            <a:ext cx="1944000" cy="252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플라스틱 재활용 산업 및 인증 실무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5DEE560-ACA2-C58F-C2E5-FD2E613DB9E2}"/>
              </a:ext>
            </a:extLst>
          </p:cNvPr>
          <p:cNvSpPr/>
          <p:nvPr/>
        </p:nvSpPr>
        <p:spPr>
          <a:xfrm>
            <a:off x="3210699" y="4087444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친환경 의료기기 사이버 보안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B1F7E323-724E-9BAD-A2B6-7B54316B240F}"/>
              </a:ext>
            </a:extLst>
          </p:cNvPr>
          <p:cNvSpPr/>
          <p:nvPr/>
        </p:nvSpPr>
        <p:spPr>
          <a:xfrm>
            <a:off x="5393643" y="3781426"/>
            <a:ext cx="1944000" cy="2561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친환경 소재를 활용한 의료기기 인증과 기술문서 작성 실무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5202E97D-D8AE-C5CD-A5B6-80FA070A21DC}"/>
              </a:ext>
            </a:extLst>
          </p:cNvPr>
          <p:cNvSpPr/>
          <p:nvPr/>
        </p:nvSpPr>
        <p:spPr>
          <a:xfrm>
            <a:off x="3210699" y="4456834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친환경 화장품 브랜딩 기본 실무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DFD6F230-F4DE-C273-08F7-CECE05DCCEDB}"/>
              </a:ext>
            </a:extLst>
          </p:cNvPr>
          <p:cNvSpPr/>
          <p:nvPr/>
        </p:nvSpPr>
        <p:spPr>
          <a:xfrm>
            <a:off x="5393643" y="4709045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클린뷰티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 화장품 기술 및 인증 실무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40D05153-D0BF-8A95-5626-87BA63621DC0}"/>
              </a:ext>
            </a:extLst>
          </p:cNvPr>
          <p:cNvSpPr/>
          <p:nvPr/>
        </p:nvSpPr>
        <p:spPr>
          <a:xfrm>
            <a:off x="7582821" y="4713168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클린뷰티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 화장품 안정성 평가 심화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07BB7D26-FDD7-DC7A-B53A-295BD342E4AA}"/>
              </a:ext>
            </a:extLst>
          </p:cNvPr>
          <p:cNvSpPr/>
          <p:nvPr/>
        </p:nvSpPr>
        <p:spPr>
          <a:xfrm>
            <a:off x="7582821" y="4955426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>
              <a:lnSpc>
                <a:spcPct val="90000"/>
              </a:lnSpc>
            </a:pPr>
            <a:r>
              <a:rPr lang="ko-KR" altLang="en-US" sz="1000" kern="0" spc="-50" dirty="0" err="1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클린화장품</a:t>
            </a: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 특화 탄소발자국 보고서 실무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83CE5F53-9B82-34E0-44FA-481E287DB8F0}"/>
              </a:ext>
            </a:extLst>
          </p:cNvPr>
          <p:cNvSpPr/>
          <p:nvPr/>
        </p:nvSpPr>
        <p:spPr>
          <a:xfrm>
            <a:off x="5393643" y="5310445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화학물질</a:t>
            </a:r>
            <a:r>
              <a:rPr kumimoji="0" lang="en-US" altLang="ko-KR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화학제품 규제대응 실무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470BB254-57EE-2020-F9E4-43C6AE702001}"/>
              </a:ext>
            </a:extLst>
          </p:cNvPr>
          <p:cNvSpPr/>
          <p:nvPr/>
        </p:nvSpPr>
        <p:spPr>
          <a:xfrm>
            <a:off x="7582821" y="5290645"/>
            <a:ext cx="1944000" cy="2556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>
              <a:lnSpc>
                <a:spcPct val="80000"/>
              </a:lnSpc>
            </a:pP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환경규제물질 규제대응을 위한</a:t>
            </a:r>
            <a:endParaRPr lang="en-US" altLang="ko-KR" sz="1000" kern="0" spc="-5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 defTabSz="914400" fontAlgn="base">
              <a:lnSpc>
                <a:spcPct val="80000"/>
              </a:lnSpc>
            </a:pP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ICP </a:t>
            </a: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활용 무기분석 실무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DE25C46-AC04-5223-C5C5-D550B8853AAC}"/>
              </a:ext>
            </a:extLst>
          </p:cNvPr>
          <p:cNvSpPr/>
          <p:nvPr/>
        </p:nvSpPr>
        <p:spPr>
          <a:xfrm>
            <a:off x="3210699" y="5863066"/>
            <a:ext cx="1944000" cy="28600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>
              <a:lnSpc>
                <a:spcPct val="80000"/>
              </a:lnSpc>
            </a:pP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기업 </a:t>
            </a:r>
            <a:r>
              <a:rPr lang="ko-KR" altLang="en-US" sz="1000" kern="0" spc="-50" dirty="0" err="1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저탄소경영을</a:t>
            </a:r>
            <a:r>
              <a:rPr lang="ko-KR" altLang="en-US" sz="1000" kern="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 위한 친환경제도 이해하기 과정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6CA4170D-D554-C36E-66BA-F4B24EA70492}"/>
              </a:ext>
            </a:extLst>
          </p:cNvPr>
          <p:cNvSpPr/>
          <p:nvPr/>
        </p:nvSpPr>
        <p:spPr>
          <a:xfrm>
            <a:off x="5393643" y="5898066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화학산업 </a:t>
            </a:r>
            <a:r>
              <a:rPr kumimoji="0" lang="en-US" altLang="ko-KR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Scope 3 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배출량 산정 실무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D0A65C80-EBFC-5D21-0C36-E58163BBA964}"/>
              </a:ext>
            </a:extLst>
          </p:cNvPr>
          <p:cNvSpPr/>
          <p:nvPr/>
        </p:nvSpPr>
        <p:spPr>
          <a:xfrm>
            <a:off x="5393643" y="5648831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바이오화학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LCA 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기본 실무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AF3AD9AF-A15B-6FFE-8781-DDFCF9BED0D1}"/>
              </a:ext>
            </a:extLst>
          </p:cNvPr>
          <p:cNvSpPr/>
          <p:nvPr/>
        </p:nvSpPr>
        <p:spPr>
          <a:xfrm>
            <a:off x="5393643" y="6145869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ESG 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지속가능 경영 실무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280E446-52C4-6E26-F428-A922633B411F}"/>
              </a:ext>
            </a:extLst>
          </p:cNvPr>
          <p:cNvSpPr/>
          <p:nvPr/>
        </p:nvSpPr>
        <p:spPr>
          <a:xfrm>
            <a:off x="7582821" y="6153013"/>
            <a:ext cx="1944000" cy="21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344532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ESG </a:t>
            </a:r>
            <a:r>
              <a:rPr kumimoji="0" lang="ko-KR" altLang="en-US" sz="1000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경영 데이터관리 실무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8548F6C9-A21D-6FC5-5E6B-863400B8E9EA}"/>
              </a:ext>
            </a:extLst>
          </p:cNvPr>
          <p:cNvGrpSpPr/>
          <p:nvPr/>
        </p:nvGrpSpPr>
        <p:grpSpPr>
          <a:xfrm>
            <a:off x="5229731" y="2071481"/>
            <a:ext cx="2275968" cy="137277"/>
            <a:chOff x="6079334" y="177910"/>
            <a:chExt cx="1888440" cy="137277"/>
          </a:xfrm>
        </p:grpSpPr>
        <p:sp>
          <p:nvSpPr>
            <p:cNvPr id="141" name="이등변 삼각형 140">
              <a:extLst>
                <a:ext uri="{FF2B5EF4-FFF2-40B4-BE49-F238E27FC236}">
                  <a16:creationId xmlns:a16="http://schemas.microsoft.com/office/drawing/2014/main" id="{2AA73C67-6660-E67B-E653-8FB28FDAEB5B}"/>
                </a:ext>
              </a:extLst>
            </p:cNvPr>
            <p:cNvSpPr/>
            <p:nvPr/>
          </p:nvSpPr>
          <p:spPr>
            <a:xfrm rot="5400000">
              <a:off x="6054087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2" name="이등변 삼각형 141">
              <a:extLst>
                <a:ext uri="{FF2B5EF4-FFF2-40B4-BE49-F238E27FC236}">
                  <a16:creationId xmlns:a16="http://schemas.microsoft.com/office/drawing/2014/main" id="{927C5DC8-6DF6-0B89-8F5E-8E7423344401}"/>
                </a:ext>
              </a:extLst>
            </p:cNvPr>
            <p:cNvSpPr/>
            <p:nvPr/>
          </p:nvSpPr>
          <p:spPr>
            <a:xfrm rot="5400000">
              <a:off x="7855744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24B41320-B67D-3B3A-F0EB-6E59BFCA1F30}"/>
              </a:ext>
            </a:extLst>
          </p:cNvPr>
          <p:cNvGrpSpPr/>
          <p:nvPr/>
        </p:nvGrpSpPr>
        <p:grpSpPr>
          <a:xfrm>
            <a:off x="5229731" y="2889108"/>
            <a:ext cx="2275970" cy="137277"/>
            <a:chOff x="6079334" y="177910"/>
            <a:chExt cx="1888440" cy="137277"/>
          </a:xfrm>
        </p:grpSpPr>
        <p:sp>
          <p:nvSpPr>
            <p:cNvPr id="144" name="이등변 삼각형 143">
              <a:extLst>
                <a:ext uri="{FF2B5EF4-FFF2-40B4-BE49-F238E27FC236}">
                  <a16:creationId xmlns:a16="http://schemas.microsoft.com/office/drawing/2014/main" id="{9BD16307-2D75-9B9F-A4F8-5B3BCA532810}"/>
                </a:ext>
              </a:extLst>
            </p:cNvPr>
            <p:cNvSpPr/>
            <p:nvPr/>
          </p:nvSpPr>
          <p:spPr>
            <a:xfrm rot="5400000">
              <a:off x="6054087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5" name="이등변 삼각형 144">
              <a:extLst>
                <a:ext uri="{FF2B5EF4-FFF2-40B4-BE49-F238E27FC236}">
                  <a16:creationId xmlns:a16="http://schemas.microsoft.com/office/drawing/2014/main" id="{F2099CA9-6200-FA9E-59EF-7A18994F8A6D}"/>
                </a:ext>
              </a:extLst>
            </p:cNvPr>
            <p:cNvSpPr/>
            <p:nvPr/>
          </p:nvSpPr>
          <p:spPr>
            <a:xfrm rot="5400000">
              <a:off x="7855744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7378F78-A547-3071-8B0A-03180F57BE53}"/>
              </a:ext>
            </a:extLst>
          </p:cNvPr>
          <p:cNvGrpSpPr/>
          <p:nvPr/>
        </p:nvGrpSpPr>
        <p:grpSpPr>
          <a:xfrm>
            <a:off x="5229731" y="3916091"/>
            <a:ext cx="2275970" cy="137277"/>
            <a:chOff x="6079334" y="177910"/>
            <a:chExt cx="1888440" cy="137277"/>
          </a:xfrm>
        </p:grpSpPr>
        <p:sp>
          <p:nvSpPr>
            <p:cNvPr id="160" name="이등변 삼각형 159">
              <a:extLst>
                <a:ext uri="{FF2B5EF4-FFF2-40B4-BE49-F238E27FC236}">
                  <a16:creationId xmlns:a16="http://schemas.microsoft.com/office/drawing/2014/main" id="{38EB9AB4-D5FD-2431-9D7C-3020D486FC0D}"/>
                </a:ext>
              </a:extLst>
            </p:cNvPr>
            <p:cNvSpPr/>
            <p:nvPr/>
          </p:nvSpPr>
          <p:spPr>
            <a:xfrm rot="5400000">
              <a:off x="6054087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1" name="이등변 삼각형 160">
              <a:extLst>
                <a:ext uri="{FF2B5EF4-FFF2-40B4-BE49-F238E27FC236}">
                  <a16:creationId xmlns:a16="http://schemas.microsoft.com/office/drawing/2014/main" id="{9F459936-24DA-4859-8E7C-FFEE7592DC24}"/>
                </a:ext>
              </a:extLst>
            </p:cNvPr>
            <p:cNvSpPr/>
            <p:nvPr/>
          </p:nvSpPr>
          <p:spPr>
            <a:xfrm rot="5400000">
              <a:off x="7855744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41155090-9F25-0B0B-2212-54BB34A91E34}"/>
              </a:ext>
            </a:extLst>
          </p:cNvPr>
          <p:cNvGrpSpPr/>
          <p:nvPr/>
        </p:nvGrpSpPr>
        <p:grpSpPr>
          <a:xfrm>
            <a:off x="5229731" y="4741462"/>
            <a:ext cx="2275970" cy="137277"/>
            <a:chOff x="6079334" y="177910"/>
            <a:chExt cx="1888440" cy="137277"/>
          </a:xfrm>
        </p:grpSpPr>
        <p:sp>
          <p:nvSpPr>
            <p:cNvPr id="163" name="이등변 삼각형 162">
              <a:extLst>
                <a:ext uri="{FF2B5EF4-FFF2-40B4-BE49-F238E27FC236}">
                  <a16:creationId xmlns:a16="http://schemas.microsoft.com/office/drawing/2014/main" id="{EFBEBAE0-86E6-3B78-963C-C6B1C563323F}"/>
                </a:ext>
              </a:extLst>
            </p:cNvPr>
            <p:cNvSpPr/>
            <p:nvPr/>
          </p:nvSpPr>
          <p:spPr>
            <a:xfrm rot="5400000">
              <a:off x="6054087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4" name="이등변 삼각형 163">
              <a:extLst>
                <a:ext uri="{FF2B5EF4-FFF2-40B4-BE49-F238E27FC236}">
                  <a16:creationId xmlns:a16="http://schemas.microsoft.com/office/drawing/2014/main" id="{BBEA22D9-6951-D420-95F9-AFEEE2ACC4A8}"/>
                </a:ext>
              </a:extLst>
            </p:cNvPr>
            <p:cNvSpPr/>
            <p:nvPr/>
          </p:nvSpPr>
          <p:spPr>
            <a:xfrm rot="5400000">
              <a:off x="7855744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346AC96A-2FBF-EB20-F93F-EB090C2AF01F}"/>
              </a:ext>
            </a:extLst>
          </p:cNvPr>
          <p:cNvGrpSpPr/>
          <p:nvPr/>
        </p:nvGrpSpPr>
        <p:grpSpPr>
          <a:xfrm>
            <a:off x="5229731" y="5349807"/>
            <a:ext cx="2275970" cy="137277"/>
            <a:chOff x="6079334" y="177910"/>
            <a:chExt cx="1888440" cy="137277"/>
          </a:xfrm>
        </p:grpSpPr>
        <p:sp>
          <p:nvSpPr>
            <p:cNvPr id="166" name="이등변 삼각형 165">
              <a:extLst>
                <a:ext uri="{FF2B5EF4-FFF2-40B4-BE49-F238E27FC236}">
                  <a16:creationId xmlns:a16="http://schemas.microsoft.com/office/drawing/2014/main" id="{36B144FC-5A66-2C43-650F-3F367DAF10F7}"/>
                </a:ext>
              </a:extLst>
            </p:cNvPr>
            <p:cNvSpPr/>
            <p:nvPr/>
          </p:nvSpPr>
          <p:spPr>
            <a:xfrm rot="5400000">
              <a:off x="6054087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7" name="이등변 삼각형 166">
              <a:extLst>
                <a:ext uri="{FF2B5EF4-FFF2-40B4-BE49-F238E27FC236}">
                  <a16:creationId xmlns:a16="http://schemas.microsoft.com/office/drawing/2014/main" id="{DBAC6262-68FA-FDD3-8969-4E62058523C8}"/>
                </a:ext>
              </a:extLst>
            </p:cNvPr>
            <p:cNvSpPr/>
            <p:nvPr/>
          </p:nvSpPr>
          <p:spPr>
            <a:xfrm rot="5400000">
              <a:off x="7855744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23C17D02-8348-8C84-F787-717F5FCE10E3}"/>
              </a:ext>
            </a:extLst>
          </p:cNvPr>
          <p:cNvGrpSpPr/>
          <p:nvPr/>
        </p:nvGrpSpPr>
        <p:grpSpPr>
          <a:xfrm>
            <a:off x="5229731" y="5937428"/>
            <a:ext cx="2275970" cy="137277"/>
            <a:chOff x="6079334" y="177910"/>
            <a:chExt cx="1888440" cy="137277"/>
          </a:xfrm>
        </p:grpSpPr>
        <p:sp>
          <p:nvSpPr>
            <p:cNvPr id="169" name="이등변 삼각형 168">
              <a:extLst>
                <a:ext uri="{FF2B5EF4-FFF2-40B4-BE49-F238E27FC236}">
                  <a16:creationId xmlns:a16="http://schemas.microsoft.com/office/drawing/2014/main" id="{E50FBAF4-B0A0-5139-B33A-96B17CF52B80}"/>
                </a:ext>
              </a:extLst>
            </p:cNvPr>
            <p:cNvSpPr/>
            <p:nvPr/>
          </p:nvSpPr>
          <p:spPr>
            <a:xfrm rot="5400000">
              <a:off x="6054087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" name="이등변 삼각형 169">
              <a:extLst>
                <a:ext uri="{FF2B5EF4-FFF2-40B4-BE49-F238E27FC236}">
                  <a16:creationId xmlns:a16="http://schemas.microsoft.com/office/drawing/2014/main" id="{4559052A-77DC-D403-741E-47BDBE9B1933}"/>
                </a:ext>
              </a:extLst>
            </p:cNvPr>
            <p:cNvSpPr/>
            <p:nvPr/>
          </p:nvSpPr>
          <p:spPr>
            <a:xfrm rot="5400000">
              <a:off x="7855744" y="203157"/>
              <a:ext cx="137277" cy="86783"/>
            </a:xfrm>
            <a:prstGeom prst="triangle">
              <a:avLst/>
            </a:prstGeom>
            <a:solidFill>
              <a:srgbClr val="3445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6B516ADB-0258-2BA5-CEEA-227FC27E2CE3}"/>
              </a:ext>
            </a:extLst>
          </p:cNvPr>
          <p:cNvSpPr/>
          <p:nvPr/>
        </p:nvSpPr>
        <p:spPr>
          <a:xfrm>
            <a:off x="5393643" y="2629042"/>
            <a:ext cx="1944000" cy="294861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>
              <a:lnSpc>
                <a:spcPct val="80000"/>
              </a:lnSpc>
            </a:pP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3D </a:t>
            </a:r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프린팅 기술을 활용한 친환경 제품 설계</a:t>
            </a: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19D8D160-C10E-9A28-F982-5FBDEF6C1D56}"/>
              </a:ext>
            </a:extLst>
          </p:cNvPr>
          <p:cNvSpPr/>
          <p:nvPr/>
        </p:nvSpPr>
        <p:spPr>
          <a:xfrm>
            <a:off x="8389619" y="1650720"/>
            <a:ext cx="1137201" cy="180000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/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신규 교육과정</a:t>
            </a: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안</a:t>
            </a: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000" kern="0" spc="-50" dirty="0">
              <a:solidFill>
                <a:srgbClr val="FF660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D230ECAF-C159-A800-B4EF-36027F1968AB}"/>
              </a:ext>
            </a:extLst>
          </p:cNvPr>
          <p:cNvSpPr/>
          <p:nvPr/>
        </p:nvSpPr>
        <p:spPr>
          <a:xfrm>
            <a:off x="3210699" y="3175049"/>
            <a:ext cx="1944000" cy="153390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/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바이오 </a:t>
            </a:r>
            <a:r>
              <a:rPr lang="ko-KR" altLang="en-US" sz="1000" kern="0" spc="-5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플라스틱 </a:t>
            </a:r>
            <a:r>
              <a:rPr lang="en-US" altLang="ko-KR" sz="1000" kern="0" spc="-5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000" kern="0" spc="-5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○○</a:t>
            </a: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성형 이해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1CA853A0-CEB9-46E9-49AC-AF25B0F1B5AA}"/>
              </a:ext>
            </a:extLst>
          </p:cNvPr>
          <p:cNvSpPr/>
          <p:nvPr/>
        </p:nvSpPr>
        <p:spPr>
          <a:xfrm>
            <a:off x="5393643" y="4456834"/>
            <a:ext cx="1944000" cy="216000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/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친환경 화장품 </a:t>
            </a:r>
            <a:r>
              <a:rPr lang="ko-KR" altLang="en-US" sz="1000" kern="0" spc="-5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사업화 전략 수립</a:t>
            </a:r>
            <a:endParaRPr lang="ko-KR" altLang="en-US" sz="1000" kern="0" spc="-50" dirty="0">
              <a:solidFill>
                <a:srgbClr val="FF660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C9111D27-1717-5DE6-948A-FD7FA18CF7DD}"/>
              </a:ext>
            </a:extLst>
          </p:cNvPr>
          <p:cNvSpPr/>
          <p:nvPr/>
        </p:nvSpPr>
        <p:spPr>
          <a:xfrm>
            <a:off x="7576587" y="4456834"/>
            <a:ext cx="1944000" cy="216000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/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en-US" altLang="ko-KR" sz="1000" kern="0" spc="-50" dirty="0" err="1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EcoVadis</a:t>
            </a: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)(CDP) </a:t>
            </a:r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대응 실무</a:t>
            </a: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41AF0245-3ADC-82AB-8D82-1BCEF0154BC9}"/>
              </a:ext>
            </a:extLst>
          </p:cNvPr>
          <p:cNvSpPr/>
          <p:nvPr/>
        </p:nvSpPr>
        <p:spPr>
          <a:xfrm>
            <a:off x="5393643" y="5001294"/>
            <a:ext cx="1944000" cy="170131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/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친환경 화장품 위탁생산 관리</a:t>
            </a: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EEB26BE-F0E1-8819-0B8E-778AB38F199E}"/>
              </a:ext>
            </a:extLst>
          </p:cNvPr>
          <p:cNvSpPr/>
          <p:nvPr/>
        </p:nvSpPr>
        <p:spPr>
          <a:xfrm>
            <a:off x="7576587" y="3790240"/>
            <a:ext cx="1944000" cy="216000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/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스마트 의료기기 성능</a:t>
            </a: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임상평가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D44EC61-2217-B375-F964-2E851BEC3825}"/>
              </a:ext>
            </a:extLst>
          </p:cNvPr>
          <p:cNvSpPr/>
          <p:nvPr/>
        </p:nvSpPr>
        <p:spPr>
          <a:xfrm>
            <a:off x="5393643" y="4101131"/>
            <a:ext cx="1944000" cy="216000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/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스마트 의료기기</a:t>
            </a: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 SW </a:t>
            </a:r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검증</a:t>
            </a:r>
            <a:r>
              <a:rPr lang="en-US" altLang="ko-KR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000" kern="0" spc="-50" dirty="0" err="1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밸리데이션</a:t>
            </a:r>
            <a:endParaRPr lang="ko-KR" altLang="en-US" sz="1000" kern="0" spc="-50" dirty="0">
              <a:solidFill>
                <a:srgbClr val="FF660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6A1059F1-D8C1-5149-39A7-7F55B8DE0EA2}"/>
              </a:ext>
            </a:extLst>
          </p:cNvPr>
          <p:cNvSpPr/>
          <p:nvPr/>
        </p:nvSpPr>
        <p:spPr>
          <a:xfrm>
            <a:off x="3207753" y="3790240"/>
            <a:ext cx="1944000" cy="216000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 cap="flat" cmpd="sng" algn="ctr">
            <a:solidFill>
              <a:srgbClr val="FF66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 fontAlgn="base"/>
            <a:r>
              <a:rPr lang="ko-KR" altLang="en-US" sz="1000" kern="0" spc="-50" dirty="0"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의료기기 친환경 패키징 이해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E97FCBC-0ED2-208A-D8C0-C62A6857D8F5}"/>
              </a:ext>
            </a:extLst>
          </p:cNvPr>
          <p:cNvSpPr txBox="1"/>
          <p:nvPr/>
        </p:nvSpPr>
        <p:spPr>
          <a:xfrm>
            <a:off x="329026" y="6346153"/>
            <a:ext cx="495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i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* </a:t>
            </a:r>
            <a:r>
              <a:rPr lang="ko-KR" altLang="en-US" sz="900" i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인사이트 과정 생략</a:t>
            </a:r>
          </a:p>
        </p:txBody>
      </p:sp>
    </p:spTree>
    <p:extLst>
      <p:ext uri="{BB962C8B-B14F-4D97-AF65-F5344CB8AC3E}">
        <p14:creationId xmlns:p14="http://schemas.microsoft.com/office/powerpoint/2010/main" val="65700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27406</TotalTime>
  <Words>11117</Words>
  <Application>Microsoft Office PowerPoint</Application>
  <PresentationFormat>A4 용지(210x297mm)</PresentationFormat>
  <Paragraphs>1827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28</vt:i4>
      </vt:variant>
    </vt:vector>
  </HeadingPairs>
  <TitlesOfParts>
    <vt:vector size="50" baseType="lpstr">
      <vt:lpstr>페이퍼로지 6 SemiBold</vt:lpstr>
      <vt:lpstr>a고딕12</vt:lpstr>
      <vt:lpstr>a고딕14</vt:lpstr>
      <vt:lpstr>Calibri</vt:lpstr>
      <vt:lpstr>페이퍼로지 5 Medium</vt:lpstr>
      <vt:lpstr>a고딕18</vt:lpstr>
      <vt:lpstr>페이퍼로지 2 ExtraLight</vt:lpstr>
      <vt:lpstr>페이퍼로지 4 Regular</vt:lpstr>
      <vt:lpstr>SpoqaHanSans-Bold</vt:lpstr>
      <vt:lpstr>Wingdings</vt:lpstr>
      <vt:lpstr>나눔바른고딕</vt:lpstr>
      <vt:lpstr>Calibri Light</vt:lpstr>
      <vt:lpstr>Arial</vt:lpstr>
      <vt:lpstr>페이퍼로지 8 ExtraBold</vt:lpstr>
      <vt:lpstr>페이퍼로지 3 Light</vt:lpstr>
      <vt:lpstr>a고딕17</vt:lpstr>
      <vt:lpstr>Aptos</vt:lpstr>
      <vt:lpstr>a고딕16</vt:lpstr>
      <vt:lpstr>Arial Narrow</vt:lpstr>
      <vt:lpstr>페이퍼로지 7 Bold</vt:lpstr>
      <vt:lpstr>Office 2013 - 2022 테마</vt:lpstr>
      <vt:lpstr>1_Office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배종영</dc:creator>
  <cp:lastModifiedBy>yeseul jo</cp:lastModifiedBy>
  <cp:revision>2769</cp:revision>
  <cp:lastPrinted>2024-03-22T08:30:13Z</cp:lastPrinted>
  <dcterms:created xsi:type="dcterms:W3CDTF">2020-09-14T09:09:07Z</dcterms:created>
  <dcterms:modified xsi:type="dcterms:W3CDTF">2025-12-11T11:12:56Z</dcterms:modified>
</cp:coreProperties>
</file>