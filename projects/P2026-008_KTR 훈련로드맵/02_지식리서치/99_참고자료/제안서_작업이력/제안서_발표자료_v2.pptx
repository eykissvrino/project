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883" y="2183904"/>
            <a:ext cx="7876234" cy="1476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75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산업전환 공동훈련센터(KTR) AI 교육과정개발 반영 교육로드맵 체계구축 용역을 통해 KTR의 AI 전환 실행력을 높이겠습니다.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327507" y="3888581"/>
            <a:ext cx="248883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시앤피컨설팅 주식회사 · 2026.04</a:t>
            </a:r>
            <a:endParaRPr lang="en-US" sz="1300" dirty="0"/>
          </a:p>
        </p:txBody>
      </p:sp>
      <p:pic>
        <p:nvPicPr>
          <p:cNvPr id="4" name="Image 0" descr="C:\Users\eykis\OneDrive\vrin_AI_hub\projects\P2026-008_KTR 훈련로드맵\.claude\skills\ppt-brand-guidelin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656" y="658368"/>
            <a:ext cx="941832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1812280"/>
            <a:ext cx="654885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D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301" y="2222450"/>
            <a:ext cx="3166342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Ⅱ. 제안개요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06301" y="3073301"/>
            <a:ext cx="607340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KTR이 직면한 구조적 과제를 데이터로 정의하고 실행 해법으로 연결합니다.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25개 과정 체계는 갖추었지만 AI 반영이 전무하여 즉시 개편이 필요합니다.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2053679"/>
            <a:ext cx="417128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9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06301" y="3374380"/>
            <a:ext cx="417128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관련 과정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3770412"/>
            <a:ext cx="417128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운영 예정 25개 훈련과정 기준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1451074"/>
            <a:ext cx="4089499" cy="979884"/>
          </a:xfrm>
          <a:prstGeom prst="roundRect">
            <a:avLst>
              <a:gd name="adj" fmla="val 10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75150" y="1578025"/>
            <a:ext cx="391231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75150" y="1862286"/>
            <a:ext cx="391231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과정은 친환경·ESG·규제 중심으로 설계되어 AI 적용 업무를 다루지 못합니다.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8200" y="2532459"/>
            <a:ext cx="4089499" cy="979884"/>
          </a:xfrm>
          <a:prstGeom prst="roundRect">
            <a:avLst>
              <a:gd name="adj" fmla="val 10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5150" y="2659410"/>
            <a:ext cx="391231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5150" y="2943671"/>
            <a:ext cx="391231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교육현장과 산업현장의 직무 변화 속도 사이에 구조적 미스매치가 발생했습니다.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8200" y="3613845"/>
            <a:ext cx="4089499" cy="979884"/>
          </a:xfrm>
          <a:prstGeom prst="roundRect">
            <a:avLst>
              <a:gd name="adj" fmla="val 10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5150" y="3740795"/>
            <a:ext cx="391231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5150" y="4025057"/>
            <a:ext cx="391231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과정을 유지한 채 AI 모듈을 이식하는 체계적 리디자인이 필요합니다.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기업은 변화를 체감하지만 대응 역량과 조직 체계는 아직 부족합니다.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55502"/>
            <a:ext cx="2045643" cy="3309938"/>
          </a:xfrm>
          <a:prstGeom prst="roundRect">
            <a:avLst>
              <a:gd name="adj" fmla="val 49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6918" y="2335113"/>
            <a:ext cx="1248745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86987" y="2830264"/>
            <a:ext cx="168412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산업환경 변화 영향 인식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5334" y="3114526"/>
            <a:ext cx="1827577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기업이 변화 압력을 체감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78894" y="1155502"/>
            <a:ext cx="2010370" cy="3309938"/>
          </a:xfrm>
          <a:prstGeom prst="roundRect">
            <a:avLst>
              <a:gd name="adj" fmla="val 505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71949" y="2335113"/>
            <a:ext cx="1248745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919024" y="2830264"/>
            <a:ext cx="132996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산업전환 단계 기업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88279" y="3114526"/>
            <a:ext cx="1791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전환은 시작했으나 미완료 상태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16214" y="1155502"/>
            <a:ext cx="1918692" cy="3309938"/>
          </a:xfrm>
          <a:prstGeom prst="roundRect">
            <a:avLst>
              <a:gd name="adj" fmla="val 52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63430" y="2335113"/>
            <a:ext cx="1248745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58.6%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09786" y="2830264"/>
            <a:ext cx="113140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전담인력 미구성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6517" y="3114526"/>
            <a:ext cx="1698087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조직과 운영 역량이 부족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시사점: AI 전문가 양성보다 현장 실무자의 업무 내 AI 활용 역량 강화가 우선입니다.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산업군별로 AI가 바꾸는 업무가 다르므로 일률 교육이 아니라 맞춤 설계가 필요합니다.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55502"/>
            <a:ext cx="2120950" cy="3309938"/>
          </a:xfrm>
          <a:prstGeom prst="roundRect">
            <a:avLst>
              <a:gd name="adj" fmla="val 47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82452"/>
            <a:ext cx="190439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플라스틱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251" y="1609874"/>
            <a:ext cx="190439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3251" y="1844576"/>
            <a:ext cx="1904390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배합 최적화, 불량 예측, 물성 시뮬레이션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28751" y="1155502"/>
            <a:ext cx="1987897" cy="3309938"/>
          </a:xfrm>
          <a:prstGeom prst="roundRect">
            <a:avLst>
              <a:gd name="adj" fmla="val 5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55702" y="1282452"/>
            <a:ext cx="176867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화장품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55702" y="1609874"/>
            <a:ext cx="176867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55702" y="1844576"/>
            <a:ext cx="176867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제형 안정성 예측, 소비자 트렌드 분석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18149" y="1155502"/>
            <a:ext cx="2167086" cy="3309938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5100" y="1282452"/>
            <a:ext cx="195144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의료기기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5100" y="1609874"/>
            <a:ext cx="195144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5100" y="1844576"/>
            <a:ext cx="1951449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규제문서 자동화, 사이버보안 위협 모델링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6736" y="1155502"/>
            <a:ext cx="1750963" cy="3309938"/>
          </a:xfrm>
          <a:prstGeom prst="roundRect">
            <a:avLst>
              <a:gd name="adj" fmla="val 58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13687" y="1282452"/>
            <a:ext cx="152700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정밀화학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3687" y="1609874"/>
            <a:ext cx="15270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산업군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3687" y="1844576"/>
            <a:ext cx="152700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위험성 평가, 공정 이상징후 탐지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산업군×직무 단위로 “이 업무에 이 AI”를 매핑해야 현장 적용이 가능합니다.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과업은 질문에서 답을 도출하고 실행 산출물로 연결되는 인과 체인으로 설계됩니다.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80802"/>
            <a:ext cx="8331398" cy="759023"/>
          </a:xfrm>
          <a:prstGeom prst="roundRect">
            <a:avLst>
              <a:gd name="adj" fmla="val 1338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307753"/>
            <a:ext cx="823904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251" y="1592014"/>
            <a:ext cx="823904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무엇을 가르치고 있고 AI로 무엇을 더 가르쳐야 하는가?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9400" y="2117527"/>
            <a:ext cx="16850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2600" dirty="0">
                <a:solidFill>
                  <a:srgbClr val="BD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06301" y="2774007"/>
            <a:ext cx="8331398" cy="759023"/>
          </a:xfrm>
          <a:prstGeom prst="roundRect">
            <a:avLst>
              <a:gd name="adj" fmla="val 1338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2900958"/>
            <a:ext cx="823904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251" y="3185220"/>
            <a:ext cx="823904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확인된 Gap을 5년 로드맵으로 어떻게 메울 것인가?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9400" y="3710732"/>
            <a:ext cx="16850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2600" dirty="0">
                <a:solidFill>
                  <a:srgbClr val="BD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06301" y="4367213"/>
            <a:ext cx="8331398" cy="759023"/>
          </a:xfrm>
          <a:prstGeom prst="roundRect">
            <a:avLst>
              <a:gd name="adj" fmla="val 1338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251" y="4494163"/>
            <a:ext cx="823904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251" y="4778425"/>
            <a:ext cx="823904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과정 재설계와 신규 과정 개발을 어떻게 실행할 것인가?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과업은 세 가지 추진 원칙으로 실행 가능성과 현장 적용성을 동시에 확보합니다.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55502"/>
            <a:ext cx="2490341" cy="3683198"/>
          </a:xfrm>
          <a:prstGeom prst="roundRect">
            <a:avLst>
              <a:gd name="adj" fmla="val 40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82452"/>
            <a:ext cx="228116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251" y="1566714"/>
            <a:ext cx="228116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별도 교육이 아닌 기존 직무 Skill 위에 이식합니다.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251" y="2071836"/>
            <a:ext cx="228116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전담인력 미구성 58.6% 환경에 적합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23592" y="1155502"/>
            <a:ext cx="2899767" cy="3683198"/>
          </a:xfrm>
          <a:prstGeom prst="roundRect">
            <a:avLst>
              <a:gd name="adj" fmla="val 350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50543" y="1282452"/>
            <a:ext cx="2698784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0543" y="1566714"/>
            <a:ext cx="2698784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판단을 전년도 182개 기업 1차 데이터 기반으로 수행합니다.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0543" y="2071836"/>
            <a:ext cx="269878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추정이 아닌 검증 가능한 의사결정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50310" y="1155502"/>
            <a:ext cx="2687389" cy="3683198"/>
          </a:xfrm>
          <a:prstGeom prst="roundRect">
            <a:avLst>
              <a:gd name="adj" fmla="val 378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77260" y="1282452"/>
            <a:ext cx="248215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7260" y="1566714"/>
            <a:ext cx="2482158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크기×기업 수요로 우선순위를 정해 선택과 집중합니다.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7260" y="2071836"/>
            <a:ext cx="248215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8개월·3천만원 내 최대 효과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전년도 축적 자산을 즉시 활용해 착수 즉시 고품질 산출물을 도출하겠습니다.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8331398" cy="336352"/>
          </a:xfrm>
          <a:prstGeom prst="roundRect">
            <a:avLst>
              <a:gd name="adj" fmla="val 2265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802" y="1206252"/>
            <a:ext cx="829096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전년도 자산 → 금년도 활용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301" y="1593354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669554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182개 기업 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10100" y="1593354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6300" y="1669554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역량 진단 설문·기업군 분류 즉시 적용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1993255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01" y="2069455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진단지 5영역 35문항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0100" y="1993255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86300" y="2069455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Readiness 모듈 추가로 도구 재활용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301" y="2393156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01" y="2469356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과정 분석 데이터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0100" y="2393156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86300" y="2469356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Matrix 구축 기간 단축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301" y="2793057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01" y="2869257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네트워크 22명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0100" y="2793057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86300" y="2869257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Gate 즉시 운영으로 품질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타 기관이 0에서 시작할 때 당사는 70% 준비된 상태에서 출발합니다.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7대 핵심 산출물은 KTR의 연간 편성·기업 안내·과정 운영까지 직접 활용됩니다.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AI Skill Taxonomy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연간 편성 기준표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301" y="1656755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783705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과정×AI Gap 분석표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보강/개편/신설 판단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2183457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2310408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AI 반영 교육체계 개편안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중장기 교육 지도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2710160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251" y="2837111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2026~2030 마스터플랜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연도별 실행 로드맵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8200" y="1130052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5150" y="1257002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기업유형별 학습경로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기업 상담/안내 즉시 활용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8200" y="1656755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5150" y="1783705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신규 AI 과정 11개 기획안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과정 신설 의사결정 지원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8200" y="2183457"/>
            <a:ext cx="4089499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5150" y="2310408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상세 커리큘럼 2개+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강사가 바로 운영 가능한 수준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8200" y="2710160"/>
            <a:ext cx="4089499" cy="596503"/>
          </a:xfrm>
          <a:prstGeom prst="roundRect">
            <a:avLst>
              <a:gd name="adj" fmla="val 17033"/>
            </a:avLst>
          </a:prstGeom>
          <a:solidFill>
            <a:srgbClr val="BD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5150" y="2837111"/>
            <a:ext cx="3912310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시나리오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KTR 담당자는 기업 상담 시 진단 결과에 맞는 학습경로를 즉시 제시할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1812280"/>
            <a:ext cx="654885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D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301" y="2222450"/>
            <a:ext cx="4464424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Ⅲ. 과업수행 계획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06301" y="3073301"/>
            <a:ext cx="6346347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→ Design → Develop의 3단계로 데이터 기반 실행체계를 완성합니다.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Phase는 순차 연결 구조로 설계되어 판단 근거와 실행 결과가 일관되게 이어집니다.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55502"/>
            <a:ext cx="2095351" cy="3309938"/>
          </a:xfrm>
          <a:prstGeom prst="roundRect">
            <a:avLst>
              <a:gd name="adj" fmla="val 48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82452"/>
            <a:ext cx="187827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1. Discover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251" y="1609874"/>
            <a:ext cx="187827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5~7월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3251" y="1844576"/>
            <a:ext cx="187827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Matrix·AI Skill Set·Gap 분석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28602" y="1155502"/>
            <a:ext cx="2638127" cy="3309938"/>
          </a:xfrm>
          <a:prstGeom prst="roundRect">
            <a:avLst>
              <a:gd name="adj" fmla="val 38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55553" y="1282452"/>
            <a:ext cx="243191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2.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55553" y="1609874"/>
            <a:ext cx="2431911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7~10월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55553" y="1844576"/>
            <a:ext cx="2431911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교육체계 개편·5개년 마스터플랜·학습경로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3680" y="1155502"/>
            <a:ext cx="2353717" cy="3309938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0630" y="1282452"/>
            <a:ext cx="214181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3. Develop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20630" y="1609874"/>
            <a:ext cx="214181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9~12월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20630" y="1844576"/>
            <a:ext cx="214181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재설계·신규 11개·상세 커리큘럼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 종료 시 Gate 검증을 통해 다음 단계 품질을 보증합니다.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1에서는 기존 Skill과 목표 AI Skill의 차이를 계량화해 우선순위를 확정합니다.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1869728" cy="3360837"/>
          </a:xfrm>
          <a:prstGeom prst="roundRect">
            <a:avLst>
              <a:gd name="adj" fmla="val 54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164814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Matrix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251" y="1584424"/>
            <a:ext cx="164814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과정의 K/S/A 역량 추출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3251" y="1819126"/>
            <a:ext cx="164814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산업군·직무군 기준 정렬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02979" y="1130052"/>
            <a:ext cx="1823591" cy="3360837"/>
          </a:xfrm>
          <a:prstGeom prst="roundRect">
            <a:avLst>
              <a:gd name="adj" fmla="val 55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9929" y="1257002"/>
            <a:ext cx="16010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Skill 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29929" y="1584424"/>
            <a:ext cx="160108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산업군×직무 AI 역량 체계화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29929" y="1819126"/>
            <a:ext cx="160108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Lv1~Lv3 수준 정의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3520" y="1130052"/>
            <a:ext cx="1664791" cy="3360837"/>
          </a:xfrm>
          <a:prstGeom prst="roundRect">
            <a:avLst>
              <a:gd name="adj" fmla="val 6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80471" y="1257002"/>
            <a:ext cx="143910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분석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471" y="1584424"/>
            <a:ext cx="143910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유지/보강/개편/신설 판정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471" y="1819126"/>
            <a:ext cx="143910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후속 투자 우선순위 도출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질문: 25개 과정 중 AI 대응이 가장 시급한 과정은 무엇인가?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Skill Taxonomy는 산업별 직무 변화에 맞춰 교육 목표를 정밀하게 정의합니다.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04602"/>
            <a:ext cx="8331398" cy="336352"/>
          </a:xfrm>
          <a:prstGeom prst="roundRect">
            <a:avLst>
              <a:gd name="adj" fmla="val 2265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802" y="1180802"/>
            <a:ext cx="829096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산업군별 핵심 AI Skill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301" y="1542455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618655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플라스틱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10100" y="1542455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6300" y="1618655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소재 물성 예측 · 불량 예측 · LCA 자동화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1929557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01" y="2005757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의료기기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0100" y="1929557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86300" y="2005757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규제문서 자동화 · 임상평가 설계 · 위협 모델링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301" y="2316659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01" y="2392859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화장품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0100" y="2316659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86300" y="2392859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제형 안정성 예측 · 트렌드 분석 · 유해성 예측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301" y="2703761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01" y="2779961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정밀화학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0100" y="2703761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86300" y="2779961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위험성 평가 · 공정 이상탐지 · 안전 리스크 예측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Lv1 리터러시 → Lv2 실무응용 → Lv3 고도화로 단계별 교육목표를 설정합니다.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매트릭스로 2026년 즉시 착수 대상과 중기 과제를 구분하겠습니다.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4089499" cy="1629668"/>
          </a:xfrm>
          <a:prstGeom prst="roundRect">
            <a:avLst>
              <a:gd name="adj" fmla="val 62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수요 高 · Gap 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251" y="1491704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최우선 개편/신설 (2026 착수)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2861221"/>
            <a:ext cx="4089499" cy="1629668"/>
          </a:xfrm>
          <a:prstGeom prst="roundRect">
            <a:avLst>
              <a:gd name="adj" fmla="val 62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251" y="2988171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수요 高 · Gap 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3251" y="3222873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보강 중심의 빠른 적용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48200" y="1130052"/>
            <a:ext cx="4089499" cy="1629668"/>
          </a:xfrm>
          <a:prstGeom prst="roundRect">
            <a:avLst>
              <a:gd name="adj" fmla="val 62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5150" y="1257002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수요 低 · Gap 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75150" y="1491704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2027~2028 순차 개편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8200" y="2861221"/>
            <a:ext cx="4089499" cy="1629668"/>
          </a:xfrm>
          <a:prstGeom prst="roundRect">
            <a:avLst>
              <a:gd name="adj" fmla="val 62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5150" y="2988171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수요 低 · Gap 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5150" y="3222873"/>
            <a:ext cx="39123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유지 및 모니터링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기준: Gap 크기 × 기업 수요 × 강사 확보 가능성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2에서는 기존 3모듈 구조를 유지하면서 AI 레이어를 체계적으로 이식합니다.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55502"/>
            <a:ext cx="2151608" cy="3309938"/>
          </a:xfrm>
          <a:prstGeom prst="roundRect">
            <a:avLst>
              <a:gd name="adj" fmla="val 47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82452"/>
            <a:ext cx="193566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모듈1 인사이트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251" y="1609874"/>
            <a:ext cx="193566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산업동향 + 바이오화학×AI 트렌드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84859" y="1155502"/>
            <a:ext cx="2148334" cy="3309938"/>
          </a:xfrm>
          <a:prstGeom prst="roundRect">
            <a:avLst>
              <a:gd name="adj" fmla="val 472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11810" y="1282452"/>
            <a:ext cx="193232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모듈2 실무공통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11810" y="1609874"/>
            <a:ext cx="193232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ESG/LCA + AI 데이터관리·자동화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0144" y="1155502"/>
            <a:ext cx="2074218" cy="3309938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87094" y="1282452"/>
            <a:ext cx="18567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모듈3 산업특화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7094" y="1609874"/>
            <a:ext cx="185672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과정 + AI 적용 실무 8개+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기존 체계 안정성은 유지하고 과정 단위의 AI 적용성을 강화합니다.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산업전환 단계와 AI 역량 수준을 교차해 기업별 진입점을 자동 매핑합니다.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04602"/>
            <a:ext cx="8331398" cy="336352"/>
          </a:xfrm>
          <a:prstGeom prst="roundRect">
            <a:avLst>
              <a:gd name="adj" fmla="val 2265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802" y="1180802"/>
            <a:ext cx="829096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산업전환 × AI 수준 매트릭스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301" y="1542455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618655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Lv1 선제대응(14.3%)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08200" y="1542455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84400" y="1618655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개념·동향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0100" y="1542455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86300" y="1618655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체험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12000" y="1542455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8200" y="1618655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301" y="1929557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01" y="2005757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Lv2 전환(81.4%)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08200" y="1929557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84400" y="2005757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가능성 이해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0100" y="1929557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86300" y="2005757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도구 활용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12000" y="1929557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88200" y="2005757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공정·품질 분석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301" y="2316659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01" y="2392859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Lv3 정착(4.3%)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08200" y="2316659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84400" y="2392859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0100" y="2316659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86300" y="2392859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수립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12000" y="2316659"/>
            <a:ext cx="2025700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88200" y="2392859"/>
            <a:ext cx="191076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고도화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301" y="4690170"/>
            <a:ext cx="84980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 순서: AI 리터러시 / AI 실무응용 / AI 고도화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2026~2030 마스터플랜으로 단계별 확산·고도화·완성 경로를 제시합니다.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1595140" cy="3360837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13680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251" y="1491704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구축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251" y="1703636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3~4개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90291" y="1130052"/>
            <a:ext cx="1595140" cy="3360837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17241" y="1257002"/>
            <a:ext cx="13680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7241" y="1491704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17241" y="1703636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5~6개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74281" y="1130052"/>
            <a:ext cx="1595140" cy="3360837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1232" y="1257002"/>
            <a:ext cx="13680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01232" y="1491704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고도화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01232" y="1703636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7~8개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58271" y="1130052"/>
            <a:ext cx="1595140" cy="3360837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85222" y="1257002"/>
            <a:ext cx="13680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85222" y="1491704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85222" y="1703636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9~10개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42262" y="1130052"/>
            <a:ext cx="1595140" cy="3360837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69212" y="1257002"/>
            <a:ext cx="13680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212" y="1491704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212" y="1703636"/>
            <a:ext cx="13680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연차별 목표와 도입 과정 수를 연동해 성과를 추적 가능한 계획으로 설계합니다.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협약기업 유형별 맞춤 학습경로를 제공해 기업이 스스로 시작점을 찾도록 지원합니다.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8331398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플라스틱 제조 50인 / Lv1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AI 리터러시 → AI ESG 데이터관리 → 재진단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301" y="1656755"/>
            <a:ext cx="8331398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783705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의료기기 중견 200인 / Lv2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AI 리터러시 → AI 규제 대응 → AI 성능평가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2183457"/>
            <a:ext cx="8331398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2310408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화장품 벤처 30인 / Lv2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AI 리터러시 → AI 트렌드 분석 → AI 제형 최적화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결과물은 KTR 담당자가 기업 상담 시 즉시 제시 가능한 가이드 형태로 제공됩니다.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3에서는 기존 과정을 보강·개편하고 신규 과정을 개발해 실행력을 완성합니다.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2634704" cy="3360837"/>
          </a:xfrm>
          <a:prstGeom prst="roundRect">
            <a:avLst>
              <a:gd name="adj" fmla="val 38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242842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과정 재설계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251" y="1584424"/>
            <a:ext cx="2380804" cy="565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보강: AI 모듈 1~2개 삽입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개편: 과정명·목표·교과목 전면 조정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적용 과제 중심 실습 강화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93405" y="1130052"/>
            <a:ext cx="2425303" cy="3360837"/>
          </a:xfrm>
          <a:prstGeom prst="roundRect">
            <a:avLst>
              <a:gd name="adj" fmla="val 41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20355" y="1257002"/>
            <a:ext cx="221483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과정 개발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20355" y="1584424"/>
            <a:ext cx="2171402" cy="565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산업특화 AI 8개 + 공통 AI 3개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교육목표·대상·시간·운영안 명시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커리큘럼 2개 이상 개발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질문: 어떤 과정을 우선 상세 커리큘럼으로 확정할 것인가?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AI 과정 11개를 산업특화와 공통과정으로 구성해 단계별 수요를 충족합니다.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1246287" cy="3360837"/>
          </a:xfrm>
          <a:prstGeom prst="roundRect">
            <a:avLst>
              <a:gd name="adj" fmla="val 81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101223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산업특화 8개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251" y="1491704"/>
            <a:ext cx="992386" cy="75426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플라스틱 2개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의료기기 2개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화장품 2개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정밀화학 2개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04988" y="1130052"/>
            <a:ext cx="1952327" cy="3360837"/>
          </a:xfrm>
          <a:prstGeom prst="roundRect">
            <a:avLst>
              <a:gd name="adj" fmla="val 520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31938" y="1257002"/>
            <a:ext cx="173239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3개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1938" y="1491704"/>
            <a:ext cx="1698427" cy="565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리터러시 세미나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ESG 데이터관리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LCA 자동화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Lv1~Lv3 난이도 체계에 맞춰 기업의 전환 수준별 선택이 가능하도록 설계합니다.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커리큘럼은 실습 40% 이상과 자사 적용 설계를 포함해 현장 적용성을 보장합니다.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04602"/>
            <a:ext cx="2851249" cy="3207395"/>
          </a:xfrm>
          <a:prstGeom prst="roundRect">
            <a:avLst>
              <a:gd name="adj" fmla="val 356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31553"/>
            <a:ext cx="264929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A: 바이오화학 AI 리터러시(4H)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251" y="1466255"/>
            <a:ext cx="26492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개념 → 산업사례 → 도구 체험 → 자사 적용 토론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251" y="1678186"/>
            <a:ext cx="26492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전 직급 / Lv1~2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9950" y="1104602"/>
            <a:ext cx="2838004" cy="3207395"/>
          </a:xfrm>
          <a:prstGeom prst="roundRect">
            <a:avLst>
              <a:gd name="adj" fmla="val 35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36900" y="1231553"/>
            <a:ext cx="263578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B: AI 기반 바이오플라스틱 생산관리(8H)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36900" y="1466255"/>
            <a:ext cx="26357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공정이해 → AI 원리 → 품질예측 실습 → 적용 설계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36900" y="1678186"/>
            <a:ext cx="26357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생산·품질 / Lv2~3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301" y="4413498"/>
            <a:ext cx="8331398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251" y="4540448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원칙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산업 데이터 기반 실습 · 평가체계 운영 · 교육 후 3개월 적용 추적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전년도 연속 수행 인력을 중심으로 Phase별 책임 구조를 명확히 운영하겠습니다.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8331398" cy="3360837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57002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유대훈 본부장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251" y="1491704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Discover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이석주 팀장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3251" y="1726406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Design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조예슬 선임연구원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3251" y="1961108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Develop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안은하 선임연구원 · 허상희 연구원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3251" y="2195810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AI컨설팅연구소 및 외부 자문위원회가 전 Phase에 상시 결합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역할·책임·의사결정 라인을 단순화해 일정 지연과 품질 리스크를 최소화합니다.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Pool 22명을 즉시 가동해 산출물 검증과 교육 현장 적합성을 확보합니다.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04602"/>
            <a:ext cx="1743224" cy="3207395"/>
          </a:xfrm>
          <a:prstGeom prst="roundRect">
            <a:avLst>
              <a:gd name="adj" fmla="val 582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1231553"/>
            <a:ext cx="151911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산업전문가 12명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3251" y="1466255"/>
            <a:ext cx="151911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FGI 참여 8명 + 진단 검증 4명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76475" y="1104602"/>
            <a:ext cx="1644551" cy="3207395"/>
          </a:xfrm>
          <a:prstGeom prst="roundRect">
            <a:avLst>
              <a:gd name="adj" fmla="val 61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03425" y="1231553"/>
            <a:ext cx="141846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강사진 10명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03425" y="1466255"/>
            <a:ext cx="141846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실무 교육 자문·검증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47976" y="1104602"/>
            <a:ext cx="1781324" cy="3207395"/>
          </a:xfrm>
          <a:prstGeom prst="roundRect">
            <a:avLst>
              <a:gd name="adj" fmla="val 570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74927" y="1231553"/>
            <a:ext cx="155797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AI/교육공학 자문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74927" y="1466255"/>
            <a:ext cx="155797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AI컨설팅연구소 + 외부 전문가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6301" y="4413498"/>
            <a:ext cx="8331398" cy="425202"/>
          </a:xfrm>
          <a:prstGeom prst="roundRect">
            <a:avLst>
              <a:gd name="adj" fmla="val 238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251" y="4540448"/>
            <a:ext cx="82390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1(자문회의) → Gate 2(워크숍) → Gate 3(간담회) 3단계 검증으로 완성도를 높입니다.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 착수부터 12월 최종보고까지 월별 마일스톤 기반으로 과업을 관리합니다.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1130052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2501" y="1206252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5~7월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10100" y="1130052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0" y="1206252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수행 · Gate1 · 중간보고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1517154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01" y="1593354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7~10월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0100" y="1517154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86300" y="1593354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수행 · Gate2(8월/10월)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1904256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501" y="1980456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9~11월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0100" y="1904256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6300" y="1980456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수행 · Gate3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2291358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01" y="2367558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0100" y="2291358"/>
            <a:ext cx="4127599" cy="323701"/>
          </a:xfrm>
          <a:prstGeom prst="roundRect">
            <a:avLst>
              <a:gd name="adj" fmla="val 156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86300" y="2367558"/>
            <a:ext cx="4054703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최종보고 및 산출물 납품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6301" y="4617839"/>
            <a:ext cx="849802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진도관리·격주 협의·리스크 버퍼로 납기와 품질을 동시 관리합니다.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289" y="2313384"/>
            <a:ext cx="7513421" cy="1238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시앤피컨설팅은 데이터 기반 AI 교육로드맵으로 KTR의 산업전환 성과를 실질적으로 높이겠습니다.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035772" y="3754636"/>
            <a:ext cx="1093905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BD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600" dirty="0"/>
          </a:p>
        </p:txBody>
      </p:sp>
      <p:pic>
        <p:nvPicPr>
          <p:cNvPr id="4" name="Image 0" descr="C:\Users\eykis\OneDrive\vrin_AI_hub\projects\P2026-008_KTR 훈련로드맵\.claude\skills\ppt-brand-guidelin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923544"/>
            <a:ext cx="1014984" cy="1014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 발표자료 v2</dc:title>
  <dc:subject>KTR AI 교육로드맵 제안</dc:subject>
  <dc:creator>시앤피컨설팅</dc:creator>
  <cp:lastModifiedBy>시앤피컨설팅</cp:lastModifiedBy>
  <cp:revision>1</cp:revision>
  <dcterms:created xsi:type="dcterms:W3CDTF">2026-04-01T12:37:00Z</dcterms:created>
  <dcterms:modified xsi:type="dcterms:W3CDTF">2026-04-01T12:37:01Z</dcterms:modified>
</cp:coreProperties>
</file>