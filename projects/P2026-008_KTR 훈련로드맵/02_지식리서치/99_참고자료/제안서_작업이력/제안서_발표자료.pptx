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산업전환 공동훈련센터(KTR)</a:t>
            </a:r>
            <a:br/>
            <a:r>
              <a:t>AI 교육과정개발 반영</a:t>
            </a:r>
            <a:br/>
            <a:r>
              <a:t>교육로드맵 체계구축 용역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7C59"/>
                </a:solidFill>
                <a:latin typeface="맑은 고딕"/>
              </a:defRPr>
            </a:pPr>
            <a:r>
              <a:t>[제 안 서]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발주기관 : 한국화학융합시험연구원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제안기관 : 시앤피컨설팅 주식회사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2026. 04.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목 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업체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제안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과업수행 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91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과업수행 조직 및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114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예산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맑은 고딕"/>
              </a:defRPr>
            </a:pPr>
            <a:r>
              <a:t>Ⅰ. 업체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1. 일반현황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2. 경영상태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3. 조직 및 인원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4. 주요 사업내용 및 실적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일반현황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Ⅰ. 업체 현황 / 1. 일반현황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제안사 일반현황 및 주요 연혁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- 4 -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회사명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시앤피컨설팅 주식회사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대표자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조세형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사업분야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HR 종합솔루션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서울 금천구 가산디지털1로 131, 12층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설립연도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2012년 6월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사업자번호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119-86-57311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C59"/>
                </a:solidFill>
                <a:latin typeface="맑은 고딕"/>
              </a:defRPr>
            </a:pPr>
            <a:r>
              <a:t>주요 연혁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2025  KTR 산업전환 교육로드맵 체계 구축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2023  산업전환 기업맞춤형 진단 및 훈련과정 개발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2022  산업전환 공동훈련센터 직무전환 컨설팅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2021  기업수요맞춤형 직무분석 컨설팅사 지정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2020  NCS 기업활용 컨설팅 운영기관 지정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2016  NCS 개발·보완 퍼실리테이터 양성과정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2012  법인 전환 및 상호 변경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조직 및 인원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Ⅰ. 업체 현황 / 3. 조직 및 인원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조직과 인력 보유현황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- 5 -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제안기관은 10개 본부·연구소 체제, 직업능력컨설팅본부와 AI컨설팅연구소가 본 과업을 전담합니다.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031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사업 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직업능력개발본부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역량모델링, NCS/SQF 연구·개발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정규직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직업능력컨설팅본부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HRD 컨설팅(직무분석, 훈련과정 개발)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본 과업 전담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일터혁신컨설팅본부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임금·평가체계 개선 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정규직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경영컨설팅본부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경영진단, 중장기전략수립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정규직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AI컨설팅연구소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Transformation 진단·전략, AI Skill Set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본 과업 전담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주요 사업실적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Ⅰ. 업체 현황 / 4. 주요 사업내용 및 실적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주요 사업 수행 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- 6 -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544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114800"/>
                <a:gridCol w="1371600"/>
                <a:gridCol w="914400"/>
                <a:gridCol w="2743200"/>
                <a:gridCol w="18288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사업명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사업기간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발주처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산업전환 공동훈련센터(KTR) 교육로드맵 체계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한국화학융합시험연구원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전년도 동일사업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산업전환 기업 맞춤형 진단 및 훈련과정 개발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2022.05~10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대한상공회의소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산업전환 공동훈련센터 직무전환 컨설팅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2022.09~12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SK이노베이션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협약기업 직무분석을 통한 훈련과정 개발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2022.09~11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199.5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한국전자기술연구원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기업수요 맞춤형 직무분석 및 훈련과정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2023.04~08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대한상공회의소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맑은 고딕"/>
              </a:defRPr>
            </a:pPr>
            <a:r>
              <a:t>Ⅱ. 제안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1. 제안 목적 및 내용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2. 제안 특징과 장점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3. 기대효과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제안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Ⅱ. 제안 개요 / 1. 제안 목적 및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산업 전환과 AI 교육의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- 8 -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① 산업환경 변화의 가속화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바이오화학 산업 연평균 8.9~15.4% 성장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ESG·탄소중립 법제화 → 대응 인력 수요 급증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AI 기술의 산업 적용 가속화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② 협약기업 산업전환 대응 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전환단계 81.4%, 선제대응 14.3%, 정착 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산업변화 → 경영영향: 97.1%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전담인력 미구성: 58.6%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solidFill>
            <a:srgbClr val="6B9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③ 기존 교육체계의 AI 통합 필요 → 전년도 교육로드맵에 AI 과정 미반영 상태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Ⅱ. 제안 개요 / 1. 제안 목적 및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제안 목적 및 과업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- 9 -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바이오화학 산업전환 대응 지능형 미래인력양성을 위한 AI 교육로드맵 체계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과업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기존 교육로드맵 분석 +</a:t>
            </a:r>
            <a:br/>
            <a:r>
              <a:t>AI 직무 역량 모델링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과업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383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차세대(2026~2030)</a:t>
            </a:r>
            <a:br/>
            <a:r>
              <a:t>AI 반영 교육로드맵 재수립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과업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직무 맞춤형 AI 교육과정</a:t>
            </a:r>
            <a:br/>
            <a:r>
              <a:t>개발 + 상세 커리큘럼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전제조건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Ⅱ. 제안 개요 / 2. 제안 특징과 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연속 수행의 압도적 강점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- 10 -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축적 자산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구체적 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협약기업 전수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182개 기업 규모·업종·소재지·주요생산품·산업전환수준 전수분석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산업전환 진단 체계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KTR 특화 진단지(5영역 35문항) 개편 + 70개 기업 진단 결과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新 교육로드맵 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3모듈×3수준 체계 수립 완료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산업군 환경분석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3대 산업군 STEP 환경분석 + 전문가 FGI(8명) 결과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교육과정 분석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4개년 과정 분석, 25개 과정 상세 분석, 토픽모델링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강사진·전문가 네트워크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FGI 8명 + 자문위원 4명 + 강사진 10명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맑은 고딕"/>
              </a:defRPr>
            </a:pPr>
            <a:r>
              <a:t>Ⅲ. 과업수행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1. 과업수행체계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2. 세부 수행방안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3. 추진 일정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1. 과업 수행체계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과업 수행체계: 3 Module · 9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- 12 -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맑은 고딕"/>
              </a:defRPr>
            </a:pPr>
            <a:r>
              <a:t>기존 교육과정 Skill 분석 → 산업별 AI Skill Set 도출 → Skill Gap 분석 → 교육체계 개편 → 과정 재설계 및 신규 콘텐츠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365760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Module 1. 기존 교육체계 진단 및 AI Skill Set 도출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7C59"/>
                </a:solidFill>
                <a:latin typeface="맑은 고딕"/>
              </a:defRPr>
            </a:pPr>
            <a:r>
              <a:t>세부 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기존 교육로드맵 수평·수직 체계 분석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기존 교육과정별 Skill 도출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AI 역량모델링 기반 AI Skill Set 도출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7C59"/>
                </a:solidFill>
                <a:latin typeface="맑은 고딕"/>
              </a:defRPr>
            </a:pPr>
            <a:r>
              <a:t>수행방법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문헌분석 · 내용분석 · 전문가 자문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7C59"/>
                </a:solidFill>
                <a:latin typeface="맑은 고딕"/>
              </a:defRPr>
            </a:pPr>
            <a:r>
              <a:t>핵심 산출물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20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기존 교육과정 Skill Matrix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산업별 AI Skill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828800"/>
            <a:ext cx="36576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Module 2. 차세대 AI 반영 교육체계 고도화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맑은 고딕"/>
              </a:defRPr>
            </a:pPr>
            <a:r>
              <a:t>세부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51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기존 Skill × AI Skill 매핑/Gap분석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AI 반영 교육체계 개편안 도출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2026~2030 마스터플랜 수립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맑은 고딕"/>
              </a:defRPr>
            </a:pPr>
            <a:r>
              <a:t>수행방법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06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매핑분석 · 전문가 워크숍(FGI)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맑은 고딕"/>
              </a:defRPr>
            </a:pPr>
            <a:r>
              <a:t>핵심 산출물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120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Skill Gap 분석표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AI 반영 교육로드맵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solidFill>
            <a:srgbClr val="6B9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Module 3. AI 반영 교육로드맵 및 과정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9E76"/>
                </a:solidFill>
                <a:latin typeface="맑은 고딕"/>
              </a:defRPr>
            </a:pPr>
            <a:r>
              <a:t>세부 내용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51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기존 교육과정 AI 융합 재설계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AI 신규 교육 콘텐츠 설계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상세 커리큘럼 및 운영기준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9E76"/>
                </a:solidFill>
                <a:latin typeface="맑은 고딕"/>
              </a:defRPr>
            </a:pPr>
            <a:r>
              <a:t>수행방법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개발연구 · 전문가 인터뷰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9E76"/>
                </a:solidFill>
                <a:latin typeface="맑은 고딕"/>
              </a:defRPr>
            </a:pPr>
            <a:r>
              <a:t>핵심 산출물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20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AI 반영 교육과정 재설계</a:t>
            </a:r>
          </a:p>
          <a:p>
            <a:pPr>
              <a:spcAft>
                <a:spcPts val="400"/>
              </a:spcAft>
              <a:defRPr sz="800">
                <a:solidFill>
                  <a:srgbClr val="333333"/>
                </a:solidFill>
                <a:latin typeface="맑은 고딕"/>
              </a:defRPr>
            </a:pPr>
            <a:r>
              <a:t>· AI 신규 과정 기획안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Step 1. 기존 교육로드맵 구조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전년도 新 교육로드맵의 수평 체계(산업군·교육분야)와 수직 체계(수준·교육유형)를 분석합니다.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[수평 체계 분석]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37744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분석 항목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분석 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분석 방법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산업군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산업군 구분 체계 적절성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협약기업 분류체계 대조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교육분야 구성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모듈1~3 포괄성, 중복, 공백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교육과정 내용분석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직무군 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R&amp;D/생산/품질/규제 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직무분석 결과 대조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[수직 체계 분석]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0" y="237744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분석 항목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분석 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분석 방법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수준 체계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3수준 난이도 구분 적절성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과정별 난이도 판정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교육유형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유형 정의 명확성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유형-내용 매칭 분석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학습경로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Lv1→Lv2→Lv3 실효성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수료율·이수율 분석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Step 2. 기존 교육과정별 Skill 도출 및 매트릭스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- 14 -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수행 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투입 자료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① 교과목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25개 과정별 교과목·학습목표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커리큘럼, 교재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② Skill 추출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핵심 역량(지식·기술·태도) 도출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내용분석 결과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③ 산업군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Skill을 산업군별로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분류체계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④ Matrix 구축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산업군×교육과정×Skill 매트릭스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종합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맑은 고딕"/>
              </a:defRPr>
            </a:pPr>
            <a:r>
              <a:t>[Skill Matrix 예시]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23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산업군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교육과정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Skill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플라스틱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친환경 소재 제품화 기본 전략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소재 이해, 제품화 전략, 시장 분석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플라스틱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바이오플라스틱 제품 분석 실무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물성 측정, 크로마토그래피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화장품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클린뷰티 안정성 평가 실무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안정성 시험, GMP, 유효성 평가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바이오화학 LCA 기본 실무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전과정평가, 탄소발자국 산정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Step 3. AI 역량모델링 기반 AI Skill Set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- 15 -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[AI 역량 수준 체계]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1148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AI 역량 수준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교육 목표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Lv.1 AI 리터러시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기본 개념, 활용 가능성 인식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기초 이해 및 도구 체험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Lv.2 AI 실무응용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직무별 AI 도구 활용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도구 활용, 데이터 분석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Lv.3 AI 고도화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기반 업무 혁신, 공정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문제해결, 공정최적화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[산업군별 AI 직무 역량 모델링]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749039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3657600"/>
                <a:gridCol w="41148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산업군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직무군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핵심 역량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AI 융합 역량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플라스틱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소재 설계, 물성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물성 예측, 시뮬레이션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플라스틱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사출성형, 공정관리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품질 예측, 불량 감지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의료기기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SW 검증, 제품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임상평가, 디지털 트윈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화장품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R&amp;D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제형 설계, 소재 개발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제형 안정성 예측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정밀화학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규제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화학물질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위험성 평가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Step 4. 기존 Skill × AI Skill 매핑 및 Gap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- 16 -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기존 Skill Matrix와 AI Skill Set을 교차 매핑하여, 유지/보강/개편/신설 대상을 구분합니다.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[과정별 대응 유형 분류 기준]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3774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기존 Skill 충분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친환경 제도 세미나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기존 과정 + AI 모듈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ESG데이터 + AI자동화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중심 전면 재설계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생산관리→AI스마트생산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신설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전용 신규 개발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AI리터러시, AI공정최적화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[매핑 분석 결과표 예시]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0" y="2377440"/>
          <a:ext cx="4297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과정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AI Skill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바이오플라스틱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물성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LCA 기본 실무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LCA 자동화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(미존재)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리터러시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부재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신설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(미존재)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공정 최적화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부재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신설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Step 5. 차세대 AI 반영 교육체계 개편안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- 17 -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[수평 체계 고도화]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0972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3657600"/>
                <a:gridCol w="32004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As-Is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To-Be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사유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4개 분야(혼재)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산업군×직무군 2축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직무별 AI 차이 반영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교육분야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3모듈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3모듈+AI레이어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기존 유지+AI 확장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[수직 체계 고도화]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91840"/>
          <a:ext cx="10972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3657600"/>
                <a:gridCol w="320040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As-Is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To-Be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사유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3수준(정의미흡)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AI수준Lv1~3 교차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산업전환+AI 동시고려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교육유형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정의 부재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세미나/일반/실습 명확화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유형별 운영 차별화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학습경로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연계 불명확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단계별 맞춤형 학습경로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진입점 자동 매핑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맑은 고딕"/>
              </a:defRPr>
            </a:pPr>
            <a:r>
              <a:t>[산업전환 단계 × AI 역량 수준 교차 매트릭스]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120640"/>
          <a:ext cx="10972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320040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산업전환 단계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Lv.1 AI 리터러시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Lv.2 AI 실무응용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Lv.3 AI 고도화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Lv1 선제대응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기본 개념, 동향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도구 체험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Lv2 전환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직무별 AI 활용 이해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실무 도구 활용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공정/품질 분석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Lv3 정착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전략 수립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R&amp;D 고도화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Step 6. 2026~2030 AI 융합 교육 마스터플랜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- 18 -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71323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전략 방향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AI 교육 주안점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교육 체계 확립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리터러시 도입, 우선순위 설정, 기존 과정 AI 보강·개편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교육 운영 최적화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실무응용 확대, 실습 인프라, 성과평가 기반 고도화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교육로드맵 고도화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고도화 과정 개발, 기업-교육기관 공동 모델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융합 교육 선도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AI-HRD 융합 확대, 글로벌 벤치마킹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교육 플랫폼 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맞춤형 학습경로, 블렌디드 러닝 체계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[교육로드맵 재설계 방향]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48056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4864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모듈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구성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AI 이식 방향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모듈1(인사이트)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 동향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 AI 산업 동향, AI 활용 사례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모듈2(실무공통)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ESG, LCA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 AI LCA 분석, AI Scope 3 산정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모듈3(산업특화)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산업별 실무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 산업별 AI 적용 실무 과정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Step 7~8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Step 7~8. 과정 재설계 및 AI 신규 콘텐츠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- 19 -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맑은 고딕"/>
              </a:defRPr>
            </a:pPr>
            <a:r>
              <a:t>[Step 7. 기존 과정 AI 재설계]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0972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594360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과정명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ESG 데이터관리 실무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자동수집·분석 모듈 추가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LCA 기본 실무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보강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LCA 자동화 실습 추가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바이오플라스틱 스마트 생산관리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기반 스마트 생산관리로 전면 재설계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맑은 고딕"/>
              </a:defRPr>
            </a:pPr>
            <a:r>
              <a:t>[Step 8. AI 신규 교육과정 (11개)]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35661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5486400"/>
              </a:tblGrid>
              <a:tr h="26600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산업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AI 교육과정명(안)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플라스틱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소재 물성 예측 실무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소재 설계, 시뮬레이션</a:t>
                      </a:r>
                    </a:p>
                  </a:txBody>
                  <a:tcPr/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플라스틱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스마트 생산관리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품질 예측, 불량 감지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의료기기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AI/디지털 의료기기 규제 대응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AI-SW 인허가, 사이버보안</a:t>
                      </a:r>
                    </a:p>
                  </a:txBody>
                  <a:tcPr/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의료기기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의료기기 성능 평가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임상평가, Real-world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화장품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클린뷰티 제형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제형 안정성 예측</a:t>
                      </a:r>
                    </a:p>
                  </a:txBody>
                  <a:tcPr/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화장품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소비자 트렌드 분석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데이터 분석, 맞춤형 기획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정밀화학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화학물질 위험성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위험성 예측, 규제 대응</a:t>
                      </a:r>
                    </a:p>
                  </a:txBody>
                  <a:tcPr/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정밀화학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공정안전 예측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이상징후 탐지, 안전 예측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리터러시 세미나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기초, 프롬프트 엔지니어링</a:t>
                      </a:r>
                    </a:p>
                  </a:txBody>
                  <a:tcPr/>
                </a:tc>
              </a:tr>
              <a:tr h="2660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ESG/LCA 자동화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LCA, 탄소 데이터 자동화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추진일정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Ⅲ. 과업수행계획 / 3. 추진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추진 일정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- 20 -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544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추진사항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11월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12월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착수보고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M1 교육체계 진단/AI Skill Set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1차 검증(전문가 자문회의)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중간보고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M2 AI 교육체계 재설계/마스터플랜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2차 검증(전문가 워크숍/FGI)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M3 과정 재설계/신규 콘텐츠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3차 검증(이해관계자 간담회)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최종보고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: 보고회 실시, ■ : 수행 기간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맑은 고딕"/>
              </a:defRPr>
            </a:pPr>
            <a:r>
              <a:t>Ⅳ. 과업수행 조직 및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1. 수행조직 구성 및 체계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2. 참여인력 이력사항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3. 사업 관리방안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수행조직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Ⅳ. 과업수행 조직 및 관리 / 1. 수행조직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수행조직 구성 및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- 22 -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사업전담인력 총 5명, Module별 책임자를 배정하여 산출물과 일정관리를 체계적으로 수행합니다.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103120"/>
            <a:ext cx="365760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총괄책임자(PM) 유대훈 / 본부장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34747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M1 담당</a:t>
            </a:r>
            <a:br/>
            <a:r>
              <a:t>이석주 / 팀장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017520"/>
            <a:ext cx="34747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M2 담당</a:t>
            </a:r>
            <a:br/>
            <a:r>
              <a:t>조예슬 / 선임연구원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017520"/>
            <a:ext cx="34747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108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M3 담당</a:t>
            </a:r>
            <a:br/>
            <a:r>
              <a:t>안은하 / 선임연구원</a:t>
            </a:r>
            <a:br/>
            <a:r>
              <a:t>허상희 / 연구원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438912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68580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담당자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업무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유대훈 본부장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프로젝트 총괄, 일정/품질/리스크 관리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M1 담당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이석주 팀장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기존 교육로드맵 분석, AI 역량 모델링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M2 담당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조예슬 선임연구원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교육로드맵 재설계, 마스터플랜 수립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M3 담당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안은하 선임연구원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AI 교육과정 설계, 커리큘럼 개발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M3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허상희 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데이터 분석, AI 콘텐츠 개발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투입인력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Ⅳ. 과업수행 조직 및 관리 / 2. 참여인력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참여인력 총괄명부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- 23 -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5448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1371600"/>
                <a:gridCol w="2011680"/>
                <a:gridCol w="914400"/>
                <a:gridCol w="914400"/>
                <a:gridCol w="43891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성명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직위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최종학력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경력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참여율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유대훈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본부장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석사(Global MBA)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13년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프로젝트 총괄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이석주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팀장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학사(경영학)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M1 담당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조예슬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선임연구원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석사(MBA(HR))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M2 담당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안은하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선임연구원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학사(인문사회)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M3 담당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허상희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학사(인문사회)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M3 지원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※ PM 유대훈은 전년도 KTR 용역의 PL, 이석주·조예슬도 전년도 직접 참여 인력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전문가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Ⅳ. 과업수행 조직 및 관리 / 2. 참여인력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외부 전문가 Pool 활용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- 24 -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맑은 고딕"/>
              </a:defRPr>
            </a:pPr>
            <a:r>
              <a:t>[산업별 현장전문가 — FGI 8명 + 자문위원 4명]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7373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5029200"/>
                <a:gridCol w="429768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분야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소속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화장품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라파앤코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친환경 화장품 기획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FGI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화장품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딜라이트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화장품 규제·인증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의료기기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뉴퐁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의료기기 인허가·SW 규제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FGI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의료기기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KTR(2명)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사이버보안·규제과학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플라스틱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더데이원랩, 선진이노텍, 바이오플라스틱협회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소재·성형·정책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검증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산업전반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월포스, 에버켐텍, 코리아나, 태남생활건강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진단지/AI 진단 자문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맑은 고딕"/>
              </a:defRPr>
            </a:pPr>
            <a:r>
              <a:t>[강사진 10명 + AI 전문가]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과기연합대학원, 한국화학연구원, 비즈엔몰드, SK Microworks, 엘메디, 케이에이치메디케어 등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· AI컨설팅연구소 소속 전문가 (AI 역량 체계 설계, 교육과정 검증)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사업관리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Ⅳ. 과업수행 조직 및 관리 / 3. 사업 관리방안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사업관리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- 25 -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[보고 및 협의 계획]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착수보고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목표/범위 확정, 참여인력, 수행계획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계약 후 1주이내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중간보고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M1 결과 보고, M2 추진 방향성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최종보고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전체 수행결과, 최종보고서 제출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수시보고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주요 이슈 및 단계별 결과물 보고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이슈시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[품질/리스크 관리]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7373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 영역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방법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일정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WBS 기반 주간 진도 관리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품질 관리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산출물별 체크리스트, 피어리뷰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의사소통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격주 정기보고, 수시 협의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변경 관리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변경관리 프로세스 적용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맑은 고딕"/>
              </a:defRPr>
            </a:pPr>
            <a:r>
              <a:t>사후관리: 최종 납품 후 3개월간 보완·수정 지원 / AI 교육로드맵 운영 질의 기술지원 / 차년도 AI 교육과정 자문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맑은 고딕"/>
              </a:defRPr>
            </a:pPr>
            <a:r>
              <a:t>Ⅴ. 예산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1. 세부 산출내역서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예산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Ⅴ. 예산 / 1. 세부 산출내역서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소요예산 비목 및 세부산출근거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- 27 -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4572000"/>
                <a:gridCol w="22860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내역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제시가격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세부내역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비용</a:t>
                      </a:r>
                    </a:p>
                  </a:txBody>
                  <a:tcPr>
                    <a:solidFill>
                      <a:srgbClr val="4A7C5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인건비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16,320,000원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PM(본부장) 3,500,000×1×8월×0.15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4,200,000원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팀장/선임연구원 2,700,000×3×8월×0.15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9,720,000원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연구원 2,000,000×1×8월×0.15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2,400,000원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경비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7,300,000원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전문가 수당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5,200,000원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대관/회의/인쇄/전산/소모품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2,100,000원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23,620,000원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(인건비+경비)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일반관리비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1,181,000원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(계)×5% 이내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2,471,727원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(계+일반관리비)×10% 이내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이윤율 9.97%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부가가치세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2,727,273원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×10%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30,000,000원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