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 안 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산업전환 공동훈련센터(KTR)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교육과정개발 반영 교육로드맵 체계구축 용역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097280" cy="36576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기반 AI 이식 전략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2026. 04.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시앤피컨설팅 주식회사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1430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11430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제안개요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과업의 본질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추진 전략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연속 수행의 전략적 의미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핵심 산출물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7680960" cy="11430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377440"/>
            <a:ext cx="54864" cy="11430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과업수행 계획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수행 프레임워크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Phase 1: Discover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Phase 2: Design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Phase 3: Develop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7680960" cy="11430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749040"/>
            <a:ext cx="54864" cy="11430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품질보증 및 추진일정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전문가 검증 체계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추진 일정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제안개요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371600" cy="36576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과업의 본질  ·  추진 전략  ·  연속 수행  ·  핵심 산출물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1. 과업의 본질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KTR이 직면한 3대 구조적 과제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과업은 AI 모듈 추가가 아닌, 교육체계의 구조적 전환입니다.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26517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2651760"/>
          </a:xfrm>
          <a:prstGeom prst="rectangle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1463040" cy="320040"/>
          </a:xfrm>
          <a:prstGeom prst="rectangl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교육체계는 갖췄으나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빠져 있다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25개 훈련과정 중 AI 과정 0개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교육로드맵에 AI 미반영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51760" cy="26517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00200"/>
            <a:ext cx="54864" cy="2651760"/>
          </a:xfrm>
          <a:prstGeom prst="rectangle">
            <a:avLst/>
          </a:prstGeom>
          <a:solidFill>
            <a:srgbClr val="E67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1783080"/>
            <a:ext cx="1463040" cy="320040"/>
          </a:xfrm>
          <a:prstGeom prst="rectangl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변화를 체감하나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 역량이 없다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926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전환단계 81.4% / 전담인력 미구성 58.6%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교육의 적기(適期)이나 기초부터 필요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2651760" cy="26517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600200"/>
            <a:ext cx="54864" cy="265176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783080"/>
            <a:ext cx="1463040" cy="32004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산업군마다 AI가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바꾸는 업무가 다르다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926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플라스틱: 불량예측 / 의료기기: 규제자동화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화장품: 제형예측 / 정밀화학: 위험성평가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1. 과업의 본질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1: 교육체계는 갖췄으나, AI가 빠져 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10972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운영 예정 훈련과정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중 AI 관련 과정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4114800" cy="10972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280160"/>
            <a:ext cx="54864" cy="1097280"/>
          </a:xfrm>
          <a:prstGeom prst="rectangl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0개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관련 교육과정 : 전무(全無)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KTR 사업계획서(A권)에 AI 교육로드맵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체계구축을 금년도 핵심 과업으로 명시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전년도 수립한 新 교육로드맵(3모듈×3수준)은 바이오화학 산업전환에 특화된 체계를 갖추었으나,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기술이 산업 직무를 어떻게 바꾸고 있는지에 대한 교육적 대응이 전무한 상태입니다.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교육체계 전환 방향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체계 (As-Is)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전환 방향 (To-Be)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교육 대상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산업전환 대응 인력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활용 산업전환 주도 인력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교육 내용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직무별 전문지식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직무 전문성 + AI 도구 활용의 융합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교육 체계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3모듈 분리형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모듈에 AI가 관통하는 통합형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1. 과업의 본질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2: 182개 협약기업 산업전환 수준 진단 결과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72768" cy="13716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산업환경 변화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 인식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76272" y="1188720"/>
            <a:ext cx="1572768" cy="13716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67712" y="1280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67712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전환단계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(진행 중)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188720"/>
            <a:ext cx="1572768" cy="13716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86784" y="1280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86784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전담인력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미구성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14416" y="1188720"/>
            <a:ext cx="1572768" cy="13716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05856" y="1280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05856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선제대응단계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기초 필요)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33488" y="1188720"/>
            <a:ext cx="1572768" cy="13716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24928" y="1280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7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24928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정착단계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고도화 가능)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16459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34640"/>
            <a:ext cx="54864" cy="164592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81.4%가 전환단계 = AI 교육의 적기(適期)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58.6%가 전담인력 미구성 → 'AI 전문가 양성'이 아닌 '현장 실무자의 AI 활용'이 핵심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기업의 산업전환 수준(Lv1/2/3)에 따라 AI 교육 진입점이 다르므로, 일률적 AI 교육이 아닌 수준별 맞춤 설계 필요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1. 과업의 본질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3: 산업군마다 AI가 바꾸는 업무가 전혀 다르다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'바이오화학에 AI를 도입한다'는 추상적 목표가 아니라, 산업군×직무별 구체적 매핑이 필요합니다.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75104" cy="23774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1975104" cy="411480"/>
          </a:xfrm>
          <a:prstGeom prst="rectangle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플라스틱 (13.7%)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R&amp;D: AI 소재물성 예측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155448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06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생산: AI 불량 예측/공정최적화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155448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089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규제: AI LCA 자동화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78608" y="1554480"/>
            <a:ext cx="1975104" cy="23774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78608" y="1554480"/>
            <a:ext cx="1975104" cy="411480"/>
          </a:xfrm>
          <a:prstGeom prst="rectangle">
            <a:avLst/>
          </a:prstGeom>
          <a:solidFill>
            <a:srgbClr val="E91E63"/>
          </a:solidFill>
          <a:ln/>
        </p:spPr>
      </p:sp>
      <p:sp>
        <p:nvSpPr>
          <p:cNvPr id="16" name="Text 14"/>
          <p:cNvSpPr/>
          <p:nvPr/>
        </p:nvSpPr>
        <p:spPr>
          <a:xfrm>
            <a:off x="2670048" y="157276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화장품 (18.7%)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10312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R&amp;D: AI 제형 안정성 예측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15768" y="2496312"/>
            <a:ext cx="155448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2606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기획: AI 트렌드 분석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15768" y="2999232"/>
            <a:ext cx="155448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31089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규제: AI 유해물질 예측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0016" y="1554480"/>
            <a:ext cx="1975104" cy="23774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1554480"/>
            <a:ext cx="1975104" cy="411480"/>
          </a:xfrm>
          <a:prstGeom prst="rectangle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157276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의료기기 (8.3%)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37176" y="210312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규제: AI 규제문서 자동화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37176" y="2496312"/>
            <a:ext cx="155448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2606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R&amp;D: AI 임상평가 설계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37176" y="2999232"/>
            <a:ext cx="155448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31089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보안: AI 위협 모델링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21424" y="1554480"/>
            <a:ext cx="1975104" cy="23774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1424" y="1554480"/>
            <a:ext cx="1975104" cy="411480"/>
          </a:xfrm>
          <a:prstGeom prst="rectangle">
            <a:avLst/>
          </a:prstGeom>
          <a:solidFill>
            <a:srgbClr val="FF9800"/>
          </a:solidFill>
          <a:ln/>
        </p:spPr>
      </p:sp>
      <p:sp>
        <p:nvSpPr>
          <p:cNvPr id="32" name="Text 30"/>
          <p:cNvSpPr/>
          <p:nvPr/>
        </p:nvSpPr>
        <p:spPr>
          <a:xfrm>
            <a:off x="6912864" y="157276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정밀화학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58584" y="210312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규제: AI 위험성 평가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58584" y="2496312"/>
            <a:ext cx="155448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8584" y="26060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안전: AI 공정 이상탐지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58584" y="2999232"/>
            <a:ext cx="155448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8584" y="31089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연구: AI 데이터 분석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114800"/>
            <a:ext cx="8229600" cy="4572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114800"/>
            <a:ext cx="54864" cy="457200"/>
          </a:xfrm>
          <a:prstGeom prst="rectangle">
            <a:avLst/>
          </a:prstGeom>
          <a:solidFill>
            <a:srgbClr val="D4A037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매핑은 전년도 182개 기업 전수분석 + 3대 산업군 환경분석 데이터 없이는 불가능한 작업입니다.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2. 과업 범위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 범위: 3대 과업의 인과 체인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3대 과업은 단순 병렬이 아닌, 각 과업의 결과가 다음 과업의 판단 근거가 되는 인과 구조입니다.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27432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560320" cy="41148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무엇을 가르치고 있고,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뭘 더 가르쳐야 하는가?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210312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26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Matrix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Taxonomy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분석표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발견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83280" y="1554480"/>
            <a:ext cx="2560320" cy="27432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554480"/>
            <a:ext cx="2560320" cy="41148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5727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Gap을 메우려면 교육체계를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바꾸고 5년간 실행?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834640"/>
            <a:ext cx="210312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926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2044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교육체계 개편안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5개년 마스터플랜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학습경로 가이드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설계도 완성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309360" y="1554480"/>
            <a:ext cx="2560320" cy="27432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554480"/>
            <a:ext cx="2560320" cy="41148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5727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교육과정을 어떻게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바꾸고, 무엇을 새로 만들?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2834640"/>
            <a:ext cx="210312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926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4652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과정 재설계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과정 기획안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커리큘럼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3. 추진 전략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추진 전략: Skill-Gap 기반 AI 이식 3대 원칙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교육과정의 Skill 지도 위에, 바이오화학 산업의 AI Skill을 정확히 매핑하여 Gap을 메웁니다.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9144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별도로 가르치지 않는다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직무 Skill에 AI를 얹는다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16276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58.6%가 전담인력 미구성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AI만 따로 배울 여력 없음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기존 업무 안에서 AI 활용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36576" cy="640080"/>
          </a:xfrm>
          <a:prstGeom prst="rectangl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2763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데이터 없이는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'어디에 얹을지' 판단 불가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9144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54864" cy="9144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679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데이터로 판단한다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990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의사결정에 전년도 1차 데이터 활용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0" y="267919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182개 기업 전수분석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+ 70개사 진단 + FGI 결과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유일한 보유 기관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2697480"/>
            <a:ext cx="36576" cy="640080"/>
          </a:xfrm>
          <a:prstGeom prst="rectangl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6791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업체는 데이터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수집에만 3~4개월 소요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144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57600"/>
            <a:ext cx="54864" cy="9144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88720" y="3730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우선순위를 정해서 집중한다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041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크기 × 기업 수요 기준 우선 대응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0" y="37307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한정된 자원(예산 3천만원,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8개월)으로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효과를 내려면 선택과 집중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3749040"/>
            <a:ext cx="36576" cy="640080"/>
          </a:xfrm>
          <a:prstGeom prst="rectangl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730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전년도 교육 운영 데이터가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있어야 우선순위 판정 가능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0" y="1417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8368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진입장벽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3. 추진 전략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Skill 기반 AI 이식이 우월한가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2560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2560320"/>
          </a:xfrm>
          <a:prstGeom prst="rectangle">
            <a:avLst/>
          </a:prstGeom>
          <a:solidFill>
            <a:srgbClr val="6C757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A: AI 과정 신설 중심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기존 교육과 AI 교육이 분리됨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과정 수강 ≠ 현업 적용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교육체계가 이원화됨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아무 기관이나 제안할 수 있음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3840480" cy="2560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80160"/>
            <a:ext cx="54864" cy="256032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B: Skill 기반 AI 이식 (본 제안)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기존 직무교육 안에 AI가 자연스럽게 통합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기존 업무 Skill + AI → 현업 적용 직결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하나의 통합 교육체계로 운영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기존 Skill 지도 필수 → 전년도 수행기관만 가능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48640"/>
          </a:xfrm>
          <a:prstGeom prst="rectangle">
            <a:avLst/>
          </a:prstGeom>
          <a:solidFill>
            <a:srgbClr val="1B3A2D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069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전략이 가능한 이유: 시앤피컨설팅은 전년도에 KTR 교육체계를 직접 설계한 유일한 기관입니다.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4. 연속 수행의 의미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수행: 전년도 자산이 금년도 모든 판단의 근거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수행기관이 0에서 시작할 때, 시앤피컨설팅은 이미 70%가 완성된 지점에서 출발합니다.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전년도 축적 자산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금년도 전략적 활용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없으면?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182개 기업 기초정보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역량 진단 시 기업별 맞춤 설문 설계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기업 조사 약 2개월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산업전환 진단지 + 70개사 결과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Readiness 모듈만 추가 즉시 활용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진단도구 전체 신규개발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3대 산업군 STEP 분석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적용 가능 영역 도출의 출발점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산업환경분석 약 1.5개월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25개 과정 상세분석 데이터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Matrix 즉시 구축 가능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교육과정 분석 약 1개월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 교육로드맵 (3모듈×3수준)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구조 위에 AI 이식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로드맵 이해부터 시작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전문가 22명 네트워크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착수 즉시 검증에 투입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전문가 섭외 약 2주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  ›  5. 핵심 산출물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산출물과 KTR 활용 시나리오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417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320040" cy="320040"/>
          </a:xfrm>
          <a:prstGeom prst="oval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바이오화학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Taxonomy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228600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매년 신규 AI 교육과정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기획의 기준표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51760" cy="1417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25880"/>
            <a:ext cx="320040" cy="320040"/>
          </a:xfrm>
          <a:prstGeom prst="oval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과정 × AI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분석표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828800"/>
            <a:ext cx="228600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보강/개편/신설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근거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51760" cy="1417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25880"/>
            <a:ext cx="320040" cy="320040"/>
          </a:xfrm>
          <a:prstGeom prst="oval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반영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교육체계 개편안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228600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중장기 교육편성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문서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2651760" cy="1417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971800"/>
            <a:ext cx="320040" cy="320040"/>
          </a:xfrm>
          <a:prstGeom prst="oval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5개년 AI 교육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마스터플랜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3474720"/>
            <a:ext cx="228600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사업계획서에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반영 가능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834640"/>
            <a:ext cx="2651760" cy="1417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29000" y="2971800"/>
            <a:ext cx="320040" cy="320040"/>
          </a:xfrm>
          <a:prstGeom prst="oval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0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유형별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학습경로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3474720"/>
            <a:ext cx="228600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협약기업 교육안내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활용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834640"/>
            <a:ext cx="2651760" cy="1417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2971800"/>
            <a:ext cx="320040" cy="320040"/>
          </a:xfrm>
          <a:prstGeom prst="oval">
            <a:avLst/>
          </a:prstGeom>
          <a:solidFill>
            <a:srgbClr val="2D6A4F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75120" y="2944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커리큘럼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이상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3474720"/>
            <a:ext cx="2286000" cy="0"/>
          </a:xfrm>
          <a:prstGeom prst="line">
            <a:avLst/>
          </a:prstGeom>
          <a:noFill/>
          <a:ln w="381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강사가 그대로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가능한 수준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제안개요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과업수행 계획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371600" cy="36576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  ·  9 Step  ·  핵심 의사결정 중심의 수행 체계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1. 수행 프레임워크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과업 수행체계: 3 Phase × 핵심 의사결정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Phase마다 핵심 의사결정을 명시하고, 그 판단의 근거와 결과가 다음 Phase를 결정합니다.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31089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606040" cy="59436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813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5727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5~7월 (3개월)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Skill Matrix 구축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AI Skill Taxonomy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 Gap 분석+우선순위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2423160" cy="73152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의사결정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25개 과정 중 AI 대응이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시급한 과정은?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1463040"/>
            <a:ext cx="2606040" cy="31089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463040"/>
            <a:ext cx="2606040" cy="59436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4813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5727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7~10월 (4개월)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4. 교육체계 재설계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5. 5개년 마스터플랜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6. 기업 맞춤 학습경로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3154680"/>
            <a:ext cx="242316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의사결정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5년에 걸쳐 어떤 순서로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전환할 것인가?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2606040" cy="31089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463040"/>
            <a:ext cx="2606040" cy="59436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4813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15727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9~12월 (4개월)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4652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7. 기존 과정 재설계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8. AI 신규 과정 설계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9. 상세 커리큘럼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154680"/>
            <a:ext cx="2423160" cy="73152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의사결정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커리큘럼 2개를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과정으로?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1. Discover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9144000" cy="64008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 Discover — 현황 파악 + AI Skill Set 도출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5~7월 (3개월)  |  핵심 질문: 현재 체계의 Skill과 AI Skill의 Gap은 어디인가?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23774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914400" cy="27432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교육과정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Matrix 구축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25개 교육과정에서 핵심 역량(K/S/A) 추출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[산업군 × 교육과정 × Skill] 3차원 매트릭스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2514600" cy="457200"/>
          </a:xfrm>
          <a:prstGeom prst="rectangle">
            <a:avLst/>
          </a:prstGeom>
          <a:solidFill>
            <a:srgbClr val="EB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186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전년도 분석 완료 → Skill 추출에 집중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1463040"/>
            <a:ext cx="2697480" cy="23774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554480"/>
            <a:ext cx="914400" cy="27432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바이오화학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Taxonomy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468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산업군×직무군별 AI Skill 도출·체계화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역량 3수준(리터러시/실무응용/고도화)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3200400"/>
            <a:ext cx="2514600" cy="457200"/>
          </a:xfrm>
          <a:prstGeom prst="rectangle">
            <a:avLst/>
          </a:prstGeom>
          <a:solidFill>
            <a:srgbClr val="EBF5FB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2186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문헌+전문가+SQF 교차 검증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80760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463040"/>
            <a:ext cx="2697480" cy="23774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554480"/>
            <a:ext cx="914400" cy="27432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분석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우선순위 판정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468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× Step 2 교차 매핑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유지/보강/개편/신설 4유형 분류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3200400"/>
            <a:ext cx="2514600" cy="457200"/>
          </a:xfrm>
          <a:prstGeom prst="rectangle">
            <a:avLst/>
          </a:prstGeom>
          <a:solidFill>
            <a:srgbClr val="EBF5F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2186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크기 × 기업 수요 매트릭스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8229600" cy="5029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023360"/>
            <a:ext cx="54864" cy="502920"/>
          </a:xfrm>
          <a:prstGeom prst="rectangle">
            <a:avLst/>
          </a:prstGeom>
          <a:solidFill>
            <a:srgbClr val="D4A03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69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검증: 전문가 자문회의 (AI컨설팅연구소 + 산업전문가)  →  Phase 2 진입 판정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1  ›  Step 2 상세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바이오화학 AI Skill Taxonomy — 현장에서 AI가 실제로 하는 일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2011680"/>
                <a:gridCol w="49377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Skill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현장의 변화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플라스틱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소재물성 예측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배합비 변경 시 물성을 ML로 예측 → 실험 50% 절감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플라스틱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불량 예측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사출 공정 데이터로 불량률 사전 예측 → 폐기율 감소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플라스틱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LCA 자동화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전과정평가 데이터 자동수집·산정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의료기기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규제문서 자동화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유사제품 검색·비교분석 NLP 자동화 → 인허가 단축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의료기기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임상평가 설계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data 기반 임상평가 자동 설계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화장품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제형 안정성 예측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원료 조합 안정성 예측모델로 시험기간 단축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화장품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트렌드 분석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SNS·리뷰에서 선호 성분·키워드 자동 추출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정밀화학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공정 이상탐지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 데이터 실시간 분석 → 이상징후 사전 감지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수준의 구체성이 있어야 "바이오화학에서 AI가 뭘 하는지 진짜 안다"는 인상을 줄 수 있습니다.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1  ›  Step 3 상세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분석 → 우선순위 판정 매트릭스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과정별 대응 유형 4가지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731520" cy="365760"/>
          </a:xfrm>
          <a:prstGeom prst="rectangle">
            <a:avLst/>
          </a:prstGeom>
          <a:solidFill>
            <a:srgbClr val="6C757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적용 영역 없음 → 현행 유지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731520" cy="36576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모듈 1~2개 추가로 충분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731520" cy="36576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14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중심 과정 구조 전면 재설계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731520" cy="36576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기존에 없는 AI 전용 영역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 판정 매트릭스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Gap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10312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20640" y="1737360"/>
            <a:ext cx="1920240" cy="822960"/>
          </a:xfrm>
          <a:prstGeom prst="rectangle">
            <a:avLst/>
          </a:prstGeom>
          <a:solidFill>
            <a:srgbClr val="E3F2FD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783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보강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(빠른 적용)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1737360"/>
            <a:ext cx="1920240" cy="822960"/>
          </a:xfrm>
          <a:prstGeom prst="rectangle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783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최우선 개편/신설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(2026년 착수)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2560320"/>
            <a:ext cx="1920240" cy="822960"/>
          </a:xfrm>
          <a:prstGeom prst="rectangle">
            <a:avLst/>
          </a:prstGeom>
          <a:solidFill>
            <a:srgbClr val="F5F5F5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606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2560320"/>
            <a:ext cx="1920240" cy="822960"/>
          </a:xfrm>
          <a:prstGeom prst="rectangle">
            <a:avLst/>
          </a:prstGeom>
          <a:solidFill>
            <a:srgbClr val="E8F5E9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606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개편/신설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(2027~28년 순차)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429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小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40880" y="3429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大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 高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 低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8229600" cy="7315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749040"/>
            <a:ext cx="54864" cy="73152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핵심 의사결정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023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"25개 기존 과정 중, AI 대응이 가장 시급한 과정은 무엇인가?"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기준: Gap 크기 × 협약기업 수요(전년도 진단 데이터) × 강사 확보 가능성 → 이 결과가 Phase 2 전체 방향 결정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2. Design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9144000" cy="64008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2. Design — AI 교육체계 재설계 + 5개년 마스터플랜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7~10월 (4개월)  |  핵심 질문: 교육체계를 어떻게 바꾸고, 5년간 어떤 순서로 실행할 것인가?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21945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914400" cy="27432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반영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교육체계 재설계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3모듈 유지 + 각 모듈에 AI 레이어 이식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산업군×직무군 2축 체계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산업전환 3수준 × AI 역량 3수준 교차 매트릭스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463040"/>
            <a:ext cx="2697480" cy="21945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554480"/>
            <a:ext cx="914400" cy="27432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5개년 AI 교육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마스터플랜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468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2026~2030 연도별 전략 방향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도입→확산→고도화→선도→완성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신규/개편 과정 배치 + 소요 자원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697480" cy="21945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554480"/>
            <a:ext cx="914400" cy="27432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협약기업 맞춤형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학습경로 설계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468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산업전환 단계 × AI 역량 수준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진입점 자동 매핑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유형별 추천 학습경로 3~5개 설계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5029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40480"/>
            <a:ext cx="54864" cy="502920"/>
          </a:xfrm>
          <a:prstGeom prst="rectangle">
            <a:avLst/>
          </a:prstGeom>
          <a:solidFill>
            <a:srgbClr val="D4A03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검증: 전문가 워크숍/FGI (산업별 현장전문가 + KTR 강사진)  →  Phase 3 진입 판정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2  ›  Step 4 상세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반영 교육체계: 산업전환 × AI 역량 교차 매트릭스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산업전환 단계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Lv.1 AI 리터러시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Lv.2 AI 실무응용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Lv.3 AI 고도화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Lv1 선제대응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(14.3%)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기본 개념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 AI 동향 이해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도구 체험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기초 데이터 분석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ADB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Lv2 전환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(81.4%)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직무별 AI 활용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가능성 이해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실무 도구 활용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 데이터 분석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기반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공정/품질 분석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Lv3 정착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(4.3%)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ADB5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전략 수립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업무 혁신 설계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기반 R&amp;D 고도화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스마트 팩토리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타겟: 81.4%가 분포한 전환단계 × AI 실무응용 영역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모듈별 AI 이식 방향</a:t>
            </a:r>
            <a:endParaRPr lang="en-US" sz="12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4114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구성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이식 방향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인사이트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친환경 바이오화학 산업 동향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바이오화학×AI 산업 트렌드, AI 리터러시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실무공통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환경경영, ESG경영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AI 기반 LCA 분석, AI ESG 데이터관리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플라스틱/의료기기/화장품/정밀화학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산업별 AI 적용 실무 과정 (8개 이상)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2  ›  Step 5 상세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2026~2030 AI 교육 마스터플랜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27632" cy="31089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627632" cy="4572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구축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도입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과정 AI 보강 착수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인프라 점검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1444752" cy="502920"/>
          </a:xfrm>
          <a:prstGeom prst="rectangle">
            <a:avLst/>
          </a:prstGeom>
          <a:solidFill>
            <a:srgbClr val="E3F2F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1089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3~4개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과정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01952" y="21031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29968" y="1188720"/>
            <a:ext cx="1627632" cy="31089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29968" y="1188720"/>
            <a:ext cx="1627632" cy="4572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2029968" y="11887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29968" y="14173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21408" y="178308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실무응용 과정 확대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인프라 구축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측정 체계 구축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21408" y="3108960"/>
            <a:ext cx="1444752" cy="502920"/>
          </a:xfrm>
          <a:prstGeom prst="rectangle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2121408" y="31089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5~6개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21408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과정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0" y="21031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85616" y="1188720"/>
            <a:ext cx="1627632" cy="31089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85616" y="1188720"/>
            <a:ext cx="1627632" cy="4572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3785616" y="11887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85616" y="14173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고도화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77056" y="178308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고도화 과정 개발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과정 개선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 중간 점검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77056" y="3108960"/>
            <a:ext cx="1444752" cy="502920"/>
          </a:xfrm>
          <a:prstGeom prst="rectangle">
            <a:avLst/>
          </a:prstGeom>
          <a:solidFill>
            <a:srgbClr val="FFF8E1"/>
          </a:solidFill>
          <a:ln/>
        </p:spPr>
      </p:sp>
      <p:sp>
        <p:nvSpPr>
          <p:cNvPr id="29" name="Text 27"/>
          <p:cNvSpPr/>
          <p:nvPr/>
        </p:nvSpPr>
        <p:spPr>
          <a:xfrm>
            <a:off x="3877056" y="31089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7~8개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77056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과정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13248" y="21031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41264" y="1188720"/>
            <a:ext cx="1627632" cy="31089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41264" y="1188720"/>
            <a:ext cx="1627632" cy="4572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4" name="Text 32"/>
          <p:cNvSpPr/>
          <p:nvPr/>
        </p:nvSpPr>
        <p:spPr>
          <a:xfrm>
            <a:off x="5541264" y="11887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41264" y="14173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32704" y="178308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 간 AI 교류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신산업 AI 과정 개발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벤치마킹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32704" y="3108960"/>
            <a:ext cx="1444752" cy="502920"/>
          </a:xfrm>
          <a:prstGeom prst="rectangle">
            <a:avLst/>
          </a:prstGeom>
          <a:solidFill>
            <a:srgbClr val="FBE9E7"/>
          </a:solidFill>
          <a:ln/>
        </p:spPr>
      </p:sp>
      <p:sp>
        <p:nvSpPr>
          <p:cNvPr id="38" name="Text 36"/>
          <p:cNvSpPr/>
          <p:nvPr/>
        </p:nvSpPr>
        <p:spPr>
          <a:xfrm>
            <a:off x="5632704" y="31089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9~10개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32704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과정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68896" y="21031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96912" y="1188720"/>
            <a:ext cx="1627632" cy="310896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96912" y="1188720"/>
            <a:ext cx="1627632" cy="4572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43" name="Text 41"/>
          <p:cNvSpPr/>
          <p:nvPr/>
        </p:nvSpPr>
        <p:spPr>
          <a:xfrm>
            <a:off x="7296912" y="11887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96912" y="141732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88352" y="178308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맞춤형 학습경로 완성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온-오프라인 블렌디드 러닝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표준 모델 확정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88352" y="3108960"/>
            <a:ext cx="1444752" cy="502920"/>
          </a:xfrm>
          <a:prstGeom prst="rectangle">
            <a:avLst/>
          </a:prstGeom>
          <a:solidFill>
            <a:srgbClr val="F3E5F5"/>
          </a:solidFill>
          <a:ln/>
        </p:spPr>
      </p:sp>
      <p:sp>
        <p:nvSpPr>
          <p:cNvPr id="47" name="Text 45"/>
          <p:cNvSpPr/>
          <p:nvPr/>
        </p:nvSpPr>
        <p:spPr>
          <a:xfrm>
            <a:off x="7388352" y="31089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88352" y="340156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과정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2  ›  Step 6 상세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협약기업 맞춤형 AI 학습경로 — KTR만의 차별화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산업전환 단계에 따라 AI 교육 진입점을 자동 매핑합니다.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8686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868680"/>
          </a:xfrm>
          <a:prstGeom prst="rectangle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플라스틱 제조 50인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Lv1(선제대응)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645920"/>
            <a:ext cx="1828800" cy="457200"/>
          </a:xfrm>
          <a:prstGeom prst="rectangl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세미나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1828800" cy="457200"/>
          </a:xfrm>
          <a:prstGeom prst="rectangl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ESG 데이터관리 실무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0" y="1691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645920"/>
            <a:ext cx="1828800" cy="457200"/>
          </a:xfrm>
          <a:prstGeom prst="rectangl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(수준 재진단)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8229600" cy="8686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14600"/>
            <a:ext cx="54864" cy="868680"/>
          </a:xfrm>
          <a:prstGeom prst="rectangl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의료기기 중견 200인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Lv2(전환)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2697480"/>
            <a:ext cx="1828800" cy="457200"/>
          </a:xfrm>
          <a:prstGeom prst="rectangle">
            <a:avLst/>
          </a:prstGeom>
          <a:solidFill>
            <a:srgbClr val="4CAF5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8892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0" y="2743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697480"/>
            <a:ext cx="1828800" cy="457200"/>
          </a:xfrm>
          <a:prstGeom prst="rectangle">
            <a:avLst/>
          </a:prstGeom>
          <a:solidFill>
            <a:srgbClr val="4CAF5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AI/디지털 의료기기 규제 대응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0" y="2743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697480"/>
            <a:ext cx="1828800" cy="457200"/>
          </a:xfrm>
          <a:prstGeom prst="rectangle">
            <a:avLst/>
          </a:prstGeom>
          <a:solidFill>
            <a:srgbClr val="4CAF5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1228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스마트 성능 평가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8229600" cy="8686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66160"/>
            <a:ext cx="54864" cy="868680"/>
          </a:xfrm>
          <a:prstGeom prst="rectangle">
            <a:avLst/>
          </a:prstGeom>
          <a:solidFill>
            <a:srgbClr val="E91E6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화장품 벤처 30인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Lv2(전환)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3749040"/>
            <a:ext cx="1828800" cy="457200"/>
          </a:xfrm>
          <a:prstGeom prst="rectangle">
            <a:avLst/>
          </a:prstGeom>
          <a:solidFill>
            <a:srgbClr val="E91E63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88920" y="3749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0" y="3794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749040"/>
            <a:ext cx="1828800" cy="457200"/>
          </a:xfrm>
          <a:prstGeom prst="rectangle">
            <a:avLst/>
          </a:prstGeom>
          <a:solidFill>
            <a:srgbClr val="E91E63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3749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소비자 트렌드 분석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83680" y="3794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66560" y="3749040"/>
            <a:ext cx="1828800" cy="457200"/>
          </a:xfrm>
          <a:prstGeom prst="rectangle">
            <a:avLst/>
          </a:prstGeom>
          <a:solidFill>
            <a:srgbClr val="E91E63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12280" y="3749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제형 최적화 실무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4206240"/>
            <a:ext cx="8229600" cy="4572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206240"/>
            <a:ext cx="54864" cy="4572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스스로 자기 경로를 찾을 수 있는 가이드 형태로 산출물화 → KTR 교육담당자가 협약기업 안내 시 즉시 활용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3. Develop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"/>
            <a:ext cx="9144000" cy="64008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3. Develop — 교육과정 재설계 + AI 신규 콘텐츠 개발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9~12월 (4개월)  |  핵심 질문: 실제 교육과정을 어떻게 바꾸고, 무엇을 새로 만들 것인가?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20116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914400" cy="27432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교육과정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융합 재설계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보강 과정: 기존 + AI 모듈 1~2개 추가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개편 과정: AI 중심 과정명·목표·교과목 전면 재구성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463040"/>
            <a:ext cx="2697480" cy="20116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554480"/>
            <a:ext cx="914400" cy="27432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직무 맞춤형 AI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교육과정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468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산업특화 AI 과정 8개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AI 과정 3개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총 11개 신규 과정 기획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697480" cy="201168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554480"/>
            <a:ext cx="914400" cy="27432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커리큘럼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(2개 이상)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468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교시별 교과목·AI 실습 상세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(도구/데이터/과제)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강사가 그대로 수업 가능한 수준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5029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57600"/>
            <a:ext cx="54864" cy="502920"/>
          </a:xfrm>
          <a:prstGeom prst="rectangle">
            <a:avLst/>
          </a:prstGeom>
          <a:solidFill>
            <a:srgbClr val="D4A03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03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검증: 이해관계자 간담회 (KTR 담당자 + 강사진 + 전문가)  →  최종 산출물 확정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3  ›  Step 8 상세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신규 교육과정 설계 (안) — 산업특화 8개 + 공통 3개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45720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과정명(안)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수준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플라스틱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활용 소재 물성 예측 실무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플라스틱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기반 스마트 생산관리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Lv.2~3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의료기기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AI/디지털 의료기기 규제 대응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의료기기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활용 스마트 성능 평가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화장품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기반 클린뷰티 제형 최적화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화장품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활용 소비자 트렌드 분석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정밀화학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화학물질 위험성 평가 실무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Lv.2~3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산업특화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정밀화학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공정안전 예측 및 이상탐지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바이오화학 AI 리터러시 세미나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활용 ESG 데이터관리 실무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활용 LCA 자동화 실무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  ›  Phase 3  ›  Step 9 상세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커리큘럼 예시: AI 기반 바이오플라스틱 스마트 생산관리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플라스틱 산업 생산·품질 담당자 (Lv2~3)  |  시간: 8시간 (1일)  |  정원: 20명  |  실습 비중 40% 이상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029200"/>
                <a:gridCol w="73152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교과목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교수법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1교시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바이오플라스틱 생산공정 개요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2교시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기반 공정 최적화 원리 (ML, 디지털 트윈, 예지보전)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강의+시연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3교시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품질 예측 실무 (Python+scikit-learn / 사출 공정 데이터)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실습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4교시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스마트 생산관리 사례 분석 (국내외 AI 도입 사례, ROI)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사례연구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5교시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자사 공정 AI 적용 설계 (AI 도입 타당성 검토서 작성)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PBL+발표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6교시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종합 토론 및 마무리 (Q&amp;A, 현업 적용 계획 수립)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토론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566160"/>
            <a:ext cx="8595360" cy="91440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566160"/>
            <a:ext cx="54864" cy="91440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3교시 AI 실습 상세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도구: Python scikit-learn 또는 AutoML 플랫폼  |  데이터: 사출 공정 파라미터(온도·압력·사이클타임) 샘플 데이터셋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과제: 불량률 예측 모델 구축 → 정확도 확인 → 공정 파라미터 최적값 도출  |  5교시 템플릿: "AI 도입 타당성 검토서" 양식 제공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과업수행 계획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품질보증  ›  1. 검증 체계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 전문가 검증 체계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전년도에 확보한 22명의 전문가 네트워크를 즉시 가동합니다.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2560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697480" cy="457200"/>
          </a:xfrm>
          <a:prstGeom prst="rectangl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5361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완료 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대상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Matrix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Set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방법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자문회의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전문가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AI컨설팅연구소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산업전문가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37560" y="1463040"/>
            <a:ext cx="2697480" cy="2560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463040"/>
            <a:ext cx="2697480" cy="457200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15361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완료 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057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대상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분석표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교육체계 개편안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마스터플랜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방법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9000" y="2880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워크숍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(FGI)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3337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전문가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900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현장전문가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KTR 강사진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1463040"/>
            <a:ext cx="2697480" cy="25603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463040"/>
            <a:ext cx="2697480" cy="457200"/>
          </a:xfrm>
          <a:prstGeom prst="rectangle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89520" y="15361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완료 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057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대상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9360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재설계안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과정안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커리큘럼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방법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2880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간담회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3337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전문가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KTR 담당자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강사진 + 전문가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품질보증 및 추진일정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품질보증  ›  2. 추진 일정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추진 일정 (WBS)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추진사항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착수보고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4A0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(Discover)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Gate 1 (전문가 자문)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중간보고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4A0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(Design)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Gate 2 (전문가 워크숍)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(Develop)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Gate 3 (간담회)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최종보고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4A0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3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품질보증 및 추진일정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Ⅴ. 기대효과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기대효과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정량적 기대효과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75104" cy="11887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54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4대 산업군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Taxonomy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수준별 역량 체계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8608" y="1508760"/>
            <a:ext cx="1975104" cy="11887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0048" y="1554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70048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융합 교육과정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신규·개편안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0016" y="1508760"/>
            <a:ext cx="1975104" cy="11887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91456" y="1554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91456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마스터플랜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21424" y="1508760"/>
            <a:ext cx="1975104" cy="118872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12864" y="155448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12864" y="20116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커리큘럼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(수업 즉시 가능)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정성적 기대효과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3200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54864" cy="320040"/>
          </a:xfrm>
          <a:prstGeom prst="rectangle">
            <a:avLst/>
          </a:prstGeom>
          <a:solidFill>
            <a:srgbClr val="95D5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19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협약기업 재직자의 AI 리터러시 및 실무 활용 역량 체계적 강화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8229600" cy="3200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75888"/>
            <a:ext cx="54864" cy="320040"/>
          </a:xfrm>
          <a:prstGeom prst="rectangle">
            <a:avLst/>
          </a:prstGeom>
          <a:solidFill>
            <a:srgbClr val="95D5B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산업전환 단계별(선제대응→전환→정착) 맞춤형 AI 교육 경로 제공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8229600" cy="3200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59936"/>
            <a:ext cx="54864" cy="320040"/>
          </a:xfrm>
          <a:prstGeom prst="rectangle">
            <a:avLst/>
          </a:prstGeom>
          <a:solidFill>
            <a:srgbClr val="95D5B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87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KTR 산업전환 공동훈련센터의 AI 교육 플랫폼으로서의 위상 강화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43984"/>
            <a:ext cx="8229600" cy="320040"/>
          </a:xfrm>
          <a:prstGeom prst="rectangl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443984"/>
            <a:ext cx="54864" cy="320040"/>
          </a:xfrm>
          <a:prstGeom prst="rectangle">
            <a:avLst/>
          </a:prstGeom>
          <a:solidFill>
            <a:srgbClr val="95D5B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4714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산업전환 교육 표준 모델 구축 — 바이오화학 산업 인력 경쟁력 제고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Ⅴ. 기대효과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931920" y="2468880"/>
            <a:ext cx="1280160" cy="36576"/>
          </a:xfrm>
          <a:prstGeom prst="rectangle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시앤피컨설팅 주식회사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전년도 데이터와 경험을 기반으로,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KTR 바이오화학 교육체계에 AI를 체계적으로 이식하겠습니다.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KTR AI 교육로드맵 체계구축 제안서</dc:title>
  <dc:subject>PptxGenJS Presentation</dc:subject>
  <dc:creator>시앤피컨설팅</dc:creator>
  <cp:lastModifiedBy>시앤피컨설팅</cp:lastModifiedBy>
  <cp:revision>1</cp:revision>
  <dcterms:created xsi:type="dcterms:W3CDTF">2026-04-02T01:32:21Z</dcterms:created>
  <dcterms:modified xsi:type="dcterms:W3CDTF">2026-04-02T01:32:21Z</dcterms:modified>
</cp:coreProperties>
</file>