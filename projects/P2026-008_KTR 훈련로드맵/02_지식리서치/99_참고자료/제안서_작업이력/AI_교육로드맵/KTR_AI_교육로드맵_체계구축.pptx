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5224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0"/>
            <a:ext cx="9144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산업전환 공동훈련센터(KTR)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교육과정개발 반영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교육로드맵 체계 구축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친환경 바이오화학 AI 직무 역량 모델링 및 교육체계 개편방안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발주기관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(재)한국화학융합시험연구원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제안기관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 주식회사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32320" y="914400"/>
            <a:ext cx="2286000" cy="2286000"/>
          </a:xfrm>
          <a:prstGeom prst="ellipse">
            <a:avLst/>
          </a:prstGeom>
          <a:solidFill>
            <a:srgbClr val="0891B2">
              <a:alpha val="10000"/>
            </a:srgbClr>
          </a:solidFill>
          <a:ln w="1905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2011680"/>
            <a:ext cx="1645920" cy="164592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7315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544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역량체계 프레임워크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1901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역량 영역 x 12개 역량 항목 x 3단계 수준 체계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31720"/>
            <a:ext cx="73152" cy="6583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317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2404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교육체계 개편방안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26791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3모듈 x 3수준 기존 구조 위에 AI 레이어 이식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73152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089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3182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5개년 마스터플랜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34564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Layer x 3 Phase 프레임워크 (2026~2030)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886200"/>
            <a:ext cx="73152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88620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63040" y="3959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과정전환 우선순위 설계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42336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25개 기존 과정의 AI 전환 유형 및 순서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457200" y="246888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역량체계 프레임워크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역량 영역 x 12개 역량 항목 x 3단계 수준 체계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914400"/>
            <a:ext cx="2743200" cy="2743200"/>
          </a:xfrm>
          <a:prstGeom prst="ellipse">
            <a:avLst/>
          </a:prstGeom>
          <a:solidFill>
            <a:srgbClr val="0891B2">
              <a:alpha val="8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AI 역량체계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역량-스킬 관계 정의 및 설계 방향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역량-스킬 계층 구조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3474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965960"/>
            <a:ext cx="54864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1993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 영역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2219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전환에 필요한 능력의 대분류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606040"/>
            <a:ext cx="3474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60604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 항목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8620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 내 구체적 능력 단위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3474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246120"/>
            <a:ext cx="54864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273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502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전문지식 기반의 숙달된 행동 능력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2468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3108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스킬의 3요소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0" y="1965960"/>
            <a:ext cx="3474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66360" y="2057400"/>
            <a:ext cx="411480" cy="411480"/>
          </a:xfrm>
          <a:prstGeom prst="ellipse">
            <a:avLst/>
          </a:prstGeom>
          <a:solidFill>
            <a:srgbClr val="ECFEFF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15000" y="2020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전문지식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22768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스킬 수행에 필요한 핵심 지식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2715768"/>
            <a:ext cx="3474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166360" y="2807208"/>
            <a:ext cx="411480" cy="411480"/>
          </a:xfrm>
          <a:prstGeom prst="ellipse">
            <a:avLst/>
          </a:prstGeom>
          <a:solidFill>
            <a:srgbClr val="ECFEFF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15000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맥락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15000" y="30266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직무/상황에서 발휘되는지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3465576"/>
            <a:ext cx="3474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166360" y="3557016"/>
            <a:ext cx="411480" cy="411480"/>
          </a:xfrm>
          <a:prstGeom prst="ellipse">
            <a:avLst/>
          </a:prstGeom>
          <a:solidFill>
            <a:srgbClr val="ECFEFF"/>
          </a:solidFill>
          <a:ln/>
        </p:spPr>
      </p:sp>
      <p:sp>
        <p:nvSpPr>
          <p:cNvPr id="39" name="Text 37"/>
          <p:cNvSpPr/>
          <p:nvPr/>
        </p:nvSpPr>
        <p:spPr>
          <a:xfrm>
            <a:off x="516636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715000" y="3520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수준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15000" y="3776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할 수 있는 행위의 수준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AI 역량체계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역량 영역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192024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164592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리터러시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880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기본 개념과 산업 적용 가능성을 이해하고, 자사 직무 활용 방향을 판단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13716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직무 공통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0" y="137160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0" y="1371600"/>
            <a:ext cx="192024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3154680" y="164592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31546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5176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데이터 활용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97480" y="2880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현장 데이터를 수집/정제/분석하여 AI 모델 입력 및 데이터 기반 의사결정 수행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34640" y="3840480"/>
            <a:ext cx="13716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생산/품질/R&amp;D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137160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371600"/>
            <a:ext cx="19202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164592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5488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도구 적용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2880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AI, 직무 특화 솔루션 등을 업무 프로세스에 적용하여 효율성/품질 향상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37760" y="3840480"/>
            <a:ext cx="13716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직무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66560" y="137160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1371600"/>
            <a:ext cx="19202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Shape 33"/>
          <p:cNvSpPr/>
          <p:nvPr/>
        </p:nvSpPr>
        <p:spPr>
          <a:xfrm>
            <a:off x="7360920" y="164592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73609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5800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융합 혁신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03720" y="28803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업무 방식을 재설계하거나 신규 비즈니스 창출, AI 도입 리스크 관리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040880" y="3840480"/>
            <a:ext cx="13716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R&amp;D/기획/리더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AI 역량체계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역량 항목 상세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2011680"/>
                <a:gridCol w="49377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역량 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R1-1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기초 개념 이해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AI/ML/DL 구분, 생성형 AI 원리, 가능성과 한계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R1-2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산업별 AI 적용 인식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바이오화학 4대 산업군 AI 적용 사례 이해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R1-3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전환 전략적 판단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직무 AI 적용 우선순위/비용효과 판단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R2-1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데이터 수집/관리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데이터 표준화, DB 관리, 품질 확보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R2-2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전처리/정제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결측치/이상치 처리, AI 학습용 데이터 준비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R2-3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분석/시각화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 분석, 트렌드 파악, 대시보드 의사결정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R3-1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업무 활용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설계, 문서작성/검색/아이디어 도출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R3-2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직무 특화 AI 도구 운용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 AI, 품질 AI, 분석 AI 등 전문 도구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R3-3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결과 검증/활용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출력 신뢰성 검증, 의사결정 반영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R4-1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프로세스 자동화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반복업무 자동화, AI-RPA 연계 워크플로우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R4-2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예측/최적화 참여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전문가로서 AI 모델링 참여, 검증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R4-3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거버넌스/리스크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보안, AI 윤리, 규제 준수, 변화관리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AI 역량체계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역량 수준: 산업전환 단계 연동 3단계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554480"/>
            <a:ext cx="82296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554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이해/인식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선제대응 (14.3%)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 있다, 인식한다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1508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전문지식을 이해하고, 자기 직무에서 적용 가능한 영역을 식별할 수 있다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6888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651760"/>
            <a:ext cx="82296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651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8308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83080" y="2816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(81.4%)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83080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활용한다, 적용한다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0" y="2606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전문지식을 바탕으로 AI 도구를 직무에 직접 적용하여 성과를 개선할 수 있다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749040"/>
            <a:ext cx="82296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49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783080" y="3639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혁신/주도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78308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 (4.3%)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83080" y="4133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설계한다, 주도한다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0" y="37033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전문지식을 바탕으로 새로운 업무 방식을 설계하고 조직 AI 전환을 주도할 수 있다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0" y="2606040"/>
            <a:ext cx="32004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0" y="2606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★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457200" y="2468880"/>
            <a:ext cx="10972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교육체계 개편방안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3모듈 x 3수준 구조 위에 AI 레이어 이식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914400"/>
            <a:ext cx="2743200" cy="27432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교육체계 개편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개편 3대 원칙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260604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1600200"/>
            <a:ext cx="685800" cy="6858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구조 위에 이식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3모듈 x 3수준 유지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별도 체계로 만들지 않음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520440"/>
            <a:ext cx="23317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20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전년도 KTR 합의 체계 안정성 + 강사/운영 인프라 호환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91840" y="137160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371600"/>
            <a:ext cx="26060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4251960" y="160020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2900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기존 Skill에 결합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2788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과정의 바이오화학 Skill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AI Skill = 업스킬링된 과정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29000" y="3520440"/>
            <a:ext cx="23317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520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58.6%가 전담인력 미구성 - AI만 따로 배울 여력 없음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26480" y="137160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371600"/>
            <a:ext cx="26060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7086600" y="160020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6364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산업전환이 주축, AI는 레이어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2788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 정체성 = 산업전환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전환을 가속하는 도구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3520440"/>
            <a:ext cx="23317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520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산업전환 공동훈련센터의 설립 목적 부합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교육체계 개편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x 수직 교차: 전체 교육체계 지도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325880"/>
            <a:ext cx="201168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모듈1: 인사이트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201168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모듈2: 실무공통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325880"/>
            <a:ext cx="22860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모듈3: 산업특화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83080"/>
            <a:ext cx="164592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83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Lv3 (4.3%)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164592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Lv2 (81.4%)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164592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선제대응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Lv1 (14.3%)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94560" y="1783080"/>
            <a:ext cx="2011680" cy="822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219456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산업전략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R4 혁신/전환주도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97680" y="1783080"/>
            <a:ext cx="2011680" cy="822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환경경영전략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R4 전략수립/모델구축참여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0" y="1783080"/>
            <a:ext cx="2286000" cy="822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직무고도화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R4 설계/프로세스혁신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94560" y="2743200"/>
            <a:ext cx="2011680" cy="8229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8" name="Text 26"/>
          <p:cNvSpPr/>
          <p:nvPr/>
        </p:nvSpPr>
        <p:spPr>
          <a:xfrm>
            <a:off x="219456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산업심화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R1 인식, R3 생성AI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97680" y="2743200"/>
            <a:ext cx="2011680" cy="8229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환경경영실무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R2 데이터, R3 도구적용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0" y="2743200"/>
            <a:ext cx="2286000" cy="8229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직무실무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R3 도구, R3 직무AI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94560" y="3703320"/>
            <a:ext cx="2011680" cy="82296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34" name="Text 32"/>
          <p:cNvSpPr/>
          <p:nvPr/>
        </p:nvSpPr>
        <p:spPr>
          <a:xfrm>
            <a:off x="2194560" y="3703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산업기초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R1 리터러시/개념이해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97680" y="3703320"/>
            <a:ext cx="2011680" cy="82296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36" name="Text 34"/>
          <p:cNvSpPr/>
          <p:nvPr/>
        </p:nvSpPr>
        <p:spPr>
          <a:xfrm>
            <a:off x="4297680" y="3703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환경경영기초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R1 체험/데이터기초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00800" y="3703320"/>
            <a:ext cx="2286000" cy="82296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직무기초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R1 인식/사례이해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" y="3584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 타겟 (81.4%)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교육체계 개편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유형별 학습경로 4유형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73152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508760"/>
            <a:ext cx="9144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508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1691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진입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선제대응 기업, 신입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인식(모듈1) → 기초 실무+AI 체험(모듈2) → 수준 재진단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0" y="1554480"/>
            <a:ext cx="7772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1554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16~24H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194560"/>
            <a:ext cx="73152" cy="685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331720"/>
            <a:ext cx="914400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331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B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2514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직행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83080" y="2240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기업, 중급 R&amp;D/기획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83080" y="24871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[AI 인식 미이수시만] → 산업특화+AI 적용(모듈3)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0" y="2377440"/>
            <a:ext cx="7772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2377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8~16H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017520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3154680"/>
            <a:ext cx="91440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데이터→공정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8308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기업, 중급 생산/품질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3310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데이터 기초(모듈2) → 산업특화+AI 공정(모듈3)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72400" y="3200400"/>
            <a:ext cx="7772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0" y="32004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16~24H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3840480"/>
            <a:ext cx="73152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" y="3977640"/>
            <a:ext cx="91440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3977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" y="4160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전략/고도화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78308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 기업, 고급/전문가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83080" y="41330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전략 과정 → 산업특화 AI 심화(모듈3)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72400" y="4023360"/>
            <a:ext cx="7772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0" y="40233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16~32H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학습경로 가이드를 산출물로 제작 → KTR 교육담당자가 협약기업에 교육 안내 시 즉시 활용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교육체계 개편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개편 전후 비교 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As-Is (전년도)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To-Be (금년도)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과정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과정 전체가 AI 결합형으로 전환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수직축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산업전환 3단계 (정의 미흡)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 + AI 레이어 자연 연동 + 행동지표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수평축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산업군 단일축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산업군 x 직무군 2축 체계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교육유형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인식형/적용형/심화형 (실습 비중 기준)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불명확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4유형 맞춤 경로 + 진단 기반 자동 매핑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과정 설계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바이오화학 Skill Only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Skill + AI Skill 결합 (업스킬링/리스킬링)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457200" y="246888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5개년 마스터플랜 (2026~2030)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Layer x 3 Phase 프레임워크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914400"/>
            <a:ext cx="2743200" cy="27432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5개년 마스터플랜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융합 교육 실현을 위한 5개 Layer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481328"/>
            <a:ext cx="54864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4813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14081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진단/설계 기반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준비도를 어떻게 측정하는가?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감으로 과정 만들고, 기업 수요와 동떨어진 교육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029968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029968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139696"/>
            <a:ext cx="548640" cy="3291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13969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20665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콘텐츠/과정 체계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3042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순서로, 어떤 깊이로 AI를 결합하는가?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0" y="2121408"/>
            <a:ext cx="3474720" cy="3657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2121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일부 과정만 AI 옷을 입히고 나머지는 방치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688336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688336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2798064"/>
            <a:ext cx="54864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279806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1600" y="27249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교수/전달 체계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29626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결합 과정을 가르칠 강사가 있는가?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0" y="2779776"/>
            <a:ext cx="3474720" cy="3657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27797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커리큘럼은 있는데 가르칠 사람이 없음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346704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346704"/>
            <a:ext cx="54864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456432"/>
            <a:ext cx="548640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345643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71600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참여/연계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71600" y="36210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기업이 왜 이 교육을 보내야 하는가?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29200" y="3438144"/>
            <a:ext cx="3474720" cy="3657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40" name="Text 38"/>
          <p:cNvSpPr/>
          <p:nvPr/>
        </p:nvSpPr>
        <p:spPr>
          <a:xfrm>
            <a:off x="5120640" y="34381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과정은 좋은데 수강생이 안 옴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4005072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4005072"/>
            <a:ext cx="54864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Shape 41"/>
          <p:cNvSpPr/>
          <p:nvPr/>
        </p:nvSpPr>
        <p:spPr>
          <a:xfrm>
            <a:off x="658368" y="4114800"/>
            <a:ext cx="548640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" y="4114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371600" y="4041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성과/환류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371600" y="4279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효과를 어떻게 측정하는가?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029200" y="4096512"/>
            <a:ext cx="3474720" cy="3657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48" name="Text 46"/>
          <p:cNvSpPr/>
          <p:nvPr/>
        </p:nvSpPr>
        <p:spPr>
          <a:xfrm>
            <a:off x="5120640" y="4096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해마다 같은 교육 반복, 개선 없음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하나라도 빠지면 AI 융합 교육이 작동하지 않습니다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5개년 마스터플랜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Phase + Gate 조건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26517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1554480"/>
            <a:ext cx="137160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2026~2027 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651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뭘 먼저 바꿀지 알고, 바꿀 준비가 된 상태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228600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씨앗을 심고 토양을 만든다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0896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37560" y="13716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137160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3977640" y="1554480"/>
            <a:ext cx="13716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97764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전환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2027~2028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20440" y="2651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과정에 AI가 결합되어 정규 운영되는 상태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20440" y="3337560"/>
            <a:ext cx="228600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줄기가 자라고 열매가 맺힌다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13716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371600"/>
            <a:ext cx="265176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0" y="1554480"/>
            <a:ext cx="13716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 자립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55080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2029~2030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2651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KTR이 자체적으로 AI 교육을 운영/개선하는 상태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3337560"/>
            <a:ext cx="228600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숲이 스스로 자란다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 1: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Readiness 진단 50개사 + Skill Gap 분석 완료 + 파일럿 운영 완료    </a:t>
            </a:r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 2: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결합 과정 10개+ 정규 운영 + 현업적용률 50% 확인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5개년 마스터플랜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5개년 시간축 요약 (Layer x Year)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554480"/>
                <a:gridCol w="1554480"/>
                <a:gridCol w="1417320"/>
                <a:gridCol w="14173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Layer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2030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L1 진단/설계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진단 도구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50개사 진단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학습경로 배포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중간진단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로드맵 전면검토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포트폴리오 조정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풀사이클 확립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종합평가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L2 콘텐츠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파일럿 3개 운영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가이드라인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순차 전환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 갱신체계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과정 AI 완료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교류 과정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L3 교수/전달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강사 AI 워크숍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인프라 점검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공동강의 본격화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인프라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인프라 완성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자립 운영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블렌디드 러닝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L4 기업 연계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인식 제고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세미나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데이터 실습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적용계획 의무화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 AI 교육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 개발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 확산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L5 성과/환류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체계 설계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 확보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기반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과정 개선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1사이클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고도화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5개년 평가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457200" y="2468880"/>
            <a:ext cx="109728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과정전환 우선순위 설계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25개 기존 과정을 어떤 순서로, 어떤 방식으로 AI 전환하는가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914400"/>
            <a:ext cx="2743200" cy="2743200"/>
          </a:xfrm>
          <a:prstGeom prst="ellipse">
            <a:avLst/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과정전환 설계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전환 4유형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192024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572768"/>
            <a:ext cx="1371600" cy="5486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5727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적용 영역이 없거나 매우 제한적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3246120"/>
            <a:ext cx="164592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강사 유지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606040" y="137160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06040" y="1371600"/>
            <a:ext cx="192024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2880360" y="1572768"/>
            <a:ext cx="137160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2880360" y="15727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업스킬링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(보강)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8036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74320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Skill 구조 유지 + AI 모듈 1~2개 삽입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0" y="3246120"/>
            <a:ext cx="164592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0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 수준 변경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+ AI 전문가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공동강의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137160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371600"/>
            <a:ext cx="19202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0" y="1572768"/>
            <a:ext cx="13716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15727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리스킬링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(개편)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89204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업무 방식 자체를 바꾸므로 과정 전면 재설계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92040" y="3246120"/>
            <a:ext cx="164592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전체 변경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9204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중심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교수설계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903720" y="137160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03720" y="1371600"/>
            <a:ext cx="19202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Shape 36"/>
          <p:cNvSpPr/>
          <p:nvPr/>
        </p:nvSpPr>
        <p:spPr>
          <a:xfrm>
            <a:off x="7178040" y="1572768"/>
            <a:ext cx="137160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7178040" y="15727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신설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7804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04088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과정에 대응 과정이 없는 AI 영역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040880" y="3246120"/>
            <a:ext cx="164592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Text 41"/>
          <p:cNvSpPr/>
          <p:nvPr/>
        </p:nvSpPr>
        <p:spPr>
          <a:xfrm>
            <a:off x="7040880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신규 개발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4088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강사 확보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과정전환 설계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우선순위 매트릭스 및 판정 종합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411480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매트릭스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적용 가능성 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365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0" y="1965960"/>
            <a:ext cx="1645920" cy="105156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1순위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Gap大 + 수요高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05840" y="1965960"/>
            <a:ext cx="1645920" cy="10515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가능나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약함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0" y="3154680"/>
            <a:ext cx="1645920" cy="10515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3순위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3566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있으나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접점 약함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05840" y="3154680"/>
            <a:ext cx="164592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4순위 (유지)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566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당장은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건드림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13258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 판정 종합 (25개 과정)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0" y="1920240"/>
            <a:ext cx="3383280" cy="640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Shape 26"/>
          <p:cNvSpPr/>
          <p:nvPr/>
        </p:nvSpPr>
        <p:spPr>
          <a:xfrm>
            <a:off x="5120640" y="192024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30936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업스킬링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2267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20640" y="2697480"/>
            <a:ext cx="3383280" cy="640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Shape 31"/>
          <p:cNvSpPr/>
          <p:nvPr/>
        </p:nvSpPr>
        <p:spPr>
          <a:xfrm>
            <a:off x="5120640" y="2697480"/>
            <a:ext cx="54864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0936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3044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20640" y="3474720"/>
            <a:ext cx="3383280" cy="640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Shape 36"/>
          <p:cNvSpPr/>
          <p:nvPr/>
        </p:nvSpPr>
        <p:spPr>
          <a:xfrm>
            <a:off x="5120640" y="34747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0" y="3520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30936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리스킬링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09360" y="3822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대부분의 과정(68%)은 업스킬링으로 충분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기존 체계 위에 AI를 이식한다는 원칙에 부합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과정전환 설계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모듈 삽입 설계 원칙 (업스킬링 시)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KTR 산업전환 공동훈련센터  |  AI 교육로드맵 체계구축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0" y="480060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114800" cy="3017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삽입 위치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1874520"/>
            <a:ext cx="3200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8745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교시 1: 이론/개념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0" y="2221992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2331720"/>
            <a:ext cx="3200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331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교시 2: 실무/실습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0" y="2679192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0" y="2788920"/>
            <a:ext cx="3200400" cy="347472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27889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AI 모듈: AI 도구 체험/실습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3136392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4400" y="3246120"/>
            <a:ext cx="3200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246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교시 3: 종합/토론 + AI 적용 토론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37160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모듈 구성 템플릿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1920240"/>
            <a:ext cx="3383280" cy="685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120640" y="1920240"/>
            <a:ext cx="54864" cy="6858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1965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(15분)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22128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배운 업무에서 AI는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쓰이고 있는가 - 사례 소개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2743200"/>
            <a:ext cx="3383280" cy="685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5120640" y="274320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0" y="2788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체험/실습 (45~90분)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0" y="3035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AI 도구 데모 또는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핸즈온 실습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3566160"/>
            <a:ext cx="3383280" cy="685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Shape 31"/>
          <p:cNvSpPr/>
          <p:nvPr/>
        </p:nvSpPr>
        <p:spPr>
          <a:xfrm>
            <a:off x="5120640" y="356616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3611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 (15~30분)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0" y="38587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회사에서는 이걸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쓸 수 있을까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1F325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역량체계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영역 x 12개 항목 x 73개 스킬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13716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산업군 공통 스킬 + 4개 산업군 x 4개 직무 특화 스킬셋 도출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solidFill>
            <a:srgbClr val="1F325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148840"/>
            <a:ext cx="73152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94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교육체계 개편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3모듈 x 3수준 구조 유지 + AI 레이어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240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산업전환 단계별 AI 연동, 4유형 학습경로, 인식형/적용형/심화형 교육유형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1F325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63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5개년 마스터플랜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Layer x 3 Phase (2026~2030)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3108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진단/콘텐츠/교수/기업연계/성과 5개 레이어, Phase간 Gate 조건으로 품질 확보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1F3258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86200"/>
            <a:ext cx="73152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931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80160" y="3959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과정전환 설계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25개 과정 중 업스킬링 68% / 리스킬링 4%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3977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체계 위에 AI를 이식하는 원칙 하에 순차적 전환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시앤피컨설팅 직업능력컨설팅본부 + AI컨설팅연구소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KTR AI 교육로드맵 체계구축</dc:title>
  <dc:subject>PptxGenJS Presentation</dc:subject>
  <dc:creator>시앤피컨설팅</dc:creator>
  <cp:lastModifiedBy>시앤피컨설팅</cp:lastModifiedBy>
  <cp:revision>1</cp:revision>
  <dcterms:created xsi:type="dcterms:W3CDTF">2026-04-02T05:30:23Z</dcterms:created>
  <dcterms:modified xsi:type="dcterms:W3CDTF">2026-04-02T05:30:23Z</dcterms:modified>
</cp:coreProperties>
</file>