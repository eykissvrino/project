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  <p:sldMasterId id="2147483678" r:id="rId2"/>
  </p:sldMasterIdLst>
  <p:notesMasterIdLst>
    <p:notesMasterId r:id="rId33"/>
  </p:notesMasterIdLst>
  <p:handoutMasterIdLst>
    <p:handoutMasterId r:id="rId34"/>
  </p:handoutMasterIdLst>
  <p:sldIdLst>
    <p:sldId id="1327" r:id="rId3"/>
    <p:sldId id="260" r:id="rId4"/>
    <p:sldId id="1325" r:id="rId5"/>
    <p:sldId id="1356" r:id="rId6"/>
    <p:sldId id="1687" r:id="rId7"/>
    <p:sldId id="1688" r:id="rId8"/>
    <p:sldId id="1357" r:id="rId9"/>
    <p:sldId id="1719" r:id="rId10"/>
    <p:sldId id="1724" r:id="rId11"/>
    <p:sldId id="1756" r:id="rId12"/>
    <p:sldId id="1747" r:id="rId13"/>
    <p:sldId id="1757" r:id="rId14"/>
    <p:sldId id="1368" r:id="rId15"/>
    <p:sldId id="1710" r:id="rId16"/>
    <p:sldId id="1722" r:id="rId17"/>
    <p:sldId id="1703" r:id="rId18"/>
    <p:sldId id="1704" r:id="rId19"/>
    <p:sldId id="1758" r:id="rId20"/>
    <p:sldId id="1712" r:id="rId21"/>
    <p:sldId id="1713" r:id="rId22"/>
    <p:sldId id="1739" r:id="rId23"/>
    <p:sldId id="1750" r:id="rId24"/>
    <p:sldId id="1751" r:id="rId25"/>
    <p:sldId id="1752" r:id="rId26"/>
    <p:sldId id="1717" r:id="rId27"/>
    <p:sldId id="1718" r:id="rId28"/>
    <p:sldId id="1400" r:id="rId29"/>
    <p:sldId id="1727" r:id="rId30"/>
    <p:sldId id="1728" r:id="rId31"/>
    <p:sldId id="1754" r:id="rId32"/>
  </p:sldIdLst>
  <p:sldSz cx="9906000" cy="6858000" type="A4"/>
  <p:notesSz cx="6797675" cy="9926638"/>
  <p:embeddedFontLst>
    <p:embeddedFont>
      <p:font typeface="Arial Narrow" panose="020B0606020202030204" pitchFamily="34" charset="0"/>
      <p:regular r:id="rId35"/>
      <p:bold r:id="rId35"/>
      <p:italic r:id="rId35"/>
      <p:boldItalic r:id="rId35"/>
    </p:embeddedFont>
    <p:embeddedFont>
      <p:font typeface="SpoqaHanSans-Bold" panose="020B0600000101010101" charset="0"/>
      <p:bold r:id="rId36"/>
    </p:embeddedFont>
    <p:embeddedFont>
      <p:font typeface="나눔바른고딕" panose="020B0603020101020101" pitchFamily="50" charset="-127"/>
      <p:regular r:id="rId37"/>
      <p:bold r:id="rId38"/>
    </p:embeddedFont>
    <p:embeddedFont>
      <p:font typeface="페이퍼로지 1 Thin" pitchFamily="2" charset="-127"/>
      <p:regular r:id="rId39"/>
    </p:embeddedFont>
    <p:embeddedFont>
      <p:font typeface="페이퍼로지 3 Light" pitchFamily="2" charset="-127"/>
      <p:regular r:id="rId35"/>
    </p:embeddedFont>
    <p:embeddedFont>
      <p:font typeface="페이퍼로지 4 Regular" pitchFamily="2" charset="-127"/>
      <p:regular r:id="rId35"/>
    </p:embeddedFont>
    <p:embeddedFont>
      <p:font typeface="페이퍼로지 5 Medium" pitchFamily="2" charset="-127"/>
      <p:regular r:id="rId35"/>
    </p:embeddedFont>
    <p:embeddedFont>
      <p:font typeface="페이퍼로지 6 SemiBold" pitchFamily="2" charset="-127"/>
      <p:bold r:id="rId35"/>
    </p:embeddedFont>
    <p:embeddedFont>
      <p:font typeface="페이퍼로지 7 Bold" pitchFamily="2" charset="-127"/>
      <p:bold r:id="rId35"/>
    </p:embeddedFont>
    <p:embeddedFont>
      <p:font typeface="페이퍼로지 8 ExtraBold" pitchFamily="2" charset="-127"/>
      <p:bold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1327"/>
            <p14:sldId id="260"/>
            <p14:sldId id="1325"/>
          </p14:sldIdLst>
        </p14:section>
        <p14:section name="Ⅰ.업체 현황" id="{1326EDC4-CC0C-42DA-98C3-B97B1266656E}">
          <p14:sldIdLst>
            <p14:sldId id="1356"/>
            <p14:sldId id="1687"/>
            <p14:sldId id="1688"/>
          </p14:sldIdLst>
        </p14:section>
        <p14:section name="Ⅱ.제안개요" id="{F63EDB17-CFA7-4C66-94FA-34C08A74BE9C}">
          <p14:sldIdLst>
            <p14:sldId id="1357"/>
            <p14:sldId id="1719"/>
            <p14:sldId id="1724"/>
            <p14:sldId id="1756"/>
            <p14:sldId id="1747"/>
            <p14:sldId id="1757"/>
          </p14:sldIdLst>
        </p14:section>
        <p14:section name="Ⅲ. 과업수행 계획" id="{F3CF5F93-9D30-4D8B-9E9B-E1EDD993F767}">
          <p14:sldIdLst>
            <p14:sldId id="1368"/>
            <p14:sldId id="1710"/>
            <p14:sldId id="1722"/>
            <p14:sldId id="1703"/>
            <p14:sldId id="1704"/>
            <p14:sldId id="1758"/>
            <p14:sldId id="1712"/>
            <p14:sldId id="1713"/>
            <p14:sldId id="1739"/>
            <p14:sldId id="1750"/>
            <p14:sldId id="1751"/>
            <p14:sldId id="1752"/>
            <p14:sldId id="1717"/>
            <p14:sldId id="1718"/>
          </p14:sldIdLst>
        </p14:section>
        <p14:section name="Ⅳ. 과업수행 조직 및 관리" id="{27A6F673-3EBA-41D5-8D3B-ADF39DF21ACA}">
          <p14:sldIdLst>
            <p14:sldId id="1400"/>
            <p14:sldId id="1727"/>
            <p14:sldId id="1728"/>
            <p14:sldId id="17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5" pos="3120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  <p15:guide id="8" orient="horz" pos="1162" userDrawn="1">
          <p15:clr>
            <a:srgbClr val="A4A3A4"/>
          </p15:clr>
        </p15:guide>
        <p15:guide id="9" orient="horz" pos="346" userDrawn="1">
          <p15:clr>
            <a:srgbClr val="A4A3A4"/>
          </p15:clr>
        </p15:guide>
        <p15:guide id="10" pos="6023" userDrawn="1">
          <p15:clr>
            <a:srgbClr val="A4A3A4"/>
          </p15:clr>
        </p15:guide>
        <p15:guide id="12" orient="horz" pos="482" userDrawn="1">
          <p15:clr>
            <a:srgbClr val="A4A3A4"/>
          </p15:clr>
        </p15:guide>
        <p15:guide id="14" pos="3211" userDrawn="1">
          <p15:clr>
            <a:srgbClr val="A4A3A4"/>
          </p15:clr>
        </p15:guide>
        <p15:guide id="16" pos="3029" userDrawn="1">
          <p15:clr>
            <a:srgbClr val="A4A3A4"/>
          </p15:clr>
        </p15:guide>
        <p15:guide id="17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1DE"/>
    <a:srgbClr val="EAF4E4"/>
    <a:srgbClr val="DEEBF7"/>
    <a:srgbClr val="CAEDFB"/>
    <a:srgbClr val="E2F0D9"/>
    <a:srgbClr val="344532"/>
    <a:srgbClr val="FF6600"/>
    <a:srgbClr val="395D20"/>
    <a:srgbClr val="C0CDEF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D75D7-B3AE-404D-B403-D5668FD5EBCB}" v="11" dt="2026-04-17T07:15:40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40" autoAdjust="0"/>
    <p:restoredTop sz="92658" autoAdjust="0"/>
  </p:normalViewPr>
  <p:slideViewPr>
    <p:cSldViewPr snapToGrid="0">
      <p:cViewPr>
        <p:scale>
          <a:sx n="200" d="100"/>
          <a:sy n="200" d="100"/>
        </p:scale>
        <p:origin x="-1974" y="-1446"/>
      </p:cViewPr>
      <p:guideLst>
        <p:guide orient="horz" pos="867"/>
        <p:guide pos="217"/>
        <p:guide orient="horz" pos="2160"/>
        <p:guide pos="3120"/>
        <p:guide orient="horz" pos="4088"/>
        <p:guide orient="horz" pos="1162"/>
        <p:guide orient="horz" pos="346"/>
        <p:guide pos="6023"/>
        <p:guide orient="horz" pos="482"/>
        <p:guide pos="3211"/>
        <p:guide pos="3029"/>
        <p:guide orient="horz" pos="404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notesViewPr>
    <p:cSldViewPr snapToGrid="0">
      <p:cViewPr varScale="1">
        <p:scale>
          <a:sx n="105" d="100"/>
          <a:sy n="105" d="100"/>
        </p:scale>
        <p:origin x="5322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은하 안" userId="4d1258f9032b8afb" providerId="LiveId" clId="{02167C4B-147C-4736-890F-FB23D833DCAB}"/>
    <pc:docChg chg="undo custSel modSld">
      <pc:chgData name="은하 안" userId="4d1258f9032b8afb" providerId="LiveId" clId="{02167C4B-147C-4736-890F-FB23D833DCAB}" dt="2026-04-17T07:15:53.171" v="224" actId="20577"/>
      <pc:docMkLst>
        <pc:docMk/>
      </pc:docMkLst>
      <pc:sldChg chg="modSp mod">
        <pc:chgData name="은하 안" userId="4d1258f9032b8afb" providerId="LiveId" clId="{02167C4B-147C-4736-890F-FB23D833DCAB}" dt="2026-04-17T06:46:35.860" v="185" actId="14100"/>
        <pc:sldMkLst>
          <pc:docMk/>
          <pc:sldMk cId="2991111475" sldId="1688"/>
        </pc:sldMkLst>
        <pc:graphicFrameChg chg="modGraphic">
          <ac:chgData name="은하 안" userId="4d1258f9032b8afb" providerId="LiveId" clId="{02167C4B-147C-4736-890F-FB23D833DCAB}" dt="2026-04-17T06:46:35.860" v="185" actId="14100"/>
          <ac:graphicFrameMkLst>
            <pc:docMk/>
            <pc:sldMk cId="2991111475" sldId="1688"/>
            <ac:graphicFrameMk id="4" creationId="{A61A3DD8-856E-861B-C95D-A547898DF7D5}"/>
          </ac:graphicFrameMkLst>
        </pc:graphicFrameChg>
      </pc:sldChg>
      <pc:sldChg chg="modSp mod">
        <pc:chgData name="은하 안" userId="4d1258f9032b8afb" providerId="LiveId" clId="{02167C4B-147C-4736-890F-FB23D833DCAB}" dt="2026-04-17T06:37:03.248" v="24" actId="14100"/>
        <pc:sldMkLst>
          <pc:docMk/>
          <pc:sldMk cId="3439293127" sldId="1713"/>
        </pc:sldMkLst>
        <pc:graphicFrameChg chg="modGraphic">
          <ac:chgData name="은하 안" userId="4d1258f9032b8afb" providerId="LiveId" clId="{02167C4B-147C-4736-890F-FB23D833DCAB}" dt="2026-04-17T06:36:14.652" v="0" actId="20577"/>
          <ac:graphicFrameMkLst>
            <pc:docMk/>
            <pc:sldMk cId="3439293127" sldId="1713"/>
            <ac:graphicFrameMk id="5" creationId="{F7E869F2-4F41-6B7C-8748-2086BD0766DE}"/>
          </ac:graphicFrameMkLst>
        </pc:graphicFrameChg>
        <pc:graphicFrameChg chg="modGraphic">
          <ac:chgData name="은하 안" userId="4d1258f9032b8afb" providerId="LiveId" clId="{02167C4B-147C-4736-890F-FB23D833DCAB}" dt="2026-04-17T06:37:03.248" v="24" actId="14100"/>
          <ac:graphicFrameMkLst>
            <pc:docMk/>
            <pc:sldMk cId="3439293127" sldId="1713"/>
            <ac:graphicFrameMk id="131" creationId="{D9BAB300-DF38-E3E4-704D-DFD96FDF21C9}"/>
          </ac:graphicFrameMkLst>
        </pc:graphicFrameChg>
        <pc:picChg chg="mod">
          <ac:chgData name="은하 안" userId="4d1258f9032b8afb" providerId="LiveId" clId="{02167C4B-147C-4736-890F-FB23D833DCAB}" dt="2026-04-17T06:37:01.127" v="21" actId="1037"/>
          <ac:picMkLst>
            <pc:docMk/>
            <pc:sldMk cId="3439293127" sldId="1713"/>
            <ac:picMk id="9" creationId="{AE47C019-7835-83A8-9A7E-CC5EFDD5BEA5}"/>
          </ac:picMkLst>
        </pc:picChg>
        <pc:picChg chg="mod">
          <ac:chgData name="은하 안" userId="4d1258f9032b8afb" providerId="LiveId" clId="{02167C4B-147C-4736-890F-FB23D833DCAB}" dt="2026-04-17T06:37:00.260" v="20" actId="14100"/>
          <ac:picMkLst>
            <pc:docMk/>
            <pc:sldMk cId="3439293127" sldId="1713"/>
            <ac:picMk id="51" creationId="{8E48F0B1-9717-878B-62DE-1F7EDEFCD817}"/>
          </ac:picMkLst>
        </pc:picChg>
      </pc:sldChg>
      <pc:sldChg chg="addSp delSp modSp mod">
        <pc:chgData name="은하 안" userId="4d1258f9032b8afb" providerId="LiveId" clId="{02167C4B-147C-4736-890F-FB23D833DCAB}" dt="2026-04-17T07:14:55.804" v="199" actId="6549"/>
        <pc:sldMkLst>
          <pc:docMk/>
          <pc:sldMk cId="2201583696" sldId="1722"/>
        </pc:sldMkLst>
        <pc:spChg chg="mod">
          <ac:chgData name="은하 안" userId="4d1258f9032b8afb" providerId="LiveId" clId="{02167C4B-147C-4736-890F-FB23D833DCAB}" dt="2026-04-17T07:14:55.804" v="199" actId="6549"/>
          <ac:spMkLst>
            <pc:docMk/>
            <pc:sldMk cId="2201583696" sldId="1722"/>
            <ac:spMk id="3" creationId="{4DC8A78F-25C0-DD4D-B2E6-74EE7FFD6300}"/>
          </ac:spMkLst>
        </pc:spChg>
        <pc:spChg chg="add mod">
          <ac:chgData name="은하 안" userId="4d1258f9032b8afb" providerId="LiveId" clId="{02167C4B-147C-4736-890F-FB23D833DCAB}" dt="2026-04-17T06:43:25.923" v="41"/>
          <ac:spMkLst>
            <pc:docMk/>
            <pc:sldMk cId="2201583696" sldId="1722"/>
            <ac:spMk id="4" creationId="{95B83DDF-1373-5E92-B1DB-7998486421E6}"/>
          </ac:spMkLst>
        </pc:spChg>
        <pc:spChg chg="add del mod">
          <ac:chgData name="은하 안" userId="4d1258f9032b8afb" providerId="LiveId" clId="{02167C4B-147C-4736-890F-FB23D833DCAB}" dt="2026-04-17T06:45:07.206" v="172" actId="478"/>
          <ac:spMkLst>
            <pc:docMk/>
            <pc:sldMk cId="2201583696" sldId="1722"/>
            <ac:spMk id="5" creationId="{B02A7598-2955-E288-AB47-754A96371551}"/>
          </ac:spMkLst>
        </pc:spChg>
        <pc:spChg chg="add del mod">
          <ac:chgData name="은하 안" userId="4d1258f9032b8afb" providerId="LiveId" clId="{02167C4B-147C-4736-890F-FB23D833DCAB}" dt="2026-04-17T06:45:59.128" v="182" actId="478"/>
          <ac:spMkLst>
            <pc:docMk/>
            <pc:sldMk cId="2201583696" sldId="1722"/>
            <ac:spMk id="6" creationId="{4C891C46-09DD-2090-F57A-29FD06EDC27B}"/>
          </ac:spMkLst>
        </pc:spChg>
      </pc:sldChg>
      <pc:sldChg chg="modSp mod">
        <pc:chgData name="은하 안" userId="4d1258f9032b8afb" providerId="LiveId" clId="{02167C4B-147C-4736-890F-FB23D833DCAB}" dt="2026-04-17T07:15:53.171" v="224" actId="20577"/>
        <pc:sldMkLst>
          <pc:docMk/>
          <pc:sldMk cId="2960446348" sldId="1727"/>
        </pc:sldMkLst>
        <pc:spChg chg="mod">
          <ac:chgData name="은하 안" userId="4d1258f9032b8afb" providerId="LiveId" clId="{02167C4B-147C-4736-890F-FB23D833DCAB}" dt="2026-04-17T07:15:53.171" v="224" actId="20577"/>
          <ac:spMkLst>
            <pc:docMk/>
            <pc:sldMk cId="2960446348" sldId="1727"/>
            <ac:spMk id="4" creationId="{9A254AA6-41C9-780D-BD8C-47886D77B25D}"/>
          </ac:spMkLst>
        </pc:spChg>
      </pc:sldChg>
      <pc:sldChg chg="modSp mod">
        <pc:chgData name="은하 안" userId="4d1258f9032b8afb" providerId="LiveId" clId="{02167C4B-147C-4736-890F-FB23D833DCAB}" dt="2026-04-17T06:38:43.578" v="38"/>
        <pc:sldMkLst>
          <pc:docMk/>
          <pc:sldMk cId="1492839537" sldId="1751"/>
        </pc:sldMkLst>
        <pc:spChg chg="mod">
          <ac:chgData name="은하 안" userId="4d1258f9032b8afb" providerId="LiveId" clId="{02167C4B-147C-4736-890F-FB23D833DCAB}" dt="2026-04-17T06:38:43.578" v="38"/>
          <ac:spMkLst>
            <pc:docMk/>
            <pc:sldMk cId="1492839537" sldId="1751"/>
            <ac:spMk id="59" creationId="{55C5E8EA-8E00-EA1E-1073-3F2A1EA8061F}"/>
          </ac:spMkLst>
        </pc:spChg>
      </pc:sldChg>
      <pc:sldChg chg="modSp mod">
        <pc:chgData name="은하 안" userId="4d1258f9032b8afb" providerId="LiveId" clId="{02167C4B-147C-4736-890F-FB23D833DCAB}" dt="2026-04-17T06:40:18.111" v="40"/>
        <pc:sldMkLst>
          <pc:docMk/>
          <pc:sldMk cId="3538272886" sldId="1752"/>
        </pc:sldMkLst>
        <pc:spChg chg="mod">
          <ac:chgData name="은하 안" userId="4d1258f9032b8afb" providerId="LiveId" clId="{02167C4B-147C-4736-890F-FB23D833DCAB}" dt="2026-04-17T06:40:18.111" v="40"/>
          <ac:spMkLst>
            <pc:docMk/>
            <pc:sldMk cId="3538272886" sldId="1752"/>
            <ac:spMk id="71" creationId="{40333FCB-A55C-3211-6E9E-A4FAC35C1006}"/>
          </ac:spMkLst>
        </pc:spChg>
      </pc:sldChg>
      <pc:sldChg chg="addSp delSp modSp mod">
        <pc:chgData name="은하 안" userId="4d1258f9032b8afb" providerId="LiveId" clId="{02167C4B-147C-4736-890F-FB23D833DCAB}" dt="2026-04-17T07:15:45.494" v="223" actId="20577"/>
        <pc:sldMkLst>
          <pc:docMk/>
          <pc:sldMk cId="1260559094" sldId="1754"/>
        </pc:sldMkLst>
        <pc:spChg chg="add mod">
          <ac:chgData name="은하 안" userId="4d1258f9032b8afb" providerId="LiveId" clId="{02167C4B-147C-4736-890F-FB23D833DCAB}" dt="2026-04-17T07:15:45.494" v="223" actId="20577"/>
          <ac:spMkLst>
            <pc:docMk/>
            <pc:sldMk cId="1260559094" sldId="1754"/>
            <ac:spMk id="6" creationId="{FF35DB39-1327-1D03-9896-E230C425DAC9}"/>
          </ac:spMkLst>
        </pc:spChg>
        <pc:spChg chg="del mod">
          <ac:chgData name="은하 안" userId="4d1258f9032b8afb" providerId="LiveId" clId="{02167C4B-147C-4736-890F-FB23D833DCAB}" dt="2026-04-17T06:44:50.555" v="171" actId="478"/>
          <ac:spMkLst>
            <pc:docMk/>
            <pc:sldMk cId="1260559094" sldId="1754"/>
            <ac:spMk id="62" creationId="{A4EF483C-1412-24B6-49AF-CBEF4BD87A5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241C90-D41F-9F47-E690-BBBEB3307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B28C55-8EBC-7D2E-DB8A-494ECF8802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749A-AEBE-406B-81A2-A288812C3376}" type="datetimeFigureOut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2026-04-17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EAB150-3EA2-0975-3E5F-98BEF650EC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7B9F04-0DAD-F49C-01D8-460CD3864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3400F-2808-44FF-B4C7-E90C1E4C3041}" type="slidenum">
              <a:rPr lang="ko-KR" altLang="en-US" smtClean="0">
                <a:latin typeface="a고딕12" panose="02020600000000000000" pitchFamily="18" charset="-127"/>
                <a:ea typeface="a고딕12" panose="02020600000000000000" pitchFamily="18" charset="-127"/>
              </a:rPr>
              <a:t>‹#›</a:t>
            </a:fld>
            <a:endParaRPr lang="ko-KR" altLang="en-US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323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2026-04-17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고딕12" panose="02020600000000000000" pitchFamily="18" charset="-127"/>
                <a:ea typeface="a고딕12" panose="02020600000000000000" pitchFamily="18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고딕12" panose="02020600000000000000" pitchFamily="18" charset="-127"/>
        <a:ea typeface="a고딕12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218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AC3D-387E-5A10-6030-2379DA9B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CAA9F6-971D-3226-451B-9A9529A8D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C6F10C-7318-9123-48B8-1FADFC002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다양한 산업의 수요와 직무역량 분석 기반의 분류체계 개발에 전문성을 가진 인력을 투입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한국바이오플라스틱협회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한국바이오협회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화학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ISC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등 전문가 네트워크를 활용하여 과업수행에 필요한 업무지원을 받을 예정임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DE5711-42F3-F016-9050-C16549A88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3651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A81A-60BA-7050-FD41-4C013657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FC4A1-63D5-121A-6C9C-0C4244500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925AD9-AAFC-01DD-32E4-D2643FEA5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다양한 산업의 수요와 직무역량 분석 기반의 분류체계 개발에 전문성을 가진 인력을 투입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한국바이오플라스틱협회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한국바이오협회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화학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ISC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등 전문가 네트워크를 활용하여 과업수행에 필요한 업무지원을 받을 예정임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9B7AA-04B6-5FE8-3CB6-9ADF193D5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564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161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52D2-FD4A-701D-07C3-38904B22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6C8C1E-B526-8B18-6ECE-1816733F0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C90CED-BFFA-375D-0EAD-D9BA425DE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63E11-A37E-B77B-387E-1074B84B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794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5E93-7898-3E9B-5E0C-F0F1F962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500971-518E-B140-A849-ACCBE47D7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37AC2-2B5B-8909-00EE-B989985B4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highlight>
                  <a:srgbClr val="FFFF00"/>
                </a:highlight>
              </a:rPr>
              <a:t>도출된 </a:t>
            </a:r>
            <a:r>
              <a:rPr lang="en-US" altLang="ko-KR" dirty="0">
                <a:highlight>
                  <a:srgbClr val="FFFF00"/>
                </a:highlight>
              </a:rPr>
              <a:t>KTR</a:t>
            </a:r>
            <a:r>
              <a:rPr lang="ko-KR" altLang="en-US" dirty="0">
                <a:highlight>
                  <a:srgbClr val="FFFF00"/>
                </a:highlight>
              </a:rPr>
              <a:t> 특화 </a:t>
            </a:r>
            <a:r>
              <a:rPr lang="en-US" altLang="ko-KR" dirty="0">
                <a:highlight>
                  <a:srgbClr val="FFFF00"/>
                </a:highlight>
              </a:rPr>
              <a:t>AI </a:t>
            </a:r>
            <a:r>
              <a:rPr lang="ko-KR" altLang="en-US" dirty="0">
                <a:highlight>
                  <a:srgbClr val="FFFF00"/>
                </a:highlight>
              </a:rPr>
              <a:t>융합 </a:t>
            </a:r>
            <a:r>
              <a:rPr lang="ko-KR" altLang="en-US" dirty="0" err="1">
                <a:highlight>
                  <a:srgbClr val="FFFF00"/>
                </a:highlight>
              </a:rPr>
              <a:t>스킬셋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안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r>
              <a:rPr lang="ko-KR" altLang="en-US" dirty="0">
                <a:highlight>
                  <a:srgbClr val="FFFF00"/>
                </a:highlight>
              </a:rPr>
              <a:t>은 </a:t>
            </a:r>
            <a:r>
              <a:rPr lang="ko-KR" altLang="en-US" dirty="0">
                <a:solidFill>
                  <a:srgbClr val="FF6600"/>
                </a:solidFill>
                <a:highlight>
                  <a:srgbClr val="FFFF00"/>
                </a:highlight>
              </a:rPr>
              <a:t>전문가 회의를 통해 </a:t>
            </a:r>
            <a:r>
              <a:rPr lang="ko-KR" altLang="en-US" b="1" dirty="0">
                <a:solidFill>
                  <a:srgbClr val="FF6600"/>
                </a:solidFill>
                <a:highlight>
                  <a:srgbClr val="FFFF00"/>
                </a:highlight>
              </a:rPr>
              <a:t>직무 변화 방향</a:t>
            </a:r>
            <a:r>
              <a:rPr lang="en-US" altLang="ko-KR" b="1" dirty="0">
                <a:solidFill>
                  <a:srgbClr val="FF66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b="1" dirty="0" err="1">
                <a:solidFill>
                  <a:srgbClr val="FF6600"/>
                </a:solidFill>
                <a:highlight>
                  <a:srgbClr val="FFFF00"/>
                </a:highlight>
              </a:rPr>
              <a:t>적용성</a:t>
            </a:r>
            <a:r>
              <a:rPr lang="en-US" altLang="ko-KR" b="1" dirty="0">
                <a:solidFill>
                  <a:srgbClr val="FF66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solidFill>
                  <a:srgbClr val="FF6600"/>
                </a:solidFill>
                <a:highlight>
                  <a:srgbClr val="FFFF00"/>
                </a:highlight>
              </a:rPr>
              <a:t>우선순위</a:t>
            </a:r>
            <a:r>
              <a:rPr lang="en-US" altLang="ko-KR" b="1" dirty="0">
                <a:solidFill>
                  <a:srgbClr val="FF6600"/>
                </a:solidFill>
                <a:highlight>
                  <a:srgbClr val="FFFF00"/>
                </a:highlight>
              </a:rPr>
              <a:t> </a:t>
            </a:r>
            <a:r>
              <a:rPr lang="ko-KR" altLang="en-US" dirty="0">
                <a:solidFill>
                  <a:srgbClr val="FF6600"/>
                </a:solidFill>
                <a:highlight>
                  <a:srgbClr val="FFFF00"/>
                </a:highlight>
              </a:rPr>
              <a:t>등을 검증</a:t>
            </a:r>
            <a:r>
              <a:rPr lang="ko-KR" altLang="en-US" dirty="0">
                <a:highlight>
                  <a:srgbClr val="FFFF00"/>
                </a:highlight>
              </a:rPr>
              <a:t>하여 최종 확정함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ko-KR" altLang="en-US" dirty="0">
              <a:highlight>
                <a:srgbClr val="FFFF00"/>
              </a:highlight>
            </a:endParaRPr>
          </a:p>
          <a:p>
            <a:pPr algn="l"/>
            <a:r>
              <a:rPr lang="en-US" altLang="ko-KR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융합 스킬에 대한 협약기업 수요조사를 통해 </a:t>
            </a:r>
            <a:r>
              <a:rPr lang="ko-KR" altLang="en-US" sz="1200" spc="-50" dirty="0">
                <a:solidFill>
                  <a:srgbClr val="FF6600"/>
                </a:solidFill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우선적으로 개편</a:t>
            </a:r>
            <a:r>
              <a:rPr lang="en-US" altLang="ko-KR" sz="1200" spc="-50" dirty="0">
                <a:solidFill>
                  <a:srgbClr val="FF6600"/>
                </a:solidFill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solidFill>
                  <a:srgbClr val="FF6600"/>
                </a:solidFill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개발이 필요한 훈련과정을 도출</a:t>
            </a:r>
            <a:r>
              <a:rPr lang="ko-KR" altLang="en-US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하고</a:t>
            </a:r>
            <a:r>
              <a:rPr lang="en-US" altLang="ko-KR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,  </a:t>
            </a:r>
          </a:p>
          <a:p>
            <a:pPr algn="l"/>
            <a:r>
              <a:rPr lang="en-US" altLang="ko-KR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산업전환 공동훈련센터의 </a:t>
            </a:r>
            <a:r>
              <a:rPr lang="ko-KR" altLang="en-US" sz="1200" spc="-50" dirty="0">
                <a:solidFill>
                  <a:srgbClr val="FF6600"/>
                </a:solidFill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중장기 계획을 수립하기 위한 정성적 의견을 취합</a:t>
            </a:r>
            <a:r>
              <a:rPr lang="ko-KR" altLang="en-US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할 계획임</a:t>
            </a:r>
            <a:r>
              <a:rPr lang="en-US" altLang="ko-KR" sz="1200" spc="-50" dirty="0">
                <a:highlight>
                  <a:srgbClr val="FFFF00"/>
                </a:highlight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200" spc="-50" dirty="0">
              <a:highlight>
                <a:srgbClr val="FFFF00"/>
              </a:highlight>
              <a:latin typeface="페이퍼로지 4 Regular" pitchFamily="2" charset="-127"/>
              <a:ea typeface="페이퍼로지 4 Regular" pitchFamily="2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3BD793-EDE2-65CE-5108-BB70F90CE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25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14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7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617720" y="6492878"/>
            <a:ext cx="670560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</a:lstStyle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31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>
            <a:lvl1pPr algn="ctr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2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3294492" cy="26744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2024</a:t>
            </a:r>
            <a:r>
              <a:rPr kumimoji="0" lang="ko-KR" altLang="en-US" sz="11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년  협약기업 진단 및 기업 맞춤형 훈련과정 개발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5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3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95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056200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4026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2542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7718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159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8480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9403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88075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86830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73724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9" y="6492880"/>
            <a:ext cx="440967" cy="365125"/>
          </a:xfrm>
        </p:spPr>
        <p:txBody>
          <a:bodyPr/>
          <a:lstStyle>
            <a:lvl1pPr algn="ctr">
              <a:defRPr lang="en-US" altLang="ko-KR" sz="812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95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32519" y="6492880"/>
            <a:ext cx="440967" cy="365125"/>
          </a:xfrm>
        </p:spPr>
        <p:txBody>
          <a:bodyPr/>
          <a:lstStyle>
            <a:lvl1pPr algn="ctr">
              <a:defRPr lang="en-US" altLang="ko-KR" sz="812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‹#›</a:t>
            </a:fld>
            <a:r>
              <a:rPr lang="ko-KR" altLang="en-US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803" y="6462725"/>
            <a:ext cx="1464098" cy="323898"/>
          </a:xfrm>
          <a:prstGeom prst="rect">
            <a:avLst/>
          </a:prstGeom>
        </p:spPr>
      </p:pic>
      <p:pic>
        <p:nvPicPr>
          <p:cNvPr id="5" name="그림 4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4776020F-9DFC-C6D3-5EB1-A5F1F36D95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" y="6462725"/>
            <a:ext cx="703127" cy="349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6EC10D-68B8-7199-6DB3-217D9162D7CD}"/>
              </a:ext>
            </a:extLst>
          </p:cNvPr>
          <p:cNvSpPr txBox="1"/>
          <p:nvPr userDrawn="1"/>
        </p:nvSpPr>
        <p:spPr>
          <a:xfrm>
            <a:off x="445990" y="-1259838"/>
            <a:ext cx="2709396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7429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3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협약기업 직무분석 및 맞춤형 훈련과정 개발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AA4CBB-C20B-D7BE-69C5-E3B9D50E9D00}"/>
              </a:ext>
            </a:extLst>
          </p:cNvPr>
          <p:cNvCxnSpPr>
            <a:cxnSpLocks/>
          </p:cNvCxnSpPr>
          <p:nvPr userDrawn="1"/>
        </p:nvCxnSpPr>
        <p:spPr>
          <a:xfrm>
            <a:off x="546896" y="1073705"/>
            <a:ext cx="884559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D87D48-67B5-3DBB-A198-2F824EAB1588}"/>
              </a:ext>
            </a:extLst>
          </p:cNvPr>
          <p:cNvSpPr/>
          <p:nvPr userDrawn="1"/>
        </p:nvSpPr>
        <p:spPr>
          <a:xfrm>
            <a:off x="7439819" y="568960"/>
            <a:ext cx="1952672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Ⅰ. </a:t>
            </a:r>
            <a:r>
              <a:rPr lang="ko-KR" altLang="en-US" sz="227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사업 개요</a:t>
            </a:r>
            <a:endParaRPr lang="en-US" altLang="ko-KR" sz="227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32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고딕12" panose="02020600000000000000" pitchFamily="18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54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7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고딕12" panose="02020600000000000000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고딕12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55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E2A4-A3F9-B90B-A568-DE6A1AA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18A7A4C7-4DBD-8AD9-4BBA-1D97115FCB35}"/>
              </a:ext>
            </a:extLst>
          </p:cNvPr>
          <p:cNvSpPr/>
          <p:nvPr/>
        </p:nvSpPr>
        <p:spPr>
          <a:xfrm>
            <a:off x="4959566" y="1903112"/>
            <a:ext cx="4952999" cy="4953598"/>
          </a:xfrm>
          <a:prstGeom prst="triangle">
            <a:avLst>
              <a:gd name="adj" fmla="val 100000"/>
            </a:avLst>
          </a:prstGeom>
          <a:solidFill>
            <a:srgbClr val="395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sp>
        <p:nvSpPr>
          <p:cNvPr id="28" name="평행 사변형 27">
            <a:extLst>
              <a:ext uri="{FF2B5EF4-FFF2-40B4-BE49-F238E27FC236}">
                <a16:creationId xmlns:a16="http://schemas.microsoft.com/office/drawing/2014/main" id="{DC14E535-B01B-BA0B-09BD-32507E0F3960}"/>
              </a:ext>
            </a:extLst>
          </p:cNvPr>
          <p:cNvSpPr/>
          <p:nvPr/>
        </p:nvSpPr>
        <p:spPr>
          <a:xfrm rot="10800000" flipH="1">
            <a:off x="344488" y="-2"/>
            <a:ext cx="1112696" cy="836614"/>
          </a:xfrm>
          <a:prstGeom prst="parallelogram">
            <a:avLst>
              <a:gd name="adj" fmla="val 85282"/>
            </a:avLst>
          </a:prstGeom>
          <a:solidFill>
            <a:srgbClr val="395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>
              <a:ea typeface="a고딕12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03859-22E0-E58A-6D41-2A846BD8A66A}"/>
              </a:ext>
            </a:extLst>
          </p:cNvPr>
          <p:cNvSpPr txBox="1"/>
          <p:nvPr/>
        </p:nvSpPr>
        <p:spPr>
          <a:xfrm>
            <a:off x="326559" y="1363022"/>
            <a:ext cx="8882265" cy="208705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sz="34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산업전환 공동훈련센터</a:t>
            </a:r>
            <a:r>
              <a:rPr lang="en-US" altLang="ko-KR" sz="34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(KTR) </a:t>
            </a:r>
          </a:p>
          <a:p>
            <a:pPr algn="l"/>
            <a:r>
              <a:rPr lang="en-US" altLang="ko-KR" sz="34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AI </a:t>
            </a:r>
            <a:r>
              <a:rPr lang="ko-KR" altLang="en-US" sz="34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교육과정개발 반영 </a:t>
            </a:r>
            <a:r>
              <a:rPr lang="ko-KR" altLang="en-US" sz="3400" dirty="0" err="1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교육로드맵</a:t>
            </a:r>
            <a:r>
              <a:rPr lang="ko-KR" altLang="en-US" sz="3400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 체계 구축</a:t>
            </a:r>
            <a:endParaRPr lang="en-US" altLang="ko-KR" sz="3400" dirty="0">
              <a:solidFill>
                <a:srgbClr val="395D20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algn="l"/>
            <a:r>
              <a:rPr lang="en-US" altLang="ko-KR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[</a:t>
            </a:r>
            <a:r>
              <a:rPr lang="ko-KR" altLang="en-US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제안발표자료</a:t>
            </a:r>
            <a:r>
              <a:rPr lang="en-US" altLang="ko-KR" sz="2925" dirty="0">
                <a:solidFill>
                  <a:srgbClr val="395D20"/>
                </a:solidFill>
                <a:latin typeface="페이퍼로지 8 ExtraBold" pitchFamily="2" charset="-127"/>
                <a:ea typeface="페이퍼로지 8 ExtraBold" pitchFamily="2" charset="-127"/>
              </a:rPr>
              <a:t>]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8178F8E-CF08-517A-525A-7873B4D51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724" y="6019188"/>
            <a:ext cx="1589789" cy="351461"/>
          </a:xfrm>
          <a:prstGeom prst="rect">
            <a:avLst/>
          </a:prstGeom>
        </p:spPr>
      </p:pic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DBC3A383-12E5-CB96-A72E-5D71B0D33D1F}"/>
              </a:ext>
            </a:extLst>
          </p:cNvPr>
          <p:cNvSpPr/>
          <p:nvPr/>
        </p:nvSpPr>
        <p:spPr>
          <a:xfrm rot="8100000">
            <a:off x="9285354" y="2174562"/>
            <a:ext cx="1248008" cy="1248159"/>
          </a:xfrm>
          <a:prstGeom prst="triangle">
            <a:avLst>
              <a:gd name="adj" fmla="val 100000"/>
            </a:avLst>
          </a:prstGeom>
          <a:solidFill>
            <a:srgbClr val="1B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92AE322E-A5F1-5D65-CD53-4648D46F71C5}"/>
              </a:ext>
            </a:extLst>
          </p:cNvPr>
          <p:cNvSpPr/>
          <p:nvPr/>
        </p:nvSpPr>
        <p:spPr>
          <a:xfrm rot="5400000">
            <a:off x="45" y="6119917"/>
            <a:ext cx="736748" cy="736837"/>
          </a:xfrm>
          <a:prstGeom prst="triangle">
            <a:avLst>
              <a:gd name="adj" fmla="val 100000"/>
            </a:avLst>
          </a:prstGeom>
          <a:solidFill>
            <a:srgbClr val="1B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 dirty="0">
              <a:ea typeface="a고딕12" panose="02020600000000000000" pitchFamily="18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97557E3-E4E6-0E87-BDF5-0DB5BE6615A2}"/>
              </a:ext>
            </a:extLst>
          </p:cNvPr>
          <p:cNvGrpSpPr/>
          <p:nvPr/>
        </p:nvGrpSpPr>
        <p:grpSpPr>
          <a:xfrm>
            <a:off x="345350" y="-1005794"/>
            <a:ext cx="2595052" cy="418447"/>
            <a:chOff x="345350" y="-1005794"/>
            <a:chExt cx="2595052" cy="41844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37C16C7-E5F9-4654-D0A8-76C9D37DAB99}"/>
                </a:ext>
              </a:extLst>
            </p:cNvPr>
            <p:cNvSpPr/>
            <p:nvPr/>
          </p:nvSpPr>
          <p:spPr>
            <a:xfrm>
              <a:off x="345350" y="-1005794"/>
              <a:ext cx="289451" cy="16213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A669787-0456-413E-7CA7-8A5DF439060F}"/>
                </a:ext>
              </a:extLst>
            </p:cNvPr>
            <p:cNvSpPr/>
            <p:nvPr/>
          </p:nvSpPr>
          <p:spPr>
            <a:xfrm>
              <a:off x="729695" y="-1005794"/>
              <a:ext cx="289451" cy="162138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70C2B33-1EE4-898B-502C-63080D39BAC7}"/>
                </a:ext>
              </a:extLst>
            </p:cNvPr>
            <p:cNvSpPr/>
            <p:nvPr/>
          </p:nvSpPr>
          <p:spPr>
            <a:xfrm>
              <a:off x="1114039" y="-1005794"/>
              <a:ext cx="289451" cy="162138"/>
            </a:xfrm>
            <a:prstGeom prst="rect">
              <a:avLst/>
            </a:prstGeom>
            <a:solidFill>
              <a:srgbClr val="F8CE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1B6D265-309B-E36B-FA8C-44A126B688CC}"/>
                </a:ext>
              </a:extLst>
            </p:cNvPr>
            <p:cNvSpPr/>
            <p:nvPr/>
          </p:nvSpPr>
          <p:spPr>
            <a:xfrm>
              <a:off x="1498383" y="-1005794"/>
              <a:ext cx="289451" cy="162138"/>
            </a:xfrm>
            <a:prstGeom prst="rect">
              <a:avLst/>
            </a:prstGeom>
            <a:solidFill>
              <a:srgbClr val="F3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F34FD96-B7F8-A1FD-9EFC-E0598BA56F70}"/>
                </a:ext>
              </a:extLst>
            </p:cNvPr>
            <p:cNvSpPr/>
            <p:nvPr/>
          </p:nvSpPr>
          <p:spPr>
            <a:xfrm>
              <a:off x="1882727" y="-1005794"/>
              <a:ext cx="289451" cy="162138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81C7A70-BF06-BE02-329E-459BAE4413A8}"/>
                </a:ext>
              </a:extLst>
            </p:cNvPr>
            <p:cNvSpPr/>
            <p:nvPr/>
          </p:nvSpPr>
          <p:spPr>
            <a:xfrm>
              <a:off x="1882727" y="-749485"/>
              <a:ext cx="289451" cy="162138"/>
            </a:xfrm>
            <a:prstGeom prst="rect">
              <a:avLst/>
            </a:prstGeom>
            <a:solidFill>
              <a:srgbClr val="A3A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6D7F86F-FEC4-3B51-D586-4876B10B9F54}"/>
                </a:ext>
              </a:extLst>
            </p:cNvPr>
            <p:cNvSpPr/>
            <p:nvPr/>
          </p:nvSpPr>
          <p:spPr>
            <a:xfrm>
              <a:off x="345350" y="-749485"/>
              <a:ext cx="289451" cy="162138"/>
            </a:xfrm>
            <a:prstGeom prst="rect">
              <a:avLst/>
            </a:prstGeom>
            <a:solidFill>
              <a:srgbClr val="3445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BB49A8E-6FD0-5E5E-8A9B-B35934186417}"/>
                </a:ext>
              </a:extLst>
            </p:cNvPr>
            <p:cNvSpPr/>
            <p:nvPr/>
          </p:nvSpPr>
          <p:spPr>
            <a:xfrm>
              <a:off x="729695" y="-749485"/>
              <a:ext cx="289451" cy="162138"/>
            </a:xfrm>
            <a:prstGeom prst="rect">
              <a:avLst/>
            </a:prstGeom>
            <a:solidFill>
              <a:srgbClr val="395D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2FC9F20-31E5-5A7A-7FBE-DB870D2AEA2A}"/>
                </a:ext>
              </a:extLst>
            </p:cNvPr>
            <p:cNvSpPr/>
            <p:nvPr/>
          </p:nvSpPr>
          <p:spPr>
            <a:xfrm>
              <a:off x="1114039" y="-749485"/>
              <a:ext cx="289451" cy="162138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084" name="직사각형 1083">
              <a:extLst>
                <a:ext uri="{FF2B5EF4-FFF2-40B4-BE49-F238E27FC236}">
                  <a16:creationId xmlns:a16="http://schemas.microsoft.com/office/drawing/2014/main" id="{0433781C-23D7-2A6F-3AF1-B9C06AEB4CC5}"/>
                </a:ext>
              </a:extLst>
            </p:cNvPr>
            <p:cNvSpPr/>
            <p:nvPr/>
          </p:nvSpPr>
          <p:spPr>
            <a:xfrm>
              <a:off x="1496264" y="-749485"/>
              <a:ext cx="289451" cy="16213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1089" name="직사각형 1088">
              <a:extLst>
                <a:ext uri="{FF2B5EF4-FFF2-40B4-BE49-F238E27FC236}">
                  <a16:creationId xmlns:a16="http://schemas.microsoft.com/office/drawing/2014/main" id="{AC7FD7B9-7342-D19D-E8FE-574681A68D87}"/>
                </a:ext>
              </a:extLst>
            </p:cNvPr>
            <p:cNvSpPr/>
            <p:nvPr/>
          </p:nvSpPr>
          <p:spPr>
            <a:xfrm>
              <a:off x="2650951" y="-749485"/>
              <a:ext cx="289451" cy="162138"/>
            </a:xfrm>
            <a:prstGeom prst="rect">
              <a:avLst/>
            </a:prstGeom>
            <a:solidFill>
              <a:srgbClr val="2F4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74C26D-6F76-EF5C-58DD-742A3B308FB2}"/>
                </a:ext>
              </a:extLst>
            </p:cNvPr>
            <p:cNvSpPr/>
            <p:nvPr/>
          </p:nvSpPr>
          <p:spPr>
            <a:xfrm>
              <a:off x="2267074" y="-749485"/>
              <a:ext cx="289451" cy="162138"/>
            </a:xfrm>
            <a:prstGeom prst="rect">
              <a:avLst/>
            </a:prstGeom>
            <a:solidFill>
              <a:srgbClr val="EE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63" spc="-50" dirty="0">
                <a:ea typeface="a고딕12" panose="02020600000000000000" pitchFamily="18" charset="-127"/>
              </a:endParaRPr>
            </a:p>
          </p:txBody>
        </p:sp>
      </p:grpSp>
      <p:pic>
        <p:nvPicPr>
          <p:cNvPr id="7" name="그림 6" descr="폰트, 그래픽, 스크린샷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F4576FA-6938-F2B0-0AE3-FE7BB16DC4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3" y="5945611"/>
            <a:ext cx="1000045" cy="498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F5691-385D-8371-146B-79290E4C3B47}"/>
              </a:ext>
            </a:extLst>
          </p:cNvPr>
          <p:cNvSpPr txBox="1"/>
          <p:nvPr/>
        </p:nvSpPr>
        <p:spPr>
          <a:xfrm>
            <a:off x="566533" y="3651506"/>
            <a:ext cx="4901579" cy="72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발주기관 </a:t>
            </a:r>
            <a:r>
              <a:rPr lang="en-US" altLang="ko-KR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: (</a:t>
            </a:r>
            <a:r>
              <a:rPr lang="ko-KR" altLang="en-US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재</a:t>
            </a:r>
            <a:r>
              <a:rPr lang="en-US" altLang="ko-KR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sz="1463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한국화학융합시험연구원</a:t>
            </a:r>
            <a:endParaRPr lang="en-US" altLang="ko-KR" sz="1463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제안기관 </a:t>
            </a:r>
            <a:r>
              <a:rPr lang="en-US" altLang="ko-KR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463" spc="-4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시앤피컨설팅</a:t>
            </a:r>
            <a:r>
              <a:rPr lang="ko-KR" altLang="en-US" sz="1463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 주식회사</a:t>
            </a: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56017F5D-9E25-8FFC-D2F5-4D5AB6DAB82B}"/>
              </a:ext>
            </a:extLst>
          </p:cNvPr>
          <p:cNvSpPr/>
          <p:nvPr/>
        </p:nvSpPr>
        <p:spPr>
          <a:xfrm rot="16200000">
            <a:off x="6203090" y="-25635"/>
            <a:ext cx="3702833" cy="3703285"/>
          </a:xfrm>
          <a:prstGeom prst="triangle">
            <a:avLst>
              <a:gd name="adj" fmla="val 100000"/>
            </a:avLst>
          </a:prstGeom>
          <a:solidFill>
            <a:srgbClr val="A3A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 spc="-50">
              <a:ea typeface="a고딕12" panose="02020600000000000000" pitchFamily="18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1A91FB80-7A3B-1737-FA49-9567F28C0396}"/>
              </a:ext>
            </a:extLst>
          </p:cNvPr>
          <p:cNvSpPr/>
          <p:nvPr/>
        </p:nvSpPr>
        <p:spPr>
          <a:xfrm rot="16200000">
            <a:off x="7167728" y="-927963"/>
            <a:ext cx="3718202" cy="3718202"/>
          </a:xfrm>
          <a:custGeom>
            <a:avLst/>
            <a:gdLst>
              <a:gd name="connsiteX0" fmla="*/ 6677457 w 6677457"/>
              <a:gd name="connsiteY0" fmla="*/ 3338729 h 6677457"/>
              <a:gd name="connsiteX1" fmla="*/ 3338728 w 6677457"/>
              <a:gd name="connsiteY1" fmla="*/ 6677457 h 6677457"/>
              <a:gd name="connsiteX2" fmla="*/ 0 w 6677457"/>
              <a:gd name="connsiteY2" fmla="*/ 3338729 h 6677457"/>
              <a:gd name="connsiteX3" fmla="*/ 3338729 w 6677457"/>
              <a:gd name="connsiteY3" fmla="*/ 0 h 66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457" h="6677457">
                <a:moveTo>
                  <a:pt x="6677457" y="3338729"/>
                </a:moveTo>
                <a:lnTo>
                  <a:pt x="3338728" y="6677457"/>
                </a:lnTo>
                <a:lnTo>
                  <a:pt x="0" y="3338729"/>
                </a:lnTo>
                <a:lnTo>
                  <a:pt x="3338729" y="0"/>
                </a:lnTo>
                <a:close/>
              </a:path>
            </a:pathLst>
          </a:custGeom>
          <a:blipFill dpi="0" rotWithShape="1">
            <a:blip r:embed="rId4">
              <a:alphaModFix amt="30000"/>
            </a:blip>
            <a:srcRect/>
            <a:stretch>
              <a:fillRect t="-7285" b="7285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67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9F89AA7-2F8F-93F4-C577-D090CA7D1301}"/>
              </a:ext>
            </a:extLst>
          </p:cNvPr>
          <p:cNvGrpSpPr/>
          <p:nvPr/>
        </p:nvGrpSpPr>
        <p:grpSpPr>
          <a:xfrm>
            <a:off x="473958" y="1281631"/>
            <a:ext cx="8947089" cy="1241647"/>
            <a:chOff x="473958" y="1281631"/>
            <a:chExt cx="8947089" cy="1241647"/>
          </a:xfrm>
        </p:grpSpPr>
        <p:sp>
          <p:nvSpPr>
            <p:cNvPr id="30" name="직사각형 29"/>
            <p:cNvSpPr/>
            <p:nvPr/>
          </p:nvSpPr>
          <p:spPr>
            <a:xfrm>
              <a:off x="915214" y="1624462"/>
              <a:ext cx="2925000" cy="608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일반현황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조직 및 주요 사업 실적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843510" y="1281631"/>
              <a:ext cx="872355" cy="345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Arial"/>
                </a:rPr>
                <a:t>업체 현황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73958" y="1281631"/>
              <a:ext cx="2632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latin typeface="페이퍼로지 7 Bold" pitchFamily="2" charset="-127"/>
                  <a:ea typeface="페이퍼로지 7 Bold" pitchFamily="2" charset="-127"/>
                </a:rPr>
                <a:t>Ⅰ</a:t>
              </a:r>
              <a:endPara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016662" y="1624462"/>
              <a:ext cx="599894" cy="898816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04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05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124635" y="1281631"/>
              <a:ext cx="491921" cy="53238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4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03</a:t>
              </a:r>
              <a:endParaRPr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5546B79-DE79-459E-F124-33E578AFC7C7}"/>
                </a:ext>
              </a:extLst>
            </p:cNvPr>
            <p:cNvSpPr/>
            <p:nvPr/>
          </p:nvSpPr>
          <p:spPr>
            <a:xfrm>
              <a:off x="5142105" y="1281631"/>
              <a:ext cx="4555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latin typeface="페이퍼로지 7 Bold" pitchFamily="2" charset="-127"/>
                  <a:ea typeface="페이퍼로지 7 Bold" pitchFamily="2" charset="-127"/>
                </a:rPr>
                <a:t>Ⅳ </a:t>
              </a:r>
              <a:endPara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EC3BB7-075E-F359-1B59-ED81B75B6FCC}"/>
                </a:ext>
              </a:extLst>
            </p:cNvPr>
            <p:cNvSpPr/>
            <p:nvPr/>
          </p:nvSpPr>
          <p:spPr>
            <a:xfrm>
              <a:off x="5580106" y="1637843"/>
              <a:ext cx="2925000" cy="8854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수행조직 구성 및 체계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추진일정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3.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사업 관리방안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ED5E99A-199D-EA4D-9339-5E8A0C7D0E20}"/>
                </a:ext>
              </a:extLst>
            </p:cNvPr>
            <p:cNvSpPr/>
            <p:nvPr/>
          </p:nvSpPr>
          <p:spPr>
            <a:xfrm>
              <a:off x="5475797" y="1281631"/>
              <a:ext cx="1771639" cy="345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Arial"/>
                </a:rPr>
                <a:t>과업수행 조직 및 관리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1898501-245D-609A-7C56-CED4CB0BA4A5}"/>
                </a:ext>
              </a:extLst>
            </p:cNvPr>
            <p:cNvSpPr/>
            <p:nvPr/>
          </p:nvSpPr>
          <p:spPr>
            <a:xfrm>
              <a:off x="8991883" y="1637843"/>
              <a:ext cx="429164" cy="8854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27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28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29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87A54E5-A153-28E5-FECC-A45BC07B4059}"/>
                </a:ext>
              </a:extLst>
            </p:cNvPr>
            <p:cNvSpPr/>
            <p:nvPr/>
          </p:nvSpPr>
          <p:spPr>
            <a:xfrm>
              <a:off x="8818838" y="1281631"/>
              <a:ext cx="602209" cy="569392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4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26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F906DB8-882C-A8F2-E2AD-AAE23CB6F458}"/>
              </a:ext>
            </a:extLst>
          </p:cNvPr>
          <p:cNvGrpSpPr/>
          <p:nvPr/>
        </p:nvGrpSpPr>
        <p:grpSpPr>
          <a:xfrm>
            <a:off x="473958" y="4829459"/>
            <a:ext cx="4142598" cy="1047830"/>
            <a:chOff x="473958" y="4829459"/>
            <a:chExt cx="4142598" cy="104783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26CAB4D-84A4-B9F1-EF62-FB73A7F70941}"/>
                </a:ext>
              </a:extLst>
            </p:cNvPr>
            <p:cNvSpPr/>
            <p:nvPr/>
          </p:nvSpPr>
          <p:spPr>
            <a:xfrm>
              <a:off x="915214" y="5186904"/>
              <a:ext cx="2925000" cy="608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과업수행체계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세부 수행 방안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B4D6A00-BFBE-3479-C8AA-FF89A43CE66A}"/>
                </a:ext>
              </a:extLst>
            </p:cNvPr>
            <p:cNvSpPr/>
            <p:nvPr/>
          </p:nvSpPr>
          <p:spPr>
            <a:xfrm>
              <a:off x="843510" y="4829459"/>
              <a:ext cx="1189749" cy="345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Arial"/>
                </a:rPr>
                <a:t>과업수행 계획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41A301B-C7D4-6639-0D9F-CC01B1800314}"/>
                </a:ext>
              </a:extLst>
            </p:cNvPr>
            <p:cNvSpPr/>
            <p:nvPr/>
          </p:nvSpPr>
          <p:spPr>
            <a:xfrm>
              <a:off x="473958" y="4829459"/>
              <a:ext cx="388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latin typeface="페이퍼로지 7 Bold" pitchFamily="2" charset="-127"/>
                  <a:ea typeface="페이퍼로지 7 Bold" pitchFamily="2" charset="-127"/>
                </a:rPr>
                <a:t>Ⅲ</a:t>
              </a:r>
              <a:endPara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DF1B952-ED8A-00BE-52A3-5F594F9A6E00}"/>
                </a:ext>
              </a:extLst>
            </p:cNvPr>
            <p:cNvSpPr/>
            <p:nvPr/>
          </p:nvSpPr>
          <p:spPr>
            <a:xfrm>
              <a:off x="4016662" y="5186908"/>
              <a:ext cx="599894" cy="6903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13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14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CBC8DDA-7A3B-4EBC-EE52-6DFCAA823E78}"/>
                </a:ext>
              </a:extLst>
            </p:cNvPr>
            <p:cNvSpPr/>
            <p:nvPr/>
          </p:nvSpPr>
          <p:spPr>
            <a:xfrm>
              <a:off x="3958888" y="4829459"/>
              <a:ext cx="657668" cy="53238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4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12</a:t>
              </a:r>
              <a:endParaRPr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028CEF8-ED13-1CA7-059C-010838625D8B}"/>
              </a:ext>
            </a:extLst>
          </p:cNvPr>
          <p:cNvGrpSpPr/>
          <p:nvPr/>
        </p:nvGrpSpPr>
        <p:grpSpPr>
          <a:xfrm>
            <a:off x="473958" y="3002434"/>
            <a:ext cx="4142598" cy="1347869"/>
            <a:chOff x="473958" y="3134289"/>
            <a:chExt cx="4142598" cy="134786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826F636-EBF7-9621-55C2-EC0519387CAF}"/>
                </a:ext>
              </a:extLst>
            </p:cNvPr>
            <p:cNvSpPr/>
            <p:nvPr/>
          </p:nvSpPr>
          <p:spPr>
            <a:xfrm>
              <a:off x="915214" y="3491734"/>
              <a:ext cx="2925000" cy="608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제안 목적 및 내용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제안 특징 및 사업 접근 전략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2CB08C-5120-A2BB-65E2-05CC0F4A5152}"/>
                </a:ext>
              </a:extLst>
            </p:cNvPr>
            <p:cNvSpPr/>
            <p:nvPr/>
          </p:nvSpPr>
          <p:spPr>
            <a:xfrm>
              <a:off x="843510" y="3134289"/>
              <a:ext cx="872355" cy="3454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algn="r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Arial"/>
                </a:rPr>
                <a:t>제안 개요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1592C56-6136-EDBF-A045-B7E068E220C2}"/>
                </a:ext>
              </a:extLst>
            </p:cNvPr>
            <p:cNvSpPr/>
            <p:nvPr/>
          </p:nvSpPr>
          <p:spPr>
            <a:xfrm>
              <a:off x="473958" y="3134289"/>
              <a:ext cx="393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435941"/>
                  </a:solidFill>
                  <a:latin typeface="페이퍼로지 7 Bold" pitchFamily="2" charset="-127"/>
                  <a:ea typeface="페이퍼로지 7 Bold" pitchFamily="2" charset="-127"/>
                </a:rPr>
                <a:t>Ⅱ </a:t>
              </a:r>
              <a:endPara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43594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A97998B-999A-2D2B-3475-BEB21DDD485A}"/>
                </a:ext>
              </a:extLst>
            </p:cNvPr>
            <p:cNvSpPr/>
            <p:nvPr/>
          </p:nvSpPr>
          <p:spPr>
            <a:xfrm>
              <a:off x="4016662" y="3491738"/>
              <a:ext cx="599894" cy="99042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07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09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8586A89-CEB2-A1C7-FAA3-D9C4AD8E8C99}"/>
                </a:ext>
              </a:extLst>
            </p:cNvPr>
            <p:cNvSpPr/>
            <p:nvPr/>
          </p:nvSpPr>
          <p:spPr>
            <a:xfrm>
              <a:off x="3958888" y="3134289"/>
              <a:ext cx="657668" cy="53238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4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  <a:cs typeface="Arial"/>
                </a:rPr>
                <a:t>06</a:t>
              </a:r>
              <a:endParaRPr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A326F31-CA55-46B9-CE20-396D032A7DAF}"/>
              </a:ext>
            </a:extLst>
          </p:cNvPr>
          <p:cNvCxnSpPr>
            <a:cxnSpLocks/>
          </p:cNvCxnSpPr>
          <p:nvPr/>
        </p:nvCxnSpPr>
        <p:spPr>
          <a:xfrm flipV="1">
            <a:off x="1616010" y="874624"/>
            <a:ext cx="7805037" cy="30477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33B383-4210-51E3-6F89-0255CC310C0B}"/>
              </a:ext>
            </a:extLst>
          </p:cNvPr>
          <p:cNvSpPr/>
          <p:nvPr/>
        </p:nvSpPr>
        <p:spPr>
          <a:xfrm>
            <a:off x="445989" y="727514"/>
            <a:ext cx="1371786" cy="36240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50" b="0" i="0" u="none" strike="noStrike" kern="1200" cap="none" spc="-50" normalizeH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344532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F5AC0-1D6A-E9F6-6AC0-C22EA3D72A25}"/>
              </a:ext>
            </a:extLst>
          </p:cNvPr>
          <p:cNvSpPr txBox="1"/>
          <p:nvPr/>
        </p:nvSpPr>
        <p:spPr>
          <a:xfrm>
            <a:off x="445988" y="323850"/>
            <a:ext cx="5756691" cy="2674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</a:t>
            </a:r>
            <a:r>
              <a:rPr lang="en-US" altLang="ko-KR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(KTR) AI </a:t>
            </a: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교육과정개발 반영 </a:t>
            </a:r>
            <a:r>
              <a:rPr lang="ko-KR" altLang="en-US" sz="1138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 체계 구축</a:t>
            </a:r>
            <a:endParaRPr lang="en-US" altLang="ko-KR" sz="1138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95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445989" y="727513"/>
            <a:ext cx="2089033" cy="3624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9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기술평가 항목 목차</a:t>
            </a:r>
            <a:endParaRPr lang="en-US" altLang="ko-KR" sz="19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4453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403A4D-968F-61D8-A1AB-6EFD92BFFD48}"/>
              </a:ext>
            </a:extLst>
          </p:cNvPr>
          <p:cNvCxnSpPr>
            <a:cxnSpLocks/>
          </p:cNvCxnSpPr>
          <p:nvPr/>
        </p:nvCxnSpPr>
        <p:spPr>
          <a:xfrm>
            <a:off x="2535022" y="908716"/>
            <a:ext cx="6857469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91C69-4987-602F-B514-4AC783387B56}"/>
              </a:ext>
            </a:extLst>
          </p:cNvPr>
          <p:cNvSpPr txBox="1"/>
          <p:nvPr/>
        </p:nvSpPr>
        <p:spPr>
          <a:xfrm>
            <a:off x="445988" y="323850"/>
            <a:ext cx="5756691" cy="2674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산업전환 공동훈련센터</a:t>
            </a:r>
            <a:r>
              <a:rPr lang="en-US" altLang="ko-KR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(KTR) AI </a:t>
            </a: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교육과정개발 반영 </a:t>
            </a:r>
            <a:r>
              <a:rPr lang="ko-KR" altLang="en-US" sz="1138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138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 체계 구축</a:t>
            </a:r>
            <a:endParaRPr lang="en-US" altLang="ko-KR" sz="1138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D5A450C-8C3C-FBBE-5C1E-18DD690A4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263640"/>
              </p:ext>
            </p:extLst>
          </p:nvPr>
        </p:nvGraphicFramePr>
        <p:xfrm>
          <a:off x="344489" y="1376363"/>
          <a:ext cx="9217025" cy="4852707"/>
        </p:xfrm>
        <a:graphic>
          <a:graphicData uri="http://schemas.openxmlformats.org/drawingml/2006/table">
            <a:tbl>
              <a:tblPr/>
              <a:tblGrid>
                <a:gridCol w="524968">
                  <a:extLst>
                    <a:ext uri="{9D8B030D-6E8A-4147-A177-3AD203B41FA5}">
                      <a16:colId xmlns:a16="http://schemas.microsoft.com/office/drawing/2014/main" val="1190777455"/>
                    </a:ext>
                  </a:extLst>
                </a:gridCol>
                <a:gridCol w="899944">
                  <a:extLst>
                    <a:ext uri="{9D8B030D-6E8A-4147-A177-3AD203B41FA5}">
                      <a16:colId xmlns:a16="http://schemas.microsoft.com/office/drawing/2014/main" val="340898001"/>
                    </a:ext>
                  </a:extLst>
                </a:gridCol>
                <a:gridCol w="1397640">
                  <a:extLst>
                    <a:ext uri="{9D8B030D-6E8A-4147-A177-3AD203B41FA5}">
                      <a16:colId xmlns:a16="http://schemas.microsoft.com/office/drawing/2014/main" val="343450001"/>
                    </a:ext>
                  </a:extLst>
                </a:gridCol>
                <a:gridCol w="3136166">
                  <a:extLst>
                    <a:ext uri="{9D8B030D-6E8A-4147-A177-3AD203B41FA5}">
                      <a16:colId xmlns:a16="http://schemas.microsoft.com/office/drawing/2014/main" val="1954857157"/>
                    </a:ext>
                  </a:extLst>
                </a:gridCol>
                <a:gridCol w="2679376">
                  <a:extLst>
                    <a:ext uri="{9D8B030D-6E8A-4147-A177-3AD203B41FA5}">
                      <a16:colId xmlns:a16="http://schemas.microsoft.com/office/drawing/2014/main" val="2816330048"/>
                    </a:ext>
                  </a:extLst>
                </a:gridCol>
                <a:gridCol w="578931">
                  <a:extLst>
                    <a:ext uri="{9D8B030D-6E8A-4147-A177-3AD203B41FA5}">
                      <a16:colId xmlns:a16="http://schemas.microsoft.com/office/drawing/2014/main" val="204328231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평가항목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평가기준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제안서 목차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배점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59414"/>
                  </a:ext>
                </a:extLst>
              </a:tr>
              <a:tr h="36064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기술 능력 평가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(80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정성평가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(70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 이해도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목표에 대한 이해도</a:t>
                      </a: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Ⅱ.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제안 개요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제안 목적 및 내용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- 8p~13p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777706"/>
                  </a:ext>
                </a:extLst>
              </a:tr>
              <a:tr h="684390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 내용 및 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결과물 제출의 구체성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범위 설정의 적절성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Ⅱ.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제안 개요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제안 목적 및 전략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- 8p~10p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Ⅲ.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계획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1.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과업수행체계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- 15p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690797"/>
                  </a:ext>
                </a:extLst>
              </a:tr>
              <a:tr h="3606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활용과 적용이 원활한 과업 결과물의 구체적 제시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Ⅲ.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계획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세부 수행 방안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- 16p~30p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204"/>
                  </a:ext>
                </a:extLst>
              </a:tr>
              <a:tr h="247804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추진전략의 우수성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추진 방법론의 논리성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Ⅲ.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계획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- 15p~30p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15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826826"/>
                  </a:ext>
                </a:extLst>
              </a:tr>
              <a:tr h="3606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추진전략의 적절성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Ⅲ.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계획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1.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과업수행체계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- 15p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14900"/>
                  </a:ext>
                </a:extLst>
              </a:tr>
              <a:tr h="247804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수행 방법의 합리성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수행 프로세스의 구체성 및 합리성</a:t>
                      </a: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Ⅲ.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계획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- 15p~30p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46728"/>
                  </a:ext>
                </a:extLst>
              </a:tr>
              <a:tr h="36064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수행 조직의 적절성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수행체계 및 조직구성의 적절성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Ⅳ.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조직 및 관리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1.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수행조직 구성 및 체계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- 32p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572283"/>
                  </a:ext>
                </a:extLst>
              </a:tr>
              <a:tr h="3606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인력 활용계획의 구체성 및 적절성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*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전문가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Pool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활용계획 우수성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Ⅳ.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조직 및 관리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참여인력 이력사항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- 37p~38p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72524"/>
                  </a:ext>
                </a:extLst>
              </a:tr>
              <a:tr h="684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관리방안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일정관리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품질관리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프로젝트관리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사후관리 부분에 대한 구체성</a:t>
                      </a: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Ⅳ.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조직 및 관리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추진 일정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- 33p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Ⅳ.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과업수행 조직 및 관리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3.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 관리방안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- 34p~36p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648183"/>
                  </a:ext>
                </a:extLst>
              </a:tr>
              <a:tr h="36064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 dirty="0"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정량평가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(10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경영상태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재무적 경영상태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신용평가등급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Ⅰ.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업체 현황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2.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조직 및 경영상태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- 5p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18640"/>
                  </a:ext>
                </a:extLst>
              </a:tr>
              <a:tr h="36064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주요 실적 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주요 사업내용 및 실적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Ⅰ. </a:t>
                      </a:r>
                      <a:r>
                        <a:rPr lang="ko-KR" altLang="en-US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업체 현황</a:t>
                      </a:r>
                      <a:endParaRPr lang="en-US" altLang="ko-KR" sz="1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3.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사업내용 및 실적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- 6p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79955"/>
                  </a:ext>
                </a:extLst>
              </a:tr>
              <a:tr h="247804">
                <a:tc gridSpan="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80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94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4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12551-EB58-0985-8B8A-0D8972B6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8AD9CF8C-AD82-C32D-A5D8-A462E41471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4074160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AAB6DC49-E3CD-6394-3B00-363BC8173A61}"/>
              </a:ext>
            </a:extLst>
          </p:cNvPr>
          <p:cNvGrpSpPr/>
          <p:nvPr/>
        </p:nvGrpSpPr>
        <p:grpSpPr>
          <a:xfrm>
            <a:off x="795" y="1981074"/>
            <a:ext cx="5132225" cy="2895853"/>
            <a:chOff x="795" y="2384884"/>
            <a:chExt cx="5132225" cy="2895853"/>
          </a:xfrm>
        </p:grpSpPr>
        <p:sp>
          <p:nvSpPr>
            <p:cNvPr id="12" name="Text Placeholder 1">
              <a:extLst>
                <a:ext uri="{FF2B5EF4-FFF2-40B4-BE49-F238E27FC236}">
                  <a16:creationId xmlns:a16="http://schemas.microsoft.com/office/drawing/2014/main" id="{F4C7364B-8819-C497-20D7-C43F73F15E2C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 Narrow" pitchFamily="34" charset="0"/>
                <a:buNone/>
                <a:tabLst/>
                <a:defRPr/>
              </a:pPr>
              <a:r>
                <a:rPr kumimoji="0" lang="en-US" altLang="ko-KR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Ⅰ. </a:t>
              </a:r>
              <a:r>
                <a:rPr kumimoji="0" lang="ko-KR" alt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업체 현황</a:t>
              </a:r>
            </a:p>
          </p:txBody>
        </p:sp>
        <p:sp>
          <p:nvSpPr>
            <p:cNvPr id="13" name="Text Placeholder 1">
              <a:extLst>
                <a:ext uri="{FF2B5EF4-FFF2-40B4-BE49-F238E27FC236}">
                  <a16:creationId xmlns:a16="http://schemas.microsoft.com/office/drawing/2014/main" id="{8ABF6CC9-5DBB-0829-041D-8E83D69825BA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22214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marR="0" lvl="1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일반현황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  <a:p>
              <a:pPr marL="361950" marR="0" lvl="1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조직 및 주요 사업 실적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05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C447C-D4DF-A36B-A450-AC87E167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 dirty="0">
                <a:latin typeface="페이퍼로지 5 Medium" pitchFamily="2" charset="-127"/>
                <a:ea typeface="페이퍼로지 5 Medium" pitchFamily="2" charset="-127"/>
              </a:rPr>
              <a:t>- </a:t>
            </a:r>
            <a:fld id="{F0AEE96D-C800-4200-B178-74DC3655196B}" type="slidenum">
              <a:rPr lang="ko-KR" altLang="en-US" spc="-50" smtClean="0">
                <a:latin typeface="페이퍼로지 5 Medium" pitchFamily="2" charset="-127"/>
                <a:ea typeface="페이퍼로지 5 Medium" pitchFamily="2" charset="-127"/>
              </a:rPr>
              <a:pPr/>
              <a:t>4</a:t>
            </a:fld>
            <a:r>
              <a:rPr lang="ko-KR" altLang="en-US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spc="-50" dirty="0">
                <a:latin typeface="페이퍼로지 5 Medium" pitchFamily="2" charset="-127"/>
                <a:ea typeface="페이퍼로지 5 Medium" pitchFamily="2" charset="-127"/>
              </a:rPr>
              <a:t>-</a:t>
            </a:r>
            <a:endParaRPr lang="ko-KR" altLang="en-US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ECAA93-2714-9372-D848-400A71C78496}"/>
              </a:ext>
            </a:extLst>
          </p:cNvPr>
          <p:cNvSpPr/>
          <p:nvPr/>
        </p:nvSpPr>
        <p:spPr>
          <a:xfrm>
            <a:off x="7294246" y="26382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업체 현황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일반현황</a:t>
            </a:r>
          </a:p>
        </p:txBody>
      </p:sp>
      <p:sp>
        <p:nvSpPr>
          <p:cNvPr id="22" name="텍스트 개체 틀 1">
            <a:extLst>
              <a:ext uri="{FF2B5EF4-FFF2-40B4-BE49-F238E27FC236}">
                <a16:creationId xmlns:a16="http://schemas.microsoft.com/office/drawing/2014/main" id="{0765FFED-0B73-FC6F-FA13-475B617F5ED8}"/>
              </a:ext>
            </a:extLst>
          </p:cNvPr>
          <p:cNvSpPr txBox="1">
            <a:spLocks/>
          </p:cNvSpPr>
          <p:nvPr/>
        </p:nvSpPr>
        <p:spPr>
          <a:xfrm>
            <a:off x="344487" y="84296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제안기관은 귀 기관과의 지속적인 협업 경험과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HR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전문지식을 바탕으로 新기술 분야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직무분석 및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수립 경험을 보유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하고 있으며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이를 통해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본 과업을 체계적으로 수행할 수 있는 역량과 관리 능력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을 갖추고 있음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2EC80D0-9394-761F-1265-A21A39C021EE}"/>
              </a:ext>
            </a:extLst>
          </p:cNvPr>
          <p:cNvCxnSpPr>
            <a:cxnSpLocks/>
          </p:cNvCxnSpPr>
          <p:nvPr/>
        </p:nvCxnSpPr>
        <p:spPr>
          <a:xfrm>
            <a:off x="344488" y="1890627"/>
            <a:ext cx="3174623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8BADCAB-BD29-CE87-014F-98C4A6F30BF3}"/>
              </a:ext>
            </a:extLst>
          </p:cNvPr>
          <p:cNvCxnSpPr>
            <a:cxnSpLocks/>
          </p:cNvCxnSpPr>
          <p:nvPr/>
        </p:nvCxnSpPr>
        <p:spPr>
          <a:xfrm flipV="1">
            <a:off x="3595000" y="1887880"/>
            <a:ext cx="5989834" cy="8542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1">
            <a:extLst>
              <a:ext uri="{FF2B5EF4-FFF2-40B4-BE49-F238E27FC236}">
                <a16:creationId xmlns:a16="http://schemas.microsoft.com/office/drawing/2014/main" id="{7E3CE5B2-9EAA-A0B4-48A5-4F362C942025}"/>
              </a:ext>
            </a:extLst>
          </p:cNvPr>
          <p:cNvSpPr txBox="1">
            <a:spLocks/>
          </p:cNvSpPr>
          <p:nvPr/>
        </p:nvSpPr>
        <p:spPr>
          <a:xfrm>
            <a:off x="344487" y="1544556"/>
            <a:ext cx="3141279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일반현황</a:t>
            </a:r>
          </a:p>
        </p:txBody>
      </p:sp>
      <p:sp>
        <p:nvSpPr>
          <p:cNvPr id="30" name="텍스트 개체 틀 1">
            <a:extLst>
              <a:ext uri="{FF2B5EF4-FFF2-40B4-BE49-F238E27FC236}">
                <a16:creationId xmlns:a16="http://schemas.microsoft.com/office/drawing/2014/main" id="{3FDA7C6E-71E7-BF80-EC3E-F627C084726A}"/>
              </a:ext>
            </a:extLst>
          </p:cNvPr>
          <p:cNvSpPr txBox="1">
            <a:spLocks/>
          </p:cNvSpPr>
          <p:nvPr/>
        </p:nvSpPr>
        <p:spPr>
          <a:xfrm>
            <a:off x="3571679" y="1532089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주요 연혁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060DA27-D002-32AF-01E5-EF9B4F0136F6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제안사 일반현황 및 주요 연혁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D6275BB-D17A-9563-A85F-0D945758918B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D7A9A3D0-A1DA-933D-62D0-96440EFFAE2D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buNone/>
                <a:defRPr/>
              </a:pPr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5DDFD61-15E7-AC6F-E826-64A29FC2C603}"/>
                </a:ext>
              </a:extLst>
            </p:cNvPr>
            <p:cNvSpPr txBox="1"/>
            <p:nvPr/>
          </p:nvSpPr>
          <p:spPr>
            <a:xfrm>
              <a:off x="433221" y="322993"/>
              <a:ext cx="882000" cy="307777"/>
            </a:xfrm>
            <a:prstGeom prst="rect">
              <a:avLst/>
            </a:prstGeom>
            <a:grpFill/>
          </p:spPr>
          <p:txBody>
            <a:bodyPr wrap="square" lIns="0" rIns="0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일반 현황</a:t>
              </a:r>
            </a:p>
          </p:txBody>
        </p:sp>
      </p:grpSp>
      <p:pic>
        <p:nvPicPr>
          <p:cNvPr id="9" name="Picture 4" descr="https://2.bp.blogspot.com/-s9eodOE_4Ks/VgzKsDNeDyI/AAAAAAAAD4Y/T8UrABDnUQ0/s1600/%25E1%2584%2589%25E1%2585%25B3%25E1%2584%258F%25E1%2585%25B3%25E1%2584%2585%25E1%2585%25B5%25E1%2586%25AB%25E1%2584%2589%25E1%2585%25A3%25E1%2586%25BA%2B2015-10-01%2B%25E1%2584%258B%25E1%2585%25A9%25E1%2584%2592%25E1%2585%25AE%2B2.50.33.png">
            <a:extLst>
              <a:ext uri="{FF2B5EF4-FFF2-40B4-BE49-F238E27FC236}">
                <a16:creationId xmlns:a16="http://schemas.microsoft.com/office/drawing/2014/main" id="{35A7BFB1-BAC1-D641-1A34-D847BE393F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0" b="35547"/>
          <a:stretch/>
        </p:blipFill>
        <p:spPr bwMode="auto">
          <a:xfrm>
            <a:off x="372531" y="4799608"/>
            <a:ext cx="3131640" cy="16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E116AF-B595-9C10-730D-3348D4B32900}"/>
              </a:ext>
            </a:extLst>
          </p:cNvPr>
          <p:cNvSpPr/>
          <p:nvPr/>
        </p:nvSpPr>
        <p:spPr>
          <a:xfrm>
            <a:off x="368915" y="4798020"/>
            <a:ext cx="3113236" cy="162500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페이퍼로지 1 Thin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8231887-83B0-CD68-D599-F489AF1A5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72233"/>
              </p:ext>
            </p:extLst>
          </p:nvPr>
        </p:nvGraphicFramePr>
        <p:xfrm>
          <a:off x="353072" y="2078476"/>
          <a:ext cx="3166040" cy="2309557"/>
        </p:xfrm>
        <a:graphic>
          <a:graphicData uri="http://schemas.openxmlformats.org/drawingml/2006/table">
            <a:tbl>
              <a:tblPr firstRow="1" bandRow="1"/>
              <a:tblGrid>
                <a:gridCol w="771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4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50" b="1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 사 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시앤피컨설팅㈜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사업분야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 및 기술서비스업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endParaRPr lang="ko-KR" altLang="en-US" sz="1050" b="0" kern="12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0" kern="1200" spc="-1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 컨설팅업</a:t>
                      </a:r>
                      <a:endParaRPr lang="en-US" altLang="ko-KR" sz="1050" b="0" kern="1200" spc="-10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402820"/>
                  </a:ext>
                </a:extLst>
              </a:tr>
              <a:tr h="3638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       소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서울특별시 금천구 가산디지털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로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131, </a:t>
                      </a:r>
                      <a:b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</a:b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B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동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층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(BYC</a:t>
                      </a:r>
                      <a:r>
                        <a:rPr lang="ko-KR" altLang="en-US" sz="1050" b="0" kern="120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하이시티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설립연도</a:t>
                      </a:r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해당부문 </a:t>
                      </a:r>
                      <a:endParaRPr lang="en-US" altLang="ko-KR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algn="ctr" defTabSz="909375" rtl="0" eaLnBrk="1" latinLnBrk="1" hangingPunct="1"/>
                      <a:r>
                        <a:rPr lang="ko-KR" altLang="en-US" sz="1050" b="1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3F56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종사기간</a:t>
                      </a:r>
                      <a:endParaRPr lang="ko-KR" altLang="en-US" sz="105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3F56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고딕14"/>
                        </a:defRPr>
                      </a:lvl9pPr>
                    </a:lstStyle>
                    <a:p>
                      <a:pPr marL="0" algn="ctr" defTabSz="909375" rtl="0" eaLnBrk="1" latinLnBrk="1" hangingPunct="1"/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2012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</a:t>
                      </a:r>
                      <a:r>
                        <a:rPr lang="ko-KR" altLang="en-US" sz="1050" b="0" kern="120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5E610E-2B05-1704-E20C-AB2596F64CCD}"/>
              </a:ext>
            </a:extLst>
          </p:cNvPr>
          <p:cNvGrpSpPr/>
          <p:nvPr/>
        </p:nvGrpSpPr>
        <p:grpSpPr>
          <a:xfrm>
            <a:off x="3519110" y="1943891"/>
            <a:ext cx="2956220" cy="591444"/>
            <a:chOff x="3521268" y="1943891"/>
            <a:chExt cx="2956220" cy="59144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A4E9FF9-D276-F74B-429B-23262489A44A}"/>
                </a:ext>
              </a:extLst>
            </p:cNvPr>
            <p:cNvSpPr/>
            <p:nvPr/>
          </p:nvSpPr>
          <p:spPr>
            <a:xfrm>
              <a:off x="4322814" y="1943891"/>
              <a:ext cx="2154674" cy="59144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본사 설립</a:t>
              </a: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국가직무능력 표준 연구 평가사업 수행기관 지정</a:t>
              </a: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한국기술교육대학교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CC0E97A-1B54-9619-92DA-3A6B1C9FC160}"/>
                </a:ext>
              </a:extLst>
            </p:cNvPr>
            <p:cNvSpPr/>
            <p:nvPr/>
          </p:nvSpPr>
          <p:spPr>
            <a:xfrm>
              <a:off x="3994290" y="1943891"/>
              <a:ext cx="307400" cy="587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09375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06 </a:t>
              </a:r>
            </a:p>
            <a:p>
              <a:pPr algn="ctr" defTabSz="909375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11</a:t>
              </a:r>
            </a:p>
            <a:p>
              <a:pPr algn="ctr" defTabSz="909375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8B0B38-E491-8BCD-3747-5FE32CF5057E}"/>
                </a:ext>
              </a:extLst>
            </p:cNvPr>
            <p:cNvSpPr txBox="1"/>
            <p:nvPr/>
          </p:nvSpPr>
          <p:spPr>
            <a:xfrm>
              <a:off x="3521268" y="1971804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2012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E3278A4-559F-6C52-9977-7F618FC47EFA}"/>
              </a:ext>
            </a:extLst>
          </p:cNvPr>
          <p:cNvGrpSpPr/>
          <p:nvPr/>
        </p:nvGrpSpPr>
        <p:grpSpPr>
          <a:xfrm>
            <a:off x="3519110" y="2543960"/>
            <a:ext cx="3101514" cy="319768"/>
            <a:chOff x="3521268" y="2524948"/>
            <a:chExt cx="3101514" cy="31976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05D692-7B28-E15F-8A68-31569C169220}"/>
                </a:ext>
              </a:extLst>
            </p:cNvPr>
            <p:cNvSpPr txBox="1"/>
            <p:nvPr/>
          </p:nvSpPr>
          <p:spPr>
            <a:xfrm>
              <a:off x="3521268" y="2572847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2013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3DDCA0D-F08F-7F41-D12D-CA3F7B1D212E}"/>
                </a:ext>
              </a:extLst>
            </p:cNvPr>
            <p:cNvSpPr/>
            <p:nvPr/>
          </p:nvSpPr>
          <p:spPr>
            <a:xfrm>
              <a:off x="4322814" y="2524948"/>
              <a:ext cx="2299968" cy="22865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내일 희망 일터혁신 컨설팅기관 지정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노사발전재단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2ECA42-C4A6-72EC-3898-F7EDBBCC76A6}"/>
                </a:ext>
              </a:extLst>
            </p:cNvPr>
            <p:cNvSpPr/>
            <p:nvPr/>
          </p:nvSpPr>
          <p:spPr>
            <a:xfrm>
              <a:off x="3994290" y="2532399"/>
              <a:ext cx="307400" cy="22865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02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42DC33-71A5-2A71-C040-24732C9F4ACD}"/>
              </a:ext>
            </a:extLst>
          </p:cNvPr>
          <p:cNvGrpSpPr/>
          <p:nvPr/>
        </p:nvGrpSpPr>
        <p:grpSpPr>
          <a:xfrm>
            <a:off x="3519110" y="2872353"/>
            <a:ext cx="3131395" cy="382541"/>
            <a:chOff x="3521268" y="3104874"/>
            <a:chExt cx="3131395" cy="38254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4321B61-3235-049F-20CE-98DEAA4FE185}"/>
                </a:ext>
              </a:extLst>
            </p:cNvPr>
            <p:cNvSpPr txBox="1"/>
            <p:nvPr/>
          </p:nvSpPr>
          <p:spPr>
            <a:xfrm>
              <a:off x="3521268" y="3150056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2014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4D8E4D7F-A5DD-0634-8DEE-FE5AD5ADBCD1}"/>
                </a:ext>
              </a:extLst>
            </p:cNvPr>
            <p:cNvSpPr/>
            <p:nvPr/>
          </p:nvSpPr>
          <p:spPr>
            <a:xfrm>
              <a:off x="4322814" y="3104874"/>
              <a:ext cx="2329849" cy="382541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’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국가인적자원개발 컨소시엄 사업관계자 역량강화 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한국기술교육대학교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 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9E88E6B-50B1-C800-8258-DBF01882F1A2}"/>
                </a:ext>
              </a:extLst>
            </p:cNvPr>
            <p:cNvSpPr/>
            <p:nvPr/>
          </p:nvSpPr>
          <p:spPr>
            <a:xfrm>
              <a:off x="3994290" y="3104874"/>
              <a:ext cx="307400" cy="228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09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348C3C4-FE1B-F042-2FDD-0A5B712A1346}"/>
              </a:ext>
            </a:extLst>
          </p:cNvPr>
          <p:cNvGrpSpPr/>
          <p:nvPr/>
        </p:nvGrpSpPr>
        <p:grpSpPr>
          <a:xfrm>
            <a:off x="3519110" y="3263519"/>
            <a:ext cx="2956221" cy="411908"/>
            <a:chOff x="3521268" y="3655988"/>
            <a:chExt cx="2956221" cy="41190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7E146F-928F-0743-6F20-15BAF5D703B6}"/>
                </a:ext>
              </a:extLst>
            </p:cNvPr>
            <p:cNvSpPr txBox="1"/>
            <p:nvPr/>
          </p:nvSpPr>
          <p:spPr>
            <a:xfrm>
              <a:off x="3521268" y="3699965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2015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5E4D341-C7F3-6C9C-314D-DB120EE61CDE}"/>
                </a:ext>
              </a:extLst>
            </p:cNvPr>
            <p:cNvSpPr/>
            <p:nvPr/>
          </p:nvSpPr>
          <p:spPr>
            <a:xfrm>
              <a:off x="4322814" y="3655988"/>
              <a:ext cx="2154675" cy="41190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고용노동부 직업능력개발훈련 훈련기관 인증 획득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 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기업활용 컨설팅 운영기관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642EACD-525F-DBD1-8C4D-0491EA4DB4E4}"/>
                </a:ext>
              </a:extLst>
            </p:cNvPr>
            <p:cNvSpPr/>
            <p:nvPr/>
          </p:nvSpPr>
          <p:spPr>
            <a:xfrm>
              <a:off x="3994290" y="3655988"/>
              <a:ext cx="307400" cy="411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06 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AE69D6C-B82A-9CC3-B18A-48BE0F7BA45E}"/>
              </a:ext>
            </a:extLst>
          </p:cNvPr>
          <p:cNvGrpSpPr/>
          <p:nvPr/>
        </p:nvGrpSpPr>
        <p:grpSpPr>
          <a:xfrm>
            <a:off x="3519110" y="3684052"/>
            <a:ext cx="3131396" cy="591444"/>
            <a:chOff x="3521268" y="4154088"/>
            <a:chExt cx="3131396" cy="591444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3C56B31-E8E0-8561-57A0-D78F6CD9677E}"/>
                </a:ext>
              </a:extLst>
            </p:cNvPr>
            <p:cNvSpPr txBox="1"/>
            <p:nvPr/>
          </p:nvSpPr>
          <p:spPr>
            <a:xfrm>
              <a:off x="3521268" y="4196938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2016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2FD73D3-1DC9-E460-6658-03360E9142C2}"/>
                </a:ext>
              </a:extLst>
            </p:cNvPr>
            <p:cNvSpPr/>
            <p:nvPr/>
          </p:nvSpPr>
          <p:spPr>
            <a:xfrm>
              <a:off x="4322814" y="4154088"/>
              <a:ext cx="2329850" cy="565796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 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개발 참여전문가 역량향상과정 수행기관 지정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일터혁신 컨설팅 지원사업 수행기관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고용노동부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DD803A0E-E03D-0781-0EF8-86587444DD4D}"/>
                </a:ext>
              </a:extLst>
            </p:cNvPr>
            <p:cNvSpPr/>
            <p:nvPr/>
          </p:nvSpPr>
          <p:spPr>
            <a:xfrm>
              <a:off x="3994290" y="4154088"/>
              <a:ext cx="307400" cy="591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06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6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00ED363-7641-1744-6D46-E83DD32F8237}"/>
              </a:ext>
            </a:extLst>
          </p:cNvPr>
          <p:cNvGrpSpPr/>
          <p:nvPr/>
        </p:nvGrpSpPr>
        <p:grpSpPr>
          <a:xfrm>
            <a:off x="3519110" y="4284121"/>
            <a:ext cx="3092029" cy="565796"/>
            <a:chOff x="3521268" y="4758260"/>
            <a:chExt cx="3092029" cy="565796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0D6E401-7D04-2CCA-C75D-8168354E0260}"/>
                </a:ext>
              </a:extLst>
            </p:cNvPr>
            <p:cNvSpPr txBox="1"/>
            <p:nvPr/>
          </p:nvSpPr>
          <p:spPr>
            <a:xfrm>
              <a:off x="3521268" y="4768261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2017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0DC20D82-4D5B-CC91-4D53-A267F061A295}"/>
                </a:ext>
              </a:extLst>
            </p:cNvPr>
            <p:cNvSpPr/>
            <p:nvPr/>
          </p:nvSpPr>
          <p:spPr>
            <a:xfrm>
              <a:off x="4322814" y="4758260"/>
              <a:ext cx="2290483" cy="565796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일터혁신 컨설팅 지원사업 수행기관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고용노동부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개발 개선의견 전문가 검토 지원사업 수행기관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D00504C9-7838-9B78-E439-EE299615220D}"/>
                </a:ext>
              </a:extLst>
            </p:cNvPr>
            <p:cNvSpPr/>
            <p:nvPr/>
          </p:nvSpPr>
          <p:spPr>
            <a:xfrm>
              <a:off x="3994290" y="4758260"/>
              <a:ext cx="307400" cy="411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03</a:t>
              </a:r>
              <a:endParaRPr lang="en-US" altLang="ko-KR" sz="6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12</a:t>
              </a: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F5E7084D-B39F-5B72-1031-0D93BB002AF5}"/>
              </a:ext>
            </a:extLst>
          </p:cNvPr>
          <p:cNvGrpSpPr/>
          <p:nvPr/>
        </p:nvGrpSpPr>
        <p:grpSpPr>
          <a:xfrm>
            <a:off x="3519110" y="4858542"/>
            <a:ext cx="3092029" cy="565796"/>
            <a:chOff x="3521268" y="5261600"/>
            <a:chExt cx="3092029" cy="56579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C36BBF-9C20-8898-D934-FB53868A7708}"/>
                </a:ext>
              </a:extLst>
            </p:cNvPr>
            <p:cNvSpPr txBox="1"/>
            <p:nvPr/>
          </p:nvSpPr>
          <p:spPr>
            <a:xfrm>
              <a:off x="3521268" y="5274989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2018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B58C4A7-02C0-4F94-74AB-C35A66847425}"/>
                </a:ext>
              </a:extLst>
            </p:cNvPr>
            <p:cNvSpPr/>
            <p:nvPr/>
          </p:nvSpPr>
          <p:spPr>
            <a:xfrm>
              <a:off x="4322814" y="5261600"/>
              <a:ext cx="2290483" cy="565796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일터혁신 컨설팅 지원사업 수행기관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고용노동부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개발∙개선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 참여인력 역량향상과정 수행기관 지정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D8F70E16-C4A8-5C37-EC0E-FB58785D8BE8}"/>
                </a:ext>
              </a:extLst>
            </p:cNvPr>
            <p:cNvSpPr/>
            <p:nvPr/>
          </p:nvSpPr>
          <p:spPr>
            <a:xfrm>
              <a:off x="3994290" y="5278259"/>
              <a:ext cx="307400" cy="2227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1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EBE13DD-C8B8-9674-E5B2-EB04677F5504}"/>
              </a:ext>
            </a:extLst>
          </p:cNvPr>
          <p:cNvGrpSpPr/>
          <p:nvPr/>
        </p:nvGrpSpPr>
        <p:grpSpPr>
          <a:xfrm>
            <a:off x="3519110" y="5432963"/>
            <a:ext cx="3130397" cy="436760"/>
            <a:chOff x="3521268" y="5758081"/>
            <a:chExt cx="3130397" cy="436760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605DCFC-EA71-955B-A1C7-007CF413CE27}"/>
                </a:ext>
              </a:extLst>
            </p:cNvPr>
            <p:cNvSpPr txBox="1"/>
            <p:nvPr/>
          </p:nvSpPr>
          <p:spPr>
            <a:xfrm>
              <a:off x="3521268" y="5793153"/>
              <a:ext cx="634789" cy="271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2019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90A8DB59-8425-598D-9334-D60D9ED0325F}"/>
                </a:ext>
              </a:extLst>
            </p:cNvPr>
            <p:cNvSpPr/>
            <p:nvPr/>
          </p:nvSpPr>
          <p:spPr>
            <a:xfrm>
              <a:off x="3994290" y="5758081"/>
              <a:ext cx="307400" cy="4306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3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03</a:t>
              </a:r>
            </a:p>
            <a:p>
              <a:pPr algn="ctr" latinLnBrk="0">
                <a:lnSpc>
                  <a:spcPts val="13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45335F3A-3596-68CB-B118-5326D216C571}"/>
                </a:ext>
              </a:extLst>
            </p:cNvPr>
            <p:cNvSpPr/>
            <p:nvPr/>
          </p:nvSpPr>
          <p:spPr>
            <a:xfrm>
              <a:off x="4322814" y="5786652"/>
              <a:ext cx="2328851" cy="408189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일터혁신 컨설팅 지원사업 수행기관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고용노동부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‘19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기업활용컨설팅 운영기관 지정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502C0D33-14DB-8318-5B63-5C9102752D2E}"/>
              </a:ext>
            </a:extLst>
          </p:cNvPr>
          <p:cNvGrpSpPr/>
          <p:nvPr/>
        </p:nvGrpSpPr>
        <p:grpSpPr>
          <a:xfrm>
            <a:off x="6477488" y="1924307"/>
            <a:ext cx="3129547" cy="905712"/>
            <a:chOff x="6437327" y="2360501"/>
            <a:chExt cx="3129547" cy="905712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11990E3-32CC-1914-9641-7DFC99894CD4}"/>
                </a:ext>
              </a:extLst>
            </p:cNvPr>
            <p:cNvSpPr txBox="1"/>
            <p:nvPr/>
          </p:nvSpPr>
          <p:spPr>
            <a:xfrm>
              <a:off x="6437327" y="2398196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2021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5BC5B9E4-31E1-FF73-DF63-3D78EB7CFD71}"/>
                </a:ext>
              </a:extLst>
            </p:cNvPr>
            <p:cNvSpPr/>
            <p:nvPr/>
          </p:nvSpPr>
          <p:spPr>
            <a:xfrm>
              <a:off x="6930623" y="2360501"/>
              <a:ext cx="307400" cy="8955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03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03</a:t>
              </a:r>
            </a:p>
            <a:p>
              <a:pPr algn="ctr" latinLnBrk="0">
                <a:lnSpc>
                  <a:spcPts val="1000"/>
                </a:lnSpc>
                <a:buFont typeface="Wingdings" pitchFamily="2" charset="2"/>
                <a:buNone/>
                <a:defRPr/>
              </a:pPr>
              <a:endParaRPr lang="en-US" altLang="ko-KR" sz="5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12</a:t>
              </a: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2EF364B5-5C5F-6AC0-93E4-5088537F6F5A}"/>
                </a:ext>
              </a:extLst>
            </p:cNvPr>
            <p:cNvSpPr/>
            <p:nvPr/>
          </p:nvSpPr>
          <p:spPr>
            <a:xfrm>
              <a:off x="7238023" y="2370711"/>
              <a:ext cx="2328851" cy="89550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기업수요맞춤형 훈련사업 직무분석 및 훈련과정 개발 컨설팅사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한국전자기술연구원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기업수요맞춤형 훈련사업 직무분석 및 훈련과정 개발 컨설팅사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국가임상시험지원재단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 맞춤형 직무분석 및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8FA0AF5-E174-2CF6-A1B9-C70E881F498C}"/>
              </a:ext>
            </a:extLst>
          </p:cNvPr>
          <p:cNvGrpSpPr/>
          <p:nvPr/>
        </p:nvGrpSpPr>
        <p:grpSpPr>
          <a:xfrm>
            <a:off x="6477489" y="3429694"/>
            <a:ext cx="3129546" cy="1100686"/>
            <a:chOff x="6437328" y="3871846"/>
            <a:chExt cx="3129546" cy="1100686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602A5E0-FC29-E7D2-40BE-2A0E7FDC915B}"/>
                </a:ext>
              </a:extLst>
            </p:cNvPr>
            <p:cNvSpPr txBox="1"/>
            <p:nvPr/>
          </p:nvSpPr>
          <p:spPr>
            <a:xfrm>
              <a:off x="6437328" y="3924182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2023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071CDA0-7C3E-4204-1C28-98C19BB4C535}"/>
                </a:ext>
              </a:extLst>
            </p:cNvPr>
            <p:cNvSpPr/>
            <p:nvPr/>
          </p:nvSpPr>
          <p:spPr>
            <a:xfrm>
              <a:off x="6930623" y="3871846"/>
              <a:ext cx="307400" cy="10750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07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000"/>
                </a:lnSpc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11</a:t>
              </a: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7F80E2DD-1C38-C75D-E3FE-F3B44A77B898}"/>
                </a:ext>
              </a:extLst>
            </p:cNvPr>
            <p:cNvSpPr/>
            <p:nvPr/>
          </p:nvSpPr>
          <p:spPr>
            <a:xfrm>
              <a:off x="7238023" y="3871846"/>
              <a:ext cx="2328851" cy="1100686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 맞춤형 직무분석 및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산업전환 대비 기업맞춤형 진단 및 전략적 직무분석을 통한 훈련과정 및 로드맵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산업전환 공동훈련센터 협약기업 직무전환 컨설팅사 지정</a:t>
              </a: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highlight>
                  <a:srgbClr val="E2F0D9"/>
                </a:highlight>
                <a:latin typeface="페이퍼로지 4 Regular" pitchFamily="2" charset="-127"/>
                <a:ea typeface="페이퍼로지 4 Regular" pitchFamily="2" charset="-127"/>
              </a:endParaRP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(SK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이노베이션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협약기업 직무분석을 통한 훈련과정 개발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한국전자기술연구원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2B28954A-0369-D044-C84C-E69CBEA146CA}"/>
              </a:ext>
            </a:extLst>
          </p:cNvPr>
          <p:cNvGrpSpPr/>
          <p:nvPr/>
        </p:nvGrpSpPr>
        <p:grpSpPr>
          <a:xfrm>
            <a:off x="6477489" y="2832962"/>
            <a:ext cx="3129546" cy="593789"/>
            <a:chOff x="6437328" y="3088993"/>
            <a:chExt cx="3129546" cy="593789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D76E878-CF5B-85F9-250A-8DEC50AE984C}"/>
                </a:ext>
              </a:extLst>
            </p:cNvPr>
            <p:cNvSpPr txBox="1"/>
            <p:nvPr/>
          </p:nvSpPr>
          <p:spPr>
            <a:xfrm>
              <a:off x="6437328" y="3126807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2022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63747BB1-4504-A52F-EDA3-89EEE853BB8F}"/>
                </a:ext>
              </a:extLst>
            </p:cNvPr>
            <p:cNvSpPr/>
            <p:nvPr/>
          </p:nvSpPr>
          <p:spPr>
            <a:xfrm>
              <a:off x="6930623" y="3088993"/>
              <a:ext cx="307400" cy="584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05</a:t>
              </a:r>
            </a:p>
            <a:p>
              <a:pPr algn="ctr" latinLnBrk="0">
                <a:lnSpc>
                  <a:spcPts val="13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07</a:t>
              </a:r>
              <a:b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</a:b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08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A280B8F2-B53F-1306-8517-D4689F95430D}"/>
                </a:ext>
              </a:extLst>
            </p:cNvPr>
            <p:cNvSpPr/>
            <p:nvPr/>
          </p:nvSpPr>
          <p:spPr>
            <a:xfrm>
              <a:off x="7238023" y="3095057"/>
              <a:ext cx="2328851" cy="587725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산업전환 기업맞춤형 진단 및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협약기업 직무분석을 통한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국가임상시험지원재단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 맞춤형 직무분석 및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0192EDD-BE1B-0687-6572-EDBAA1BD541C}"/>
              </a:ext>
            </a:extLst>
          </p:cNvPr>
          <p:cNvGrpSpPr/>
          <p:nvPr/>
        </p:nvGrpSpPr>
        <p:grpSpPr>
          <a:xfrm>
            <a:off x="6477489" y="4533323"/>
            <a:ext cx="3129546" cy="1087862"/>
            <a:chOff x="6437328" y="4969575"/>
            <a:chExt cx="3129546" cy="108786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78D7B98-A569-68E9-0BEE-25E6181CFC91}"/>
                </a:ext>
              </a:extLst>
            </p:cNvPr>
            <p:cNvSpPr txBox="1"/>
            <p:nvPr/>
          </p:nvSpPr>
          <p:spPr>
            <a:xfrm>
              <a:off x="6437328" y="5021911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2024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F2B588B9-3F7A-FEA8-891D-E08E6CEC0F11}"/>
                </a:ext>
              </a:extLst>
            </p:cNvPr>
            <p:cNvSpPr/>
            <p:nvPr/>
          </p:nvSpPr>
          <p:spPr>
            <a:xfrm>
              <a:off x="6930623" y="4969575"/>
              <a:ext cx="307400" cy="10878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01</a:t>
              </a:r>
            </a:p>
            <a:p>
              <a:pPr algn="ctr" latinLnBrk="0">
                <a:lnSpc>
                  <a:spcPts val="1100"/>
                </a:lnSpc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02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05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E79C4D91-0B56-8585-6DAF-278D6473DD5E}"/>
                </a:ext>
              </a:extLst>
            </p:cNvPr>
            <p:cNvSpPr/>
            <p:nvPr/>
          </p:nvSpPr>
          <p:spPr>
            <a:xfrm>
              <a:off x="7238023" y="4969575"/>
              <a:ext cx="2328851" cy="1075038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산업체 맞춤형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DX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작업전환 요구분석 과정개발 컨설팅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부산과학기술대학교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 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기업활용 컨설팅 운영기관 지정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2024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년 산업전환 협약기업 진단 및 기업 맞춤형 훈련과정 개발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한국화학융합시험연구원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협약기업 직무분석을 통한 훈련과정 개발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한국전자기술연구원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CE78135-A147-1E45-0771-030AE8D3182A}"/>
              </a:ext>
            </a:extLst>
          </p:cNvPr>
          <p:cNvGrpSpPr/>
          <p:nvPr/>
        </p:nvGrpSpPr>
        <p:grpSpPr>
          <a:xfrm>
            <a:off x="3519111" y="5878348"/>
            <a:ext cx="3129546" cy="587725"/>
            <a:chOff x="9906000" y="-27424"/>
            <a:chExt cx="3129546" cy="58772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D6BD355-B611-04ED-6045-B7AB9CB8DF46}"/>
                </a:ext>
              </a:extLst>
            </p:cNvPr>
            <p:cNvSpPr txBox="1"/>
            <p:nvPr/>
          </p:nvSpPr>
          <p:spPr>
            <a:xfrm>
              <a:off x="9906000" y="10271"/>
              <a:ext cx="634789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2020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D1BF7786-A346-1C88-73A3-592A600FD6ED}"/>
                </a:ext>
              </a:extLst>
            </p:cNvPr>
            <p:cNvSpPr/>
            <p:nvPr/>
          </p:nvSpPr>
          <p:spPr>
            <a:xfrm>
              <a:off x="10399295" y="-27424"/>
              <a:ext cx="307400" cy="587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03</a:t>
              </a: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ACE3705-FEB2-88EA-6102-9B0BD1E2D1F8}"/>
                </a:ext>
              </a:extLst>
            </p:cNvPr>
            <p:cNvSpPr/>
            <p:nvPr/>
          </p:nvSpPr>
          <p:spPr>
            <a:xfrm>
              <a:off x="10706695" y="-17214"/>
              <a:ext cx="2328851" cy="562077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기업수요 맞춤형 훈련사업 직무분석 및 훈련과정 개발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2020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년도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NCS 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기업활용컨설팅 운영기관 선정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산업인력공단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03F045A-A0BE-EB62-64C0-40336EC62EDD}"/>
              </a:ext>
            </a:extLst>
          </p:cNvPr>
          <p:cNvGrpSpPr/>
          <p:nvPr/>
        </p:nvGrpSpPr>
        <p:grpSpPr>
          <a:xfrm>
            <a:off x="6477488" y="5544785"/>
            <a:ext cx="3129547" cy="1049390"/>
            <a:chOff x="6437327" y="4969575"/>
            <a:chExt cx="3129547" cy="104939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61995AD-CF49-D37B-207E-5963062057BE}"/>
                </a:ext>
              </a:extLst>
            </p:cNvPr>
            <p:cNvSpPr txBox="1"/>
            <p:nvPr/>
          </p:nvSpPr>
          <p:spPr>
            <a:xfrm>
              <a:off x="6437327" y="5021911"/>
              <a:ext cx="634790" cy="271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00"/>
                </a:lnSpc>
                <a:buFont typeface="Wingdings" pitchFamily="2" charset="2"/>
                <a:buNone/>
                <a:defRPr/>
              </a:pPr>
              <a:r>
                <a:rPr lang="en-US" altLang="ko-KR" sz="14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endParaRPr lang="ko-KR" altLang="en-US" sz="14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616ACA31-D166-9192-FB96-34FF93E7C480}"/>
                </a:ext>
              </a:extLst>
            </p:cNvPr>
            <p:cNvSpPr/>
            <p:nvPr/>
          </p:nvSpPr>
          <p:spPr>
            <a:xfrm>
              <a:off x="6930623" y="4969575"/>
              <a:ext cx="307400" cy="908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04</a:t>
              </a:r>
            </a:p>
            <a:p>
              <a:pPr algn="ctr" latinLnBrk="0">
                <a:lnSpc>
                  <a:spcPts val="1100"/>
                </a:lnSpc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KoPubWorld바탕체 Bold" panose="00000800000000000000" pitchFamily="2" charset="-127"/>
              </a:endParaRPr>
            </a:p>
            <a:p>
              <a:pPr algn="ctr" latinLnBrk="0">
                <a:lnSpc>
                  <a:spcPts val="1200"/>
                </a:lnSpc>
                <a:spcBef>
                  <a:spcPts val="200"/>
                </a:spcBef>
                <a:buFont typeface="Wingdings" pitchFamily="2" charset="2"/>
                <a:buNone/>
                <a:defRPr/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  <a:cs typeface="KoPubWorld바탕체 Bold" panose="00000800000000000000" pitchFamily="2" charset="-127"/>
                </a:rPr>
                <a:t>06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D7AE0571-651F-1F40-C8FD-08CAEB624D6B}"/>
                </a:ext>
              </a:extLst>
            </p:cNvPr>
            <p:cNvSpPr/>
            <p:nvPr/>
          </p:nvSpPr>
          <p:spPr>
            <a:xfrm>
              <a:off x="7238023" y="4969575"/>
              <a:ext cx="2328851" cy="1049390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2025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년 산업전환 협약기업 진단 및 기업 맞춤형 훈련과정 개발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한국화학융합시험연구원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)</a:t>
              </a: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 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2025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년 산업전환 공동훈련센터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(KTR) 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협약기업 분석을 통한 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교육로드맵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 체계 구축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 (</a:t>
              </a:r>
              <a:r>
                <a:rPr lang="ko-KR" altLang="en-US" sz="800" spc="-6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한국화학융합시험연구원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)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highlight>
                    <a:srgbClr val="395D20"/>
                  </a:highlight>
                  <a:latin typeface="페이퍼로지 7 Bold" pitchFamily="2" charset="-127"/>
                  <a:ea typeface="페이퍼로지 7 Bold" pitchFamily="2" charset="-127"/>
                </a:rPr>
                <a:t> </a:t>
              </a:r>
              <a:endParaRPr lang="en-US" altLang="ko-KR" sz="800" spc="-6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highlight>
                  <a:srgbClr val="395D20"/>
                </a:highlight>
                <a:latin typeface="페이퍼로지 7 Bold" pitchFamily="2" charset="-127"/>
                <a:ea typeface="페이퍼로지 7 Bold" pitchFamily="2" charset="-127"/>
              </a:endParaRPr>
            </a:p>
            <a:p>
              <a:pPr>
                <a:lnSpc>
                  <a:spcPts val="1200"/>
                </a:lnSpc>
                <a:spcBef>
                  <a:spcPts val="200"/>
                </a:spcBef>
              </a:pP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highlight>
                    <a:srgbClr val="E2F0D9"/>
                  </a:highlight>
                  <a:latin typeface="페이퍼로지 4 Regular" pitchFamily="2" charset="-127"/>
                  <a:ea typeface="페이퍼로지 4 Regular" pitchFamily="2" charset="-127"/>
                </a:rPr>
                <a:t>년도 기업수요 맞춤형 직무분석 및 훈련과정 개발 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대한상공회의소</a:t>
              </a:r>
              <a:r>
                <a:rPr lang="en-US" altLang="ko-KR" sz="800" spc="-6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90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C447C-D4DF-A36B-A450-AC87E167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6" y="6492875"/>
            <a:ext cx="440967" cy="365125"/>
          </a:xfrm>
        </p:spPr>
        <p:txBody>
          <a:bodyPr/>
          <a:lstStyle/>
          <a:p>
            <a:r>
              <a:rPr lang="en-US" altLang="ko-KR" spc="-50" dirty="0">
                <a:latin typeface="페이퍼로지 5 Medium" pitchFamily="2" charset="-127"/>
                <a:ea typeface="페이퍼로지 5 Medium" pitchFamily="2" charset="-127"/>
              </a:rPr>
              <a:t>- </a:t>
            </a:r>
            <a:fld id="{F0AEE96D-C800-4200-B178-74DC3655196B}" type="slidenum">
              <a:rPr lang="ko-KR" altLang="en-US" spc="-50" smtClean="0">
                <a:latin typeface="페이퍼로지 5 Medium" pitchFamily="2" charset="-127"/>
                <a:ea typeface="페이퍼로지 5 Medium" pitchFamily="2" charset="-127"/>
              </a:rPr>
              <a:pPr/>
              <a:t>5</a:t>
            </a:fld>
            <a:r>
              <a:rPr lang="ko-KR" altLang="en-US" spc="-5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spc="-50" dirty="0">
                <a:latin typeface="페이퍼로지 5 Medium" pitchFamily="2" charset="-127"/>
                <a:ea typeface="페이퍼로지 5 Medium" pitchFamily="2" charset="-127"/>
              </a:rPr>
              <a:t>-</a:t>
            </a:r>
            <a:endParaRPr lang="ko-KR" altLang="en-US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BA58A4-AB60-FF2D-BE68-890ECE4677DD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조직 전문성 및 주요 사업 실적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2" name="텍스트 개체 틀 1">
            <a:extLst>
              <a:ext uri="{FF2B5EF4-FFF2-40B4-BE49-F238E27FC236}">
                <a16:creationId xmlns:a16="http://schemas.microsoft.com/office/drawing/2014/main" id="{0765FFED-0B73-FC6F-FA13-475B617F5ED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제안기관은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HR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종합 컨설팅을 위한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HR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분야의 전문화된 조직으로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구성되어 있으며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최근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년간 귀 기관 사업 수행 경험과 유사 실적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을 통해 본 사업 수행 역량을 갖추고 있음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텍스트 개체 틀 1">
            <a:extLst>
              <a:ext uri="{FF2B5EF4-FFF2-40B4-BE49-F238E27FC236}">
                <a16:creationId xmlns:a16="http://schemas.microsoft.com/office/drawing/2014/main" id="{7E3CE5B2-9EAA-A0B4-48A5-4F362C942025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조직 전문성</a:t>
            </a:r>
          </a:p>
        </p:txBody>
      </p:sp>
      <p:sp>
        <p:nvSpPr>
          <p:cNvPr id="30" name="텍스트 개체 틀 1">
            <a:extLst>
              <a:ext uri="{FF2B5EF4-FFF2-40B4-BE49-F238E27FC236}">
                <a16:creationId xmlns:a16="http://schemas.microsoft.com/office/drawing/2014/main" id="{3FDA7C6E-71E7-BF80-EC3E-F627C084726A}"/>
              </a:ext>
            </a:extLst>
          </p:cNvPr>
          <p:cNvSpPr txBox="1">
            <a:spLocks/>
          </p:cNvSpPr>
          <p:nvPr/>
        </p:nvSpPr>
        <p:spPr>
          <a:xfrm>
            <a:off x="5097463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주요 사업 수행 실적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(5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건 이내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5E1F620-B0BF-0629-D829-0FA361DB5FAD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EB2011D6-E874-87CB-3C85-968E39AC0663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E05E5F-0931-B6FC-CBE5-BA4CD7797619}"/>
                </a:ext>
              </a:extLst>
            </p:cNvPr>
            <p:cNvSpPr txBox="1"/>
            <p:nvPr/>
          </p:nvSpPr>
          <p:spPr>
            <a:xfrm>
              <a:off x="433221" y="322993"/>
              <a:ext cx="882000" cy="307777"/>
            </a:xfrm>
            <a:prstGeom prst="rect">
              <a:avLst/>
            </a:prstGeom>
            <a:grpFill/>
          </p:spPr>
          <p:txBody>
            <a:bodyPr wrap="square" lIns="0" rIns="0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일반 현황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2708F8-1009-F0BE-9AAD-74CA49011EB1}"/>
              </a:ext>
            </a:extLst>
          </p:cNvPr>
          <p:cNvSpPr/>
          <p:nvPr/>
        </p:nvSpPr>
        <p:spPr>
          <a:xfrm>
            <a:off x="7294246" y="26382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업체 현황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조직 및 주요 사업 실적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90C799-22A7-6B93-83CF-6A1AEBEFCE43}"/>
              </a:ext>
            </a:extLst>
          </p:cNvPr>
          <p:cNvSpPr/>
          <p:nvPr/>
        </p:nvSpPr>
        <p:spPr>
          <a:xfrm>
            <a:off x="342953" y="2082089"/>
            <a:ext cx="4465584" cy="252895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pc="-5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868D790-7746-F80D-334F-E1A7FE940FDD}"/>
              </a:ext>
            </a:extLst>
          </p:cNvPr>
          <p:cNvGrpSpPr/>
          <p:nvPr/>
        </p:nvGrpSpPr>
        <p:grpSpPr>
          <a:xfrm>
            <a:off x="732213" y="2148280"/>
            <a:ext cx="4045740" cy="2389360"/>
            <a:chOff x="732213" y="2148280"/>
            <a:chExt cx="4045740" cy="238936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4BFF943-CE5D-71DE-BAA1-312D29952AD2}"/>
                </a:ext>
              </a:extLst>
            </p:cNvPr>
            <p:cNvCxnSpPr>
              <a:cxnSpLocks/>
            </p:cNvCxnSpPr>
            <p:nvPr/>
          </p:nvCxnSpPr>
          <p:spPr>
            <a:xfrm>
              <a:off x="2611393" y="2483819"/>
              <a:ext cx="3184" cy="1458062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모서리가 둥근 직사각형 185">
              <a:extLst>
                <a:ext uri="{FF2B5EF4-FFF2-40B4-BE49-F238E27FC236}">
                  <a16:creationId xmlns:a16="http://schemas.microsoft.com/office/drawing/2014/main" id="{CCD44864-82DA-4DE1-7015-65D5F38EE87D}"/>
                </a:ext>
              </a:extLst>
            </p:cNvPr>
            <p:cNvSpPr/>
            <p:nvPr/>
          </p:nvSpPr>
          <p:spPr>
            <a:xfrm>
              <a:off x="1486688" y="2615102"/>
              <a:ext cx="845350" cy="2647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자문위원</a:t>
              </a:r>
            </a:p>
          </p:txBody>
        </p:sp>
        <p:sp>
          <p:nvSpPr>
            <p:cNvPr id="15" name="모서리가 둥근 직사각형 186">
              <a:extLst>
                <a:ext uri="{FF2B5EF4-FFF2-40B4-BE49-F238E27FC236}">
                  <a16:creationId xmlns:a16="http://schemas.microsoft.com/office/drawing/2014/main" id="{FD7EC0D0-EBC2-3D00-8CF2-D5D1AACF17DD}"/>
                </a:ext>
              </a:extLst>
            </p:cNvPr>
            <p:cNvSpPr/>
            <p:nvPr/>
          </p:nvSpPr>
          <p:spPr>
            <a:xfrm>
              <a:off x="2948173" y="2615101"/>
              <a:ext cx="845350" cy="26479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경영지원팀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6BBCF07-162E-7281-724B-9AAE2835A536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 flipV="1">
              <a:off x="2332038" y="2747497"/>
              <a:ext cx="616135" cy="2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모서리가 둥근 직사각형 170">
              <a:extLst>
                <a:ext uri="{FF2B5EF4-FFF2-40B4-BE49-F238E27FC236}">
                  <a16:creationId xmlns:a16="http://schemas.microsoft.com/office/drawing/2014/main" id="{5EA32DA9-AE15-A96A-6F44-CC680B1FD865}"/>
                </a:ext>
              </a:extLst>
            </p:cNvPr>
            <p:cNvSpPr/>
            <p:nvPr/>
          </p:nvSpPr>
          <p:spPr>
            <a:xfrm>
              <a:off x="2051153" y="2195882"/>
              <a:ext cx="1080045" cy="264763"/>
            </a:xfrm>
            <a:prstGeom prst="roundRect">
              <a:avLst>
                <a:gd name="adj" fmla="val 50000"/>
              </a:avLst>
            </a:prstGeom>
            <a:solidFill>
              <a:srgbClr val="3445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대표이사</a:t>
              </a:r>
            </a:p>
          </p:txBody>
        </p:sp>
        <p:cxnSp>
          <p:nvCxnSpPr>
            <p:cNvPr id="18" name="꺾인 연결선 171">
              <a:extLst>
                <a:ext uri="{FF2B5EF4-FFF2-40B4-BE49-F238E27FC236}">
                  <a16:creationId xmlns:a16="http://schemas.microsoft.com/office/drawing/2014/main" id="{4BBAEC00-8D6B-DFE3-64F2-EFCCBC1CD8EC}"/>
                </a:ext>
              </a:extLst>
            </p:cNvPr>
            <p:cNvCxnSpPr>
              <a:cxnSpLocks/>
              <a:stCxn id="20" idx="0"/>
              <a:endCxn id="44" idx="0"/>
            </p:cNvCxnSpPr>
            <p:nvPr/>
          </p:nvCxnSpPr>
          <p:spPr>
            <a:xfrm rot="16200000" flipH="1">
              <a:off x="2599910" y="2742999"/>
              <a:ext cx="1" cy="2849534"/>
            </a:xfrm>
            <a:prstGeom prst="bentConnector3">
              <a:avLst>
                <a:gd name="adj1" fmla="val -2286000000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모서리가 둥근 직사각형 180">
              <a:extLst>
                <a:ext uri="{FF2B5EF4-FFF2-40B4-BE49-F238E27FC236}">
                  <a16:creationId xmlns:a16="http://schemas.microsoft.com/office/drawing/2014/main" id="{EB4C4978-CE44-DAF8-0016-1DB79831CF59}"/>
                </a:ext>
              </a:extLst>
            </p:cNvPr>
            <p:cNvSpPr/>
            <p:nvPr/>
          </p:nvSpPr>
          <p:spPr>
            <a:xfrm>
              <a:off x="735501" y="4167766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경영혁신컨설팅본부</a:t>
              </a:r>
              <a:endPara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1" name="모서리가 둥근 직사각형 181">
              <a:extLst>
                <a:ext uri="{FF2B5EF4-FFF2-40B4-BE49-F238E27FC236}">
                  <a16:creationId xmlns:a16="http://schemas.microsoft.com/office/drawing/2014/main" id="{DCF04FD0-445D-E2D8-DD18-9122CF60FBCD}"/>
                </a:ext>
              </a:extLst>
            </p:cNvPr>
            <p:cNvSpPr/>
            <p:nvPr/>
          </p:nvSpPr>
          <p:spPr>
            <a:xfrm>
              <a:off x="2635190" y="4167766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공공경영컨설팅본부</a:t>
              </a:r>
              <a:endPara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4" name="모서리가 둥근 직사각형 182">
              <a:extLst>
                <a:ext uri="{FF2B5EF4-FFF2-40B4-BE49-F238E27FC236}">
                  <a16:creationId xmlns:a16="http://schemas.microsoft.com/office/drawing/2014/main" id="{EC29CCB6-9CE5-9C22-FD98-7029E16EED18}"/>
                </a:ext>
              </a:extLst>
            </p:cNvPr>
            <p:cNvSpPr/>
            <p:nvPr/>
          </p:nvSpPr>
          <p:spPr>
            <a:xfrm>
              <a:off x="3585035" y="4167767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글로벌컨설팅본부</a:t>
              </a:r>
            </a:p>
          </p:txBody>
        </p:sp>
        <p:sp>
          <p:nvSpPr>
            <p:cNvPr id="45" name="모서리가 둥근 직사각형 184">
              <a:extLst>
                <a:ext uri="{FF2B5EF4-FFF2-40B4-BE49-F238E27FC236}">
                  <a16:creationId xmlns:a16="http://schemas.microsoft.com/office/drawing/2014/main" id="{11D43164-A651-DE74-5F01-93DC40DBE82A}"/>
                </a:ext>
              </a:extLst>
            </p:cNvPr>
            <p:cNvSpPr/>
            <p:nvPr/>
          </p:nvSpPr>
          <p:spPr>
            <a:xfrm>
              <a:off x="1685346" y="4167766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지속가능경영본부</a:t>
              </a:r>
            </a:p>
          </p:txBody>
        </p:sp>
        <p:cxnSp>
          <p:nvCxnSpPr>
            <p:cNvPr id="46" name="꺾인 연결선 171">
              <a:extLst>
                <a:ext uri="{FF2B5EF4-FFF2-40B4-BE49-F238E27FC236}">
                  <a16:creationId xmlns:a16="http://schemas.microsoft.com/office/drawing/2014/main" id="{932A6FA5-2F50-E5D7-98A0-64514075F950}"/>
                </a:ext>
              </a:extLst>
            </p:cNvPr>
            <p:cNvCxnSpPr>
              <a:cxnSpLocks/>
              <a:stCxn id="45" idx="0"/>
              <a:endCxn id="21" idx="0"/>
            </p:cNvCxnSpPr>
            <p:nvPr/>
          </p:nvCxnSpPr>
          <p:spPr>
            <a:xfrm rot="5400000" flipH="1" flipV="1">
              <a:off x="2599911" y="3692844"/>
              <a:ext cx="12700" cy="949844"/>
            </a:xfrm>
            <a:prstGeom prst="bentConnector3">
              <a:avLst>
                <a:gd name="adj1" fmla="val 186000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2E0EC8-69EE-BA6C-E039-645F1F371FFE}"/>
                </a:ext>
              </a:extLst>
            </p:cNvPr>
            <p:cNvSpPr txBox="1"/>
            <p:nvPr/>
          </p:nvSpPr>
          <p:spPr>
            <a:xfrm>
              <a:off x="3697908" y="2148280"/>
              <a:ext cx="1080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페이퍼로지 4 Regular" pitchFamily="2" charset="-127"/>
                  <a:ea typeface="페이퍼로지 4 Regular" pitchFamily="2" charset="-127"/>
                </a:rPr>
                <a:t>[</a:t>
              </a:r>
              <a:r>
                <a:rPr lang="ko-KR" altLang="en-US" sz="800" dirty="0">
                  <a:latin typeface="페이퍼로지 4 Regular" pitchFamily="2" charset="-127"/>
                  <a:ea typeface="페이퍼로지 4 Regular" pitchFamily="2" charset="-127"/>
                </a:rPr>
                <a:t>조직구성</a:t>
              </a:r>
              <a:r>
                <a:rPr lang="en-US" altLang="ko-KR" sz="800" dirty="0">
                  <a:latin typeface="페이퍼로지 4 Regular" pitchFamily="2" charset="-127"/>
                  <a:ea typeface="페이퍼로지 4 Regular" pitchFamily="2" charset="-127"/>
                </a:rPr>
                <a:t>]</a:t>
              </a:r>
            </a:p>
            <a:p>
              <a:r>
                <a:rPr lang="en-US" altLang="ko-KR" sz="800" dirty="0">
                  <a:latin typeface="페이퍼로지 3 Light" pitchFamily="2" charset="-127"/>
                  <a:ea typeface="페이퍼로지 3 Light" pitchFamily="2" charset="-127"/>
                </a:rPr>
                <a:t>8</a:t>
              </a:r>
              <a:r>
                <a:rPr lang="ko-KR" altLang="en-US" sz="800" dirty="0">
                  <a:latin typeface="페이퍼로지 3 Light" pitchFamily="2" charset="-127"/>
                  <a:ea typeface="페이퍼로지 3 Light" pitchFamily="2" charset="-127"/>
                </a:rPr>
                <a:t>본부</a:t>
              </a:r>
              <a:r>
                <a:rPr lang="en-US" altLang="ko-KR" sz="800" dirty="0">
                  <a:latin typeface="페이퍼로지 3 Light" pitchFamily="2" charset="-127"/>
                  <a:ea typeface="페이퍼로지 3 Light" pitchFamily="2" charset="-127"/>
                </a:rPr>
                <a:t>, 1</a:t>
              </a:r>
              <a:r>
                <a:rPr lang="ko-KR" altLang="en-US" sz="800" dirty="0">
                  <a:latin typeface="페이퍼로지 3 Light" pitchFamily="2" charset="-127"/>
                  <a:ea typeface="페이퍼로지 3 Light" pitchFamily="2" charset="-127"/>
                </a:rPr>
                <a:t>연구소 </a:t>
              </a:r>
              <a:r>
                <a:rPr lang="en-US" altLang="ko-KR" sz="800" dirty="0">
                  <a:latin typeface="페이퍼로지 3 Light" pitchFamily="2" charset="-127"/>
                  <a:ea typeface="페이퍼로지 3 Light" pitchFamily="2" charset="-127"/>
                </a:rPr>
                <a:t>, 1</a:t>
              </a:r>
              <a:r>
                <a:rPr lang="ko-KR" altLang="en-US" sz="800" dirty="0">
                  <a:latin typeface="페이퍼로지 3 Light" pitchFamily="2" charset="-127"/>
                  <a:ea typeface="페이퍼로지 3 Light" pitchFamily="2" charset="-127"/>
                </a:rPr>
                <a:t>팀</a:t>
              </a:r>
              <a:endParaRPr lang="en-US" altLang="ko-KR" sz="800" dirty="0">
                <a:latin typeface="페이퍼로지 3 Light" pitchFamily="2" charset="-127"/>
                <a:ea typeface="페이퍼로지 3 Light" pitchFamily="2" charset="-127"/>
              </a:endParaRPr>
            </a:p>
            <a:p>
              <a:pPr algn="ctr"/>
              <a:r>
                <a:rPr lang="ko-KR" altLang="en-US" sz="800" dirty="0">
                  <a:latin typeface="페이퍼로지 3 Light" pitchFamily="2" charset="-127"/>
                  <a:ea typeface="페이퍼로지 3 Light" pitchFamily="2" charset="-127"/>
                </a:rPr>
                <a:t>총 인원</a:t>
              </a:r>
              <a:r>
                <a:rPr lang="en-US" altLang="ko-KR" sz="800" dirty="0">
                  <a:latin typeface="페이퍼로지 3 Light" pitchFamily="2" charset="-127"/>
                  <a:ea typeface="페이퍼로지 3 Light" pitchFamily="2" charset="-127"/>
                </a:rPr>
                <a:t>: 89</a:t>
              </a:r>
              <a:r>
                <a:rPr lang="ko-KR" altLang="en-US" sz="800" dirty="0">
                  <a:latin typeface="페이퍼로지 3 Light" pitchFamily="2" charset="-127"/>
                  <a:ea typeface="페이퍼로지 3 Light" pitchFamily="2" charset="-127"/>
                </a:rPr>
                <a:t>명</a:t>
              </a:r>
              <a:r>
                <a:rPr lang="en-US" altLang="ko-KR" sz="800" dirty="0">
                  <a:latin typeface="페이퍼로지 3 Light" pitchFamily="2" charset="-127"/>
                  <a:ea typeface="페이퍼로지 3 Light" pitchFamily="2" charset="-127"/>
                </a:rPr>
                <a:t>  </a:t>
              </a:r>
              <a:endParaRPr lang="ko-KR" altLang="en-US" sz="800" dirty="0">
                <a:latin typeface="페이퍼로지 3 Light" pitchFamily="2" charset="-127"/>
                <a:ea typeface="페이퍼로지 3 Light" pitchFamily="2" charset="-127"/>
              </a:endParaRPr>
            </a:p>
          </p:txBody>
        </p:sp>
        <p:sp>
          <p:nvSpPr>
            <p:cNvPr id="48" name="모서리가 둥근 직사각형 186">
              <a:extLst>
                <a:ext uri="{FF2B5EF4-FFF2-40B4-BE49-F238E27FC236}">
                  <a16:creationId xmlns:a16="http://schemas.microsoft.com/office/drawing/2014/main" id="{561F6A72-4307-66C2-279C-928F636EBC10}"/>
                </a:ext>
              </a:extLst>
            </p:cNvPr>
            <p:cNvSpPr/>
            <p:nvPr/>
          </p:nvSpPr>
          <p:spPr>
            <a:xfrm>
              <a:off x="2948173" y="2963333"/>
              <a:ext cx="845350" cy="26479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AI </a:t>
              </a:r>
              <a:r>
                <a:rPr kumimoji="1"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연구소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FFFE1471-4DFC-1A77-0D09-6809959EE9C6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 flipV="1">
              <a:off x="2611490" y="3095729"/>
              <a:ext cx="336683" cy="1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꺾인 연결선 171">
              <a:extLst>
                <a:ext uri="{FF2B5EF4-FFF2-40B4-BE49-F238E27FC236}">
                  <a16:creationId xmlns:a16="http://schemas.microsoft.com/office/drawing/2014/main" id="{36CC84D1-3076-945F-0902-CE310FA3CF05}"/>
                </a:ext>
              </a:extLst>
            </p:cNvPr>
            <p:cNvCxnSpPr>
              <a:cxnSpLocks/>
              <a:stCxn id="51" idx="0"/>
              <a:endCxn id="53" idx="0"/>
            </p:cNvCxnSpPr>
            <p:nvPr/>
          </p:nvCxnSpPr>
          <p:spPr>
            <a:xfrm rot="16200000" flipH="1">
              <a:off x="2596622" y="2107915"/>
              <a:ext cx="2" cy="2849534"/>
            </a:xfrm>
            <a:prstGeom prst="bentConnector3">
              <a:avLst>
                <a:gd name="adj1" fmla="val -1143000000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모서리가 둥근 직사각형 180">
              <a:extLst>
                <a:ext uri="{FF2B5EF4-FFF2-40B4-BE49-F238E27FC236}">
                  <a16:creationId xmlns:a16="http://schemas.microsoft.com/office/drawing/2014/main" id="{53665C91-210B-58FE-57F9-A4C7F86D82A0}"/>
                </a:ext>
              </a:extLst>
            </p:cNvPr>
            <p:cNvSpPr/>
            <p:nvPr/>
          </p:nvSpPr>
          <p:spPr>
            <a:xfrm>
              <a:off x="732213" y="3532681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rgbClr val="70AD47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직업능력컨설팅본부</a:t>
              </a:r>
            </a:p>
          </p:txBody>
        </p:sp>
        <p:sp>
          <p:nvSpPr>
            <p:cNvPr id="52" name="모서리가 둥근 직사각형 181">
              <a:extLst>
                <a:ext uri="{FF2B5EF4-FFF2-40B4-BE49-F238E27FC236}">
                  <a16:creationId xmlns:a16="http://schemas.microsoft.com/office/drawing/2014/main" id="{1FDBC633-96E8-0C0F-998F-19E961194227}"/>
                </a:ext>
              </a:extLst>
            </p:cNvPr>
            <p:cNvSpPr/>
            <p:nvPr/>
          </p:nvSpPr>
          <p:spPr>
            <a:xfrm>
              <a:off x="2631902" y="3532681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일터혁신컨설팅본부</a:t>
              </a:r>
            </a:p>
          </p:txBody>
        </p:sp>
        <p:sp>
          <p:nvSpPr>
            <p:cNvPr id="53" name="모서리가 둥근 직사각형 182">
              <a:extLst>
                <a:ext uri="{FF2B5EF4-FFF2-40B4-BE49-F238E27FC236}">
                  <a16:creationId xmlns:a16="http://schemas.microsoft.com/office/drawing/2014/main" id="{120454B9-3FC6-97D5-0446-A74442F1242E}"/>
                </a:ext>
              </a:extLst>
            </p:cNvPr>
            <p:cNvSpPr/>
            <p:nvPr/>
          </p:nvSpPr>
          <p:spPr>
            <a:xfrm>
              <a:off x="3581747" y="3532683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넥스트보상연구본부</a:t>
              </a:r>
              <a:endPara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54" name="모서리가 둥근 직사각형 184">
              <a:extLst>
                <a:ext uri="{FF2B5EF4-FFF2-40B4-BE49-F238E27FC236}">
                  <a16:creationId xmlns:a16="http://schemas.microsoft.com/office/drawing/2014/main" id="{58AF31D6-0E1A-1EA5-8997-A1988197BC32}"/>
                </a:ext>
              </a:extLst>
            </p:cNvPr>
            <p:cNvSpPr/>
            <p:nvPr/>
          </p:nvSpPr>
          <p:spPr>
            <a:xfrm>
              <a:off x="1682058" y="3532681"/>
              <a:ext cx="879285" cy="369873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직업능력연구본부</a:t>
              </a:r>
            </a:p>
          </p:txBody>
        </p:sp>
        <p:cxnSp>
          <p:nvCxnSpPr>
            <p:cNvPr id="55" name="꺾인 연결선 171">
              <a:extLst>
                <a:ext uri="{FF2B5EF4-FFF2-40B4-BE49-F238E27FC236}">
                  <a16:creationId xmlns:a16="http://schemas.microsoft.com/office/drawing/2014/main" id="{C3CF4340-8B62-77DD-13A8-1628F4155C7C}"/>
                </a:ext>
              </a:extLst>
            </p:cNvPr>
            <p:cNvCxnSpPr>
              <a:cxnSpLocks/>
              <a:stCxn id="54" idx="0"/>
              <a:endCxn id="52" idx="0"/>
            </p:cNvCxnSpPr>
            <p:nvPr/>
          </p:nvCxnSpPr>
          <p:spPr>
            <a:xfrm rot="5400000" flipH="1" flipV="1">
              <a:off x="2596623" y="3057759"/>
              <a:ext cx="12700" cy="949844"/>
            </a:xfrm>
            <a:prstGeom prst="bentConnector3">
              <a:avLst>
                <a:gd name="adj1" fmla="val 182000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6E56EE0-AD40-7BE6-CEDF-5C366E1DDA2B}"/>
              </a:ext>
            </a:extLst>
          </p:cNvPr>
          <p:cNvSpPr txBox="1"/>
          <p:nvPr/>
        </p:nvSpPr>
        <p:spPr>
          <a:xfrm>
            <a:off x="261658" y="6380306"/>
            <a:ext cx="45468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altLang="ko-KR" sz="800" dirty="0">
                <a:latin typeface="페이퍼로지 3 Light" pitchFamily="2" charset="-127"/>
                <a:ea typeface="페이퍼로지 3 Light" pitchFamily="2" charset="-127"/>
              </a:rPr>
              <a:t>※ </a:t>
            </a:r>
            <a:r>
              <a:rPr lang="ko-KR" altLang="en-US" sz="800" dirty="0">
                <a:latin typeface="페이퍼로지 3 Light" pitchFamily="2" charset="-127"/>
                <a:ea typeface="페이퍼로지 3 Light" pitchFamily="2" charset="-127"/>
              </a:rPr>
              <a:t>휴직 중인 인원 포함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78C783B3-14B1-99F8-A527-8C30A7674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69102"/>
              </p:ext>
            </p:extLst>
          </p:nvPr>
        </p:nvGraphicFramePr>
        <p:xfrm>
          <a:off x="339429" y="4653055"/>
          <a:ext cx="4464051" cy="1763619"/>
        </p:xfrm>
        <a:graphic>
          <a:graphicData uri="http://schemas.openxmlformats.org/drawingml/2006/table">
            <a:tbl>
              <a:tblPr/>
              <a:tblGrid>
                <a:gridCol w="816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03">
                  <a:extLst>
                    <a:ext uri="{9D8B030D-6E8A-4147-A177-3AD203B41FA5}">
                      <a16:colId xmlns:a16="http://schemas.microsoft.com/office/drawing/2014/main" val="3965796537"/>
                    </a:ext>
                  </a:extLst>
                </a:gridCol>
              </a:tblGrid>
              <a:tr h="27132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주요 사업 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인원</a:t>
                      </a:r>
                      <a:endParaRPr lang="en-US" altLang="ko-KR" sz="700" b="0" kern="1200" spc="-5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명</a:t>
                      </a:r>
                      <a:r>
                        <a:rPr lang="en-US" altLang="ko-KR" sz="700" b="0" kern="1200" spc="-5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700" b="0" kern="1200" spc="-5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직업능력컨설팅본부</a:t>
                      </a:r>
                      <a:endParaRPr lang="en-US" altLang="ko-KR" sz="7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HRD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컨설팅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직무분석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역량모델링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교육체계수립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훈련과정 개발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/ NCS </a:t>
                      </a:r>
                      <a:r>
                        <a:rPr lang="ko-KR" altLang="en-US" sz="700" kern="0" spc="-5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개발·개선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직업능력연구본부</a:t>
                      </a:r>
                      <a:endParaRPr lang="en-US" altLang="ko-KR" sz="7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NCS </a:t>
                      </a:r>
                      <a:r>
                        <a:rPr lang="ko-KR" altLang="en-US" sz="700" kern="0" spc="-5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개발·개선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직업능력개발 관련 정부 정책 연구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국가자격 및 민간자격 </a:t>
                      </a:r>
                      <a:r>
                        <a:rPr lang="ko-KR" altLang="en-US" sz="700" kern="0" spc="-5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설계·운영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교육과정 기획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372670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일터혁신컨설팅본부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HRM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체계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평가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개선 컨설팅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안전한 일터 조성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노사파트너십 구축 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장시간근로개선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31832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넥스트보상연구본부</a:t>
                      </a:r>
                      <a:endParaRPr lang="en-US" altLang="ko-KR" sz="7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업종별 임금 모델 연구 및 설계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최신 보상 트렌드 분석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성과 중심의 보상체계 고도화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경영혁신컨설팅본부</a:t>
                      </a:r>
                      <a:endParaRPr lang="en-US" altLang="ko-KR" sz="7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경영진단 및 중장기 전략 수립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신규 사업 개발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직무분석 기반 적정 인력 산정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지속가능경영본부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수준 진단 및 컨설팅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탄소중립 전략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공공경영컨설팅본부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공공부문 직무 중심 인사관리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공공정책 이행 전략 컨설팅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219928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글로벌컨설팅본부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KOICA(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한국국제협력단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공적개발원조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(ODA)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사업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글로벌 거버넌스 구축</a:t>
                      </a:r>
                      <a:endParaRPr lang="en-US" sz="700" kern="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123855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컨설팅연구소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HR IT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솔루션 개발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 기반 인적자원 관리 시스템 구축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198599"/>
                  </a:ext>
                </a:extLst>
              </a:tr>
              <a:tr h="135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경영지원팀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인사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총무</a:t>
                      </a:r>
                      <a:r>
                        <a:rPr lang="en-US" altLang="ko-KR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재무 관리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955478"/>
                  </a:ext>
                </a:extLst>
              </a:tr>
              <a:tr h="135663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합 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61A3DD8-856E-861B-C95D-A547898DF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715370"/>
              </p:ext>
            </p:extLst>
          </p:nvPr>
        </p:nvGraphicFramePr>
        <p:xfrm>
          <a:off x="5102522" y="2082085"/>
          <a:ext cx="4458991" cy="4334587"/>
        </p:xfrm>
        <a:graphic>
          <a:graphicData uri="http://schemas.openxmlformats.org/drawingml/2006/table">
            <a:tbl>
              <a:tblPr/>
              <a:tblGrid>
                <a:gridCol w="314737">
                  <a:extLst>
                    <a:ext uri="{9D8B030D-6E8A-4147-A177-3AD203B41FA5}">
                      <a16:colId xmlns:a16="http://schemas.microsoft.com/office/drawing/2014/main" val="3626385385"/>
                    </a:ext>
                  </a:extLst>
                </a:gridCol>
                <a:gridCol w="1684858">
                  <a:extLst>
                    <a:ext uri="{9D8B030D-6E8A-4147-A177-3AD203B41FA5}">
                      <a16:colId xmlns:a16="http://schemas.microsoft.com/office/drawing/2014/main" val="2428714878"/>
                    </a:ext>
                  </a:extLst>
                </a:gridCol>
                <a:gridCol w="899177">
                  <a:extLst>
                    <a:ext uri="{9D8B030D-6E8A-4147-A177-3AD203B41FA5}">
                      <a16:colId xmlns:a16="http://schemas.microsoft.com/office/drawing/2014/main" val="3681649429"/>
                    </a:ext>
                  </a:extLst>
                </a:gridCol>
                <a:gridCol w="701526">
                  <a:extLst>
                    <a:ext uri="{9D8B030D-6E8A-4147-A177-3AD203B41FA5}">
                      <a16:colId xmlns:a16="http://schemas.microsoft.com/office/drawing/2014/main" val="4185924196"/>
                    </a:ext>
                  </a:extLst>
                </a:gridCol>
                <a:gridCol w="858693">
                  <a:extLst>
                    <a:ext uri="{9D8B030D-6E8A-4147-A177-3AD203B41FA5}">
                      <a16:colId xmlns:a16="http://schemas.microsoft.com/office/drawing/2014/main" val="4024460111"/>
                    </a:ext>
                  </a:extLst>
                </a:gridCol>
              </a:tblGrid>
              <a:tr h="32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사업명 및 수행내용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금액</a:t>
                      </a: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원</a:t>
                      </a: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발주처</a:t>
                      </a:r>
                      <a:endParaRPr lang="ko-KR" altLang="en-US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7202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2025</a:t>
                      </a: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년도 기업수요 맞춤형 직무분석 및 훈련과정 개발</a:t>
                      </a:r>
                    </a:p>
                  </a:txBody>
                  <a:tcPr marL="0" marR="0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2025.06.13 ~ 2025.09.30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112,800,000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대한상공회의소 서울기술교육센터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910326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2025</a:t>
                      </a: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 산업전환 협약기업 진단 및 기업 맞춤형 훈련과정 개발</a:t>
                      </a:r>
                    </a:p>
                  </a:txBody>
                  <a:tcPr marL="0" marR="0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2025.04.09 ~ 2025.12.31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58,800,000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한국화학융합시험연구원</a:t>
                      </a:r>
                      <a:endParaRPr lang="ko-KR" altLang="en-US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67539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산업전환 공동훈련센터</a:t>
                      </a: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(KTR)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협약기업 분석을 통한 </a:t>
                      </a:r>
                      <a:r>
                        <a:rPr lang="ko-KR" altLang="en-US" sz="950" b="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endParaRPr lang="en-US" altLang="ko-KR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70C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체계 구축 용역</a:t>
                      </a:r>
                    </a:p>
                  </a:txBody>
                  <a:tcPr marL="0" marR="0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2025.04.15 ~ 2025.12.31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29,100,000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50" b="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한국화학융합시험연구원</a:t>
                      </a:r>
                      <a:endParaRPr lang="ko-KR" altLang="en-US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70C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84806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2024</a:t>
                      </a: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 산업전환 협약기업 진단 및 기업 맞춤형 훈련과정 개발</a:t>
                      </a:r>
                    </a:p>
                  </a:txBody>
                  <a:tcPr marL="0" marR="0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2024.04.29 ~ 2024.12.31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87,750,000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한국화학융합시험연구원</a:t>
                      </a:r>
                      <a:endParaRPr lang="ko-KR" altLang="en-US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797821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직무분석을 통한 훈련과정 개발 용역</a:t>
                      </a:r>
                    </a:p>
                  </a:txBody>
                  <a:tcPr marL="0" marR="0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2024.04.29 ~ 2024.12.31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115,200,000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한국전자</a:t>
                      </a:r>
                      <a:endParaRPr lang="en-US" altLang="ko-KR" sz="95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50" b="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기술연구원</a:t>
                      </a: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244677"/>
                  </a:ext>
                </a:extLst>
              </a:tr>
              <a:tr h="502599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합계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건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100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403,650,000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b="0" kern="1200" spc="-5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3524" marR="13524" marT="13524" marB="13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837825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3212E41-1CCE-B848-3983-3CB71146799F}"/>
              </a:ext>
            </a:extLst>
          </p:cNvPr>
          <p:cNvCxnSpPr>
            <a:cxnSpLocks/>
          </p:cNvCxnSpPr>
          <p:nvPr/>
        </p:nvCxnSpPr>
        <p:spPr>
          <a:xfrm>
            <a:off x="339695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758800D-4B35-86CF-5D32-58D589D094C2}"/>
              </a:ext>
            </a:extLst>
          </p:cNvPr>
          <p:cNvCxnSpPr>
            <a:cxnSpLocks/>
          </p:cNvCxnSpPr>
          <p:nvPr/>
        </p:nvCxnSpPr>
        <p:spPr>
          <a:xfrm>
            <a:off x="5097463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11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430FE-2B19-D040-BEF6-FEC36584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F9189B53-DC3E-6332-9811-C2BDE231BD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4074160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6FED620-E7F5-885A-86F9-5B2E5D40A016}"/>
              </a:ext>
            </a:extLst>
          </p:cNvPr>
          <p:cNvGrpSpPr/>
          <p:nvPr/>
        </p:nvGrpSpPr>
        <p:grpSpPr>
          <a:xfrm>
            <a:off x="795" y="2285874"/>
            <a:ext cx="5132225" cy="2286253"/>
            <a:chOff x="795" y="2384884"/>
            <a:chExt cx="5132225" cy="2286253"/>
          </a:xfrm>
        </p:grpSpPr>
        <p:sp>
          <p:nvSpPr>
            <p:cNvPr id="3" name="Text Placeholder 1">
              <a:extLst>
                <a:ext uri="{FF2B5EF4-FFF2-40B4-BE49-F238E27FC236}">
                  <a16:creationId xmlns:a16="http://schemas.microsoft.com/office/drawing/2014/main" id="{22FE3540-0FA0-8DC9-F175-F2851C2BE42B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 Narrow" pitchFamily="34" charset="0"/>
                <a:buNone/>
                <a:tabLst/>
                <a:defRPr/>
              </a:pPr>
              <a:r>
                <a:rPr kumimoji="0" lang="en-US" altLang="ko-KR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Ⅱ. </a:t>
              </a:r>
              <a:r>
                <a:rPr kumimoji="0" lang="ko-KR" alt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제안 개요</a:t>
              </a:r>
            </a:p>
          </p:txBody>
        </p:sp>
        <p:sp>
          <p:nvSpPr>
            <p:cNvPr id="4" name="Text Placeholder 1">
              <a:extLst>
                <a:ext uri="{FF2B5EF4-FFF2-40B4-BE49-F238E27FC236}">
                  <a16:creationId xmlns:a16="http://schemas.microsoft.com/office/drawing/2014/main" id="{2412321D-1218-0745-87C3-9F8B4BA9C5DF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16118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marR="0" lvl="0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제안 목적 및 내용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  <a:p>
              <a:pPr marL="361950" marR="0" lvl="0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제안 특징 및 사업 접근 전략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58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61EC-474C-62E1-E2DD-DD392D79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486B8C2-EE3B-74D2-F18B-C0C33E44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5525" y="6410630"/>
            <a:ext cx="440967" cy="365125"/>
          </a:xfrm>
        </p:spPr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7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12" name="텍스트 개체 틀 1">
            <a:extLst>
              <a:ext uri="{FF2B5EF4-FFF2-40B4-BE49-F238E27FC236}">
                <a16:creationId xmlns:a16="http://schemas.microsoft.com/office/drawing/2014/main" id="{F3B65AB5-E9F1-8FDE-0E5E-01C66F17D435}"/>
              </a:ext>
            </a:extLst>
          </p:cNvPr>
          <p:cNvSpPr txBox="1">
            <a:spLocks/>
          </p:cNvSpPr>
          <p:nvPr/>
        </p:nvSpPr>
        <p:spPr>
          <a:xfrm>
            <a:off x="339695" y="1545589"/>
            <a:ext cx="3775105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</a:pP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AX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는 생산성과 의사결정을 혁신하는 필수 전환</a:t>
            </a:r>
            <a:endParaRPr kumimoji="1" lang="en-US" altLang="ko-KR" sz="1600" kern="0" spc="-50" dirty="0">
              <a:ln>
                <a:solidFill>
                  <a:srgbClr val="4F81BD">
                    <a:alpha val="0"/>
                  </a:srgbClr>
                </a:solidFill>
              </a:ln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3DEAF4-0505-84AB-EAFA-3A202C28A172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AX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와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직무교육 개발의 필요성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텍스트 개체 틀 1">
            <a:extLst>
              <a:ext uri="{FF2B5EF4-FFF2-40B4-BE49-F238E27FC236}">
                <a16:creationId xmlns:a16="http://schemas.microsoft.com/office/drawing/2014/main" id="{FA5B97AB-A5DB-FB49-92BD-E5E4F6E3B46C}"/>
              </a:ext>
            </a:extLst>
          </p:cNvPr>
          <p:cNvSpPr txBox="1">
            <a:spLocks/>
          </p:cNvSpPr>
          <p:nvPr/>
        </p:nvSpPr>
        <p:spPr>
          <a:xfrm>
            <a:off x="351211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AI </a:t>
            </a:r>
            <a:r>
              <a:rPr lang="ko-KR" altLang="en-US" dirty="0"/>
              <a:t>확산에 따라 산업 구조와 직무 수행방식 전환이 가속화 되고 있으며</a:t>
            </a:r>
            <a:r>
              <a:rPr lang="en-US" altLang="ko-KR" dirty="0"/>
              <a:t>, </a:t>
            </a:r>
            <a:r>
              <a:rPr lang="ko-KR" altLang="en-US" dirty="0"/>
              <a:t>이에 따라</a:t>
            </a:r>
            <a:r>
              <a:rPr lang="en-US" altLang="ko-KR" dirty="0"/>
              <a:t> </a:t>
            </a:r>
            <a:r>
              <a:rPr lang="ko-KR" altLang="en-US" dirty="0"/>
              <a:t>업무 프로세스와 직무 특성을 반영한 </a:t>
            </a:r>
            <a:r>
              <a:rPr lang="en-US" altLang="ko-KR" dirty="0"/>
              <a:t>AI </a:t>
            </a:r>
            <a:r>
              <a:rPr lang="ko-KR" altLang="en-US" dirty="0"/>
              <a:t>적용 기회를 구체화하고</a:t>
            </a:r>
            <a:r>
              <a:rPr lang="en-US" altLang="ko-KR" dirty="0"/>
              <a:t> </a:t>
            </a:r>
            <a:r>
              <a:rPr lang="ko-KR" altLang="en-US" dirty="0"/>
              <a:t>이를 실무 적용까지 연계할 수 있는 실행 중심의 교육 설계가 요구됨</a:t>
            </a:r>
            <a:r>
              <a:rPr lang="en-US" altLang="ko-KR" dirty="0"/>
              <a:t>.	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C48CAE5-198A-591F-FE23-E03E5095A94F}"/>
              </a:ext>
            </a:extLst>
          </p:cNvPr>
          <p:cNvGrpSpPr/>
          <p:nvPr/>
        </p:nvGrpSpPr>
        <p:grpSpPr>
          <a:xfrm>
            <a:off x="339695" y="-7270"/>
            <a:ext cx="1063793" cy="735932"/>
            <a:chOff x="339695" y="-7270"/>
            <a:chExt cx="1063793" cy="735932"/>
          </a:xfrm>
          <a:solidFill>
            <a:srgbClr val="344532"/>
          </a:solidFill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F3EE1C86-E247-B970-3072-0C00E3B7D93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927712-4CDA-A6D9-03D3-B4539974133D}"/>
                </a:ext>
              </a:extLst>
            </p:cNvPr>
            <p:cNvSpPr txBox="1"/>
            <p:nvPr/>
          </p:nvSpPr>
          <p:spPr>
            <a:xfrm>
              <a:off x="339695" y="322993"/>
              <a:ext cx="105853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제안 배경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0148A2-FC61-1B8A-A4C2-9BFD243E8A92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개요 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목적 및 내용</a:t>
            </a: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4E4F0BBC-BA0D-9F6E-0C6B-C319BCB0DA84}"/>
              </a:ext>
            </a:extLst>
          </p:cNvPr>
          <p:cNvSpPr txBox="1">
            <a:spLocks/>
          </p:cNvSpPr>
          <p:nvPr/>
        </p:nvSpPr>
        <p:spPr>
          <a:xfrm>
            <a:off x="5097463" y="1545589"/>
            <a:ext cx="4468843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기반 직무교육 및 교육체계 재설계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F9E845-BE16-5079-FEAA-A9D5BCD18046}"/>
              </a:ext>
            </a:extLst>
          </p:cNvPr>
          <p:cNvSpPr/>
          <p:nvPr/>
        </p:nvSpPr>
        <p:spPr>
          <a:xfrm>
            <a:off x="5097463" y="2032826"/>
            <a:ext cx="4459258" cy="4375198"/>
          </a:xfrm>
          <a:prstGeom prst="roundRect">
            <a:avLst>
              <a:gd name="adj" fmla="val 3919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rtlCol="0" anchor="t"/>
          <a:lstStyle/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B7716B9-0495-7ED3-3A46-D8AFAB2D5CC9}"/>
              </a:ext>
            </a:extLst>
          </p:cNvPr>
          <p:cNvCxnSpPr>
            <a:cxnSpLocks/>
          </p:cNvCxnSpPr>
          <p:nvPr/>
        </p:nvCxnSpPr>
        <p:spPr>
          <a:xfrm>
            <a:off x="344488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CB67B4-58F1-5883-1177-3B5297963D23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BCA519E-9CEC-CBF7-E5DB-9DA5B37A76E1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225A0B-CC0E-E9E4-1EAF-3E02669D67FC}"/>
              </a:ext>
            </a:extLst>
          </p:cNvPr>
          <p:cNvSpPr/>
          <p:nvPr/>
        </p:nvSpPr>
        <p:spPr>
          <a:xfrm>
            <a:off x="349279" y="2032826"/>
            <a:ext cx="4454466" cy="4373563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rtlCol="0" anchor="t"/>
          <a:lstStyle/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buSzPct val="80000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§"/>
            </a:pPr>
            <a:endParaRPr kumimoji="1" lang="en-US" altLang="ko-KR" sz="10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1A399D-EA3E-0D38-DA74-5318264F93D2}"/>
              </a:ext>
            </a:extLst>
          </p:cNvPr>
          <p:cNvSpPr/>
          <p:nvPr/>
        </p:nvSpPr>
        <p:spPr>
          <a:xfrm>
            <a:off x="5291327" y="2272957"/>
            <a:ext cx="4079271" cy="1701953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fontAlgn="base" latinLnBrk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95D5610-87C1-E510-7322-CD0D67DDD3D1}"/>
              </a:ext>
            </a:extLst>
          </p:cNvPr>
          <p:cNvSpPr/>
          <p:nvPr/>
        </p:nvSpPr>
        <p:spPr>
          <a:xfrm>
            <a:off x="5458149" y="2121524"/>
            <a:ext cx="1790639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화학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바이오 산업의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활용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가속화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9AD6EB-C1C4-71B9-6DC2-C235D96B2A9E}"/>
              </a:ext>
            </a:extLst>
          </p:cNvPr>
          <p:cNvSpPr txBox="1"/>
          <p:nvPr/>
        </p:nvSpPr>
        <p:spPr>
          <a:xfrm>
            <a:off x="5291328" y="2375219"/>
            <a:ext cx="4079270" cy="1505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화학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 산업 역시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R&amp;D,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품질관리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생산관리 등 주요 직무에서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역량 강화 요구가 빠르게 확대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되고 있음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는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대량의 데이터를 활용한 의사결정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공정 최적화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규제 대응 시뮬레이션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등 산업 전반의 혁신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을 촉진하고 있어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이에 대응할 수 있는 맞춤형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기반 교육과정 구축이 요구됨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또한 단순 기술 습득을 넘어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실무 적용 역량과 융합적 사고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가 중요해짐에 따라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직무별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수준별 교육체계 고도화가 필수 과제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로 부각되고 있음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38E44A6-8643-98ED-39A3-120AC7BDB4B6}"/>
              </a:ext>
            </a:extLst>
          </p:cNvPr>
          <p:cNvSpPr/>
          <p:nvPr/>
        </p:nvSpPr>
        <p:spPr>
          <a:xfrm>
            <a:off x="5291327" y="4507140"/>
            <a:ext cx="4079271" cy="1808276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fontAlgn="base" latinLnBrk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518A7B0-C110-858B-75A8-7023D0FFAB3B}"/>
              </a:ext>
            </a:extLst>
          </p:cNvPr>
          <p:cNvGrpSpPr/>
          <p:nvPr/>
        </p:nvGrpSpPr>
        <p:grpSpPr>
          <a:xfrm>
            <a:off x="5380892" y="4580229"/>
            <a:ext cx="1335427" cy="1431973"/>
            <a:chOff x="5380892" y="4589413"/>
            <a:chExt cx="1335427" cy="1431973"/>
          </a:xfrm>
        </p:grpSpPr>
        <p:sp>
          <p:nvSpPr>
            <p:cNvPr id="35" name="사각형: 둥근 위쪽 모서리 5">
              <a:extLst>
                <a:ext uri="{FF2B5EF4-FFF2-40B4-BE49-F238E27FC236}">
                  <a16:creationId xmlns:a16="http://schemas.microsoft.com/office/drawing/2014/main" id="{2B1C1C8F-DFFB-4889-79EB-76FA4780EB8A}"/>
                </a:ext>
              </a:extLst>
            </p:cNvPr>
            <p:cNvSpPr/>
            <p:nvPr/>
          </p:nvSpPr>
          <p:spPr>
            <a:xfrm>
              <a:off x="5422218" y="4616192"/>
              <a:ext cx="1252774" cy="137402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6" name="사각형: 둥근 위쪽 모서리 11">
              <a:extLst>
                <a:ext uri="{FF2B5EF4-FFF2-40B4-BE49-F238E27FC236}">
                  <a16:creationId xmlns:a16="http://schemas.microsoft.com/office/drawing/2014/main" id="{56CFBD01-D1E2-9D56-88D7-31D2677716D2}"/>
                </a:ext>
              </a:extLst>
            </p:cNvPr>
            <p:cNvSpPr/>
            <p:nvPr/>
          </p:nvSpPr>
          <p:spPr>
            <a:xfrm rot="10800000">
              <a:off x="5422219" y="4613615"/>
              <a:ext cx="1252774" cy="24645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63B17D-8ABF-2344-4B06-7F4C56283106}"/>
                </a:ext>
              </a:extLst>
            </p:cNvPr>
            <p:cNvSpPr txBox="1"/>
            <p:nvPr/>
          </p:nvSpPr>
          <p:spPr>
            <a:xfrm>
              <a:off x="5522067" y="4589413"/>
              <a:ext cx="1053076" cy="2948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>
              <a:defPPr>
                <a:defRPr lang="ko-KR"/>
              </a:defPPr>
              <a:lvl1pPr algn="ctr">
                <a:defRPr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atinLnBrk="0"/>
              <a:r>
                <a:rPr lang="en-US" altLang="ko-KR" sz="10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R&amp;D </a:t>
              </a:r>
              <a:r>
                <a:rPr lang="ko-KR" altLang="en-US" sz="10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지원</a:t>
              </a:r>
              <a:endParaRPr lang="en-US" altLang="ko-KR" sz="1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8" name="사각형: 둥근 위쪽 모서리 55">
              <a:extLst>
                <a:ext uri="{FF2B5EF4-FFF2-40B4-BE49-F238E27FC236}">
                  <a16:creationId xmlns:a16="http://schemas.microsoft.com/office/drawing/2014/main" id="{447554D3-0C16-2485-E3AE-BDCD32332BD1}"/>
                </a:ext>
              </a:extLst>
            </p:cNvPr>
            <p:cNvSpPr/>
            <p:nvPr/>
          </p:nvSpPr>
          <p:spPr>
            <a:xfrm>
              <a:off x="5422218" y="5961558"/>
              <a:ext cx="1252774" cy="5982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981BFD3-F6B3-A350-3CC8-3772A0716B13}"/>
                </a:ext>
              </a:extLst>
            </p:cNvPr>
            <p:cNvSpPr txBox="1"/>
            <p:nvPr/>
          </p:nvSpPr>
          <p:spPr>
            <a:xfrm>
              <a:off x="5380892" y="4850654"/>
              <a:ext cx="1335427" cy="107352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>
              <a:defPPr>
                <a:defRPr lang="ko-KR"/>
              </a:defPPr>
              <a:lvl1pPr algn="ctr">
                <a:defRPr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새로운 바이오 소재와 친환경 기술의 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개발을 가속화 하고</a:t>
              </a:r>
              <a:r>
                <a:rPr kumimoji="1" lang="en-US" altLang="ko-KR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</a:p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실험 데이터를 분석하여 혁신 촉진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688CCED3-BF7F-D1A9-D08C-332EBD5459B4}"/>
              </a:ext>
            </a:extLst>
          </p:cNvPr>
          <p:cNvGrpSpPr/>
          <p:nvPr/>
        </p:nvGrpSpPr>
        <p:grpSpPr>
          <a:xfrm>
            <a:off x="6663249" y="4580229"/>
            <a:ext cx="1335427" cy="1431973"/>
            <a:chOff x="6637110" y="4589413"/>
            <a:chExt cx="1335427" cy="1431973"/>
          </a:xfrm>
        </p:grpSpPr>
        <p:sp>
          <p:nvSpPr>
            <p:cNvPr id="39" name="사각형: 둥근 위쪽 모서리 5">
              <a:extLst>
                <a:ext uri="{FF2B5EF4-FFF2-40B4-BE49-F238E27FC236}">
                  <a16:creationId xmlns:a16="http://schemas.microsoft.com/office/drawing/2014/main" id="{82DA5CE8-1201-2D28-2A73-B6685BD22BC3}"/>
                </a:ext>
              </a:extLst>
            </p:cNvPr>
            <p:cNvSpPr/>
            <p:nvPr/>
          </p:nvSpPr>
          <p:spPr>
            <a:xfrm>
              <a:off x="6678436" y="4616192"/>
              <a:ext cx="1252774" cy="134315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3" name="사각형: 둥근 위쪽 모서리 11">
              <a:extLst>
                <a:ext uri="{FF2B5EF4-FFF2-40B4-BE49-F238E27FC236}">
                  <a16:creationId xmlns:a16="http://schemas.microsoft.com/office/drawing/2014/main" id="{1249B915-825C-AB84-7A77-C356E7345BB1}"/>
                </a:ext>
              </a:extLst>
            </p:cNvPr>
            <p:cNvSpPr/>
            <p:nvPr/>
          </p:nvSpPr>
          <p:spPr>
            <a:xfrm rot="10800000">
              <a:off x="6678437" y="4613615"/>
              <a:ext cx="1252774" cy="24645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2DF7C7B-CEC4-3BC7-5373-5DEAE7678975}"/>
                </a:ext>
              </a:extLst>
            </p:cNvPr>
            <p:cNvSpPr txBox="1"/>
            <p:nvPr/>
          </p:nvSpPr>
          <p:spPr>
            <a:xfrm>
              <a:off x="6778285" y="4589413"/>
              <a:ext cx="1053076" cy="2948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>
              <a:defPPr>
                <a:defRPr lang="ko-KR"/>
              </a:defPPr>
              <a:lvl1pPr algn="ctr">
                <a:defRPr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atinLnBrk="0"/>
              <a:r>
                <a:rPr lang="ko-KR" altLang="en-US" sz="10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생산 공정 최적화</a:t>
              </a:r>
              <a:endParaRPr lang="en-US" altLang="ko-KR" sz="1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7" name="사각형: 둥근 위쪽 모서리 55">
              <a:extLst>
                <a:ext uri="{FF2B5EF4-FFF2-40B4-BE49-F238E27FC236}">
                  <a16:creationId xmlns:a16="http://schemas.microsoft.com/office/drawing/2014/main" id="{DA5768B2-BB28-5763-4559-EE3C197954F6}"/>
                </a:ext>
              </a:extLst>
            </p:cNvPr>
            <p:cNvSpPr/>
            <p:nvPr/>
          </p:nvSpPr>
          <p:spPr>
            <a:xfrm>
              <a:off x="6678436" y="5961558"/>
              <a:ext cx="1252774" cy="5982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3DBE06-AFCD-2880-0F2D-5D0668885A2C}"/>
                </a:ext>
              </a:extLst>
            </p:cNvPr>
            <p:cNvSpPr txBox="1"/>
            <p:nvPr/>
          </p:nvSpPr>
          <p:spPr>
            <a:xfrm>
              <a:off x="6637110" y="4850654"/>
              <a:ext cx="1335427" cy="107352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>
              <a:defPPr>
                <a:defRPr lang="ko-KR"/>
              </a:defPPr>
              <a:lvl1pPr algn="ctr">
                <a:defRPr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en-US" altLang="ko-KR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알고리즘은 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생산 과정에서 발생하는 데이터를 분석하여 최적의 조건 도출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9B397D0-AB91-E0AF-A38E-1BCF62BECE97}"/>
              </a:ext>
            </a:extLst>
          </p:cNvPr>
          <p:cNvGrpSpPr/>
          <p:nvPr/>
        </p:nvGrpSpPr>
        <p:grpSpPr>
          <a:xfrm>
            <a:off x="7945605" y="4580230"/>
            <a:ext cx="1335427" cy="1431969"/>
            <a:chOff x="7945605" y="4589414"/>
            <a:chExt cx="1335427" cy="1431969"/>
          </a:xfrm>
        </p:grpSpPr>
        <p:sp>
          <p:nvSpPr>
            <p:cNvPr id="50" name="사각형: 둥근 위쪽 모서리 5">
              <a:extLst>
                <a:ext uri="{FF2B5EF4-FFF2-40B4-BE49-F238E27FC236}">
                  <a16:creationId xmlns:a16="http://schemas.microsoft.com/office/drawing/2014/main" id="{906588A3-646C-F46F-A4C6-9A3752B83B37}"/>
                </a:ext>
              </a:extLst>
            </p:cNvPr>
            <p:cNvSpPr/>
            <p:nvPr/>
          </p:nvSpPr>
          <p:spPr>
            <a:xfrm>
              <a:off x="7986931" y="4616192"/>
              <a:ext cx="1252774" cy="137402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1" name="사각형: 둥근 위쪽 모서리 11">
              <a:extLst>
                <a:ext uri="{FF2B5EF4-FFF2-40B4-BE49-F238E27FC236}">
                  <a16:creationId xmlns:a16="http://schemas.microsoft.com/office/drawing/2014/main" id="{48731D45-12A7-DE61-AAA8-088EEAAEF74A}"/>
                </a:ext>
              </a:extLst>
            </p:cNvPr>
            <p:cNvSpPr/>
            <p:nvPr/>
          </p:nvSpPr>
          <p:spPr>
            <a:xfrm rot="10800000">
              <a:off x="7986931" y="4613615"/>
              <a:ext cx="1252774" cy="24645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63AAE33-A659-F52D-5215-05D4D33FD7B5}"/>
                </a:ext>
              </a:extLst>
            </p:cNvPr>
            <p:cNvSpPr txBox="1"/>
            <p:nvPr/>
          </p:nvSpPr>
          <p:spPr>
            <a:xfrm>
              <a:off x="8073244" y="4589414"/>
              <a:ext cx="1080148" cy="2948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algn="ctr">
                <a:defRPr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atinLnBrk="0"/>
              <a:r>
                <a:rPr lang="ko-KR" altLang="en-US" sz="10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모델링 및 시뮬레이션</a:t>
              </a:r>
              <a:endParaRPr lang="en-US" altLang="ko-KR" sz="10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53" name="사각형: 둥근 위쪽 모서리 55">
              <a:extLst>
                <a:ext uri="{FF2B5EF4-FFF2-40B4-BE49-F238E27FC236}">
                  <a16:creationId xmlns:a16="http://schemas.microsoft.com/office/drawing/2014/main" id="{E7116DD2-2B73-6CD9-F494-A59EB89B804A}"/>
                </a:ext>
              </a:extLst>
            </p:cNvPr>
            <p:cNvSpPr/>
            <p:nvPr/>
          </p:nvSpPr>
          <p:spPr>
            <a:xfrm>
              <a:off x="7986931" y="5961555"/>
              <a:ext cx="1252774" cy="5982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95D20"/>
            </a:solidFill>
            <a:ln>
              <a:solidFill>
                <a:srgbClr val="395D2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>
              <a:noAutofit/>
            </a:bodyPr>
            <a:lstStyle/>
            <a:p>
              <a:pPr algn="ctr" latinLnBrk="0"/>
              <a:endParaRPr lang="ko-KR" altLang="en-US" sz="1600" spc="-5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B65D9C-9A88-468A-D866-8A5CF5C5C37E}"/>
                </a:ext>
              </a:extLst>
            </p:cNvPr>
            <p:cNvSpPr txBox="1"/>
            <p:nvPr/>
          </p:nvSpPr>
          <p:spPr>
            <a:xfrm>
              <a:off x="7945605" y="4850654"/>
              <a:ext cx="1335427" cy="107352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algn="ctr">
                <a:defRPr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생태계와 환경에 미치는 영향을 모델링하여 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친환경 솔루션의 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  <a:p>
              <a:pPr fontAlgn="base">
                <a:lnSpc>
                  <a:spcPct val="120000"/>
                </a:lnSpc>
                <a:spcBef>
                  <a:spcPct val="0"/>
                </a:spcBef>
                <a:buSzPct val="80000"/>
              </a:pPr>
              <a:r>
                <a:rPr kumimoji="1" lang="ko-KR" altLang="en-US" sz="10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효과 예측</a:t>
              </a:r>
              <a:endPara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DAAC2ED-0BF2-B121-8FB0-D0B2BF233A34}"/>
              </a:ext>
            </a:extLst>
          </p:cNvPr>
          <p:cNvSpPr/>
          <p:nvPr/>
        </p:nvSpPr>
        <p:spPr>
          <a:xfrm>
            <a:off x="5453794" y="4356858"/>
            <a:ext cx="2025892" cy="1911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친환경 바이오 산업 구조에서의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역할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B3D83-AE43-7FD4-A5D2-6CB01C11AACC}"/>
              </a:ext>
            </a:extLst>
          </p:cNvPr>
          <p:cNvSpPr txBox="1"/>
          <p:nvPr/>
        </p:nvSpPr>
        <p:spPr>
          <a:xfrm>
            <a:off x="5382207" y="6040691"/>
            <a:ext cx="3876699" cy="276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atinLnBrk="1"/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출처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:. 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산업통상자원부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 (AI 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산업 활용 확산 전략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)(2023), 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한국산업기술진흥원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 (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산업 디지털 전환 인력양성 보고서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)(2023), 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한국직업능력연구원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(</a:t>
            </a:r>
            <a:r>
              <a:rPr lang="ko-KR" altLang="en-US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디지털 전환 시대 직무 변화와 역량</a:t>
            </a:r>
            <a:r>
              <a:rPr lang="en-US" altLang="ko-KR" sz="6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)(2022~2023)</a:t>
            </a:r>
            <a:endParaRPr lang="ko-KR" altLang="en-US" sz="120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78CCB1-748C-47E8-A8CF-3B0E7E712A7E}"/>
              </a:ext>
            </a:extLst>
          </p:cNvPr>
          <p:cNvSpPr/>
          <p:nvPr/>
        </p:nvSpPr>
        <p:spPr>
          <a:xfrm>
            <a:off x="544765" y="2272956"/>
            <a:ext cx="4074889" cy="4042460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fontAlgn="base" latinLnBrk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5E36954-5A9F-3348-0698-6AB68116120A}"/>
              </a:ext>
            </a:extLst>
          </p:cNvPr>
          <p:cNvSpPr/>
          <p:nvPr/>
        </p:nvSpPr>
        <p:spPr>
          <a:xfrm>
            <a:off x="711409" y="2121524"/>
            <a:ext cx="1428954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도입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- AX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의 필요성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D054E7C-68B0-99A2-EFD6-8F0262CACE25}"/>
              </a:ext>
            </a:extLst>
          </p:cNvPr>
          <p:cNvGrpSpPr/>
          <p:nvPr/>
        </p:nvGrpSpPr>
        <p:grpSpPr>
          <a:xfrm>
            <a:off x="673118" y="5452164"/>
            <a:ext cx="3818182" cy="798258"/>
            <a:chOff x="691453" y="2421896"/>
            <a:chExt cx="2802976" cy="101458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FAB3203F-8EFD-210F-CA1E-B563E9312096}"/>
                </a:ext>
              </a:extLst>
            </p:cNvPr>
            <p:cNvGrpSpPr/>
            <p:nvPr/>
          </p:nvGrpSpPr>
          <p:grpSpPr>
            <a:xfrm>
              <a:off x="691453" y="2643656"/>
              <a:ext cx="2802976" cy="792820"/>
              <a:chOff x="691453" y="2643146"/>
              <a:chExt cx="2802976" cy="672678"/>
            </a:xfrm>
          </p:grpSpPr>
          <p:sp>
            <p:nvSpPr>
              <p:cNvPr id="57" name="사각형: 둥근 모서리 1">
                <a:extLst>
                  <a:ext uri="{FF2B5EF4-FFF2-40B4-BE49-F238E27FC236}">
                    <a16:creationId xmlns:a16="http://schemas.microsoft.com/office/drawing/2014/main" id="{19732CEB-FBEC-7F43-C9DC-1592561C6736}"/>
                  </a:ext>
                </a:extLst>
              </p:cNvPr>
              <p:cNvSpPr/>
              <p:nvPr/>
            </p:nvSpPr>
            <p:spPr>
              <a:xfrm>
                <a:off x="691453" y="2648632"/>
                <a:ext cx="845902" cy="6589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6594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반복 업무는 </a:t>
                </a:r>
                <a:r>
                  <a:rPr lang="en-US" altLang="ko-KR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AI</a:t>
                </a:r>
              </a:p>
              <a:p>
                <a:pPr marL="84138" indent="-84138" latinLnBrk="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사람은 전략적 판단과 의사결정 중심의 역할 수행</a:t>
                </a: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2F7EA0E-278B-9071-0B0C-4C1F6DDF2A8F}"/>
                  </a:ext>
                </a:extLst>
              </p:cNvPr>
              <p:cNvSpPr/>
              <p:nvPr/>
            </p:nvSpPr>
            <p:spPr>
              <a:xfrm>
                <a:off x="1669991" y="2656826"/>
                <a:ext cx="845902" cy="6589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6594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데이터 →</a:t>
                </a:r>
                <a:r>
                  <a:rPr lang="en-US" altLang="ko-KR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인사이트 →</a:t>
                </a:r>
                <a:r>
                  <a:rPr lang="en-US" altLang="ko-KR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실행으로 이어지는 구조를 통해 조직 전반의  혁신 촉진</a:t>
                </a:r>
              </a:p>
            </p:txBody>
          </p:sp>
          <p:sp>
            <p:nvSpPr>
              <p:cNvPr id="59" name="사각형: 둥근 모서리 1">
                <a:extLst>
                  <a:ext uri="{FF2B5EF4-FFF2-40B4-BE49-F238E27FC236}">
                    <a16:creationId xmlns:a16="http://schemas.microsoft.com/office/drawing/2014/main" id="{B997FF65-4DB1-326E-CBDC-16C253DEF3EB}"/>
                  </a:ext>
                </a:extLst>
              </p:cNvPr>
              <p:cNvSpPr/>
              <p:nvPr/>
            </p:nvSpPr>
            <p:spPr>
              <a:xfrm>
                <a:off x="2648527" y="2643146"/>
                <a:ext cx="845902" cy="6726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6594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AI </a:t>
                </a: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도입을 통해 생산성</a:t>
                </a:r>
                <a:r>
                  <a:rPr lang="en-US" altLang="ko-KR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/</a:t>
                </a:r>
                <a:r>
                  <a:rPr lang="ko-KR" altLang="en-US" sz="8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품질 개선하여 기업 경쟁력 확보 및 미래 대응 가능</a:t>
                </a:r>
                <a:endParaRPr lang="en-US" altLang="ko-KR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sp>
          <p:nvSpPr>
            <p:cNvPr id="61" name="사각형: 둥근 모서리 1">
              <a:extLst>
                <a:ext uri="{FF2B5EF4-FFF2-40B4-BE49-F238E27FC236}">
                  <a16:creationId xmlns:a16="http://schemas.microsoft.com/office/drawing/2014/main" id="{D4D81FB2-74F2-03CF-4D1C-E713DD5F05FC}"/>
                </a:ext>
              </a:extLst>
            </p:cNvPr>
            <p:cNvSpPr/>
            <p:nvPr/>
          </p:nvSpPr>
          <p:spPr>
            <a:xfrm>
              <a:off x="691453" y="2421896"/>
              <a:ext cx="845902" cy="257636"/>
            </a:xfrm>
            <a:prstGeom prst="roundRect">
              <a:avLst>
                <a:gd name="adj" fmla="val 0"/>
              </a:avLst>
            </a:prstGeom>
            <a:solidFill>
              <a:srgbClr val="65944D"/>
            </a:solidFill>
            <a:ln w="9525">
              <a:solidFill>
                <a:srgbClr val="6594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20000"/>
                </a:lnSpc>
              </a:pPr>
              <a:r>
                <a:rPr lang="ko-KR" altLang="en-US" sz="900" spc="-5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업무 방식 변화</a:t>
              </a:r>
            </a:p>
          </p:txBody>
        </p:sp>
        <p:sp>
          <p:nvSpPr>
            <p:cNvPr id="62" name="사각형: 둥근 모서리 1">
              <a:extLst>
                <a:ext uri="{FF2B5EF4-FFF2-40B4-BE49-F238E27FC236}">
                  <a16:creationId xmlns:a16="http://schemas.microsoft.com/office/drawing/2014/main" id="{E873BC95-145D-960D-EAD9-F828EE3FC476}"/>
                </a:ext>
              </a:extLst>
            </p:cNvPr>
            <p:cNvSpPr/>
            <p:nvPr/>
          </p:nvSpPr>
          <p:spPr>
            <a:xfrm>
              <a:off x="1669991" y="2421896"/>
              <a:ext cx="845902" cy="257636"/>
            </a:xfrm>
            <a:prstGeom prst="roundRect">
              <a:avLst>
                <a:gd name="adj" fmla="val 0"/>
              </a:avLst>
            </a:prstGeom>
            <a:solidFill>
              <a:srgbClr val="65944D"/>
            </a:solidFill>
            <a:ln w="9525">
              <a:solidFill>
                <a:srgbClr val="6594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20000"/>
                </a:lnSpc>
              </a:pPr>
              <a:r>
                <a:rPr lang="ko-KR" altLang="en-US" sz="900" spc="-5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데이터 기반 혁신</a:t>
              </a:r>
            </a:p>
          </p:txBody>
        </p:sp>
        <p:sp>
          <p:nvSpPr>
            <p:cNvPr id="63" name="사각형: 둥근 모서리 1">
              <a:extLst>
                <a:ext uri="{FF2B5EF4-FFF2-40B4-BE49-F238E27FC236}">
                  <a16:creationId xmlns:a16="http://schemas.microsoft.com/office/drawing/2014/main" id="{2BF0638B-0A72-E9CC-0FE9-DBD0D0F87513}"/>
                </a:ext>
              </a:extLst>
            </p:cNvPr>
            <p:cNvSpPr/>
            <p:nvPr/>
          </p:nvSpPr>
          <p:spPr>
            <a:xfrm>
              <a:off x="2648527" y="2421896"/>
              <a:ext cx="845902" cy="257636"/>
            </a:xfrm>
            <a:prstGeom prst="roundRect">
              <a:avLst>
                <a:gd name="adj" fmla="val 0"/>
              </a:avLst>
            </a:prstGeom>
            <a:solidFill>
              <a:srgbClr val="65944D"/>
            </a:solidFill>
            <a:ln w="9525">
              <a:solidFill>
                <a:srgbClr val="6594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20000"/>
                </a:lnSpc>
              </a:pPr>
              <a:r>
                <a:rPr lang="ko-KR" altLang="en-US" sz="900" spc="-5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조직 경쟁력 확보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C91E27A-2101-1F57-03ED-ECB1D6571373}"/>
              </a:ext>
            </a:extLst>
          </p:cNvPr>
          <p:cNvSpPr txBox="1"/>
          <p:nvPr/>
        </p:nvSpPr>
        <p:spPr>
          <a:xfrm>
            <a:off x="544765" y="2375219"/>
            <a:ext cx="4074888" cy="1505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기술의 빠른 발전과 함께 산업 전반에서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도입이 가속화되며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데이터 기반 의사결정 및 업무 자동화를 통한 생산성 향상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 핵심 경쟁요소로 부상하고 있음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그러나 단순 기술 도입은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무엇을 할 수 있는가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에 머무르며 실질적인 성과 창출에 한계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존재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→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‘어떤 가치를 창출할 것인가’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등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AX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관점에서 업무 프로세스와 의사결정 방식의 전환이 요구됨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다만 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AX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는 전략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조직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기술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데이터 등 복합적 요소가 결합된 전사 차원의 변화 영역이므로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현실적인 출발점은 직무 수행 방식의 변화 대응</a:t>
            </a:r>
            <a:r>
              <a:rPr kumimoji="1" lang="ko-KR" altLang="en-US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으로 볼 수 있음</a:t>
            </a:r>
            <a:r>
              <a:rPr kumimoji="1" lang="en-US" altLang="ko-KR" sz="105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38A8D86-F472-86AB-E121-397B1B1ED030}"/>
              </a:ext>
            </a:extLst>
          </p:cNvPr>
          <p:cNvGrpSpPr/>
          <p:nvPr/>
        </p:nvGrpSpPr>
        <p:grpSpPr>
          <a:xfrm>
            <a:off x="615793" y="3879737"/>
            <a:ext cx="3932833" cy="1573449"/>
            <a:chOff x="654786" y="3818933"/>
            <a:chExt cx="3932833" cy="157344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457580-0E3C-DFA0-8147-ECC4ACB3803D}"/>
                </a:ext>
              </a:extLst>
            </p:cNvPr>
            <p:cNvSpPr txBox="1"/>
            <p:nvPr/>
          </p:nvSpPr>
          <p:spPr>
            <a:xfrm>
              <a:off x="2975250" y="5223105"/>
              <a:ext cx="1612369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출처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:  AI </a:t>
              </a:r>
              <a:r>
                <a:rPr lang="ko-KR" altLang="en-US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활용률 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30% AI </a:t>
              </a:r>
              <a:r>
                <a:rPr lang="ko-KR" altLang="en-US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인프라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부족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500" spc="-5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워크투데이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기업 </a:t>
              </a:r>
              <a:r>
                <a:rPr lang="en-US" altLang="ko-KR" sz="5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)(2024.08) 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2" name="Picture 2" descr="확대이미지">
              <a:extLst>
                <a:ext uri="{FF2B5EF4-FFF2-40B4-BE49-F238E27FC236}">
                  <a16:creationId xmlns:a16="http://schemas.microsoft.com/office/drawing/2014/main" id="{A0E2C0C7-5A3A-AD1F-A837-4631A4864C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69"/>
            <a:stretch>
              <a:fillRect/>
            </a:stretch>
          </p:blipFill>
          <p:spPr bwMode="auto">
            <a:xfrm>
              <a:off x="654786" y="3818933"/>
              <a:ext cx="3854849" cy="1393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707BEE2-A584-A3A7-377D-C90E33AD34D9}"/>
                </a:ext>
              </a:extLst>
            </p:cNvPr>
            <p:cNvSpPr/>
            <p:nvPr/>
          </p:nvSpPr>
          <p:spPr>
            <a:xfrm>
              <a:off x="3509636" y="4549017"/>
              <a:ext cx="617133" cy="426526"/>
            </a:xfrm>
            <a:prstGeom prst="rect">
              <a:avLst/>
            </a:prstGeom>
            <a:noFill/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B6AFCF1-1BF3-6C92-BA51-1C18B688E294}"/>
                </a:ext>
              </a:extLst>
            </p:cNvPr>
            <p:cNvSpPr/>
            <p:nvPr/>
          </p:nvSpPr>
          <p:spPr>
            <a:xfrm>
              <a:off x="930355" y="4050412"/>
              <a:ext cx="1503292" cy="142801"/>
            </a:xfrm>
            <a:prstGeom prst="rect">
              <a:avLst/>
            </a:prstGeom>
            <a:noFill/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186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F40F-5CFA-D7D4-0813-A2F30C6A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1">
            <a:extLst>
              <a:ext uri="{FF2B5EF4-FFF2-40B4-BE49-F238E27FC236}">
                <a16:creationId xmlns:a16="http://schemas.microsoft.com/office/drawing/2014/main" id="{0A65F08E-6FEA-0166-D0D0-9D904DCAD1CC}"/>
              </a:ext>
            </a:extLst>
          </p:cNvPr>
          <p:cNvSpPr>
            <a:spLocks/>
          </p:cNvSpPr>
          <p:nvPr/>
        </p:nvSpPr>
        <p:spPr bwMode="auto">
          <a:xfrm rot="16200000">
            <a:off x="4681873" y="-2042393"/>
            <a:ext cx="554734" cy="9204539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7D2886-0E69-AE37-57D0-CA011292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8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748BCA-F217-B4BF-62E6-9EE054EA797C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개요 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목적 및 내용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BD16BCCF-0629-F47C-58DF-9C93A31515C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제안 배경에 따른 제안 목적과 이를 달성하기 위한 핵심 과제 및 과업 범위는 다음과 같음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8" name="직사각형 104">
            <a:extLst>
              <a:ext uri="{FF2B5EF4-FFF2-40B4-BE49-F238E27FC236}">
                <a16:creationId xmlns:a16="http://schemas.microsoft.com/office/drawing/2014/main" id="{D3DF1511-0D5D-7616-B272-5C009D734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2857877"/>
            <a:ext cx="2005200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핵심 과제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0" name="직사각형 104">
            <a:extLst>
              <a:ext uri="{FF2B5EF4-FFF2-40B4-BE49-F238E27FC236}">
                <a16:creationId xmlns:a16="http://schemas.microsoft.com/office/drawing/2014/main" id="{4F7E4F94-7437-7BC3-A885-AABB51DB7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643" y="2857877"/>
            <a:ext cx="2050868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세부 목표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2" name="직사각형 104">
            <a:extLst>
              <a:ext uri="{FF2B5EF4-FFF2-40B4-BE49-F238E27FC236}">
                <a16:creationId xmlns:a16="http://schemas.microsoft.com/office/drawing/2014/main" id="{2A12D7E1-0F4A-217C-DA92-37CBEA14C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3173945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① 기존 </a:t>
            </a: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분석 및 친환경 </a:t>
            </a: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바이오화학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직무역량 모델링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3" name="직사각형 104">
            <a:extLst>
              <a:ext uri="{FF2B5EF4-FFF2-40B4-BE49-F238E27FC236}">
                <a16:creationId xmlns:a16="http://schemas.microsoft.com/office/drawing/2014/main" id="{246178B4-332F-7C1F-7605-727DE7B7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4281931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② 차세대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(‘26~‘30) </a:t>
            </a:r>
          </a:p>
          <a:p>
            <a:pPr algn="ctr" latinLnBrk="0">
              <a:lnSpc>
                <a:spcPct val="120000"/>
              </a:lnSpc>
            </a:pP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반영 </a:t>
            </a: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재수립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및 체계화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4" name="직사각형 104">
            <a:extLst>
              <a:ext uri="{FF2B5EF4-FFF2-40B4-BE49-F238E27FC236}">
                <a16:creationId xmlns:a16="http://schemas.microsoft.com/office/drawing/2014/main" id="{0E1EB49F-C55A-DC73-F12E-DB1DC1F81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6" y="5389918"/>
            <a:ext cx="2005200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54000" rIns="54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③ 직무 맞춤형 </a:t>
            </a:r>
            <a:r>
              <a:rPr lang="en-US" altLang="ko-KR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교육과정 개발 및 상세 커리큘럼 설계</a:t>
            </a:r>
            <a:endParaRPr lang="en-US" altLang="ko-KR" sz="14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8" name="직사각형 104">
            <a:extLst>
              <a:ext uri="{FF2B5EF4-FFF2-40B4-BE49-F238E27FC236}">
                <a16:creationId xmlns:a16="http://schemas.microsoft.com/office/drawing/2014/main" id="{2E1E0691-5078-508A-0E88-EA32D1CC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644" y="3173945"/>
            <a:ext cx="205086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72000" rIns="72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200" spc="-50" dirty="0" err="1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재정립의 </a:t>
            </a:r>
            <a:endParaRPr lang="en-US" altLang="ko-KR" sz="12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>
              <a:lnSpc>
                <a:spcPct val="120000"/>
              </a:lnSpc>
            </a:pP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근거 및 기준 마련</a:t>
            </a:r>
            <a:endParaRPr lang="en-US" altLang="ko-KR" sz="12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9" name="직사각형 104">
            <a:extLst>
              <a:ext uri="{FF2B5EF4-FFF2-40B4-BE49-F238E27FC236}">
                <a16:creationId xmlns:a16="http://schemas.microsoft.com/office/drawing/2014/main" id="{8F8C628E-F81F-4FA1-7780-485377576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644" y="4300244"/>
            <a:ext cx="205086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72000" rIns="72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중장기 발전 전략에 부합하는 </a:t>
            </a: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5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개년도 </a:t>
            </a: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융합 교육 계획 수립</a:t>
            </a:r>
            <a:endParaRPr lang="en-US" altLang="ko-KR" sz="12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9" name="직사각형 104">
            <a:extLst>
              <a:ext uri="{FF2B5EF4-FFF2-40B4-BE49-F238E27FC236}">
                <a16:creationId xmlns:a16="http://schemas.microsoft.com/office/drawing/2014/main" id="{BFD8499A-8B64-1F33-5940-02AF4C86C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4" y="2857877"/>
            <a:ext cx="4937248" cy="276999"/>
          </a:xfrm>
          <a:prstGeom prst="rect">
            <a:avLst/>
          </a:prstGeom>
          <a:solidFill>
            <a:srgbClr val="344532"/>
          </a:solidFill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/>
            <a:r>
              <a:rPr lang="ko-KR" altLang="en-US" sz="1200" spc="-5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수행 과업</a:t>
            </a:r>
            <a:endParaRPr lang="en-US" altLang="ko-KR" sz="12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5" name="직사각형 104">
            <a:extLst>
              <a:ext uri="{FF2B5EF4-FFF2-40B4-BE49-F238E27FC236}">
                <a16:creationId xmlns:a16="http://schemas.microsoft.com/office/drawing/2014/main" id="{EDB7C3AB-F7F4-284E-8DFE-A7E6AA6AC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4" y="3173945"/>
            <a:ext cx="493724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현행 교육체계와 협약기업 직무현황 분석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직무별 요구되는 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핵심역량과 </a:t>
            </a:r>
            <a:r>
              <a:rPr lang="ko-KR" altLang="en-US" sz="1200" spc="-50" dirty="0" err="1">
                <a:latin typeface="페이퍼로지 4 Regular" pitchFamily="2" charset="-127"/>
                <a:ea typeface="페이퍼로지 4 Regular" pitchFamily="2" charset="-127"/>
              </a:rPr>
              <a:t>스킬셋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도출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도입 시급성에 따른 개발 우선순위 선정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2" name="직사각형 104">
            <a:extLst>
              <a:ext uri="{FF2B5EF4-FFF2-40B4-BE49-F238E27FC236}">
                <a16:creationId xmlns:a16="http://schemas.microsoft.com/office/drawing/2014/main" id="{F9BB613D-CC68-FCF6-0765-2EB68C255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645" y="5389918"/>
            <a:ext cx="205086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72000" rIns="72000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latinLnBrk="0">
              <a:lnSpc>
                <a:spcPct val="120000"/>
              </a:lnSpc>
            </a:pP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단기</a:t>
            </a: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및 중장기적 </a:t>
            </a:r>
            <a:r>
              <a:rPr lang="en-US" altLang="ko-KR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200" spc="-50" dirty="0">
                <a:solidFill>
                  <a:srgbClr val="344532"/>
                </a:solidFill>
                <a:latin typeface="페이퍼로지 6 SemiBold" pitchFamily="2" charset="-127"/>
                <a:ea typeface="페이퍼로지 6 SemiBold" pitchFamily="2" charset="-127"/>
              </a:rPr>
              <a:t>교육과정 콘텐츠 설계</a:t>
            </a:r>
            <a:endParaRPr lang="en-US" altLang="ko-KR" sz="1200" spc="-50" dirty="0">
              <a:solidFill>
                <a:srgbClr val="34453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6" name="직사각형 104">
            <a:extLst>
              <a:ext uri="{FF2B5EF4-FFF2-40B4-BE49-F238E27FC236}">
                <a16:creationId xmlns:a16="http://schemas.microsoft.com/office/drawing/2014/main" id="{F1A2C899-780B-5EDC-64F5-850DAC30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5" y="4300244"/>
            <a:ext cx="493724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친환경 </a:t>
            </a:r>
            <a:r>
              <a:rPr lang="ko-KR" altLang="en-US" sz="1200" spc="-50" dirty="0" err="1"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산업의 저탄소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디지털 전환 흐름을 반영하여 기존 교육체계 개편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개년도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(’26~’30)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단계별 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융합 마스터플랜 수립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직무별 경력단계 및 산업전환 단계별 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협약기업 맞춤형 </a:t>
            </a:r>
            <a:r>
              <a:rPr lang="ko-KR" altLang="en-US" sz="12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 재설계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직사각형 104">
            <a:extLst>
              <a:ext uri="{FF2B5EF4-FFF2-40B4-BE49-F238E27FC236}">
                <a16:creationId xmlns:a16="http://schemas.microsoft.com/office/drawing/2014/main" id="{822746A4-AE3F-BD59-9D6A-802283F3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715" y="5389918"/>
            <a:ext cx="4937248" cy="1019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anchor="ctr">
            <a:no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기존 교육과정 개편 방향 설계 및 내용 고도화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44000" indent="-144000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신규 </a:t>
            </a:r>
            <a:r>
              <a:rPr lang="en-US" altLang="ko-KR" sz="12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200" spc="-50" dirty="0">
                <a:latin typeface="페이퍼로지 4 Regular" pitchFamily="2" charset="-127"/>
                <a:ea typeface="페이퍼로지 4 Regular" pitchFamily="2" charset="-127"/>
              </a:rPr>
              <a:t>교육 콘텐츠 기획</a:t>
            </a:r>
            <a:endParaRPr lang="en-US" altLang="ko-KR" sz="12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4ED75-24BF-FE2A-693A-AFE12339EE52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E14530-CD4E-6831-A796-A372D2670711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F1DB6CF3-5BA4-82C6-C398-7293207B14DD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5C888B-8235-D7E4-8DA8-BE4CB6B14BDC}"/>
                </a:ext>
              </a:extLst>
            </p:cNvPr>
            <p:cNvSpPr txBox="1"/>
            <p:nvPr/>
          </p:nvSpPr>
          <p:spPr>
            <a:xfrm>
              <a:off x="433220" y="300781"/>
              <a:ext cx="882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목적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B5E982-703D-755A-DE52-32CFD24099E6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제안 목적 및 내용</a:t>
            </a:r>
          </a:p>
        </p:txBody>
      </p:sp>
      <p:sp>
        <p:nvSpPr>
          <p:cNvPr id="16" name="직사각형 104">
            <a:extLst>
              <a:ext uri="{FF2B5EF4-FFF2-40B4-BE49-F238E27FC236}">
                <a16:creationId xmlns:a16="http://schemas.microsoft.com/office/drawing/2014/main" id="{352C5050-F834-5852-D17B-C41823A76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5" y="1527894"/>
            <a:ext cx="9217027" cy="98132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lvl="1" algn="ctr">
              <a:lnSpc>
                <a:spcPct val="120000"/>
              </a:lnSpc>
            </a:pPr>
            <a:r>
              <a:rPr lang="en-US" altLang="ko-KR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KTR </a:t>
            </a:r>
            <a:r>
              <a:rPr lang="ko-KR" altLang="en-US" spc="-50" dirty="0" err="1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교육로드맵에</a:t>
            </a:r>
            <a:r>
              <a:rPr lang="ko-KR" altLang="en-US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기술을 체계적으로 이식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하여</a:t>
            </a:r>
            <a:r>
              <a:rPr lang="en-US" altLang="ko-KR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</a:p>
          <a:p>
            <a:pPr marL="0" lvl="1" algn="ctr">
              <a:lnSpc>
                <a:spcPct val="120000"/>
              </a:lnSpc>
            </a:pP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협약기업의 친환경</a:t>
            </a:r>
            <a:r>
              <a:rPr lang="en-US" altLang="ko-KR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및 </a:t>
            </a:r>
            <a:r>
              <a:rPr lang="en-US" altLang="ko-KR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rPr>
              <a:t>전환 대응력을 극대화하는 </a:t>
            </a:r>
            <a:r>
              <a:rPr lang="ko-KR" altLang="en-US" spc="-50" dirty="0">
                <a:solidFill>
                  <a:srgbClr val="FF6600"/>
                </a:solidFill>
                <a:latin typeface="페이퍼로지 7 Bold" pitchFamily="2" charset="-127"/>
                <a:ea typeface="페이퍼로지 7 Bold" pitchFamily="2" charset="-127"/>
              </a:rPr>
              <a:t>차세대 산업전환 교육 표준 모델 구축</a:t>
            </a:r>
            <a:endParaRPr lang="en-US" altLang="ko-KR" spc="-50" dirty="0">
              <a:solidFill>
                <a:srgbClr val="FF66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F80A68-4139-B4AA-D8A0-EE8F7EC04134}"/>
              </a:ext>
            </a:extLst>
          </p:cNvPr>
          <p:cNvSpPr txBox="1"/>
          <p:nvPr/>
        </p:nvSpPr>
        <p:spPr>
          <a:xfrm>
            <a:off x="1053685" y="1372771"/>
            <a:ext cx="34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600" b="0" i="0" u="none" strike="noStrike" kern="1200" cap="none" spc="-5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고딕17" panose="02020600000000000000" pitchFamily="18" charset="-127"/>
                <a:ea typeface="a고딕17" panose="02020600000000000000" pitchFamily="18" charset="-127"/>
              </a:rPr>
              <a:t>“</a:t>
            </a:r>
            <a:endParaRPr lang="ko-KR" altLang="en-US" sz="3200" spc="-50" dirty="0">
              <a:solidFill>
                <a:srgbClr val="FF66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A108F-7135-81A5-8AA4-3B35DF849EED}"/>
              </a:ext>
            </a:extLst>
          </p:cNvPr>
          <p:cNvSpPr txBox="1"/>
          <p:nvPr/>
        </p:nvSpPr>
        <p:spPr>
          <a:xfrm>
            <a:off x="8481156" y="2349201"/>
            <a:ext cx="34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3600" b="0" i="0" u="none" strike="noStrike" kern="1200" cap="none" spc="-5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고딕17" panose="02020600000000000000" pitchFamily="18" charset="-127"/>
                <a:ea typeface="a고딕17" panose="02020600000000000000" pitchFamily="18" charset="-127"/>
              </a:rPr>
              <a:t>”</a:t>
            </a:r>
            <a:endParaRPr lang="ko-KR" altLang="en-US" sz="3200" spc="-5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49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F196-429F-7D78-01B8-0E9D04DD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BD959A-DE85-05EE-6B99-EDA97902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9" y="6500150"/>
            <a:ext cx="440967" cy="365125"/>
          </a:xfrm>
        </p:spPr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9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135" name="텍스트 개체 틀 1">
            <a:extLst>
              <a:ext uri="{FF2B5EF4-FFF2-40B4-BE49-F238E27FC236}">
                <a16:creationId xmlns:a16="http://schemas.microsoft.com/office/drawing/2014/main" id="{A29BD5C7-CCF2-2BE5-2300-C34B6CF4529E}"/>
              </a:ext>
            </a:extLst>
          </p:cNvPr>
          <p:cNvSpPr txBox="1">
            <a:spLocks/>
          </p:cNvSpPr>
          <p:nvPr/>
        </p:nvSpPr>
        <p:spPr>
          <a:xfrm>
            <a:off x="344487" y="843883"/>
            <a:ext cx="9217026" cy="576262"/>
          </a:xfrm>
          <a:prstGeom prst="rect">
            <a:avLst/>
          </a:prstGeom>
        </p:spPr>
        <p:txBody>
          <a:bodyPr vert="horz" lIns="72000" tIns="45720" rIns="72000" bIns="45720" rtlCol="0" anchor="t"/>
          <a:lstStyle>
            <a:defPPr>
              <a:defRPr lang="en-US"/>
            </a:defPPr>
            <a:lvl1pPr>
              <a:defRPr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latin typeface="페이퍼로지 4 Regular" pitchFamily="2" charset="-127"/>
                <a:ea typeface="페이퍼로지 4 Regular" pitchFamily="2" charset="-127"/>
              </a:rPr>
              <a:t>본 용역을 성공적으로 추진하기 위해</a:t>
            </a:r>
            <a:r>
              <a:rPr lang="en-US" altLang="ko-KR" sz="17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700" dirty="0">
                <a:latin typeface="페이퍼로지 4 Regular" pitchFamily="2" charset="-127"/>
                <a:ea typeface="페이퍼로지 4 Regular" pitchFamily="2" charset="-127"/>
              </a:rPr>
              <a:t> 다음과 같이 사업의 특징을 분석하고 제안기관의 </a:t>
            </a:r>
            <a:r>
              <a:rPr lang="ko-KR" altLang="en-US" sz="1700" dirty="0" err="1">
                <a:latin typeface="페이퍼로지 4 Regular" pitchFamily="2" charset="-127"/>
                <a:ea typeface="페이퍼로지 4 Regular" pitchFamily="2" charset="-127"/>
              </a:rPr>
              <a:t>특</a:t>
            </a:r>
            <a:r>
              <a:rPr lang="en-US" altLang="ko-KR" sz="1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dirty="0">
                <a:latin typeface="페이퍼로지 4 Regular" pitchFamily="2" charset="-127"/>
                <a:ea typeface="페이퍼로지 4 Regular" pitchFamily="2" charset="-127"/>
              </a:rPr>
              <a:t>장점은 다음과 같음</a:t>
            </a:r>
            <a:r>
              <a:rPr lang="en-US" altLang="ko-KR" sz="17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23114A-2EFE-E96F-A5B0-E661F2122B1A}"/>
              </a:ext>
            </a:extLst>
          </p:cNvPr>
          <p:cNvSpPr/>
          <p:nvPr/>
        </p:nvSpPr>
        <p:spPr>
          <a:xfrm>
            <a:off x="1513166" y="26109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defRPr/>
            </a:pP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사업의 특징과 핵심 이슈별 주요 접근 전략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D75D94DE-6819-48F1-2645-FB51132B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73329"/>
              </p:ext>
            </p:extLst>
          </p:nvPr>
        </p:nvGraphicFramePr>
        <p:xfrm>
          <a:off x="350247" y="2202614"/>
          <a:ext cx="4458351" cy="1385482"/>
        </p:xfrm>
        <a:graphic>
          <a:graphicData uri="http://schemas.openxmlformats.org/drawingml/2006/table">
            <a:tbl>
              <a:tblPr/>
              <a:tblGrid>
                <a:gridCol w="4458351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3854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산업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KTR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협약기업 및 교육과정 현황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AI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관련 동향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 대한 종합 조사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분석을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통해 유의미한 시사점 도출이 가능한 전문인력 필요</a:t>
                      </a:r>
                      <a:endParaRPr lang="en-US" altLang="ko-KR" sz="1200" b="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2D99032-8C65-CBEF-A9A3-CF4A9678E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37839"/>
              </p:ext>
            </p:extLst>
          </p:nvPr>
        </p:nvGraphicFramePr>
        <p:xfrm>
          <a:off x="350248" y="5132098"/>
          <a:ext cx="4458290" cy="1284577"/>
        </p:xfrm>
        <a:graphic>
          <a:graphicData uri="http://schemas.openxmlformats.org/drawingml/2006/table">
            <a:tbl>
              <a:tblPr/>
              <a:tblGrid>
                <a:gridCol w="4458290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2845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개년도 마스터플랜의 체계적 운영을 위해 산업전환 공동훈련센터의 중장기 운영 방향 설정이 요구되며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협약기업의 훈련과정 개발 결과물 반영 등 유관 사업과의 연계를 통한 교육체계 고도화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필요</a:t>
                      </a:r>
                      <a:endParaRPr lang="ko-KR" altLang="en-US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395D2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712347B5-01F9-FB81-EBBA-869B3D7FD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15327"/>
              </p:ext>
            </p:extLst>
          </p:nvPr>
        </p:nvGraphicFramePr>
        <p:xfrm>
          <a:off x="350248" y="3628725"/>
          <a:ext cx="4458350" cy="1462744"/>
        </p:xfrm>
        <a:graphic>
          <a:graphicData uri="http://schemas.openxmlformats.org/drawingml/2006/table">
            <a:tbl>
              <a:tblPr/>
              <a:tblGrid>
                <a:gridCol w="4458350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627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협약기업의 직무 및 산업 특성을 반영한 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교육체계 설계를 위해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비정형화된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다양한 교육 요구 및 수요를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395D2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체계적으로 구체화할 수 있는 역량 필요</a:t>
                      </a:r>
                      <a:endParaRPr lang="ko-KR" altLang="en-US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395D2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BA2E9CD0-9DB2-E21C-ED86-9893823C8FED}"/>
              </a:ext>
            </a:extLst>
          </p:cNvPr>
          <p:cNvSpPr/>
          <p:nvPr/>
        </p:nvSpPr>
        <p:spPr>
          <a:xfrm>
            <a:off x="350248" y="1881188"/>
            <a:ext cx="4458352" cy="280797"/>
          </a:xfrm>
          <a:prstGeom prst="rect">
            <a:avLst/>
          </a:prstGeom>
          <a:solidFill>
            <a:srgbClr val="395D2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  <a:buSzPct val="80000"/>
            </a:pPr>
            <a:r>
              <a:rPr kumimoji="1"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사업의 특징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1C6884B-A289-AA76-978B-388DE231259B}"/>
              </a:ext>
            </a:extLst>
          </p:cNvPr>
          <p:cNvSpPr/>
          <p:nvPr/>
        </p:nvSpPr>
        <p:spPr>
          <a:xfrm>
            <a:off x="5097401" y="1881188"/>
            <a:ext cx="4464111" cy="280797"/>
          </a:xfrm>
          <a:prstGeom prst="rect">
            <a:avLst/>
          </a:prstGeom>
          <a:solidFill>
            <a:schemeClr val="accent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  <a:buSzPct val="80000"/>
            </a:pPr>
            <a:r>
              <a:rPr kumimoji="1"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제안기관 </a:t>
            </a:r>
            <a:r>
              <a:rPr kumimoji="1" lang="ko-KR" altLang="en-US" sz="14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특</a:t>
            </a:r>
            <a:r>
              <a:rPr kumimoji="1" lang="en-US" altLang="ko-KR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kumimoji="1" lang="ko-KR" altLang="en-US" sz="14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장점</a:t>
            </a: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EA2A80B1-A04E-FD48-1902-E419BF29A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26542"/>
              </p:ext>
            </p:extLst>
          </p:nvPr>
        </p:nvGraphicFramePr>
        <p:xfrm>
          <a:off x="5097402" y="2202614"/>
          <a:ext cx="4464111" cy="1385482"/>
        </p:xfrm>
        <a:graphic>
          <a:graphicData uri="http://schemas.openxmlformats.org/drawingml/2006/table">
            <a:tbl>
              <a:tblPr/>
              <a:tblGrid>
                <a:gridCol w="4464111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3854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KTR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용역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 연속 수행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을 통해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산업 및 협약기업에 대한 높은 이해도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보유</a:t>
                      </a:r>
                      <a:endParaRPr lang="en-US" altLang="ko-KR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또한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한국산업인력공단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‘AX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진단 컨설팅 도구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*’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경험을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기반으로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AI, AX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에 대한 이해를 보유한 인력을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PM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연구원으로 투입 </a:t>
                      </a:r>
                      <a:endParaRPr lang="en-US" altLang="ko-KR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82563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*)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한국산업인력공단 「컨소시엄 공동훈련 참여기업 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AX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진단 컨설팅 도구 개발」 용역 수행 중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0FC2FB0C-7BEB-0A98-73AC-6B43140F6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148606"/>
              </p:ext>
            </p:extLst>
          </p:nvPr>
        </p:nvGraphicFramePr>
        <p:xfrm>
          <a:off x="5097402" y="3628725"/>
          <a:ext cx="4464111" cy="1462744"/>
        </p:xfrm>
        <a:graphic>
          <a:graphicData uri="http://schemas.openxmlformats.org/drawingml/2006/table">
            <a:tbl>
              <a:tblPr/>
              <a:tblGrid>
                <a:gridCol w="4464111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627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다양한 산업의 직무분석</a:t>
                      </a:r>
                      <a:r>
                        <a:rPr kumimoji="0" lang="en-US" altLang="ko-KR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수요조사를 통한 교육체계 설계 경험 풍부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산업</a:t>
                      </a:r>
                      <a:r>
                        <a:rPr lang="en-US" altLang="ko-KR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*</a:t>
                      </a: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 스마트</a:t>
                      </a:r>
                      <a:r>
                        <a:rPr lang="en-US" altLang="ko-KR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분야</a:t>
                      </a:r>
                      <a:r>
                        <a:rPr lang="en-US" altLang="ko-KR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**</a:t>
                      </a: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전문가 </a:t>
                      </a:r>
                      <a:r>
                        <a:rPr lang="en-US" altLang="ko-KR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Pool</a:t>
                      </a:r>
                      <a:r>
                        <a:rPr lang="ko-KR" altLang="en-US" sz="12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을 확보</a:t>
                      </a:r>
                      <a:r>
                        <a:rPr kumimoji="0" lang="ko-KR" altLang="en-US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하고 있어</a:t>
                      </a:r>
                      <a:r>
                        <a:rPr kumimoji="0" lang="en-US" altLang="ko-KR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2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전문성을 반영한 교육과정 설계와 현장 적합성 검증 가능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82563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*) (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</a:t>
                      </a:r>
                      <a:r>
                        <a:rPr kumimoji="0" lang="ko-KR" altLang="en-US" sz="800" b="0" i="0" u="none" strike="noStrike" kern="0" cap="none" spc="-50" normalizeH="0" baseline="0" noProof="0" dirty="0" err="1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산업 전문가 분야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공학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고분자 공학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3D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프린터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섬유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 err="1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유공압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장비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금형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ESG,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환경평가 등</a:t>
                      </a:r>
                      <a:endParaRPr kumimoji="0" lang="en-US" altLang="ko-KR" sz="800" b="0" i="0" u="none" strike="noStrike" kern="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82563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**) (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스마트 분야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S/W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PLM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제조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50" normalizeH="0" baseline="0" noProof="0" dirty="0" err="1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디지털트윈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스마트시티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AI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기술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모델링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플랫폼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&amp;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인프라</a:t>
                      </a:r>
                      <a:r>
                        <a:rPr kumimoji="0" lang="en-US" altLang="ko-KR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서비스</a:t>
                      </a:r>
                      <a:r>
                        <a:rPr kumimoji="0" lang="en-US" altLang="ko-KR" sz="800" b="0" i="0" u="none" strike="noStrike" kern="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endParaRPr kumimoji="0" lang="en-US" altLang="ko-KR" sz="800" b="0" i="0" u="none" strike="noStrike" kern="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08722ABF-4526-0437-B4C8-882B4B8D0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38992"/>
              </p:ext>
            </p:extLst>
          </p:nvPr>
        </p:nvGraphicFramePr>
        <p:xfrm>
          <a:off x="5097402" y="5132099"/>
          <a:ext cx="4464111" cy="1284576"/>
        </p:xfrm>
        <a:graphic>
          <a:graphicData uri="http://schemas.openxmlformats.org/drawingml/2006/table">
            <a:tbl>
              <a:tblPr/>
              <a:tblGrid>
                <a:gridCol w="4464111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2845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 수행한 ‘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분석 기반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구축’ 결과와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DB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교육로드맵의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연속성과 고도화 추진</a:t>
                      </a:r>
                      <a:endParaRPr lang="en-US" altLang="ko-KR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FF66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또한 ‘산업전환 컨설팅’ 사업과의 연계를 통해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분석 결과의 정합성을 확보하고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교육로드맵의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완성도 제고</a:t>
                      </a:r>
                      <a:endParaRPr lang="en-US" altLang="ko-KR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FF66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982ED8F6-04B6-C4F2-CE76-4521417807C7}"/>
              </a:ext>
            </a:extLst>
          </p:cNvPr>
          <p:cNvGrpSpPr/>
          <p:nvPr/>
        </p:nvGrpSpPr>
        <p:grpSpPr>
          <a:xfrm>
            <a:off x="339695" y="-7270"/>
            <a:ext cx="1063793" cy="735932"/>
            <a:chOff x="339695" y="-7270"/>
            <a:chExt cx="1063793" cy="735932"/>
          </a:xfrm>
          <a:solidFill>
            <a:srgbClr val="344532"/>
          </a:solidFill>
        </p:grpSpPr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B3A637FA-0709-D2E2-18BF-79335F2F73BC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DB743B-1D2C-C9C1-E12F-F8E7BF9E78CD}"/>
                </a:ext>
              </a:extLst>
            </p:cNvPr>
            <p:cNvSpPr txBox="1"/>
            <p:nvPr/>
          </p:nvSpPr>
          <p:spPr>
            <a:xfrm>
              <a:off x="339695" y="322993"/>
              <a:ext cx="105853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특장점</a:t>
              </a: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2BE6013-F66D-E12E-1167-130DEDA70475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개요 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indent="0" algn="r">
              <a:buNone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제안 특징 및 사업 접근 전략</a:t>
            </a:r>
          </a:p>
        </p:txBody>
      </p:sp>
    </p:spTree>
    <p:extLst>
      <p:ext uri="{BB962C8B-B14F-4D97-AF65-F5344CB8AC3E}">
        <p14:creationId xmlns:p14="http://schemas.microsoft.com/office/powerpoint/2010/main" val="3154395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82F51-5BEF-45BB-F402-4A48D11B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1">
            <a:extLst>
              <a:ext uri="{FF2B5EF4-FFF2-40B4-BE49-F238E27FC236}">
                <a16:creationId xmlns:a16="http://schemas.microsoft.com/office/drawing/2014/main" id="{7224A161-723A-37C0-52DD-61884DA3D13E}"/>
              </a:ext>
            </a:extLst>
          </p:cNvPr>
          <p:cNvSpPr>
            <a:spLocks/>
          </p:cNvSpPr>
          <p:nvPr/>
        </p:nvSpPr>
        <p:spPr bwMode="auto">
          <a:xfrm>
            <a:off x="4831552" y="1975059"/>
            <a:ext cx="2314212" cy="4421015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  <a:gd name="csX0" fmla="*/ 0 w 10000"/>
              <a:gd name="csY0" fmla="*/ 0 h 10479"/>
              <a:gd name="csX1" fmla="*/ 0 w 10000"/>
              <a:gd name="csY1" fmla="*/ 10479 h 10479"/>
              <a:gd name="csX2" fmla="*/ 10000 w 10000"/>
              <a:gd name="csY2" fmla="*/ 8979 h 10479"/>
              <a:gd name="csX3" fmla="*/ 10000 w 10000"/>
              <a:gd name="csY3" fmla="*/ 1021 h 10479"/>
              <a:gd name="csX4" fmla="*/ 0 w 10000"/>
              <a:gd name="csY4" fmla="*/ 0 h 10479"/>
              <a:gd name="csX0" fmla="*/ 0 w 10000"/>
              <a:gd name="csY0" fmla="*/ 0 h 10853"/>
              <a:gd name="csX1" fmla="*/ 0 w 10000"/>
              <a:gd name="csY1" fmla="*/ 10853 h 10853"/>
              <a:gd name="csX2" fmla="*/ 10000 w 10000"/>
              <a:gd name="csY2" fmla="*/ 9353 h 10853"/>
              <a:gd name="csX3" fmla="*/ 10000 w 10000"/>
              <a:gd name="csY3" fmla="*/ 1395 h 10853"/>
              <a:gd name="csX4" fmla="*/ 0 w 10000"/>
              <a:gd name="csY4" fmla="*/ 0 h 10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0" h="10853">
                <a:moveTo>
                  <a:pt x="0" y="0"/>
                </a:moveTo>
                <a:lnTo>
                  <a:pt x="0" y="10853"/>
                </a:lnTo>
                <a:cubicBezTo>
                  <a:pt x="0" y="10853"/>
                  <a:pt x="2327" y="9712"/>
                  <a:pt x="10000" y="9353"/>
                </a:cubicBezTo>
                <a:lnTo>
                  <a:pt x="10000" y="1395"/>
                </a:lnTo>
                <a:cubicBezTo>
                  <a:pt x="2000" y="1054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4B886F-4826-A8E5-1C2D-55B87829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10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06FF85-E776-3FF7-229B-FD7E414424BA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개요 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indent="0" algn="r">
              <a:buNone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제안 특징 및 사업 접근 전략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7253CD8F-9B4A-39A5-9682-49FD2F8152E6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72000" tIns="45720" rIns="7200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25</a:t>
            </a:r>
            <a:r>
              <a:rPr lang="ko-KR" altLang="en-US" dirty="0"/>
              <a:t>년 </a:t>
            </a:r>
            <a:r>
              <a:rPr lang="en-US" altLang="ko-KR" dirty="0"/>
              <a:t>KTR </a:t>
            </a:r>
            <a:r>
              <a:rPr lang="ko-KR" altLang="en-US" dirty="0" err="1"/>
              <a:t>교육로드맵</a:t>
            </a:r>
            <a:r>
              <a:rPr lang="ko-KR" altLang="en-US" dirty="0"/>
              <a:t> 구축 결과를 기반으로</a:t>
            </a:r>
            <a:r>
              <a:rPr lang="en-US" altLang="ko-KR" dirty="0"/>
              <a:t>, </a:t>
            </a:r>
            <a:r>
              <a:rPr lang="ko-KR" altLang="en-US" dirty="0"/>
              <a:t>협약기업 특성과 </a:t>
            </a:r>
            <a:r>
              <a:rPr lang="en-US" altLang="ko-KR" dirty="0"/>
              <a:t>AI </a:t>
            </a:r>
            <a:r>
              <a:rPr lang="ko-KR" altLang="en-US" dirty="0"/>
              <a:t>수요를 반영한 단계별 교육과정 설계를 위해 고려해야 할 핵심 요소를 도출함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372FFC-F988-5FF0-9EC0-57AD3CCAE3E0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25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년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체계 구축 결과 및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26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년 고도화 방향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E9E8263-B744-AF3A-0412-E999664F7C9B}"/>
              </a:ext>
            </a:extLst>
          </p:cNvPr>
          <p:cNvCxnSpPr>
            <a:cxnSpLocks/>
          </p:cNvCxnSpPr>
          <p:nvPr/>
        </p:nvCxnSpPr>
        <p:spPr>
          <a:xfrm>
            <a:off x="344488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1">
            <a:extLst>
              <a:ext uri="{FF2B5EF4-FFF2-40B4-BE49-F238E27FC236}">
                <a16:creationId xmlns:a16="http://schemas.microsoft.com/office/drawing/2014/main" id="{23791D47-F4F2-B141-B698-F37F03521340}"/>
              </a:ext>
            </a:extLst>
          </p:cNvPr>
          <p:cNvSpPr txBox="1">
            <a:spLocks/>
          </p:cNvSpPr>
          <p:nvPr/>
        </p:nvSpPr>
        <p:spPr>
          <a:xfrm>
            <a:off x="344487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25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년 사업 주요 결과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56FE44F-6178-D3A3-A29B-AB09577B54EA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8DB554A-A1D3-BBF8-FFB1-198576746ECC}"/>
              </a:ext>
            </a:extLst>
          </p:cNvPr>
          <p:cNvCxnSpPr>
            <a:cxnSpLocks/>
          </p:cNvCxnSpPr>
          <p:nvPr/>
        </p:nvCxnSpPr>
        <p:spPr>
          <a:xfrm>
            <a:off x="5097463" y="1875394"/>
            <a:ext cx="4464051" cy="5795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텍스트 개체 틀 1">
            <a:extLst>
              <a:ext uri="{FF2B5EF4-FFF2-40B4-BE49-F238E27FC236}">
                <a16:creationId xmlns:a16="http://schemas.microsoft.com/office/drawing/2014/main" id="{3E104B3F-5038-AD2E-3F93-AD58265DBBD0}"/>
              </a:ext>
            </a:extLst>
          </p:cNvPr>
          <p:cNvSpPr txBox="1">
            <a:spLocks/>
          </p:cNvSpPr>
          <p:nvPr/>
        </p:nvSpPr>
        <p:spPr>
          <a:xfrm>
            <a:off x="5097462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26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년 사업 주요 고려사항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B730506-826E-CED6-7333-9C4A2F972AFC}"/>
              </a:ext>
            </a:extLst>
          </p:cNvPr>
          <p:cNvGrpSpPr/>
          <p:nvPr/>
        </p:nvGrpSpPr>
        <p:grpSpPr>
          <a:xfrm>
            <a:off x="7214154" y="1974689"/>
            <a:ext cx="2347359" cy="4308875"/>
            <a:chOff x="5097461" y="1974689"/>
            <a:chExt cx="2347359" cy="430887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A81F6C3-85B1-242C-809E-04A0A5E53011}"/>
                </a:ext>
              </a:extLst>
            </p:cNvPr>
            <p:cNvSpPr txBox="1"/>
            <p:nvPr/>
          </p:nvSpPr>
          <p:spPr>
            <a:xfrm>
              <a:off x="5097461" y="2310289"/>
              <a:ext cx="2347359" cy="1898182"/>
            </a:xfrm>
            <a:prstGeom prst="roundRect">
              <a:avLst>
                <a:gd name="adj" fmla="val 5627"/>
              </a:avLst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72000" rIns="72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en-US" altLang="ko-KR" sz="1400" dirty="0">
                  <a:solidFill>
                    <a:srgbClr val="FF6600"/>
                  </a:solidFill>
                </a:rPr>
                <a:t>KTR </a:t>
              </a:r>
              <a:r>
                <a:rPr lang="ko-KR" altLang="en-US" sz="1400" dirty="0">
                  <a:solidFill>
                    <a:srgbClr val="FF6600"/>
                  </a:solidFill>
                </a:rPr>
                <a:t>맞춤형 </a:t>
              </a:r>
              <a:r>
                <a:rPr lang="en-US" altLang="ko-KR" sz="1400" dirty="0">
                  <a:solidFill>
                    <a:srgbClr val="FF6600"/>
                  </a:solidFill>
                </a:rPr>
                <a:t>AI </a:t>
              </a:r>
              <a:r>
                <a:rPr lang="ko-KR" altLang="en-US" sz="1400" dirty="0">
                  <a:solidFill>
                    <a:srgbClr val="FF6600"/>
                  </a:solidFill>
                </a:rPr>
                <a:t>핵심역량 </a:t>
              </a:r>
              <a:endParaRPr lang="en-US" altLang="ko-KR" sz="1400" dirty="0">
                <a:solidFill>
                  <a:srgbClr val="FF6600"/>
                </a:solidFill>
              </a:endParaRPr>
            </a:p>
            <a:p>
              <a:r>
                <a:rPr lang="ko-KR" altLang="en-US" sz="1400" dirty="0">
                  <a:solidFill>
                    <a:srgbClr val="FF6600"/>
                  </a:solidFill>
                </a:rPr>
                <a:t>결합 방안 도출</a:t>
              </a:r>
              <a:endParaRPr lang="en-US" altLang="ko-KR" sz="1400" dirty="0">
                <a:solidFill>
                  <a:srgbClr val="FF6600"/>
                </a:solidFill>
              </a:endParaRPr>
            </a:p>
            <a:p>
              <a:pPr marL="90488" marR="0" lvl="0" indent="-90488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KTR 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기존 교육과정에서 다루는 직무와 </a:t>
              </a:r>
              <a:r>
                <a:rPr lang="ko-KR" altLang="en-US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스킬셋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정의</a:t>
              </a:r>
              <a:endParaRPr lang="en-US" altLang="ko-KR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90488" marR="0" lvl="0" indent="-90488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이에 접목 가능한 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AI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스킬 분석하여 고도화 방향 설계 필요</a:t>
              </a:r>
              <a:endParaRPr kumimoji="0" lang="en-US" altLang="ko-KR" sz="900" b="0" u="none" strike="noStrike" kern="1200" cap="none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82F842F-C308-4F66-D5BE-54C54BDEFB07}"/>
                </a:ext>
              </a:extLst>
            </p:cNvPr>
            <p:cNvSpPr txBox="1"/>
            <p:nvPr/>
          </p:nvSpPr>
          <p:spPr>
            <a:xfrm>
              <a:off x="5097461" y="4385382"/>
              <a:ext cx="2347359" cy="1898182"/>
            </a:xfrm>
            <a:prstGeom prst="roundRect">
              <a:avLst>
                <a:gd name="adj" fmla="val 5627"/>
              </a:avLst>
            </a:prstGeom>
            <a:solidFill>
              <a:srgbClr val="EEECE1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72000" rIns="72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100" spc="-50"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r>
                <a:rPr lang="ko-KR" altLang="en-US" sz="1400" dirty="0">
                  <a:solidFill>
                    <a:srgbClr val="FF6600"/>
                  </a:solidFill>
                </a:rPr>
                <a:t>기존 교육체계와 </a:t>
              </a:r>
              <a:r>
                <a:rPr lang="en-US" altLang="ko-KR" sz="1400" dirty="0">
                  <a:solidFill>
                    <a:srgbClr val="FF6600"/>
                  </a:solidFill>
                </a:rPr>
                <a:t>AI </a:t>
              </a:r>
              <a:r>
                <a:rPr lang="ko-KR" altLang="en-US" sz="1400" dirty="0">
                  <a:solidFill>
                    <a:srgbClr val="FF6600"/>
                  </a:solidFill>
                </a:rPr>
                <a:t>역량의 유기적 연계</a:t>
              </a:r>
              <a:endParaRPr lang="en-US" altLang="ko-KR" sz="1400" dirty="0">
                <a:solidFill>
                  <a:srgbClr val="FF6600"/>
                </a:solidFill>
              </a:endParaRPr>
            </a:p>
            <a:p>
              <a:pPr marL="90488" indent="-90488" algn="l">
                <a:lnSpc>
                  <a:spcPct val="12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기존 교육체계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모듈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수준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등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와 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역량 수준을 연계</a:t>
              </a:r>
              <a:endParaRPr lang="en-US" altLang="ko-KR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90488" indent="-90488" algn="l">
                <a:lnSpc>
                  <a:spcPct val="12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리터러시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실무 응용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고도화 등 직무별</a:t>
              </a:r>
              <a:r>
                <a:rPr lang="en-US" altLang="ko-KR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수준별 과정 개발 필요</a:t>
              </a:r>
              <a:endParaRPr lang="en-US" altLang="ko-KR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2D2016C-3FAE-630E-266C-2839A3B8C81E}"/>
                </a:ext>
              </a:extLst>
            </p:cNvPr>
            <p:cNvSpPr/>
            <p:nvPr/>
          </p:nvSpPr>
          <p:spPr>
            <a:xfrm>
              <a:off x="5191140" y="1974689"/>
              <a:ext cx="2160000" cy="335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anchor="ctr"/>
            <a:lstStyle/>
            <a:p>
              <a:pPr algn="ctr" defTabSz="914395">
                <a:lnSpc>
                  <a:spcPct val="120000"/>
                </a:lnSpc>
              </a:pPr>
              <a:r>
                <a:rPr lang="ko-KR" altLang="en-US" sz="1200" spc="-50" dirty="0">
                  <a:solidFill>
                    <a:srgbClr val="5B804F"/>
                  </a:solidFill>
                  <a:latin typeface="페이퍼로지 6 SemiBold" pitchFamily="2" charset="-127"/>
                  <a:ea typeface="페이퍼로지 6 SemiBold" pitchFamily="2" charset="-127"/>
                </a:rPr>
                <a:t>주요 고려사항</a:t>
              </a:r>
              <a:endParaRPr lang="en-US" altLang="ko-KR" sz="1200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C4586D-0CEA-B8E1-53AF-D5D2F8B1A342}"/>
              </a:ext>
            </a:extLst>
          </p:cNvPr>
          <p:cNvGrpSpPr/>
          <p:nvPr/>
        </p:nvGrpSpPr>
        <p:grpSpPr>
          <a:xfrm>
            <a:off x="5097462" y="1974689"/>
            <a:ext cx="1495159" cy="4308875"/>
            <a:chOff x="8066354" y="1974689"/>
            <a:chExt cx="1495159" cy="430887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65E2422-287F-7272-4282-3C10C2F0A0CA}"/>
                </a:ext>
              </a:extLst>
            </p:cNvPr>
            <p:cNvSpPr/>
            <p:nvPr/>
          </p:nvSpPr>
          <p:spPr>
            <a:xfrm>
              <a:off x="8066354" y="1974689"/>
              <a:ext cx="1495159" cy="335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anchor="ctr"/>
            <a:lstStyle/>
            <a:p>
              <a:pPr algn="ctr" defTabSz="914395">
                <a:lnSpc>
                  <a:spcPct val="120000"/>
                </a:lnSpc>
              </a:pPr>
              <a:r>
                <a:rPr lang="en-US" altLang="ko-KR" sz="1200" spc="-50" dirty="0">
                  <a:solidFill>
                    <a:srgbClr val="5B804F"/>
                  </a:solidFill>
                  <a:latin typeface="페이퍼로지 6 SemiBold" pitchFamily="2" charset="-127"/>
                  <a:ea typeface="페이퍼로지 6 SemiBold" pitchFamily="2" charset="-127"/>
                </a:rPr>
                <a:t>26</a:t>
              </a:r>
              <a:r>
                <a:rPr lang="ko-KR" altLang="en-US" sz="1200" spc="-50" dirty="0">
                  <a:solidFill>
                    <a:srgbClr val="5B804F"/>
                  </a:solidFill>
                  <a:latin typeface="페이퍼로지 6 SemiBold" pitchFamily="2" charset="-127"/>
                  <a:ea typeface="페이퍼로지 6 SemiBold" pitchFamily="2" charset="-127"/>
                </a:rPr>
                <a:t>년 핵심 과제</a:t>
              </a:r>
              <a:endParaRPr lang="en-US" altLang="ko-KR" sz="1200" spc="-50" dirty="0">
                <a:solidFill>
                  <a:srgbClr val="5B804F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40D4A4-E28D-42AC-D985-BF5BFFE2EB51}"/>
                </a:ext>
              </a:extLst>
            </p:cNvPr>
            <p:cNvSpPr txBox="1"/>
            <p:nvPr/>
          </p:nvSpPr>
          <p:spPr>
            <a:xfrm>
              <a:off x="8066354" y="5059564"/>
              <a:ext cx="1495159" cy="1224000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ko-KR" altLang="en-US" dirty="0"/>
                <a:t>직무 맞춤형 </a:t>
              </a:r>
              <a:r>
                <a:rPr lang="en-US" altLang="ko-KR" dirty="0"/>
                <a:t>AI </a:t>
              </a:r>
              <a:r>
                <a:rPr lang="ko-KR" altLang="en-US" dirty="0"/>
                <a:t>교육과정 개발 및 상세 커리큘럼 설계</a:t>
              </a:r>
              <a:endParaRPr lang="ko-KR" altLang="en-US" sz="8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973A20E-B300-7B6B-E01E-42F657AFD376}"/>
                </a:ext>
              </a:extLst>
            </p:cNvPr>
            <p:cNvSpPr txBox="1"/>
            <p:nvPr/>
          </p:nvSpPr>
          <p:spPr>
            <a:xfrm>
              <a:off x="8066354" y="3681235"/>
              <a:ext cx="1495159" cy="1224000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ko-KR" altLang="en-US" dirty="0"/>
                <a:t>차세대</a:t>
              </a:r>
              <a:r>
                <a:rPr lang="en-US" altLang="ko-KR" dirty="0"/>
                <a:t>(‘26~‘30) </a:t>
              </a:r>
            </a:p>
            <a:p>
              <a:pPr>
                <a:spcAft>
                  <a:spcPts val="0"/>
                </a:spcAft>
              </a:pPr>
              <a:r>
                <a:rPr lang="en-US" altLang="ko-KR" dirty="0"/>
                <a:t>AI </a:t>
              </a:r>
              <a:r>
                <a:rPr lang="ko-KR" altLang="en-US" dirty="0"/>
                <a:t>반영 </a:t>
              </a:r>
              <a:r>
                <a:rPr lang="ko-KR" altLang="en-US" dirty="0" err="1"/>
                <a:t>교육로드맵</a:t>
              </a:r>
              <a:r>
                <a:rPr lang="ko-KR" altLang="en-US" dirty="0"/>
                <a:t> </a:t>
              </a:r>
              <a:r>
                <a:rPr lang="ko-KR" altLang="en-US" dirty="0" err="1"/>
                <a:t>재수립</a:t>
              </a:r>
              <a:r>
                <a:rPr lang="ko-KR" altLang="en-US" dirty="0"/>
                <a:t> 및 체계화</a:t>
              </a:r>
              <a:endParaRPr lang="ko-KR" altLang="en-US" sz="8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7E0B5EF-038E-D48C-5BFB-A5F9479A0205}"/>
                </a:ext>
              </a:extLst>
            </p:cNvPr>
            <p:cNvSpPr txBox="1"/>
            <p:nvPr/>
          </p:nvSpPr>
          <p:spPr>
            <a:xfrm>
              <a:off x="8066354" y="2302906"/>
              <a:ext cx="1495159" cy="1224000"/>
            </a:xfrm>
            <a:prstGeom prst="roundRect">
              <a:avLst/>
            </a:prstGeom>
            <a:solidFill>
              <a:srgbClr val="344532"/>
            </a:solidFill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txBody>
            <a:bodyPr wrap="square" lIns="36000" rIns="36000" anchor="ctr">
              <a:noAutofit/>
            </a:bodyPr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200" spc="-5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ko-KR" altLang="en-US" dirty="0"/>
                <a:t>기존 </a:t>
              </a:r>
              <a:r>
                <a:rPr lang="ko-KR" altLang="en-US" dirty="0" err="1"/>
                <a:t>교육로드맵</a:t>
              </a:r>
              <a:r>
                <a:rPr lang="ko-KR" altLang="en-US" dirty="0"/>
                <a:t> 분석</a:t>
              </a:r>
              <a:endParaRPr lang="en-US" altLang="ko-KR" dirty="0"/>
            </a:p>
            <a:p>
              <a:pPr>
                <a:spcAft>
                  <a:spcPts val="0"/>
                </a:spcAft>
              </a:pPr>
              <a:r>
                <a:rPr lang="ko-KR" altLang="en-US" dirty="0"/>
                <a:t>및 친환경 </a:t>
              </a:r>
              <a:r>
                <a:rPr lang="ko-KR" altLang="en-US" dirty="0" err="1"/>
                <a:t>바이오화학</a:t>
              </a:r>
              <a:r>
                <a:rPr lang="ko-KR" altLang="en-US" dirty="0"/>
                <a:t> </a:t>
              </a:r>
              <a:endParaRPr lang="en-US" altLang="ko-KR" dirty="0"/>
            </a:p>
            <a:p>
              <a:pPr>
                <a:spcAft>
                  <a:spcPts val="0"/>
                </a:spcAft>
              </a:pPr>
              <a:r>
                <a:rPr lang="en-US" altLang="ko-KR" dirty="0"/>
                <a:t>AI </a:t>
              </a:r>
              <a:r>
                <a:rPr lang="ko-KR" altLang="en-US" dirty="0"/>
                <a:t>직무역량 모델링</a:t>
              </a:r>
              <a:endParaRPr lang="ko-KR" altLang="en-US" sz="8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8096D84-CD03-9143-8D77-00C7AB507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756371"/>
              </p:ext>
            </p:extLst>
          </p:nvPr>
        </p:nvGraphicFramePr>
        <p:xfrm>
          <a:off x="346786" y="1958180"/>
          <a:ext cx="4459450" cy="4456055"/>
        </p:xfrm>
        <a:graphic>
          <a:graphicData uri="http://schemas.openxmlformats.org/drawingml/2006/table">
            <a:tbl>
              <a:tblPr/>
              <a:tblGrid>
                <a:gridCol w="581574">
                  <a:extLst>
                    <a:ext uri="{9D8B030D-6E8A-4147-A177-3AD203B41FA5}">
                      <a16:colId xmlns:a16="http://schemas.microsoft.com/office/drawing/2014/main" val="3029677895"/>
                    </a:ext>
                  </a:extLst>
                </a:gridCol>
                <a:gridCol w="795738">
                  <a:extLst>
                    <a:ext uri="{9D8B030D-6E8A-4147-A177-3AD203B41FA5}">
                      <a16:colId xmlns:a16="http://schemas.microsoft.com/office/drawing/2014/main" val="1143225421"/>
                    </a:ext>
                  </a:extLst>
                </a:gridCol>
                <a:gridCol w="3082138">
                  <a:extLst>
                    <a:ext uri="{9D8B030D-6E8A-4147-A177-3AD203B41FA5}">
                      <a16:colId xmlns:a16="http://schemas.microsoft.com/office/drawing/2014/main" val="2502835312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핵심 과제 </a:t>
                      </a:r>
                      <a:endParaRPr lang="en-US" sz="9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수행 과업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과업 수행 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433416"/>
                  </a:ext>
                </a:extLst>
              </a:tr>
              <a:tr h="399839">
                <a:tc rowSpan="4"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협약기업 현황 및 산업환경 분석</a:t>
                      </a:r>
                      <a:endParaRPr lang="en-US" altLang="ko-KR" sz="900" b="0" i="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산업분류체계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산업분류체계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(KSIC, ISIC,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바이오산업 등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산업별역량체계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(SQF),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기술분류체계 조사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108909"/>
                  </a:ext>
                </a:extLst>
              </a:tr>
              <a:tr h="399839">
                <a:tc v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교육과정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산업 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61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과정 조사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546719"/>
                  </a:ext>
                </a:extLst>
              </a:tr>
              <a:tr h="731214">
                <a:tc v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협약기업 기초 분석</a:t>
                      </a:r>
                      <a:endParaRPr lang="en-US" altLang="ko-KR" sz="9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(185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업종별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제조업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(50%)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도소매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(27%),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과학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기술서비스업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(18%) </a:t>
                      </a:r>
                    </a:p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규모별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중소기업 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83%</a:t>
                      </a:r>
                    </a:p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제품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서비스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플라스틱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(14%),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화장품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(19%),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의료기기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(8%),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컨설팅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검사 지원서비스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(18%)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641499"/>
                  </a:ext>
                </a:extLst>
              </a:tr>
              <a:tr h="731214">
                <a:tc v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산업전환 진단지 개선 및 조사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개요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생산 중심의 설문지를 업종 관계없이 응답할 수 있도록 개편</a:t>
                      </a:r>
                      <a:endParaRPr lang="en-US" altLang="ko-KR" sz="9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38100" indent="-50800" algn="l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설문 결과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산업환경 변화 대응 인력 부족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(59%),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디지털 전환 및 자동화 추진 미흡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업계 평균 수준 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41%,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다소 뒤처짐 </a:t>
                      </a:r>
                      <a:r>
                        <a:rPr lang="en-US" altLang="ko-KR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40%)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대부분 친환경 전환에 대해 일부 검토 및 계획만 진행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(44%)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82763"/>
                  </a:ext>
                </a:extLst>
              </a:tr>
              <a:tr h="745877">
                <a:tc rowSpan="3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교육계획 및 </a:t>
                      </a:r>
                      <a:r>
                        <a:rPr lang="ko-KR" altLang="en-US" sz="9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재수립</a:t>
                      </a:r>
                      <a:endParaRPr lang="en-US" sz="9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</a:t>
                      </a:r>
                      <a:r>
                        <a:rPr lang="ko-KR" altLang="en-US" sz="9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과정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단일 모듈 內 다수의 콘텐츠 포함</a:t>
                      </a:r>
                    </a:p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수준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수준 정의 부재 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교육과정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26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운영 예정인 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25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과정의 내용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관련 직무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필요 경력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간 내용 연계성 등 분석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327728"/>
                  </a:ext>
                </a:extLst>
              </a:tr>
              <a:tr h="39983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개년 교육계획 수립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산업별 전략과 교육체계 개선 방안을 기반으로 연차별 전략과 실행 방안을 단계적으로 구성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728505"/>
                  </a:ext>
                </a:extLst>
              </a:tr>
              <a:tr h="904233">
                <a:tc v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en-US" sz="7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교육체계 및 로드맵 </a:t>
                      </a:r>
                      <a:r>
                        <a:rPr lang="ko-KR" altLang="en-US" sz="900" b="0" i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재수립</a:t>
                      </a:r>
                      <a:endParaRPr lang="ko-KR" altLang="en-US" sz="900" b="0" i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(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모듈 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인사이트</a:t>
                      </a:r>
                      <a:r>
                        <a:rPr lang="en-US" altLang="ko-KR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실무 공통</a:t>
                      </a:r>
                      <a:r>
                        <a:rPr lang="en-US" altLang="ko-KR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 특화</a:t>
                      </a:r>
                      <a:r>
                        <a:rPr lang="en-US" altLang="ko-KR" sz="900" b="0" i="0" kern="1200" spc="-50" baseline="0" noProof="0" dirty="0">
                          <a:solidFill>
                            <a:srgbClr val="FF66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과정으로  분류 후 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직무 중심으로 세부 모듈 설계</a:t>
                      </a:r>
                      <a:endParaRPr lang="en-US" altLang="ko-KR" sz="900" b="0" i="0" kern="1200" spc="-50" baseline="0" noProof="0" dirty="0">
                        <a:solidFill>
                          <a:srgbClr val="FF66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(</a:t>
                      </a:r>
                      <a:r>
                        <a:rPr lang="ko-KR" altLang="en-US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수준</a:t>
                      </a:r>
                      <a:r>
                        <a:rPr lang="en-US" altLang="ko-KR" sz="900" b="0" i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i="0" kern="1200" spc="-50" baseline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재직자 경력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단계에 따라 </a:t>
                      </a:r>
                      <a:r>
                        <a:rPr lang="en-US" altLang="ko-KR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3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단계</a:t>
                      </a:r>
                      <a:r>
                        <a:rPr kumimoji="0" lang="en-US" altLang="ko-KR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주니어</a:t>
                      </a:r>
                      <a:r>
                        <a:rPr kumimoji="0" lang="en-US" altLang="ko-KR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시니어</a:t>
                      </a:r>
                      <a:r>
                        <a:rPr kumimoji="0" lang="en-US" altLang="ko-KR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</a:t>
                      </a:r>
                      <a:r>
                        <a:rPr kumimoji="0" lang="en-US" altLang="ko-KR" sz="900" b="0" i="1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설정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marR="38100" lvl="0" indent="-508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재배치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모듈 및 수준 재설계 결과에 따라 </a:t>
                      </a:r>
                      <a:r>
                        <a:rPr lang="ko-KR" altLang="en-US" sz="900" b="0" i="0" kern="1200" spc="-50" baseline="0" noProof="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교육과정 학습 경로 설정 후 재배치</a:t>
                      </a:r>
                      <a:endParaRPr lang="en-US" altLang="ko-KR" sz="900" b="0" i="0" kern="1200" spc="-50" baseline="0" noProof="0" dirty="0">
                        <a:solidFill>
                          <a:srgbClr val="FF66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931224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7B95E435-5F55-0820-6F79-0A375837E58E}"/>
              </a:ext>
            </a:extLst>
          </p:cNvPr>
          <p:cNvGrpSpPr/>
          <p:nvPr/>
        </p:nvGrpSpPr>
        <p:grpSpPr>
          <a:xfrm>
            <a:off x="339695" y="-7270"/>
            <a:ext cx="1063793" cy="735932"/>
            <a:chOff x="339695" y="-7270"/>
            <a:chExt cx="1063793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76B3771D-015D-08BA-93EC-36EA04B969C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7FF8C9-1CCD-244C-80EB-2B47AF46E67E}"/>
                </a:ext>
              </a:extLst>
            </p:cNvPr>
            <p:cNvSpPr txBox="1"/>
            <p:nvPr/>
          </p:nvSpPr>
          <p:spPr>
            <a:xfrm>
              <a:off x="339695" y="322993"/>
              <a:ext cx="105853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특장점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E1F57B-86FB-C869-F48F-DA6212B34DBC}"/>
              </a:ext>
            </a:extLst>
          </p:cNvPr>
          <p:cNvGrpSpPr/>
          <p:nvPr/>
        </p:nvGrpSpPr>
        <p:grpSpPr>
          <a:xfrm>
            <a:off x="6818899" y="2839209"/>
            <a:ext cx="168976" cy="2908052"/>
            <a:chOff x="7671099" y="2839209"/>
            <a:chExt cx="168976" cy="2908052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CDE84DE-4600-2D2B-1DB9-600261EEEBF1}"/>
                </a:ext>
              </a:extLst>
            </p:cNvPr>
            <p:cNvGrpSpPr/>
            <p:nvPr/>
          </p:nvGrpSpPr>
          <p:grpSpPr>
            <a:xfrm>
              <a:off x="7671099" y="2839209"/>
              <a:ext cx="168976" cy="151394"/>
              <a:chOff x="599972" y="1973685"/>
              <a:chExt cx="307997" cy="236097"/>
            </a:xfrm>
          </p:grpSpPr>
          <p:sp>
            <p:nvSpPr>
              <p:cNvPr id="33" name="갈매기형 수장 40">
                <a:extLst>
                  <a:ext uri="{FF2B5EF4-FFF2-40B4-BE49-F238E27FC236}">
                    <a16:creationId xmlns:a16="http://schemas.microsoft.com/office/drawing/2014/main" id="{432937BB-1BB1-E480-B5DA-4E2A1DFD9998}"/>
                  </a:ext>
                </a:extLst>
              </p:cNvPr>
              <p:cNvSpPr/>
              <p:nvPr/>
            </p:nvSpPr>
            <p:spPr>
              <a:xfrm>
                <a:off x="599972" y="1973685"/>
                <a:ext cx="192319" cy="236097"/>
              </a:xfrm>
              <a:prstGeom prst="chevron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  <p:sp>
            <p:nvSpPr>
              <p:cNvPr id="35" name="갈매기형 수장 41">
                <a:extLst>
                  <a:ext uri="{FF2B5EF4-FFF2-40B4-BE49-F238E27FC236}">
                    <a16:creationId xmlns:a16="http://schemas.microsoft.com/office/drawing/2014/main" id="{7438CF31-E2BC-A1C8-5D0A-671F910BCDE5}"/>
                  </a:ext>
                </a:extLst>
              </p:cNvPr>
              <p:cNvSpPr/>
              <p:nvPr/>
            </p:nvSpPr>
            <p:spPr>
              <a:xfrm>
                <a:off x="708580" y="1973685"/>
                <a:ext cx="199389" cy="236097"/>
              </a:xfrm>
              <a:prstGeom prst="chevron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6CB2E81-BA56-8A86-1F60-2D3569E103F0}"/>
                </a:ext>
              </a:extLst>
            </p:cNvPr>
            <p:cNvGrpSpPr/>
            <p:nvPr/>
          </p:nvGrpSpPr>
          <p:grpSpPr>
            <a:xfrm>
              <a:off x="7671099" y="4217538"/>
              <a:ext cx="168976" cy="151394"/>
              <a:chOff x="599972" y="1973685"/>
              <a:chExt cx="307997" cy="236097"/>
            </a:xfrm>
          </p:grpSpPr>
          <p:sp>
            <p:nvSpPr>
              <p:cNvPr id="12" name="갈매기형 수장 40">
                <a:extLst>
                  <a:ext uri="{FF2B5EF4-FFF2-40B4-BE49-F238E27FC236}">
                    <a16:creationId xmlns:a16="http://schemas.microsoft.com/office/drawing/2014/main" id="{0DBF112C-215F-BE5C-7A8E-16093D1E83B5}"/>
                  </a:ext>
                </a:extLst>
              </p:cNvPr>
              <p:cNvSpPr/>
              <p:nvPr/>
            </p:nvSpPr>
            <p:spPr>
              <a:xfrm>
                <a:off x="599972" y="1973685"/>
                <a:ext cx="192319" cy="236097"/>
              </a:xfrm>
              <a:prstGeom prst="chevron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  <p:sp>
            <p:nvSpPr>
              <p:cNvPr id="13" name="갈매기형 수장 41">
                <a:extLst>
                  <a:ext uri="{FF2B5EF4-FFF2-40B4-BE49-F238E27FC236}">
                    <a16:creationId xmlns:a16="http://schemas.microsoft.com/office/drawing/2014/main" id="{DA39B9F9-644D-5ADA-7690-B6A6AE1D07C5}"/>
                  </a:ext>
                </a:extLst>
              </p:cNvPr>
              <p:cNvSpPr/>
              <p:nvPr/>
            </p:nvSpPr>
            <p:spPr>
              <a:xfrm>
                <a:off x="708580" y="1973685"/>
                <a:ext cx="199389" cy="236097"/>
              </a:xfrm>
              <a:prstGeom prst="chevron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D68332A-C4F3-1570-42E9-F1DC760F1715}"/>
                </a:ext>
              </a:extLst>
            </p:cNvPr>
            <p:cNvGrpSpPr/>
            <p:nvPr/>
          </p:nvGrpSpPr>
          <p:grpSpPr>
            <a:xfrm>
              <a:off x="7671099" y="5595867"/>
              <a:ext cx="168976" cy="151394"/>
              <a:chOff x="599972" y="1973685"/>
              <a:chExt cx="307997" cy="236097"/>
            </a:xfrm>
          </p:grpSpPr>
          <p:sp>
            <p:nvSpPr>
              <p:cNvPr id="15" name="갈매기형 수장 40">
                <a:extLst>
                  <a:ext uri="{FF2B5EF4-FFF2-40B4-BE49-F238E27FC236}">
                    <a16:creationId xmlns:a16="http://schemas.microsoft.com/office/drawing/2014/main" id="{F1D086AC-7589-A940-5AC6-2CB772E7ADB8}"/>
                  </a:ext>
                </a:extLst>
              </p:cNvPr>
              <p:cNvSpPr/>
              <p:nvPr/>
            </p:nvSpPr>
            <p:spPr>
              <a:xfrm>
                <a:off x="599972" y="1973685"/>
                <a:ext cx="192319" cy="236097"/>
              </a:xfrm>
              <a:prstGeom prst="chevron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  <p:sp>
            <p:nvSpPr>
              <p:cNvPr id="16" name="갈매기형 수장 41">
                <a:extLst>
                  <a:ext uri="{FF2B5EF4-FFF2-40B4-BE49-F238E27FC236}">
                    <a16:creationId xmlns:a16="http://schemas.microsoft.com/office/drawing/2014/main" id="{8A989296-EC27-7DEE-8B91-0AAD613FD447}"/>
                  </a:ext>
                </a:extLst>
              </p:cNvPr>
              <p:cNvSpPr/>
              <p:nvPr/>
            </p:nvSpPr>
            <p:spPr>
              <a:xfrm>
                <a:off x="708580" y="1973685"/>
                <a:ext cx="199389" cy="236097"/>
              </a:xfrm>
              <a:prstGeom prst="chevron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85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6F50-61DC-6030-EF34-D839AB71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B0E0AD-BC16-94BF-C77B-6E246B52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9" y="6500150"/>
            <a:ext cx="440967" cy="365125"/>
          </a:xfrm>
        </p:spPr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11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135" name="텍스트 개체 틀 1">
            <a:extLst>
              <a:ext uri="{FF2B5EF4-FFF2-40B4-BE49-F238E27FC236}">
                <a16:creationId xmlns:a16="http://schemas.microsoft.com/office/drawing/2014/main" id="{1A026AFD-4CB2-FA01-24C2-A48982E5C348}"/>
              </a:ext>
            </a:extLst>
          </p:cNvPr>
          <p:cNvSpPr txBox="1">
            <a:spLocks/>
          </p:cNvSpPr>
          <p:nvPr/>
        </p:nvSpPr>
        <p:spPr>
          <a:xfrm>
            <a:off x="344487" y="843883"/>
            <a:ext cx="9217026" cy="576262"/>
          </a:xfrm>
          <a:prstGeom prst="rect">
            <a:avLst/>
          </a:prstGeom>
        </p:spPr>
        <p:txBody>
          <a:bodyPr vert="horz" lIns="72000" tIns="45720" rIns="72000" bIns="45720" rtlCol="0" anchor="t"/>
          <a:lstStyle>
            <a:defPPr>
              <a:defRPr lang="en-US"/>
            </a:defPPr>
            <a:lvl1pPr>
              <a:defRPr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1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본 사업의 특성과 핵심 요소를 반영하여</a:t>
            </a:r>
            <a:r>
              <a:rPr lang="en-US" altLang="ko-KR" sz="1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다음과 같은 접근 전략을 수립함</a:t>
            </a:r>
            <a:r>
              <a:rPr lang="en-US" altLang="ko-KR" sz="1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F53648-EDD6-4472-4E8E-DC63C413E0A7}"/>
              </a:ext>
            </a:extLst>
          </p:cNvPr>
          <p:cNvSpPr/>
          <p:nvPr/>
        </p:nvSpPr>
        <p:spPr>
          <a:xfrm>
            <a:off x="1513166" y="26109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defRPr/>
            </a:pP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사업의 특징과 핵심 이슈별 주요 접근 전략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182E3E3-3D7A-0E3C-AE74-3EAB6E73ED1F}"/>
              </a:ext>
            </a:extLst>
          </p:cNvPr>
          <p:cNvSpPr/>
          <p:nvPr/>
        </p:nvSpPr>
        <p:spPr>
          <a:xfrm>
            <a:off x="1987549" y="2315207"/>
            <a:ext cx="2830135" cy="12291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교육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-AI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간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연계 기준을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스킬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’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로 설정하고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이를 기반으로 교육 과정과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역량을 </a:t>
            </a:r>
            <a:r>
              <a:rPr kumimoji="1" lang="ko-KR" altLang="en-US" sz="11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구조화하여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재설계 기준 정렬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</a:p>
          <a:p>
            <a:pPr marL="180975" indent="-180975" fontAlgn="base">
              <a:spcBef>
                <a:spcPct val="0"/>
              </a:spcBef>
              <a:buSzPct val="80000"/>
            </a:pP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        - (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1) (</a:t>
            </a:r>
            <a:r>
              <a:rPr kumimoji="1" lang="ko-KR" altLang="en-US" sz="700" i="1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과정명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브랜딩 기본 실무 → 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700" i="1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스킬셋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친환경 화장품 브랜딩 기획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브랜딩 디자인</a:t>
            </a:r>
            <a:endParaRPr kumimoji="1" lang="en-US" altLang="ko-KR" sz="700" i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180975" fontAlgn="base">
              <a:spcBef>
                <a:spcPct val="0"/>
              </a:spcBef>
              <a:buSzPct val="80000"/>
            </a:pP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       - (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2) (AI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직무역량명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생성형 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업무 문서 작성 → 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700" i="1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스킬셋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AI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보고서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기획서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초안 작성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AI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이메일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공문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작성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AI 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기술문서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매뉴얼</a:t>
            </a:r>
            <a:r>
              <a:rPr kumimoji="1" lang="en-US" altLang="ko-KR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700" i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초안 작성</a:t>
            </a:r>
            <a:endParaRPr kumimoji="1" lang="en-US" altLang="ko-KR" sz="700" i="1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B6FCEF8-A7DA-A516-A220-1102D07FD34B}"/>
              </a:ext>
            </a:extLst>
          </p:cNvPr>
          <p:cNvSpPr/>
          <p:nvPr/>
        </p:nvSpPr>
        <p:spPr>
          <a:xfrm>
            <a:off x="353636" y="2315207"/>
            <a:ext cx="1564440" cy="1249413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lang="en-US" altLang="ko-KR" sz="1100" spc="-50" dirty="0">
                <a:solidFill>
                  <a:srgbClr val="FF6600"/>
                </a:solidFill>
                <a:latin typeface="페이퍼로지 8 ExtraBold" pitchFamily="2" charset="-127"/>
                <a:ea typeface="페이퍼로지 8 ExtraBold" pitchFamily="2" charset="-127"/>
              </a:rPr>
              <a:t>Self-question 1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기존 교육과정 분석 및 </a:t>
            </a:r>
            <a:endParaRPr lang="en-US" altLang="ko-KR" sz="110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역량모델링 단계에서는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무엇을 해야 하는가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10BCDF7-402A-34F0-19BE-5375E379097A}"/>
              </a:ext>
            </a:extLst>
          </p:cNvPr>
          <p:cNvSpPr/>
          <p:nvPr/>
        </p:nvSpPr>
        <p:spPr>
          <a:xfrm>
            <a:off x="1978400" y="3633545"/>
            <a:ext cx="2830135" cy="14189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기존 교육과정별 스킬과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직무역량별 스킬을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매핑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하여 직무별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적용 가능 영역 확인 → 해당 스킬 간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융합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하여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‘KTR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특화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융합 스킬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’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도출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80975" indent="-180975" fontAlgn="base">
              <a:lnSpc>
                <a:spcPct val="120000"/>
              </a:lnSpc>
              <a:spcBef>
                <a:spcPct val="0"/>
              </a:spcBef>
              <a:buSzPct val="80000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       - (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브랜딩 기획 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+ AI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기획서 초안 작성 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+ AI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경쟁사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시장 정보 수집 →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AI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기반 친환경 화장품 브랜딩 기획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1C1BBA8-DBD8-E139-EB5F-85899CDDCF44}"/>
              </a:ext>
            </a:extLst>
          </p:cNvPr>
          <p:cNvSpPr/>
          <p:nvPr/>
        </p:nvSpPr>
        <p:spPr>
          <a:xfrm>
            <a:off x="344486" y="3633545"/>
            <a:ext cx="1564439" cy="1442333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lang="en-US" altLang="ko-KR" sz="1100" spc="-50" dirty="0">
                <a:solidFill>
                  <a:srgbClr val="FF6600"/>
                </a:solidFill>
                <a:latin typeface="페이퍼로지 8 ExtraBold" pitchFamily="2" charset="-127"/>
                <a:ea typeface="페이퍼로지 8 ExtraBold" pitchFamily="2" charset="-127"/>
              </a:rPr>
              <a:t>Self-question 2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기존 교육과정에 </a:t>
            </a:r>
            <a:endParaRPr lang="en-US" altLang="ko-KR" sz="110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 fontAlgn="base">
              <a:spcBef>
                <a:spcPct val="0"/>
              </a:spcBef>
              <a:buSzPct val="80000"/>
            </a:pP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 가능한 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스킬은 어떻게 도출할 것인가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AF61BCD-0F08-3ADC-C3A9-2AFB7947FB90}"/>
              </a:ext>
            </a:extLst>
          </p:cNvPr>
          <p:cNvSpPr/>
          <p:nvPr/>
        </p:nvSpPr>
        <p:spPr>
          <a:xfrm>
            <a:off x="1969251" y="5144803"/>
            <a:ext cx="2830136" cy="12512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‘AI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도구 활용법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중심의 교육 과정에서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실무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실습형 교육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’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으로 고도화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목표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67BFE41-5B66-98C9-874F-9E9160FDB496}"/>
              </a:ext>
            </a:extLst>
          </p:cNvPr>
          <p:cNvSpPr/>
          <p:nvPr/>
        </p:nvSpPr>
        <p:spPr>
          <a:xfrm>
            <a:off x="353636" y="5144803"/>
            <a:ext cx="1555289" cy="1271872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144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1100" spc="-50" dirty="0">
                <a:solidFill>
                  <a:srgbClr val="FF6600"/>
                </a:solidFill>
                <a:latin typeface="페이퍼로지 8 ExtraBold" pitchFamily="2" charset="-127"/>
                <a:ea typeface="페이퍼로지 8 ExtraBold" pitchFamily="2" charset="-127"/>
              </a:rPr>
              <a:t>Self-question 3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특화 직무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맞춤형 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교육과정은 어떻게 차별화 할 것인가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A9819FA-2003-9FA4-0031-EC496B836257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텍스트 개체 틀 1">
            <a:extLst>
              <a:ext uri="{FF2B5EF4-FFF2-40B4-BE49-F238E27FC236}">
                <a16:creationId xmlns:a16="http://schemas.microsoft.com/office/drawing/2014/main" id="{AF46953D-5739-4A30-4FCD-32DA38806724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핵심 이슈별 주요 접근 전략</a:t>
            </a:r>
          </a:p>
        </p:txBody>
      </p:sp>
      <p:sp>
        <p:nvSpPr>
          <p:cNvPr id="40" name="오각형 92">
            <a:extLst>
              <a:ext uri="{FF2B5EF4-FFF2-40B4-BE49-F238E27FC236}">
                <a16:creationId xmlns:a16="http://schemas.microsoft.com/office/drawing/2014/main" id="{D3A706D4-90EF-1445-5C01-9A0DBEA2BA4C}"/>
              </a:ext>
            </a:extLst>
          </p:cNvPr>
          <p:cNvSpPr/>
          <p:nvPr/>
        </p:nvSpPr>
        <p:spPr>
          <a:xfrm>
            <a:off x="445525" y="2096317"/>
            <a:ext cx="4353862" cy="10499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 spc="-50" dirty="0">
              <a:ea typeface="a고딕12" panose="02020600000000000000" pitchFamily="18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9F992-B02C-49BD-3CBB-D95D452CAE65}"/>
              </a:ext>
            </a:extLst>
          </p:cNvPr>
          <p:cNvGrpSpPr/>
          <p:nvPr/>
        </p:nvGrpSpPr>
        <p:grpSpPr>
          <a:xfrm>
            <a:off x="356972" y="2001840"/>
            <a:ext cx="251123" cy="195696"/>
            <a:chOff x="599972" y="1973685"/>
            <a:chExt cx="307998" cy="236097"/>
          </a:xfrm>
        </p:grpSpPr>
        <p:sp>
          <p:nvSpPr>
            <p:cNvPr id="48" name="갈매기형 수장 40">
              <a:extLst>
                <a:ext uri="{FF2B5EF4-FFF2-40B4-BE49-F238E27FC236}">
                  <a16:creationId xmlns:a16="http://schemas.microsoft.com/office/drawing/2014/main" id="{10AE6675-BA6C-446B-655B-23D05E3F52A1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rgbClr val="7EB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49" name="갈매기형 수장 41">
              <a:extLst>
                <a:ext uri="{FF2B5EF4-FFF2-40B4-BE49-F238E27FC236}">
                  <a16:creationId xmlns:a16="http://schemas.microsoft.com/office/drawing/2014/main" id="{32885ADA-7414-EBBE-7DA4-383778683B8E}"/>
                </a:ext>
              </a:extLst>
            </p:cNvPr>
            <p:cNvSpPr/>
            <p:nvPr/>
          </p:nvSpPr>
          <p:spPr>
            <a:xfrm>
              <a:off x="708581" y="1973685"/>
              <a:ext cx="199389" cy="236097"/>
            </a:xfrm>
            <a:prstGeom prst="chevron">
              <a:avLst/>
            </a:prstGeom>
            <a:solidFill>
              <a:srgbClr val="3B74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F9C490C-C16E-136C-B3F4-BEDC918F0905}"/>
              </a:ext>
            </a:extLst>
          </p:cNvPr>
          <p:cNvSpPr txBox="1"/>
          <p:nvPr/>
        </p:nvSpPr>
        <p:spPr>
          <a:xfrm>
            <a:off x="567367" y="1911087"/>
            <a:ext cx="4241231" cy="3668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fontAlgn="base">
              <a:spcBef>
                <a:spcPct val="0"/>
              </a:spcBef>
              <a:buSzPct val="80000"/>
            </a:pP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기존 </a:t>
            </a:r>
            <a:r>
              <a:rPr lang="ko-KR" altLang="en-US" sz="1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교육로드맵에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스킬을 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‘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어떻게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’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반영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연계할 것인가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?</a:t>
            </a:r>
          </a:p>
        </p:txBody>
      </p:sp>
      <p:sp>
        <p:nvSpPr>
          <p:cNvPr id="43" name="오각형 92">
            <a:extLst>
              <a:ext uri="{FF2B5EF4-FFF2-40B4-BE49-F238E27FC236}">
                <a16:creationId xmlns:a16="http://schemas.microsoft.com/office/drawing/2014/main" id="{73D0F101-8E18-6D84-2CF2-83037C5586BF}"/>
              </a:ext>
            </a:extLst>
          </p:cNvPr>
          <p:cNvSpPr/>
          <p:nvPr/>
        </p:nvSpPr>
        <p:spPr>
          <a:xfrm>
            <a:off x="5198442" y="2096317"/>
            <a:ext cx="4353862" cy="10499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 spc="-50" dirty="0">
              <a:ea typeface="a고딕12" panose="02020600000000000000" pitchFamily="18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18715F4-78CE-783D-BAA0-28F302ADAD17}"/>
              </a:ext>
            </a:extLst>
          </p:cNvPr>
          <p:cNvGrpSpPr/>
          <p:nvPr/>
        </p:nvGrpSpPr>
        <p:grpSpPr>
          <a:xfrm>
            <a:off x="5109889" y="2001840"/>
            <a:ext cx="251123" cy="195696"/>
            <a:chOff x="599972" y="1973685"/>
            <a:chExt cx="307998" cy="236097"/>
          </a:xfrm>
        </p:grpSpPr>
        <p:sp>
          <p:nvSpPr>
            <p:cNvPr id="46" name="갈매기형 수장 40">
              <a:extLst>
                <a:ext uri="{FF2B5EF4-FFF2-40B4-BE49-F238E27FC236}">
                  <a16:creationId xmlns:a16="http://schemas.microsoft.com/office/drawing/2014/main" id="{339C1E19-537C-17D5-9A10-5D1E1E8172FF}"/>
                </a:ext>
              </a:extLst>
            </p:cNvPr>
            <p:cNvSpPr/>
            <p:nvPr/>
          </p:nvSpPr>
          <p:spPr>
            <a:xfrm>
              <a:off x="599972" y="1973685"/>
              <a:ext cx="192319" cy="236097"/>
            </a:xfrm>
            <a:prstGeom prst="chevron">
              <a:avLst/>
            </a:prstGeom>
            <a:solidFill>
              <a:srgbClr val="7EB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  <p:sp>
          <p:nvSpPr>
            <p:cNvPr id="47" name="갈매기형 수장 41">
              <a:extLst>
                <a:ext uri="{FF2B5EF4-FFF2-40B4-BE49-F238E27FC236}">
                  <a16:creationId xmlns:a16="http://schemas.microsoft.com/office/drawing/2014/main" id="{8288AD6D-9204-B345-7F20-127B42C5D3FF}"/>
                </a:ext>
              </a:extLst>
            </p:cNvPr>
            <p:cNvSpPr/>
            <p:nvPr/>
          </p:nvSpPr>
          <p:spPr>
            <a:xfrm>
              <a:off x="708581" y="1973685"/>
              <a:ext cx="199389" cy="236097"/>
            </a:xfrm>
            <a:prstGeom prst="chevron">
              <a:avLst/>
            </a:prstGeom>
            <a:solidFill>
              <a:srgbClr val="3B74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spc="-50" dirty="0">
                <a:solidFill>
                  <a:schemeClr val="tx1"/>
                </a:solidFill>
                <a:ea typeface="a고딕12" panose="02020600000000000000" pitchFamily="18" charset="-127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6F19408-2FCD-94F9-BB2A-775C075102A0}"/>
              </a:ext>
            </a:extLst>
          </p:cNvPr>
          <p:cNvSpPr txBox="1"/>
          <p:nvPr/>
        </p:nvSpPr>
        <p:spPr>
          <a:xfrm>
            <a:off x="5320284" y="1911087"/>
            <a:ext cx="4241231" cy="3668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fontAlgn="base">
              <a:spcBef>
                <a:spcPct val="0"/>
              </a:spcBef>
              <a:buSzPct val="80000"/>
            </a:pP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중장기 </a:t>
            </a:r>
            <a:r>
              <a:rPr lang="ko-KR" altLang="en-US" sz="14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구축을 위해 고려해야 할 사항은 무엇인가</a:t>
            </a:r>
            <a:r>
              <a:rPr lang="en-US" altLang="ko-KR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?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44226F9-FCAD-53AA-00AA-6CFB0EC1D9EA}"/>
              </a:ext>
            </a:extLst>
          </p:cNvPr>
          <p:cNvSpPr/>
          <p:nvPr/>
        </p:nvSpPr>
        <p:spPr>
          <a:xfrm>
            <a:off x="6731915" y="2315207"/>
            <a:ext cx="2829600" cy="12100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협약기업 대상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융합 스킬 수요조사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통해 교육과정의 개발 우선순위 및 적용 범위를 설정하며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산업 현장의 추가 수요 발굴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0327EC3-8E1A-E09A-C544-01162F7991FC}"/>
              </a:ext>
            </a:extLst>
          </p:cNvPr>
          <p:cNvSpPr/>
          <p:nvPr/>
        </p:nvSpPr>
        <p:spPr>
          <a:xfrm>
            <a:off x="5106553" y="2315207"/>
            <a:ext cx="1566000" cy="1229941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Self-question 4</a:t>
            </a:r>
          </a:p>
          <a:p>
            <a:pPr algn="ctr" fontAlgn="base">
              <a:spcBef>
                <a:spcPct val="0"/>
              </a:spcBef>
              <a:buSzPct val="80000"/>
            </a:pP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협약기업의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AX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수준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AI 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 수요는 어떻게 반영할 것인가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053A647-3CFD-4442-B9C5-49111F56EA87}"/>
              </a:ext>
            </a:extLst>
          </p:cNvPr>
          <p:cNvSpPr/>
          <p:nvPr/>
        </p:nvSpPr>
        <p:spPr>
          <a:xfrm>
            <a:off x="6731915" y="3635488"/>
            <a:ext cx="2829600" cy="13959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협약기업 산업전환 수준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, 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활용 역량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,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KTR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내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교육 데이터 및 인프라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구축 현황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등 고려하여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적용 우선순위에 따라 단기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(’26)-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중기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(’27~’29)-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장기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(’30)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마스터플랜 수립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BF49B22-75C6-3631-6528-1E39E079FA37}"/>
              </a:ext>
            </a:extLst>
          </p:cNvPr>
          <p:cNvSpPr/>
          <p:nvPr/>
        </p:nvSpPr>
        <p:spPr>
          <a:xfrm>
            <a:off x="5097404" y="3635488"/>
            <a:ext cx="1566000" cy="1418975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Self-question 5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단기 </a:t>
            </a: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– </a:t>
            </a:r>
            <a:r>
              <a:rPr kumimoji="0" lang="ko-KR" altLang="en-US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중장기 </a:t>
            </a:r>
            <a:r>
              <a:rPr kumimoji="0" lang="ko-KR" altLang="en-US" sz="11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교육로드맵</a:t>
            </a:r>
            <a:r>
              <a:rPr kumimoji="0" lang="ko-KR" altLang="en-US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수립 기준은 무엇인가</a:t>
            </a: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?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F28A9F1-072E-2ADC-0218-C1CFF70EA88C}"/>
              </a:ext>
            </a:extLst>
          </p:cNvPr>
          <p:cNvSpPr/>
          <p:nvPr/>
        </p:nvSpPr>
        <p:spPr>
          <a:xfrm>
            <a:off x="6731915" y="5144803"/>
            <a:ext cx="2829600" cy="12512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72000" tIns="0" rIns="72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lnSpc>
                <a:spcPct val="12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컨설팅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AX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진단 컨설팅 도구 개발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기업수요 맞춤형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등 다양한 컨설팅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연구 용역 수행 경험으로 확보한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친환경 </a:t>
            </a:r>
            <a:r>
              <a:rPr kumimoji="1" lang="ko-KR" altLang="en-US" sz="11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바이오화학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저탄소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·AI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전문가 </a:t>
            </a:r>
            <a:r>
              <a:rPr kumimoji="1" lang="en-US" altLang="ko-KR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Pool </a:t>
            </a:r>
            <a:r>
              <a:rPr kumimoji="1" lang="ko-KR" altLang="en-US" sz="11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6 SemiBold" pitchFamily="2" charset="-127"/>
                <a:ea typeface="페이퍼로지 6 SemiBold" pitchFamily="2" charset="-127"/>
              </a:rPr>
              <a:t>활용</a:t>
            </a:r>
            <a:endParaRPr kumimoji="1" lang="en-US" altLang="ko-KR" sz="11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66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7ED80B3-0DD0-46E3-6903-EC74D3D8C762}"/>
              </a:ext>
            </a:extLst>
          </p:cNvPr>
          <p:cNvSpPr/>
          <p:nvPr/>
        </p:nvSpPr>
        <p:spPr>
          <a:xfrm>
            <a:off x="5106553" y="5144803"/>
            <a:ext cx="1566000" cy="1271872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tIns="0" rIns="9000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Self-question 6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AI </a:t>
            </a:r>
            <a:r>
              <a:rPr kumimoji="0" lang="ko-KR" altLang="en-US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교육과정 개편</a:t>
            </a: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·</a:t>
            </a:r>
            <a:r>
              <a:rPr kumimoji="0" lang="ko-KR" altLang="en-US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개발의 전문성 확보는 어떻게 할 것인가</a:t>
            </a:r>
            <a:r>
              <a:rPr kumimoji="0" lang="en-US" altLang="ko-KR" sz="11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?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5CFE277-5EFF-69D3-CA11-1B36BA625C69}"/>
              </a:ext>
            </a:extLst>
          </p:cNvPr>
          <p:cNvGrpSpPr/>
          <p:nvPr/>
        </p:nvGrpSpPr>
        <p:grpSpPr>
          <a:xfrm>
            <a:off x="339695" y="-7270"/>
            <a:ext cx="1063793" cy="735932"/>
            <a:chOff x="339695" y="-7270"/>
            <a:chExt cx="1063793" cy="735932"/>
          </a:xfrm>
          <a:solidFill>
            <a:srgbClr val="344532"/>
          </a:solidFill>
        </p:grpSpPr>
        <p:sp>
          <p:nvSpPr>
            <p:cNvPr id="67" name="사각형: 둥근 위쪽 모서리 66">
              <a:extLst>
                <a:ext uri="{FF2B5EF4-FFF2-40B4-BE49-F238E27FC236}">
                  <a16:creationId xmlns:a16="http://schemas.microsoft.com/office/drawing/2014/main" id="{F3D02F97-9E60-2D53-5A1A-D0C943D957FD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4A5B43F-F2CE-9AE1-4397-A86F313642B0}"/>
                </a:ext>
              </a:extLst>
            </p:cNvPr>
            <p:cNvSpPr txBox="1"/>
            <p:nvPr/>
          </p:nvSpPr>
          <p:spPr>
            <a:xfrm>
              <a:off x="339695" y="322993"/>
              <a:ext cx="105853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특장점</a:t>
              </a: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11EA298-1420-A36F-A1DC-F5CDA315A2DC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제안 개요 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indent="0" algn="r">
              <a:buNone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제안 특징 및 사업 접근 전략</a:t>
            </a:r>
          </a:p>
        </p:txBody>
      </p:sp>
    </p:spTree>
    <p:extLst>
      <p:ext uri="{BB962C8B-B14F-4D97-AF65-F5344CB8AC3E}">
        <p14:creationId xmlns:p14="http://schemas.microsoft.com/office/powerpoint/2010/main" val="133395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9985E-F987-BDC4-A7CC-C6101F83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023C5F3E-F455-EF86-204F-226826ED92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4074160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AE877B9-4C9E-DE73-A3A3-516213968962}"/>
              </a:ext>
            </a:extLst>
          </p:cNvPr>
          <p:cNvGrpSpPr/>
          <p:nvPr/>
        </p:nvGrpSpPr>
        <p:grpSpPr>
          <a:xfrm>
            <a:off x="795" y="2285874"/>
            <a:ext cx="5132225" cy="2286253"/>
            <a:chOff x="795" y="2384884"/>
            <a:chExt cx="5132225" cy="2286253"/>
          </a:xfrm>
        </p:grpSpPr>
        <p:sp>
          <p:nvSpPr>
            <p:cNvPr id="3" name="Text Placeholder 1">
              <a:extLst>
                <a:ext uri="{FF2B5EF4-FFF2-40B4-BE49-F238E27FC236}">
                  <a16:creationId xmlns:a16="http://schemas.microsoft.com/office/drawing/2014/main" id="{A41BD705-D4D9-7633-41AF-29FFDCCD6BD1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 Narrow" pitchFamily="34" charset="0"/>
                <a:buNone/>
                <a:tabLst/>
                <a:defRPr/>
              </a:pPr>
              <a:r>
                <a:rPr kumimoji="0" lang="en-US" altLang="ko-KR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Ⅲ. </a:t>
              </a:r>
              <a:r>
                <a:rPr kumimoji="0" lang="ko-KR" alt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과업수행계획</a:t>
              </a:r>
            </a:p>
          </p:txBody>
        </p:sp>
        <p:sp>
          <p:nvSpPr>
            <p:cNvPr id="4" name="Text Placeholder 1">
              <a:extLst>
                <a:ext uri="{FF2B5EF4-FFF2-40B4-BE49-F238E27FC236}">
                  <a16:creationId xmlns:a16="http://schemas.microsoft.com/office/drawing/2014/main" id="{B5AAD177-75FA-A195-2C7A-8FED2429B427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16118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marR="0" lvl="0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과업수행체계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  <a:p>
              <a:pPr marL="361950" marR="0" lvl="0" indent="-36195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  <a:sym typeface="+mn-lt"/>
                </a:rPr>
                <a:t>세부 수행 방안</a:t>
              </a:r>
              <a:endPara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1225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F7AE-0E60-15EF-4A4F-4FD9EB18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808D12-D780-756E-9575-6D90C3DA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 </a:t>
            </a:r>
            <a:fld id="{F0AEE96D-C800-4200-B178-74DC3655196B}" type="slidenum">
              <a:rPr kumimoji="0" lang="ko-KR" altLang="en-US" sz="813" b="0" i="0" u="none" strike="noStrike" kern="1200" cap="none" spc="-50" normalizeH="0" baseline="0" noProof="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ko-KR" altLang="en-US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 </a:t>
            </a:r>
            <a:r>
              <a:rPr kumimoji="0" lang="en-US" altLang="ko-KR" sz="813" b="0" i="0" u="none" strike="noStrike" kern="1200" cap="none" spc="-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8" panose="02020600000000000000" pitchFamily="18" charset="-127"/>
                <a:ea typeface="a고딕18" panose="02020600000000000000" pitchFamily="18" charset="-127"/>
                <a:cs typeface="+mn-cs"/>
              </a:rPr>
              <a:t>-</a:t>
            </a:r>
            <a:endParaRPr kumimoji="0" lang="ko-KR" altLang="en-US" sz="813" b="0" i="0" u="none" strike="noStrike" kern="1200" cap="none" spc="-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고딕18" panose="02020600000000000000" pitchFamily="18" charset="-127"/>
              <a:ea typeface="a고딕18" panose="02020600000000000000" pitchFamily="18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609878-D98E-AF9D-5EA6-DA97E7386366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Ⅲ.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  <a:sym typeface="+mn-lt"/>
              </a:rPr>
              <a:t>과업수행계획</a:t>
            </a:r>
          </a:p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1.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과업 수행체계</a:t>
            </a:r>
          </a:p>
        </p:txBody>
      </p:sp>
      <p:sp>
        <p:nvSpPr>
          <p:cNvPr id="71" name="텍스트 개체 틀 1">
            <a:extLst>
              <a:ext uri="{FF2B5EF4-FFF2-40B4-BE49-F238E27FC236}">
                <a16:creationId xmlns:a16="http://schemas.microsoft.com/office/drawing/2014/main" id="{A0CD1347-8A53-F864-3BFC-2D23635CED9B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제안요청서 과업 내용을 기반으로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본 사업의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Framework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을 총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Module, 9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Step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으로 재구조화 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5C66702-CEE5-C7F9-30A5-73317A20220D}"/>
              </a:ext>
            </a:extLst>
          </p:cNvPr>
          <p:cNvSpPr/>
          <p:nvPr/>
        </p:nvSpPr>
        <p:spPr>
          <a:xfrm>
            <a:off x="344487" y="1520823"/>
            <a:ext cx="596000" cy="503239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단계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7813A876-6F34-5AD7-C9DD-CCD90ABDA47B}"/>
              </a:ext>
            </a:extLst>
          </p:cNvPr>
          <p:cNvSpPr/>
          <p:nvPr/>
        </p:nvSpPr>
        <p:spPr>
          <a:xfrm>
            <a:off x="344487" y="2124969"/>
            <a:ext cx="596000" cy="151035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세부 내용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52EB991-57FB-FFE5-7D89-591EEFC0B8FA}"/>
              </a:ext>
            </a:extLst>
          </p:cNvPr>
          <p:cNvSpPr/>
          <p:nvPr/>
        </p:nvSpPr>
        <p:spPr>
          <a:xfrm>
            <a:off x="344487" y="3771323"/>
            <a:ext cx="596000" cy="617131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수행방법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CEED4004-B672-74CC-1D35-317C6738D520}"/>
              </a:ext>
            </a:extLst>
          </p:cNvPr>
          <p:cNvSpPr/>
          <p:nvPr/>
        </p:nvSpPr>
        <p:spPr>
          <a:xfrm>
            <a:off x="344487" y="4524453"/>
            <a:ext cx="596000" cy="189222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ko-KR" altLang="en-US" sz="1100" kern="0" spc="-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핵심 산출물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EA0A410-6AFE-3618-F100-29E4B3327E6B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9CF8D2F3-6F76-2C6E-45DC-A05D3B186D33}"/>
              </a:ext>
            </a:extLst>
          </p:cNvPr>
          <p:cNvGrpSpPr/>
          <p:nvPr/>
        </p:nvGrpSpPr>
        <p:grpSpPr>
          <a:xfrm>
            <a:off x="344487" y="-7270"/>
            <a:ext cx="1059001" cy="735932"/>
            <a:chOff x="344487" y="-7270"/>
            <a:chExt cx="1059001" cy="735932"/>
          </a:xfrm>
          <a:solidFill>
            <a:srgbClr val="344532"/>
          </a:solidFill>
        </p:grpSpPr>
        <p:sp>
          <p:nvSpPr>
            <p:cNvPr id="242" name="사각형: 둥근 위쪽 모서리 241">
              <a:extLst>
                <a:ext uri="{FF2B5EF4-FFF2-40B4-BE49-F238E27FC236}">
                  <a16:creationId xmlns:a16="http://schemas.microsoft.com/office/drawing/2014/main" id="{510E388E-6991-2054-0D4F-A6CD049FF293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6E4A0AF2-5A24-2AD5-D861-0A0918F63931}"/>
                </a:ext>
              </a:extLst>
            </p:cNvPr>
            <p:cNvSpPr txBox="1"/>
            <p:nvPr/>
          </p:nvSpPr>
          <p:spPr>
            <a:xfrm>
              <a:off x="344487" y="300781"/>
              <a:ext cx="1059001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2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Framework</a:t>
              </a:r>
              <a:endParaRPr lang="ko-KR" altLang="en-US" sz="12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D03626EA-EE63-53DC-D5E6-892666CBC048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과업 수행체계</a:t>
            </a:r>
            <a:endParaRPr lang="en-US" altLang="ko-KR" sz="1400" spc="-50" dirty="0">
              <a:solidFill>
                <a:srgbClr val="395D2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D016C437-D968-D381-83EA-E5CF308928A1}"/>
              </a:ext>
            </a:extLst>
          </p:cNvPr>
          <p:cNvCxnSpPr>
            <a:cxnSpLocks/>
            <a:stCxn id="218" idx="2"/>
            <a:endCxn id="220" idx="0"/>
          </p:cNvCxnSpPr>
          <p:nvPr/>
        </p:nvCxnSpPr>
        <p:spPr>
          <a:xfrm>
            <a:off x="5247554" y="2546728"/>
            <a:ext cx="0" cy="66683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07" name="화살표: 오각형 206">
            <a:extLst>
              <a:ext uri="{FF2B5EF4-FFF2-40B4-BE49-F238E27FC236}">
                <a16:creationId xmlns:a16="http://schemas.microsoft.com/office/drawing/2014/main" id="{0130BF57-3F44-7E21-35A6-89E59D721208}"/>
              </a:ext>
            </a:extLst>
          </p:cNvPr>
          <p:cNvSpPr/>
          <p:nvPr/>
        </p:nvSpPr>
        <p:spPr>
          <a:xfrm>
            <a:off x="1092797" y="1520823"/>
            <a:ext cx="280102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Module1.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직무역량모델링</a:t>
            </a:r>
          </a:p>
        </p:txBody>
      </p:sp>
      <p:sp>
        <p:nvSpPr>
          <p:cNvPr id="208" name="화살표: 오각형 207">
            <a:extLst>
              <a:ext uri="{FF2B5EF4-FFF2-40B4-BE49-F238E27FC236}">
                <a16:creationId xmlns:a16="http://schemas.microsoft.com/office/drawing/2014/main" id="{3E0A5086-7F69-49B3-3F50-57C3CA896796}"/>
              </a:ext>
            </a:extLst>
          </p:cNvPr>
          <p:cNvSpPr/>
          <p:nvPr/>
        </p:nvSpPr>
        <p:spPr>
          <a:xfrm>
            <a:off x="3926644" y="1520823"/>
            <a:ext cx="280102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Module 2. </a:t>
            </a:r>
          </a:p>
          <a:p>
            <a:pPr lvl="0" algn="ctr" defTabSz="914400">
              <a:defRPr/>
            </a:pP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B01E7B7E-D6B0-5797-DEE1-F48538D70218}"/>
              </a:ext>
            </a:extLst>
          </p:cNvPr>
          <p:cNvSpPr/>
          <p:nvPr/>
        </p:nvSpPr>
        <p:spPr>
          <a:xfrm>
            <a:off x="6760490" y="1520823"/>
            <a:ext cx="2801023" cy="503239"/>
          </a:xfrm>
          <a:prstGeom prst="homePlate">
            <a:avLst/>
          </a:prstGeom>
          <a:solidFill>
            <a:srgbClr val="34453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Module 3.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반영 </a:t>
            </a:r>
            <a:r>
              <a:rPr lang="ko-KR" altLang="en-US" sz="1200" kern="0" spc="-50" dirty="0" err="1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 및 과정 설계</a:t>
            </a:r>
            <a:endParaRPr kumimoji="0" lang="ko-KR" altLang="en-US" sz="1200" b="0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A9AA12E0-3BF7-4890-59AE-97AADD0E7EF9}"/>
              </a:ext>
            </a:extLst>
          </p:cNvPr>
          <p:cNvSpPr/>
          <p:nvPr/>
        </p:nvSpPr>
        <p:spPr>
          <a:xfrm>
            <a:off x="1092797" y="2124967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활용방안 조사</a:t>
            </a: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endParaRPr kumimoji="0" lang="ko-KR" altLang="en-US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3CBB645F-E1FA-3A59-5D77-13D468A4B1DE}"/>
              </a:ext>
            </a:extLst>
          </p:cNvPr>
          <p:cNvSpPr/>
          <p:nvPr/>
        </p:nvSpPr>
        <p:spPr>
          <a:xfrm>
            <a:off x="3926644" y="2124967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기존 교육과정 </a:t>
            </a: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– AI 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직무역량 모델 </a:t>
            </a:r>
            <a:endParaRPr lang="en-US" altLang="ko-KR" sz="12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algn="ctr" defTabSz="914400">
              <a:defRPr/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매핑 분석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24482FE5-26D1-E3E5-07C8-3ED5C296F8D3}"/>
              </a:ext>
            </a:extLst>
          </p:cNvPr>
          <p:cNvSpPr/>
          <p:nvPr/>
        </p:nvSpPr>
        <p:spPr>
          <a:xfrm>
            <a:off x="3926644" y="2669266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협약기업 수요조사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1D25A690-840B-02C2-FEAC-C0CA6F5BFB7B}"/>
              </a:ext>
            </a:extLst>
          </p:cNvPr>
          <p:cNvSpPr/>
          <p:nvPr/>
        </p:nvSpPr>
        <p:spPr>
          <a:xfrm>
            <a:off x="3926644" y="3213564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차세대</a:t>
            </a: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(’26~’30)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반영 마스터플랜 고도화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BD645010-E947-46CC-1011-6637141845CD}"/>
              </a:ext>
            </a:extLst>
          </p:cNvPr>
          <p:cNvSpPr/>
          <p:nvPr/>
        </p:nvSpPr>
        <p:spPr>
          <a:xfrm>
            <a:off x="6760490" y="2124967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반영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재설계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546D3262-D71B-CB7B-4E2C-BD343185E99E}"/>
              </a:ext>
            </a:extLst>
          </p:cNvPr>
          <p:cNvSpPr/>
          <p:nvPr/>
        </p:nvSpPr>
        <p:spPr>
          <a:xfrm>
            <a:off x="6760490" y="3213564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lvl="0" algn="ctr" defTabSz="914400">
              <a:defRPr/>
            </a:pP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 맞춤형 </a:t>
            </a:r>
            <a:r>
              <a:rPr lang="en-US" altLang="ko-KR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신규 교육 콘텐츠 설계 </a:t>
            </a:r>
          </a:p>
        </p:txBody>
      </p:sp>
      <p:cxnSp>
        <p:nvCxnSpPr>
          <p:cNvPr id="223" name="연결선: 꺾임 222">
            <a:extLst>
              <a:ext uri="{FF2B5EF4-FFF2-40B4-BE49-F238E27FC236}">
                <a16:creationId xmlns:a16="http://schemas.microsoft.com/office/drawing/2014/main" id="{D17B378B-A959-F889-D339-6BFC88C0ACB0}"/>
              </a:ext>
            </a:extLst>
          </p:cNvPr>
          <p:cNvCxnSpPr>
            <a:cxnSpLocks/>
            <a:stCxn id="254" idx="3"/>
            <a:endCxn id="218" idx="1"/>
          </p:cNvCxnSpPr>
          <p:nvPr/>
        </p:nvCxnSpPr>
        <p:spPr>
          <a:xfrm flipV="1">
            <a:off x="3734616" y="2335848"/>
            <a:ext cx="192029" cy="108859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24" name="연결선: 꺾임 223">
            <a:extLst>
              <a:ext uri="{FF2B5EF4-FFF2-40B4-BE49-F238E27FC236}">
                <a16:creationId xmlns:a16="http://schemas.microsoft.com/office/drawing/2014/main" id="{4CB5DC48-9C6A-C7A7-9207-0BB4C58B8C3C}"/>
              </a:ext>
            </a:extLst>
          </p:cNvPr>
          <p:cNvCxnSpPr>
            <a:cxnSpLocks/>
            <a:stCxn id="220" idx="3"/>
            <a:endCxn id="221" idx="1"/>
          </p:cNvCxnSpPr>
          <p:nvPr/>
        </p:nvCxnSpPr>
        <p:spPr>
          <a:xfrm flipV="1">
            <a:off x="6568463" y="2335848"/>
            <a:ext cx="192027" cy="108859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BCC4E24E-BB5A-9B33-E47D-4145483B60C8}"/>
              </a:ext>
            </a:extLst>
          </p:cNvPr>
          <p:cNvCxnSpPr>
            <a:cxnSpLocks/>
            <a:stCxn id="221" idx="2"/>
            <a:endCxn id="222" idx="0"/>
          </p:cNvCxnSpPr>
          <p:nvPr/>
        </p:nvCxnSpPr>
        <p:spPr>
          <a:xfrm>
            <a:off x="8081400" y="2546729"/>
            <a:ext cx="0" cy="66683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17A38D00-F111-A064-E0B2-1CAEC8ABD8C3}"/>
              </a:ext>
            </a:extLst>
          </p:cNvPr>
          <p:cNvSpPr/>
          <p:nvPr/>
        </p:nvSpPr>
        <p:spPr>
          <a:xfrm>
            <a:off x="6760490" y="2669266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반영 기존 교육과정 재설계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19F29619-781F-220A-A97F-2EE4281A5E74}"/>
              </a:ext>
            </a:extLst>
          </p:cNvPr>
          <p:cNvSpPr/>
          <p:nvPr/>
        </p:nvSpPr>
        <p:spPr>
          <a:xfrm>
            <a:off x="1092797" y="3771323"/>
            <a:ext cx="2641819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문헌분석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연구진 회의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전문가 회의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9F2FE2E9-C6DE-BA24-3685-FCABAD9573CE}"/>
              </a:ext>
            </a:extLst>
          </p:cNvPr>
          <p:cNvSpPr/>
          <p:nvPr/>
        </p:nvSpPr>
        <p:spPr>
          <a:xfrm>
            <a:off x="3926644" y="3771323"/>
            <a:ext cx="2641819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개발 연구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buFont typeface="Arial" panose="020B0604020202020204" pitchFamily="34" charset="0"/>
              <a:buChar char="•"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전문가 회의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buFont typeface="Arial" panose="020B0604020202020204" pitchFamily="34" charset="0"/>
              <a:buChar char="•"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설문조사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46498484-DFBF-0AD8-D7EB-878F80FA5DEA}"/>
              </a:ext>
            </a:extLst>
          </p:cNvPr>
          <p:cNvSpPr/>
          <p:nvPr/>
        </p:nvSpPr>
        <p:spPr>
          <a:xfrm>
            <a:off x="6760490" y="3771323"/>
            <a:ext cx="2641819" cy="6171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36000" tIns="72000" rIns="36000" bIns="72000" rtlCol="0" anchor="ctr"/>
          <a:lstStyle/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개발 연구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전문가 인터뷰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buFont typeface="Arial" panose="020B0604020202020204" pitchFamily="34" charset="0"/>
              <a:buChar char="•"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연구진 회의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E9BF774B-A9F7-9D2C-C7D4-ED55883CBA3D}"/>
              </a:ext>
            </a:extLst>
          </p:cNvPr>
          <p:cNvSpPr/>
          <p:nvPr/>
        </p:nvSpPr>
        <p:spPr>
          <a:xfrm>
            <a:off x="1092797" y="4524453"/>
            <a:ext cx="2641819" cy="1892222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marR="0" lvl="0" indent="-93663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업종별</a:t>
            </a: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직무별 </a:t>
            </a: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활용방안 및 핵심 스킬 목록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기존 교육과정에서 다루는 스킬 목록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marR="0" lvl="0" indent="-93663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융합 직무역량 모델 및 핵심 스킬 목록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6C2DB789-FB79-C002-8692-883C98D57904}"/>
              </a:ext>
            </a:extLst>
          </p:cNvPr>
          <p:cNvSpPr/>
          <p:nvPr/>
        </p:nvSpPr>
        <p:spPr>
          <a:xfrm>
            <a:off x="3926644" y="4524453"/>
            <a:ext cx="2641819" cy="1892222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기존 교육과정–AI 직무역량 </a:t>
            </a:r>
            <a:r>
              <a:rPr lang="ko-KR" altLang="ko-KR" sz="1200" kern="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매핑표</a:t>
            </a:r>
            <a:r>
              <a:rPr lang="ko-KR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KTR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특화 </a:t>
            </a: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융합 </a:t>
            </a:r>
            <a:r>
              <a:rPr lang="ko-KR" altLang="en-US" sz="1200" kern="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스킬셋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협약기업 수요 </a:t>
            </a:r>
            <a:r>
              <a:rPr lang="ko-KR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결과</a:t>
            </a:r>
          </a:p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차세대(’26~’30) AI 반영 교육체계 및 마스터플랜</a:t>
            </a: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고도화 결과</a:t>
            </a:r>
            <a:endParaRPr lang="ko-KR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B01A195F-4663-6BBC-B024-4A237779779A}"/>
              </a:ext>
            </a:extLst>
          </p:cNvPr>
          <p:cNvSpPr/>
          <p:nvPr/>
        </p:nvSpPr>
        <p:spPr>
          <a:xfrm>
            <a:off x="6760490" y="4524453"/>
            <a:ext cx="2641819" cy="1892222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ysClr val="window" lastClr="FFFFFF"/>
            </a:bgClr>
          </a:patt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tIns="72000" rIns="36000" bIns="72000" rtlCol="0" anchor="t"/>
          <a:lstStyle/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반영 </a:t>
            </a:r>
            <a:r>
              <a:rPr lang="ko-KR" altLang="en-US" sz="1200" kern="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재설계 결과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반영 기존 교육과정 재설계 결과</a:t>
            </a:r>
            <a:endParaRPr lang="en-US" altLang="ko-KR" sz="120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indent="-93663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 맞춤형 </a:t>
            </a:r>
            <a:r>
              <a:rPr lang="en-US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신규</a:t>
            </a:r>
            <a:r>
              <a:rPr lang="ko-KR" altLang="ko-KR" sz="120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교육과정 기획안</a:t>
            </a: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69049A06-7752-6CC0-9C80-D6A24DB123FF}"/>
              </a:ext>
            </a:extLst>
          </p:cNvPr>
          <p:cNvSpPr/>
          <p:nvPr/>
        </p:nvSpPr>
        <p:spPr>
          <a:xfrm>
            <a:off x="1092797" y="3213564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직무</a:t>
            </a:r>
            <a:r>
              <a:rPr lang="ko-KR" altLang="en-US" sz="12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역량모델 구축</a:t>
            </a:r>
            <a:endParaRPr kumimoji="0" lang="ko-KR" altLang="en-US" sz="1200" b="0" i="0" u="none" strike="noStrike" kern="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03E6BAE8-E4FA-96A7-5059-B63216D3BEA1}"/>
              </a:ext>
            </a:extLst>
          </p:cNvPr>
          <p:cNvCxnSpPr>
            <a:cxnSpLocks/>
            <a:stCxn id="214" idx="2"/>
            <a:endCxn id="254" idx="0"/>
          </p:cNvCxnSpPr>
          <p:nvPr/>
        </p:nvCxnSpPr>
        <p:spPr>
          <a:xfrm>
            <a:off x="2413707" y="2546728"/>
            <a:ext cx="0" cy="66683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 w="med" len="sm"/>
          </a:ln>
          <a:effectLst/>
        </p:spPr>
      </p:cxn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72A7CFF7-3169-CDF4-A939-66CDBBBC4310}"/>
              </a:ext>
            </a:extLst>
          </p:cNvPr>
          <p:cNvSpPr/>
          <p:nvPr/>
        </p:nvSpPr>
        <p:spPr>
          <a:xfrm>
            <a:off x="1092797" y="2669266"/>
            <a:ext cx="2641819" cy="42176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기존 친환경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분석</a:t>
            </a:r>
          </a:p>
        </p:txBody>
      </p:sp>
    </p:spTree>
    <p:extLst>
      <p:ext uri="{BB962C8B-B14F-4D97-AF65-F5344CB8AC3E}">
        <p14:creationId xmlns:p14="http://schemas.microsoft.com/office/powerpoint/2010/main" val="1912874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사각형: 둥근 위쪽 모서리 50">
            <a:extLst>
              <a:ext uri="{FF2B5EF4-FFF2-40B4-BE49-F238E27FC236}">
                <a16:creationId xmlns:a16="http://schemas.microsoft.com/office/drawing/2014/main" id="{A5FEA13F-A344-22CB-24B7-31A654F87C67}"/>
              </a:ext>
            </a:extLst>
          </p:cNvPr>
          <p:cNvSpPr/>
          <p:nvPr/>
        </p:nvSpPr>
        <p:spPr>
          <a:xfrm rot="5400000">
            <a:off x="5117576" y="1972697"/>
            <a:ext cx="4419898" cy="44687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1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3" name="사각형: 둥근 위쪽 모서리 50">
            <a:extLst>
              <a:ext uri="{FF2B5EF4-FFF2-40B4-BE49-F238E27FC236}">
                <a16:creationId xmlns:a16="http://schemas.microsoft.com/office/drawing/2014/main" id="{EF88B27A-EA1C-9CD5-072F-9E97D973B05C}"/>
              </a:ext>
            </a:extLst>
          </p:cNvPr>
          <p:cNvSpPr/>
          <p:nvPr/>
        </p:nvSpPr>
        <p:spPr>
          <a:xfrm rot="5400000">
            <a:off x="358969" y="1969272"/>
            <a:ext cx="4428609" cy="44661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1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C447C-D4DF-A36B-A450-AC87E167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14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ECAA93-2714-9372-D848-400A71C78496}"/>
              </a:ext>
            </a:extLst>
          </p:cNvPr>
          <p:cNvSpPr/>
          <p:nvPr/>
        </p:nvSpPr>
        <p:spPr>
          <a:xfrm>
            <a:off x="7294247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5E535CAB-A4DA-3C5B-B0F7-24468806E82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업종 및 직무별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활용방안 분석 결과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데이터 기반 분석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생성 중심의 활용 패턴이 공통적으로 도출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되었으며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이를 바탕으로 업무 고도화와 의사결정 중심 구조로의 전환이 이루어지고 있음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1EFBD-0D1E-75A2-34C6-CB3CB82F74C5}"/>
              </a:ext>
            </a:extLst>
          </p:cNvPr>
          <p:cNvSpPr txBox="1"/>
          <p:nvPr/>
        </p:nvSpPr>
        <p:spPr>
          <a:xfrm>
            <a:off x="356972" y="358172"/>
            <a:ext cx="105853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세부 수행방안</a:t>
            </a:r>
            <a:endParaRPr lang="ko-KR" altLang="en-US" sz="900" spc="-50" dirty="0">
              <a:solidFill>
                <a:prstClr val="white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998A8A7-F2BB-32B8-E8B9-AC415AC5CFD4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C318F37C-27D9-FA78-4412-B6A40694BDAF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F00E21-E848-575A-637C-8CBAF9348333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64483355-6B9E-573F-9C27-F4C0BD553210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직무 역량 모델링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Step1.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활용방안 조사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53" name="텍스트 개체 틀 1">
            <a:extLst>
              <a:ext uri="{FF2B5EF4-FFF2-40B4-BE49-F238E27FC236}">
                <a16:creationId xmlns:a16="http://schemas.microsoft.com/office/drawing/2014/main" id="{21863274-A46C-5F66-7269-DAF412527332}"/>
              </a:ext>
            </a:extLst>
          </p:cNvPr>
          <p:cNvSpPr txBox="1">
            <a:spLocks/>
          </p:cNvSpPr>
          <p:nvPr/>
        </p:nvSpPr>
        <p:spPr>
          <a:xfrm>
            <a:off x="339695" y="1545589"/>
            <a:ext cx="4278025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</a:pP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활용방안 분석 결과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17B66F6-C7CB-4CC7-05ED-55BBE8959E6A}"/>
              </a:ext>
            </a:extLst>
          </p:cNvPr>
          <p:cNvCxnSpPr>
            <a:cxnSpLocks/>
          </p:cNvCxnSpPr>
          <p:nvPr/>
        </p:nvCxnSpPr>
        <p:spPr>
          <a:xfrm>
            <a:off x="326995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텍스트 개체 틀 1">
            <a:extLst>
              <a:ext uri="{FF2B5EF4-FFF2-40B4-BE49-F238E27FC236}">
                <a16:creationId xmlns:a16="http://schemas.microsoft.com/office/drawing/2014/main" id="{AB648818-70D3-B277-6337-9489B6D065BB}"/>
              </a:ext>
            </a:extLst>
          </p:cNvPr>
          <p:cNvSpPr txBox="1">
            <a:spLocks/>
          </p:cNvSpPr>
          <p:nvPr/>
        </p:nvSpPr>
        <p:spPr>
          <a:xfrm>
            <a:off x="5097463" y="1545589"/>
            <a:ext cx="4468843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주요 스킬 기능에 따른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활용 도구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(Tool)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7D38A45-D1B8-FE32-F9BC-ED46E91D93D1}"/>
              </a:ext>
            </a:extLst>
          </p:cNvPr>
          <p:cNvCxnSpPr>
            <a:cxnSpLocks/>
          </p:cNvCxnSpPr>
          <p:nvPr/>
        </p:nvCxnSpPr>
        <p:spPr>
          <a:xfrm>
            <a:off x="5097463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직사각형 519">
            <a:extLst>
              <a:ext uri="{FF2B5EF4-FFF2-40B4-BE49-F238E27FC236}">
                <a16:creationId xmlns:a16="http://schemas.microsoft.com/office/drawing/2014/main" id="{4882A3CD-0CF7-0D68-4926-78E893D45CF9}"/>
              </a:ext>
            </a:extLst>
          </p:cNvPr>
          <p:cNvSpPr/>
          <p:nvPr/>
        </p:nvSpPr>
        <p:spPr>
          <a:xfrm>
            <a:off x="419870" y="2142214"/>
            <a:ext cx="4294109" cy="199133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AI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활용 영역은 업종</a:t>
            </a: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직무와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관계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없이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생산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품질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설비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공급망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R&amp;D,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기획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인사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재무 등 전사 기능 전반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으로 확산되고 있음</a:t>
            </a: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521" name="사각형: 둥근 모서리 520">
            <a:extLst>
              <a:ext uri="{FF2B5EF4-FFF2-40B4-BE49-F238E27FC236}">
                <a16:creationId xmlns:a16="http://schemas.microsoft.com/office/drawing/2014/main" id="{62E518CA-CA07-D283-A6F2-CD2FD5911A8B}"/>
              </a:ext>
            </a:extLst>
          </p:cNvPr>
          <p:cNvSpPr/>
          <p:nvPr/>
        </p:nvSpPr>
        <p:spPr>
          <a:xfrm>
            <a:off x="469246" y="2045646"/>
            <a:ext cx="1710863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① 직무 패러다임의 전환</a:t>
            </a:r>
          </a:p>
        </p:txBody>
      </p:sp>
      <p:sp>
        <p:nvSpPr>
          <p:cNvPr id="677" name="사각형: 둥근 모서리 676">
            <a:extLst>
              <a:ext uri="{FF2B5EF4-FFF2-40B4-BE49-F238E27FC236}">
                <a16:creationId xmlns:a16="http://schemas.microsoft.com/office/drawing/2014/main" id="{ADE876CC-5FA3-76EF-27A7-C3D4DF095AE6}"/>
              </a:ext>
            </a:extLst>
          </p:cNvPr>
          <p:cNvSpPr/>
          <p:nvPr/>
        </p:nvSpPr>
        <p:spPr>
          <a:xfrm>
            <a:off x="5191627" y="2318151"/>
            <a:ext cx="599304" cy="463141"/>
          </a:xfrm>
          <a:prstGeom prst="roundRect">
            <a:avLst/>
          </a:prstGeom>
          <a:solidFill>
            <a:srgbClr val="E2F0D9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678" name="사각형: 둥근 모서리 677">
            <a:extLst>
              <a:ext uri="{FF2B5EF4-FFF2-40B4-BE49-F238E27FC236}">
                <a16:creationId xmlns:a16="http://schemas.microsoft.com/office/drawing/2014/main" id="{853978A8-79E9-3BAD-4FD2-A12B09BF0C67}"/>
              </a:ext>
            </a:extLst>
          </p:cNvPr>
          <p:cNvSpPr/>
          <p:nvPr/>
        </p:nvSpPr>
        <p:spPr>
          <a:xfrm>
            <a:off x="5844300" y="2318151"/>
            <a:ext cx="1248650" cy="463141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데이터 수집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가공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시각화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79" name="사각형: 둥근 모서리 678">
            <a:extLst>
              <a:ext uri="{FF2B5EF4-FFF2-40B4-BE49-F238E27FC236}">
                <a16:creationId xmlns:a16="http://schemas.microsoft.com/office/drawing/2014/main" id="{FF859B57-505C-4234-B174-C8BFE1DE2073}"/>
              </a:ext>
            </a:extLst>
          </p:cNvPr>
          <p:cNvSpPr/>
          <p:nvPr/>
        </p:nvSpPr>
        <p:spPr>
          <a:xfrm>
            <a:off x="5844300" y="2828887"/>
            <a:ext cx="1248650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수요 예측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품질 이상 탐지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설비 고장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80" name="사각형: 둥근 모서리 679">
            <a:extLst>
              <a:ext uri="{FF2B5EF4-FFF2-40B4-BE49-F238E27FC236}">
                <a16:creationId xmlns:a16="http://schemas.microsoft.com/office/drawing/2014/main" id="{5835A504-D318-909F-6E7F-19A72B5E9C35}"/>
              </a:ext>
            </a:extLst>
          </p:cNvPr>
          <p:cNvSpPr/>
          <p:nvPr/>
        </p:nvSpPr>
        <p:spPr>
          <a:xfrm>
            <a:off x="5191627" y="2828886"/>
            <a:ext cx="599304" cy="542203"/>
          </a:xfrm>
          <a:prstGeom prst="roundRect">
            <a:avLst/>
          </a:prstGeom>
          <a:solidFill>
            <a:srgbClr val="E2F0D9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  <a:r>
              <a:rPr lang="en-US" altLang="ko-KR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이상탐지</a:t>
            </a:r>
          </a:p>
        </p:txBody>
      </p:sp>
      <p:sp>
        <p:nvSpPr>
          <p:cNvPr id="681" name="사각형: 둥근 모서리 680">
            <a:extLst>
              <a:ext uri="{FF2B5EF4-FFF2-40B4-BE49-F238E27FC236}">
                <a16:creationId xmlns:a16="http://schemas.microsoft.com/office/drawing/2014/main" id="{02806E9B-A36E-B9C8-3C1B-BC3397181E02}"/>
              </a:ext>
            </a:extLst>
          </p:cNvPr>
          <p:cNvSpPr/>
          <p:nvPr/>
        </p:nvSpPr>
        <p:spPr>
          <a:xfrm>
            <a:off x="5191627" y="3421421"/>
            <a:ext cx="599304" cy="467586"/>
          </a:xfrm>
          <a:prstGeom prst="roundRect">
            <a:avLst/>
          </a:prstGeom>
          <a:solidFill>
            <a:srgbClr val="E2F0D9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이미지 분석</a:t>
            </a:r>
            <a:endParaRPr lang="en-US" altLang="ko-KR" sz="1000" spc="-5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82" name="사각형: 둥근 모서리 681">
            <a:extLst>
              <a:ext uri="{FF2B5EF4-FFF2-40B4-BE49-F238E27FC236}">
                <a16:creationId xmlns:a16="http://schemas.microsoft.com/office/drawing/2014/main" id="{8446A5D0-68A7-4673-0913-A0C9BDEEB97C}"/>
              </a:ext>
            </a:extLst>
          </p:cNvPr>
          <p:cNvSpPr/>
          <p:nvPr/>
        </p:nvSpPr>
        <p:spPr>
          <a:xfrm>
            <a:off x="5844300" y="3421422"/>
            <a:ext cx="1248650" cy="471556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불량 검출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품질 검사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83" name="사각형: 둥근 모서리 682">
            <a:extLst>
              <a:ext uri="{FF2B5EF4-FFF2-40B4-BE49-F238E27FC236}">
                <a16:creationId xmlns:a16="http://schemas.microsoft.com/office/drawing/2014/main" id="{2C9563B6-EA8B-948B-E212-8DEA9E68A059}"/>
              </a:ext>
            </a:extLst>
          </p:cNvPr>
          <p:cNvSpPr/>
          <p:nvPr/>
        </p:nvSpPr>
        <p:spPr>
          <a:xfrm>
            <a:off x="5844300" y="3939866"/>
            <a:ext cx="1248650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반복업무 자동화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공정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물류 최적화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84" name="사각형: 둥근 모서리 683">
            <a:extLst>
              <a:ext uri="{FF2B5EF4-FFF2-40B4-BE49-F238E27FC236}">
                <a16:creationId xmlns:a16="http://schemas.microsoft.com/office/drawing/2014/main" id="{D2ABDA77-716E-6E9F-2392-A03F46EE8DEF}"/>
              </a:ext>
            </a:extLst>
          </p:cNvPr>
          <p:cNvSpPr/>
          <p:nvPr/>
        </p:nvSpPr>
        <p:spPr>
          <a:xfrm>
            <a:off x="5191627" y="3939866"/>
            <a:ext cx="599304" cy="543410"/>
          </a:xfrm>
          <a:prstGeom prst="roundRect">
            <a:avLst/>
          </a:prstGeom>
          <a:solidFill>
            <a:srgbClr val="E2F0D9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  <a:r>
              <a:rPr lang="en-US" altLang="ko-KR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</a:p>
          <a:p>
            <a:pPr algn="ctr"/>
            <a:r>
              <a:rPr lang="ko-KR" altLang="en-US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최적화</a:t>
            </a:r>
          </a:p>
        </p:txBody>
      </p:sp>
      <p:sp>
        <p:nvSpPr>
          <p:cNvPr id="685" name="사각형: 둥근 모서리 684">
            <a:extLst>
              <a:ext uri="{FF2B5EF4-FFF2-40B4-BE49-F238E27FC236}">
                <a16:creationId xmlns:a16="http://schemas.microsoft.com/office/drawing/2014/main" id="{B7105FF4-E9C4-7B9B-0B3B-6CAE62BF395A}"/>
              </a:ext>
            </a:extLst>
          </p:cNvPr>
          <p:cNvSpPr/>
          <p:nvPr/>
        </p:nvSpPr>
        <p:spPr>
          <a:xfrm>
            <a:off x="5197977" y="4529438"/>
            <a:ext cx="599304" cy="662323"/>
          </a:xfrm>
          <a:prstGeom prst="roundRect">
            <a:avLst/>
          </a:prstGeom>
          <a:solidFill>
            <a:srgbClr val="E2F0D9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</a:p>
          <a:p>
            <a:pPr algn="ctr"/>
            <a:r>
              <a:rPr lang="ko-KR" altLang="en-US" sz="1000" spc="-5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작성 지원</a:t>
            </a:r>
          </a:p>
        </p:txBody>
      </p:sp>
      <p:sp>
        <p:nvSpPr>
          <p:cNvPr id="686" name="사각형: 둥근 모서리 685">
            <a:extLst>
              <a:ext uri="{FF2B5EF4-FFF2-40B4-BE49-F238E27FC236}">
                <a16:creationId xmlns:a16="http://schemas.microsoft.com/office/drawing/2014/main" id="{22906392-9DEE-767D-68D5-F4CD66C6B0ED}"/>
              </a:ext>
            </a:extLst>
          </p:cNvPr>
          <p:cNvSpPr/>
          <p:nvPr/>
        </p:nvSpPr>
        <p:spPr>
          <a:xfrm>
            <a:off x="5850650" y="4529438"/>
            <a:ext cx="1248650" cy="662323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문서 생성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보고서 작성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NLP(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자연어 처리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689" name="모서리가 둥근 직사각형 95">
            <a:extLst>
              <a:ext uri="{FF2B5EF4-FFF2-40B4-BE49-F238E27FC236}">
                <a16:creationId xmlns:a16="http://schemas.microsoft.com/office/drawing/2014/main" id="{13EE07A1-6A34-A4E4-FB7F-0EF3D023C6B2}"/>
              </a:ext>
            </a:extLst>
          </p:cNvPr>
          <p:cNvSpPr>
            <a:spLocks/>
          </p:cNvSpPr>
          <p:nvPr/>
        </p:nvSpPr>
        <p:spPr>
          <a:xfrm>
            <a:off x="5191627" y="2093069"/>
            <a:ext cx="599304" cy="18924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구분</a:t>
            </a:r>
          </a:p>
        </p:txBody>
      </p:sp>
      <p:sp>
        <p:nvSpPr>
          <p:cNvPr id="690" name="모서리가 둥근 직사각형 95">
            <a:extLst>
              <a:ext uri="{FF2B5EF4-FFF2-40B4-BE49-F238E27FC236}">
                <a16:creationId xmlns:a16="http://schemas.microsoft.com/office/drawing/2014/main" id="{C2E77CE7-59AC-C1CC-6C63-64418C3E5901}"/>
              </a:ext>
            </a:extLst>
          </p:cNvPr>
          <p:cNvSpPr>
            <a:spLocks/>
          </p:cNvSpPr>
          <p:nvPr/>
        </p:nvSpPr>
        <p:spPr>
          <a:xfrm>
            <a:off x="5844300" y="2093069"/>
            <a:ext cx="1248650" cy="1892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주요 스킬</a:t>
            </a:r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/ </a:t>
            </a:r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기능</a:t>
            </a:r>
          </a:p>
        </p:txBody>
      </p:sp>
      <p:sp>
        <p:nvSpPr>
          <p:cNvPr id="699" name="사각형: 둥근 모서리 698">
            <a:extLst>
              <a:ext uri="{FF2B5EF4-FFF2-40B4-BE49-F238E27FC236}">
                <a16:creationId xmlns:a16="http://schemas.microsoft.com/office/drawing/2014/main" id="{7A802F14-4F81-FFB1-15FA-67B50A4FC6A2}"/>
              </a:ext>
            </a:extLst>
          </p:cNvPr>
          <p:cNvSpPr/>
          <p:nvPr/>
        </p:nvSpPr>
        <p:spPr>
          <a:xfrm>
            <a:off x="7140414" y="2318151"/>
            <a:ext cx="1248650" cy="463141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fr-FR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Python(Pandas)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fr-FR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Power BI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fr-FR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MES/ERP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00" name="사각형: 둥근 모서리 699">
            <a:extLst>
              <a:ext uri="{FF2B5EF4-FFF2-40B4-BE49-F238E27FC236}">
                <a16:creationId xmlns:a16="http://schemas.microsoft.com/office/drawing/2014/main" id="{E6905E41-F3C4-622D-BF7D-2808CBE35812}"/>
              </a:ext>
            </a:extLst>
          </p:cNvPr>
          <p:cNvSpPr/>
          <p:nvPr/>
        </p:nvSpPr>
        <p:spPr>
          <a:xfrm>
            <a:off x="7140414" y="2828887"/>
            <a:ext cx="1248650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Python(</a:t>
            </a:r>
            <a:r>
              <a:rPr kumimoji="1" lang="ko-KR" altLang="en-US" sz="800" kern="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머신러닝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딥러닝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(CNN)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IoT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Azure IoT</a:t>
            </a:r>
          </a:p>
        </p:txBody>
      </p:sp>
      <p:sp>
        <p:nvSpPr>
          <p:cNvPr id="701" name="사각형: 둥근 모서리 700">
            <a:extLst>
              <a:ext uri="{FF2B5EF4-FFF2-40B4-BE49-F238E27FC236}">
                <a16:creationId xmlns:a16="http://schemas.microsoft.com/office/drawing/2014/main" id="{B1BBF902-799B-77B4-719A-0F9AAD97F839}"/>
              </a:ext>
            </a:extLst>
          </p:cNvPr>
          <p:cNvSpPr/>
          <p:nvPr/>
        </p:nvSpPr>
        <p:spPr>
          <a:xfrm>
            <a:off x="7140414" y="3421422"/>
            <a:ext cx="1248650" cy="471556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Cognex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Keyence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Open CV (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이미지 분석 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AI)</a:t>
            </a:r>
          </a:p>
        </p:txBody>
      </p:sp>
      <p:sp>
        <p:nvSpPr>
          <p:cNvPr id="702" name="사각형: 둥근 모서리 701">
            <a:extLst>
              <a:ext uri="{FF2B5EF4-FFF2-40B4-BE49-F238E27FC236}">
                <a16:creationId xmlns:a16="http://schemas.microsoft.com/office/drawing/2014/main" id="{B85D91AC-0532-CF41-8028-9F78CFC8B03E}"/>
              </a:ext>
            </a:extLst>
          </p:cNvPr>
          <p:cNvSpPr/>
          <p:nvPr/>
        </p:nvSpPr>
        <p:spPr>
          <a:xfrm>
            <a:off x="7140414" y="3939866"/>
            <a:ext cx="1248650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RPA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OR-Tools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MES/ERP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WMS</a:t>
            </a:r>
          </a:p>
        </p:txBody>
      </p:sp>
      <p:sp>
        <p:nvSpPr>
          <p:cNvPr id="703" name="사각형: 둥근 모서리 702">
            <a:extLst>
              <a:ext uri="{FF2B5EF4-FFF2-40B4-BE49-F238E27FC236}">
                <a16:creationId xmlns:a16="http://schemas.microsoft.com/office/drawing/2014/main" id="{9C0C826E-80CC-7AA3-2AA5-9F886460DAFE}"/>
              </a:ext>
            </a:extLst>
          </p:cNvPr>
          <p:cNvSpPr/>
          <p:nvPr/>
        </p:nvSpPr>
        <p:spPr>
          <a:xfrm>
            <a:off x="7146764" y="4529438"/>
            <a:ext cx="1248650" cy="662323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ChatGPT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Claude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Copilot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CLOVA</a:t>
            </a: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Notion AI</a:t>
            </a:r>
          </a:p>
        </p:txBody>
      </p:sp>
      <p:sp>
        <p:nvSpPr>
          <p:cNvPr id="704" name="모서리가 둥근 직사각형 95">
            <a:extLst>
              <a:ext uri="{FF2B5EF4-FFF2-40B4-BE49-F238E27FC236}">
                <a16:creationId xmlns:a16="http://schemas.microsoft.com/office/drawing/2014/main" id="{00DBB22E-FAAB-EDE5-734C-8025D3105679}"/>
              </a:ext>
            </a:extLst>
          </p:cNvPr>
          <p:cNvSpPr>
            <a:spLocks/>
          </p:cNvSpPr>
          <p:nvPr/>
        </p:nvSpPr>
        <p:spPr>
          <a:xfrm>
            <a:off x="7140414" y="2093069"/>
            <a:ext cx="1248650" cy="1892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활용 </a:t>
            </a:r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Tool</a:t>
            </a:r>
            <a:endParaRPr lang="ko-KR" altLang="en-US" sz="10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05" name="사각형: 둥근 모서리 704">
            <a:extLst>
              <a:ext uri="{FF2B5EF4-FFF2-40B4-BE49-F238E27FC236}">
                <a16:creationId xmlns:a16="http://schemas.microsoft.com/office/drawing/2014/main" id="{E6EB0396-6F28-7E08-26C5-138A4EE9FF92}"/>
              </a:ext>
            </a:extLst>
          </p:cNvPr>
          <p:cNvSpPr/>
          <p:nvPr/>
        </p:nvSpPr>
        <p:spPr>
          <a:xfrm>
            <a:off x="8435486" y="2318151"/>
            <a:ext cx="1028635" cy="463141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전 직무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업종에서 활용 되는 기본 인프라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06" name="사각형: 둥근 모서리 705">
            <a:extLst>
              <a:ext uri="{FF2B5EF4-FFF2-40B4-BE49-F238E27FC236}">
                <a16:creationId xmlns:a16="http://schemas.microsoft.com/office/drawing/2014/main" id="{25F13D59-B9C6-E95B-B84E-4D6D8277E10E}"/>
              </a:ext>
            </a:extLst>
          </p:cNvPr>
          <p:cNvSpPr/>
          <p:nvPr/>
        </p:nvSpPr>
        <p:spPr>
          <a:xfrm>
            <a:off x="8435486" y="2828887"/>
            <a:ext cx="1028635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사전 대응 기반의 역할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제조 및 설비 중심 핵심 활용 영역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07" name="사각형: 둥근 모서리 706">
            <a:extLst>
              <a:ext uri="{FF2B5EF4-FFF2-40B4-BE49-F238E27FC236}">
                <a16:creationId xmlns:a16="http://schemas.microsoft.com/office/drawing/2014/main" id="{935D5242-AD9E-03F8-4441-E21C1911A5EF}"/>
              </a:ext>
            </a:extLst>
          </p:cNvPr>
          <p:cNvSpPr/>
          <p:nvPr/>
        </p:nvSpPr>
        <p:spPr>
          <a:xfrm>
            <a:off x="8435486" y="3421422"/>
            <a:ext cx="1028635" cy="471556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품질관리의 핵심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제조 품질 영역에서의 빠른 확산 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트렌드 화 中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708" name="사각형: 둥근 모서리 707">
            <a:extLst>
              <a:ext uri="{FF2B5EF4-FFF2-40B4-BE49-F238E27FC236}">
                <a16:creationId xmlns:a16="http://schemas.microsoft.com/office/drawing/2014/main" id="{A5ED93E8-667B-6389-FF1B-5A96B01EA73A}"/>
              </a:ext>
            </a:extLst>
          </p:cNvPr>
          <p:cNvSpPr/>
          <p:nvPr/>
        </p:nvSpPr>
        <p:spPr>
          <a:xfrm>
            <a:off x="8435486" y="3939866"/>
            <a:ext cx="1028635" cy="543410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효율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비용 절감에 직접적으로 기여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09" name="사각형: 둥근 모서리 708">
            <a:extLst>
              <a:ext uri="{FF2B5EF4-FFF2-40B4-BE49-F238E27FC236}">
                <a16:creationId xmlns:a16="http://schemas.microsoft.com/office/drawing/2014/main" id="{7A665A9D-5C54-9B53-50AC-BB2905E110AC}"/>
              </a:ext>
            </a:extLst>
          </p:cNvPr>
          <p:cNvSpPr/>
          <p:nvPr/>
        </p:nvSpPr>
        <p:spPr>
          <a:xfrm>
            <a:off x="8441836" y="4529438"/>
            <a:ext cx="1028635" cy="662323"/>
          </a:xfrm>
          <a:prstGeom prst="roundRect">
            <a:avLst>
              <a:gd name="adj" fmla="val 5632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txBody>
          <a:bodyPr lIns="36000" tIns="36000" rIns="36000" bIns="36000" rtlCol="0" anchor="ctr"/>
          <a:lstStyle/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업무의 생산성 강화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사무</a:t>
            </a:r>
            <a:r>
              <a:rPr kumimoji="1" lang="en-US" altLang="ko-KR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8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지식 업무 중심이 빠르게 확산</a:t>
            </a:r>
            <a:endParaRPr kumimoji="1" lang="en-US" altLang="ko-KR" sz="8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10" name="모서리가 둥근 직사각형 95">
            <a:extLst>
              <a:ext uri="{FF2B5EF4-FFF2-40B4-BE49-F238E27FC236}">
                <a16:creationId xmlns:a16="http://schemas.microsoft.com/office/drawing/2014/main" id="{4A1C1A1F-9E11-2013-791B-74065C2DB1E9}"/>
              </a:ext>
            </a:extLst>
          </p:cNvPr>
          <p:cNvSpPr>
            <a:spLocks/>
          </p:cNvSpPr>
          <p:nvPr/>
        </p:nvSpPr>
        <p:spPr>
          <a:xfrm>
            <a:off x="8435486" y="2093069"/>
            <a:ext cx="1028635" cy="18924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역할</a:t>
            </a:r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현장</a:t>
            </a:r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0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9" name="직사각형 718">
            <a:extLst>
              <a:ext uri="{FF2B5EF4-FFF2-40B4-BE49-F238E27FC236}">
                <a16:creationId xmlns:a16="http://schemas.microsoft.com/office/drawing/2014/main" id="{138CC64A-6764-F223-6E0D-CFB6230650A1}"/>
              </a:ext>
            </a:extLst>
          </p:cNvPr>
          <p:cNvSpPr/>
          <p:nvPr/>
        </p:nvSpPr>
        <p:spPr>
          <a:xfrm>
            <a:off x="5172592" y="5381016"/>
            <a:ext cx="4294109" cy="960277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fontAlgn="base" latinLnBrk="0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kumimoji="0" lang="en-US" altLang="ko-KR" sz="800" b="0" i="0" u="none" strike="noStrike" kern="1200" cap="none" spc="-5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00C3F3C2-31FE-02A1-8FA8-4A3F2B934A4A}"/>
              </a:ext>
            </a:extLst>
          </p:cNvPr>
          <p:cNvSpPr txBox="1"/>
          <p:nvPr/>
        </p:nvSpPr>
        <p:spPr>
          <a:xfrm>
            <a:off x="5190078" y="5440378"/>
            <a:ext cx="4284122" cy="849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는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데이터 부족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현장 적용의 어려움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인력 및 조직 역량 부족 등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으로 실제 활용에 한계가 있음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92075" indent="-920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따라서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데이터 인프라 구축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현장 중심 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PoC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확대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 및 역량 강화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협업 체계와 인식 전환을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통해 활용 기반을 강화할 필요가 있음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720" name="사각형: 둥근 모서리 719">
            <a:extLst>
              <a:ext uri="{FF2B5EF4-FFF2-40B4-BE49-F238E27FC236}">
                <a16:creationId xmlns:a16="http://schemas.microsoft.com/office/drawing/2014/main" id="{0269E1F6-95C4-8736-179A-943F020A4E92}"/>
              </a:ext>
            </a:extLst>
          </p:cNvPr>
          <p:cNvSpPr/>
          <p:nvPr/>
        </p:nvSpPr>
        <p:spPr>
          <a:xfrm>
            <a:off x="5236496" y="5253844"/>
            <a:ext cx="1975488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현장 적용의 주요 제약과 해결 방향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6F8FDEF-D482-30E8-4457-A9E275EC2F33}"/>
              </a:ext>
            </a:extLst>
          </p:cNvPr>
          <p:cNvGraphicFramePr>
            <a:graphicFrameLocks noGrp="1"/>
          </p:cNvGraphicFramePr>
          <p:nvPr/>
        </p:nvGraphicFramePr>
        <p:xfrm>
          <a:off x="494567" y="2764072"/>
          <a:ext cx="4144716" cy="1273920"/>
        </p:xfrm>
        <a:graphic>
          <a:graphicData uri="http://schemas.openxmlformats.org/drawingml/2006/table">
            <a:tbl>
              <a:tblPr firstRow="1" bandRow="1"/>
              <a:tblGrid>
                <a:gridCol w="801806">
                  <a:extLst>
                    <a:ext uri="{9D8B030D-6E8A-4147-A177-3AD203B41FA5}">
                      <a16:colId xmlns:a16="http://schemas.microsoft.com/office/drawing/2014/main" val="3852584873"/>
                    </a:ext>
                  </a:extLst>
                </a:gridCol>
                <a:gridCol w="1671455">
                  <a:extLst>
                    <a:ext uri="{9D8B030D-6E8A-4147-A177-3AD203B41FA5}">
                      <a16:colId xmlns:a16="http://schemas.microsoft.com/office/drawing/2014/main" val="590364798"/>
                    </a:ext>
                  </a:extLst>
                </a:gridCol>
                <a:gridCol w="1671455">
                  <a:extLst>
                    <a:ext uri="{9D8B030D-6E8A-4147-A177-3AD203B41FA5}">
                      <a16:colId xmlns:a16="http://schemas.microsoft.com/office/drawing/2014/main" val="2858389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직무 전환 방향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As-is</a:t>
                      </a:r>
                      <a:endParaRPr lang="ko-KR" altLang="en-US" sz="800" kern="1200" spc="-5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To-be</a:t>
                      </a:r>
                      <a:endParaRPr lang="ko-KR" altLang="en-US" sz="800" kern="1200" spc="-5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699578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공통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base" latinLnBrk="1" hangingPunct="1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실행 중심 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작업 수행 위주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  <a:p>
                      <a:pPr marL="88900" indent="-88900" algn="l" defTabSz="914400" rtl="0" eaLnBrk="1" fontAlgn="base" latinLnBrk="1" hangingPunct="1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기능 단위 역할의 분리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base" latinLnBrk="1" hangingPunct="1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판단 및 관리 중심의 의사결정 강화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defTabSz="914400" rtl="0" eaLnBrk="1" fontAlgn="base" latinLnBrk="1" hangingPunct="1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협업 기반 역할 고도화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7336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생산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품질관리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불량 발생 후 검사 및 조치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육안 검사 및 샘플링 중심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비전 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실시간 품질 검사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불량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이상 사전 예측 및 예방 중심 관리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4382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데이터 활용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 수집은 있으나 제한적 활용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전문인력에 의존한 데이터 분석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수집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전  과정 내재화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현업 중심 데이터 기반 의사결정 확산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3875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설비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운영관리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고장</a:t>
                      </a: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발생 후 유지보수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정기 점검 중심 운영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IoT+ AI </a:t>
                      </a: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기반 예지보전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88900" indent="-88900" defTabSz="914400" fontAlgn="base"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kern="0" spc="-5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설비 상태 실시간 모니터링 및 사전 대응</a:t>
                      </a:r>
                      <a:endParaRPr kumimoji="1" lang="en-US" altLang="ko-KR" sz="800" kern="0" spc="-5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151161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CE8B7-0E95-FA1C-CBE4-971CD6343C98}"/>
              </a:ext>
            </a:extLst>
          </p:cNvPr>
          <p:cNvSpPr/>
          <p:nvPr/>
        </p:nvSpPr>
        <p:spPr>
          <a:xfrm>
            <a:off x="419870" y="4349954"/>
            <a:ext cx="4294109" cy="199133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AI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적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용 유형은 주로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생성을 중심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으로</a:t>
            </a: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,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의사결정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리스크 대응</a:t>
            </a:r>
            <a:r>
              <a:rPr kumimoji="1" lang="en-US" altLang="ko-KR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1" lang="ko-KR" altLang="en-US" sz="10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효율 향상 등의 성과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로 이어짐</a:t>
            </a:r>
            <a:r>
              <a:rPr kumimoji="1" lang="en-US" altLang="ko-KR" sz="10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815D7AD-B06B-C6DC-7E01-811B4CF42460}"/>
              </a:ext>
            </a:extLst>
          </p:cNvPr>
          <p:cNvSpPr/>
          <p:nvPr/>
        </p:nvSpPr>
        <p:spPr>
          <a:xfrm>
            <a:off x="469246" y="4253386"/>
            <a:ext cx="1710863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② </a:t>
            </a:r>
            <a:r>
              <a:rPr lang="en-US" altLang="ko-KR" sz="10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적용 유형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021AE4-EF4D-A0B0-9215-E5878F3B2BE2}"/>
              </a:ext>
            </a:extLst>
          </p:cNvPr>
          <p:cNvGraphicFramePr>
            <a:graphicFrameLocks noGrp="1"/>
          </p:cNvGraphicFramePr>
          <p:nvPr/>
        </p:nvGraphicFramePr>
        <p:xfrm>
          <a:off x="494566" y="4951880"/>
          <a:ext cx="4128645" cy="1300060"/>
        </p:xfrm>
        <a:graphic>
          <a:graphicData uri="http://schemas.openxmlformats.org/drawingml/2006/table">
            <a:tbl>
              <a:tblPr firstRow="1" bandRow="1"/>
              <a:tblGrid>
                <a:gridCol w="818091">
                  <a:extLst>
                    <a:ext uri="{9D8B030D-6E8A-4147-A177-3AD203B41FA5}">
                      <a16:colId xmlns:a16="http://schemas.microsoft.com/office/drawing/2014/main" val="3852584873"/>
                    </a:ext>
                  </a:extLst>
                </a:gridCol>
                <a:gridCol w="2432349">
                  <a:extLst>
                    <a:ext uri="{9D8B030D-6E8A-4147-A177-3AD203B41FA5}">
                      <a16:colId xmlns:a16="http://schemas.microsoft.com/office/drawing/2014/main" val="590364798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858389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altLang="ko-KR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적용 주요 패턴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효과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699578"/>
                  </a:ext>
                </a:extLst>
              </a:tr>
              <a:tr h="230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분석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기반 의사결정을 위한 데이터 수집 및 가공 시각화 활용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의사결정 고도화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7336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예측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이상탐지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수요</a:t>
                      </a:r>
                      <a:r>
                        <a:rPr kumimoji="0" lang="en-US" altLang="ko-KR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  <a:r>
                        <a:rPr kumimoji="0" lang="en-US" altLang="ko-KR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설비 이상 등 미래 상황을 사전 예측하여 대응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리스크 사전 대응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438295"/>
                  </a:ext>
                </a:extLst>
              </a:tr>
              <a:tr h="230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이미지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 결함 및 불량 검출</a:t>
                      </a:r>
                      <a:r>
                        <a:rPr kumimoji="0" lang="en-US" altLang="ko-KR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검사를 위한 이미지 데이터 분석</a:t>
                      </a:r>
                      <a:endParaRPr kumimoji="0" lang="en-US" altLang="ko-KR" sz="8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관리 고도화 </a:t>
                      </a:r>
                      <a:endParaRPr kumimoji="0" lang="en-US" altLang="ko-KR" sz="8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및 불량률 감소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3875"/>
                  </a:ext>
                </a:extLst>
              </a:tr>
              <a:tr h="2304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자동화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/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반복 업무 및 공정 자동화를 통해 효율성</a:t>
                      </a:r>
                      <a:r>
                        <a:rPr kumimoji="0" lang="en-US" altLang="ko-KR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생산성 향상</a:t>
                      </a:r>
                      <a:endParaRPr kumimoji="0" lang="en-US" altLang="ko-KR" sz="8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 공정 효율 향상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1527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생성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지원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문서</a:t>
                      </a:r>
                      <a:r>
                        <a:rPr kumimoji="0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생성 등 의사결정 지원 등의 업무 보조 기능 수행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kumimoji="0" lang="ko-KR" altLang="en-US" sz="8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 생산성 향상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15116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DC8A78F-25C0-DD4D-B2E6-74EE7FFD6300}"/>
              </a:ext>
            </a:extLst>
          </p:cNvPr>
          <p:cNvSpPr/>
          <p:nvPr/>
        </p:nvSpPr>
        <p:spPr>
          <a:xfrm>
            <a:off x="6930586" y="1148802"/>
            <a:ext cx="2711133" cy="2695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원본 제안서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P.16~ P.17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참고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]</a:t>
            </a:r>
            <a:endParaRPr lang="ko-KR" altLang="en-US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583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C447C-D4DF-A36B-A450-AC87E167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15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ECAA93-2714-9372-D848-400A71C78496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5E535CAB-A4DA-3C5B-B0F7-24468806E82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기존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산업전환 공동훈련센터 교육과정의 세부 내용을 분석하여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교과목별 핵심 스킬을 도출하고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기능 단위의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연계 방향을 검토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하여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융합 스킬의 기초 자료를 마련함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5B8EC56-568F-F5B4-0D31-79AF564EFF4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138E4AD4-669C-23F5-91E8-F53BAD298974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기존 교육과정 분석 절차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037E9B1-F9BD-B669-ED32-3A14C53322C8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직무 역량 모델링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Step2.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기존 친환경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분석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D7B9EF7-1366-02EC-0C9E-441DE1EE4B18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7" name="사각형: 둥근 위쪽 모서리 66">
              <a:extLst>
                <a:ext uri="{FF2B5EF4-FFF2-40B4-BE49-F238E27FC236}">
                  <a16:creationId xmlns:a16="http://schemas.microsoft.com/office/drawing/2014/main" id="{870B6DF3-8BDB-370A-89CE-AC7589C48EDE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37D0C2D-88AC-F62C-92DD-E2F9C9ADB69E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25" name="오른쪽 화살표 45">
            <a:extLst>
              <a:ext uri="{FF2B5EF4-FFF2-40B4-BE49-F238E27FC236}">
                <a16:creationId xmlns:a16="http://schemas.microsoft.com/office/drawing/2014/main" id="{AB53D1F0-EF9D-951D-2BD8-4838981FF242}"/>
              </a:ext>
            </a:extLst>
          </p:cNvPr>
          <p:cNvSpPr/>
          <p:nvPr/>
        </p:nvSpPr>
        <p:spPr>
          <a:xfrm>
            <a:off x="2080737" y="2137268"/>
            <a:ext cx="4858592" cy="190429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defTabSz="914395" eaLnBrk="0" fontAlgn="base" latinLnBrk="1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kern="0" spc="-50" dirty="0">
              <a:solidFill>
                <a:prstClr val="white"/>
              </a:solidFill>
              <a:latin typeface="Arial Narrow" panose="020B0606020202030204" pitchFamily="34" charset="0"/>
              <a:ea typeface="a고딕14" panose="02020600000000000000" pitchFamily="18" charset="-127"/>
            </a:endParaRPr>
          </a:p>
        </p:txBody>
      </p:sp>
      <p:sp>
        <p:nvSpPr>
          <p:cNvPr id="30" name="직사각형 178">
            <a:extLst>
              <a:ext uri="{FF2B5EF4-FFF2-40B4-BE49-F238E27FC236}">
                <a16:creationId xmlns:a16="http://schemas.microsoft.com/office/drawing/2014/main" id="{A1D67346-2EB9-79A8-D42D-8D2D735FE87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646269" y="2008423"/>
            <a:ext cx="2617200" cy="448119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0043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54000" bIns="4680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kern="0" spc="-50" dirty="0">
                <a:latin typeface="페이퍼로지 5 Medium" pitchFamily="2" charset="-127"/>
                <a:ea typeface="페이퍼로지 5 Medium" pitchFamily="2" charset="-127"/>
              </a:rPr>
              <a:t>과정별 핵심 스킬 도출</a:t>
            </a:r>
            <a:endParaRPr lang="en-US" altLang="ko-KR" sz="1200" kern="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직사각형 178">
            <a:extLst>
              <a:ext uri="{FF2B5EF4-FFF2-40B4-BE49-F238E27FC236}">
                <a16:creationId xmlns:a16="http://schemas.microsoft.com/office/drawing/2014/main" id="{B9AF05F2-9A5B-0A9B-FB25-C8A9F800CE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9473" y="2008423"/>
            <a:ext cx="2617200" cy="448119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0043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54000" bIns="4680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kern="0" spc="-50" dirty="0">
                <a:latin typeface="페이퍼로지 5 Medium" pitchFamily="2" charset="-127"/>
                <a:ea typeface="페이퍼로지 5 Medium" pitchFamily="2" charset="-127"/>
              </a:rPr>
              <a:t>KTR</a:t>
            </a:r>
            <a:r>
              <a:rPr lang="ko-KR" altLang="en-US" sz="1200" kern="0" spc="-50" dirty="0">
                <a:latin typeface="페이퍼로지 5 Medium" pitchFamily="2" charset="-127"/>
                <a:ea typeface="페이퍼로지 5 Medium" pitchFamily="2" charset="-127"/>
              </a:rPr>
              <a:t> 산업전환 교육과정 분석</a:t>
            </a:r>
            <a:endParaRPr lang="en-US" altLang="ko-KR" sz="1200" kern="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DA4FCB-7371-7638-C634-DC25E86C3178}"/>
              </a:ext>
            </a:extLst>
          </p:cNvPr>
          <p:cNvSpPr/>
          <p:nvPr/>
        </p:nvSpPr>
        <p:spPr>
          <a:xfrm>
            <a:off x="344487" y="2549005"/>
            <a:ext cx="2618447" cy="547574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lIns="0" rIns="0" rtlCol="0" anchor="ctr"/>
          <a:lstStyle/>
          <a:p>
            <a:pPr marL="180975" lvl="1" indent="-93663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’26</a:t>
            </a: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년 운영 예정인 </a:t>
            </a:r>
            <a:r>
              <a:rPr lang="en-US" altLang="ko-KR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25</a:t>
            </a: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과정의 교과목별 내용 분석</a:t>
            </a:r>
            <a:endParaRPr lang="en-US" altLang="ko-KR" sz="105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7F06CBB-1FD9-B57A-1AFD-32C4C71962A7}"/>
              </a:ext>
            </a:extLst>
          </p:cNvPr>
          <p:cNvSpPr/>
          <p:nvPr/>
        </p:nvSpPr>
        <p:spPr>
          <a:xfrm>
            <a:off x="3646269" y="2549005"/>
            <a:ext cx="2618447" cy="547574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lIns="0" rIns="0" rtlCol="0" anchor="ctr"/>
          <a:lstStyle/>
          <a:p>
            <a:pPr marL="180975" lvl="1" indent="-93663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교육내용 기반으로 수행 행동 중심의 스킬 도출</a:t>
            </a:r>
            <a:endParaRPr lang="en-US" altLang="ko-KR" sz="105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80975" lvl="1" indent="-93663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유사 스킬 통합하여 </a:t>
            </a:r>
            <a:r>
              <a:rPr lang="ko-KR" altLang="en-US" sz="1050" kern="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스킬셋</a:t>
            </a:r>
            <a:r>
              <a:rPr lang="en-US" altLang="ko-KR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(Skill-set) </a:t>
            </a: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endParaRPr lang="en-US" altLang="ko-KR" sz="105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E622E39D-06D7-C303-F5E2-FFDA0165EB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15" b="2895"/>
          <a:stretch>
            <a:fillRect/>
          </a:stretch>
        </p:blipFill>
        <p:spPr>
          <a:xfrm>
            <a:off x="344487" y="3149192"/>
            <a:ext cx="2618447" cy="3267483"/>
          </a:xfrm>
          <a:custGeom>
            <a:avLst/>
            <a:gdLst>
              <a:gd name="csX0" fmla="*/ 0 w 4491163"/>
              <a:gd name="csY0" fmla="*/ 0 h 5345768"/>
              <a:gd name="csX1" fmla="*/ 4491163 w 4491163"/>
              <a:gd name="csY1" fmla="*/ 0 h 5345768"/>
              <a:gd name="csX2" fmla="*/ 4491163 w 4491163"/>
              <a:gd name="csY2" fmla="*/ 4627825 h 5345768"/>
              <a:gd name="csX3" fmla="*/ 0 w 4491163"/>
              <a:gd name="csY3" fmla="*/ 5012214 h 5345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91163" h="5345768">
                <a:moveTo>
                  <a:pt x="0" y="0"/>
                </a:moveTo>
                <a:lnTo>
                  <a:pt x="4491163" y="0"/>
                </a:lnTo>
                <a:lnTo>
                  <a:pt x="4491163" y="4627825"/>
                </a:lnTo>
                <a:cubicBezTo>
                  <a:pt x="2245581" y="4627825"/>
                  <a:pt x="2245581" y="5943991"/>
                  <a:pt x="0" y="5012214"/>
                </a:cubicBezTo>
                <a:close/>
              </a:path>
            </a:pathLst>
          </a:custGeom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62A870E-08D2-2F58-FC60-7E4B6939E80A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2962934" y="3456328"/>
            <a:ext cx="683335" cy="122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14C7CF-7C0F-948B-CE5C-2ACFCA8A03AE}"/>
              </a:ext>
            </a:extLst>
          </p:cNvPr>
          <p:cNvCxnSpPr>
            <a:cxnSpLocks/>
            <a:endCxn id="95" idx="1"/>
          </p:cNvCxnSpPr>
          <p:nvPr/>
        </p:nvCxnSpPr>
        <p:spPr>
          <a:xfrm flipV="1">
            <a:off x="2962934" y="4052674"/>
            <a:ext cx="683335" cy="2709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53AC3F2-8C75-B949-F30E-0674083FB862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2962934" y="3578564"/>
            <a:ext cx="683335" cy="28688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598D682-F587-3F20-29BE-C8711B915192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2962934" y="3578564"/>
            <a:ext cx="683335" cy="99978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93CC05D-633B-50CF-AF69-954400ED9523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2962934" y="4526784"/>
            <a:ext cx="683335" cy="2774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588E3BA-0D04-900F-A6F5-815DD420DCF6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2962934" y="4526784"/>
            <a:ext cx="683335" cy="6095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84651F2-2102-91A9-C815-C05E11F08C07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2962934" y="5000895"/>
            <a:ext cx="683335" cy="57570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E3CD0FF-C8CF-3400-AF7B-A1AAE7C7E049}"/>
              </a:ext>
            </a:extLst>
          </p:cNvPr>
          <p:cNvCxnSpPr>
            <a:cxnSpLocks/>
            <a:stCxn id="61" idx="2"/>
            <a:endCxn id="102" idx="1"/>
          </p:cNvCxnSpPr>
          <p:nvPr/>
        </p:nvCxnSpPr>
        <p:spPr>
          <a:xfrm flipV="1">
            <a:off x="2962934" y="5000895"/>
            <a:ext cx="683335" cy="9769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88E017C-3CB3-46C6-BE88-9B1367880467}"/>
              </a:ext>
            </a:extLst>
          </p:cNvPr>
          <p:cNvSpPr/>
          <p:nvPr/>
        </p:nvSpPr>
        <p:spPr>
          <a:xfrm>
            <a:off x="4437870" y="331419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바이오 기반 산업소재 특성 비교분석 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CFF1798-7A7B-3212-E940-F7D2790BB2D6}"/>
              </a:ext>
            </a:extLst>
          </p:cNvPr>
          <p:cNvSpPr/>
          <p:nvPr/>
        </p:nvSpPr>
        <p:spPr>
          <a:xfrm>
            <a:off x="4437870" y="344965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제품화 사례 분석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B313413-AC4F-3E48-6E48-802C88B80D1E}"/>
              </a:ext>
            </a:extLst>
          </p:cNvPr>
          <p:cNvSpPr/>
          <p:nvPr/>
        </p:nvSpPr>
        <p:spPr>
          <a:xfrm>
            <a:off x="4437870" y="358511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바이오 제품 사업화 전략 수립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A4A6050-507F-AE0A-07D5-503B40FC12DF}"/>
              </a:ext>
            </a:extLst>
          </p:cNvPr>
          <p:cNvSpPr/>
          <p:nvPr/>
        </p:nvSpPr>
        <p:spPr>
          <a:xfrm>
            <a:off x="4437870" y="372057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국내외 생분해성 제품 인증기준 비교분석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FDB3378-4FE6-CB05-3D41-1E11DF8A0458}"/>
              </a:ext>
            </a:extLst>
          </p:cNvPr>
          <p:cNvSpPr/>
          <p:nvPr/>
        </p:nvSpPr>
        <p:spPr>
          <a:xfrm>
            <a:off x="4437870" y="385603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선행기술 조사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AC3B18C-EE2D-ABCE-4FB4-40B2492CF7D4}"/>
              </a:ext>
            </a:extLst>
          </p:cNvPr>
          <p:cNvSpPr/>
          <p:nvPr/>
        </p:nvSpPr>
        <p:spPr>
          <a:xfrm>
            <a:off x="4437870" y="399149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선행기술 조사보고서 작성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F37604B-1052-8EFF-764F-E06D3306EA30}"/>
              </a:ext>
            </a:extLst>
          </p:cNvPr>
          <p:cNvSpPr/>
          <p:nvPr/>
        </p:nvSpPr>
        <p:spPr>
          <a:xfrm>
            <a:off x="4437870" y="412695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특허명세서 작성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6D0B638-E2CD-D6F1-950A-27D1F3BA6539}"/>
              </a:ext>
            </a:extLst>
          </p:cNvPr>
          <p:cNvSpPr/>
          <p:nvPr/>
        </p:nvSpPr>
        <p:spPr>
          <a:xfrm>
            <a:off x="4437870" y="4262418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경영요소 분석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1178922-9668-532B-993A-AD2B77CA0A1A}"/>
              </a:ext>
            </a:extLst>
          </p:cNvPr>
          <p:cNvSpPr/>
          <p:nvPr/>
        </p:nvSpPr>
        <p:spPr>
          <a:xfrm>
            <a:off x="4437870" y="439787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GRI Standard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 가이드라인 분석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018B528-4692-9AD2-8C43-58AF5E6BFBA9}"/>
              </a:ext>
            </a:extLst>
          </p:cNvPr>
          <p:cNvSpPr/>
          <p:nvPr/>
        </p:nvSpPr>
        <p:spPr>
          <a:xfrm>
            <a:off x="4437870" y="453333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선도기업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경영사례 분석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1890551-6D4C-5B84-244F-C1B1E3416C09}"/>
              </a:ext>
            </a:extLst>
          </p:cNvPr>
          <p:cNvSpPr/>
          <p:nvPr/>
        </p:nvSpPr>
        <p:spPr>
          <a:xfrm>
            <a:off x="4437870" y="466879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보고서 작성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C5937B-E1AF-9EF8-F9DF-DD66F3BDA554}"/>
              </a:ext>
            </a:extLst>
          </p:cNvPr>
          <p:cNvSpPr/>
          <p:nvPr/>
        </p:nvSpPr>
        <p:spPr>
          <a:xfrm>
            <a:off x="4437870" y="480425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활용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R&amp;D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관리계획 수립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5433283-7082-AC32-1DA8-4B05CFF90BAD}"/>
              </a:ext>
            </a:extLst>
          </p:cNvPr>
          <p:cNvSpPr/>
          <p:nvPr/>
        </p:nvSpPr>
        <p:spPr>
          <a:xfrm>
            <a:off x="4437870" y="493971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활용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R&amp;D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보고서 작성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078E791-55DD-85E8-0B24-404F514B979B}"/>
              </a:ext>
            </a:extLst>
          </p:cNvPr>
          <p:cNvSpPr/>
          <p:nvPr/>
        </p:nvSpPr>
        <p:spPr>
          <a:xfrm>
            <a:off x="4437870" y="507517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활용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R&amp;D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리스크 분석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4031541-F1CA-BBB0-1A6E-0FAEB04F6DBC}"/>
              </a:ext>
            </a:extLst>
          </p:cNvPr>
          <p:cNvSpPr/>
          <p:nvPr/>
        </p:nvSpPr>
        <p:spPr>
          <a:xfrm>
            <a:off x="4437870" y="521063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소비자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시장 분석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E1A4C48-8805-7651-49B3-0B3A1DD186D7}"/>
              </a:ext>
            </a:extLst>
          </p:cNvPr>
          <p:cNvSpPr/>
          <p:nvPr/>
        </p:nvSpPr>
        <p:spPr>
          <a:xfrm>
            <a:off x="4437870" y="534609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브랜드 컨셉 기획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00AD8DC-3C99-C814-004F-53885901125C}"/>
              </a:ext>
            </a:extLst>
          </p:cNvPr>
          <p:cNvSpPr/>
          <p:nvPr/>
        </p:nvSpPr>
        <p:spPr>
          <a:xfrm>
            <a:off x="4437870" y="548155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마케팅 전략 수립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7240EC5-8711-8C44-3FE9-87AF928C6973}"/>
              </a:ext>
            </a:extLst>
          </p:cNvPr>
          <p:cNvSpPr/>
          <p:nvPr/>
        </p:nvSpPr>
        <p:spPr>
          <a:xfrm>
            <a:off x="4437870" y="5617020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친환경 화장품 브랜드 컨셉 설계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0EF00C5-EAC2-9598-E1B9-D639083321F9}"/>
              </a:ext>
            </a:extLst>
          </p:cNvPr>
          <p:cNvSpPr/>
          <p:nvPr/>
        </p:nvSpPr>
        <p:spPr>
          <a:xfrm>
            <a:off x="4437870" y="575247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국내외 친환경 화장품 브랜딩 사례 분석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E225D63-7F6C-33D7-E8A4-E9FBD3C86EED}"/>
              </a:ext>
            </a:extLst>
          </p:cNvPr>
          <p:cNvSpPr/>
          <p:nvPr/>
        </p:nvSpPr>
        <p:spPr>
          <a:xfrm>
            <a:off x="4437870" y="5887940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바이오 제품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공정 데이터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LCA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수행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955EDD4-2569-EB19-6E4C-49703B166441}"/>
              </a:ext>
            </a:extLst>
          </p:cNvPr>
          <p:cNvSpPr/>
          <p:nvPr/>
        </p:nvSpPr>
        <p:spPr>
          <a:xfrm>
            <a:off x="4437870" y="602339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LCA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결과 해석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448CFCB-0549-357C-4FB7-0A5783C65E3D}"/>
              </a:ext>
            </a:extLst>
          </p:cNvPr>
          <p:cNvSpPr/>
          <p:nvPr/>
        </p:nvSpPr>
        <p:spPr>
          <a:xfrm>
            <a:off x="4437870" y="6158859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LCA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보고서 작성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90D87F7-E8BE-7551-9B1C-13AB38248881}"/>
              </a:ext>
            </a:extLst>
          </p:cNvPr>
          <p:cNvSpPr/>
          <p:nvPr/>
        </p:nvSpPr>
        <p:spPr>
          <a:xfrm>
            <a:off x="4437870" y="6294322"/>
            <a:ext cx="153098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ko-KR" altLang="en-US" sz="700" spc="-5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CCF29B4-A532-51FF-6E90-2E04643FB17C}"/>
              </a:ext>
            </a:extLst>
          </p:cNvPr>
          <p:cNvSpPr/>
          <p:nvPr/>
        </p:nvSpPr>
        <p:spPr>
          <a:xfrm>
            <a:off x="4437870" y="3149192"/>
            <a:ext cx="1530986" cy="122352"/>
          </a:xfrm>
          <a:prstGeom prst="rect">
            <a:avLst/>
          </a:prstGeom>
          <a:solidFill>
            <a:srgbClr val="CAEDFB"/>
          </a:solidFill>
          <a:ln w="6350">
            <a:solidFill>
              <a:schemeClr val="tx1"/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스킬명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예시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700" spc="-5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5B547A-1070-6980-0C64-B6100B9E5C6B}"/>
              </a:ext>
            </a:extLst>
          </p:cNvPr>
          <p:cNvGrpSpPr/>
          <p:nvPr/>
        </p:nvGrpSpPr>
        <p:grpSpPr>
          <a:xfrm>
            <a:off x="3646269" y="3149193"/>
            <a:ext cx="747457" cy="3267481"/>
            <a:chOff x="5420516" y="3149193"/>
            <a:chExt cx="844199" cy="3267481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2AF97AE-FDD9-CE77-EF39-8902FD407F84}"/>
                </a:ext>
              </a:extLst>
            </p:cNvPr>
            <p:cNvSpPr/>
            <p:nvPr/>
          </p:nvSpPr>
          <p:spPr>
            <a:xfrm>
              <a:off x="5420516" y="3314198"/>
              <a:ext cx="844199" cy="528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친환경 소재 </a:t>
              </a:r>
              <a:r>
                <a:rPr lang="ko-KR" altLang="en-US" sz="700" spc="-5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제품화 기획</a:t>
              </a:r>
              <a:endPara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7DFD59C4-FBD6-335D-C7EE-24F9D5504B03}"/>
                </a:ext>
              </a:extLst>
            </p:cNvPr>
            <p:cNvSpPr/>
            <p:nvPr/>
          </p:nvSpPr>
          <p:spPr>
            <a:xfrm>
              <a:off x="5420516" y="3856038"/>
              <a:ext cx="844199" cy="3932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지식재산권 취득</a:t>
              </a: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DD3B0B32-B261-E9BC-6763-F4A479FC1C2F}"/>
                </a:ext>
              </a:extLst>
            </p:cNvPr>
            <p:cNvSpPr/>
            <p:nvPr/>
          </p:nvSpPr>
          <p:spPr>
            <a:xfrm>
              <a:off x="5420516" y="3149193"/>
              <a:ext cx="844199" cy="122352"/>
            </a:xfrm>
            <a:prstGeom prst="rect">
              <a:avLst/>
            </a:prstGeom>
            <a:solidFill>
              <a:srgbClr val="CAEDFB"/>
            </a:solidFill>
            <a:ln w="6350">
              <a:solidFill>
                <a:schemeClr val="tx1"/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700" spc="-50" dirty="0" err="1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</a:rPr>
                <a:t>스킬셋</a:t>
              </a:r>
              <a:r>
                <a:rPr lang="en-US" altLang="ko-KR" sz="700" spc="-50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700" spc="-50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</a:rPr>
                <a:t>예시</a:t>
              </a:r>
              <a:r>
                <a:rPr lang="en-US" altLang="ko-KR" sz="700" spc="-50" dirty="0">
                  <a:solidFill>
                    <a:srgbClr val="000000"/>
                  </a:solidFill>
                  <a:latin typeface="페이퍼로지 6 SemiBold" pitchFamily="2" charset="-127"/>
                  <a:ea typeface="페이퍼로지 6 SemiBold" pitchFamily="2" charset="-127"/>
                </a:rPr>
                <a:t>)</a:t>
              </a:r>
              <a:endParaRPr lang="ko-KR" altLang="en-US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C05C4F68-7AD9-97EA-8602-18718BC7C1CE}"/>
                </a:ext>
              </a:extLst>
            </p:cNvPr>
            <p:cNvSpPr/>
            <p:nvPr/>
          </p:nvSpPr>
          <p:spPr>
            <a:xfrm>
              <a:off x="5420516" y="4262418"/>
              <a:ext cx="844199" cy="5287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ESG </a:t>
              </a:r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지속가능경영 문서 작성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401CFA4-BC32-5119-DA66-BAF5D1CABC61}"/>
                </a:ext>
              </a:extLst>
            </p:cNvPr>
            <p:cNvSpPr/>
            <p:nvPr/>
          </p:nvSpPr>
          <p:spPr>
            <a:xfrm>
              <a:off x="5420516" y="4804259"/>
              <a:ext cx="844199" cy="3932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활용 프로젝트 관리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7E2C73C-B5DB-8A04-399E-8B56E82AA559}"/>
                </a:ext>
              </a:extLst>
            </p:cNvPr>
            <p:cNvSpPr/>
            <p:nvPr/>
          </p:nvSpPr>
          <p:spPr>
            <a:xfrm>
              <a:off x="5420516" y="5210639"/>
              <a:ext cx="844199" cy="3932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spc="-5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친환경 화장품 브랜딩 기획</a:t>
              </a:r>
              <a:endPara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8AA7FAC-8042-524D-BD86-35ACF4D746C3}"/>
                </a:ext>
              </a:extLst>
            </p:cNvPr>
            <p:cNvSpPr/>
            <p:nvPr/>
          </p:nvSpPr>
          <p:spPr>
            <a:xfrm>
              <a:off x="5420516" y="5617020"/>
              <a:ext cx="844199" cy="25781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친환경 화장품 브랜딩 디자인</a:t>
              </a: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2D4D48D-3EA2-C41B-28B5-EDDCF845F581}"/>
                </a:ext>
              </a:extLst>
            </p:cNvPr>
            <p:cNvSpPr/>
            <p:nvPr/>
          </p:nvSpPr>
          <p:spPr>
            <a:xfrm>
              <a:off x="5420516" y="5887940"/>
              <a:ext cx="844199" cy="3932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700" spc="-50" dirty="0" err="1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바이오화학</a:t>
              </a:r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LCA </a:t>
              </a:r>
              <a:r>
                <a:rPr lang="ko-KR" altLang="en-US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수행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17188B14-4E0D-E6D0-9341-90E0A9035B77}"/>
                </a:ext>
              </a:extLst>
            </p:cNvPr>
            <p:cNvSpPr/>
            <p:nvPr/>
          </p:nvSpPr>
          <p:spPr>
            <a:xfrm>
              <a:off x="5420516" y="6294322"/>
              <a:ext cx="844199" cy="122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sx="98000" sy="98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700" spc="-50" dirty="0">
                  <a:solidFill>
                    <a:srgbClr val="000000"/>
                  </a:solidFill>
                  <a:latin typeface="페이퍼로지 4 Regular" pitchFamily="2" charset="-127"/>
                  <a:ea typeface="페이퍼로지 4 Regular" pitchFamily="2" charset="-127"/>
                </a:rPr>
                <a:t>…</a:t>
              </a:r>
              <a:endPara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DC13116-F62C-1E67-C478-CDB76B106D12}"/>
              </a:ext>
            </a:extLst>
          </p:cNvPr>
          <p:cNvSpPr/>
          <p:nvPr/>
        </p:nvSpPr>
        <p:spPr>
          <a:xfrm>
            <a:off x="6013000" y="3149193"/>
            <a:ext cx="1992139" cy="122352"/>
          </a:xfrm>
          <a:prstGeom prst="rect">
            <a:avLst/>
          </a:prstGeom>
          <a:solidFill>
            <a:srgbClr val="CAEDFB"/>
          </a:solidFill>
          <a:ln w="6350">
            <a:solidFill>
              <a:schemeClr val="tx1"/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정의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D7F79C7C-5D5D-7522-C808-B3F56964912D}"/>
              </a:ext>
            </a:extLst>
          </p:cNvPr>
          <p:cNvSpPr/>
          <p:nvPr/>
        </p:nvSpPr>
        <p:spPr>
          <a:xfrm>
            <a:off x="6013001" y="331419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바이오기반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 소재 물성 및 특성 비교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분석하여 적용 가능성 도출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AFAF870-1457-809A-D928-616119396F80}"/>
              </a:ext>
            </a:extLst>
          </p:cNvPr>
          <p:cNvSpPr/>
          <p:nvPr/>
        </p:nvSpPr>
        <p:spPr>
          <a:xfrm>
            <a:off x="6013001" y="6294322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ko-KR" altLang="en-US" sz="700" spc="-5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F8BB9CB-1180-F455-022C-80096492F38D}"/>
              </a:ext>
            </a:extLst>
          </p:cNvPr>
          <p:cNvSpPr/>
          <p:nvPr/>
        </p:nvSpPr>
        <p:spPr>
          <a:xfrm>
            <a:off x="6013001" y="344965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유사 제품 및 적용 사례를 분석하여 제품화 전략 도출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D9B651D4-D40E-04B3-CE2C-0E37AFA440EC}"/>
              </a:ext>
            </a:extLst>
          </p:cNvPr>
          <p:cNvSpPr/>
          <p:nvPr/>
        </p:nvSpPr>
        <p:spPr>
          <a:xfrm>
            <a:off x="6013001" y="358511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시장 및 기술 분석을 기반으로 제품의 사업화 전략 수립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CDF3752-2DAF-5C70-7128-8F95CF0DD418}"/>
              </a:ext>
            </a:extLst>
          </p:cNvPr>
          <p:cNvSpPr/>
          <p:nvPr/>
        </p:nvSpPr>
        <p:spPr>
          <a:xfrm>
            <a:off x="6013001" y="372057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국가별 인증 기준을 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비교하여 제품 대응 방향 설정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9AA8EFF-147B-8256-83AA-6F5FF8D67335}"/>
              </a:ext>
            </a:extLst>
          </p:cNvPr>
          <p:cNvSpPr/>
          <p:nvPr/>
        </p:nvSpPr>
        <p:spPr>
          <a:xfrm>
            <a:off x="6013001" y="385603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기존 기술 및 특허를 조사하여 기술 </a:t>
            </a:r>
            <a:r>
              <a:rPr lang="ko-KR" altLang="en-US" sz="700" spc="-5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중복 여부 검토</a:t>
            </a:r>
            <a:endParaRPr lang="ko-KR" altLang="en-US" sz="700" spc="-5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6F571678-91F0-CD77-5B2D-3034264515E2}"/>
              </a:ext>
            </a:extLst>
          </p:cNvPr>
          <p:cNvSpPr/>
          <p:nvPr/>
        </p:nvSpPr>
        <p:spPr>
          <a:xfrm>
            <a:off x="6013001" y="399149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조사된 기술 정보를 체계적으로 정리하여 보고서 작성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2ABC9B2-A8CC-0773-D26F-48C3B6D89E1D}"/>
              </a:ext>
            </a:extLst>
          </p:cNvPr>
          <p:cNvSpPr/>
          <p:nvPr/>
        </p:nvSpPr>
        <p:spPr>
          <a:xfrm>
            <a:off x="6013001" y="412695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기술 내용을 기반으로 특허 출원을 위한 특허명세서 작성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FDA182FD-0CDE-4D36-7569-045D4971CA9D}"/>
              </a:ext>
            </a:extLst>
          </p:cNvPr>
          <p:cNvSpPr/>
          <p:nvPr/>
        </p:nvSpPr>
        <p:spPr>
          <a:xfrm>
            <a:off x="6013001" y="426241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기업의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관련 요소를 분석하여 관리 수준 평가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7C1DF6B7-C503-C09F-9FF9-9CFDE696DE82}"/>
              </a:ext>
            </a:extLst>
          </p:cNvPr>
          <p:cNvSpPr/>
          <p:nvPr/>
        </p:nvSpPr>
        <p:spPr>
          <a:xfrm>
            <a:off x="6013001" y="439787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GRI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기준을 분석하여 보고 요구사항 도출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2FAD9F9-28DB-1634-E9CB-C36886C43729}"/>
              </a:ext>
            </a:extLst>
          </p:cNvPr>
          <p:cNvSpPr/>
          <p:nvPr/>
        </p:nvSpPr>
        <p:spPr>
          <a:xfrm>
            <a:off x="6013001" y="453333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선도기업의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전략을 분석하여 적용 시사점 도출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522796F0-9270-D397-8716-E24F88205DEB}"/>
              </a:ext>
            </a:extLst>
          </p:cNvPr>
          <p:cNvSpPr/>
          <p:nvPr/>
        </p:nvSpPr>
        <p:spPr>
          <a:xfrm>
            <a:off x="6013001" y="466879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ESG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데이터를 기반으로 보고서 작성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FA4C6F6-290D-9B5F-6F81-DD3E1EB76326}"/>
              </a:ext>
            </a:extLst>
          </p:cNvPr>
          <p:cNvSpPr/>
          <p:nvPr/>
        </p:nvSpPr>
        <p:spPr>
          <a:xfrm>
            <a:off x="6013001" y="480425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기반 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R&amp;D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수행을 위한 계획 수립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59C3086-8A07-F5F0-8D4C-BC9AB3051A90}"/>
              </a:ext>
            </a:extLst>
          </p:cNvPr>
          <p:cNvSpPr/>
          <p:nvPr/>
        </p:nvSpPr>
        <p:spPr>
          <a:xfrm>
            <a:off x="6013001" y="493971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수행 결과를 정리하여 보고서 작성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7DB0C08-BF08-454E-A58C-AD2A7A5B363B}"/>
              </a:ext>
            </a:extLst>
          </p:cNvPr>
          <p:cNvSpPr/>
          <p:nvPr/>
        </p:nvSpPr>
        <p:spPr>
          <a:xfrm>
            <a:off x="6013001" y="507517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프로젝트 수행 중 발생 가능한 리스크 분석 및 대응 방안 도출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444261E-C3F8-21D4-2FE6-5EDDC625EB9D}"/>
              </a:ext>
            </a:extLst>
          </p:cNvPr>
          <p:cNvSpPr/>
          <p:nvPr/>
        </p:nvSpPr>
        <p:spPr>
          <a:xfrm>
            <a:off x="6013001" y="521063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소비자 니즈 및 시장 동향 분석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52390B-83B4-47F1-9EC1-83621C9D5128}"/>
              </a:ext>
            </a:extLst>
          </p:cNvPr>
          <p:cNvSpPr/>
          <p:nvPr/>
        </p:nvSpPr>
        <p:spPr>
          <a:xfrm>
            <a:off x="6013001" y="534609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친환경 제품의 브랜드 방향성과 컨셉 설계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921AACD-B44F-DB1A-00B5-C3761195D59C}"/>
              </a:ext>
            </a:extLst>
          </p:cNvPr>
          <p:cNvSpPr/>
          <p:nvPr/>
        </p:nvSpPr>
        <p:spPr>
          <a:xfrm>
            <a:off x="6013001" y="548155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친환경 제품 특성에 맞는 마케팅 전략 수립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AD2F3DA-739F-8C29-E60F-279598A7841D}"/>
              </a:ext>
            </a:extLst>
          </p:cNvPr>
          <p:cNvSpPr/>
          <p:nvPr/>
        </p:nvSpPr>
        <p:spPr>
          <a:xfrm>
            <a:off x="6013001" y="561701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브랜드 아이덴티티를 시각적으로 설계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C4445A6-FD7A-27DC-72EC-86540DC46F49}"/>
              </a:ext>
            </a:extLst>
          </p:cNvPr>
          <p:cNvSpPr/>
          <p:nvPr/>
        </p:nvSpPr>
        <p:spPr>
          <a:xfrm>
            <a:off x="6013001" y="575247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글로벌 브랜드 사례를 분석하여 디자인 전략 도출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7B76076A-AFE8-C758-46F6-12D36B5B9A95}"/>
              </a:ext>
            </a:extLst>
          </p:cNvPr>
          <p:cNvSpPr/>
          <p:nvPr/>
        </p:nvSpPr>
        <p:spPr>
          <a:xfrm>
            <a:off x="6013001" y="588793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제품 및 공정 데이터를 기반으로 환경 영향 평가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B6E901A-A7E4-F25D-0EB5-37793CBE73CD}"/>
              </a:ext>
            </a:extLst>
          </p:cNvPr>
          <p:cNvSpPr/>
          <p:nvPr/>
        </p:nvSpPr>
        <p:spPr>
          <a:xfrm>
            <a:off x="6013001" y="602339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LCA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 결과를 해석하여 환경 영향 도출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79C0570-AF84-21A0-5B17-71B9AA3DBEDC}"/>
              </a:ext>
            </a:extLst>
          </p:cNvPr>
          <p:cNvSpPr/>
          <p:nvPr/>
        </p:nvSpPr>
        <p:spPr>
          <a:xfrm>
            <a:off x="6013001" y="6158858"/>
            <a:ext cx="1992138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/>
          <a:lstStyle/>
          <a:p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 결과를 기반으로 환경 평가 보고서 작성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6B64B8FF-77DB-181A-389E-BA47AEC3BE9C}"/>
              </a:ext>
            </a:extLst>
          </p:cNvPr>
          <p:cNvSpPr/>
          <p:nvPr/>
        </p:nvSpPr>
        <p:spPr>
          <a:xfrm>
            <a:off x="8049283" y="3149193"/>
            <a:ext cx="826913" cy="122352"/>
          </a:xfrm>
          <a:prstGeom prst="rect">
            <a:avLst/>
          </a:prstGeom>
          <a:solidFill>
            <a:srgbClr val="CAEDFB"/>
          </a:solidFill>
          <a:ln w="6350">
            <a:solidFill>
              <a:schemeClr val="tx1"/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핵심 기능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53C52FB7-0E49-8284-D8EC-7EEA58CCFA7E}"/>
              </a:ext>
            </a:extLst>
          </p:cNvPr>
          <p:cNvSpPr/>
          <p:nvPr/>
        </p:nvSpPr>
        <p:spPr>
          <a:xfrm>
            <a:off x="8049283" y="331419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데이터 비교분석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해석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11AD6D5-224E-4BA8-C2ED-49D391ACD213}"/>
              </a:ext>
            </a:extLst>
          </p:cNvPr>
          <p:cNvSpPr/>
          <p:nvPr/>
        </p:nvSpPr>
        <p:spPr>
          <a:xfrm>
            <a:off x="8049283" y="6294322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ko-KR" altLang="en-US" sz="700" spc="-5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44C8C304-24D9-92B1-786D-52A14D772B36}"/>
              </a:ext>
            </a:extLst>
          </p:cNvPr>
          <p:cNvSpPr/>
          <p:nvPr/>
        </p:nvSpPr>
        <p:spPr>
          <a:xfrm>
            <a:off x="8049283" y="344965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사례 수집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비교분석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5E452EC6-F01D-8332-9495-B188BED2E378}"/>
              </a:ext>
            </a:extLst>
          </p:cNvPr>
          <p:cNvSpPr/>
          <p:nvPr/>
        </p:nvSpPr>
        <p:spPr>
          <a:xfrm>
            <a:off x="8049283" y="358511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시장 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기획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전략 수립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54D6C8F7-2EDF-6D8B-7F4F-C95A90D90773}"/>
              </a:ext>
            </a:extLst>
          </p:cNvPr>
          <p:cNvSpPr/>
          <p:nvPr/>
        </p:nvSpPr>
        <p:spPr>
          <a:xfrm>
            <a:off x="8049283" y="372057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규제자료 번역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기준 분석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8BC0A08-7C31-CC2C-77F6-D550A6E8FCD0}"/>
              </a:ext>
            </a:extLst>
          </p:cNvPr>
          <p:cNvSpPr/>
          <p:nvPr/>
        </p:nvSpPr>
        <p:spPr>
          <a:xfrm>
            <a:off x="8049283" y="385603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자료 수집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중복검토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4E836C9E-525C-EB33-0F78-09B32DCD8AB6}"/>
              </a:ext>
            </a:extLst>
          </p:cNvPr>
          <p:cNvSpPr/>
          <p:nvPr/>
        </p:nvSpPr>
        <p:spPr>
          <a:xfrm>
            <a:off x="8049283" y="399149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자료 정리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문서 작성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02AB16A-DAF6-AE78-6A8A-866C76EE9650}"/>
              </a:ext>
            </a:extLst>
          </p:cNvPr>
          <p:cNvSpPr/>
          <p:nvPr/>
        </p:nvSpPr>
        <p:spPr>
          <a:xfrm>
            <a:off x="8049283" y="412695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기술 정리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문서 작성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87F83D07-8106-30D9-7FEA-7FDBBA6380F0}"/>
              </a:ext>
            </a:extLst>
          </p:cNvPr>
          <p:cNvSpPr/>
          <p:nvPr/>
        </p:nvSpPr>
        <p:spPr>
          <a:xfrm>
            <a:off x="8049283" y="426241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요소분석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수준 평가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F3FC7AB3-1F08-C305-43D9-42959F7EDB55}"/>
              </a:ext>
            </a:extLst>
          </p:cNvPr>
          <p:cNvSpPr/>
          <p:nvPr/>
        </p:nvSpPr>
        <p:spPr>
          <a:xfrm>
            <a:off x="8049283" y="439787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기준 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요구사항 도출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EF6EA601-E6E7-EFC3-D778-9AA9B3089979}"/>
              </a:ext>
            </a:extLst>
          </p:cNvPr>
          <p:cNvSpPr/>
          <p:nvPr/>
        </p:nvSpPr>
        <p:spPr>
          <a:xfrm>
            <a:off x="8049283" y="453333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사례 수집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벤치마킹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4E04F6B9-0292-5154-2396-C819AEB7A9A7}"/>
              </a:ext>
            </a:extLst>
          </p:cNvPr>
          <p:cNvSpPr/>
          <p:nvPr/>
        </p:nvSpPr>
        <p:spPr>
          <a:xfrm>
            <a:off x="8049283" y="466879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데이터 정리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보고서 작성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5A753F35-B931-B2D0-FC1B-4BF1717DD7E9}"/>
              </a:ext>
            </a:extLst>
          </p:cNvPr>
          <p:cNvSpPr/>
          <p:nvPr/>
        </p:nvSpPr>
        <p:spPr>
          <a:xfrm>
            <a:off x="8049283" y="480425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계획수립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자원 관리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E254AA44-C3A0-8285-8AB8-2BCA47B1F8B9}"/>
              </a:ext>
            </a:extLst>
          </p:cNvPr>
          <p:cNvSpPr/>
          <p:nvPr/>
        </p:nvSpPr>
        <p:spPr>
          <a:xfrm>
            <a:off x="8049283" y="493971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결과정리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보고서작성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AC880BAA-6F56-D672-EF68-9CA9AF778B92}"/>
              </a:ext>
            </a:extLst>
          </p:cNvPr>
          <p:cNvSpPr/>
          <p:nvPr/>
        </p:nvSpPr>
        <p:spPr>
          <a:xfrm>
            <a:off x="8049283" y="507517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리스크 식별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영향분석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4854E7C-9825-56CC-D15A-D970953854AF}"/>
              </a:ext>
            </a:extLst>
          </p:cNvPr>
          <p:cNvSpPr/>
          <p:nvPr/>
        </p:nvSpPr>
        <p:spPr>
          <a:xfrm>
            <a:off x="8049283" y="521063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자료 조사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DB2AD-EF46-0116-C7BB-0C7FA063AA5D}"/>
              </a:ext>
            </a:extLst>
          </p:cNvPr>
          <p:cNvSpPr/>
          <p:nvPr/>
        </p:nvSpPr>
        <p:spPr>
          <a:xfrm>
            <a:off x="8049283" y="534609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컨셉 기획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포지셔닝 설계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66E397A6-BC16-F60F-069B-9ACD3C794BD2}"/>
              </a:ext>
            </a:extLst>
          </p:cNvPr>
          <p:cNvSpPr/>
          <p:nvPr/>
        </p:nvSpPr>
        <p:spPr>
          <a:xfrm>
            <a:off x="8049283" y="548155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전략 수립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채널 기획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555D91C-D7F4-75D8-152A-9E73D6EABDB0}"/>
              </a:ext>
            </a:extLst>
          </p:cNvPr>
          <p:cNvSpPr/>
          <p:nvPr/>
        </p:nvSpPr>
        <p:spPr>
          <a:xfrm>
            <a:off x="8049283" y="561701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디자인 기획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BI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설계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1F9F9EC-DE05-8D0A-D06A-5F5CCD7DEF7D}"/>
              </a:ext>
            </a:extLst>
          </p:cNvPr>
          <p:cNvSpPr/>
          <p:nvPr/>
        </p:nvSpPr>
        <p:spPr>
          <a:xfrm>
            <a:off x="8049283" y="575247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사례 수집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디자인 분석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587A49E-429D-1529-4EAD-90A1CA072479}"/>
              </a:ext>
            </a:extLst>
          </p:cNvPr>
          <p:cNvSpPr/>
          <p:nvPr/>
        </p:nvSpPr>
        <p:spPr>
          <a:xfrm>
            <a:off x="8049283" y="588793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데이터수집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영향평가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A4BD561-95E5-072A-87FE-80AB6DC7A027}"/>
              </a:ext>
            </a:extLst>
          </p:cNvPr>
          <p:cNvSpPr/>
          <p:nvPr/>
        </p:nvSpPr>
        <p:spPr>
          <a:xfrm>
            <a:off x="8049283" y="602339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결과 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영향 해석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76183ACE-DC71-D397-49B1-7F5CA15AA413}"/>
              </a:ext>
            </a:extLst>
          </p:cNvPr>
          <p:cNvSpPr/>
          <p:nvPr/>
        </p:nvSpPr>
        <p:spPr>
          <a:xfrm>
            <a:off x="8049283" y="6158858"/>
            <a:ext cx="826913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결과 정리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보고서 작성</a:t>
            </a:r>
          </a:p>
        </p:txBody>
      </p:sp>
      <p:sp>
        <p:nvSpPr>
          <p:cNvPr id="186" name="직사각형 178">
            <a:extLst>
              <a:ext uri="{FF2B5EF4-FFF2-40B4-BE49-F238E27FC236}">
                <a16:creationId xmlns:a16="http://schemas.microsoft.com/office/drawing/2014/main" id="{8CB492C2-F799-FE9B-5BA0-9BFB8CBBB6F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46804" y="2008423"/>
            <a:ext cx="2617200" cy="448119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0043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54000" bIns="4680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kern="0" spc="-50" dirty="0">
                <a:latin typeface="페이퍼로지 5 Medium" pitchFamily="2" charset="-127"/>
                <a:ea typeface="페이퍼로지 5 Medium" pitchFamily="2" charset="-127"/>
              </a:rPr>
              <a:t>스킬별 핵심 기능 및 </a:t>
            </a:r>
            <a:r>
              <a:rPr lang="en-US" altLang="ko-KR" sz="1200" kern="0" spc="-50" dirty="0"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kern="0" spc="-50" dirty="0">
                <a:latin typeface="페이퍼로지 5 Medium" pitchFamily="2" charset="-127"/>
                <a:ea typeface="페이퍼로지 5 Medium" pitchFamily="2" charset="-127"/>
              </a:rPr>
              <a:t>연계 방향 검토</a:t>
            </a:r>
            <a:endParaRPr lang="en-US" altLang="ko-KR" sz="1200" kern="0" spc="-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F7A991FE-CC7B-2189-604B-7359E07D27B8}"/>
              </a:ext>
            </a:extLst>
          </p:cNvPr>
          <p:cNvSpPr/>
          <p:nvPr/>
        </p:nvSpPr>
        <p:spPr>
          <a:xfrm>
            <a:off x="6946804" y="2549005"/>
            <a:ext cx="2618447" cy="547574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lIns="0" rIns="0" rtlCol="0" anchor="ctr"/>
          <a:lstStyle/>
          <a:p>
            <a:pPr marL="180975" lvl="1" indent="-93663" defTabSz="9144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스킬별 핵심 기능을 기준으로 </a:t>
            </a:r>
            <a:r>
              <a:rPr lang="en-US" altLang="ko-KR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050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 가능성 검토 </a:t>
            </a:r>
            <a:endParaRPr lang="en-US" altLang="ko-KR" sz="1050" kern="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F8EBD852-A84C-BA24-B20A-F83B7D0A2DDA}"/>
              </a:ext>
            </a:extLst>
          </p:cNvPr>
          <p:cNvSpPr/>
          <p:nvPr/>
        </p:nvSpPr>
        <p:spPr>
          <a:xfrm>
            <a:off x="8920338" y="3149193"/>
            <a:ext cx="641176" cy="122352"/>
          </a:xfrm>
          <a:prstGeom prst="rect">
            <a:avLst/>
          </a:prstGeom>
          <a:solidFill>
            <a:srgbClr val="CAEDFB"/>
          </a:solidFill>
          <a:ln w="6350">
            <a:solidFill>
              <a:schemeClr val="tx1"/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연계 방향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93F06476-DB5E-B254-6F34-67AA2E1B67DE}"/>
              </a:ext>
            </a:extLst>
          </p:cNvPr>
          <p:cNvSpPr/>
          <p:nvPr/>
        </p:nvSpPr>
        <p:spPr>
          <a:xfrm>
            <a:off x="8920338" y="331419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의사결정지원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AA44EA02-58B0-AB87-DD10-EEB58CF907C8}"/>
              </a:ext>
            </a:extLst>
          </p:cNvPr>
          <p:cNvSpPr/>
          <p:nvPr/>
        </p:nvSpPr>
        <p:spPr>
          <a:xfrm>
            <a:off x="8920338" y="6294322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ko-KR" altLang="en-US" sz="700" spc="-5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C9EE49F9-945F-1D17-33CA-8038071AEA6A}"/>
              </a:ext>
            </a:extLst>
          </p:cNvPr>
          <p:cNvSpPr/>
          <p:nvPr/>
        </p:nvSpPr>
        <p:spPr>
          <a:xfrm>
            <a:off x="8920338" y="344965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3CEEEEBB-A5A6-A1BE-C739-D33FCE45342B}"/>
              </a:ext>
            </a:extLst>
          </p:cNvPr>
          <p:cNvSpPr/>
          <p:nvPr/>
        </p:nvSpPr>
        <p:spPr>
          <a:xfrm>
            <a:off x="8920338" y="358511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43C2EA0-4DA4-123A-FE0F-13743605825B}"/>
              </a:ext>
            </a:extLst>
          </p:cNvPr>
          <p:cNvSpPr/>
          <p:nvPr/>
        </p:nvSpPr>
        <p:spPr>
          <a:xfrm>
            <a:off x="8920338" y="372057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BF05229F-FA56-19B9-BE26-0F44F31CEF10}"/>
              </a:ext>
            </a:extLst>
          </p:cNvPr>
          <p:cNvSpPr/>
          <p:nvPr/>
        </p:nvSpPr>
        <p:spPr>
          <a:xfrm>
            <a:off x="8920338" y="385603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7057434D-ECA8-6459-6611-71366436A5EB}"/>
              </a:ext>
            </a:extLst>
          </p:cNvPr>
          <p:cNvSpPr/>
          <p:nvPr/>
        </p:nvSpPr>
        <p:spPr>
          <a:xfrm>
            <a:off x="8920338" y="399149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8B6EB915-C818-17C1-03B7-861A04692A76}"/>
              </a:ext>
            </a:extLst>
          </p:cNvPr>
          <p:cNvSpPr/>
          <p:nvPr/>
        </p:nvSpPr>
        <p:spPr>
          <a:xfrm>
            <a:off x="8920338" y="412695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8360106A-5F7A-3338-A4BA-8E7172790AF6}"/>
              </a:ext>
            </a:extLst>
          </p:cNvPr>
          <p:cNvSpPr/>
          <p:nvPr/>
        </p:nvSpPr>
        <p:spPr>
          <a:xfrm>
            <a:off x="8920338" y="426241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CFE34F45-E6FA-310A-82EB-D3FFBC86FC25}"/>
              </a:ext>
            </a:extLst>
          </p:cNvPr>
          <p:cNvSpPr/>
          <p:nvPr/>
        </p:nvSpPr>
        <p:spPr>
          <a:xfrm>
            <a:off x="8920338" y="439787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C12F72CE-C9A0-1DEA-52C7-BD2358F48A26}"/>
              </a:ext>
            </a:extLst>
          </p:cNvPr>
          <p:cNvSpPr/>
          <p:nvPr/>
        </p:nvSpPr>
        <p:spPr>
          <a:xfrm>
            <a:off x="8920338" y="453333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827A42DB-2560-373F-128E-4DA83C91B802}"/>
              </a:ext>
            </a:extLst>
          </p:cNvPr>
          <p:cNvSpPr/>
          <p:nvPr/>
        </p:nvSpPr>
        <p:spPr>
          <a:xfrm>
            <a:off x="8920338" y="466879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188BCC99-9955-AD8F-8949-816792986D22}"/>
              </a:ext>
            </a:extLst>
          </p:cNvPr>
          <p:cNvSpPr/>
          <p:nvPr/>
        </p:nvSpPr>
        <p:spPr>
          <a:xfrm>
            <a:off x="8920338" y="480425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7826A084-D3AB-4D15-0501-5684E34C0002}"/>
              </a:ext>
            </a:extLst>
          </p:cNvPr>
          <p:cNvSpPr/>
          <p:nvPr/>
        </p:nvSpPr>
        <p:spPr>
          <a:xfrm>
            <a:off x="8920338" y="493971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BE8BFAE9-ABF2-2714-CCA8-02EE430EA99E}"/>
              </a:ext>
            </a:extLst>
          </p:cNvPr>
          <p:cNvSpPr/>
          <p:nvPr/>
        </p:nvSpPr>
        <p:spPr>
          <a:xfrm>
            <a:off x="8920338" y="507517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F316E044-2C8A-CD86-AFE7-CD27D7775A08}"/>
              </a:ext>
            </a:extLst>
          </p:cNvPr>
          <p:cNvSpPr/>
          <p:nvPr/>
        </p:nvSpPr>
        <p:spPr>
          <a:xfrm>
            <a:off x="8920338" y="521063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예측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6E01D200-0E61-B7CE-CB92-55B72C5F31F1}"/>
              </a:ext>
            </a:extLst>
          </p:cNvPr>
          <p:cNvSpPr/>
          <p:nvPr/>
        </p:nvSpPr>
        <p:spPr>
          <a:xfrm>
            <a:off x="8920338" y="534609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7168BA00-A68F-2E64-6827-20621A541751}"/>
              </a:ext>
            </a:extLst>
          </p:cNvPr>
          <p:cNvSpPr/>
          <p:nvPr/>
        </p:nvSpPr>
        <p:spPr>
          <a:xfrm>
            <a:off x="8920338" y="548155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511D51B4-6704-8A8F-17EB-4E12B0E91294}"/>
              </a:ext>
            </a:extLst>
          </p:cNvPr>
          <p:cNvSpPr/>
          <p:nvPr/>
        </p:nvSpPr>
        <p:spPr>
          <a:xfrm>
            <a:off x="8920338" y="561701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75CF7DFE-7A30-2B81-E13D-660770A45352}"/>
              </a:ext>
            </a:extLst>
          </p:cNvPr>
          <p:cNvSpPr/>
          <p:nvPr/>
        </p:nvSpPr>
        <p:spPr>
          <a:xfrm>
            <a:off x="8920338" y="575247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317295C3-301D-FB92-EC36-7009A48C43FD}"/>
              </a:ext>
            </a:extLst>
          </p:cNvPr>
          <p:cNvSpPr/>
          <p:nvPr/>
        </p:nvSpPr>
        <p:spPr>
          <a:xfrm>
            <a:off x="8920338" y="588793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DB37162A-358E-463F-010A-520BB81D691F}"/>
              </a:ext>
            </a:extLst>
          </p:cNvPr>
          <p:cNvSpPr/>
          <p:nvPr/>
        </p:nvSpPr>
        <p:spPr>
          <a:xfrm>
            <a:off x="8920338" y="602339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의사결정 지원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9640EA3-E75A-D48C-8F3D-CEFBC6321273}"/>
              </a:ext>
            </a:extLst>
          </p:cNvPr>
          <p:cNvSpPr/>
          <p:nvPr/>
        </p:nvSpPr>
        <p:spPr>
          <a:xfrm>
            <a:off x="8920338" y="6158858"/>
            <a:ext cx="641176" cy="122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2700000" sx="98000" sy="98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생성</a:t>
            </a:r>
            <a:r>
              <a:rPr lang="en-US" altLang="ko-KR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00" spc="-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</a:p>
        </p:txBody>
      </p:sp>
    </p:spTree>
    <p:extLst>
      <p:ext uri="{BB962C8B-B14F-4D97-AF65-F5344CB8AC3E}">
        <p14:creationId xmlns:p14="http://schemas.microsoft.com/office/powerpoint/2010/main" val="429810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261F-D45D-2737-0621-B6E9414B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296B35-983A-61D1-F554-E8CD6102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16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07FC66-2DBE-9674-33F1-8EA70DBD41D5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C2A9D8FA-28AE-31A5-BD6A-51D503F946AC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국내</a:t>
            </a:r>
            <a:r>
              <a:rPr lang="en-US" altLang="ko-KR" dirty="0"/>
              <a:t>·</a:t>
            </a:r>
            <a:r>
              <a:rPr lang="ko-KR" altLang="en-US" dirty="0"/>
              <a:t>외 </a:t>
            </a:r>
            <a:r>
              <a:rPr lang="en-US" altLang="ko-KR" dirty="0"/>
              <a:t>AI </a:t>
            </a:r>
            <a:r>
              <a:rPr lang="ko-KR" altLang="en-US" dirty="0"/>
              <a:t>직무역량 관련 문헌 및 사례를 분석하여</a:t>
            </a:r>
            <a:r>
              <a:rPr lang="en-US" altLang="ko-KR" dirty="0"/>
              <a:t>, KTR </a:t>
            </a:r>
            <a:r>
              <a:rPr lang="ko-KR" altLang="en-US" dirty="0"/>
              <a:t>산업전환 공동훈련센터 </a:t>
            </a:r>
            <a:r>
              <a:rPr lang="ko-KR" altLang="en-US" dirty="0">
                <a:solidFill>
                  <a:srgbClr val="FF6600"/>
                </a:solidFill>
              </a:rPr>
              <a:t>협약기업에 범용적으로 적용 가능한 </a:t>
            </a:r>
            <a:r>
              <a:rPr lang="en-US" altLang="ko-KR" dirty="0">
                <a:solidFill>
                  <a:srgbClr val="FF6600"/>
                </a:solidFill>
              </a:rPr>
              <a:t>AI </a:t>
            </a:r>
            <a:r>
              <a:rPr lang="ko-KR" altLang="en-US" dirty="0">
                <a:solidFill>
                  <a:srgbClr val="FF6600"/>
                </a:solidFill>
              </a:rPr>
              <a:t>직무역량</a:t>
            </a:r>
            <a:r>
              <a:rPr lang="en-US" altLang="ko-KR" dirty="0">
                <a:solidFill>
                  <a:srgbClr val="FF6600"/>
                </a:solidFill>
              </a:rPr>
              <a:t>(</a:t>
            </a:r>
            <a:r>
              <a:rPr lang="ko-KR" altLang="en-US" dirty="0">
                <a:solidFill>
                  <a:srgbClr val="FF6600"/>
                </a:solidFill>
              </a:rPr>
              <a:t>안</a:t>
            </a:r>
            <a:r>
              <a:rPr lang="en-US" altLang="ko-KR" dirty="0">
                <a:solidFill>
                  <a:srgbClr val="FF6600"/>
                </a:solidFill>
              </a:rPr>
              <a:t>)</a:t>
            </a:r>
            <a:r>
              <a:rPr lang="ko-KR" altLang="en-US" dirty="0">
                <a:solidFill>
                  <a:srgbClr val="FF6600"/>
                </a:solidFill>
              </a:rPr>
              <a:t>을 도출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D10DD1E-C489-6139-3082-8D26123358E0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D07AEA46-A2FA-A048-8007-D263F3DED0A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직무역량모델링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8C75D5A-06E6-977E-026C-1617440CFE6C}"/>
              </a:ext>
            </a:extLst>
          </p:cNvPr>
          <p:cNvSpPr/>
          <p:nvPr/>
        </p:nvSpPr>
        <p:spPr>
          <a:xfrm>
            <a:off x="1513166" y="25382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직무 역량 모델링</a:t>
            </a:r>
          </a:p>
          <a:p>
            <a:pPr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Step3.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직무역량모델 구축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3BBDE48-FC96-5B2C-0EE1-37BA85BF8F8D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7" name="사각형: 둥근 위쪽 모서리 66">
              <a:extLst>
                <a:ext uri="{FF2B5EF4-FFF2-40B4-BE49-F238E27FC236}">
                  <a16:creationId xmlns:a16="http://schemas.microsoft.com/office/drawing/2014/main" id="{A8EC683F-A7A9-3BCA-86F6-C6C913403604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2B12C7-C89A-8168-8659-7045493093EC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1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C598CD8-F7FE-181E-864A-D755ED0BEDE8}"/>
              </a:ext>
            </a:extLst>
          </p:cNvPr>
          <p:cNvSpPr/>
          <p:nvPr/>
        </p:nvSpPr>
        <p:spPr>
          <a:xfrm>
            <a:off x="5097462" y="1988016"/>
            <a:ext cx="4458047" cy="442866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/>
          </a:p>
        </p:txBody>
      </p:sp>
      <p:sp>
        <p:nvSpPr>
          <p:cNvPr id="43" name="모서리가 둥근 직사각형 13">
            <a:extLst>
              <a:ext uri="{FF2B5EF4-FFF2-40B4-BE49-F238E27FC236}">
                <a16:creationId xmlns:a16="http://schemas.microsoft.com/office/drawing/2014/main" id="{35D34FD5-EF9A-B17D-A8C3-555E62DA6D1A}"/>
              </a:ext>
            </a:extLst>
          </p:cNvPr>
          <p:cNvSpPr/>
          <p:nvPr/>
        </p:nvSpPr>
        <p:spPr>
          <a:xfrm>
            <a:off x="5144423" y="1911704"/>
            <a:ext cx="2828769" cy="345689"/>
          </a:xfrm>
          <a:prstGeom prst="roundRect">
            <a:avLst>
              <a:gd name="adj" fmla="val 5000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>
              <a:buFont typeface="Wingdings" pitchFamily="2" charset="2"/>
              <a:buNone/>
            </a:pPr>
            <a:r>
              <a:rPr kumimoji="1" lang="en-US" altLang="ko-KR" sz="105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1" lang="ko-KR" altLang="en-US" sz="105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직무역량모델링 결과</a:t>
            </a:r>
            <a:r>
              <a:rPr kumimoji="1" lang="en-US" altLang="ko-KR" sz="105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105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kumimoji="1" lang="en-US" altLang="ko-KR" sz="105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kumimoji="1" lang="ko-KR" altLang="en-US" sz="1050" u="sng" spc="-5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96783114-823C-DBA9-7188-63F65A706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11304"/>
              </p:ext>
            </p:extLst>
          </p:nvPr>
        </p:nvGraphicFramePr>
        <p:xfrm>
          <a:off x="5162192" y="2198849"/>
          <a:ext cx="4328587" cy="4168332"/>
        </p:xfrm>
        <a:graphic>
          <a:graphicData uri="http://schemas.openxmlformats.org/drawingml/2006/table">
            <a:tbl>
              <a:tblPr firstRow="1" bandRow="1"/>
              <a:tblGrid>
                <a:gridCol w="726136">
                  <a:extLst>
                    <a:ext uri="{9D8B030D-6E8A-4147-A177-3AD203B41FA5}">
                      <a16:colId xmlns:a16="http://schemas.microsoft.com/office/drawing/2014/main" val="4081232679"/>
                    </a:ext>
                  </a:extLst>
                </a:gridCol>
                <a:gridCol w="1233557">
                  <a:extLst>
                    <a:ext uri="{9D8B030D-6E8A-4147-A177-3AD203B41FA5}">
                      <a16:colId xmlns:a16="http://schemas.microsoft.com/office/drawing/2014/main" val="588606141"/>
                    </a:ext>
                  </a:extLst>
                </a:gridCol>
                <a:gridCol w="2368894">
                  <a:extLst>
                    <a:ext uri="{9D8B030D-6E8A-4147-A177-3AD203B41FA5}">
                      <a16:colId xmlns:a16="http://schemas.microsoft.com/office/drawing/2014/main" val="3272582882"/>
                    </a:ext>
                  </a:extLst>
                </a:gridCol>
              </a:tblGrid>
              <a:tr h="11052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kern="1200" spc="-50" baseline="0" dirty="0" err="1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역량명</a:t>
                      </a:r>
                      <a:endParaRPr lang="ko-KR" altLang="en-US" sz="700" kern="1200" spc="-50" baseline="0" dirty="0">
                        <a:solidFill>
                          <a:srgbClr val="00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kern="1200" spc="-50" baseline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스킬명</a:t>
                      </a:r>
                      <a:endParaRPr lang="ko-KR" altLang="en-US" sz="700" kern="1200" spc="-50" baseline="0" dirty="0">
                        <a:solidFill>
                          <a:srgbClr val="00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kern="1200" spc="-50" baseline="0" dirty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정의 </a:t>
                      </a:r>
                      <a:r>
                        <a:rPr lang="en-US" altLang="ko-KR" sz="700" kern="1200" spc="-50" baseline="0" dirty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(~</a:t>
                      </a:r>
                      <a:r>
                        <a:rPr lang="ko-KR" altLang="en-US" sz="700" kern="1200" spc="-50" baseline="0" dirty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할 수 있다</a:t>
                      </a:r>
                      <a:r>
                        <a:rPr lang="en-US" altLang="ko-KR" sz="700" kern="1200" spc="-50" baseline="0" dirty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700" kern="1200" spc="-50" baseline="0" dirty="0">
                        <a:solidFill>
                          <a:srgbClr val="00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2024"/>
                  </a:ext>
                </a:extLst>
              </a:tr>
              <a:tr h="25262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생성형 </a:t>
                      </a: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업무 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보고서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기획서 초안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업무 보고서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기획서의 초안을 생성형 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AI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로 작성하고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전문적 검토를 거쳐 부서 제출 수준으로 완성</a:t>
                      </a:r>
                      <a:endParaRPr lang="ko-KR" altLang="en-US" sz="7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47495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이메일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공문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상황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(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보고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요청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회신 등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에 맞는 이메일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·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공문을 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AI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로 작성하고</a:t>
                      </a:r>
                      <a:r>
                        <a:rPr lang="en-US" altLang="ko-KR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700" u="none" strike="noStrike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적절성을 검토하여 발송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510394"/>
                  </a:ext>
                </a:extLst>
              </a:tr>
              <a:tr h="252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기술 문서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매뉴얼 초안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기술 문서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매뉴얼의 구조와 초안을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생성하고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기술적 정확성을 검증하여 최종본을 완성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557755"/>
                  </a:ext>
                </a:extLst>
              </a:tr>
              <a:tr h="252626">
                <a:tc rowSpan="4">
                  <a:txBody>
                    <a:bodyPr/>
                    <a:lstStyle/>
                    <a:p>
                      <a:pPr algn="ctr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 정보 검색</a:t>
                      </a: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산업 동향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변화 조사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산업 동향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규제 변화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기술 트렌드를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검색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요약하여 주간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월간 보고에 반영</a:t>
                      </a:r>
                      <a:endParaRPr lang="ko-KR" altLang="en-US" sz="7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901050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경쟁사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정보 수집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경쟁사 동향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신제품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특허 정보를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수집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정리하여 전략 회의 자료를 준비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49277"/>
                  </a:ext>
                </a:extLst>
              </a:tr>
              <a:tr h="2526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기술 문헌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논문 검색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연구 주제 관련 최신 논문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특허를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검색하고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핵심 내용을 요약하여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방향 수립에 활용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33960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번역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다국어 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기술 문서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인증 서류를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번역하고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전문 용어의 정확성을 검토하여 최종본을 완성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81816"/>
                  </a:ext>
                </a:extLst>
              </a:tr>
              <a:tr h="221048">
                <a:tc rowSpan="3">
                  <a:txBody>
                    <a:bodyPr/>
                    <a:lstStyle/>
                    <a:p>
                      <a:pPr algn="ctr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업무 데이터 표준화 수집</a:t>
                      </a: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 데이터 표준 양식 설계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수집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현장 업무 데이터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공정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품질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시험 등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표준화된 양식으로 수집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기록하여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분석이 가능한 품질로 관리</a:t>
                      </a:r>
                      <a:endParaRPr lang="ko-KR" altLang="en-US" sz="7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498041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이상치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결측치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처리</a:t>
                      </a:r>
                      <a:endParaRPr lang="ko-KR" altLang="en-US" sz="800" spc="-50" baseline="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업무 데이터에서 이상치와 </a:t>
                      </a:r>
                      <a:r>
                        <a:rPr lang="ko-KR" altLang="en-US" sz="700" u="none" strike="noStrike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결측치를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식별하고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적절한 방법으로 처리하여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분석에 적합한 품질을 확보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02830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학습용 데이터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라벨링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가공</a:t>
                      </a:r>
                      <a:endParaRPr lang="ko-KR" altLang="en-US" sz="800" spc="-50" baseline="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도메인 전문가로서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학습용 데이터의 </a:t>
                      </a:r>
                      <a:r>
                        <a:rPr lang="ko-KR" altLang="en-US" sz="700" u="none" strike="noStrike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라벨링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기준을 정의하고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데이터를 가공하여 모델 학습에 적합한 형태로 준비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5922"/>
                  </a:ext>
                </a:extLst>
              </a:tr>
              <a:tr h="221048">
                <a:tc rowSpan="3">
                  <a:txBody>
                    <a:bodyPr/>
                    <a:lstStyle/>
                    <a:p>
                      <a:pPr algn="ctr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도구 활용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u="none" strike="noStrike" kern="120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Excel·BI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도구 활용 데이터 분석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업무 데이터를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Excel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고급 기능이나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BI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도구로 분석하여 트렌드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패턴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이상을 파악하고 보고</a:t>
                      </a:r>
                      <a:endParaRPr lang="ko-KR" altLang="en-US" sz="7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6550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도구 활용 패턴 탐색</a:t>
                      </a:r>
                      <a:endParaRPr lang="ko-KR" altLang="en-US" sz="800" spc="-50" baseline="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분석 도구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(</a:t>
                      </a:r>
                      <a:r>
                        <a:rPr lang="en-US" altLang="ko-KR" sz="700" u="none" strike="noStrike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AutoML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등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)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에 업무 데이터를 입력하여 숨겨진 패턴과 상관관계를 탐색하고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업무 인사이트를 도출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51785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다변량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데이터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  <a:endParaRPr lang="ko-KR" altLang="en-US" sz="800" spc="-50" baseline="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여러 변수가 얽힌 복잡한 업무 데이터를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</a:t>
                      </a:r>
                      <a:r>
                        <a:rPr lang="ko-KR" altLang="en-US" sz="700" u="none" strike="noStrike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다변량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분석하여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핵심 영향 변수를 식별</a:t>
                      </a:r>
                      <a:endParaRPr lang="ko-KR" altLang="en-US" sz="7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90237"/>
                  </a:ext>
                </a:extLst>
              </a:tr>
              <a:tr h="252626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기반 업무 자동화 구현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반복 업무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자동화 워크플로우 설계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현재 반복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수동 업무를 분석하여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자동화 대상을 선정하고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자동화 워크플로우를 설계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구현할 수 있다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94978"/>
                  </a:ext>
                </a:extLst>
              </a:tr>
              <a:tr h="221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AI-OCR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문서 처리 자동화 구축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종이 문서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·PDF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를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AI-OCR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로 자동 인식하여 데이터를 추출하고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시스템에 자동 입력하는 프로세스를 구축할 수 있다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6023"/>
                  </a:ext>
                </a:extLst>
              </a:tr>
              <a:tr h="252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보고서 자동 생성 체계 구축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업무 데이터가 자동으로 수집되어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가 정기 보고서를 생성하는 체계를 구축할 수 있다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085866"/>
                  </a:ext>
                </a:extLst>
              </a:tr>
              <a:tr h="2210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예측</a:t>
                      </a:r>
                      <a:r>
                        <a:rPr lang="en-US" altLang="ko-KR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최적화</a:t>
                      </a:r>
                      <a:endParaRPr lang="en-US" altLang="ko-KR" sz="9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모델 요건 정의서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도메인 전문가로서 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모델의 입력 데이터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출력 형태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성공 기준</a:t>
                      </a:r>
                      <a:r>
                        <a:rPr lang="en-US" altLang="ko-KR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u="none" strike="noStrike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제약조건을 정의한 요건 정의서를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736722"/>
                  </a:ext>
                </a:extLst>
              </a:tr>
              <a:tr h="110524"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498608"/>
                  </a:ext>
                </a:extLst>
              </a:tr>
            </a:tbl>
          </a:graphicData>
        </a:graphic>
      </p:graphicFrame>
      <p:grpSp>
        <p:nvGrpSpPr>
          <p:cNvPr id="74" name="그룹 73">
            <a:extLst>
              <a:ext uri="{FF2B5EF4-FFF2-40B4-BE49-F238E27FC236}">
                <a16:creationId xmlns:a16="http://schemas.microsoft.com/office/drawing/2014/main" id="{040BE7CF-FC5C-41D7-647A-94612BD40D6A}"/>
              </a:ext>
            </a:extLst>
          </p:cNvPr>
          <p:cNvGrpSpPr/>
          <p:nvPr/>
        </p:nvGrpSpPr>
        <p:grpSpPr>
          <a:xfrm>
            <a:off x="386755" y="2060735"/>
            <a:ext cx="4412250" cy="1725088"/>
            <a:chOff x="386755" y="2060735"/>
            <a:chExt cx="4412250" cy="172508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6E6ABB7-9EF3-DD9F-3573-718ACFA3E879}"/>
                </a:ext>
              </a:extLst>
            </p:cNvPr>
            <p:cNvSpPr txBox="1"/>
            <p:nvPr/>
          </p:nvSpPr>
          <p:spPr>
            <a:xfrm>
              <a:off x="1444051" y="2060735"/>
              <a:ext cx="3354954" cy="17250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R="0" lvl="0" algn="l" defTabSz="457200" rtl="0" eaLnBrk="1" fontAlgn="auto" latinLnBrk="1" hangingPunct="1">
                <a:lnSpc>
                  <a:spcPct val="120000"/>
                </a:lnSpc>
                <a:spcAft>
                  <a:spcPts val="200"/>
                </a:spcAft>
                <a:buClrTx/>
                <a:buSzTx/>
                <a:tabLst/>
                <a:defRPr/>
              </a:pPr>
              <a:r>
                <a:rPr kumimoji="0" lang="en-US" altLang="ko-KR" sz="1050" b="0" i="0" u="none" strike="noStrike" kern="1200" cap="none" spc="-50" normalizeH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</a:rPr>
                <a:t>[</a:t>
              </a:r>
              <a:r>
                <a:rPr kumimoji="0" lang="ko-KR" altLang="en-US" sz="1050" b="0" i="0" u="none" strike="noStrike" kern="1200" cap="none" spc="-50" normalizeH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</a:rPr>
                <a:t>국내</a:t>
              </a:r>
              <a:r>
                <a:rPr kumimoji="0" lang="en-US" altLang="ko-KR" sz="1050" b="0" i="0" u="none" strike="noStrike" kern="1200" cap="none" spc="-50" normalizeH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페이퍼로지 6 SemiBold" pitchFamily="2" charset="-127"/>
                  <a:ea typeface="페이퍼로지 6 SemiBold" pitchFamily="2" charset="-127"/>
                </a:rPr>
                <a:t>]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 err="1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고용노동부·한국산업인력공단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(2025).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년 국가직무능력표준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(NCS)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개정 확정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고시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: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인공지능 관련 직무</a:t>
              </a:r>
              <a:endPara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 err="1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삼일PwC경영연구원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(2026.3).</a:t>
              </a: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제조업,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AI로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다시 설계되다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김은경 외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(2024).</a:t>
              </a:r>
              <a:r>
                <a:rPr lang="ko-KR" altLang="en-US" sz="1050" spc="-50" dirty="0">
                  <a:solidFill>
                    <a:srgbClr val="344532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스킬 모델링을 활용한 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HRD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담당자의 스킬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(skill)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분석</a:t>
              </a:r>
              <a:endPara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한국직업능력연구원(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2024</a:t>
              </a: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)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.</a:t>
              </a:r>
              <a:r>
                <a:rPr lang="ko-KR" altLang="en-US" sz="1050" spc="-50" dirty="0">
                  <a:solidFill>
                    <a:srgbClr val="344532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산업의 디지털 전환 현황과 혁신 활성화를 위한 연구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FEEF23AC-6D16-B453-4E10-E86A0522682B}"/>
                </a:ext>
              </a:extLst>
            </p:cNvPr>
            <p:cNvGrpSpPr/>
            <p:nvPr/>
          </p:nvGrpSpPr>
          <p:grpSpPr>
            <a:xfrm>
              <a:off x="386755" y="2239440"/>
              <a:ext cx="962979" cy="1468607"/>
              <a:chOff x="344488" y="1988016"/>
              <a:chExt cx="962979" cy="1468607"/>
            </a:xfrm>
          </p:grpSpPr>
          <p:pic>
            <p:nvPicPr>
              <p:cNvPr id="44" name="그림 43" descr="텍스트, 종이, 책, 종이 제품이(가) 표시된 사진&#10;&#10;자동 생성된 설명">
                <a:extLst>
                  <a:ext uri="{FF2B5EF4-FFF2-40B4-BE49-F238E27FC236}">
                    <a16:creationId xmlns:a16="http://schemas.microsoft.com/office/drawing/2014/main" id="{7474FADD-0125-CF07-4CEA-EE61EA248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488" y="1988016"/>
                <a:ext cx="962979" cy="1158471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70F2C16-FA59-2726-9318-26A77B85E33F}"/>
                  </a:ext>
                </a:extLst>
              </p:cNvPr>
              <p:cNvSpPr txBox="1"/>
              <p:nvPr/>
            </p:nvSpPr>
            <p:spPr>
              <a:xfrm>
                <a:off x="442784" y="3211941"/>
                <a:ext cx="766386" cy="244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5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페이퍼로지 4 Regular" pitchFamily="2" charset="-127"/>
                    <a:ea typeface="페이퍼로지 4 Regular" pitchFamily="2" charset="-127"/>
                  </a:rPr>
                  <a:t>[</a:t>
                </a:r>
                <a:r>
                  <a:rPr kumimoji="0" lang="ko-KR" altLang="en-US" sz="900" b="0" i="0" u="none" strike="noStrike" kern="1200" cap="none" spc="-5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페이퍼로지 4 Regular" pitchFamily="2" charset="-127"/>
                    <a:ea typeface="페이퍼로지 4 Regular" pitchFamily="2" charset="-127"/>
                  </a:rPr>
                  <a:t>문헌분석</a:t>
                </a:r>
                <a:r>
                  <a:rPr kumimoji="0" lang="en-US" altLang="ko-KR" sz="900" b="0" i="0" u="none" strike="noStrike" kern="1200" cap="none" spc="-5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페이퍼로지 4 Regular" pitchFamily="2" charset="-127"/>
                    <a:ea typeface="페이퍼로지 4 Regular" pitchFamily="2" charset="-127"/>
                  </a:rPr>
                  <a:t>]</a:t>
                </a:r>
                <a:endParaRPr kumimoji="0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0C469F8-B6D6-7196-3511-CBBD7CB6724D}"/>
              </a:ext>
            </a:extLst>
          </p:cNvPr>
          <p:cNvGrpSpPr/>
          <p:nvPr/>
        </p:nvGrpSpPr>
        <p:grpSpPr>
          <a:xfrm>
            <a:off x="4799742" y="4000233"/>
            <a:ext cx="251122" cy="195696"/>
            <a:chOff x="5105285" y="3427386"/>
            <a:chExt cx="251122" cy="195696"/>
          </a:xfrm>
        </p:grpSpPr>
        <p:sp>
          <p:nvSpPr>
            <p:cNvPr id="58" name="갈매기형 수장 40">
              <a:extLst>
                <a:ext uri="{FF2B5EF4-FFF2-40B4-BE49-F238E27FC236}">
                  <a16:creationId xmlns:a16="http://schemas.microsoft.com/office/drawing/2014/main" id="{5E88067E-A97C-DD22-9EE8-D43C4CFB3444}"/>
                </a:ext>
              </a:extLst>
            </p:cNvPr>
            <p:cNvSpPr/>
            <p:nvPr/>
          </p:nvSpPr>
          <p:spPr>
            <a:xfrm>
              <a:off x="5105285" y="3427386"/>
              <a:ext cx="156805" cy="195696"/>
            </a:xfrm>
            <a:prstGeom prst="chevron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0" name="갈매기형 수장 41">
              <a:extLst>
                <a:ext uri="{FF2B5EF4-FFF2-40B4-BE49-F238E27FC236}">
                  <a16:creationId xmlns:a16="http://schemas.microsoft.com/office/drawing/2014/main" id="{DEFD0CBE-DD77-5A01-4488-E6974C0021F6}"/>
                </a:ext>
              </a:extLst>
            </p:cNvPr>
            <p:cNvSpPr/>
            <p:nvPr/>
          </p:nvSpPr>
          <p:spPr>
            <a:xfrm>
              <a:off x="5193838" y="3427386"/>
              <a:ext cx="162569" cy="195696"/>
            </a:xfrm>
            <a:prstGeom prst="chevron">
              <a:avLst/>
            </a:prstGeom>
            <a:solidFill>
              <a:srgbClr val="395D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407E1D8-C32D-8E67-4E25-2C5E86C6B177}"/>
              </a:ext>
            </a:extLst>
          </p:cNvPr>
          <p:cNvGrpSpPr/>
          <p:nvPr/>
        </p:nvGrpSpPr>
        <p:grpSpPr>
          <a:xfrm>
            <a:off x="253610" y="4149869"/>
            <a:ext cx="4545395" cy="2138534"/>
            <a:chOff x="253610" y="4250527"/>
            <a:chExt cx="4545395" cy="2138534"/>
          </a:xfrm>
        </p:grpSpPr>
        <p:pic>
          <p:nvPicPr>
            <p:cNvPr id="62" name="그림 61" descr="디스플레이, 컴퓨터, 스크린샷, 컴퓨터 모니터이(가) 표시된 사진&#10;&#10;자동 생성된 설명">
              <a:extLst>
                <a:ext uri="{FF2B5EF4-FFF2-40B4-BE49-F238E27FC236}">
                  <a16:creationId xmlns:a16="http://schemas.microsoft.com/office/drawing/2014/main" id="{94A02F8F-ACE3-074B-6BA5-78FEF91F7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10" b="90991" l="9940" r="89759">
                          <a14:foregroundMark x1="24096" y1="69369" x2="72892" y2="72072"/>
                          <a14:foregroundMark x1="38253" y1="87838" x2="62042" y2="87404"/>
                          <a14:foregroundMark x1="62099" y1="87272" x2="61747" y2="86937"/>
                          <a14:foregroundMark x1="77711" y1="13964" x2="78916" y2="52252"/>
                          <a14:foregroundMark x1="78012" y1="16216" x2="34639" y2="15315"/>
                          <a14:foregroundMark x1="21687" y1="11712" x2="64157" y2="11712"/>
                          <a14:foregroundMark x1="64157" y1="11712" x2="81024" y2="68468"/>
                          <a14:foregroundMark x1="78916" y1="66216" x2="78916" y2="66216"/>
                          <a14:foregroundMark x1="80723" y1="68468" x2="77711" y2="32883"/>
                          <a14:foregroundMark x1="82530" y1="15315" x2="80723" y2="38288"/>
                          <a14:foregroundMark x1="81928" y1="13514" x2="64458" y2="11712"/>
                          <a14:foregroundMark x1="81627" y1="26577" x2="61145" y2="73874"/>
                          <a14:foregroundMark x1="79217" y1="71622" x2="79518" y2="61261"/>
                          <a14:foregroundMark x1="72892" y1="71171" x2="81325" y2="71171"/>
                          <a14:foregroundMark x1="81325" y1="73423" x2="82229" y2="17117"/>
                          <a14:foregroundMark x1="21687" y1="11712" x2="18373" y2="66216"/>
                          <a14:foregroundMark x1="18373" y1="66216" x2="22590" y2="71622"/>
                          <a14:foregroundMark x1="17470" y1="67568" x2="18072" y2="14865"/>
                          <a14:foregroundMark x1="18072" y1="14865" x2="21988" y2="13063"/>
                          <a14:foregroundMark x1="49699" y1="75676" x2="49398" y2="83784"/>
                          <a14:backgroundMark x1="32530" y1="91892" x2="36826" y2="91216"/>
                          <a14:backgroundMark x1="67169" y1="88288" x2="64737" y2="89059"/>
                          <a14:backgroundMark x1="61145" y1="92342" x2="61145" y2="92342"/>
                          <a14:backgroundMark x1="59940" y1="92342" x2="64157" y2="9234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15" r="12555"/>
            <a:stretch/>
          </p:blipFill>
          <p:spPr>
            <a:xfrm>
              <a:off x="344986" y="4522150"/>
              <a:ext cx="1046517" cy="920913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B47B8E4-E4E2-EC82-58CF-58CC098CB070}"/>
                </a:ext>
              </a:extLst>
            </p:cNvPr>
            <p:cNvSpPr txBox="1"/>
            <p:nvPr/>
          </p:nvSpPr>
          <p:spPr>
            <a:xfrm>
              <a:off x="253610" y="5401475"/>
              <a:ext cx="1229269" cy="506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4 Regular" pitchFamily="2" charset="-127"/>
                  <a:ea typeface="페이퍼로지 4 Regular" pitchFamily="2" charset="-127"/>
                </a:rPr>
                <a:t>[</a:t>
              </a:r>
              <a:r>
                <a:rPr kumimoji="0" lang="ko-KR" altLang="en-US" sz="9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4 Regular" pitchFamily="2" charset="-127"/>
                  <a:ea typeface="페이퍼로지 4 Regular" pitchFamily="2" charset="-127"/>
                </a:rPr>
                <a:t>웹사이트</a:t>
              </a:r>
              <a:r>
                <a:rPr kumimoji="0" lang="en-US" altLang="ko-KR" sz="9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4 Regular" pitchFamily="2" charset="-127"/>
                  <a:ea typeface="페이퍼로지 4 Regular" pitchFamily="2" charset="-127"/>
                </a:rPr>
                <a:t>]</a:t>
              </a:r>
            </a:p>
            <a:p>
              <a:pPr lvl="0" algn="ctr">
                <a:lnSpc>
                  <a:spcPct val="120000"/>
                </a:lnSpc>
                <a:defRPr/>
              </a:pPr>
              <a:r>
                <a:rPr lang="en-US" altLang="ko-KR" sz="70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(WEF(</a:t>
              </a:r>
              <a:r>
                <a:rPr lang="ko-KR" altLang="en-US" sz="70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세계경제포럼</a:t>
              </a:r>
              <a:r>
                <a:rPr lang="en-US" altLang="ko-KR" sz="70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), OECD(</a:t>
              </a:r>
              <a:r>
                <a:rPr lang="ko-KR" altLang="en-US" sz="70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경제협력개발기구</a:t>
              </a:r>
              <a:r>
                <a:rPr lang="en-US" altLang="ko-KR" sz="70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kumimoji="0" lang="ko-KR" altLang="en-US" sz="7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54C944E-6FE3-2577-91C2-0CD58B12C6B2}"/>
                </a:ext>
              </a:extLst>
            </p:cNvPr>
            <p:cNvSpPr txBox="1"/>
            <p:nvPr/>
          </p:nvSpPr>
          <p:spPr>
            <a:xfrm>
              <a:off x="1444051" y="4250527"/>
              <a:ext cx="3354954" cy="21385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latinLnBrk="1">
                <a:lnSpc>
                  <a:spcPct val="120000"/>
                </a:lnSpc>
                <a:spcAft>
                  <a:spcPts val="200"/>
                </a:spcAft>
                <a:defRPr/>
              </a:pPr>
              <a:r>
                <a:rPr lang="en-US" altLang="ko-KR" sz="1050" spc="-50" dirty="0">
                  <a:solidFill>
                    <a:srgbClr val="70AD47">
                      <a:lumMod val="75000"/>
                    </a:srgbClr>
                  </a:solidFill>
                  <a:latin typeface="페이퍼로지 6 SemiBold" pitchFamily="2" charset="-127"/>
                  <a:ea typeface="페이퍼로지 6 SemiBold" pitchFamily="2" charset="-127"/>
                </a:rPr>
                <a:t>[</a:t>
              </a:r>
              <a:r>
                <a:rPr lang="ko-KR" altLang="en-US" sz="1050" spc="-50" dirty="0">
                  <a:solidFill>
                    <a:srgbClr val="70AD47">
                      <a:lumMod val="75000"/>
                    </a:srgbClr>
                  </a:solidFill>
                  <a:latin typeface="페이퍼로지 6 SemiBold" pitchFamily="2" charset="-127"/>
                  <a:ea typeface="페이퍼로지 6 SemiBold" pitchFamily="2" charset="-127"/>
                </a:rPr>
                <a:t>해외</a:t>
              </a:r>
              <a:r>
                <a:rPr lang="en-US" altLang="ko-KR" sz="1050" spc="-50" dirty="0">
                  <a:solidFill>
                    <a:srgbClr val="70AD47">
                      <a:lumMod val="75000"/>
                    </a:srgbClr>
                  </a:solidFill>
                  <a:latin typeface="페이퍼로지 6 SemiBold" pitchFamily="2" charset="-127"/>
                  <a:ea typeface="페이퍼로지 6 SemiBold" pitchFamily="2" charset="-127"/>
                </a:rPr>
                <a:t>]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WEF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(2025.1).</a:t>
              </a:r>
              <a:r>
                <a:rPr lang="ko-KR" altLang="en-US" sz="1050" spc="-50" dirty="0">
                  <a:solidFill>
                    <a:srgbClr val="344532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Future of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Jobs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Report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2025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.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WEF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(2025.9).</a:t>
              </a:r>
              <a:r>
                <a:rPr lang="ko-KR" altLang="en-US" sz="1050" spc="-50" dirty="0">
                  <a:solidFill>
                    <a:srgbClr val="344532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Empowering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Frontlines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Retaining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Training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and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Upskilling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Industrial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Workforc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e.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WEF</a:t>
              </a: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(2025).</a:t>
              </a:r>
              <a:r>
                <a:rPr lang="ko-KR" altLang="en-US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New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Economy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Skills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: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Building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AI, Data and Digital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Capabilities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for</a:t>
              </a:r>
              <a:r>
                <a:rPr lang="ko-KR" altLang="en-US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50" spc="-50" dirty="0" err="1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Growth</a:t>
              </a:r>
              <a:endPara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 OECD(2025.4).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 Bridging the AI Skills Gap: Is Training Keeping Up?</a:t>
              </a:r>
            </a:p>
            <a:p>
              <a:pPr marL="171450" indent="-171450" latinLnBrk="1">
                <a:lnSpc>
                  <a:spcPct val="120000"/>
                </a:lnSpc>
                <a:spcAft>
                  <a:spcPts val="200"/>
                </a:spcAft>
                <a:buFont typeface="Wingdings" panose="05000000000000000000" pitchFamily="2" charset="2"/>
                <a:buChar char="ü"/>
                <a:defRPr/>
              </a:pPr>
              <a:r>
                <a:rPr lang="en-US" altLang="ko-KR" sz="1050" spc="-50" dirty="0">
                  <a:solidFill>
                    <a:schemeClr val="accent6">
                      <a:lumMod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OECD(2025.1). </a:t>
              </a:r>
              <a:r>
                <a:rPr lang="en-US" altLang="ko-KR" sz="1050" spc="-50" dirty="0">
                  <a:solidFill>
                    <a:prstClr val="black"/>
                  </a:solidFill>
                  <a:latin typeface="페이퍼로지 4 Regular" pitchFamily="2" charset="-127"/>
                  <a:ea typeface="페이퍼로지 4 Regular" pitchFamily="2" charset="-127"/>
                </a:rPr>
                <a:t>Introducing the OECD AI Capability Indicators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843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1057-26C6-C4AC-39F6-CBE9740F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CEF92A-C99C-A732-D838-9A37F3F9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7721" y="6500148"/>
            <a:ext cx="670560" cy="365125"/>
          </a:xfrm>
        </p:spPr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17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44CA257E-50E1-32EF-6BBC-57769F8ADDB6}"/>
              </a:ext>
            </a:extLst>
          </p:cNvPr>
          <p:cNvSpPr txBox="1">
            <a:spLocks/>
          </p:cNvSpPr>
          <p:nvPr/>
        </p:nvSpPr>
        <p:spPr>
          <a:xfrm>
            <a:off x="344488" y="84388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기존 교육과정별 스킬을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직무역량과 매핑하여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스킬별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적용 우선순위와 실행 방향을 체계적으로 도출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DC819EE-EC15-22BA-EF98-5D5007101EF3}"/>
              </a:ext>
            </a:extLst>
          </p:cNvPr>
          <p:cNvCxnSpPr>
            <a:cxnSpLocks/>
          </p:cNvCxnSpPr>
          <p:nvPr/>
        </p:nvCxnSpPr>
        <p:spPr>
          <a:xfrm>
            <a:off x="344489" y="188266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7249D9F0-EC34-1109-AF4D-5A6FDCF31704}"/>
              </a:ext>
            </a:extLst>
          </p:cNvPr>
          <p:cNvSpPr txBox="1">
            <a:spLocks/>
          </p:cNvSpPr>
          <p:nvPr/>
        </p:nvSpPr>
        <p:spPr>
          <a:xfrm>
            <a:off x="344488" y="154547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특화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융합 스킬 도출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Matrix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4F9BE8-8F5E-E6DB-CC57-FAC6D9209A65}"/>
              </a:ext>
            </a:extLst>
          </p:cNvPr>
          <p:cNvSpPr/>
          <p:nvPr/>
        </p:nvSpPr>
        <p:spPr>
          <a:xfrm>
            <a:off x="7294247" y="26474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0C8F2B-06A5-FC60-5B86-B74EC6332D64}"/>
              </a:ext>
            </a:extLst>
          </p:cNvPr>
          <p:cNvSpPr/>
          <p:nvPr/>
        </p:nvSpPr>
        <p:spPr>
          <a:xfrm>
            <a:off x="1513167" y="26109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Step4.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기존 교육과정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–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직무역량 모델 매핑 분석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8F8D14D-FE82-3F8D-8130-90E4E12BF5AC}"/>
              </a:ext>
            </a:extLst>
          </p:cNvPr>
          <p:cNvGrpSpPr/>
          <p:nvPr/>
        </p:nvGrpSpPr>
        <p:grpSpPr>
          <a:xfrm>
            <a:off x="344954" y="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93067BC4-722C-8856-C75C-9E035FE062D0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055ABF-CC5B-D737-9D38-1A79900219EB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E2B300E-B3E5-0DCE-3FEC-7F8CD1136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16713"/>
              </p:ext>
            </p:extLst>
          </p:nvPr>
        </p:nvGraphicFramePr>
        <p:xfrm>
          <a:off x="344488" y="1991166"/>
          <a:ext cx="9217035" cy="443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781">
                  <a:extLst>
                    <a:ext uri="{9D8B030D-6E8A-4147-A177-3AD203B41FA5}">
                      <a16:colId xmlns:a16="http://schemas.microsoft.com/office/drawing/2014/main" val="4156120689"/>
                    </a:ext>
                  </a:extLst>
                </a:gridCol>
                <a:gridCol w="685577">
                  <a:extLst>
                    <a:ext uri="{9D8B030D-6E8A-4147-A177-3AD203B41FA5}">
                      <a16:colId xmlns:a16="http://schemas.microsoft.com/office/drawing/2014/main" val="3741802069"/>
                    </a:ext>
                  </a:extLst>
                </a:gridCol>
                <a:gridCol w="1598254">
                  <a:extLst>
                    <a:ext uri="{9D8B030D-6E8A-4147-A177-3AD203B41FA5}">
                      <a16:colId xmlns:a16="http://schemas.microsoft.com/office/drawing/2014/main" val="2160193766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822087783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494783368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402887749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3892439972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801693987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853320977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1445755097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3734843094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18741422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3909815325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191968066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611971763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1045165672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1879852633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1157340109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397613286"/>
                    </a:ext>
                  </a:extLst>
                </a:gridCol>
                <a:gridCol w="150815">
                  <a:extLst>
                    <a:ext uri="{9D8B030D-6E8A-4147-A177-3AD203B41FA5}">
                      <a16:colId xmlns:a16="http://schemas.microsoft.com/office/drawing/2014/main" val="3044498802"/>
                    </a:ext>
                  </a:extLst>
                </a:gridCol>
              </a:tblGrid>
              <a:tr h="251767">
                <a:tc rowSpan="2" gridSpan="3">
                  <a:txBody>
                    <a:bodyPr/>
                    <a:lstStyle/>
                    <a:p>
                      <a:pPr algn="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AI</a:t>
                      </a:r>
                      <a:r>
                        <a:rPr lang="ko-KR" altLang="en-US" sz="10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직무역량별 스킬</a:t>
                      </a:r>
                      <a:endParaRPr lang="en-US" altLang="ko-KR" sz="10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과정명</a:t>
                      </a:r>
                      <a:endParaRPr lang="en-US" altLang="ko-KR" sz="10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AEDF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생성형 </a:t>
                      </a:r>
                      <a:r>
                        <a:rPr lang="en-US" altLang="ko-KR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AI </a:t>
                      </a:r>
                      <a:r>
                        <a:rPr lang="ko-KR" altLang="en-US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업무 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 정보 검색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업무 데이터 표준화 수집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도구 활용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기반 업무 자동화 구현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7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7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  <a:endParaRPr lang="ko-KR" altLang="en-US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21731"/>
                  </a:ext>
                </a:extLst>
              </a:tr>
              <a:tr h="50353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보고서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기획서 초안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이메일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공문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기술문서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매뉴얼 초안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산업 동향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변화 조사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경쟁사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정보 수집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기술 문헌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검색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번역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다국어 문서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 데이터 표준 양식 설계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이상치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결측치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학습용 데이터 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라벨링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Excel·BI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도구 활용 데이터 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도구 활용 패턴 탐색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다변량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데이터 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반복 업무 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자동화 워크플로우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AI-OCR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문서 처리 자동화 구축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보고서 자동 생성 체계 구축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  <a:endParaRPr lang="ko-KR" altLang="en-US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15580"/>
                  </a:ext>
                </a:extLst>
              </a:tr>
              <a:tr h="159574">
                <a:tc rowSpan="7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소재 제품화 기본 전략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기반 산업소재 특성 비교분석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lang="ko-KR" altLang="en-US" sz="800" b="0" kern="1200" spc="-50" baseline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7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3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894044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제품화 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39212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제품 사업화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973979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국내외 생분해성 제품 인증기준 비교분석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127525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지식재산권 취득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선행기술 조사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314413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선행기술 조사보고서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216493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특허명세서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14766"/>
                  </a:ext>
                </a:extLst>
              </a:tr>
              <a:tr h="15957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지속가능 경영 실무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경영 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경영요소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031856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GRI Standard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가이드라인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64919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선도기업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3788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802357"/>
                  </a:ext>
                </a:extLst>
              </a:tr>
              <a:tr h="15957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관리 실무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활용 프로젝트 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관리계획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62899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565989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리스크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35581"/>
                  </a:ext>
                </a:extLst>
              </a:tr>
              <a:tr h="159574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친환경 화장품 브랜딩 기본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친환경화장품 브랜딩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소비자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87590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브랜드 컨셉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69057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마케팅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15554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친환경화장품 브랜딩 디자인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브랜드 컨셉 설계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35714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국내외 친환경 화장품 브랜딩 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54286"/>
                  </a:ext>
                </a:extLst>
              </a:tr>
              <a:tr h="15957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기본 실무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 화학 </a:t>
                      </a: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LCA </a:t>
                      </a: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수행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제품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데이터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859288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결과 해석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A7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009310"/>
                  </a:ext>
                </a:extLst>
              </a:tr>
              <a:tr h="1595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728263"/>
                  </a:ext>
                </a:extLst>
              </a:tr>
              <a:tr h="159574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…</a:t>
                      </a: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  <a:endParaRPr lang="ko-KR" altLang="en-US" sz="8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7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26932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31D99E-2A48-08AE-1168-ABEE4E502FEF}"/>
              </a:ext>
            </a:extLst>
          </p:cNvPr>
          <p:cNvSpPr/>
          <p:nvPr/>
        </p:nvSpPr>
        <p:spPr>
          <a:xfrm>
            <a:off x="5914531" y="1677957"/>
            <a:ext cx="144000" cy="144000"/>
          </a:xfrm>
          <a:prstGeom prst="rect">
            <a:avLst/>
          </a:prstGeom>
          <a:solidFill>
            <a:srgbClr val="203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F393C7-B9CA-AC3E-B54F-C9CCF8E00EB3}"/>
              </a:ext>
            </a:extLst>
          </p:cNvPr>
          <p:cNvSpPr txBox="1"/>
          <p:nvPr/>
        </p:nvSpPr>
        <p:spPr>
          <a:xfrm>
            <a:off x="6012885" y="1649930"/>
            <a:ext cx="14623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ko-KR" altLang="en-US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중장기 적용 과제</a:t>
            </a:r>
            <a:r>
              <a:rPr lang="en-US" altLang="ko-KR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시스템 구축 필요</a:t>
            </a:r>
            <a:r>
              <a:rPr lang="en-US" altLang="ko-KR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700" spc="-50" dirty="0">
              <a:solidFill>
                <a:prstClr val="black">
                  <a:lumMod val="85000"/>
                  <a:lumOff val="15000"/>
                </a:prst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1ED3ED-1945-DD36-D74E-A947E72ECEFE}"/>
              </a:ext>
            </a:extLst>
          </p:cNvPr>
          <p:cNvGrpSpPr/>
          <p:nvPr/>
        </p:nvGrpSpPr>
        <p:grpSpPr>
          <a:xfrm>
            <a:off x="7497139" y="1649930"/>
            <a:ext cx="1299397" cy="200055"/>
            <a:chOff x="7513925" y="1649930"/>
            <a:chExt cx="1299397" cy="20005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8007AD9-8EA7-CEB5-5B65-DF5774651B38}"/>
                </a:ext>
              </a:extLst>
            </p:cNvPr>
            <p:cNvSpPr/>
            <p:nvPr/>
          </p:nvSpPr>
          <p:spPr>
            <a:xfrm>
              <a:off x="7513925" y="1677957"/>
              <a:ext cx="144000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3B2780-027F-2016-9DFE-52B22B942786}"/>
                </a:ext>
              </a:extLst>
            </p:cNvPr>
            <p:cNvSpPr txBox="1"/>
            <p:nvPr/>
          </p:nvSpPr>
          <p:spPr>
            <a:xfrm>
              <a:off x="7612538" y="1649930"/>
              <a:ext cx="12007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defRPr/>
              </a:pPr>
              <a:r>
                <a:rPr lang="ko-KR" altLang="en-US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단기 적용 과제</a:t>
              </a:r>
              <a:r>
                <a:rPr lang="en-US" altLang="ko-KR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학습데이터</a:t>
              </a:r>
              <a:r>
                <a:rPr lang="en-US" altLang="ko-KR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필요</a:t>
              </a:r>
              <a:r>
                <a:rPr lang="en-US" altLang="ko-KR" sz="7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0358A2E-DF1C-0D0B-8D40-4249BA5BD627}"/>
              </a:ext>
            </a:extLst>
          </p:cNvPr>
          <p:cNvSpPr/>
          <p:nvPr/>
        </p:nvSpPr>
        <p:spPr>
          <a:xfrm>
            <a:off x="8818460" y="1677957"/>
            <a:ext cx="144000" cy="144000"/>
          </a:xfrm>
          <a:prstGeom prst="rect">
            <a:avLst/>
          </a:prstGeom>
          <a:solidFill>
            <a:srgbClr val="C0CD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DD2391-0FCC-C56F-7365-F852484D611C}"/>
              </a:ext>
            </a:extLst>
          </p:cNvPr>
          <p:cNvSpPr txBox="1"/>
          <p:nvPr/>
        </p:nvSpPr>
        <p:spPr>
          <a:xfrm>
            <a:off x="8918753" y="1649930"/>
            <a:ext cx="622588" cy="20005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defTabSz="914400">
              <a:defRPr/>
            </a:pPr>
            <a:r>
              <a:rPr lang="ko-KR" altLang="en-US" sz="7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바로 적용 가능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12CDBA-F1A1-4BD3-4AB4-74E7A2331809}"/>
              </a:ext>
            </a:extLst>
          </p:cNvPr>
          <p:cNvSpPr txBox="1"/>
          <p:nvPr/>
        </p:nvSpPr>
        <p:spPr>
          <a:xfrm>
            <a:off x="4091841" y="1642235"/>
            <a:ext cx="1799717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r" defTabSz="914400">
              <a:defRPr/>
            </a:pPr>
            <a:r>
              <a:rPr lang="ko-KR" altLang="en-US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○ </a:t>
            </a:r>
            <a:r>
              <a:rPr lang="en-US" altLang="ko-KR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: AI</a:t>
            </a:r>
            <a:r>
              <a:rPr lang="ko-KR" altLang="en-US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 적용 가능 </a:t>
            </a:r>
            <a:r>
              <a:rPr lang="en-US" altLang="ko-KR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◎ </a:t>
            </a:r>
            <a:r>
              <a:rPr lang="en-US" altLang="ko-KR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: AI </a:t>
            </a:r>
            <a:r>
              <a:rPr lang="ko-KR" altLang="en-US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적용 권장     </a:t>
            </a:r>
            <a:r>
              <a:rPr lang="en-US" altLang="ko-KR" sz="8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endParaRPr lang="ko-KR" altLang="en-US" sz="800" spc="-50" dirty="0">
              <a:solidFill>
                <a:prstClr val="black">
                  <a:lumMod val="85000"/>
                  <a:lumOff val="15000"/>
                </a:prst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B09026B-5B86-8A59-45FB-44C96CB02167}"/>
              </a:ext>
            </a:extLst>
          </p:cNvPr>
          <p:cNvCxnSpPr>
            <a:cxnSpLocks/>
          </p:cNvCxnSpPr>
          <p:nvPr/>
        </p:nvCxnSpPr>
        <p:spPr>
          <a:xfrm>
            <a:off x="344488" y="1991166"/>
            <a:ext cx="462756" cy="759178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60C572-49CD-4BA2-830F-D6480DEDC949}"/>
              </a:ext>
            </a:extLst>
          </p:cNvPr>
          <p:cNvSpPr txBox="1"/>
          <p:nvPr/>
        </p:nvSpPr>
        <p:spPr>
          <a:xfrm>
            <a:off x="775494" y="2542513"/>
            <a:ext cx="5641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스킬셋</a:t>
            </a:r>
            <a:endParaRPr kumimoji="0" lang="en-US" altLang="ko-KR" sz="1000" b="0" i="0" u="none" strike="noStrike" kern="1200" cap="none" spc="-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80E746-DC2D-B442-1D28-E811EEDCC85A}"/>
              </a:ext>
            </a:extLst>
          </p:cNvPr>
          <p:cNvCxnSpPr>
            <a:cxnSpLocks/>
          </p:cNvCxnSpPr>
          <p:nvPr/>
        </p:nvCxnSpPr>
        <p:spPr>
          <a:xfrm>
            <a:off x="344477" y="1989577"/>
            <a:ext cx="1141423" cy="760767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2489537-AC6B-59C4-7D08-C0DF821FA27C}"/>
              </a:ext>
            </a:extLst>
          </p:cNvPr>
          <p:cNvSpPr txBox="1"/>
          <p:nvPr/>
        </p:nvSpPr>
        <p:spPr>
          <a:xfrm>
            <a:off x="1689894" y="2542513"/>
            <a:ext cx="5641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스킬</a:t>
            </a:r>
            <a:endParaRPr kumimoji="0" lang="en-US" altLang="ko-KR" sz="1000" b="0" i="0" u="none" strike="noStrike" kern="1200" cap="none" spc="-5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94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2708-C685-B1D1-5CA5-D1F960EE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96D9CC-46D5-8A47-645E-25DF5B73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7721" y="6500148"/>
            <a:ext cx="670560" cy="365125"/>
          </a:xfrm>
        </p:spPr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18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8B902103-818A-23A5-BC95-04E1B87AF011}"/>
              </a:ext>
            </a:extLst>
          </p:cNvPr>
          <p:cNvSpPr txBox="1">
            <a:spLocks/>
          </p:cNvSpPr>
          <p:nvPr/>
        </p:nvSpPr>
        <p:spPr>
          <a:xfrm>
            <a:off x="344488" y="84388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기존 스킬과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적용 우선순위를 연계하여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특화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융합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스킬셋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(Skill-set)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을 도출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하고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스킬셋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및 세부 스킬 정의를 통해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과정 설계 기준을 마련함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5F7C4C-DEEF-71BC-DD1C-51ACC787A18B}"/>
              </a:ext>
            </a:extLst>
          </p:cNvPr>
          <p:cNvCxnSpPr>
            <a:cxnSpLocks/>
          </p:cNvCxnSpPr>
          <p:nvPr/>
        </p:nvCxnSpPr>
        <p:spPr>
          <a:xfrm>
            <a:off x="344489" y="188266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DD484E81-7B61-4002-59C8-125D6FC8FC57}"/>
              </a:ext>
            </a:extLst>
          </p:cNvPr>
          <p:cNvSpPr txBox="1">
            <a:spLocks/>
          </p:cNvSpPr>
          <p:nvPr/>
        </p:nvSpPr>
        <p:spPr>
          <a:xfrm>
            <a:off x="344488" y="154547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특화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융합 스킬 도출 결과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DEF95D-B2F3-DD23-E288-EB59334649E0}"/>
              </a:ext>
            </a:extLst>
          </p:cNvPr>
          <p:cNvSpPr/>
          <p:nvPr/>
        </p:nvSpPr>
        <p:spPr>
          <a:xfrm>
            <a:off x="7294247" y="26474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EF0807-2C80-E3EC-9EA2-6E9AB8215151}"/>
              </a:ext>
            </a:extLst>
          </p:cNvPr>
          <p:cNvSpPr/>
          <p:nvPr/>
        </p:nvSpPr>
        <p:spPr>
          <a:xfrm>
            <a:off x="1513167" y="261099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Step4.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기존 교육과정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–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직무역량 모델 매핑 분석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9AFC930-7160-FC09-D010-853B7FF3670F}"/>
              </a:ext>
            </a:extLst>
          </p:cNvPr>
          <p:cNvGrpSpPr/>
          <p:nvPr/>
        </p:nvGrpSpPr>
        <p:grpSpPr>
          <a:xfrm>
            <a:off x="344954" y="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69BFC24F-3267-5FEE-A7AB-E3FAC9306792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17C382-09EB-FDFC-25F8-061A4CB0DEAA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102F777-4549-D3DE-F5E7-895F789F3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48610"/>
              </p:ext>
            </p:extLst>
          </p:nvPr>
        </p:nvGraphicFramePr>
        <p:xfrm>
          <a:off x="344489" y="1991165"/>
          <a:ext cx="5304428" cy="4425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853">
                  <a:extLst>
                    <a:ext uri="{9D8B030D-6E8A-4147-A177-3AD203B41FA5}">
                      <a16:colId xmlns:a16="http://schemas.microsoft.com/office/drawing/2014/main" val="4156120689"/>
                    </a:ext>
                  </a:extLst>
                </a:gridCol>
                <a:gridCol w="633268">
                  <a:extLst>
                    <a:ext uri="{9D8B030D-6E8A-4147-A177-3AD203B41FA5}">
                      <a16:colId xmlns:a16="http://schemas.microsoft.com/office/drawing/2014/main" val="3741802069"/>
                    </a:ext>
                  </a:extLst>
                </a:gridCol>
                <a:gridCol w="1476307">
                  <a:extLst>
                    <a:ext uri="{9D8B030D-6E8A-4147-A177-3AD203B41FA5}">
                      <a16:colId xmlns:a16="http://schemas.microsoft.com/office/drawing/2014/main" val="216019376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822087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8924399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0169398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5332097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44575509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85602069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852167601"/>
                    </a:ext>
                  </a:extLst>
                </a:gridCol>
              </a:tblGrid>
              <a:tr h="378415">
                <a:tc rowSpan="2" gridSpan="3">
                  <a:txBody>
                    <a:bodyPr/>
                    <a:lstStyle/>
                    <a:p>
                      <a:pPr algn="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</a:t>
                      </a:r>
                      <a:r>
                        <a:rPr lang="ko-KR" altLang="en-US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직무역량별 스킬</a:t>
                      </a:r>
                      <a:endParaRPr lang="en-US" altLang="ko-KR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교육과정별 스킬</a:t>
                      </a:r>
                      <a:endParaRPr lang="en-US" altLang="ko-KR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AEDF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생성형 </a:t>
                      </a:r>
                      <a:r>
                        <a:rPr lang="en-US" altLang="ko-KR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b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업무 문서작성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정보 검색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도구 활용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21731"/>
                  </a:ext>
                </a:extLst>
              </a:tr>
              <a:tr h="53855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보고서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기획서 초안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산업 동향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규제 변화 조사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경쟁사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정보 수집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기술 문헌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검색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번역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다국어 문서 작성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Excel·BI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도구 활용 데이터 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도구 활용 패턴 탐색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15580"/>
                  </a:ext>
                </a:extLst>
              </a:tr>
              <a:tr h="170672">
                <a:tc rowSpan="7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제품화 기본 전략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기반 산업소재 특성 비교분석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894044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제품화 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39212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제품 사업화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973979"/>
                  </a:ext>
                </a:extLst>
              </a:tr>
              <a:tr h="265764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국내외 생분해성 제품 인증기준 비교분석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127525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지식재산권 취득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선행기술 조사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314413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선행기술 조사보고서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216493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762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특허명세서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14766"/>
                  </a:ext>
                </a:extLst>
              </a:tr>
              <a:tr h="17067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지속가능 경영 실무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문서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경영요소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031856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GRI Standard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가이드라인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64919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선도기업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3788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802357"/>
                  </a:ext>
                </a:extLst>
              </a:tr>
              <a:tr h="17067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관리 실무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활용 프로젝트 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관리계획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62899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565989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리스크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35581"/>
                  </a:ext>
                </a:extLst>
              </a:tr>
              <a:tr h="170672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브랜딩 기본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친환경화장품 브랜딩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소비자</a:t>
                      </a:r>
                      <a:r>
                        <a:rPr lang="en-US" altLang="ko-KR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시장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87590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브랜드 컨셉 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69057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마케팅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15554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ko-KR" altLang="en-US" sz="7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친환경화장품 브랜딩 디자인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화장품 브랜드 컨셉 설계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35714"/>
                  </a:ext>
                </a:extLst>
              </a:tr>
              <a:tr h="170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국내외 친환경 화장품 브랜딩 사례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◎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54286"/>
                  </a:ext>
                </a:extLst>
              </a:tr>
              <a:tr h="170672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dirty="0">
                          <a:solidFill>
                            <a:srgbClr val="00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…</a:t>
                      </a:r>
                      <a:endParaRPr lang="ko-KR" altLang="en-US" sz="800" spc="-50" dirty="0">
                        <a:solidFill>
                          <a:srgbClr val="000000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b="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2693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3BE980-0CB5-C041-FC7E-E8EBE3DC353F}"/>
              </a:ext>
            </a:extLst>
          </p:cNvPr>
          <p:cNvSpPr/>
          <p:nvPr/>
        </p:nvSpPr>
        <p:spPr>
          <a:xfrm>
            <a:off x="1403489" y="2907506"/>
            <a:ext cx="4245429" cy="782331"/>
          </a:xfrm>
          <a:prstGeom prst="rect">
            <a:avLst/>
          </a:prstGeom>
          <a:solidFill>
            <a:schemeClr val="accent5">
              <a:alpha val="3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11545-3C40-2B43-10FC-21D38E043B86}"/>
              </a:ext>
            </a:extLst>
          </p:cNvPr>
          <p:cNvSpPr/>
          <p:nvPr/>
        </p:nvSpPr>
        <p:spPr>
          <a:xfrm>
            <a:off x="1403487" y="4199924"/>
            <a:ext cx="4245430" cy="676876"/>
          </a:xfrm>
          <a:prstGeom prst="rect">
            <a:avLst/>
          </a:prstGeom>
          <a:solidFill>
            <a:schemeClr val="accent5">
              <a:alpha val="3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FE89FC-506D-D1B5-AEEF-1448185E4D76}"/>
              </a:ext>
            </a:extLst>
          </p:cNvPr>
          <p:cNvSpPr/>
          <p:nvPr/>
        </p:nvSpPr>
        <p:spPr>
          <a:xfrm>
            <a:off x="2869177" y="2360423"/>
            <a:ext cx="396000" cy="3888000"/>
          </a:xfrm>
          <a:prstGeom prst="rect">
            <a:avLst/>
          </a:prstGeom>
          <a:solidFill>
            <a:srgbClr val="FFC000">
              <a:alpha val="15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A4989F-BBEA-1E97-0EC7-AEFBA45B6E3E}"/>
              </a:ext>
            </a:extLst>
          </p:cNvPr>
          <p:cNvSpPr/>
          <p:nvPr/>
        </p:nvSpPr>
        <p:spPr>
          <a:xfrm>
            <a:off x="3674038" y="2360423"/>
            <a:ext cx="396000" cy="3888000"/>
          </a:xfrm>
          <a:prstGeom prst="rect">
            <a:avLst/>
          </a:prstGeom>
          <a:solidFill>
            <a:srgbClr val="FFC000">
              <a:alpha val="15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AD5501-A563-2869-D03F-8A49ED52B512}"/>
              </a:ext>
            </a:extLst>
          </p:cNvPr>
          <p:cNvSpPr/>
          <p:nvPr/>
        </p:nvSpPr>
        <p:spPr>
          <a:xfrm>
            <a:off x="4070783" y="2360423"/>
            <a:ext cx="396000" cy="3888000"/>
          </a:xfrm>
          <a:prstGeom prst="rect">
            <a:avLst/>
          </a:prstGeom>
          <a:solidFill>
            <a:srgbClr val="FFC000">
              <a:alpha val="15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5C41C8-4D5B-6DA5-6030-054BA6B26FC8}"/>
              </a:ext>
            </a:extLst>
          </p:cNvPr>
          <p:cNvSpPr/>
          <p:nvPr/>
        </p:nvSpPr>
        <p:spPr>
          <a:xfrm>
            <a:off x="5259347" y="2360423"/>
            <a:ext cx="396000" cy="3888000"/>
          </a:xfrm>
          <a:prstGeom prst="rect">
            <a:avLst/>
          </a:prstGeom>
          <a:solidFill>
            <a:srgbClr val="FFC000">
              <a:alpha val="15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1549E38-1A7C-ED31-79BE-09C6E4D12540}"/>
              </a:ext>
            </a:extLst>
          </p:cNvPr>
          <p:cNvSpPr txBox="1"/>
          <p:nvPr/>
        </p:nvSpPr>
        <p:spPr>
          <a:xfrm>
            <a:off x="5879980" y="2287728"/>
            <a:ext cx="357995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9143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kern="0" spc="-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6 SemiBold" pitchFamily="2" charset="-127"/>
                <a:ea typeface="페이퍼로지 6 SemiBold" pitchFamily="2" charset="-127"/>
              </a:rPr>
              <a:t>KTR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 교육과정 스킬 </a:t>
            </a:r>
            <a:r>
              <a:rPr lang="en-US" altLang="ko-KR" sz="1400" kern="0" spc="-1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6 SemiBold" pitchFamily="2" charset="-127"/>
                <a:ea typeface="페이퍼로지 6 SemiBold" pitchFamily="2" charset="-127"/>
              </a:rPr>
              <a:t>+ 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스킬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 → 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KTR 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특화 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융합 스킬 </a:t>
            </a:r>
            <a:endParaRPr kumimoji="0" lang="en-US" altLang="ko-KR" sz="1400" b="0" i="0" u="none" strike="noStrike" kern="0" cap="none" spc="-10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5C4995D-638D-143A-5A2E-25E7DA3D0A11}"/>
              </a:ext>
            </a:extLst>
          </p:cNvPr>
          <p:cNvSpPr/>
          <p:nvPr/>
        </p:nvSpPr>
        <p:spPr>
          <a:xfrm>
            <a:off x="1403487" y="5383978"/>
            <a:ext cx="4245430" cy="519381"/>
          </a:xfrm>
          <a:prstGeom prst="rect">
            <a:avLst/>
          </a:prstGeom>
          <a:solidFill>
            <a:schemeClr val="accent5">
              <a:alpha val="3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26A4908C-B5D4-D6FC-9B0F-8E33FD1B8F66}"/>
              </a:ext>
            </a:extLst>
          </p:cNvPr>
          <p:cNvSpPr/>
          <p:nvPr/>
        </p:nvSpPr>
        <p:spPr>
          <a:xfrm>
            <a:off x="5834910" y="2595505"/>
            <a:ext cx="2920470" cy="1222104"/>
          </a:xfrm>
          <a:prstGeom prst="rightArrow">
            <a:avLst>
              <a:gd name="adj1" fmla="val 66578"/>
              <a:gd name="adj2" fmla="val 31822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친환경 소재 제품화 기획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CA10D49-B649-C0CB-D2CE-EE601EFEE31C}"/>
              </a:ext>
            </a:extLst>
          </p:cNvPr>
          <p:cNvGrpSpPr/>
          <p:nvPr/>
        </p:nvGrpSpPr>
        <p:grpSpPr>
          <a:xfrm>
            <a:off x="5879980" y="3028623"/>
            <a:ext cx="2450656" cy="537048"/>
            <a:chOff x="5884353" y="3110422"/>
            <a:chExt cx="2450656" cy="53704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2972604-BFE8-4804-E8F7-E12CCB6AC423}"/>
                </a:ext>
              </a:extLst>
            </p:cNvPr>
            <p:cNvSpPr/>
            <p:nvPr/>
          </p:nvSpPr>
          <p:spPr>
            <a:xfrm>
              <a:off x="5884353" y="3110422"/>
              <a:ext cx="1197388" cy="244719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보고서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기획서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초안 작성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1AC9CD0-5E36-383F-AE77-65E022CE0CB8}"/>
                </a:ext>
              </a:extLst>
            </p:cNvPr>
            <p:cNvSpPr/>
            <p:nvPr/>
          </p:nvSpPr>
          <p:spPr>
            <a:xfrm>
              <a:off x="5884353" y="3402751"/>
              <a:ext cx="1197388" cy="244719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정보 검색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요약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952179F-E58A-F2CC-BB26-20DF7D47FD6D}"/>
                </a:ext>
              </a:extLst>
            </p:cNvPr>
            <p:cNvSpPr/>
            <p:nvPr/>
          </p:nvSpPr>
          <p:spPr>
            <a:xfrm>
              <a:off x="7137621" y="3110422"/>
              <a:ext cx="1197388" cy="244719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기술문헌 검색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요약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1208DF5-B3D3-971C-31CB-CF7895603785}"/>
                </a:ext>
              </a:extLst>
            </p:cNvPr>
            <p:cNvSpPr/>
            <p:nvPr/>
          </p:nvSpPr>
          <p:spPr>
            <a:xfrm>
              <a:off x="7137621" y="3402751"/>
              <a:ext cx="1197386" cy="244719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분석 도구 활용 패턴 탐색</a:t>
              </a: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3683667-60D3-CB92-A114-277B3BB365A2}"/>
              </a:ext>
            </a:extLst>
          </p:cNvPr>
          <p:cNvSpPr/>
          <p:nvPr/>
        </p:nvSpPr>
        <p:spPr>
          <a:xfrm>
            <a:off x="8549077" y="2810557"/>
            <a:ext cx="988241" cy="792000"/>
          </a:xfrm>
          <a:prstGeom prst="rect">
            <a:avLst/>
          </a:prstGeom>
          <a:solidFill>
            <a:srgbClr val="7030A0"/>
          </a:solidFill>
          <a:ln w="38100">
            <a:solidFill>
              <a:srgbClr val="7030A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기반 친환경 소재 제품화 기획</a:t>
            </a:r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99E28B50-925C-68A5-40CF-E9B5660664F3}"/>
              </a:ext>
            </a:extLst>
          </p:cNvPr>
          <p:cNvSpPr/>
          <p:nvPr/>
        </p:nvSpPr>
        <p:spPr>
          <a:xfrm>
            <a:off x="5834910" y="3928227"/>
            <a:ext cx="2920470" cy="1160632"/>
          </a:xfrm>
          <a:prstGeom prst="rightArrow">
            <a:avLst>
              <a:gd name="adj1" fmla="val 66578"/>
              <a:gd name="adj2" fmla="val 33515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ESG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문서 작성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A127E01-4F7C-AC94-1403-D6187D7EA6B1}"/>
              </a:ext>
            </a:extLst>
          </p:cNvPr>
          <p:cNvGrpSpPr/>
          <p:nvPr/>
        </p:nvGrpSpPr>
        <p:grpSpPr>
          <a:xfrm>
            <a:off x="5875608" y="4356010"/>
            <a:ext cx="2468145" cy="429890"/>
            <a:chOff x="6076348" y="4136892"/>
            <a:chExt cx="2443478" cy="327531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07FB75A-6979-B6FC-76A3-0380FBC95642}"/>
                </a:ext>
              </a:extLst>
            </p:cNvPr>
            <p:cNvSpPr/>
            <p:nvPr/>
          </p:nvSpPr>
          <p:spPr>
            <a:xfrm>
              <a:off x="6076348" y="4136892"/>
              <a:ext cx="790987" cy="32753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보고서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기획서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초안 작성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E9E8318-234E-3019-95A2-31E8C1E1DED7}"/>
                </a:ext>
              </a:extLst>
            </p:cNvPr>
            <p:cNvSpPr/>
            <p:nvPr/>
          </p:nvSpPr>
          <p:spPr>
            <a:xfrm>
              <a:off x="6902594" y="4136892"/>
              <a:ext cx="790987" cy="32753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기술문헌 검색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요약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9221B34-F70D-54D6-2C4D-2026F49470E2}"/>
                </a:ext>
              </a:extLst>
            </p:cNvPr>
            <p:cNvSpPr/>
            <p:nvPr/>
          </p:nvSpPr>
          <p:spPr>
            <a:xfrm>
              <a:off x="7728839" y="4136892"/>
              <a:ext cx="790987" cy="32753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AI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활용 경쟁사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시장</a:t>
              </a:r>
              <a:r>
                <a:rPr lang="en-US" altLang="ko-KR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80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정보 수집</a:t>
              </a: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FEB8E40-3281-2CD1-A85D-15ABD749AA0C}"/>
              </a:ext>
            </a:extLst>
          </p:cNvPr>
          <p:cNvSpPr/>
          <p:nvPr/>
        </p:nvSpPr>
        <p:spPr>
          <a:xfrm>
            <a:off x="8553450" y="4112543"/>
            <a:ext cx="988241" cy="792000"/>
          </a:xfrm>
          <a:prstGeom prst="rect">
            <a:avLst/>
          </a:prstGeom>
          <a:solidFill>
            <a:srgbClr val="7030A0"/>
          </a:solidFill>
          <a:ln w="38100">
            <a:solidFill>
              <a:srgbClr val="7030A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ESG </a:t>
            </a:r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보고서 </a:t>
            </a:r>
            <a:endParaRPr lang="en-US" altLang="ko-KR" sz="100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작성 자동화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5A24AB5A-56C4-C7C0-DA01-52C3F43BF437}"/>
              </a:ext>
            </a:extLst>
          </p:cNvPr>
          <p:cNvSpPr/>
          <p:nvPr/>
        </p:nvSpPr>
        <p:spPr>
          <a:xfrm>
            <a:off x="5834910" y="5199476"/>
            <a:ext cx="2920470" cy="1071130"/>
          </a:xfrm>
          <a:prstGeom prst="rightArrow">
            <a:avLst>
              <a:gd name="adj1" fmla="val 66578"/>
              <a:gd name="adj2" fmla="val 35247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친환경 화장품 브랜딩 기획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6A997D2-5764-5988-AF50-56D31D376119}"/>
              </a:ext>
            </a:extLst>
          </p:cNvPr>
          <p:cNvSpPr/>
          <p:nvPr/>
        </p:nvSpPr>
        <p:spPr>
          <a:xfrm>
            <a:off x="5875608" y="5676210"/>
            <a:ext cx="1206132" cy="341063"/>
          </a:xfrm>
          <a:prstGeom prst="rect">
            <a:avLst/>
          </a:prstGeom>
          <a:solidFill>
            <a:srgbClr val="FFC000">
              <a:alpha val="20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보고서</a:t>
            </a:r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기획서</a:t>
            </a:r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</a:p>
          <a:p>
            <a:pPr algn="ctr"/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초안 작성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F7B5040-C312-95EC-312D-5F19DDA4A965}"/>
              </a:ext>
            </a:extLst>
          </p:cNvPr>
          <p:cNvSpPr/>
          <p:nvPr/>
        </p:nvSpPr>
        <p:spPr>
          <a:xfrm>
            <a:off x="7137622" y="5676210"/>
            <a:ext cx="1206132" cy="341063"/>
          </a:xfrm>
          <a:prstGeom prst="rect">
            <a:avLst/>
          </a:prstGeom>
          <a:solidFill>
            <a:srgbClr val="FFC000">
              <a:alpha val="20000"/>
            </a:srgbClr>
          </a:solidFill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경쟁사</a:t>
            </a:r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시장</a:t>
            </a:r>
            <a:r>
              <a:rPr lang="en-US" altLang="ko-KR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</a:p>
          <a:p>
            <a:pPr algn="ctr"/>
            <a:r>
              <a:rPr lang="ko-KR" altLang="en-US" sz="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정보 수집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A1383EB-1001-C943-E830-7B1C3F828FAC}"/>
              </a:ext>
            </a:extLst>
          </p:cNvPr>
          <p:cNvSpPr/>
          <p:nvPr/>
        </p:nvSpPr>
        <p:spPr>
          <a:xfrm>
            <a:off x="8553450" y="5339041"/>
            <a:ext cx="988241" cy="792000"/>
          </a:xfrm>
          <a:prstGeom prst="rect">
            <a:avLst/>
          </a:prstGeom>
          <a:solidFill>
            <a:srgbClr val="7030A0"/>
          </a:solidFill>
          <a:ln w="38100">
            <a:solidFill>
              <a:srgbClr val="7030A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00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기반 친환경 화장품 브랜딩 기획</a:t>
            </a:r>
          </a:p>
        </p:txBody>
      </p:sp>
    </p:spTree>
    <p:extLst>
      <p:ext uri="{BB962C8B-B14F-4D97-AF65-F5344CB8AC3E}">
        <p14:creationId xmlns:p14="http://schemas.microsoft.com/office/powerpoint/2010/main" val="4085945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0619-026B-0DE3-FE7F-55D20901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1">
            <a:extLst>
              <a:ext uri="{FF2B5EF4-FFF2-40B4-BE49-F238E27FC236}">
                <a16:creationId xmlns:a16="http://schemas.microsoft.com/office/drawing/2014/main" id="{D8772BF4-A731-2DA7-5947-FB7EA7E6E40C}"/>
              </a:ext>
            </a:extLst>
          </p:cNvPr>
          <p:cNvSpPr>
            <a:spLocks/>
          </p:cNvSpPr>
          <p:nvPr/>
        </p:nvSpPr>
        <p:spPr bwMode="auto">
          <a:xfrm>
            <a:off x="4831552" y="1975059"/>
            <a:ext cx="809489" cy="4421015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  <a:gd name="csX0" fmla="*/ 0 w 10000"/>
              <a:gd name="csY0" fmla="*/ 0 h 10479"/>
              <a:gd name="csX1" fmla="*/ 0 w 10000"/>
              <a:gd name="csY1" fmla="*/ 10479 h 10479"/>
              <a:gd name="csX2" fmla="*/ 10000 w 10000"/>
              <a:gd name="csY2" fmla="*/ 8979 h 10479"/>
              <a:gd name="csX3" fmla="*/ 10000 w 10000"/>
              <a:gd name="csY3" fmla="*/ 1021 h 10479"/>
              <a:gd name="csX4" fmla="*/ 0 w 10000"/>
              <a:gd name="csY4" fmla="*/ 0 h 10479"/>
              <a:gd name="csX0" fmla="*/ 0 w 10000"/>
              <a:gd name="csY0" fmla="*/ 0 h 10853"/>
              <a:gd name="csX1" fmla="*/ 0 w 10000"/>
              <a:gd name="csY1" fmla="*/ 10853 h 10853"/>
              <a:gd name="csX2" fmla="*/ 10000 w 10000"/>
              <a:gd name="csY2" fmla="*/ 9353 h 10853"/>
              <a:gd name="csX3" fmla="*/ 10000 w 10000"/>
              <a:gd name="csY3" fmla="*/ 1395 h 10853"/>
              <a:gd name="csX4" fmla="*/ 0 w 10000"/>
              <a:gd name="csY4" fmla="*/ 0 h 10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0" h="10853">
                <a:moveTo>
                  <a:pt x="0" y="0"/>
                </a:moveTo>
                <a:lnTo>
                  <a:pt x="0" y="10853"/>
                </a:lnTo>
                <a:cubicBezTo>
                  <a:pt x="0" y="10853"/>
                  <a:pt x="2327" y="9712"/>
                  <a:pt x="10000" y="9353"/>
                </a:cubicBezTo>
                <a:lnTo>
                  <a:pt x="10000" y="1395"/>
                </a:lnTo>
                <a:cubicBezTo>
                  <a:pt x="2000" y="1054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B99655-8CFD-16B7-3EA4-772E0A1F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19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F324AF-E92F-6174-141E-3B77E48E9E4F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0044A44E-27A1-92C2-AC50-2F238BFA4714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KTR </a:t>
            </a:r>
            <a:r>
              <a:rPr lang="ko-KR" altLang="en-US" dirty="0"/>
              <a:t>특화 </a:t>
            </a:r>
            <a:r>
              <a:rPr lang="en-US" altLang="ko-KR" dirty="0"/>
              <a:t>AI </a:t>
            </a:r>
            <a:r>
              <a:rPr lang="ko-KR" altLang="en-US" dirty="0"/>
              <a:t>융합 </a:t>
            </a:r>
            <a:r>
              <a:rPr lang="ko-KR" altLang="en-US" dirty="0" err="1"/>
              <a:t>스킬셋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을 전문가 검증을 통해 확정하고</a:t>
            </a:r>
            <a:r>
              <a:rPr lang="en-US" altLang="ko-KR" dirty="0"/>
              <a:t>, </a:t>
            </a:r>
            <a:r>
              <a:rPr lang="ko-KR" altLang="en-US" dirty="0"/>
              <a:t>협약기업 수요조사를 통해 </a:t>
            </a:r>
            <a:r>
              <a:rPr lang="ko-KR" altLang="en-US" dirty="0">
                <a:solidFill>
                  <a:srgbClr val="FF6600"/>
                </a:solidFill>
              </a:rPr>
              <a:t>우선 개편</a:t>
            </a:r>
            <a:r>
              <a:rPr lang="en-US" altLang="ko-KR" dirty="0">
                <a:solidFill>
                  <a:srgbClr val="FF6600"/>
                </a:solidFill>
              </a:rPr>
              <a:t>·</a:t>
            </a:r>
            <a:r>
              <a:rPr lang="ko-KR" altLang="en-US" dirty="0">
                <a:solidFill>
                  <a:srgbClr val="FF6600"/>
                </a:solidFill>
              </a:rPr>
              <a:t>개발이 필요한 훈련과정 도출 및 중장기 계획을 수립하기 위한 정성적 의견을 취합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2E0E6674-AE0E-B636-9C5C-97031569DFA6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특화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직무역량모델링 결과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3DA8B32-5645-FA4F-CCED-C4FF9A9D29ED}"/>
              </a:ext>
            </a:extLst>
          </p:cNvPr>
          <p:cNvSpPr/>
          <p:nvPr/>
        </p:nvSpPr>
        <p:spPr>
          <a:xfrm>
            <a:off x="1513166" y="253829"/>
            <a:ext cx="5462669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Step5. KTR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협약기업 수요조사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1E6C19E-E8DE-28E2-20AF-B7020D2B019B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67" name="사각형: 둥근 위쪽 모서리 66">
              <a:extLst>
                <a:ext uri="{FF2B5EF4-FFF2-40B4-BE49-F238E27FC236}">
                  <a16:creationId xmlns:a16="http://schemas.microsoft.com/office/drawing/2014/main" id="{37830311-3477-F61D-51E0-1853A3FCD8D1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5AE9F74-242B-657E-C2A2-5B2D951739FC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7E869F2-4F41-6B7C-8748-2086BD076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36917"/>
              </p:ext>
            </p:extLst>
          </p:nvPr>
        </p:nvGraphicFramePr>
        <p:xfrm>
          <a:off x="344488" y="1999135"/>
          <a:ext cx="4464050" cy="4417539"/>
        </p:xfrm>
        <a:graphic>
          <a:graphicData uri="http://schemas.openxmlformats.org/drawingml/2006/table">
            <a:tbl>
              <a:tblPr firstRow="1" bandRow="1"/>
              <a:tblGrid>
                <a:gridCol w="630424">
                  <a:extLst>
                    <a:ext uri="{9D8B030D-6E8A-4147-A177-3AD203B41FA5}">
                      <a16:colId xmlns:a16="http://schemas.microsoft.com/office/drawing/2014/main" val="762485992"/>
                    </a:ext>
                  </a:extLst>
                </a:gridCol>
                <a:gridCol w="867335">
                  <a:extLst>
                    <a:ext uri="{9D8B030D-6E8A-4147-A177-3AD203B41FA5}">
                      <a16:colId xmlns:a16="http://schemas.microsoft.com/office/drawing/2014/main" val="3558767470"/>
                    </a:ext>
                  </a:extLst>
                </a:gridCol>
                <a:gridCol w="336177">
                  <a:extLst>
                    <a:ext uri="{9D8B030D-6E8A-4147-A177-3AD203B41FA5}">
                      <a16:colId xmlns:a16="http://schemas.microsoft.com/office/drawing/2014/main" val="3844249641"/>
                    </a:ext>
                  </a:extLst>
                </a:gridCol>
                <a:gridCol w="927847">
                  <a:extLst>
                    <a:ext uri="{9D8B030D-6E8A-4147-A177-3AD203B41FA5}">
                      <a16:colId xmlns:a16="http://schemas.microsoft.com/office/drawing/2014/main" val="1337865549"/>
                    </a:ext>
                  </a:extLst>
                </a:gridCol>
                <a:gridCol w="1702267">
                  <a:extLst>
                    <a:ext uri="{9D8B030D-6E8A-4147-A177-3AD203B41FA5}">
                      <a16:colId xmlns:a16="http://schemas.microsoft.com/office/drawing/2014/main" val="1071809385"/>
                    </a:ext>
                  </a:extLst>
                </a:gridCol>
              </a:tblGrid>
              <a:tr h="25343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1200" spc="-5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조사 대상</a:t>
                      </a:r>
                      <a:r>
                        <a:rPr lang="en-US" altLang="ko-KR" sz="800" kern="1200" spc="-50" dirty="0">
                          <a:solidFill>
                            <a:srgbClr val="FF66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800" kern="1200" spc="-50" dirty="0">
                        <a:solidFill>
                          <a:srgbClr val="FF66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8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스킬셋</a:t>
                      </a:r>
                      <a:endParaRPr lang="en-US" altLang="ko-KR"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스킬셋</a:t>
                      </a: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정의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</a:t>
                      </a:r>
                      <a:endParaRPr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 정의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2024"/>
                  </a:ext>
                </a:extLst>
              </a:tr>
              <a:tr h="253432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친환경 소재 제품화 기획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바이오 소재 특성 분석 및 제품 개발 방향을 도출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데이터 분석 및 패턴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특성 데이터를 수집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정제하고 주요 패턴 및 상관관계를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47495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소재 특성 비교분석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소재 간 물성 및 성능 차이를 비교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510394"/>
                  </a:ext>
                </a:extLst>
              </a:tr>
              <a:tr h="278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데이터 기반 인사이트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결과 데이터를 분석하여 소재 성능 및 개선 방향에 대한 인사이트를 도출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557755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적용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가능성 평가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결과를 기반으로 소재의 제품 적용 가능성과 활용 방향을 판단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826626"/>
                  </a:ext>
                </a:extLst>
              </a:tr>
              <a:tr h="253432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실험 설계 및 최적화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실험 조건을 설계하고 최적의 공정 및 소재 조건을 도출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데이터 기반 변수 설정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목적에 맞게 주요 변수 및 조건을 데이터 기반으로 설정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901050"/>
                  </a:ext>
                </a:extLst>
              </a:tr>
              <a:tr h="1857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조건 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실험 및 공정 조건을 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49277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결과 예측 및 검증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모델을 활용하여 실험 결과를 예측하고 실제 결과와 비교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33960"/>
                  </a:ext>
                </a:extLst>
              </a:tr>
              <a:tr h="2786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결과 시뮬레이션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다양한 조건 시나리오를 기반으로 결과를 시뮬레이션하고 최적안을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81816"/>
                  </a:ext>
                </a:extLst>
              </a:tr>
              <a:tr h="253432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공정 데이터 분석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 및 공정 데이터를 분석하여 이상 원인 및 개선 방향을 도출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생산관리</a:t>
                      </a: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데이터 수집 및 정제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 및 공정 데이터를 수집하고 분석 가능한 형태로 정제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541446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이상 패턴 감지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공정 내 이상 패턴 및 변동을 탐지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336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원인 분석 및 개선안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이상 발생 원인을 분석하고 공정 개선 방안을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911131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스마트 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Tool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활용 데이터 시각화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결과를 시각화 도구를 활용하여 직관적으로 표현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937526"/>
                  </a:ext>
                </a:extLst>
              </a:tr>
              <a:tr h="253432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품질 예측 및 관리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품질 이상을 사전에 예측하고 대응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QA/</a:t>
                      </a:r>
                    </a:p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QC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관련 데이터를 분석하여 이상 발생 특성을 파악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498041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품질 이상 예측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모델을 활용하여 품질 이상을 사전에 예측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02830"/>
                  </a:ext>
                </a:extLst>
              </a:tr>
              <a:tr h="2534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불량 원인 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발생한 불량을 유형별로 분류하고 주요 원인을 식별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5922"/>
                  </a:ext>
                </a:extLst>
              </a:tr>
              <a:tr h="2531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개선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결과를 기반으로 품질 개선 전략을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6550"/>
                  </a:ext>
                </a:extLst>
              </a:tr>
              <a:tr h="126716"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498608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270BB15-579A-55B6-36C0-8A9231F7CE97}"/>
              </a:ext>
            </a:extLst>
          </p:cNvPr>
          <p:cNvCxnSpPr>
            <a:cxnSpLocks/>
          </p:cNvCxnSpPr>
          <p:nvPr/>
        </p:nvCxnSpPr>
        <p:spPr>
          <a:xfrm>
            <a:off x="326995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B41FB96E-21D4-5C51-5DA5-0FA358E3702A}"/>
              </a:ext>
            </a:extLst>
          </p:cNvPr>
          <p:cNvSpPr txBox="1">
            <a:spLocks/>
          </p:cNvSpPr>
          <p:nvPr/>
        </p:nvSpPr>
        <p:spPr>
          <a:xfrm>
            <a:off x="5097463" y="1545589"/>
            <a:ext cx="4468843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협약기업 수요조사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57EA644-3420-6F0C-2ACA-382B18459EF2}"/>
              </a:ext>
            </a:extLst>
          </p:cNvPr>
          <p:cNvCxnSpPr>
            <a:cxnSpLocks/>
          </p:cNvCxnSpPr>
          <p:nvPr/>
        </p:nvCxnSpPr>
        <p:spPr>
          <a:xfrm>
            <a:off x="5097463" y="1896459"/>
            <a:ext cx="4468843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AE47C019-7835-83A8-9A7E-CC5EFDD5BE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6213187" y="5175187"/>
            <a:ext cx="2242148" cy="31365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8669CD-CB25-6479-4951-00640E156993}"/>
              </a:ext>
            </a:extLst>
          </p:cNvPr>
          <p:cNvSpPr/>
          <p:nvPr/>
        </p:nvSpPr>
        <p:spPr>
          <a:xfrm>
            <a:off x="5098768" y="1997044"/>
            <a:ext cx="433387" cy="3651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목적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1525778-3E24-0516-2648-618CD9A71C14}"/>
              </a:ext>
            </a:extLst>
          </p:cNvPr>
          <p:cNvSpPr/>
          <p:nvPr/>
        </p:nvSpPr>
        <p:spPr>
          <a:xfrm>
            <a:off x="5579131" y="1997045"/>
            <a:ext cx="3987571" cy="3651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marL="87313" indent="-87313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융합 스킬 후보에 </a:t>
            </a:r>
            <a:r>
              <a:rPr lang="ko-KR" altLang="en-US" sz="900" spc="-5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대한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 </a:t>
            </a:r>
            <a:r>
              <a:rPr lang="ko-KR" altLang="en-US" sz="900" spc="-5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수요를 조사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분석하여 마스터플랜 및 교육과정 개편 </a:t>
            </a:r>
            <a:r>
              <a:rPr lang="ko-KR" altLang="en-US" sz="900" spc="-5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근거 확보</a:t>
            </a:r>
            <a:endParaRPr lang="en-US" altLang="ko-KR" sz="9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3DE87D6-4A0F-454B-447C-E48863761F11}"/>
              </a:ext>
            </a:extLst>
          </p:cNvPr>
          <p:cNvSpPr/>
          <p:nvPr/>
        </p:nvSpPr>
        <p:spPr>
          <a:xfrm>
            <a:off x="5098768" y="2412927"/>
            <a:ext cx="433387" cy="4082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7DC7C1-8482-5F99-D7D4-4DCFCF1BDD28}"/>
              </a:ext>
            </a:extLst>
          </p:cNvPr>
          <p:cNvSpPr/>
          <p:nvPr/>
        </p:nvSpPr>
        <p:spPr>
          <a:xfrm>
            <a:off x="5579131" y="2410141"/>
            <a:ext cx="3982382" cy="4121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marL="87313" indent="-87313">
              <a:lnSpc>
                <a:spcPct val="12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협약기업별 담당자 및 최근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개년 교육 수료생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(*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참여 독려를 위해 설문에 온전히 참여한 응답자 중 랜덤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100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명에게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만원 상당 답례품 발송</a:t>
            </a:r>
            <a:endParaRPr lang="en-US" altLang="ko-KR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CD7DEC-1752-7B61-5BFD-907906C4A2E0}"/>
              </a:ext>
            </a:extLst>
          </p:cNvPr>
          <p:cNvSpPr/>
          <p:nvPr/>
        </p:nvSpPr>
        <p:spPr>
          <a:xfrm>
            <a:off x="5098768" y="2870247"/>
            <a:ext cx="433387" cy="2216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방법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1646278-6181-900F-074C-8287375D64BA}"/>
              </a:ext>
            </a:extLst>
          </p:cNvPr>
          <p:cNvSpPr/>
          <p:nvPr/>
        </p:nvSpPr>
        <p:spPr>
          <a:xfrm>
            <a:off x="5579131" y="2873031"/>
            <a:ext cx="3987571" cy="22169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자기 </a:t>
            </a:r>
            <a:r>
              <a:rPr lang="ko-KR" altLang="en-US" sz="9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기입식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온라인 설문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(*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 플랫폼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8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서베이몽키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또는 </a:t>
            </a:r>
            <a:r>
              <a:rPr lang="ko-KR" altLang="en-US" sz="8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구글폼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38DB19-23FE-2975-3393-EFFCA199727A}"/>
              </a:ext>
            </a:extLst>
          </p:cNvPr>
          <p:cNvSpPr/>
          <p:nvPr/>
        </p:nvSpPr>
        <p:spPr>
          <a:xfrm>
            <a:off x="5098768" y="3140988"/>
            <a:ext cx="431011" cy="90306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내용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EDAC346-FC71-84D8-7914-E84C3C51CAC1}"/>
              </a:ext>
            </a:extLst>
          </p:cNvPr>
          <p:cNvSpPr/>
          <p:nvPr/>
        </p:nvSpPr>
        <p:spPr>
          <a:xfrm>
            <a:off x="5579131" y="3140988"/>
            <a:ext cx="3987571" cy="9030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/>
          <a:lstStyle/>
          <a:p>
            <a:pPr marL="87313" indent="-87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기업 일반 현황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업종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주요 제품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서비스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규모 등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87313" indent="-87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응답자 정보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직위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수행업무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직무수행경력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연락처 등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</a:p>
          <a:p>
            <a:pPr marL="87313" indent="-87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융합 스킬별 필요도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현업 적용 가능성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시급성 평가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(*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우선순위는 필요도와 현업적용가능성 평균을 고려하여 결정하며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시급성은 개발 시점 결정시 반영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87313" indent="-87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KTR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산업전환 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융합 과정 발전 방안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주관식 의견 작성</a:t>
            </a:r>
            <a:r>
              <a:rPr lang="en-US" altLang="ko-KR" sz="9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D9BAB300-DF38-E3E4-704D-DFD96FDF2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75764"/>
              </p:ext>
            </p:extLst>
          </p:nvPr>
        </p:nvGraphicFramePr>
        <p:xfrm>
          <a:off x="5107008" y="4309051"/>
          <a:ext cx="2107340" cy="2107620"/>
        </p:xfrm>
        <a:graphic>
          <a:graphicData uri="http://schemas.openxmlformats.org/drawingml/2006/table">
            <a:tbl>
              <a:tblPr/>
              <a:tblGrid>
                <a:gridCol w="190488">
                  <a:extLst>
                    <a:ext uri="{9D8B030D-6E8A-4147-A177-3AD203B41FA5}">
                      <a16:colId xmlns:a16="http://schemas.microsoft.com/office/drawing/2014/main" val="2695964437"/>
                    </a:ext>
                  </a:extLst>
                </a:gridCol>
                <a:gridCol w="1197434">
                  <a:extLst>
                    <a:ext uri="{9D8B030D-6E8A-4147-A177-3AD203B41FA5}">
                      <a16:colId xmlns:a16="http://schemas.microsoft.com/office/drawing/2014/main" val="2674751721"/>
                    </a:ext>
                  </a:extLst>
                </a:gridCol>
                <a:gridCol w="359709">
                  <a:extLst>
                    <a:ext uri="{9D8B030D-6E8A-4147-A177-3AD203B41FA5}">
                      <a16:colId xmlns:a16="http://schemas.microsoft.com/office/drawing/2014/main" val="4194060978"/>
                    </a:ext>
                  </a:extLst>
                </a:gridCol>
                <a:gridCol w="359709">
                  <a:extLst>
                    <a:ext uri="{9D8B030D-6E8A-4147-A177-3AD203B41FA5}">
                      <a16:colId xmlns:a16="http://schemas.microsoft.com/office/drawing/2014/main" val="871296508"/>
                    </a:ext>
                  </a:extLst>
                </a:gridCol>
              </a:tblGrid>
              <a:tr h="2537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3820" algn="l"/>
                        </a:tabLs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3820" algn="l"/>
                        </a:tabLs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8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83820" algn="l"/>
                        </a:tabLst>
                        <a:defRPr/>
                      </a:pPr>
                      <a:r>
                        <a:rPr lang="ko-KR" altLang="en-US" sz="800" kern="120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필요도 평균</a:t>
                      </a:r>
                      <a:endParaRPr lang="en-US" altLang="ko-KR" sz="800" kern="1200" spc="-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83820" algn="l"/>
                        </a:tabLst>
                        <a:defRPr/>
                      </a:pPr>
                      <a:r>
                        <a:rPr lang="ko-KR" altLang="en-US" sz="800" kern="120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현업 적용 평균</a:t>
                      </a:r>
                      <a:endParaRPr lang="en-US" altLang="ko-KR" sz="800" kern="1200" spc="-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76671"/>
                  </a:ext>
                </a:extLst>
              </a:tr>
              <a:tr h="217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친환경 소재 제품화 기획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92887"/>
                  </a:ext>
                </a:extLst>
              </a:tr>
              <a:tr h="217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실험 설계 및 최적화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957987"/>
                  </a:ext>
                </a:extLst>
              </a:tr>
              <a:tr h="217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공정 데이터 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77545"/>
                  </a:ext>
                </a:extLst>
              </a:tr>
              <a:tr h="217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품질 예측 및 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72443"/>
                  </a:ext>
                </a:extLst>
              </a:tr>
              <a:tr h="21753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설비 예지보전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18972"/>
                  </a:ext>
                </a:extLst>
              </a:tr>
              <a:tr h="217532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기반 공급망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원료 분석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309957"/>
                  </a:ext>
                </a:extLst>
              </a:tr>
              <a:tr h="217532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안전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527823"/>
                  </a:ext>
                </a:extLst>
              </a:tr>
              <a:tr h="217532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디지털 트윈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852021"/>
                  </a:ext>
                </a:extLst>
              </a:tr>
              <a:tr h="113576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424458"/>
                  </a:ext>
                </a:extLst>
              </a:tr>
            </a:tbl>
          </a:graphicData>
        </a:graphic>
      </p:graphicFrame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4DF7C93-AB02-A37C-A4A5-76A6B4F87453}"/>
              </a:ext>
            </a:extLst>
          </p:cNvPr>
          <p:cNvSpPr/>
          <p:nvPr/>
        </p:nvSpPr>
        <p:spPr>
          <a:xfrm>
            <a:off x="5107008" y="4059567"/>
            <a:ext cx="1956108" cy="246221"/>
          </a:xfrm>
          <a:prstGeom prst="rect">
            <a:avLst/>
          </a:prstGeom>
        </p:spPr>
        <p:txBody>
          <a:bodyPr wrap="none" lIns="36000">
            <a:spAutoFit/>
          </a:bodyPr>
          <a:lstStyle/>
          <a:p>
            <a:r>
              <a:rPr kumimoji="1" lang="ko-KR" altLang="en-US" sz="10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결과 분석 시각화 및 우선순위 대상 선정</a:t>
            </a:r>
          </a:p>
        </p:txBody>
      </p:sp>
      <p:pic>
        <p:nvPicPr>
          <p:cNvPr id="51" name="그림 50" descr="The text describes a flowchart or diagram detailing various steps and factors in the development and application of AI, including data collection, analysis automation, and market feasibility, with a focus on prioritizing certain areas for development and addressing potential challenges.&#10;&#10;AI 생성 콘텐츠는 정확하지 않을 수 있습니다.">
            <a:extLst>
              <a:ext uri="{FF2B5EF4-FFF2-40B4-BE49-F238E27FC236}">
                <a16:creationId xmlns:a16="http://schemas.microsoft.com/office/drawing/2014/main" id="{8E48F0B1-9717-878B-62DE-1F7EDEFCD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882" y="4321307"/>
            <a:ext cx="2165631" cy="20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93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E8EF-B425-3E2A-87C4-FD0FE29E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845765A-8F1B-0FC6-7DB9-2BA4AC09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20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3024D4C1-53FE-37B4-5F69-60949425A377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수요조사 결과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KTR </a:t>
            </a:r>
            <a:r>
              <a:rPr lang="ko-KR" altLang="en-US" dirty="0"/>
              <a:t>산업전환 공동훈련센터의 중장기 전략방향을 종합적으로 고려하여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6600"/>
                </a:solidFill>
              </a:rPr>
              <a:t>차세대 </a:t>
            </a:r>
            <a:r>
              <a:rPr lang="en-US" altLang="ko-KR" dirty="0">
                <a:solidFill>
                  <a:srgbClr val="FF6600"/>
                </a:solidFill>
              </a:rPr>
              <a:t>AI </a:t>
            </a:r>
            <a:r>
              <a:rPr lang="ko-KR" altLang="en-US" dirty="0">
                <a:solidFill>
                  <a:srgbClr val="FF6600"/>
                </a:solidFill>
              </a:rPr>
              <a:t>반영 교육체계를 고도화 하기 위한 중장기 발전 전략</a:t>
            </a:r>
            <a:r>
              <a:rPr lang="ko-KR" altLang="en-US" dirty="0"/>
              <a:t>을 다음과 같이 수립하고자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3E93EF8C-D75D-7D86-A1AF-8C11B47C0C00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차세대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반영 </a:t>
            </a:r>
            <a:r>
              <a:rPr lang="ko-KR" altLang="en-US" sz="16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 수립 전략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EB41B7-DFE6-5AEB-4F9B-2B13DDBBD60E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D166C5-A87E-45B3-0E35-16E48511A5ED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Step6.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차세대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(’26~’30)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반영 마스터플랜 고도화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B63E2F-A613-462F-39E4-FF7D2604C7E0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B0561C4B-85BA-8CC0-245C-14DEA7C39EE7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E1DD69-5B46-BC98-06BF-7C6A109672A9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D349325-B402-F95B-64C6-AD124C36CC0D}"/>
              </a:ext>
            </a:extLst>
          </p:cNvPr>
          <p:cNvGrpSpPr/>
          <p:nvPr/>
        </p:nvGrpSpPr>
        <p:grpSpPr>
          <a:xfrm>
            <a:off x="298768" y="1875393"/>
            <a:ext cx="9262745" cy="4617485"/>
            <a:chOff x="298768" y="1875393"/>
            <a:chExt cx="9262745" cy="4617485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304E5DBB-A1B7-48C4-5486-5BB678DA7B14}"/>
                </a:ext>
              </a:extLst>
            </p:cNvPr>
            <p:cNvCxnSpPr>
              <a:cxnSpLocks/>
            </p:cNvCxnSpPr>
            <p:nvPr/>
          </p:nvCxnSpPr>
          <p:spPr>
            <a:xfrm>
              <a:off x="344488" y="1875393"/>
              <a:ext cx="9217025" cy="0"/>
            </a:xfrm>
            <a:prstGeom prst="line">
              <a:avLst/>
            </a:prstGeom>
            <a:ln w="28575">
              <a:solidFill>
                <a:srgbClr val="3445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239501B-E81E-D65E-6BB0-E504B4CF1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939306" y="2329988"/>
              <a:ext cx="5103280" cy="288076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F7605-E9B3-E6CB-14B6-B2FDE1648E87}"/>
                </a:ext>
              </a:extLst>
            </p:cNvPr>
            <p:cNvSpPr txBox="1"/>
            <p:nvPr/>
          </p:nvSpPr>
          <p:spPr>
            <a:xfrm>
              <a:off x="1513164" y="2035231"/>
              <a:ext cx="804834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2pPr marL="0" lvl="1" algn="ctr" defTabSz="914400">
                <a:defRPr sz="1500" kern="0" spc="-5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defRPr>
              </a:lvl2pPr>
            </a:lstStyle>
            <a:p>
              <a:pPr lvl="1"/>
              <a:r>
                <a:rPr lang="ko-KR" altLang="en-US" dirty="0"/>
                <a:t>친환경 </a:t>
              </a:r>
              <a:r>
                <a:rPr lang="ko-KR" altLang="en-US" dirty="0" err="1"/>
                <a:t>바이오화학</a:t>
              </a:r>
              <a:r>
                <a:rPr lang="ko-KR" altLang="en-US" dirty="0"/>
                <a:t> 산업의 산업전환과 </a:t>
              </a:r>
              <a:r>
                <a:rPr lang="en-US" altLang="ko-KR" dirty="0"/>
                <a:t>AX </a:t>
              </a:r>
              <a:r>
                <a:rPr lang="ko-KR" altLang="en-US" dirty="0"/>
                <a:t>가속화에 대응하여</a:t>
              </a:r>
              <a:r>
                <a:rPr lang="en-US" altLang="ko-KR" dirty="0"/>
                <a:t>,</a:t>
              </a:r>
              <a:br>
                <a:rPr lang="en-US" altLang="ko-KR" dirty="0"/>
              </a:br>
              <a:r>
                <a:rPr lang="ko-KR" altLang="en-US" dirty="0"/>
                <a:t>협약기업이 현장에서 바로 활용할 수 있는 직무</a:t>
              </a:r>
              <a:r>
                <a:rPr lang="en-US" altLang="ko-KR" dirty="0"/>
                <a:t>·</a:t>
              </a:r>
              <a:r>
                <a:rPr lang="ko-KR" altLang="en-US" dirty="0"/>
                <a:t>수준</a:t>
              </a:r>
              <a:r>
                <a:rPr lang="en-US" altLang="ko-KR" dirty="0"/>
                <a:t>·</a:t>
              </a:r>
              <a:r>
                <a:rPr lang="ko-KR" altLang="en-US" dirty="0"/>
                <a:t>산업단계 기반의 실무형 인재 양성</a:t>
              </a:r>
              <a:endParaRPr lang="en-US" altLang="ko-K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253E12-8A40-AF2B-6587-F500ECFCEDE9}"/>
                </a:ext>
              </a:extLst>
            </p:cNvPr>
            <p:cNvSpPr txBox="1"/>
            <p:nvPr/>
          </p:nvSpPr>
          <p:spPr>
            <a:xfrm>
              <a:off x="449648" y="2035231"/>
              <a:ext cx="668973" cy="307777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미션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476347-C954-EB65-8000-5D31A639F5B2}"/>
                </a:ext>
              </a:extLst>
            </p:cNvPr>
            <p:cNvSpPr txBox="1"/>
            <p:nvPr/>
          </p:nvSpPr>
          <p:spPr>
            <a:xfrm>
              <a:off x="449648" y="2766740"/>
              <a:ext cx="668973" cy="307777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목표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A0499A-5AD4-3CBA-3F25-525DFB8698FB}"/>
                </a:ext>
              </a:extLst>
            </p:cNvPr>
            <p:cNvSpPr txBox="1"/>
            <p:nvPr/>
          </p:nvSpPr>
          <p:spPr>
            <a:xfrm>
              <a:off x="1513165" y="2717823"/>
              <a:ext cx="8048348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2pPr marL="0" lvl="1" algn="ctr" defTabSz="914400">
                <a:defRPr sz="1500" kern="0" spc="-5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defRPr>
              </a:lvl2pPr>
            </a:lstStyle>
            <a:p>
              <a:pPr lvl="1"/>
              <a:r>
                <a:rPr lang="en-US" altLang="ko-KR" dirty="0">
                  <a:solidFill>
                    <a:srgbClr val="FF6600"/>
                  </a:solidFill>
                </a:rPr>
                <a:t>KTR </a:t>
              </a:r>
              <a:r>
                <a:rPr lang="ko-KR" altLang="en-US" dirty="0">
                  <a:solidFill>
                    <a:srgbClr val="FF6600"/>
                  </a:solidFill>
                </a:rPr>
                <a:t>산업전환 공동훈련센터를 바이오 화학 산업의 친환경</a:t>
              </a:r>
              <a:r>
                <a:rPr lang="en-US" altLang="ko-KR" dirty="0">
                  <a:solidFill>
                    <a:srgbClr val="FF6600"/>
                  </a:solidFill>
                </a:rPr>
                <a:t>·AI </a:t>
              </a:r>
              <a:r>
                <a:rPr lang="ko-KR" altLang="en-US" dirty="0">
                  <a:solidFill>
                    <a:srgbClr val="FF6600"/>
                  </a:solidFill>
                </a:rPr>
                <a:t>전환을 선도하는 교육 표준 플랫폼으로 고도화</a:t>
              </a:r>
              <a:endParaRPr lang="en-US" altLang="ko-KR" dirty="0">
                <a:solidFill>
                  <a:srgbClr val="FF66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24CA96-F8F0-4558-4F57-888EFE4C7C55}"/>
                </a:ext>
              </a:extLst>
            </p:cNvPr>
            <p:cNvSpPr txBox="1"/>
            <p:nvPr/>
          </p:nvSpPr>
          <p:spPr>
            <a:xfrm>
              <a:off x="298768" y="3549911"/>
              <a:ext cx="970732" cy="523220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추진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전략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A90489-17DD-829E-34E4-63AA70F3C219}"/>
                </a:ext>
              </a:extLst>
            </p:cNvPr>
            <p:cNvSpPr txBox="1"/>
            <p:nvPr/>
          </p:nvSpPr>
          <p:spPr>
            <a:xfrm>
              <a:off x="449648" y="4959236"/>
              <a:ext cx="668973" cy="523220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실행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lvl="1" algn="ctr" defTabSz="914400"/>
              <a:r>
                <a:rPr lang="ko-KR" altLang="en-US" sz="1400" kern="0" spc="-50" dirty="0">
                  <a:solidFill>
                    <a:srgbClr val="344532"/>
                  </a:solidFill>
                  <a:latin typeface="페이퍼로지 7 Bold" pitchFamily="2" charset="-127"/>
                  <a:ea typeface="페이퍼로지 7 Bold" pitchFamily="2" charset="-127"/>
                </a:rPr>
                <a:t>계획</a:t>
              </a:r>
              <a:endParaRPr lang="en-US" altLang="ko-KR" sz="1400" kern="0" spc="-50" dirty="0">
                <a:solidFill>
                  <a:srgbClr val="34453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D8BDB9-49E5-A039-D876-461EB50C9CE2}"/>
                </a:ext>
              </a:extLst>
            </p:cNvPr>
            <p:cNvSpPr txBox="1"/>
            <p:nvPr/>
          </p:nvSpPr>
          <p:spPr>
            <a:xfrm>
              <a:off x="1513166" y="3482860"/>
              <a:ext cx="2443133" cy="657322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1. AI 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융합 교육체계 설계</a:t>
              </a:r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구축 </a:t>
              </a:r>
              <a:endPara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4AA8D7-F1C4-87C0-5691-E6F5AF06B869}"/>
                </a:ext>
              </a:extLst>
            </p:cNvPr>
            <p:cNvSpPr txBox="1"/>
            <p:nvPr/>
          </p:nvSpPr>
          <p:spPr>
            <a:xfrm>
              <a:off x="1513166" y="4467362"/>
              <a:ext cx="2443133" cy="2025516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72000" rIns="90000" bIns="72000" rtlCol="0" anchor="t"/>
            <a:lstStyle>
              <a:defPPr>
                <a:defRPr lang="en-US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buSzPct val="80000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  <a:lvl2pPr marL="92075" lvl="1" indent="-92075" defTabSz="914400">
                <a:lnSpc>
                  <a:spcPct val="10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tabLst>
                  <a:tab pos="92075" algn="l"/>
                </a:tabLst>
                <a:defRPr sz="1200" kern="0"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defRPr>
              </a:lvl2pPr>
            </a:lstStyle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ko-KR" altLang="ko-KR" sz="1050" dirty="0"/>
                <a:t>기존 </a:t>
              </a:r>
              <a:r>
                <a:rPr lang="ko-KR" altLang="ko-KR" sz="1050" dirty="0" err="1"/>
                <a:t>교육체계·로드맵</a:t>
              </a:r>
              <a:r>
                <a:rPr lang="ko-KR" altLang="ko-KR" sz="1050" dirty="0"/>
                <a:t> </a:t>
              </a:r>
              <a:r>
                <a:rPr lang="ko-KR" altLang="en-US" sz="1050" dirty="0"/>
                <a:t>개편 방향 수립</a:t>
              </a:r>
              <a:endParaRPr lang="en-US" altLang="ko-KR" sz="1050" dirty="0"/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ko-KR" altLang="ko-KR" sz="1050" dirty="0"/>
                <a:t>AI 역량체계 및 </a:t>
              </a:r>
              <a:r>
                <a:rPr lang="ko-KR" altLang="en-US" sz="1050" dirty="0" err="1"/>
                <a:t>스킬셋</a:t>
              </a:r>
              <a:r>
                <a:rPr lang="ko-KR" altLang="ko-KR" sz="1050" dirty="0"/>
                <a:t> 도출 </a:t>
              </a:r>
              <a:endParaRPr lang="en-US" altLang="ko-KR" sz="1050" dirty="0"/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ko-KR" altLang="en-US" sz="1050" dirty="0"/>
                <a:t>친환경 </a:t>
              </a:r>
              <a:r>
                <a:rPr lang="ko-KR" altLang="en-US" sz="1050" dirty="0" err="1"/>
                <a:t>바이오화학</a:t>
              </a:r>
              <a:r>
                <a:rPr lang="ko-KR" altLang="en-US" sz="1050" dirty="0"/>
                <a:t> 분야 </a:t>
              </a:r>
              <a:r>
                <a:rPr lang="en-US" altLang="ko-KR" sz="1050" dirty="0"/>
                <a:t>AI </a:t>
              </a:r>
              <a:r>
                <a:rPr lang="ko-KR" altLang="en-US" sz="1050" dirty="0"/>
                <a:t>융합 </a:t>
              </a:r>
              <a:r>
                <a:rPr lang="ko-KR" altLang="en-US" sz="1050" dirty="0" err="1"/>
                <a:t>스킬셋</a:t>
              </a:r>
              <a:r>
                <a:rPr lang="en-US" altLang="ko-KR" sz="1050" dirty="0"/>
                <a:t> </a:t>
              </a:r>
              <a:r>
                <a:rPr lang="ko-KR" altLang="en-US" sz="1050" dirty="0"/>
                <a:t>구축</a:t>
              </a:r>
              <a:endParaRPr lang="ko-KR" altLang="ko-KR" sz="1050" dirty="0"/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en-US" altLang="ko-KR" sz="1050" dirty="0"/>
                <a:t>AI </a:t>
              </a:r>
              <a:r>
                <a:rPr lang="ko-KR" altLang="en-US" sz="1050" dirty="0"/>
                <a:t>융합 스킬</a:t>
              </a:r>
              <a:r>
                <a:rPr lang="en-US" altLang="ko-KR" sz="1050" dirty="0"/>
                <a:t> </a:t>
              </a:r>
              <a:r>
                <a:rPr lang="ko-KR" altLang="en-US" sz="1050" dirty="0"/>
                <a:t>기반 </a:t>
              </a:r>
              <a:r>
                <a:rPr lang="ko-KR" altLang="ko-KR" sz="1050" dirty="0"/>
                <a:t>차세대 교육체계 재설계 </a:t>
              </a:r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ko-KR" altLang="ko-KR" sz="1050" dirty="0"/>
                <a:t>AI 융합 과정 개발 방향 설정 </a:t>
              </a:r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ko-KR" altLang="ko-KR" sz="1050" dirty="0"/>
                <a:t>2026~2030 단계별 이행계획 및 마스터플랜 수립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D29EC2-AA01-6CFF-1686-327946FDEF2C}"/>
                </a:ext>
              </a:extLst>
            </p:cNvPr>
            <p:cNvSpPr txBox="1"/>
            <p:nvPr/>
          </p:nvSpPr>
          <p:spPr>
            <a:xfrm>
              <a:off x="4315773" y="3482861"/>
              <a:ext cx="2443133" cy="657321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2. AI 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융합 교육과정 확대</a:t>
              </a:r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운영</a:t>
              </a:r>
              <a:endPara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D4D9E8-48FC-EF84-2D13-F315AEB92784}"/>
                </a:ext>
              </a:extLst>
            </p:cNvPr>
            <p:cNvSpPr txBox="1"/>
            <p:nvPr/>
          </p:nvSpPr>
          <p:spPr>
            <a:xfrm>
              <a:off x="4315773" y="4467362"/>
              <a:ext cx="2443133" cy="2025516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72000" rIns="90000" bIns="72000" rtlCol="0" anchor="t"/>
            <a:lstStyle>
              <a:defPPr>
                <a:defRPr lang="en-US"/>
              </a:defPPr>
              <a:lvl1pPr marL="171450" indent="-171450" fontAlgn="base">
                <a:lnSpc>
                  <a:spcPct val="10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  <a:lvl2pPr marL="92075" lvl="1" indent="-92075" defTabSz="914400">
                <a:lnSpc>
                  <a:spcPct val="10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tabLst>
                  <a:tab pos="92075" algn="l"/>
                </a:tabLst>
                <a:defRPr sz="1200" kern="0"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defRPr>
              </a:lvl2pPr>
            </a:lstStyle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신규 AI 융합 과정 단계적 확대 운영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협약기업 맞춤형 </a:t>
              </a:r>
              <a:r>
                <a:rPr lang="ko-KR" altLang="ko-KR" sz="1050" dirty="0" err="1"/>
                <a:t>프로젝트형·문제해결형</a:t>
              </a:r>
              <a:r>
                <a:rPr lang="ko-KR" altLang="ko-KR" sz="1050" dirty="0"/>
                <a:t> 교육</a:t>
              </a:r>
              <a:r>
                <a:rPr lang="ko-KR" altLang="en-US" sz="1050" dirty="0"/>
                <a:t>과정 개발</a:t>
              </a:r>
              <a:endParaRPr lang="ko-KR" altLang="ko-KR" sz="1050" dirty="0"/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 err="1"/>
                <a:t>사례·실습·도구</a:t>
              </a:r>
              <a:r>
                <a:rPr lang="ko-KR" altLang="ko-KR" sz="1050" dirty="0"/>
                <a:t> 기반 현장적용형 교육 고도화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 err="1"/>
                <a:t>산업·직무별</a:t>
              </a:r>
              <a:r>
                <a:rPr lang="ko-KR" altLang="ko-KR" sz="1050" dirty="0"/>
                <a:t> 맞춤형 학습경로 및 과정 포트폴리오 정교화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강사 </a:t>
              </a:r>
              <a:r>
                <a:rPr lang="ko-KR" altLang="ko-KR" sz="1050" dirty="0" err="1"/>
                <a:t>Pool</a:t>
              </a:r>
              <a:r>
                <a:rPr lang="ko-KR" altLang="ko-KR" sz="1050" dirty="0"/>
                <a:t> </a:t>
              </a:r>
              <a:r>
                <a:rPr lang="ko-KR" altLang="en-US" sz="1050" dirty="0"/>
                <a:t>확대 </a:t>
              </a:r>
              <a:r>
                <a:rPr lang="ko-KR" altLang="ko-KR" sz="1050" dirty="0"/>
                <a:t>및 운영 인프라 확충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운영성과 분석 기반 과정 </a:t>
              </a:r>
              <a:r>
                <a:rPr lang="ko-KR" altLang="ko-KR" sz="1050" dirty="0" err="1"/>
                <a:t>개선·확대</a:t>
              </a:r>
              <a:r>
                <a:rPr lang="ko-KR" altLang="ko-KR" sz="1050" dirty="0"/>
                <a:t> 체계 정착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8B2A5F-9675-CD83-B2F3-DAC3530AFD97}"/>
                </a:ext>
              </a:extLst>
            </p:cNvPr>
            <p:cNvSpPr txBox="1"/>
            <p:nvPr/>
          </p:nvSpPr>
          <p:spPr>
            <a:xfrm>
              <a:off x="7118380" y="3482861"/>
              <a:ext cx="2443133" cy="657321"/>
            </a:xfrm>
            <a:prstGeom prst="rect">
              <a:avLst/>
            </a:prstGeom>
            <a:solidFill>
              <a:srgbClr val="344532"/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3. </a:t>
              </a:r>
              <a:r>
                <a:rPr lang="ko-KR" altLang="en-US" sz="1400" kern="0" spc="-50" dirty="0" err="1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바이오화학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분야 친환경</a:t>
              </a:r>
              <a:r>
                <a:rPr lang="en-US" altLang="ko-KR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·AI </a:t>
              </a:r>
              <a:r>
                <a:rPr lang="ko-KR" altLang="en-US" sz="1400" kern="0" spc="-5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전환 교육 우수 모델</a:t>
              </a:r>
              <a:endParaRPr lang="en-US" altLang="ko-KR" sz="1400" kern="0" spc="-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D06C48-4568-F2BF-6C1C-4634126B7A40}"/>
                </a:ext>
              </a:extLst>
            </p:cNvPr>
            <p:cNvSpPr txBox="1"/>
            <p:nvPr/>
          </p:nvSpPr>
          <p:spPr>
            <a:xfrm>
              <a:off x="7118380" y="4467362"/>
              <a:ext cx="2443133" cy="2025516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72000" rIns="90000" bIns="72000" rtlCol="0" anchor="t"/>
            <a:lstStyle>
              <a:defPPr>
                <a:defRPr lang="en-US"/>
              </a:defPPr>
              <a:lvl1pPr marL="171450" indent="-171450" fontAlgn="base">
                <a:lnSpc>
                  <a:spcPct val="10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 kumimoji="1" sz="1100" kern="0" spc="-5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defRPr>
              </a:lvl1pPr>
              <a:lvl2pPr marL="92075" lvl="1" indent="-92075" defTabSz="914400">
                <a:lnSpc>
                  <a:spcPct val="10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tabLst>
                  <a:tab pos="92075" algn="l"/>
                </a:tabLst>
                <a:defRPr sz="1200" kern="0" spc="-5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defRPr>
              </a:lvl2pPr>
            </a:lstStyle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 err="1"/>
                <a:t>KTR형</a:t>
              </a:r>
              <a:r>
                <a:rPr lang="ko-KR" altLang="ko-KR" sz="1050" dirty="0"/>
                <a:t> AI 융합 산업전환 교육모델 표준화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협약기업 상시 지원형 교육 플랫폼 체계 구축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교육–현업 적용–성과 창출 연계체계 내재화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/>
                <a:t>산업 변화 및 AI 기술 발전 반영 상시 개편 체계 운영 </a:t>
              </a:r>
            </a:p>
            <a:p>
              <a:pPr marL="90488" indent="-90488">
                <a:lnSpc>
                  <a:spcPct val="150000"/>
                </a:lnSpc>
              </a:pPr>
              <a:r>
                <a:rPr lang="ko-KR" altLang="ko-KR" sz="1050" dirty="0" err="1"/>
                <a:t>바이오화학</a:t>
              </a:r>
              <a:r>
                <a:rPr lang="ko-KR" altLang="ko-KR" sz="1050" dirty="0"/>
                <a:t> 산업 </a:t>
              </a:r>
              <a:r>
                <a:rPr lang="ko-KR" altLang="ko-KR" sz="1050" dirty="0" err="1"/>
                <a:t>친환경·A</a:t>
              </a:r>
              <a:r>
                <a:rPr lang="en-US" altLang="ko-KR" sz="1050" dirty="0"/>
                <a:t>I </a:t>
              </a:r>
              <a:r>
                <a:rPr lang="ko-KR" altLang="en-US" sz="1050" dirty="0"/>
                <a:t>전환</a:t>
              </a:r>
              <a:r>
                <a:rPr lang="ko-KR" altLang="ko-KR" sz="1050" dirty="0"/>
                <a:t> 대표 교육 허브로 기능 확대 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9F5D479-DB5B-4449-BF8E-001F82D6C307}"/>
                </a:ext>
              </a:extLst>
            </p:cNvPr>
            <p:cNvGrpSpPr/>
            <p:nvPr/>
          </p:nvGrpSpPr>
          <p:grpSpPr>
            <a:xfrm>
              <a:off x="4017523" y="3666410"/>
              <a:ext cx="237026" cy="243218"/>
              <a:chOff x="599972" y="1973685"/>
              <a:chExt cx="307997" cy="236097"/>
            </a:xfrm>
          </p:grpSpPr>
          <p:sp>
            <p:nvSpPr>
              <p:cNvPr id="27" name="갈매기형 수장 40">
                <a:extLst>
                  <a:ext uri="{FF2B5EF4-FFF2-40B4-BE49-F238E27FC236}">
                    <a16:creationId xmlns:a16="http://schemas.microsoft.com/office/drawing/2014/main" id="{5C92DCBA-86B9-D748-202D-17DA5CAF253C}"/>
                  </a:ext>
                </a:extLst>
              </p:cNvPr>
              <p:cNvSpPr/>
              <p:nvPr/>
            </p:nvSpPr>
            <p:spPr>
              <a:xfrm>
                <a:off x="599972" y="1973685"/>
                <a:ext cx="192319" cy="236097"/>
              </a:xfrm>
              <a:prstGeom prst="chevron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  <p:sp>
            <p:nvSpPr>
              <p:cNvPr id="28" name="갈매기형 수장 41">
                <a:extLst>
                  <a:ext uri="{FF2B5EF4-FFF2-40B4-BE49-F238E27FC236}">
                    <a16:creationId xmlns:a16="http://schemas.microsoft.com/office/drawing/2014/main" id="{FC5B4836-F0F3-DC6F-7D31-7F2C38615FDA}"/>
                  </a:ext>
                </a:extLst>
              </p:cNvPr>
              <p:cNvSpPr/>
              <p:nvPr/>
            </p:nvSpPr>
            <p:spPr>
              <a:xfrm>
                <a:off x="708580" y="1973685"/>
                <a:ext cx="199389" cy="236097"/>
              </a:xfrm>
              <a:prstGeom prst="chevron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882AFE8C-6DAE-F8D2-3053-98D8AC265346}"/>
                </a:ext>
              </a:extLst>
            </p:cNvPr>
            <p:cNvGrpSpPr/>
            <p:nvPr/>
          </p:nvGrpSpPr>
          <p:grpSpPr>
            <a:xfrm>
              <a:off x="6820130" y="3666410"/>
              <a:ext cx="237026" cy="243218"/>
              <a:chOff x="599972" y="1973685"/>
              <a:chExt cx="307997" cy="236097"/>
            </a:xfrm>
          </p:grpSpPr>
          <p:sp>
            <p:nvSpPr>
              <p:cNvPr id="39" name="갈매기형 수장 40">
                <a:extLst>
                  <a:ext uri="{FF2B5EF4-FFF2-40B4-BE49-F238E27FC236}">
                    <a16:creationId xmlns:a16="http://schemas.microsoft.com/office/drawing/2014/main" id="{5D6CDF7F-2F9F-84A1-7D43-0494DDC02C1E}"/>
                  </a:ext>
                </a:extLst>
              </p:cNvPr>
              <p:cNvSpPr/>
              <p:nvPr/>
            </p:nvSpPr>
            <p:spPr>
              <a:xfrm>
                <a:off x="599972" y="1973685"/>
                <a:ext cx="192319" cy="236097"/>
              </a:xfrm>
              <a:prstGeom prst="chevron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  <p:sp>
            <p:nvSpPr>
              <p:cNvPr id="40" name="갈매기형 수장 41">
                <a:extLst>
                  <a:ext uri="{FF2B5EF4-FFF2-40B4-BE49-F238E27FC236}">
                    <a16:creationId xmlns:a16="http://schemas.microsoft.com/office/drawing/2014/main" id="{27A170A8-E6B8-3541-08F6-F2054022BEA0}"/>
                  </a:ext>
                </a:extLst>
              </p:cNvPr>
              <p:cNvSpPr/>
              <p:nvPr/>
            </p:nvSpPr>
            <p:spPr>
              <a:xfrm>
                <a:off x="708580" y="1973685"/>
                <a:ext cx="199389" cy="236097"/>
              </a:xfrm>
              <a:prstGeom prst="chevron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50" dirty="0">
                  <a:solidFill>
                    <a:schemeClr val="tx1"/>
                  </a:solidFill>
                  <a:ea typeface="a고딕12" panose="02020600000000000000" pitchFamily="18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31CA396-BBA8-6683-470D-767EF81AEEC7}"/>
                </a:ext>
              </a:extLst>
            </p:cNvPr>
            <p:cNvSpPr txBox="1"/>
            <p:nvPr/>
          </p:nvSpPr>
          <p:spPr>
            <a:xfrm>
              <a:off x="1513166" y="4172603"/>
              <a:ext cx="2443133" cy="2623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 (~ 2026) </a:t>
              </a:r>
              <a:endParaRPr lang="en-US" altLang="ko-KR" sz="900" i="1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79256B4-BDFE-16E6-911A-AC2E799D746F}"/>
                </a:ext>
              </a:extLst>
            </p:cNvPr>
            <p:cNvSpPr txBox="1"/>
            <p:nvPr/>
          </p:nvSpPr>
          <p:spPr>
            <a:xfrm>
              <a:off x="4315773" y="4172604"/>
              <a:ext cx="2443133" cy="2623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(2027 ~ 2029)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89E1BA-FF01-6A95-88B6-E412B40488B3}"/>
                </a:ext>
              </a:extLst>
            </p:cNvPr>
            <p:cNvSpPr txBox="1"/>
            <p:nvPr/>
          </p:nvSpPr>
          <p:spPr>
            <a:xfrm>
              <a:off x="7118380" y="4172604"/>
              <a:ext cx="2443133" cy="2623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36000" rIns="36000" anchor="ctr">
              <a:noAutofit/>
            </a:bodyPr>
            <a:lstStyle/>
            <a:p>
              <a:pPr marL="0" lvl="1" algn="ctr" defTabSz="914400"/>
              <a:r>
                <a:rPr lang="en-US" altLang="ko-KR" sz="14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(2030 ~)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60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F994-1A87-8A2D-D29A-A4A49A3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2165979-4307-14CC-4A96-9E9C794A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21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A09C4168-A95A-DECB-CDDA-5FD502F9C870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전문가 회의를 통해 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수립 전략 방향에 따라 크게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단계로 구분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하여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단계별 핵심 전략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교육과정 개발 방향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 err="1">
                <a:latin typeface="페이퍼로지 4 Regular" pitchFamily="2" charset="-127"/>
                <a:ea typeface="페이퍼로지 4 Regular" pitchFamily="2" charset="-127"/>
              </a:rPr>
              <a:t>산업군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인프라 및 강사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등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세부 계획을 수립함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44CDAE-7AD7-02B8-4FA3-A3641B7ED321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D12F5C4D-D681-E363-100B-6526003F370E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차세대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(’26~’30)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반영 마스터플랜 고도화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57FBDC-D8B5-DB4A-F0D0-4CB51C3ABD27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368FDA-2EF6-5F15-EBD7-FB59A7B7B233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Step6.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차세대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(’26~’30)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반영 마스터플랜 고도화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1B35429-D779-8036-7E79-BF8C4A79351B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14C1AAE6-3C57-8613-BCEA-5AFFC09B47F3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31598E-52A7-B70E-1ABF-BCC95CF7AF42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656C471A-CB30-7111-A442-7A55507F4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324415"/>
              </p:ext>
            </p:extLst>
          </p:nvPr>
        </p:nvGraphicFramePr>
        <p:xfrm>
          <a:off x="344486" y="1983560"/>
          <a:ext cx="9217025" cy="4433117"/>
        </p:xfrm>
        <a:graphic>
          <a:graphicData uri="http://schemas.openxmlformats.org/drawingml/2006/table">
            <a:tbl>
              <a:tblPr firstRow="1" bandRow="1"/>
              <a:tblGrid>
                <a:gridCol w="521441">
                  <a:extLst>
                    <a:ext uri="{9D8B030D-6E8A-4147-A177-3AD203B41FA5}">
                      <a16:colId xmlns:a16="http://schemas.microsoft.com/office/drawing/2014/main" val="2291726626"/>
                    </a:ext>
                  </a:extLst>
                </a:gridCol>
                <a:gridCol w="2744807">
                  <a:extLst>
                    <a:ext uri="{9D8B030D-6E8A-4147-A177-3AD203B41FA5}">
                      <a16:colId xmlns:a16="http://schemas.microsoft.com/office/drawing/2014/main" val="81880040"/>
                    </a:ext>
                  </a:extLst>
                </a:gridCol>
                <a:gridCol w="233431">
                  <a:extLst>
                    <a:ext uri="{9D8B030D-6E8A-4147-A177-3AD203B41FA5}">
                      <a16:colId xmlns:a16="http://schemas.microsoft.com/office/drawing/2014/main" val="1820659664"/>
                    </a:ext>
                  </a:extLst>
                </a:gridCol>
                <a:gridCol w="2744807">
                  <a:extLst>
                    <a:ext uri="{9D8B030D-6E8A-4147-A177-3AD203B41FA5}">
                      <a16:colId xmlns:a16="http://schemas.microsoft.com/office/drawing/2014/main" val="2309146099"/>
                    </a:ext>
                  </a:extLst>
                </a:gridCol>
                <a:gridCol w="227732">
                  <a:extLst>
                    <a:ext uri="{9D8B030D-6E8A-4147-A177-3AD203B41FA5}">
                      <a16:colId xmlns:a16="http://schemas.microsoft.com/office/drawing/2014/main" val="84934720"/>
                    </a:ext>
                  </a:extLst>
                </a:gridCol>
                <a:gridCol w="2744807">
                  <a:extLst>
                    <a:ext uri="{9D8B030D-6E8A-4147-A177-3AD203B41FA5}">
                      <a16:colId xmlns:a16="http://schemas.microsoft.com/office/drawing/2014/main" val="3238986700"/>
                    </a:ext>
                  </a:extLst>
                </a:gridCol>
              </a:tblGrid>
              <a:tr h="25414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교육체계 설계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700" kern="1200" spc="-5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▶</a:t>
                      </a:r>
                      <a:endParaRPr lang="ko-KR" altLang="en-US" sz="1700" kern="1200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교육과정 확대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운영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-5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▶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kern="0" spc="-50" baseline="0" dirty="0" err="1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친환경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·AI 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전환 교육 표준 모델 확립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017038"/>
                  </a:ext>
                </a:extLst>
              </a:tr>
              <a:tr h="254143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900" kern="0" spc="-4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(~2026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b="1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200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(2027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~ 2029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b="1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200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(2030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~)</a:t>
                      </a:r>
                      <a:endParaRPr lang="ko-KR" altLang="en-US" sz="1000" b="1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8859"/>
                  </a:ext>
                </a:extLst>
              </a:tr>
              <a:tr h="10916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핵심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교육체계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로드맵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직무역량 모델링 및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구축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기반 차세대 교육체계 설계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개년 마스터 플랜 및 중장기 방향 설정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(’27) 3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 핵심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과정 추가 개발을 통한 교육 확산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(’28) Lv3.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산업전환 정착 단계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심화과정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강화를 통한 깊이 확보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(’29)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전환 우수사례 세미나를 통한 공유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확산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형 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산업전환 교육 표준모델 확립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분야 친환경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·AX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교육체계의 상시 운영체계 내재화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지원형 교육 플랫폼 고도화 및 타 산업 확산 기반 마련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05296"/>
                  </a:ext>
                </a:extLst>
              </a:tr>
              <a:tr h="94437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 </a:t>
                      </a:r>
                      <a:endParaRPr lang="en-US" altLang="ko-KR" sz="1000" kern="0" spc="-50" baseline="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개발 방향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기반 기존 과정 개편 방향 설정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융합을 통한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Upskilling &amp; Reskilling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수요 기반 신규 교육과정 개발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(’27)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산업특화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10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신규 개발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운영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(’28) Lv3.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심화 과정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5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개발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(AI R&amp;D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자동화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(’29)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우수사례 발굴을 통한 세미나 과정 개발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운영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산업별 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교육과정 표준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정립 및 대표과정 체계화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과정 통합 포트폴리오 최적화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변화 및 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 발전 반영 상시 개편 체계 운영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우수사례 기반 세미나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확산형 과정 운영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73649"/>
                  </a:ext>
                </a:extLst>
              </a:tr>
              <a:tr h="94437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화학 바이오</a:t>
                      </a:r>
                      <a:endParaRPr lang="en-US" altLang="ko-KR" sz="1000" kern="0" spc="-50" baseline="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산업군</a:t>
                      </a:r>
                      <a:endParaRPr lang="ko-KR" altLang="en-US" sz="1000" kern="0" spc="-50" baseline="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공통 적용 분야 도출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핵심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유지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화장품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의료기기 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(’27)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섬유화학 분야  추가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(’28)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정밀화학 분야 추가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(’29)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트렌드 반영 </a:t>
                      </a:r>
                      <a:r>
                        <a:rPr kumimoji="0" lang="ko-KR" altLang="en-US" sz="1000" b="0" i="0" u="none" strike="noStrike" kern="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추가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핵심 </a:t>
                      </a:r>
                      <a:r>
                        <a:rPr kumimoji="0" lang="ko-KR" altLang="en-US" sz="1000" b="0" i="0" u="none" strike="noStrike" kern="0" cap="none" spc="-50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교육체계 완비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정밀화학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섬유소재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트렌드 </a:t>
                      </a:r>
                      <a:r>
                        <a:rPr kumimoji="0" lang="ko-KR" altLang="en-US" sz="1000" b="0" i="0" u="none" strike="noStrike" kern="0" cap="none" spc="-50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산업군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대응체계 확립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협약산업군 유입 시 유연 대응 가능한 확장형 구조 구축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548026"/>
                  </a:ext>
                </a:extLst>
              </a:tr>
              <a:tr h="94437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10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인프라 및 강사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환경 점검 및 필요 인프라 산정</a:t>
                      </a:r>
                      <a:endParaRPr kumimoji="0" lang="en-US" altLang="ko-KR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과정 교육 강사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POOL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확보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(5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~ 10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과정 실습 인프라 구축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(LLM,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실습 데이터 셋 등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과정 교육 강사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POOL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추가 확보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(30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 이상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교육과정 성과평가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만족도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성취도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현업적용도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자체 교육 기획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운영 역량 내재화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강사 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Pool 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안정화 및 전문 분야별 상시 확보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 콘텐츠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사례</a:t>
                      </a:r>
                      <a:r>
                        <a:rPr kumimoji="0" lang="en-US" altLang="ko-KR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실습데이터 기반 운영 인프라 고도화 </a:t>
                      </a:r>
                      <a:endParaRPr kumimoji="0" lang="en-US" altLang="ko-KR" sz="10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상시 지원형 교육 플랫폼 운영체계 구축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965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410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3B33-5BAF-3D74-801C-D15261AF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4EAA2C-7E07-9FE7-3867-6C3B34E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22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55C5E8EA-8E00-EA1E-1073-3F2A1EA8061F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차세대 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반영 마스터플랜을 토대로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단계별 전략과 직무 특성을 반영한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교육과정을 연도별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(‘26-‘30)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로 구체화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하여 제시함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319A458-689E-09D0-A272-599E7C46B9C8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E7DBDDB0-4444-9251-7DC0-1F22048E67BC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개년도 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융합 교육과정 개발 계획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안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757BC0-FABC-B702-787F-9222D91D6418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6D2972-28A4-9BD5-199F-803D898739B3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defRPr/>
            </a:pP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차세대 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교육체계</a:t>
            </a: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고도화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Step6.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차세대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(’26~’30)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반영 마스터플랜 고도화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21D1C0-4EF8-040E-3A31-2DDEC1C892B0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3ADE23DC-88CE-020A-3285-631FED96C725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9E5E0C-A6CC-1C9E-C14E-890A83AE491B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2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C78632F1-4E5A-FED2-FB1E-F3AB2E1B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82439"/>
              </p:ext>
            </p:extLst>
          </p:nvPr>
        </p:nvGraphicFramePr>
        <p:xfrm>
          <a:off x="344485" y="1998057"/>
          <a:ext cx="9217029" cy="4461391"/>
        </p:xfrm>
        <a:graphic>
          <a:graphicData uri="http://schemas.openxmlformats.org/drawingml/2006/table">
            <a:tbl>
              <a:tblPr firstRow="1" bandRow="1"/>
              <a:tblGrid>
                <a:gridCol w="258367">
                  <a:extLst>
                    <a:ext uri="{9D8B030D-6E8A-4147-A177-3AD203B41FA5}">
                      <a16:colId xmlns:a16="http://schemas.microsoft.com/office/drawing/2014/main" val="2291726626"/>
                    </a:ext>
                  </a:extLst>
                </a:gridCol>
                <a:gridCol w="1085512">
                  <a:extLst>
                    <a:ext uri="{9D8B030D-6E8A-4147-A177-3AD203B41FA5}">
                      <a16:colId xmlns:a16="http://schemas.microsoft.com/office/drawing/2014/main" val="1904347815"/>
                    </a:ext>
                  </a:extLst>
                </a:gridCol>
                <a:gridCol w="1574630">
                  <a:extLst>
                    <a:ext uri="{9D8B030D-6E8A-4147-A177-3AD203B41FA5}">
                      <a16:colId xmlns:a16="http://schemas.microsoft.com/office/drawing/2014/main" val="81880040"/>
                    </a:ext>
                  </a:extLst>
                </a:gridCol>
                <a:gridCol w="1574630">
                  <a:extLst>
                    <a:ext uri="{9D8B030D-6E8A-4147-A177-3AD203B41FA5}">
                      <a16:colId xmlns:a16="http://schemas.microsoft.com/office/drawing/2014/main" val="2309146099"/>
                    </a:ext>
                  </a:extLst>
                </a:gridCol>
                <a:gridCol w="1574630">
                  <a:extLst>
                    <a:ext uri="{9D8B030D-6E8A-4147-A177-3AD203B41FA5}">
                      <a16:colId xmlns:a16="http://schemas.microsoft.com/office/drawing/2014/main" val="3238986700"/>
                    </a:ext>
                  </a:extLst>
                </a:gridCol>
                <a:gridCol w="1574630">
                  <a:extLst>
                    <a:ext uri="{9D8B030D-6E8A-4147-A177-3AD203B41FA5}">
                      <a16:colId xmlns:a16="http://schemas.microsoft.com/office/drawing/2014/main" val="3555342059"/>
                    </a:ext>
                  </a:extLst>
                </a:gridCol>
                <a:gridCol w="1574630">
                  <a:extLst>
                    <a:ext uri="{9D8B030D-6E8A-4147-A177-3AD203B41FA5}">
                      <a16:colId xmlns:a16="http://schemas.microsoft.com/office/drawing/2014/main" val="2226049739"/>
                    </a:ext>
                  </a:extLst>
                </a:gridCol>
              </a:tblGrid>
              <a:tr h="422228"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교육체계 설계</a:t>
                      </a:r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구축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교육과정 확대</a:t>
                      </a:r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운영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/>
                      <a:endParaRPr lang="ko-KR" altLang="en-US" sz="900" b="1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900" b="1" kern="0" spc="-5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-50" baseline="0" dirty="0" err="1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친환경</a:t>
                      </a:r>
                      <a:r>
                        <a:rPr lang="en-US" altLang="ko-KR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·AI </a:t>
                      </a:r>
                      <a:r>
                        <a:rPr lang="ko-KR" altLang="en-US" sz="1000" b="1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전환 교육 표준 모델 확립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017038"/>
                  </a:ext>
                </a:extLst>
              </a:tr>
              <a:tr h="216585">
                <a:tc gridSpan="2" vMerge="1">
                  <a:txBody>
                    <a:bodyPr/>
                    <a:lstStyle/>
                    <a:p>
                      <a:pPr algn="ctr" latinLnBrk="0"/>
                      <a:endParaRPr lang="ko-KR" altLang="en-US" sz="900" kern="0" spc="-4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</a:rPr>
                        <a:t>2026</a:t>
                      </a:r>
                      <a:endParaRPr lang="ko-KR" altLang="en-US" sz="1000" kern="0" spc="-50" baseline="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</a:rPr>
                        <a:t>2027</a:t>
                      </a:r>
                      <a:endParaRPr lang="ko-KR" altLang="en-US" sz="1000" kern="0" spc="-50" baseline="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</a:rPr>
                        <a:t>2028</a:t>
                      </a:r>
                      <a:endParaRPr lang="ko-KR" altLang="en-US" sz="1000" kern="0" spc="-50" baseline="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</a:rPr>
                        <a:t>2029</a:t>
                      </a:r>
                      <a:endParaRPr lang="ko-KR" altLang="en-US" sz="1000" kern="0" spc="-50" baseline="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spc="-50" baseline="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</a:rPr>
                        <a:t>2030</a:t>
                      </a:r>
                      <a:endParaRPr lang="ko-KR" altLang="en-US" sz="1000" kern="0" spc="-50" baseline="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8859"/>
                  </a:ext>
                </a:extLst>
              </a:tr>
              <a:tr h="493276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산업특화 과정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바이오 플라스틱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05296"/>
                  </a:ext>
                </a:extLst>
              </a:tr>
              <a:tr h="493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화장품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58954"/>
                  </a:ext>
                </a:extLst>
              </a:tr>
              <a:tr h="493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정밀화학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68894"/>
                  </a:ext>
                </a:extLst>
              </a:tr>
              <a:tr h="493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섬유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9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6769"/>
                  </a:ext>
                </a:extLst>
              </a:tr>
              <a:tr h="1505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en-US" altLang="ko-KR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:</a:t>
                      </a:r>
                      <a:endParaRPr lang="ko-KR" altLang="en-US" sz="900" kern="0" spc="-50" baseline="0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1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1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1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kumimoji="0" lang="ko-KR" altLang="en-US" sz="100" b="0" i="0" u="none" strike="noStrike" kern="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266763"/>
                  </a:ext>
                </a:extLst>
              </a:tr>
              <a:tr h="493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실무 공통 과정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548026"/>
                  </a:ext>
                </a:extLst>
              </a:tr>
              <a:tr h="7123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공통과정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965658"/>
                  </a:ext>
                </a:extLst>
              </a:tr>
              <a:tr h="493276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kern="0" spc="-50" baseline="0" dirty="0">
                          <a:solidFill>
                            <a:srgbClr val="00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인사이트과정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38321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F46994CC-CF43-C67A-D70F-41F319253406}"/>
              </a:ext>
            </a:extLst>
          </p:cNvPr>
          <p:cNvGrpSpPr/>
          <p:nvPr/>
        </p:nvGrpSpPr>
        <p:grpSpPr>
          <a:xfrm>
            <a:off x="7315200" y="1590844"/>
            <a:ext cx="2246313" cy="236952"/>
            <a:chOff x="7826057" y="1928914"/>
            <a:chExt cx="1735456" cy="13480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501D230-D02A-AE54-A1A3-35F2B1D9FE00}"/>
                </a:ext>
              </a:extLst>
            </p:cNvPr>
            <p:cNvSpPr/>
            <p:nvPr/>
          </p:nvSpPr>
          <p:spPr>
            <a:xfrm>
              <a:off x="8732747" y="1934505"/>
              <a:ext cx="828766" cy="1292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kern="0" spc="-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리스킬링</a:t>
              </a:r>
              <a:r>
                <a:rPr lang="ko-KR" altLang="en-US" sz="1000" kern="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과정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CB27C52-648A-D2CE-EB2A-CAE3887DAAF6}"/>
                </a:ext>
              </a:extLst>
            </p:cNvPr>
            <p:cNvSpPr/>
            <p:nvPr/>
          </p:nvSpPr>
          <p:spPr>
            <a:xfrm>
              <a:off x="7826057" y="1928914"/>
              <a:ext cx="828766" cy="12921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kern="0" spc="-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업스킬링</a:t>
              </a:r>
              <a:r>
                <a:rPr lang="ko-KR" altLang="en-US" sz="1000" kern="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과정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B44489-0CCB-E3EC-5274-517F21E683EE}"/>
              </a:ext>
            </a:extLst>
          </p:cNvPr>
          <p:cNvSpPr/>
          <p:nvPr/>
        </p:nvSpPr>
        <p:spPr>
          <a:xfrm>
            <a:off x="3336090" y="2812669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사출성형 공정 파라미터 자동 튜닝 실무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39A5CB-7CBD-64F1-DFA7-6C3E6194E599}"/>
              </a:ext>
            </a:extLst>
          </p:cNvPr>
          <p:cNvSpPr/>
          <p:nvPr/>
        </p:nvSpPr>
        <p:spPr>
          <a:xfrm>
            <a:off x="3336090" y="2976687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의료기기 인증 규격문서 자동 생성 실무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9EE69A-C539-D901-887C-A91495457953}"/>
              </a:ext>
            </a:extLst>
          </p:cNvPr>
          <p:cNvSpPr/>
          <p:nvPr/>
        </p:nvSpPr>
        <p:spPr>
          <a:xfrm>
            <a:off x="3336090" y="2648651"/>
            <a:ext cx="1418150" cy="1310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소재 설계 및 물성 예측 실무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B7A09-F9F9-C81B-41B3-4B0CAEAFDA81}"/>
              </a:ext>
            </a:extLst>
          </p:cNvPr>
          <p:cNvSpPr/>
          <p:nvPr/>
        </p:nvSpPr>
        <p:spPr>
          <a:xfrm>
            <a:off x="4908573" y="2814542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비전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플라스틱 품질검사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33BF77-A312-5209-6CC0-38E746C163D4}"/>
              </a:ext>
            </a:extLst>
          </p:cNvPr>
          <p:cNvSpPr/>
          <p:nvPr/>
        </p:nvSpPr>
        <p:spPr>
          <a:xfrm>
            <a:off x="4908573" y="2980432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보안 모니터링 실무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3B0A7B-5AFC-1842-DB30-E7810295739B}"/>
              </a:ext>
            </a:extLst>
          </p:cNvPr>
          <p:cNvSpPr/>
          <p:nvPr/>
        </p:nvSpPr>
        <p:spPr>
          <a:xfrm>
            <a:off x="4908573" y="2648651"/>
            <a:ext cx="1418150" cy="1310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바이오플라스틱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스마트 생산관리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62D79D-B2C3-3D7E-7855-D90CE0D08341}"/>
              </a:ext>
            </a:extLst>
          </p:cNvPr>
          <p:cNvSpPr/>
          <p:nvPr/>
        </p:nvSpPr>
        <p:spPr>
          <a:xfrm>
            <a:off x="6492009" y="2895468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실시간 공정 이상탐지 및 자율제어 실무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6B348AF-11B9-F778-24F3-7608779E13E2}"/>
              </a:ext>
            </a:extLst>
          </p:cNvPr>
          <p:cNvSpPr/>
          <p:nvPr/>
        </p:nvSpPr>
        <p:spPr>
          <a:xfrm>
            <a:off x="6492009" y="2648651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천연고분자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역설계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분자구조 도출 실습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0CD19A-AB16-46C0-A664-304CC6E5F164}"/>
              </a:ext>
            </a:extLst>
          </p:cNvPr>
          <p:cNvSpPr/>
          <p:nvPr/>
        </p:nvSpPr>
        <p:spPr>
          <a:xfrm>
            <a:off x="8075464" y="2895468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바이오소재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R&amp;D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가상실험 플랫폼 운영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5D08BB-01DF-D48F-F3A1-0B515AA06921}"/>
              </a:ext>
            </a:extLst>
          </p:cNvPr>
          <p:cNvSpPr/>
          <p:nvPr/>
        </p:nvSpPr>
        <p:spPr>
          <a:xfrm>
            <a:off x="8075464" y="2648651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 소재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R&amp;D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BAB60C-A654-AD14-E405-B4982A31EF6F}"/>
              </a:ext>
            </a:extLst>
          </p:cNvPr>
          <p:cNvSpPr/>
          <p:nvPr/>
        </p:nvSpPr>
        <p:spPr>
          <a:xfrm>
            <a:off x="3336090" y="3314273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클린화장품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탄소발자국 보고서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CDD95F-FACB-649D-54C7-8E19B53998C9}"/>
              </a:ext>
            </a:extLst>
          </p:cNvPr>
          <p:cNvSpPr/>
          <p:nvPr/>
        </p:nvSpPr>
        <p:spPr>
          <a:xfrm>
            <a:off x="3336090" y="3472486"/>
            <a:ext cx="1418150" cy="131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성분 조합 독성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안정성 예측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스크리닝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실무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2CFF1D9-FF5F-A769-8D86-1B1375541D9A}"/>
              </a:ext>
            </a:extLst>
          </p:cNvPr>
          <p:cNvSpPr/>
          <p:nvPr/>
        </p:nvSpPr>
        <p:spPr>
          <a:xfrm>
            <a:off x="3336090" y="3156060"/>
            <a:ext cx="1418150" cy="1310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안정성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스크리닝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및 유효성 예측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1169D1B-D865-207F-74D9-7B0443761C6B}"/>
              </a:ext>
            </a:extLst>
          </p:cNvPr>
          <p:cNvSpPr/>
          <p:nvPr/>
        </p:nvSpPr>
        <p:spPr>
          <a:xfrm>
            <a:off x="4908573" y="3387522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클린뷰티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글로벌 규제 대응 실무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80D0FFA-116E-20F4-9537-8F46354C9424}"/>
              </a:ext>
            </a:extLst>
          </p:cNvPr>
          <p:cNvSpPr/>
          <p:nvPr/>
        </p:nvSpPr>
        <p:spPr>
          <a:xfrm>
            <a:off x="4908573" y="3156060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활용 화장품 안정성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유효성 예측 심화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C68ED52-A068-CA6D-795D-6BF1173C74B4}"/>
              </a:ext>
            </a:extLst>
          </p:cNvPr>
          <p:cNvSpPr/>
          <p:nvPr/>
        </p:nvSpPr>
        <p:spPr>
          <a:xfrm>
            <a:off x="6492009" y="3387522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수요예측 모델 기반 제품 최적화 실무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A32DEA0-7EDD-FF10-8FC0-52B9093AE005}"/>
              </a:ext>
            </a:extLst>
          </p:cNvPr>
          <p:cNvSpPr/>
          <p:nvPr/>
        </p:nvSpPr>
        <p:spPr>
          <a:xfrm>
            <a:off x="6492009" y="3156060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개인 맞춤형 추천 알고리즘 설계 실무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ED12843-777E-71BC-E7F5-2EC9E532DA91}"/>
              </a:ext>
            </a:extLst>
          </p:cNvPr>
          <p:cNvSpPr/>
          <p:nvPr/>
        </p:nvSpPr>
        <p:spPr>
          <a:xfrm>
            <a:off x="8075464" y="3197269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화장품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전주기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디지털 관리 실무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01CE67-2718-9C71-AE7F-1A3A2C0FFD7E}"/>
              </a:ext>
            </a:extLst>
          </p:cNvPr>
          <p:cNvSpPr/>
          <p:nvPr/>
        </p:nvSpPr>
        <p:spPr>
          <a:xfrm>
            <a:off x="1761565" y="2648651"/>
            <a:ext cx="141815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친환경 소재 제품화 기본 전략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6E2206-1BE3-9342-7AA2-9130F420C500}"/>
              </a:ext>
            </a:extLst>
          </p:cNvPr>
          <p:cNvSpPr/>
          <p:nvPr/>
        </p:nvSpPr>
        <p:spPr>
          <a:xfrm>
            <a:off x="1761565" y="2895468"/>
            <a:ext cx="141815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분자구조 데이터 기반 소재 물성 예측 입문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87E996-39D6-3E44-6F68-5C84FB9FC31A}"/>
              </a:ext>
            </a:extLst>
          </p:cNvPr>
          <p:cNvSpPr/>
          <p:nvPr/>
        </p:nvSpPr>
        <p:spPr>
          <a:xfrm>
            <a:off x="1761565" y="3156060"/>
            <a:ext cx="141815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활용 친환경 화장품 브랜딩 실무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04A934-DE58-4DB3-11DD-2EC002B251E4}"/>
              </a:ext>
            </a:extLst>
          </p:cNvPr>
          <p:cNvSpPr/>
          <p:nvPr/>
        </p:nvSpPr>
        <p:spPr>
          <a:xfrm>
            <a:off x="1761565" y="3387522"/>
            <a:ext cx="141815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리뷰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·SNS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기반 트렌드 분석 입문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487D8D-0615-8D56-228C-450C28CB60C0}"/>
              </a:ext>
            </a:extLst>
          </p:cNvPr>
          <p:cNvSpPr/>
          <p:nvPr/>
        </p:nvSpPr>
        <p:spPr>
          <a:xfrm>
            <a:off x="1761565" y="3649499"/>
            <a:ext cx="141815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위해성 예측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QSAR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모델 활용 실무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0DA99F5-8E73-9178-3E1A-E73FCFBB8189}"/>
              </a:ext>
            </a:extLst>
          </p:cNvPr>
          <p:cNvSpPr/>
          <p:nvPr/>
        </p:nvSpPr>
        <p:spPr>
          <a:xfrm>
            <a:off x="1761565" y="3877853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분자구조 분석 및 물성 예측 모델 실습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24800D9-1862-8D71-F49B-5B45E2A6492D}"/>
              </a:ext>
            </a:extLst>
          </p:cNvPr>
          <p:cNvSpPr/>
          <p:nvPr/>
        </p:nvSpPr>
        <p:spPr>
          <a:xfrm>
            <a:off x="3336090" y="3877853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신소재 후보물질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스크리닝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및 제품화 전략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B1D3C3-389F-3BEF-D908-6A3610F8B7BD}"/>
              </a:ext>
            </a:extLst>
          </p:cNvPr>
          <p:cNvSpPr/>
          <p:nvPr/>
        </p:nvSpPr>
        <p:spPr>
          <a:xfrm>
            <a:off x="3336090" y="3649499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공정 센서 데이터 실시간 품질 예측 실무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6A3E383-C8AD-ED7F-D1A8-5AE8B0CEABA1}"/>
              </a:ext>
            </a:extLst>
          </p:cNvPr>
          <p:cNvSpPr/>
          <p:nvPr/>
        </p:nvSpPr>
        <p:spPr>
          <a:xfrm>
            <a:off x="4908573" y="3877853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순환경제 폐자원 관리 및 재활용 실무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BBF15EF-DE37-3E15-B971-DE7F93606974}"/>
              </a:ext>
            </a:extLst>
          </p:cNvPr>
          <p:cNvSpPr/>
          <p:nvPr/>
        </p:nvSpPr>
        <p:spPr>
          <a:xfrm>
            <a:off x="4908573" y="3649499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정밀화학 공정 데이터 분석 실무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210F89A-E01D-2893-0803-41952AA21B0C}"/>
              </a:ext>
            </a:extLst>
          </p:cNvPr>
          <p:cNvSpPr/>
          <p:nvPr/>
        </p:nvSpPr>
        <p:spPr>
          <a:xfrm>
            <a:off x="6492009" y="3877853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폐화학소재 재자원화 경로 최적화 실무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C7E183-6A27-FF2D-AF65-2A5A0673BAAF}"/>
              </a:ext>
            </a:extLst>
          </p:cNvPr>
          <p:cNvSpPr/>
          <p:nvPr/>
        </p:nvSpPr>
        <p:spPr>
          <a:xfrm>
            <a:off x="6492009" y="3649499"/>
            <a:ext cx="141815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정밀화학 공정 자율최적화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29A67D5-3BBF-72BE-7534-C5A12184FCA9}"/>
              </a:ext>
            </a:extLst>
          </p:cNvPr>
          <p:cNvSpPr/>
          <p:nvPr/>
        </p:nvSpPr>
        <p:spPr>
          <a:xfrm>
            <a:off x="8075464" y="3693286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정밀화학 제품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공정 통합 운영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관리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실무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413198E-D6A7-6414-D0C7-E2DEC99B64AD}"/>
              </a:ext>
            </a:extLst>
          </p:cNvPr>
          <p:cNvSpPr/>
          <p:nvPr/>
        </p:nvSpPr>
        <p:spPr>
          <a:xfrm>
            <a:off x="1761565" y="4195235"/>
            <a:ext cx="1418150" cy="337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섬유화학 소재 기초 및 친환경 전환 동향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CAB1DCB-9AB2-0A98-5CDB-0A568FA53474}"/>
              </a:ext>
            </a:extLst>
          </p:cNvPr>
          <p:cNvSpPr/>
          <p:nvPr/>
        </p:nvSpPr>
        <p:spPr>
          <a:xfrm>
            <a:off x="3336090" y="4195235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비전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원단 결함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자동검출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시스템 구축 실무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1BBEF9B-A2D8-4288-074D-A92A0B688989}"/>
              </a:ext>
            </a:extLst>
          </p:cNvPr>
          <p:cNvSpPr/>
          <p:nvPr/>
        </p:nvSpPr>
        <p:spPr>
          <a:xfrm>
            <a:off x="4908573" y="4195235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비전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원단 결함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자동검출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시스템 구축 실무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2F7DCD5-4639-65CF-FE83-885C23FA8E27}"/>
              </a:ext>
            </a:extLst>
          </p:cNvPr>
          <p:cNvSpPr/>
          <p:nvPr/>
        </p:nvSpPr>
        <p:spPr>
          <a:xfrm>
            <a:off x="6492009" y="4195235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염색공정 폐수 저감 배합 최적화 실무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2DF421-ED55-A5A5-A6E5-D14ACC98787A}"/>
              </a:ext>
            </a:extLst>
          </p:cNvPr>
          <p:cNvSpPr/>
          <p:nvPr/>
        </p:nvSpPr>
        <p:spPr>
          <a:xfrm>
            <a:off x="8075464" y="4195235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섬유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스마트팩토리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생산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품질관리 실무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B4B4605-EBD3-9796-0517-51EBE9C059EC}"/>
              </a:ext>
            </a:extLst>
          </p:cNvPr>
          <p:cNvSpPr/>
          <p:nvPr/>
        </p:nvSpPr>
        <p:spPr>
          <a:xfrm>
            <a:off x="1761565" y="4833393"/>
            <a:ext cx="1418150" cy="337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Scope 1·2·3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배출 데이터 자동 수집 및 정합성 검증 입문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6BD29F5-3E7B-7EEB-F997-775089F60AC7}"/>
              </a:ext>
            </a:extLst>
          </p:cNvPr>
          <p:cNvSpPr/>
          <p:nvPr/>
        </p:nvSpPr>
        <p:spPr>
          <a:xfrm>
            <a:off x="3336090" y="4833394"/>
            <a:ext cx="1418150" cy="3370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LCA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자동 수집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산출 및 보고서 생성 실무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3E887C8-738C-F935-1750-4CC8C2C2B106}"/>
              </a:ext>
            </a:extLst>
          </p:cNvPr>
          <p:cNvSpPr/>
          <p:nvPr/>
        </p:nvSpPr>
        <p:spPr>
          <a:xfrm>
            <a:off x="4908573" y="4833394"/>
            <a:ext cx="1418150" cy="337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ESG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공시 데이터 검증 및 자동 리포팅 실무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84C8D04-2361-D3D9-A9BA-FC7ECA840439}"/>
              </a:ext>
            </a:extLst>
          </p:cNvPr>
          <p:cNvSpPr/>
          <p:nvPr/>
        </p:nvSpPr>
        <p:spPr>
          <a:xfrm>
            <a:off x="6492009" y="4833394"/>
            <a:ext cx="1418150" cy="337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LCA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전주기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탄소배출 시뮬레이션 실습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51BCD5C-ECAC-891C-D28A-0C90565F969B}"/>
              </a:ext>
            </a:extLst>
          </p:cNvPr>
          <p:cNvSpPr/>
          <p:nvPr/>
        </p:nvSpPr>
        <p:spPr>
          <a:xfrm>
            <a:off x="8075464" y="4833394"/>
            <a:ext cx="1418150" cy="337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CBAM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대응 자동화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탄소비용 산출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신고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모니터링 통합 실무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D9F040B-FAF9-C81D-95BC-9DF643DA771E}"/>
              </a:ext>
            </a:extLst>
          </p:cNvPr>
          <p:cNvSpPr/>
          <p:nvPr/>
        </p:nvSpPr>
        <p:spPr>
          <a:xfrm>
            <a:off x="1761565" y="5323355"/>
            <a:ext cx="1418150" cy="2488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제조업 현장을 위한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리터러시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</a:p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개념부터 적용 판단까지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92EB2BA-90AB-8722-5B5B-9BA34B9C0550}"/>
              </a:ext>
            </a:extLst>
          </p:cNvPr>
          <p:cNvSpPr/>
          <p:nvPr/>
        </p:nvSpPr>
        <p:spPr>
          <a:xfrm>
            <a:off x="1761565" y="5647404"/>
            <a:ext cx="1418150" cy="2488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생성형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 활용 기초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</a:p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보고서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메일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문서 작성 자동화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D399439-4221-EAA5-D065-D7C293FB44F9}"/>
              </a:ext>
            </a:extLst>
          </p:cNvPr>
          <p:cNvSpPr/>
          <p:nvPr/>
        </p:nvSpPr>
        <p:spPr>
          <a:xfrm>
            <a:off x="3336090" y="5412710"/>
            <a:ext cx="1418150" cy="3370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 데이터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전처리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시각화 및 </a:t>
            </a:r>
            <a:endParaRPr lang="en-US" altLang="ko-KR" sz="800" kern="0" spc="-1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en-US" altLang="ko-KR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AutoML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실무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57A2BFD-457C-60DF-049A-2E62E25255E2}"/>
              </a:ext>
            </a:extLst>
          </p:cNvPr>
          <p:cNvSpPr/>
          <p:nvPr/>
        </p:nvSpPr>
        <p:spPr>
          <a:xfrm>
            <a:off x="4908573" y="5412709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규제문서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기술보고서 자동 초안 생성 및 검토 워크플로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D025353-F603-BEA2-9F7B-645CE8ADE67C}"/>
              </a:ext>
            </a:extLst>
          </p:cNvPr>
          <p:cNvSpPr/>
          <p:nvPr/>
        </p:nvSpPr>
        <p:spPr>
          <a:xfrm>
            <a:off x="6492009" y="5412709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사내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프로젝트 기획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en-US" altLang="ko-KR" sz="800" kern="0" spc="-10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ROI </a:t>
            </a:r>
            <a:r>
              <a:rPr lang="ko-KR" altLang="en-US" sz="800" kern="0" spc="-10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산출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거버넌스 수립 실무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82085CD-231E-5F59-C96B-D261FED16CC0}"/>
              </a:ext>
            </a:extLst>
          </p:cNvPr>
          <p:cNvSpPr/>
          <p:nvPr/>
        </p:nvSpPr>
        <p:spPr>
          <a:xfrm>
            <a:off x="8075464" y="5412709"/>
            <a:ext cx="1418150" cy="337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멀티모달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제조현장</a:t>
            </a:r>
            <a:endParaRPr lang="en-US" altLang="ko-KR" sz="800" kern="0" spc="-1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통합 의사결정 실무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06FEE1F-65B9-B9DF-D298-5FF831CADF73}"/>
              </a:ext>
            </a:extLst>
          </p:cNvPr>
          <p:cNvSpPr/>
          <p:nvPr/>
        </p:nvSpPr>
        <p:spPr>
          <a:xfrm>
            <a:off x="1761565" y="6032260"/>
            <a:ext cx="1418150" cy="337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글로벌 제조업 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도입 현황과 성공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실패 사례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EF8A4A6-0302-16D2-E6D8-28E832BE1B74}"/>
              </a:ext>
            </a:extLst>
          </p:cNvPr>
          <p:cNvSpPr/>
          <p:nvPr/>
        </p:nvSpPr>
        <p:spPr>
          <a:xfrm>
            <a:off x="3336090" y="6032261"/>
            <a:ext cx="1418150" cy="3370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시대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인력 재편과 </a:t>
            </a:r>
            <a:endParaRPr lang="en-US" altLang="ko-KR" sz="800" kern="0" spc="-1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 변화 전망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7F612CC-678E-75BA-4042-BD5CB8687C71}"/>
              </a:ext>
            </a:extLst>
          </p:cNvPr>
          <p:cNvSpPr/>
          <p:nvPr/>
        </p:nvSpPr>
        <p:spPr>
          <a:xfrm>
            <a:off x="4908573" y="6032261"/>
            <a:ext cx="1418150" cy="337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글로벌 인증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규격 변화 실시간</a:t>
            </a:r>
            <a:endParaRPr lang="en-US" altLang="ko-KR" sz="800" kern="0" spc="-1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추적과 대응 방법론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4D356AE-7CF3-A0C0-9BCB-48A8F90A4725}"/>
              </a:ext>
            </a:extLst>
          </p:cNvPr>
          <p:cNvSpPr/>
          <p:nvPr/>
        </p:nvSpPr>
        <p:spPr>
          <a:xfrm>
            <a:off x="6492009" y="6032261"/>
            <a:ext cx="1418150" cy="337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친환경</a:t>
            </a:r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·AX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산업전환 우수기업 사례 세미나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63AC0D1-EF81-A3FE-7CF7-19FDBD811741}"/>
              </a:ext>
            </a:extLst>
          </p:cNvPr>
          <p:cNvSpPr/>
          <p:nvPr/>
        </p:nvSpPr>
        <p:spPr>
          <a:xfrm>
            <a:off x="8075464" y="6032261"/>
            <a:ext cx="1418150" cy="337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2030 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이후 </a:t>
            </a:r>
            <a:r>
              <a:rPr lang="ko-KR" altLang="en-US" sz="800" kern="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바이오화학</a:t>
            </a:r>
            <a:r>
              <a:rPr lang="ko-KR" altLang="en-US" sz="800" kern="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산업전환 시나리오와 인재 전략</a:t>
            </a:r>
          </a:p>
        </p:txBody>
      </p:sp>
    </p:spTree>
    <p:extLst>
      <p:ext uri="{BB962C8B-B14F-4D97-AF65-F5344CB8AC3E}">
        <p14:creationId xmlns:p14="http://schemas.microsoft.com/office/powerpoint/2010/main" val="1492839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5935-A7EA-429D-5686-DEE519B0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68F701E5-277B-004A-D46A-73565B1F5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8"/>
          <a:stretch>
            <a:fillRect/>
          </a:stretch>
        </p:blipFill>
        <p:spPr>
          <a:xfrm>
            <a:off x="3528907" y="1936749"/>
            <a:ext cx="6048720" cy="447992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6225E1-F162-FFB2-4504-14BFDBD1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23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E703641E-02F8-948B-75A9-FE6237B714C8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기존 </a:t>
            </a:r>
            <a:r>
              <a:rPr lang="ko-KR" altLang="en-US" sz="17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 설계 방향을 기반으로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➀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수준체계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➁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분류체계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➂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교육과정 유형에 대한 기준을 재설계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하여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AI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를 반영한 </a:t>
            </a:r>
            <a:r>
              <a:rPr lang="ko-KR" altLang="en-US" sz="1700" spc="-50" dirty="0" err="1">
                <a:latin typeface="페이퍼로지 4 Regular" pitchFamily="2" charset="-127"/>
                <a:ea typeface="페이퍼로지 4 Regular" pitchFamily="2" charset="-127"/>
              </a:rPr>
              <a:t>교육로드맵을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 도출함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4C70059-EDA8-180C-6602-9E743A527E99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5523EF6E-8E53-A8D0-FED9-7EEC4AD17119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반영 </a:t>
            </a:r>
            <a:r>
              <a:rPr lang="ko-KR" altLang="en-US" sz="16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 재설계안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예시</a:t>
            </a:r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6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46E7CA-DE23-A7C6-1F40-48348EF16BFF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75C37A-9C27-DF35-1951-B94AD5FAD89E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defRPr/>
            </a:pP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</a:t>
            </a:r>
            <a:r>
              <a:rPr lang="ko-KR" altLang="en-US" sz="1400" spc="-50" dirty="0" err="1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및 과정 설계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Step7.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반영 </a:t>
            </a:r>
            <a:r>
              <a:rPr lang="ko-KR" altLang="en-US" sz="14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재설계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C109ADA-EB6B-7A9A-7C16-395B88594C92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D23DDA29-5751-0D19-4E87-03CE9DA9192E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37A8A-D2BA-90B6-3BEA-B67D19256C09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3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156FE8C-2BEE-CA45-F20F-86C985FA7608}"/>
              </a:ext>
            </a:extLst>
          </p:cNvPr>
          <p:cNvSpPr txBox="1"/>
          <p:nvPr/>
        </p:nvSpPr>
        <p:spPr>
          <a:xfrm>
            <a:off x="344486" y="2188270"/>
            <a:ext cx="3062501" cy="144162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36000" tIns="36000" rIns="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>
              <a:lnSpc>
                <a:spcPct val="110000"/>
              </a:lnSpc>
              <a:spcAft>
                <a:spcPts val="300"/>
              </a:spcAft>
            </a:pP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*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기존 친환경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저탄소 중심 산업전환 단계체계를 유지하되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단계별 요구되는 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전환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수준과 활용 역할을 결합하여 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Lv1~Lv3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수준체계로 재설계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(Lv1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선제대응단계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산업 변화와 위험요인을 조기에 감지하고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AI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기초 이해와 정보탐색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분석을 통해 기술개발 및 사업전환을 준비하는 단계 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(Lv2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전환단계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신사업 추진과 직무 전환이 본격화되는 단계로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AI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직무에 적용하여 업무수행 방식 전환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문제해결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인력 재배치를 지원하는 단계 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(Lv3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정착단계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전환된 산업 구조와 신사업이 안정화되는 단계로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AI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를 활용한 고도화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자동화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성과 창출 및 지속적 운영체계 내재화를 추진하는 단계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18C5D6-0F2E-95AC-4D5E-F7C3F68FDE19}"/>
              </a:ext>
            </a:extLst>
          </p:cNvPr>
          <p:cNvSpPr txBox="1"/>
          <p:nvPr/>
        </p:nvSpPr>
        <p:spPr>
          <a:xfrm>
            <a:off x="344486" y="1936749"/>
            <a:ext cx="3062501" cy="258447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2000" tIns="36000" rIns="3600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lvl="1" defTabSz="914400">
              <a:lnSpc>
                <a:spcPct val="110000"/>
              </a:lnSpc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➀ 수준체계 설계 방향</a:t>
            </a:r>
            <a:endParaRPr lang="en-US" altLang="ko-KR" sz="1000" kern="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333FCB-A55C-3211-6E9E-A4FAC35C1006}"/>
              </a:ext>
            </a:extLst>
          </p:cNvPr>
          <p:cNvSpPr txBox="1"/>
          <p:nvPr/>
        </p:nvSpPr>
        <p:spPr>
          <a:xfrm>
            <a:off x="344486" y="3967430"/>
            <a:ext cx="3062501" cy="108359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>
              <a:lnSpc>
                <a:spcPct val="110000"/>
              </a:lnSpc>
              <a:spcAft>
                <a:spcPts val="300"/>
              </a:spcAft>
            </a:pP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*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기존 과정명을 단순 유지하지 않고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kumimoji="0" lang="ko-KR" altLang="en-US" sz="9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산업군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–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직무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- AI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융합 </a:t>
            </a:r>
            <a:r>
              <a:rPr kumimoji="0" lang="ko-KR" altLang="en-US" sz="9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스킬셋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기준으로 </a:t>
            </a:r>
            <a:r>
              <a:rPr kumimoji="0" lang="ko-KR" altLang="en-US" sz="9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재분류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하여 공통기반과 산업특화 과정이 연계되도록 구조화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산업특화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0" lang="ko-KR" altLang="en-US" sz="8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바이오플라스틱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플라스틱 재활용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의료기기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화장품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정밀화학 등 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실무공통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환경경영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ESG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경영 등 공통 직무영역</a:t>
            </a:r>
            <a:endParaRPr kumimoji="0" lang="en-US" altLang="ko-KR" sz="80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(AI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공통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전 직무 공통 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기초역량 </a:t>
            </a:r>
          </a:p>
          <a:p>
            <a:pPr marL="171450" indent="-825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인사이트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)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최신 </a:t>
            </a:r>
            <a:r>
              <a:rPr kumimoji="0" lang="ko-KR" altLang="en-US" sz="8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화학바이오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분야 트렌드 및 기술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환경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동향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29427B-541F-75A7-CCDA-CB247D642B3D}"/>
              </a:ext>
            </a:extLst>
          </p:cNvPr>
          <p:cNvSpPr txBox="1"/>
          <p:nvPr/>
        </p:nvSpPr>
        <p:spPr>
          <a:xfrm>
            <a:off x="344486" y="3722837"/>
            <a:ext cx="3062501" cy="258447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2000" tIns="36000" rIns="3600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lvl="1" defTabSz="914400">
              <a:lnSpc>
                <a:spcPct val="110000"/>
              </a:lnSpc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➁ 분류체계 설계 방향</a:t>
            </a:r>
            <a:endParaRPr lang="en-US" altLang="ko-KR" sz="1000" kern="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597EDA-07EA-49CA-FC6F-A94ED0A6CFBC}"/>
              </a:ext>
            </a:extLst>
          </p:cNvPr>
          <p:cNvSpPr txBox="1"/>
          <p:nvPr/>
        </p:nvSpPr>
        <p:spPr>
          <a:xfrm>
            <a:off x="344486" y="5402414"/>
            <a:ext cx="3062501" cy="101426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>
              <a:lnSpc>
                <a:spcPct val="110000"/>
              </a:lnSpc>
              <a:spcAft>
                <a:spcPts val="100"/>
              </a:spcAft>
            </a:pP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*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모든 과정을 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융합으로 전환하는 것이 아니라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, AI 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적용 가능성과 현업 활용성을 기준으로 기존 유지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kumimoji="0" lang="ko-KR" altLang="en-US" sz="9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업스킬링</a:t>
            </a:r>
            <a:r>
              <a:rPr kumimoji="0" lang="en-US" altLang="ko-KR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kumimoji="0" lang="ko-KR" altLang="en-US" sz="90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리스킬링</a:t>
            </a:r>
            <a:r>
              <a:rPr kumimoji="0" lang="ko-KR" altLang="en-US" sz="9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과정으로 구분하여 재설계</a:t>
            </a:r>
          </a:p>
          <a:p>
            <a:pPr marL="171450" indent="-825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ko-KR" altLang="en-US" sz="800" dirty="0" err="1">
                <a:ln>
                  <a:noFill/>
                </a:ln>
                <a:solidFill>
                  <a:srgbClr val="65944D"/>
                </a:solidFill>
                <a:latin typeface="페이퍼로지 4 Regular" pitchFamily="2" charset="-127"/>
                <a:ea typeface="페이퍼로지 4 Regular" pitchFamily="2" charset="-127"/>
              </a:rPr>
              <a:t>업스킬링</a:t>
            </a:r>
            <a:r>
              <a:rPr kumimoji="0" lang="ko-KR" altLang="en-US" sz="800" dirty="0">
                <a:ln>
                  <a:noFill/>
                </a:ln>
                <a:solidFill>
                  <a:srgbClr val="65944D"/>
                </a:solidFill>
                <a:latin typeface="페이퍼로지 4 Regular" pitchFamily="2" charset="-127"/>
                <a:ea typeface="페이퍼로지 4 Regular" pitchFamily="2" charset="-127"/>
              </a:rPr>
              <a:t> 과정 </a:t>
            </a:r>
            <a:r>
              <a:rPr kumimoji="0" lang="en-US" altLang="ko-KR" sz="800" dirty="0">
                <a:ln>
                  <a:noFill/>
                </a:ln>
                <a:solidFill>
                  <a:srgbClr val="65944D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기존 과정을 유지하면서 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활용으로 업무수행 수준을 고도화 하는 과정 </a:t>
            </a:r>
          </a:p>
          <a:p>
            <a:pPr marL="171450" indent="-825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ko-KR" altLang="en-US" sz="800" dirty="0" err="1">
                <a:ln>
                  <a:noFill/>
                </a:ln>
                <a:solidFill>
                  <a:srgbClr val="D27202"/>
                </a:solidFill>
                <a:latin typeface="페이퍼로지 4 Regular" pitchFamily="2" charset="-127"/>
                <a:ea typeface="페이퍼로지 4 Regular" pitchFamily="2" charset="-127"/>
              </a:rPr>
              <a:t>리스킬링</a:t>
            </a:r>
            <a:r>
              <a:rPr kumimoji="0" lang="ko-KR" altLang="en-US" sz="800" dirty="0">
                <a:ln>
                  <a:noFill/>
                </a:ln>
                <a:solidFill>
                  <a:srgbClr val="D27202"/>
                </a:solidFill>
                <a:latin typeface="페이퍼로지 4 Regular" pitchFamily="2" charset="-127"/>
                <a:ea typeface="페이퍼로지 4 Regular" pitchFamily="2" charset="-127"/>
              </a:rPr>
              <a:t> 과정</a:t>
            </a:r>
            <a:r>
              <a:rPr kumimoji="0" lang="en-US" altLang="ko-KR" sz="800" dirty="0">
                <a:ln>
                  <a:noFill/>
                </a:ln>
                <a:solidFill>
                  <a:srgbClr val="D27202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kumimoji="0" lang="en-US" altLang="ko-KR" sz="800" dirty="0">
                <a:ln>
                  <a:noFill/>
                </a:ln>
                <a:solidFill>
                  <a:srgbClr val="65944D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새로운 </a:t>
            </a:r>
            <a:r>
              <a:rPr kumimoji="0" lang="en-US" altLang="ko-KR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kumimoji="0" lang="ko-KR" altLang="en-US" sz="8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기반 업무수행 방식으로 전환하거나 신규 역할을 요구하는 과정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98CA55-013B-61D4-A5A6-66A0DD0EBC90}"/>
              </a:ext>
            </a:extLst>
          </p:cNvPr>
          <p:cNvSpPr txBox="1"/>
          <p:nvPr/>
        </p:nvSpPr>
        <p:spPr>
          <a:xfrm>
            <a:off x="344486" y="5143966"/>
            <a:ext cx="3062501" cy="258447"/>
          </a:xfrm>
          <a:prstGeom prst="rect">
            <a:avLst/>
          </a:prstGeom>
          <a:solidFill>
            <a:srgbClr val="395D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2000" tIns="36000" rIns="36000" bIns="36000" rtlCol="0" anchor="ctr"/>
          <a:lstStyle>
            <a:defPPr>
              <a:defRPr lang="en-US"/>
            </a:defPPr>
            <a:lvl1pPr fontAlgn="base">
              <a:lnSpc>
                <a:spcPct val="150000"/>
              </a:lnSpc>
              <a:spcBef>
                <a:spcPct val="0"/>
              </a:spcBef>
              <a:buSzPct val="80000"/>
              <a:defRPr kumimoji="1" sz="1100" kern="0" spc="-5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lvl="1" defTabSz="914400">
              <a:lnSpc>
                <a:spcPct val="110000"/>
              </a:lnSpc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➂ 교육과정 유형 설계 방향</a:t>
            </a:r>
            <a:endParaRPr lang="en-US" altLang="ko-KR" sz="1000" kern="0" spc="-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44112E9-1B6E-E6D7-91FB-0FA52C7E2DA9}"/>
              </a:ext>
            </a:extLst>
          </p:cNvPr>
          <p:cNvSpPr/>
          <p:nvPr/>
        </p:nvSpPr>
        <p:spPr>
          <a:xfrm>
            <a:off x="3528907" y="1938117"/>
            <a:ext cx="6032606" cy="500305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7C43BC6-715C-A785-8A62-183D093D90C5}"/>
              </a:ext>
            </a:extLst>
          </p:cNvPr>
          <p:cNvSpPr/>
          <p:nvPr/>
        </p:nvSpPr>
        <p:spPr>
          <a:xfrm>
            <a:off x="3528906" y="2499778"/>
            <a:ext cx="921173" cy="3846836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7E9D898-764F-B6B9-9D14-9CCB1CB7F82A}"/>
              </a:ext>
            </a:extLst>
          </p:cNvPr>
          <p:cNvCxnSpPr>
            <a:cxnSpLocks/>
            <a:stCxn id="73" idx="3"/>
            <a:endCxn id="77" idx="1"/>
          </p:cNvCxnSpPr>
          <p:nvPr/>
        </p:nvCxnSpPr>
        <p:spPr>
          <a:xfrm>
            <a:off x="3406987" y="2065973"/>
            <a:ext cx="121920" cy="12229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067812BE-F95B-DCE8-6395-8C667B430121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>
            <a:off x="3406987" y="3852061"/>
            <a:ext cx="121919" cy="57113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CED7C2-9820-0383-0679-EA233C7136A1}"/>
              </a:ext>
            </a:extLst>
          </p:cNvPr>
          <p:cNvGrpSpPr/>
          <p:nvPr/>
        </p:nvGrpSpPr>
        <p:grpSpPr>
          <a:xfrm>
            <a:off x="7315200" y="1684814"/>
            <a:ext cx="2246313" cy="142982"/>
            <a:chOff x="7826057" y="1928914"/>
            <a:chExt cx="1735456" cy="134804"/>
          </a:xfrm>
        </p:grpSpPr>
        <p:sp>
          <p:nvSpPr>
            <p:cNvPr id="8" name="사각형: 둥근 모서리 13">
              <a:extLst>
                <a:ext uri="{FF2B5EF4-FFF2-40B4-BE49-F238E27FC236}">
                  <a16:creationId xmlns:a16="http://schemas.microsoft.com/office/drawing/2014/main" id="{20C42C87-5D51-96BE-662E-4EE9DDD347CB}"/>
                </a:ext>
              </a:extLst>
            </p:cNvPr>
            <p:cNvSpPr/>
            <p:nvPr/>
          </p:nvSpPr>
          <p:spPr>
            <a:xfrm>
              <a:off x="8732747" y="1934505"/>
              <a:ext cx="828766" cy="129213"/>
            </a:xfrm>
            <a:prstGeom prst="rect">
              <a:avLst/>
            </a:prstGeom>
            <a:solidFill>
              <a:srgbClr val="FDF1DE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kern="0" spc="-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리스킬링</a:t>
              </a:r>
              <a:r>
                <a:rPr lang="ko-KR" altLang="en-US" sz="900" kern="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과정</a:t>
              </a:r>
            </a:p>
          </p:txBody>
        </p:sp>
        <p:sp>
          <p:nvSpPr>
            <p:cNvPr id="12" name="사각형: 둥근 모서리 14">
              <a:extLst>
                <a:ext uri="{FF2B5EF4-FFF2-40B4-BE49-F238E27FC236}">
                  <a16:creationId xmlns:a16="http://schemas.microsoft.com/office/drawing/2014/main" id="{ABAEA445-8F25-B67C-991D-EEEAD59BE2B7}"/>
                </a:ext>
              </a:extLst>
            </p:cNvPr>
            <p:cNvSpPr/>
            <p:nvPr/>
          </p:nvSpPr>
          <p:spPr>
            <a:xfrm>
              <a:off x="7826057" y="1928914"/>
              <a:ext cx="828766" cy="129213"/>
            </a:xfrm>
            <a:prstGeom prst="rect">
              <a:avLst/>
            </a:prstGeom>
            <a:solidFill>
              <a:srgbClr val="EAF4E4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kern="0" spc="-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업스킬링</a:t>
              </a:r>
              <a:r>
                <a:rPr lang="ko-KR" altLang="en-US" sz="900" kern="0" spc="-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과정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272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E78E-BBE0-5AF7-E925-A6A16AAE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이등변 삼각형 13">
            <a:extLst>
              <a:ext uri="{FF2B5EF4-FFF2-40B4-BE49-F238E27FC236}">
                <a16:creationId xmlns:a16="http://schemas.microsoft.com/office/drawing/2014/main" id="{BE81A5CE-1D08-34CF-4DF1-6E934A7B32AF}"/>
              </a:ext>
            </a:extLst>
          </p:cNvPr>
          <p:cNvSpPr/>
          <p:nvPr/>
        </p:nvSpPr>
        <p:spPr>
          <a:xfrm rot="5400000">
            <a:off x="2833682" y="4200980"/>
            <a:ext cx="4248000" cy="250982"/>
          </a:xfrm>
          <a:custGeom>
            <a:avLst/>
            <a:gdLst>
              <a:gd name="csX0" fmla="*/ 0 w 4445647"/>
              <a:gd name="csY0" fmla="*/ 392025 h 392025"/>
              <a:gd name="csX1" fmla="*/ 2238205 w 4445647"/>
              <a:gd name="csY1" fmla="*/ 0 h 392025"/>
              <a:gd name="csX2" fmla="*/ 4445647 w 4445647"/>
              <a:gd name="csY2" fmla="*/ 392025 h 392025"/>
              <a:gd name="csX3" fmla="*/ 0 w 4445647"/>
              <a:gd name="csY3" fmla="*/ 392025 h 392025"/>
              <a:gd name="csX0" fmla="*/ 2651 w 4448298"/>
              <a:gd name="csY0" fmla="*/ 392025 h 392025"/>
              <a:gd name="csX1" fmla="*/ 0 w 4448298"/>
              <a:gd name="csY1" fmla="*/ 386043 h 392025"/>
              <a:gd name="csX2" fmla="*/ 2240856 w 4448298"/>
              <a:gd name="csY2" fmla="*/ 0 h 392025"/>
              <a:gd name="csX3" fmla="*/ 4448298 w 4448298"/>
              <a:gd name="csY3" fmla="*/ 392025 h 392025"/>
              <a:gd name="csX4" fmla="*/ 2651 w 4448298"/>
              <a:gd name="csY4" fmla="*/ 392025 h 392025"/>
              <a:gd name="csX0" fmla="*/ 431279 w 4448298"/>
              <a:gd name="csY0" fmla="*/ 0 h 416720"/>
              <a:gd name="csX1" fmla="*/ 0 w 4448298"/>
              <a:gd name="csY1" fmla="*/ 410738 h 416720"/>
              <a:gd name="csX2" fmla="*/ 2240856 w 4448298"/>
              <a:gd name="csY2" fmla="*/ 24695 h 416720"/>
              <a:gd name="csX3" fmla="*/ 4448298 w 4448298"/>
              <a:gd name="csY3" fmla="*/ 416720 h 416720"/>
              <a:gd name="csX4" fmla="*/ 431279 w 4448298"/>
              <a:gd name="csY4" fmla="*/ 0 h 416720"/>
              <a:gd name="csX0" fmla="*/ 0 w 4017019"/>
              <a:gd name="csY0" fmla="*/ 0 h 416720"/>
              <a:gd name="csX1" fmla="*/ 1287984 w 4017019"/>
              <a:gd name="csY1" fmla="*/ 265482 h 416720"/>
              <a:gd name="csX2" fmla="*/ 1809577 w 4017019"/>
              <a:gd name="csY2" fmla="*/ 24695 h 416720"/>
              <a:gd name="csX3" fmla="*/ 4017019 w 4017019"/>
              <a:gd name="csY3" fmla="*/ 416720 h 416720"/>
              <a:gd name="csX4" fmla="*/ 0 w 4017019"/>
              <a:gd name="csY4" fmla="*/ 0 h 416720"/>
              <a:gd name="csX0" fmla="*/ 0 w 4017019"/>
              <a:gd name="csY0" fmla="*/ 0 h 416720"/>
              <a:gd name="csX1" fmla="*/ 1287984 w 4017019"/>
              <a:gd name="csY1" fmla="*/ 265482 h 416720"/>
              <a:gd name="csX2" fmla="*/ 1814343 w 4017019"/>
              <a:gd name="csY2" fmla="*/ 289014 h 416720"/>
              <a:gd name="csX3" fmla="*/ 4017019 w 4017019"/>
              <a:gd name="csY3" fmla="*/ 416720 h 416720"/>
              <a:gd name="csX4" fmla="*/ 0 w 4017019"/>
              <a:gd name="csY4" fmla="*/ 0 h 416720"/>
              <a:gd name="csX0" fmla="*/ 0 w 4093221"/>
              <a:gd name="csY0" fmla="*/ 7143 h 296157"/>
              <a:gd name="csX1" fmla="*/ 1287984 w 4093221"/>
              <a:gd name="csY1" fmla="*/ 272625 h 296157"/>
              <a:gd name="csX2" fmla="*/ 1814343 w 4093221"/>
              <a:gd name="csY2" fmla="*/ 296157 h 296157"/>
              <a:gd name="csX3" fmla="*/ 4093221 w 4093221"/>
              <a:gd name="csY3" fmla="*/ 0 h 296157"/>
              <a:gd name="csX4" fmla="*/ 0 w 4093221"/>
              <a:gd name="csY4" fmla="*/ 7143 h 296157"/>
              <a:gd name="csX0" fmla="*/ 0 w 4093221"/>
              <a:gd name="csY0" fmla="*/ 7143 h 296157"/>
              <a:gd name="csX1" fmla="*/ 1278459 w 4093221"/>
              <a:gd name="csY1" fmla="*/ 289293 h 296157"/>
              <a:gd name="csX2" fmla="*/ 1814343 w 4093221"/>
              <a:gd name="csY2" fmla="*/ 296157 h 296157"/>
              <a:gd name="csX3" fmla="*/ 4093221 w 4093221"/>
              <a:gd name="csY3" fmla="*/ 0 h 296157"/>
              <a:gd name="csX4" fmla="*/ 0 w 4093221"/>
              <a:gd name="csY4" fmla="*/ 7143 h 296157"/>
              <a:gd name="csX0" fmla="*/ 0 w 4093221"/>
              <a:gd name="csY0" fmla="*/ 0 h 296158"/>
              <a:gd name="csX1" fmla="*/ 1278459 w 4093221"/>
              <a:gd name="csY1" fmla="*/ 289294 h 296158"/>
              <a:gd name="csX2" fmla="*/ 1814343 w 4093221"/>
              <a:gd name="csY2" fmla="*/ 296158 h 296158"/>
              <a:gd name="csX3" fmla="*/ 4093221 w 4093221"/>
              <a:gd name="csY3" fmla="*/ 1 h 296158"/>
              <a:gd name="csX4" fmla="*/ 0 w 4093221"/>
              <a:gd name="csY4" fmla="*/ 0 h 296158"/>
              <a:gd name="csX0" fmla="*/ 0 w 4093218"/>
              <a:gd name="csY0" fmla="*/ 11905 h 296157"/>
              <a:gd name="csX1" fmla="*/ 1278456 w 4093218"/>
              <a:gd name="csY1" fmla="*/ 289293 h 296157"/>
              <a:gd name="csX2" fmla="*/ 1814340 w 4093218"/>
              <a:gd name="csY2" fmla="*/ 296157 h 296157"/>
              <a:gd name="csX3" fmla="*/ 4093218 w 4093218"/>
              <a:gd name="csY3" fmla="*/ 0 h 296157"/>
              <a:gd name="csX4" fmla="*/ 0 w 4093218"/>
              <a:gd name="csY4" fmla="*/ 11905 h 296157"/>
              <a:gd name="csX0" fmla="*/ 0 w 4093215"/>
              <a:gd name="csY0" fmla="*/ 2380 h 296157"/>
              <a:gd name="csX1" fmla="*/ 1278453 w 4093215"/>
              <a:gd name="csY1" fmla="*/ 289293 h 296157"/>
              <a:gd name="csX2" fmla="*/ 1814337 w 4093215"/>
              <a:gd name="csY2" fmla="*/ 296157 h 296157"/>
              <a:gd name="csX3" fmla="*/ 4093215 w 4093215"/>
              <a:gd name="csY3" fmla="*/ 0 h 296157"/>
              <a:gd name="csX4" fmla="*/ 0 w 4093215"/>
              <a:gd name="csY4" fmla="*/ 2380 h 296157"/>
              <a:gd name="csX0" fmla="*/ 0 w 4097978"/>
              <a:gd name="csY0" fmla="*/ 9523 h 296157"/>
              <a:gd name="csX1" fmla="*/ 1283216 w 4097978"/>
              <a:gd name="csY1" fmla="*/ 289293 h 296157"/>
              <a:gd name="csX2" fmla="*/ 1819100 w 4097978"/>
              <a:gd name="csY2" fmla="*/ 296157 h 296157"/>
              <a:gd name="csX3" fmla="*/ 4097978 w 4097978"/>
              <a:gd name="csY3" fmla="*/ 0 h 296157"/>
              <a:gd name="csX4" fmla="*/ 0 w 4097978"/>
              <a:gd name="csY4" fmla="*/ 9523 h 296157"/>
              <a:gd name="csX0" fmla="*/ 0 w 4093213"/>
              <a:gd name="csY0" fmla="*/ 4761 h 296157"/>
              <a:gd name="csX1" fmla="*/ 1278451 w 4093213"/>
              <a:gd name="csY1" fmla="*/ 289293 h 296157"/>
              <a:gd name="csX2" fmla="*/ 1814335 w 4093213"/>
              <a:gd name="csY2" fmla="*/ 296157 h 296157"/>
              <a:gd name="csX3" fmla="*/ 4093213 w 4093213"/>
              <a:gd name="csY3" fmla="*/ 0 h 296157"/>
              <a:gd name="csX4" fmla="*/ 0 w 4093213"/>
              <a:gd name="csY4" fmla="*/ 4761 h 296157"/>
              <a:gd name="csX0" fmla="*/ 0 w 4096388"/>
              <a:gd name="csY0" fmla="*/ 0 h 291396"/>
              <a:gd name="csX1" fmla="*/ 1278451 w 4096388"/>
              <a:gd name="csY1" fmla="*/ 284532 h 291396"/>
              <a:gd name="csX2" fmla="*/ 1814335 w 4096388"/>
              <a:gd name="csY2" fmla="*/ 291396 h 291396"/>
              <a:gd name="csX3" fmla="*/ 4096388 w 4096388"/>
              <a:gd name="csY3" fmla="*/ 11114 h 291396"/>
              <a:gd name="csX4" fmla="*/ 0 w 4096388"/>
              <a:gd name="csY4" fmla="*/ 0 h 291396"/>
              <a:gd name="csX0" fmla="*/ 0 w 4093213"/>
              <a:gd name="csY0" fmla="*/ 0 h 291396"/>
              <a:gd name="csX1" fmla="*/ 1278451 w 4093213"/>
              <a:gd name="csY1" fmla="*/ 284532 h 291396"/>
              <a:gd name="csX2" fmla="*/ 1814335 w 4093213"/>
              <a:gd name="csY2" fmla="*/ 291396 h 291396"/>
              <a:gd name="csX3" fmla="*/ 4093213 w 4093213"/>
              <a:gd name="csY3" fmla="*/ 1589 h 291396"/>
              <a:gd name="csX4" fmla="*/ 0 w 4093213"/>
              <a:gd name="csY4" fmla="*/ 0 h 291396"/>
              <a:gd name="csX0" fmla="*/ 0 w 4093213"/>
              <a:gd name="csY0" fmla="*/ 0 h 284532"/>
              <a:gd name="csX1" fmla="*/ 1278451 w 4093213"/>
              <a:gd name="csY1" fmla="*/ 284532 h 284532"/>
              <a:gd name="csX2" fmla="*/ 2617612 w 4093213"/>
              <a:gd name="csY2" fmla="*/ 278696 h 284532"/>
              <a:gd name="csX3" fmla="*/ 4093213 w 4093213"/>
              <a:gd name="csY3" fmla="*/ 1589 h 284532"/>
              <a:gd name="csX4" fmla="*/ 0 w 4093213"/>
              <a:gd name="csY4" fmla="*/ 0 h 284532"/>
              <a:gd name="csX0" fmla="*/ 0 w 4093213"/>
              <a:gd name="csY0" fmla="*/ 0 h 278696"/>
              <a:gd name="csX1" fmla="*/ 2345253 w 4093213"/>
              <a:gd name="csY1" fmla="*/ 275007 h 278696"/>
              <a:gd name="csX2" fmla="*/ 2617612 w 4093213"/>
              <a:gd name="csY2" fmla="*/ 278696 h 278696"/>
              <a:gd name="csX3" fmla="*/ 4093213 w 4093213"/>
              <a:gd name="csY3" fmla="*/ 1589 h 278696"/>
              <a:gd name="csX4" fmla="*/ 0 w 4093213"/>
              <a:gd name="csY4" fmla="*/ 0 h 278696"/>
              <a:gd name="csX0" fmla="*/ 0 w 4093213"/>
              <a:gd name="csY0" fmla="*/ 0 h 278696"/>
              <a:gd name="csX1" fmla="*/ 2416416 w 4093213"/>
              <a:gd name="csY1" fmla="*/ 270244 h 278696"/>
              <a:gd name="csX2" fmla="*/ 2617612 w 4093213"/>
              <a:gd name="csY2" fmla="*/ 278696 h 278696"/>
              <a:gd name="csX3" fmla="*/ 4093213 w 4093213"/>
              <a:gd name="csY3" fmla="*/ 1589 h 278696"/>
              <a:gd name="csX4" fmla="*/ 0 w 4093213"/>
              <a:gd name="csY4" fmla="*/ 0 h 278696"/>
              <a:gd name="csX0" fmla="*/ 0 w 4093213"/>
              <a:gd name="csY0" fmla="*/ 0 h 270244"/>
              <a:gd name="csX1" fmla="*/ 2416416 w 4093213"/>
              <a:gd name="csY1" fmla="*/ 270244 h 270244"/>
              <a:gd name="csX2" fmla="*/ 2686481 w 4093213"/>
              <a:gd name="csY2" fmla="*/ 266790 h 270244"/>
              <a:gd name="csX3" fmla="*/ 4093213 w 4093213"/>
              <a:gd name="csY3" fmla="*/ 1589 h 270244"/>
              <a:gd name="csX4" fmla="*/ 0 w 4093213"/>
              <a:gd name="csY4" fmla="*/ 0 h 270244"/>
              <a:gd name="csX0" fmla="*/ 0 w 4093213"/>
              <a:gd name="csY0" fmla="*/ 0 h 266790"/>
              <a:gd name="csX1" fmla="*/ 2416416 w 4093213"/>
              <a:gd name="csY1" fmla="*/ 234493 h 266790"/>
              <a:gd name="csX2" fmla="*/ 2686481 w 4093213"/>
              <a:gd name="csY2" fmla="*/ 266790 h 266790"/>
              <a:gd name="csX3" fmla="*/ 4093213 w 4093213"/>
              <a:gd name="csY3" fmla="*/ 1589 h 266790"/>
              <a:gd name="csX4" fmla="*/ 0 w 4093213"/>
              <a:gd name="csY4" fmla="*/ 0 h 266790"/>
              <a:gd name="csX0" fmla="*/ 0 w 4093213"/>
              <a:gd name="csY0" fmla="*/ 0 h 266790"/>
              <a:gd name="csX1" fmla="*/ 2375118 w 4093213"/>
              <a:gd name="csY1" fmla="*/ 212148 h 266790"/>
              <a:gd name="csX2" fmla="*/ 2686481 w 4093213"/>
              <a:gd name="csY2" fmla="*/ 266790 h 266790"/>
              <a:gd name="csX3" fmla="*/ 4093213 w 4093213"/>
              <a:gd name="csY3" fmla="*/ 1589 h 266790"/>
              <a:gd name="csX4" fmla="*/ 0 w 4093213"/>
              <a:gd name="csY4" fmla="*/ 0 h 266790"/>
              <a:gd name="csX0" fmla="*/ 0 w 4093213"/>
              <a:gd name="csY0" fmla="*/ 0 h 222101"/>
              <a:gd name="csX1" fmla="*/ 2375118 w 4093213"/>
              <a:gd name="csY1" fmla="*/ 212148 h 222101"/>
              <a:gd name="csX2" fmla="*/ 2695662 w 4093213"/>
              <a:gd name="csY2" fmla="*/ 222101 h 222101"/>
              <a:gd name="csX3" fmla="*/ 4093213 w 4093213"/>
              <a:gd name="csY3" fmla="*/ 1589 h 222101"/>
              <a:gd name="csX4" fmla="*/ 0 w 4093213"/>
              <a:gd name="csY4" fmla="*/ 0 h 222101"/>
              <a:gd name="csX0" fmla="*/ 0 w 4093213"/>
              <a:gd name="csY0" fmla="*/ 0 h 234492"/>
              <a:gd name="csX1" fmla="*/ 2375118 w 4093213"/>
              <a:gd name="csY1" fmla="*/ 234492 h 234492"/>
              <a:gd name="csX2" fmla="*/ 2695662 w 4093213"/>
              <a:gd name="csY2" fmla="*/ 222101 h 234492"/>
              <a:gd name="csX3" fmla="*/ 4093213 w 4093213"/>
              <a:gd name="csY3" fmla="*/ 1589 h 234492"/>
              <a:gd name="csX4" fmla="*/ 0 w 4093213"/>
              <a:gd name="csY4" fmla="*/ 0 h 234492"/>
              <a:gd name="csX0" fmla="*/ 0 w 4093213"/>
              <a:gd name="csY0" fmla="*/ 0 h 235508"/>
              <a:gd name="csX1" fmla="*/ 2375118 w 4093213"/>
              <a:gd name="csY1" fmla="*/ 234492 h 235508"/>
              <a:gd name="csX2" fmla="*/ 2681898 w 4093213"/>
              <a:gd name="csY2" fmla="*/ 235508 h 235508"/>
              <a:gd name="csX3" fmla="*/ 4093213 w 4093213"/>
              <a:gd name="csY3" fmla="*/ 1589 h 235508"/>
              <a:gd name="csX4" fmla="*/ 0 w 4093213"/>
              <a:gd name="csY4" fmla="*/ 0 h 2355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93213" h="235508">
                <a:moveTo>
                  <a:pt x="0" y="0"/>
                </a:moveTo>
                <a:lnTo>
                  <a:pt x="2375118" y="234492"/>
                </a:lnTo>
                <a:lnTo>
                  <a:pt x="2681898" y="235508"/>
                </a:lnTo>
                <a:lnTo>
                  <a:pt x="4093213" y="158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6000">
                <a:schemeClr val="bg1">
                  <a:lumMod val="85000"/>
                  <a:alpha val="0"/>
                </a:schemeClr>
              </a:gs>
              <a:gs pos="7000">
                <a:schemeClr val="bg1">
                  <a:lumMod val="75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954610-FE09-99DF-76EA-8B227FE5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24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CCB1F6AC-7531-C762-6DB8-5E7FB5023BF2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마스터플랜 및 </a:t>
            </a:r>
            <a:r>
              <a:rPr lang="ko-KR" altLang="en-US" sz="1700" spc="-50" dirty="0" err="1">
                <a:latin typeface="페이퍼로지 4 Regular" pitchFamily="2" charset="-127"/>
                <a:ea typeface="페이퍼로지 4 Regular" pitchFamily="2" charset="-127"/>
              </a:rPr>
              <a:t>교육로드맵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 재설계 결과를 바탕으로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26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년 개편 가능한 교육과정을 도출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하고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세부 커리큘럼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700" spc="-50" dirty="0" err="1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과정명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목표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교과목 및 주요 내용 등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을 재설계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328488-8E5E-8C22-5CC6-893B033628F3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04A661A9-409D-C537-7739-F27A16C906FF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반영 교육과정 재설계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25C3B5-3003-7716-67C3-D2DA628E3756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7531D8-E889-08EB-CD15-EE43DE55EF79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defRPr/>
            </a:pP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</a:t>
            </a:r>
            <a:r>
              <a:rPr lang="ko-KR" altLang="en-US" sz="1400" spc="-50" dirty="0" err="1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및 과정 설계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Step8. AI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반영 교육과정 재설계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AD263A-6F4C-F6BB-FE1B-04FA970A2C87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17DFE018-56F4-084E-ABA8-9905886BD70D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D8BAB0-17EF-1514-A3EB-6DC1EBD03FEC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3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A4367BF-2FBD-39DB-92FB-A43B4BCF3F7B}"/>
              </a:ext>
            </a:extLst>
          </p:cNvPr>
          <p:cNvGraphicFramePr>
            <a:graphicFrameLocks noGrp="1"/>
          </p:cNvGraphicFramePr>
          <p:nvPr/>
        </p:nvGraphicFramePr>
        <p:xfrm>
          <a:off x="344487" y="2194843"/>
          <a:ext cx="2089431" cy="422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9431">
                  <a:extLst>
                    <a:ext uri="{9D8B030D-6E8A-4147-A177-3AD203B41FA5}">
                      <a16:colId xmlns:a16="http://schemas.microsoft.com/office/drawing/2014/main" val="4092650194"/>
                    </a:ext>
                  </a:extLst>
                </a:gridCol>
              </a:tblGrid>
              <a:tr h="1459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baseline="0" dirty="0">
                          <a:solidFill>
                            <a:sysClr val="windowText" lastClr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As-Is</a:t>
                      </a:r>
                      <a:r>
                        <a:rPr lang="en-US" altLang="ko-KR" sz="800" spc="-50" baseline="0" dirty="0">
                          <a:solidFill>
                            <a:srgbClr val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endParaRPr lang="ko-KR" altLang="en-US" sz="800" spc="-50" baseline="0" dirty="0">
                        <a:solidFill>
                          <a:srgbClr val="00000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151070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 제품화 기본 전략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31132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경영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589378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R&amp;D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관리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23528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화장품 브랜딩 기본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42600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플라스틱 재활용 산업 및 인증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51471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바이오화학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LCA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기본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388490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화학산업 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Scope 3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배출량 산정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78757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화학물질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화학제품 규제대응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2446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기술 및 인증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70134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클린뷰티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화장품 안정성 평가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18845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클린화장품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특화 탄소발자국 보고서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645476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바이오플라스틱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엘라스토머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제품 분석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83547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경영 데이터관리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50612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생분해성 수지 제품 시험 인증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031064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환경규제물질 규제대응을 위한 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ICP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활용 무기분석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182006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 플라스틱 사출성형 이해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789292"/>
                  </a:ext>
                </a:extLst>
              </a:tr>
              <a:tr h="288031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소재를 활용한 의료기기 인증과 기술문서 작성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00473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의료기기 사이버보안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397749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기업 </a:t>
                      </a: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저탄소경영을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위한 친환경제도 이해하기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762948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그린워싱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 규제 동향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486363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제품 에코디자인 규정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15430"/>
                  </a:ext>
                </a:extLst>
              </a:tr>
              <a:tr h="288031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순환 경제와 폐플라스틱 재생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: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최신 동향과 첨단 분리기술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284889"/>
                  </a:ext>
                </a:extLst>
              </a:tr>
              <a:tr h="288031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재활용 및 </a:t>
                      </a:r>
                      <a:r>
                        <a:rPr lang="ko-KR" altLang="en-US" sz="800" u="none" strike="noStrike" spc="-50" baseline="0" dirty="0" err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생분해</a:t>
                      </a:r>
                      <a:r>
                        <a:rPr lang="en-US" altLang="ko-KR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바이오 플라스틱 제품의 스마트 생산관리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624119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지속가능 패키징 트렌드와 대응 전략 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45995"/>
                  </a:ext>
                </a:extLst>
              </a:tr>
              <a:tr h="145989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화학 산업의 디지털 전환 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25852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DF71726-B788-8BB9-7FF3-B98C25C77A66}"/>
              </a:ext>
            </a:extLst>
          </p:cNvPr>
          <p:cNvGraphicFramePr>
            <a:graphicFrameLocks noGrp="1"/>
          </p:cNvGraphicFramePr>
          <p:nvPr/>
        </p:nvGraphicFramePr>
        <p:xfrm>
          <a:off x="2719106" y="2194844"/>
          <a:ext cx="2089431" cy="42142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9431">
                  <a:extLst>
                    <a:ext uri="{9D8B030D-6E8A-4147-A177-3AD203B41FA5}">
                      <a16:colId xmlns:a16="http://schemas.microsoft.com/office/drawing/2014/main" val="4092650194"/>
                    </a:ext>
                  </a:extLst>
                </a:gridCol>
              </a:tblGrid>
              <a:tr h="145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To-be</a:t>
                      </a:r>
                      <a:endParaRPr lang="ko-KR" altLang="en-US" sz="800" spc="-50" baseline="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99748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제품화 전략 수립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31132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지속가능 경영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589378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기반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R&amp;D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 관리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23528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친환경 화장품 브랜딩 전략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42600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플라스틱 재활용 산업 및 인증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51471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LCA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분석 및 보고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388490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기반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Scope 3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배출량 자동 산정 및 분석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78757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화학물질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화학제품 규제대응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2446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화장품 기술 및 인증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70134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클린뷰티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화장품 안정성 평가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18845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클린화장품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특화 탄소발자국 보고서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645476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바이오플라스틱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엘라스토머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제품 분석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83547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관리 및 공시보고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자동화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50612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생분해성 수지 제품 시험 인증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031064"/>
                  </a:ext>
                </a:extLst>
              </a:tr>
              <a:tr h="161311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환경규제물질 규제대응을 위한 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ICP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무기분석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182006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사출성형 이해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789292"/>
                  </a:ext>
                </a:extLst>
              </a:tr>
              <a:tr h="286410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소재를 활용한 의료기기 인증과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스마트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기술문서 작성 실무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00473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의료기기 사이버보안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030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397749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기업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저탄소경영을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위한 친환경제도 이해하기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762948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그린워싱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규제 동향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486363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제품 에코디자인 규정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15430"/>
                  </a:ext>
                </a:extLst>
              </a:tr>
              <a:tr h="286410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순환 경제와 폐플라스틱 재생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: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최신 동향과 첨단 분리기술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284889"/>
                  </a:ext>
                </a:extLst>
              </a:tr>
              <a:tr h="286410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재활용 및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생분해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 플라스틱 제품의 스마트 생산관리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624119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지속가능 패키징 트렌드와 대응 전략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45995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화학 산업의 디지털 전환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25852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2E55FE-0713-9189-4885-1F75EF898EDA}"/>
              </a:ext>
            </a:extLst>
          </p:cNvPr>
          <p:cNvSpPr/>
          <p:nvPr/>
        </p:nvSpPr>
        <p:spPr>
          <a:xfrm>
            <a:off x="344487" y="1925467"/>
            <a:ext cx="1616271" cy="276999"/>
          </a:xfrm>
          <a:prstGeom prst="rect">
            <a:avLst/>
          </a:prstGeom>
        </p:spPr>
        <p:txBody>
          <a:bodyPr wrap="none" lIns="36000">
            <a:spAutoFit/>
          </a:bodyPr>
          <a:lstStyle/>
          <a:p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26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년 커리큘럼 개편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kumimoji="1" lang="ko-KR" altLang="en-US" sz="1200" u="sng" spc="-5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A799B0-170C-3D3D-F40E-C5EC92480D8F}"/>
              </a:ext>
            </a:extLst>
          </p:cNvPr>
          <p:cNvGrpSpPr/>
          <p:nvPr/>
        </p:nvGrpSpPr>
        <p:grpSpPr>
          <a:xfrm>
            <a:off x="2482607" y="2232945"/>
            <a:ext cx="187810" cy="146358"/>
            <a:chOff x="5105285" y="3427386"/>
            <a:chExt cx="251122" cy="195696"/>
          </a:xfrm>
        </p:grpSpPr>
        <p:sp>
          <p:nvSpPr>
            <p:cNvPr id="18" name="갈매기형 수장 40">
              <a:extLst>
                <a:ext uri="{FF2B5EF4-FFF2-40B4-BE49-F238E27FC236}">
                  <a16:creationId xmlns:a16="http://schemas.microsoft.com/office/drawing/2014/main" id="{D1B1C875-52EF-FD65-C1EB-6FED3C3A056C}"/>
                </a:ext>
              </a:extLst>
            </p:cNvPr>
            <p:cNvSpPr/>
            <p:nvPr/>
          </p:nvSpPr>
          <p:spPr>
            <a:xfrm>
              <a:off x="5105285" y="3427386"/>
              <a:ext cx="156805" cy="195696"/>
            </a:xfrm>
            <a:prstGeom prst="chevron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9" name="갈매기형 수장 41">
              <a:extLst>
                <a:ext uri="{FF2B5EF4-FFF2-40B4-BE49-F238E27FC236}">
                  <a16:creationId xmlns:a16="http://schemas.microsoft.com/office/drawing/2014/main" id="{939602D8-02CA-9CA8-FF56-AF71803DA34A}"/>
                </a:ext>
              </a:extLst>
            </p:cNvPr>
            <p:cNvSpPr/>
            <p:nvPr/>
          </p:nvSpPr>
          <p:spPr>
            <a:xfrm>
              <a:off x="5193838" y="3427386"/>
              <a:ext cx="162569" cy="195696"/>
            </a:xfrm>
            <a:prstGeom prst="chevron">
              <a:avLst/>
            </a:prstGeom>
            <a:solidFill>
              <a:srgbClr val="395D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63714C-994A-7392-B3A0-E6CB9859428D}"/>
              </a:ext>
            </a:extLst>
          </p:cNvPr>
          <p:cNvSpPr/>
          <p:nvPr/>
        </p:nvSpPr>
        <p:spPr>
          <a:xfrm>
            <a:off x="5097463" y="1925467"/>
            <a:ext cx="1423911" cy="276999"/>
          </a:xfrm>
          <a:prstGeom prst="rect">
            <a:avLst/>
          </a:prstGeom>
        </p:spPr>
        <p:txBody>
          <a:bodyPr wrap="none" lIns="36000">
            <a:spAutoFit/>
          </a:bodyPr>
          <a:lstStyle/>
          <a:p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교육과정 재설계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kumimoji="1" lang="ko-KR" altLang="en-US" sz="1200" u="sng" spc="-5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2221589-E29F-0925-C4B7-C6B453A6A7AC}"/>
              </a:ext>
            </a:extLst>
          </p:cNvPr>
          <p:cNvGraphicFramePr>
            <a:graphicFrameLocks noGrp="1"/>
          </p:cNvGraphicFramePr>
          <p:nvPr/>
        </p:nvGraphicFramePr>
        <p:xfrm>
          <a:off x="5097464" y="2194844"/>
          <a:ext cx="1967218" cy="4218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864">
                  <a:extLst>
                    <a:ext uri="{9D8B030D-6E8A-4147-A177-3AD203B41FA5}">
                      <a16:colId xmlns:a16="http://schemas.microsoft.com/office/drawing/2014/main" val="4092650194"/>
                    </a:ext>
                  </a:extLst>
                </a:gridCol>
                <a:gridCol w="597721">
                  <a:extLst>
                    <a:ext uri="{9D8B030D-6E8A-4147-A177-3AD203B41FA5}">
                      <a16:colId xmlns:a16="http://schemas.microsoft.com/office/drawing/2014/main" val="1110527988"/>
                    </a:ext>
                  </a:extLst>
                </a:gridCol>
                <a:gridCol w="1043633">
                  <a:extLst>
                    <a:ext uri="{9D8B030D-6E8A-4147-A177-3AD203B41FA5}">
                      <a16:colId xmlns:a16="http://schemas.microsoft.com/office/drawing/2014/main" val="4199169723"/>
                    </a:ext>
                  </a:extLst>
                </a:gridCol>
              </a:tblGrid>
              <a:tr h="13204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ysClr val="windowText" lastClr="00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As-Is</a:t>
                      </a:r>
                      <a:endParaRPr lang="ko-KR" altLang="en-US" sz="800" kern="1200" spc="-50" baseline="0" dirty="0">
                        <a:solidFill>
                          <a:sysClr val="windowText" lastClr="00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1510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과정명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친환경 소재를 활용한 의료기기 인증과 기술문서 작성 실무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331132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및 첨단 </a:t>
                      </a:r>
                      <a:r>
                        <a:rPr lang="ko-KR" altLang="en-US" sz="800" u="none" strike="noStrike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바이오소재를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 적용한 의료기기의 안전성과 유효성을 검증 하는 임상시험 전략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품질 특성 평가와 위험관리 기반 규제 대응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생분해성 소재 및 친환경 포장 기술의 최신 동향과 적용 사례 기반 인증 절차와 기술문서를 체계적으로 작성할 수 있는 역량 배양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589378"/>
                  </a:ext>
                </a:extLst>
              </a:tr>
              <a:tr h="132041">
                <a:tc rowSpan="5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주요 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교과목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교육내용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51471"/>
                  </a:ext>
                </a:extLst>
              </a:tr>
              <a:tr h="52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 의료기기의 임상시험 수행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임상시험 필요성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인허가 단계에서 임상시험의 역할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임상시험 설계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388490"/>
                  </a:ext>
                </a:extLst>
              </a:tr>
              <a:tr h="52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의료기기 친환경 소재 적용 사례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친환경 소재 의료기기 상용화 사례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</a:t>
                      </a: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의료기기 포장재 및 패키징 사례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78757"/>
                  </a:ext>
                </a:extLst>
              </a:tr>
              <a:tr h="52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수출 규제와 인증</a:t>
                      </a: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기술 문서의 이해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한국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미국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유럽의 인허가 제도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유럽의 의료기기 기술 문서 요구사항 이해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2446"/>
                  </a:ext>
                </a:extLst>
              </a:tr>
              <a:tr h="1068618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</a:rPr>
                        <a:t>유럽 의료기기 규제에 따른 기술문서 작성법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 의료기기 법령의 기술문서 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등급 분류 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일반안전 및 성능요구사항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PMS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위험관리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70134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8B28D58-BF36-32C4-E72D-20BEDDC59192}"/>
              </a:ext>
            </a:extLst>
          </p:cNvPr>
          <p:cNvGraphicFramePr>
            <a:graphicFrameLocks noGrp="1"/>
          </p:cNvGraphicFramePr>
          <p:nvPr/>
        </p:nvGraphicFramePr>
        <p:xfrm>
          <a:off x="7360473" y="2194844"/>
          <a:ext cx="2201040" cy="42245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596">
                  <a:extLst>
                    <a:ext uri="{9D8B030D-6E8A-4147-A177-3AD203B41FA5}">
                      <a16:colId xmlns:a16="http://schemas.microsoft.com/office/drawing/2014/main" val="4092650194"/>
                    </a:ext>
                  </a:extLst>
                </a:gridCol>
                <a:gridCol w="676279">
                  <a:extLst>
                    <a:ext uri="{9D8B030D-6E8A-4147-A177-3AD203B41FA5}">
                      <a16:colId xmlns:a16="http://schemas.microsoft.com/office/drawing/2014/main" val="1110527988"/>
                    </a:ext>
                  </a:extLst>
                </a:gridCol>
                <a:gridCol w="1160165">
                  <a:extLst>
                    <a:ext uri="{9D8B030D-6E8A-4147-A177-3AD203B41FA5}">
                      <a16:colId xmlns:a16="http://schemas.microsoft.com/office/drawing/2014/main" val="4199169723"/>
                    </a:ext>
                  </a:extLst>
                </a:gridCol>
              </a:tblGrid>
              <a:tr h="13039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50" baseline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To-be</a:t>
                      </a:r>
                      <a:endParaRPr lang="ko-KR" altLang="en-US" sz="800" spc="-50" baseline="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151070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 err="1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과정명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친환경 소재를 활용한 의료기기 인증과 </a:t>
                      </a:r>
                      <a:r>
                        <a:rPr lang="ko-KR" altLang="en-US" sz="800" u="none" strike="noStrike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</a:rPr>
                        <a:t>스마트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spc="-50" baseline="0" dirty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기술문서 작성 실무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331132"/>
                  </a:ext>
                </a:extLst>
              </a:tr>
              <a:tr h="637867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목표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소재 기반 의료기기 인증 요구사항을 이해하고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MDR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기술문서를 작성하며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표준화</a:t>
                      </a: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자동화를 통해 업무 효율을 향상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할 수 있는 실무 역량 함양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589378"/>
                  </a:ext>
                </a:extLst>
              </a:tr>
              <a:tr h="168511">
                <a:tc rowSpan="6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주요 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교과목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교육내용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51471"/>
                  </a:ext>
                </a:extLst>
              </a:tr>
              <a:tr h="51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소재 의료기기의 임상시험 수행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임상시험 필요성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인허가 단계에서 임상시험의 역할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임상시험 설계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388490"/>
                  </a:ext>
                </a:extLst>
              </a:tr>
              <a:tr h="51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의료기기 친환경 소재 적용 사례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국내외 친환경 소재 의료기기 상용화 사례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</a:t>
                      </a: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친환경 의료기기 포장재 및 패키징 사례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78757"/>
                  </a:ext>
                </a:extLst>
              </a:tr>
              <a:tr h="519881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수출 규제와 인증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기술 문서의 이해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한국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미국</a:t>
                      </a: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유럽의 인허가 제도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유럽의 의료기기 기술 문서 요구사항 이해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활용 주요국 규제 분석</a:t>
                      </a:r>
                      <a:endParaRPr lang="en-US" altLang="ko-KR" sz="800" u="none" strike="noStrike" kern="1200" spc="-50" baseline="0" dirty="0">
                        <a:solidFill>
                          <a:srgbClr val="0000FF"/>
                        </a:solidFill>
                        <a:effectLst/>
                        <a:highlight>
                          <a:srgbClr val="DAC2EC"/>
                        </a:highlight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2446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 의료기기 규제에 따른 기술문서 작성법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유럽 의료기기 법령의 기술문서 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등급 분류 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일반안전 및 성능요구사항 해설 및 작성 실습</a:t>
                      </a:r>
                      <a:endParaRPr lang="en-US" altLang="ko-KR" sz="800" u="none" strike="noStrike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3 Light" pitchFamily="2" charset="-127"/>
                        <a:ea typeface="페이퍼로지 3 Light" pitchFamily="2" charset="-127"/>
                        <a:cs typeface="+mn-cs"/>
                      </a:endParaRPr>
                    </a:p>
                    <a:p>
                      <a:pPr marL="92075" marR="0" indent="-92075" algn="l" defTabSz="914400" rtl="0" eaLnBrk="1" fontAlgn="ctr" latinLnBrk="0" hangingPunct="1">
                        <a:lnSpc>
                          <a:spcPct val="8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PMS </a:t>
                      </a:r>
                      <a:r>
                        <a:rPr lang="ko-KR" altLang="en-US" sz="800" u="none" strike="noStrike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3 Light" pitchFamily="2" charset="-127"/>
                          <a:ea typeface="페이퍼로지 3 Light" pitchFamily="2" charset="-127"/>
                          <a:cs typeface="+mn-cs"/>
                        </a:rPr>
                        <a:t>및 위험관리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70134"/>
                  </a:ext>
                </a:extLst>
              </a:tr>
              <a:tr h="570908">
                <a:tc vMerge="1">
                  <a:txBody>
                    <a:bodyPr/>
                    <a:lstStyle/>
                    <a:p>
                      <a:pPr algn="ctr" fontAlgn="ctr" latinLnBrk="0">
                        <a:lnSpc>
                          <a:spcPct val="90000"/>
                        </a:lnSpc>
                        <a:buNone/>
                      </a:pPr>
                      <a:endParaRPr lang="ko-KR" altLang="en-US" sz="9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(NEW)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기술문서 작성 자동화 실습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MDR </a:t>
                      </a: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기반 기술문서 항목 구조 정의</a:t>
                      </a:r>
                      <a:endParaRPr lang="en-US" altLang="ko-KR" sz="800" u="none" strike="noStrike" kern="1200" spc="-50" baseline="0" dirty="0">
                        <a:solidFill>
                          <a:srgbClr val="0000FF"/>
                        </a:solidFill>
                        <a:effectLst/>
                        <a:highlight>
                          <a:srgbClr val="DAC2EC"/>
                        </a:highlight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항목별 입력 데이터 구조화 및 양식 설계</a:t>
                      </a:r>
                      <a:endParaRPr lang="en-US" altLang="ko-KR" sz="800" u="none" strike="noStrike" kern="1200" spc="-50" baseline="0" dirty="0">
                        <a:solidFill>
                          <a:srgbClr val="0000FF"/>
                        </a:solidFill>
                        <a:effectLst/>
                        <a:highlight>
                          <a:srgbClr val="DAC2EC"/>
                        </a:highlight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u="none" strike="noStrike" kern="1200" spc="-50" baseline="0" dirty="0">
                          <a:solidFill>
                            <a:srgbClr val="0000FF"/>
                          </a:solidFill>
                          <a:effectLst/>
                          <a:highlight>
                            <a:srgbClr val="DAC2EC"/>
                          </a:highlight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초안 자동생성 실습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883612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5E8347A0-B4C1-D67B-E7F4-5D598F7A51E4}"/>
              </a:ext>
            </a:extLst>
          </p:cNvPr>
          <p:cNvGrpSpPr/>
          <p:nvPr/>
        </p:nvGrpSpPr>
        <p:grpSpPr>
          <a:xfrm>
            <a:off x="7106436" y="2232945"/>
            <a:ext cx="187810" cy="146358"/>
            <a:chOff x="5105285" y="3427386"/>
            <a:chExt cx="251122" cy="195696"/>
          </a:xfrm>
        </p:grpSpPr>
        <p:sp>
          <p:nvSpPr>
            <p:cNvPr id="32" name="갈매기형 수장 40">
              <a:extLst>
                <a:ext uri="{FF2B5EF4-FFF2-40B4-BE49-F238E27FC236}">
                  <a16:creationId xmlns:a16="http://schemas.microsoft.com/office/drawing/2014/main" id="{3CB6369D-19FB-34D3-FCD2-B0B4B8FEA112}"/>
                </a:ext>
              </a:extLst>
            </p:cNvPr>
            <p:cNvSpPr/>
            <p:nvPr/>
          </p:nvSpPr>
          <p:spPr>
            <a:xfrm>
              <a:off x="5105285" y="3427386"/>
              <a:ext cx="156805" cy="195696"/>
            </a:xfrm>
            <a:prstGeom prst="chevron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3" name="갈매기형 수장 41">
              <a:extLst>
                <a:ext uri="{FF2B5EF4-FFF2-40B4-BE49-F238E27FC236}">
                  <a16:creationId xmlns:a16="http://schemas.microsoft.com/office/drawing/2014/main" id="{65FF3071-722A-5CD6-D72C-B4EB5CC37C8F}"/>
                </a:ext>
              </a:extLst>
            </p:cNvPr>
            <p:cNvSpPr/>
            <p:nvPr/>
          </p:nvSpPr>
          <p:spPr>
            <a:xfrm>
              <a:off x="5193838" y="3427386"/>
              <a:ext cx="162569" cy="195696"/>
            </a:xfrm>
            <a:prstGeom prst="chevron">
              <a:avLst/>
            </a:prstGeom>
            <a:solidFill>
              <a:srgbClr val="395D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50" dirty="0">
                <a:solidFill>
                  <a:schemeClr val="tx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6B35420-AA51-7908-A8A2-C3ABAADDB728}"/>
              </a:ext>
            </a:extLst>
          </p:cNvPr>
          <p:cNvSpPr txBox="1"/>
          <p:nvPr/>
        </p:nvSpPr>
        <p:spPr>
          <a:xfrm>
            <a:off x="8359140" y="1971634"/>
            <a:ext cx="1202373" cy="230832"/>
          </a:xfrm>
          <a:prstGeom prst="rect">
            <a:avLst/>
          </a:prstGeom>
          <a:noFill/>
        </p:spPr>
        <p:txBody>
          <a:bodyPr wrap="square" rIns="36000">
            <a:spAutoFit/>
          </a:bodyPr>
          <a:lstStyle/>
          <a:p>
            <a:pPr algn="r"/>
            <a:r>
              <a:rPr lang="en-US" altLang="ko-KR" sz="900" spc="-50" dirty="0">
                <a:solidFill>
                  <a:srgbClr val="0000FF"/>
                </a:solidFill>
                <a:highlight>
                  <a:srgbClr val="DAC2EC"/>
                </a:highlight>
                <a:latin typeface="페이퍼로지 4 Regular" pitchFamily="2" charset="-127"/>
                <a:ea typeface="페이퍼로지 4 Regular" pitchFamily="2" charset="-127"/>
              </a:rPr>
              <a:t>*AI </a:t>
            </a:r>
            <a:r>
              <a:rPr lang="ko-KR" altLang="en-US" sz="900" spc="-50" dirty="0">
                <a:solidFill>
                  <a:srgbClr val="0000FF"/>
                </a:solidFill>
                <a:highlight>
                  <a:srgbClr val="DAC2EC"/>
                </a:highlight>
                <a:latin typeface="페이퍼로지 4 Regular" pitchFamily="2" charset="-127"/>
                <a:ea typeface="페이퍼로지 4 Regular" pitchFamily="2" charset="-127"/>
              </a:rPr>
              <a:t>융합 스킬 반영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779CA-6CA8-97CD-D424-E1047BA2CDB4}"/>
              </a:ext>
            </a:extLst>
          </p:cNvPr>
          <p:cNvSpPr txBox="1"/>
          <p:nvPr/>
        </p:nvSpPr>
        <p:spPr>
          <a:xfrm>
            <a:off x="3613309" y="1971634"/>
            <a:ext cx="1202373" cy="230832"/>
          </a:xfrm>
          <a:prstGeom prst="rect">
            <a:avLst/>
          </a:prstGeom>
          <a:noFill/>
        </p:spPr>
        <p:txBody>
          <a:bodyPr wrap="square" rIns="36000">
            <a:spAutoFit/>
          </a:bodyPr>
          <a:lstStyle/>
          <a:p>
            <a:pPr algn="r"/>
            <a:r>
              <a:rPr lang="en-US" altLang="ko-KR" sz="900" spc="-50" dirty="0">
                <a:solidFill>
                  <a:srgbClr val="0000FF"/>
                </a:solidFill>
                <a:highlight>
                  <a:srgbClr val="DAC2EC"/>
                </a:highlight>
                <a:latin typeface="페이퍼로지 4 Regular" pitchFamily="2" charset="-127"/>
                <a:ea typeface="페이퍼로지 4 Regular" pitchFamily="2" charset="-127"/>
              </a:rPr>
              <a:t>*AI </a:t>
            </a:r>
            <a:r>
              <a:rPr lang="ko-KR" altLang="en-US" sz="900" spc="-50" dirty="0">
                <a:solidFill>
                  <a:srgbClr val="0000FF"/>
                </a:solidFill>
                <a:highlight>
                  <a:srgbClr val="DAC2EC"/>
                </a:highlight>
                <a:latin typeface="페이퍼로지 4 Regular" pitchFamily="2" charset="-127"/>
                <a:ea typeface="페이퍼로지 4 Regular" pitchFamily="2" charset="-127"/>
              </a:rPr>
              <a:t>융합  개편 과정</a:t>
            </a:r>
          </a:p>
        </p:txBody>
      </p:sp>
    </p:spTree>
    <p:extLst>
      <p:ext uri="{BB962C8B-B14F-4D97-AF65-F5344CB8AC3E}">
        <p14:creationId xmlns:p14="http://schemas.microsoft.com/office/powerpoint/2010/main" val="1330782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48F0-5EA9-C613-BE28-BDAC2DBC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E6E9EC-CA16-0BC2-1010-68F1A24C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25</a:t>
            </a:fld>
            <a:r>
              <a:rPr lang="ko-KR" altLang="en-US" spc="-5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87B10732-B960-C9A8-1729-20DBD6146EDA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2026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 교육과정 개편안에 반영되지 않은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융합 스킬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에 대해서는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 AI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및 바이오 화학 산업 전문가와의 협업을 통해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실습 중심의 신규 교육 콘텐츠를 설계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7D23FE-B049-F80B-C4BA-2D42906B46B4}"/>
              </a:ext>
            </a:extLst>
          </p:cNvPr>
          <p:cNvCxnSpPr>
            <a:cxnSpLocks/>
          </p:cNvCxnSpPr>
          <p:nvPr/>
        </p:nvCxnSpPr>
        <p:spPr>
          <a:xfrm>
            <a:off x="344488" y="1875393"/>
            <a:ext cx="9217025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9CABAC08-1D93-80B8-A99B-4ED457C23D2A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spc="-50" dirty="0"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신규 교육 콘텐츠 설계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3A2B55-754F-C236-D04A-678152F5DC9E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Ⅲ.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 과업수행 계획</a:t>
            </a:r>
          </a:p>
          <a:p>
            <a:pPr algn="r"/>
            <a:r>
              <a:rPr lang="en-US" altLang="ko-KR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rgbClr val="E7E6E6">
                    <a:lumMod val="50000"/>
                  </a:srgbClr>
                </a:solidFill>
                <a:latin typeface="페이퍼로지 4 Regular" pitchFamily="2" charset="-127"/>
                <a:ea typeface="페이퍼로지 4 Regular" pitchFamily="2" charset="-127"/>
              </a:rPr>
              <a:t>세부 수행 방안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AA833-2541-8EDE-E909-8A1DED397076}"/>
              </a:ext>
            </a:extLst>
          </p:cNvPr>
          <p:cNvSpPr/>
          <p:nvPr/>
        </p:nvSpPr>
        <p:spPr>
          <a:xfrm>
            <a:off x="1513166" y="253829"/>
            <a:ext cx="4956214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defRPr/>
            </a:pPr>
            <a:r>
              <a:rPr lang="en-US" altLang="ko-KR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반영 </a:t>
            </a:r>
            <a:r>
              <a:rPr lang="ko-KR" altLang="en-US" sz="1400" spc="-50" dirty="0" err="1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교육로드맵</a:t>
            </a:r>
            <a:r>
              <a:rPr lang="ko-KR" altLang="en-US" sz="1400" spc="-50" dirty="0">
                <a:solidFill>
                  <a:srgbClr val="395D20"/>
                </a:solidFill>
                <a:latin typeface="페이퍼로지 6 SemiBold" pitchFamily="2" charset="-127"/>
                <a:ea typeface="페이퍼로지 6 SemiBold" pitchFamily="2" charset="-127"/>
              </a:rPr>
              <a:t> 및 과정 설계</a:t>
            </a:r>
          </a:p>
          <a:p>
            <a:pPr lvl="0" defTabSz="914400">
              <a:defRPr/>
            </a:pP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Step9. 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직무 맞춤형 </a:t>
            </a:r>
            <a:r>
              <a:rPr lang="en-US" altLang="ko-KR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AI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신규 교육 콘텐츠 설계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494291-6D14-FE7B-E4DE-7A1C01A7A01A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68D9E7BC-23B3-C97C-C941-541AC41AD6FE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DBC306-41FC-8262-0014-D63177C793D6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ko-KR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Module 3</a:t>
              </a:r>
              <a:endParaRPr lang="ko-KR" altLang="en-US" sz="1400" spc="-50" dirty="0">
                <a:solidFill>
                  <a:prstClr val="whit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29F4DBB-BC11-98D0-DF67-DDD8FCD8FC2E}"/>
              </a:ext>
            </a:extLst>
          </p:cNvPr>
          <p:cNvGraphicFramePr>
            <a:graphicFrameLocks noGrp="1"/>
          </p:cNvGraphicFramePr>
          <p:nvPr/>
        </p:nvGraphicFramePr>
        <p:xfrm>
          <a:off x="344487" y="2202465"/>
          <a:ext cx="4457326" cy="4214224"/>
        </p:xfrm>
        <a:graphic>
          <a:graphicData uri="http://schemas.openxmlformats.org/drawingml/2006/table">
            <a:tbl>
              <a:tblPr firstRow="1" bandRow="1"/>
              <a:tblGrid>
                <a:gridCol w="546987">
                  <a:extLst>
                    <a:ext uri="{9D8B030D-6E8A-4147-A177-3AD203B41FA5}">
                      <a16:colId xmlns:a16="http://schemas.microsoft.com/office/drawing/2014/main" val="2939881554"/>
                    </a:ext>
                  </a:extLst>
                </a:gridCol>
                <a:gridCol w="849451">
                  <a:extLst>
                    <a:ext uri="{9D8B030D-6E8A-4147-A177-3AD203B41FA5}">
                      <a16:colId xmlns:a16="http://schemas.microsoft.com/office/drawing/2014/main" val="4081232679"/>
                    </a:ext>
                  </a:extLst>
                </a:gridCol>
                <a:gridCol w="1616214">
                  <a:extLst>
                    <a:ext uri="{9D8B030D-6E8A-4147-A177-3AD203B41FA5}">
                      <a16:colId xmlns:a16="http://schemas.microsoft.com/office/drawing/2014/main" val="1337865549"/>
                    </a:ext>
                  </a:extLst>
                </a:gridCol>
                <a:gridCol w="722337">
                  <a:extLst>
                    <a:ext uri="{9D8B030D-6E8A-4147-A177-3AD203B41FA5}">
                      <a16:colId xmlns:a16="http://schemas.microsoft.com/office/drawing/2014/main" val="2344544901"/>
                    </a:ext>
                  </a:extLst>
                </a:gridCol>
                <a:gridCol w="722337">
                  <a:extLst>
                    <a:ext uri="{9D8B030D-6E8A-4147-A177-3AD203B41FA5}">
                      <a16:colId xmlns:a16="http://schemas.microsoft.com/office/drawing/2014/main" val="4098331676"/>
                    </a:ext>
                  </a:extLst>
                </a:gridCol>
              </a:tblGrid>
              <a:tr h="15050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8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스킬셋</a:t>
                      </a:r>
                      <a:endParaRPr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</a:t>
                      </a:r>
                      <a:endParaRPr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 설계 방향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 개발시기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2024"/>
                  </a:ext>
                </a:extLst>
              </a:tr>
              <a:tr h="150508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연구개발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신소재 개발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데이터 분석 및 패턴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2028</a:t>
                      </a:r>
                      <a:endParaRPr kumimoji="0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47495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소재 특성 비교분석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510394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데이터 기반 인사이트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557755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제품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적용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가능성 평가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826626"/>
                  </a:ext>
                </a:extLst>
              </a:tr>
              <a:tr h="150508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연구개발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실험 설계 및 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데이터 기반 변수 설정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2027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901050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조건 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49277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 결과 예측 및 검증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33960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결과 시뮬레이션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2028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81816"/>
                  </a:ext>
                </a:extLst>
              </a:tr>
              <a:tr h="150508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생산관리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기반 공정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생산 데이터 </a:t>
                      </a:r>
                      <a:r>
                        <a:rPr lang="ko-KR" altLang="en-US" sz="8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전처리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2027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541446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생산 스케줄링 문제 정의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336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최적화 알고리즘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911131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AI/ML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기반 수요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공정 예측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937526"/>
                  </a:ext>
                </a:extLst>
              </a:tr>
              <a:tr h="150508">
                <a:tc rowSpan="4"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QA/QC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기반 품질 예측 및 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품질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과정 개편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2026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498041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활용 품질 이상 예측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2027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02830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불량 원인 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5922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품질 개선 전략 수립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2029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6550"/>
                  </a:ext>
                </a:extLst>
              </a:tr>
              <a:tr h="15050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QA/QC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규제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대응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l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관련 문서 수집 및 분석 자동화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과정 개편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2026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5560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l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규제 요구사항 추출 및 기준 설정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74006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l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취득 대응전략 수립</a:t>
                      </a:r>
                      <a:endParaRPr lang="en-US" altLang="ko-KR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2027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352336"/>
                  </a:ext>
                </a:extLst>
              </a:tr>
              <a:tr h="150508"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ESG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활용 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ESG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 수집 및 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baseline="0" dirty="0">
                          <a:solidFill>
                            <a:srgbClr val="7030A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신규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2028</a:t>
                      </a:r>
                      <a:endParaRPr lang="ko-KR" altLang="en-US" sz="800" b="0" i="0" u="none" strike="noStrike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51785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ESG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보고기준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90237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보고서 작성 자동화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49111"/>
                  </a:ext>
                </a:extLst>
              </a:tr>
              <a:tr h="150508">
                <a:tc rowSpan="4"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기획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기반 시장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기술</a:t>
                      </a: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시장 데이터 수집 및 분석 자동화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기존 과정 개편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en-US" altLang="ko-KR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2026</a:t>
                      </a:r>
                      <a:endParaRPr lang="ko-KR" altLang="en-US" sz="8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94978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기술 트렌드 수집 및 분석 자동화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6023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경쟁사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085866"/>
                  </a:ext>
                </a:extLst>
              </a:tr>
              <a:tr h="150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lang="ko-KR" altLang="en-US" sz="8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사업화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680611"/>
                  </a:ext>
                </a:extLst>
              </a:tr>
              <a:tr h="15050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lang="en-US" altLang="ko-KR" sz="800" kern="1200" spc="-5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indent="-1588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49860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B80A4C-53F6-6468-22EA-2C4906468442}"/>
              </a:ext>
            </a:extLst>
          </p:cNvPr>
          <p:cNvSpPr/>
          <p:nvPr/>
        </p:nvSpPr>
        <p:spPr>
          <a:xfrm>
            <a:off x="344487" y="1925467"/>
            <a:ext cx="2319990" cy="276999"/>
          </a:xfrm>
          <a:prstGeom prst="rect">
            <a:avLst/>
          </a:prstGeom>
        </p:spPr>
        <p:txBody>
          <a:bodyPr wrap="none" lIns="36000">
            <a:spAutoFit/>
          </a:bodyPr>
          <a:lstStyle/>
          <a:p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융합 스킬 반영 여부 검토 결과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kumimoji="1" lang="ko-KR" altLang="en-US" sz="1200" u="sng" spc="-5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4B0757-C2D9-1AFF-09B3-B281774B311A}"/>
              </a:ext>
            </a:extLst>
          </p:cNvPr>
          <p:cNvSpPr/>
          <p:nvPr/>
        </p:nvSpPr>
        <p:spPr>
          <a:xfrm>
            <a:off x="5104189" y="1925467"/>
            <a:ext cx="1707643" cy="276999"/>
          </a:xfrm>
          <a:prstGeom prst="rect">
            <a:avLst/>
          </a:prstGeom>
        </p:spPr>
        <p:txBody>
          <a:bodyPr wrap="none" lIns="36000">
            <a:spAutoFit/>
          </a:bodyPr>
          <a:lstStyle/>
          <a:p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신규 교육 콘텐츠 개발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kumimoji="1" lang="ko-KR" altLang="en-US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예시</a:t>
            </a:r>
            <a:r>
              <a:rPr kumimoji="1" lang="en-US" altLang="ko-KR" sz="1200" u="sng" spc="-5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kumimoji="1" lang="ko-KR" altLang="en-US" sz="1200" u="sng" spc="-5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7378F5-7E97-F6DD-B6C4-272AAA9C96FF}"/>
              </a:ext>
            </a:extLst>
          </p:cNvPr>
          <p:cNvGraphicFramePr>
            <a:graphicFrameLocks noGrp="1"/>
          </p:cNvGraphicFramePr>
          <p:nvPr/>
        </p:nvGraphicFramePr>
        <p:xfrm>
          <a:off x="5104187" y="2202466"/>
          <a:ext cx="4463796" cy="4215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5340">
                  <a:extLst>
                    <a:ext uri="{9D8B030D-6E8A-4147-A177-3AD203B41FA5}">
                      <a16:colId xmlns:a16="http://schemas.microsoft.com/office/drawing/2014/main" val="4092650194"/>
                    </a:ext>
                  </a:extLst>
                </a:gridCol>
                <a:gridCol w="883228">
                  <a:extLst>
                    <a:ext uri="{9D8B030D-6E8A-4147-A177-3AD203B41FA5}">
                      <a16:colId xmlns:a16="http://schemas.microsoft.com/office/drawing/2014/main" val="1110527988"/>
                    </a:ext>
                  </a:extLst>
                </a:gridCol>
                <a:gridCol w="883228">
                  <a:extLst>
                    <a:ext uri="{9D8B030D-6E8A-4147-A177-3AD203B41FA5}">
                      <a16:colId xmlns:a16="http://schemas.microsoft.com/office/drawing/2014/main" val="211942642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39834225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842038165"/>
                    </a:ext>
                  </a:extLst>
                </a:gridCol>
              </a:tblGrid>
              <a:tr h="133356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8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스킬셋</a:t>
                      </a:r>
                      <a:endParaRPr lang="ko-KR" altLang="en-US"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과정명</a:t>
                      </a:r>
                      <a:endParaRPr lang="ko-KR" altLang="en-US" sz="8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교과목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교육내용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331132"/>
                  </a:ext>
                </a:extLst>
              </a:tr>
              <a:tr h="71087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연구개발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신소재 개발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신소재 특성분석 및 개발방향 도출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소재데이터 수집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정제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소재특성 비교분석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실험데이터 인사이트 도출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제품 적용 가능성 평가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-90488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소재 물성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성능 데이터 수집 및 정리 실습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소재 간 특성 비교 및 패턴 도출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실험결과 기반 개발 방향 및 후보소재 도출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30163"/>
                  </a:ext>
                </a:extLst>
              </a:tr>
              <a:tr h="71087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연구개발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실험 설계 및 최적화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실험설계 및 최적조건 도출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실험데이터 기반 변수 설정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조건 최적화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결과 예측 및 검증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시뮬레이션 활용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실험설계 변수 정의 및 데이터 구조화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최적 실험조건 탐색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결과 예측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검증 및 해석 실습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시뮬레이션 기반 고효율 실험 설계</a:t>
                      </a: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799270"/>
                  </a:ext>
                </a:extLst>
              </a:tr>
              <a:tr h="50353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공정 데이터 분석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공정데이터 분석 및 생산 최적화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생산데이터 </a:t>
                      </a:r>
                      <a:r>
                        <a:rPr lang="ko-KR" altLang="en-US" sz="700" kern="1200" spc="-5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전처리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공정이상 탐지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공정예측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스케줄링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생산 최적화 방안 도출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이상 패턴 탐지와 원인 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AI/ML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수요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예측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공정 운영 및 생산계획 최적화 실습</a:t>
                      </a: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676015"/>
                  </a:ext>
                </a:extLst>
              </a:tr>
              <a:tr h="7119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품질예측 및 관리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품질이상 예측 및 품질개선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품질데이터 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품질이상 예측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불량원인 분류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품질개선 전략 수립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관련 데이터 구조 이해 및 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이상 발생 예측 모델 활용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불량 원인 유형화 및 주요 원인 식별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589378"/>
                  </a:ext>
                </a:extLst>
              </a:tr>
              <a:tr h="71087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규제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대응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기반 규제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요구사항 분석 및 대응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관련 문서 수집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자동화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규제요구사항 추출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기준 설정 및 문서화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인증 취득 대응 전략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국내외 규제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문서 수집 자동화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요구사항 추출 및 비교분석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 취득 단계별 대응 전략 수립</a:t>
                      </a: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51471"/>
                  </a:ext>
                </a:extLst>
              </a:tr>
              <a:tr h="60720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작성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</a:t>
                      </a:r>
                      <a:r>
                        <a:rPr lang="en-US" altLang="ko-KR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8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분석 및 보고서 작성 실무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①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분류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②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 기준 분석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③ 보고서 작성 자동화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④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지표 해석 및 피드백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GRI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</a:t>
                      </a: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보고기준 해석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 보고서 초안 작성 및 문안 고도화 </a:t>
                      </a:r>
                      <a:endParaRPr lang="en-US" altLang="ko-KR" sz="7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88900" indent="-88900" algn="l" latinLnBrk="0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ESG </a:t>
                      </a:r>
                      <a:r>
                        <a:rPr lang="ko-KR" altLang="en-US" sz="700" kern="120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성과지표 해석 및 개선 포인트 도출</a:t>
                      </a: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180643"/>
                  </a:ext>
                </a:extLst>
              </a:tr>
              <a:tr h="126591"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kumimoji="0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kumimoji="0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-158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kumimoji="0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…</a:t>
                      </a:r>
                      <a:endParaRPr lang="ko-KR" altLang="en-US" sz="800" kern="120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35457"/>
                  </a:ext>
                </a:extLst>
              </a:tr>
            </a:tbl>
          </a:graphicData>
        </a:graphic>
      </p:graphicFrame>
      <p:sp>
        <p:nvSpPr>
          <p:cNvPr id="3" name="Freeform 61">
            <a:extLst>
              <a:ext uri="{FF2B5EF4-FFF2-40B4-BE49-F238E27FC236}">
                <a16:creationId xmlns:a16="http://schemas.microsoft.com/office/drawing/2014/main" id="{D260D26B-689B-96AF-AD13-7B78183CEBB4}"/>
              </a:ext>
            </a:extLst>
          </p:cNvPr>
          <p:cNvSpPr>
            <a:spLocks/>
          </p:cNvSpPr>
          <p:nvPr/>
        </p:nvSpPr>
        <p:spPr bwMode="auto">
          <a:xfrm>
            <a:off x="4823807" y="2200679"/>
            <a:ext cx="258386" cy="4215995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9912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A1025-DA3E-DB1A-80D0-B747803C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90B7248B-DF48-C8BB-259F-32DC8089C6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4074160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949B034-3DC6-930F-479E-57CB804EB975}"/>
              </a:ext>
            </a:extLst>
          </p:cNvPr>
          <p:cNvGrpSpPr/>
          <p:nvPr/>
        </p:nvGrpSpPr>
        <p:grpSpPr>
          <a:xfrm>
            <a:off x="795" y="2285874"/>
            <a:ext cx="5132225" cy="2286253"/>
            <a:chOff x="795" y="2384884"/>
            <a:chExt cx="5132225" cy="2286253"/>
          </a:xfrm>
        </p:grpSpPr>
        <p:sp>
          <p:nvSpPr>
            <p:cNvPr id="3" name="Text Placeholder 1">
              <a:extLst>
                <a:ext uri="{FF2B5EF4-FFF2-40B4-BE49-F238E27FC236}">
                  <a16:creationId xmlns:a16="http://schemas.microsoft.com/office/drawing/2014/main" id="{56168BD6-10FE-530B-3015-3FCB5D614B0B}"/>
                </a:ext>
              </a:extLst>
            </p:cNvPr>
            <p:cNvSpPr txBox="1">
              <a:spLocks/>
            </p:cNvSpPr>
            <p:nvPr/>
          </p:nvSpPr>
          <p:spPr>
            <a:xfrm>
              <a:off x="795" y="2384884"/>
              <a:ext cx="5132225" cy="1066962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 Narrow" pitchFamily="34" charset="0"/>
                <a:buNone/>
                <a:tabLst/>
                <a:defRPr/>
              </a:pPr>
              <a:r>
                <a:rPr kumimoji="0" lang="en-US" altLang="ko-KR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Ⅳ.</a:t>
              </a:r>
              <a:r>
                <a:rPr kumimoji="0" lang="ko-KR" alt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페이퍼로지 7 Bold" pitchFamily="2" charset="-127"/>
                  <a:ea typeface="페이퍼로지 7 Bold" pitchFamily="2" charset="-127"/>
                  <a:cs typeface="+mn-cs"/>
                  <a:sym typeface="+mn-lt"/>
                </a:rPr>
                <a:t> 과업수행 조직 및 관리</a:t>
              </a:r>
            </a:p>
          </p:txBody>
        </p:sp>
        <p:sp>
          <p:nvSpPr>
            <p:cNvPr id="4" name="Text Placeholder 1">
              <a:extLst>
                <a:ext uri="{FF2B5EF4-FFF2-40B4-BE49-F238E27FC236}">
                  <a16:creationId xmlns:a16="http://schemas.microsoft.com/office/drawing/2014/main" id="{77730D65-09FE-42F6-C862-B799EC666147}"/>
                </a:ext>
              </a:extLst>
            </p:cNvPr>
            <p:cNvSpPr txBox="1">
              <a:spLocks/>
            </p:cNvSpPr>
            <p:nvPr/>
          </p:nvSpPr>
          <p:spPr>
            <a:xfrm>
              <a:off x="237270" y="3059292"/>
              <a:ext cx="4355690" cy="1611845"/>
            </a:xfrm>
            <a:prstGeom prst="rect">
              <a:avLst/>
            </a:prstGeom>
          </p:spPr>
          <p:txBody>
            <a:bodyPr vert="horz" wrap="square" lIns="360000" tIns="72000" rIns="25200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lang="en-US" sz="2100" b="0" i="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30400" indent="-230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&gt;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482400" indent="-2340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–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698400" indent="-201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Char char="-"/>
                <a:defRPr lang="en-US" sz="21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69840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buFont typeface="Arial Narrow" pitchFamily="34" charset="0"/>
                <a:buNone/>
                <a:defRPr sz="1700" kern="1200">
                  <a:solidFill>
                    <a:schemeClr val="tx1"/>
                  </a:solidFill>
                  <a:latin typeface="Arial Narrow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 Narrow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1950" lvl="0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수행조직 구성 및 체계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0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추진일정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361950" lvl="0" indent="-361950">
                <a:lnSpc>
                  <a:spcPct val="120000"/>
                </a:lnSpc>
                <a:spcBef>
                  <a:spcPts val="400"/>
                </a:spcBef>
                <a:buClr>
                  <a:srgbClr val="000000"/>
                </a:buClr>
                <a:buFont typeface="+mj-lt"/>
                <a:buAutoNum type="arabicPeriod"/>
                <a:defRPr/>
              </a:pPr>
              <a:r>
                <a:rPr lang="ko-KR" altLang="en-US" sz="2000" dirty="0">
                  <a:solidFill>
                    <a:srgbClr val="000000"/>
                  </a:solidFill>
                  <a:latin typeface="페이퍼로지 5 Medium" pitchFamily="2" charset="-127"/>
                  <a:ea typeface="페이퍼로지 5 Medium" pitchFamily="2" charset="-127"/>
                </a:rPr>
                <a:t>사업 관리방안 </a:t>
              </a:r>
              <a:endParaRPr lang="en-US" altLang="ko-KR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576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0B59D-1162-6376-64D5-4D53503F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BD036C-1557-CF0F-459D-BC12D9835EA3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5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Ⅳ.</a:t>
            </a:r>
            <a:r>
              <a:rPr kumimoji="0" lang="ko-KR" altLang="en-US" sz="1400" b="0" i="0" u="none" strike="noStrike" kern="1200" cap="none" spc="-5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 과업수행 조직 및 관리</a:t>
            </a:r>
          </a:p>
          <a:p>
            <a:pPr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수행조직 구성 및 체계</a:t>
            </a:r>
          </a:p>
        </p:txBody>
      </p:sp>
      <p:sp>
        <p:nvSpPr>
          <p:cNvPr id="22" name="텍스트 개체 틀 1">
            <a:extLst>
              <a:ext uri="{FF2B5EF4-FFF2-40B4-BE49-F238E27FC236}">
                <a16:creationId xmlns:a16="http://schemas.microsoft.com/office/drawing/2014/main" id="{2BB2EED8-8BF6-09AF-D795-7A2FF8832DED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사업의 성공적인 수행을 위해 </a:t>
            </a:r>
            <a:r>
              <a:rPr lang="ko-KR" altLang="en-US" dirty="0">
                <a:solidFill>
                  <a:srgbClr val="FF6600"/>
                </a:solidFill>
              </a:rPr>
              <a:t>총 </a:t>
            </a:r>
            <a:r>
              <a:rPr lang="en-US" altLang="ko-KR" dirty="0">
                <a:solidFill>
                  <a:srgbClr val="FF6600"/>
                </a:solidFill>
              </a:rPr>
              <a:t>5</a:t>
            </a:r>
            <a:r>
              <a:rPr lang="ko-KR" altLang="en-US" dirty="0">
                <a:solidFill>
                  <a:srgbClr val="FF6600"/>
                </a:solidFill>
              </a:rPr>
              <a:t>명의 연구진을 투입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분야별 책임자와 수행자에 대한 역할을 구분하여 프로젝트 산출물과 일정관리를 철저히 할 것임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E0A2353-B365-EA23-ACEC-2B5501464C67}"/>
              </a:ext>
            </a:extLst>
          </p:cNvPr>
          <p:cNvCxnSpPr>
            <a:cxnSpLocks/>
          </p:cNvCxnSpPr>
          <p:nvPr/>
        </p:nvCxnSpPr>
        <p:spPr>
          <a:xfrm flipV="1">
            <a:off x="344488" y="1873805"/>
            <a:ext cx="9217025" cy="1588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1">
            <a:extLst>
              <a:ext uri="{FF2B5EF4-FFF2-40B4-BE49-F238E27FC236}">
                <a16:creationId xmlns:a16="http://schemas.microsoft.com/office/drawing/2014/main" id="{DD1C67B3-C496-73B5-C7DC-94C5CC6D0C27}"/>
              </a:ext>
            </a:extLst>
          </p:cNvPr>
          <p:cNvSpPr txBox="1">
            <a:spLocks/>
          </p:cNvSpPr>
          <p:nvPr/>
        </p:nvSpPr>
        <p:spPr>
          <a:xfrm>
            <a:off x="344487" y="1538206"/>
            <a:ext cx="4464050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수행 조직 및 업무분장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0B4F8D2E-58B1-209D-6E66-A79904E6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/>
          <a:p>
            <a:pPr latinLnBrk="0"/>
            <a:r>
              <a:rPr lang="en-US" altLang="ko-KR" spc="-5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 latinLnBrk="0"/>
              <a:t>27</a:t>
            </a:fld>
            <a:r>
              <a:rPr lang="ko-KR" altLang="en-US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300A3173-ED3F-A7C9-E58B-EA7DA039C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556414"/>
              </p:ext>
            </p:extLst>
          </p:nvPr>
        </p:nvGraphicFramePr>
        <p:xfrm>
          <a:off x="342028" y="4755276"/>
          <a:ext cx="9217024" cy="1668334"/>
        </p:xfrm>
        <a:graphic>
          <a:graphicData uri="http://schemas.openxmlformats.org/drawingml/2006/table">
            <a:tbl>
              <a:tblPr/>
              <a:tblGrid>
                <a:gridCol w="1494997">
                  <a:extLst>
                    <a:ext uri="{9D8B030D-6E8A-4147-A177-3AD203B41FA5}">
                      <a16:colId xmlns:a16="http://schemas.microsoft.com/office/drawing/2014/main" val="3694996319"/>
                    </a:ext>
                  </a:extLst>
                </a:gridCol>
                <a:gridCol w="1122991">
                  <a:extLst>
                    <a:ext uri="{9D8B030D-6E8A-4147-A177-3AD203B41FA5}">
                      <a16:colId xmlns:a16="http://schemas.microsoft.com/office/drawing/2014/main" val="292575376"/>
                    </a:ext>
                  </a:extLst>
                </a:gridCol>
                <a:gridCol w="1225485">
                  <a:extLst>
                    <a:ext uri="{9D8B030D-6E8A-4147-A177-3AD203B41FA5}">
                      <a16:colId xmlns:a16="http://schemas.microsoft.com/office/drawing/2014/main" val="2739293788"/>
                    </a:ext>
                  </a:extLst>
                </a:gridCol>
                <a:gridCol w="1813517">
                  <a:extLst>
                    <a:ext uri="{9D8B030D-6E8A-4147-A177-3AD203B41FA5}">
                      <a16:colId xmlns:a16="http://schemas.microsoft.com/office/drawing/2014/main" val="477103502"/>
                    </a:ext>
                  </a:extLst>
                </a:gridCol>
                <a:gridCol w="1170709">
                  <a:extLst>
                    <a:ext uri="{9D8B030D-6E8A-4147-A177-3AD203B41FA5}">
                      <a16:colId xmlns:a16="http://schemas.microsoft.com/office/drawing/2014/main" val="1886071104"/>
                    </a:ext>
                  </a:extLst>
                </a:gridCol>
                <a:gridCol w="2389325">
                  <a:extLst>
                    <a:ext uri="{9D8B030D-6E8A-4147-A177-3AD203B41FA5}">
                      <a16:colId xmlns:a16="http://schemas.microsoft.com/office/drawing/2014/main" val="815401294"/>
                    </a:ext>
                  </a:extLst>
                </a:gridCol>
              </a:tblGrid>
              <a:tr h="1714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성명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직위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최종학력 </a:t>
                      </a:r>
                      <a:r>
                        <a:rPr lang="en-US" altLang="ko-KR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전공 학위</a:t>
                      </a:r>
                      <a:r>
                        <a:rPr lang="en-US" altLang="ko-KR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)</a:t>
                      </a:r>
                      <a:endParaRPr lang="ko-KR" altLang="en-US" sz="1000" b="0" kern="1200" spc="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해당분야 근무경력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0" dirty="0">
                          <a:solidFill>
                            <a:schemeClr val="lt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R&amp;R</a:t>
                      </a:r>
                      <a:endParaRPr lang="ko-KR" altLang="en-US" sz="1000" b="0" kern="1200" spc="0" dirty="0">
                        <a:solidFill>
                          <a:schemeClr val="lt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710783"/>
                  </a:ext>
                </a:extLst>
              </a:tr>
              <a:tr h="2815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사업책임자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(PM)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유대훈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수석연구원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본부장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석사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Global MBA)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13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 총괄 책임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 및 위험 관리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218671"/>
                  </a:ext>
                </a:extLst>
              </a:tr>
              <a:tr h="3009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연구원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이석주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책임연구원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학사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경영학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직무역량모델링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교육체계 고도화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672126"/>
                  </a:ext>
                </a:extLst>
              </a:tr>
              <a:tr h="3009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연구원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(PL)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조예슬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선임연구원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석사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(MBA(HR))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실무 총괄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과정 설계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726826"/>
                  </a:ext>
                </a:extLst>
              </a:tr>
              <a:tr h="300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연구보조원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안은하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주임연구원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석사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 및 조직 심리학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 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교육체계 고도화 지원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과정 설계 지원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75794"/>
                  </a:ext>
                </a:extLst>
              </a:tr>
              <a:tr h="300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연구보조원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허상희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주임연구원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학사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경영학</a:t>
                      </a: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직무역량모델링 지원</a:t>
                      </a:r>
                      <a:endParaRPr lang="en-US" altLang="ko-KR" sz="1000" kern="0" spc="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1000" kern="0" spc="0" baseline="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1000" kern="0" spc="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과정 설계 지원</a:t>
                      </a:r>
                    </a:p>
                  </a:txBody>
                  <a:tcPr marL="17370" marR="17370" marT="0" marB="0" anchor="ctr">
                    <a:lnL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71429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89E98DB3-0117-C096-A6E4-50C6C71337CC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8" name="사각형: 둥근 위쪽 모서리 7">
              <a:extLst>
                <a:ext uri="{FF2B5EF4-FFF2-40B4-BE49-F238E27FC236}">
                  <a16:creationId xmlns:a16="http://schemas.microsoft.com/office/drawing/2014/main" id="{11D4E5BB-ACF0-74F6-D8AD-26AC3C1F3D3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0FB227-5FE2-346A-B151-951397C69461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수행조직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3A193C-8757-6B05-4041-56EDF7A8EAC3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수행조직 구성 및 체계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49" name="꺾인 연결선 14">
            <a:extLst>
              <a:ext uri="{FF2B5EF4-FFF2-40B4-BE49-F238E27FC236}">
                <a16:creationId xmlns:a16="http://schemas.microsoft.com/office/drawing/2014/main" id="{212A5C41-6EAE-5FB8-FB41-D67379FBF92D}"/>
              </a:ext>
            </a:extLst>
          </p:cNvPr>
          <p:cNvCxnSpPr>
            <a:cxnSpLocks/>
            <a:stCxn id="48" idx="2"/>
            <a:endCxn id="56" idx="0"/>
          </p:cNvCxnSpPr>
          <p:nvPr/>
        </p:nvCxnSpPr>
        <p:spPr>
          <a:xfrm rot="5400000">
            <a:off x="2907942" y="1602966"/>
            <a:ext cx="1104892" cy="2985226"/>
          </a:xfrm>
          <a:prstGeom prst="bentConnector3">
            <a:avLst>
              <a:gd name="adj1" fmla="val 92242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cxnSp>
        <p:nvCxnSpPr>
          <p:cNvPr id="50" name="꺾인 연결선 14">
            <a:extLst>
              <a:ext uri="{FF2B5EF4-FFF2-40B4-BE49-F238E27FC236}">
                <a16:creationId xmlns:a16="http://schemas.microsoft.com/office/drawing/2014/main" id="{D9EF3807-F602-7DA8-D630-B55B358E3019}"/>
              </a:ext>
            </a:extLst>
          </p:cNvPr>
          <p:cNvCxnSpPr>
            <a:cxnSpLocks/>
            <a:stCxn id="16" idx="2"/>
            <a:endCxn id="58" idx="0"/>
          </p:cNvCxnSpPr>
          <p:nvPr/>
        </p:nvCxnSpPr>
        <p:spPr>
          <a:xfrm rot="16200000" flipH="1">
            <a:off x="6111839" y="1822792"/>
            <a:ext cx="666394" cy="2984071"/>
          </a:xfrm>
          <a:prstGeom prst="bentConnector3">
            <a:avLst>
              <a:gd name="adj1" fmla="val 87163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79" name="모서리가 둥근 직사각형 167">
            <a:extLst>
              <a:ext uri="{FF2B5EF4-FFF2-40B4-BE49-F238E27FC236}">
                <a16:creationId xmlns:a16="http://schemas.microsoft.com/office/drawing/2014/main" id="{2F81A2C8-F027-6A03-111E-1AA8DD78A300}"/>
              </a:ext>
            </a:extLst>
          </p:cNvPr>
          <p:cNvSpPr/>
          <p:nvPr/>
        </p:nvSpPr>
        <p:spPr bwMode="auto">
          <a:xfrm>
            <a:off x="899061" y="2237127"/>
            <a:ext cx="1751123" cy="243536"/>
          </a:xfrm>
          <a:prstGeom prst="roundRect">
            <a:avLst>
              <a:gd name="adj" fmla="val 0"/>
            </a:avLst>
          </a:prstGeom>
          <a:solidFill>
            <a:srgbClr val="70AD47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산업현장 전문가 자문위원회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0E196EA-52A3-5E21-C044-8ED0C1820609}"/>
              </a:ext>
            </a:extLst>
          </p:cNvPr>
          <p:cNvSpPr/>
          <p:nvPr/>
        </p:nvSpPr>
        <p:spPr>
          <a:xfrm>
            <a:off x="899061" y="2522316"/>
            <a:ext cx="1751123" cy="42235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lIns="36000" tIns="18000" rIns="0" bIns="18000" rtlCol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친환경 </a:t>
            </a:r>
            <a:r>
              <a:rPr lang="ko-KR" altLang="en-US" sz="1000" kern="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바이오화학</a:t>
            </a:r>
            <a:r>
              <a:rPr lang="en-US" altLang="ko-KR" sz="10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0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저탄소</a:t>
            </a:r>
            <a:r>
              <a:rPr lang="en-US" altLang="ko-KR" sz="10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·AI</a:t>
            </a:r>
            <a:r>
              <a:rPr lang="ko-KR" altLang="en-US" sz="10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분야 전문가 활용</a:t>
            </a:r>
            <a:endParaRPr lang="en-US" altLang="ko-KR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81" name="꺾인 연결선 14">
            <a:extLst>
              <a:ext uri="{FF2B5EF4-FFF2-40B4-BE49-F238E27FC236}">
                <a16:creationId xmlns:a16="http://schemas.microsoft.com/office/drawing/2014/main" id="{BB53DC42-9FE6-854C-B1A9-B0B6491FA3EA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2650184" y="2245990"/>
            <a:ext cx="2302817" cy="385568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06041F-A03A-9C2C-8DC0-A076FE3577DD}"/>
              </a:ext>
            </a:extLst>
          </p:cNvPr>
          <p:cNvSpPr/>
          <p:nvPr/>
        </p:nvSpPr>
        <p:spPr>
          <a:xfrm>
            <a:off x="344488" y="1939173"/>
            <a:ext cx="9217025" cy="2748617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200" spc="-5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tx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236AAD-DD0D-2531-17BD-AC978BCB76FE}"/>
              </a:ext>
            </a:extLst>
          </p:cNvPr>
          <p:cNvSpPr/>
          <p:nvPr/>
        </p:nvSpPr>
        <p:spPr>
          <a:xfrm>
            <a:off x="874549" y="3952617"/>
            <a:ext cx="2190242" cy="681239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rgbClr val="E7E6E6">
                <a:lumMod val="90000"/>
              </a:srgbClr>
            </a:solidFill>
            <a:miter lim="800000"/>
            <a:headEnd/>
            <a:tailEnd/>
          </a:ln>
          <a:effectLst/>
        </p:spPr>
        <p:txBody>
          <a:bodyPr lIns="0" tIns="72001" rIns="0" bIns="0" anchor="t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이석주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책임연구원</a:t>
            </a: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허상희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주임연구원</a:t>
            </a:r>
          </a:p>
        </p:txBody>
      </p:sp>
      <p:sp>
        <p:nvSpPr>
          <p:cNvPr id="56" name="모서리가 둥근 직사각형 167">
            <a:extLst>
              <a:ext uri="{FF2B5EF4-FFF2-40B4-BE49-F238E27FC236}">
                <a16:creationId xmlns:a16="http://schemas.microsoft.com/office/drawing/2014/main" id="{0E1D8322-16EA-63ED-7D85-35A447810D5A}"/>
              </a:ext>
            </a:extLst>
          </p:cNvPr>
          <p:cNvSpPr/>
          <p:nvPr/>
        </p:nvSpPr>
        <p:spPr bwMode="auto">
          <a:xfrm>
            <a:off x="874220" y="3648025"/>
            <a:ext cx="2187109" cy="242583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직무역량모델링 부문</a:t>
            </a:r>
          </a:p>
        </p:txBody>
      </p:sp>
      <p:sp>
        <p:nvSpPr>
          <p:cNvPr id="58" name="모서리가 둥근 직사각형 167">
            <a:extLst>
              <a:ext uri="{FF2B5EF4-FFF2-40B4-BE49-F238E27FC236}">
                <a16:creationId xmlns:a16="http://schemas.microsoft.com/office/drawing/2014/main" id="{66544AB8-ACA7-7370-90AB-824048508938}"/>
              </a:ext>
            </a:extLst>
          </p:cNvPr>
          <p:cNvSpPr/>
          <p:nvPr/>
        </p:nvSpPr>
        <p:spPr bwMode="auto">
          <a:xfrm>
            <a:off x="6843517" y="3648025"/>
            <a:ext cx="2187109" cy="243536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반영 </a:t>
            </a:r>
            <a:r>
              <a:rPr lang="ko-KR" altLang="en-US" sz="1050" kern="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교육로드맵</a:t>
            </a:r>
            <a:r>
              <a:rPr lang="ko-KR" altLang="en-US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및 과정 설계 부문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CE1F0FC-DBB2-890C-1D67-5B21781F987E}"/>
              </a:ext>
            </a:extLst>
          </p:cNvPr>
          <p:cNvSpPr/>
          <p:nvPr/>
        </p:nvSpPr>
        <p:spPr>
          <a:xfrm>
            <a:off x="6841209" y="3952617"/>
            <a:ext cx="2190242" cy="681239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rgbClr val="E7E6E6">
                <a:lumMod val="90000"/>
              </a:srgbClr>
            </a:solidFill>
            <a:miter lim="800000"/>
            <a:headEnd/>
            <a:tailEnd/>
          </a:ln>
          <a:effectLst/>
        </p:spPr>
        <p:txBody>
          <a:bodyPr lIns="0" tIns="72001" rIns="0" bIns="0" anchor="t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조예슬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선임연구원</a:t>
            </a: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안은하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주임연구원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F4A2962-90DA-73B1-B2CF-65E187EFA179}"/>
              </a:ext>
            </a:extLst>
          </p:cNvPr>
          <p:cNvGrpSpPr/>
          <p:nvPr/>
        </p:nvGrpSpPr>
        <p:grpSpPr>
          <a:xfrm>
            <a:off x="377068" y="4007326"/>
            <a:ext cx="543062" cy="553470"/>
            <a:chOff x="514351" y="4007326"/>
            <a:chExt cx="543062" cy="55347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B84A00E-DC2F-7CD6-2D66-781235EC077B}"/>
                </a:ext>
              </a:extLst>
            </p:cNvPr>
            <p:cNvSpPr/>
            <p:nvPr/>
          </p:nvSpPr>
          <p:spPr>
            <a:xfrm>
              <a:off x="514351" y="4007326"/>
              <a:ext cx="543062" cy="1183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95" eaLnBrk="0" fontAlgn="base" latinLnBrk="1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700" i="1" u="sng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책임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7A10D21-2F26-5F65-82F3-5042ACB6ABDA}"/>
                </a:ext>
              </a:extLst>
            </p:cNvPr>
            <p:cNvSpPr/>
            <p:nvPr/>
          </p:nvSpPr>
          <p:spPr>
            <a:xfrm>
              <a:off x="514351" y="4360741"/>
              <a:ext cx="543062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95" eaLnBrk="0" fontAlgn="base" latinLnBrk="1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700" i="1" u="sng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수행지원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E41CAA-A53E-7FD2-B141-5C78B0328D57}"/>
              </a:ext>
            </a:extLst>
          </p:cNvPr>
          <p:cNvSpPr/>
          <p:nvPr/>
        </p:nvSpPr>
        <p:spPr>
          <a:xfrm>
            <a:off x="3819096" y="2753460"/>
            <a:ext cx="2267809" cy="15752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36000" tIns="18000" rIns="0" bIns="18000" rtlCol="0" anchor="ctr"/>
          <a:lstStyle/>
          <a:p>
            <a:pPr algn="ctr" defTabSz="914395">
              <a:tabLst>
                <a:tab pos="0" algn="l"/>
              </a:tabLst>
              <a:defRPr/>
            </a:pPr>
            <a:endParaRPr lang="ko-KR" altLang="en-US" sz="70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7" name="모서리가 둥근 직사각형 167">
            <a:extLst>
              <a:ext uri="{FF2B5EF4-FFF2-40B4-BE49-F238E27FC236}">
                <a16:creationId xmlns:a16="http://schemas.microsoft.com/office/drawing/2014/main" id="{6C0F5B69-63F6-5137-8E84-DF8B40304AA3}"/>
              </a:ext>
            </a:extLst>
          </p:cNvPr>
          <p:cNvSpPr/>
          <p:nvPr/>
        </p:nvSpPr>
        <p:spPr bwMode="auto">
          <a:xfrm>
            <a:off x="3859448" y="3648025"/>
            <a:ext cx="2187105" cy="243536"/>
          </a:xfrm>
          <a:prstGeom prst="roundRect">
            <a:avLst>
              <a:gd name="adj" fmla="val 0"/>
            </a:avLst>
          </a:prstGeom>
          <a:solidFill>
            <a:srgbClr val="E2F0D9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차세대 </a:t>
            </a:r>
            <a:r>
              <a:rPr lang="en-US" altLang="ko-KR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05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반영 교육체계 고도화 부문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115C7AE-0539-4F23-E4BA-0B113E6CA41F}"/>
              </a:ext>
            </a:extLst>
          </p:cNvPr>
          <p:cNvSpPr/>
          <p:nvPr/>
        </p:nvSpPr>
        <p:spPr>
          <a:xfrm>
            <a:off x="3857879" y="3952617"/>
            <a:ext cx="2190242" cy="681239"/>
          </a:xfrm>
          <a:prstGeom prst="rect">
            <a:avLst/>
          </a:prstGeom>
          <a:solidFill>
            <a:sysClr val="window" lastClr="FFFFFF"/>
          </a:solidFill>
          <a:ln w="12700" algn="ctr">
            <a:solidFill>
              <a:srgbClr val="E7E6E6">
                <a:lumMod val="90000"/>
              </a:srgbClr>
            </a:solidFill>
            <a:miter lim="800000"/>
            <a:headEnd/>
            <a:tailEnd/>
          </a:ln>
          <a:effectLst/>
        </p:spPr>
        <p:txBody>
          <a:bodyPr lIns="0" tIns="72001" rIns="0" bIns="0" anchor="t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이석주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책임연구원</a:t>
            </a: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안은하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주임연구원</a:t>
            </a:r>
          </a:p>
        </p:txBody>
      </p:sp>
      <p:sp>
        <p:nvSpPr>
          <p:cNvPr id="47" name="모서리가 둥근 직사각형 167">
            <a:extLst>
              <a:ext uri="{FF2B5EF4-FFF2-40B4-BE49-F238E27FC236}">
                <a16:creationId xmlns:a16="http://schemas.microsoft.com/office/drawing/2014/main" id="{05F73BFF-6A9B-A481-83A3-36745634EE78}"/>
              </a:ext>
            </a:extLst>
          </p:cNvPr>
          <p:cNvSpPr/>
          <p:nvPr/>
        </p:nvSpPr>
        <p:spPr bwMode="auto">
          <a:xfrm>
            <a:off x="3859448" y="2002454"/>
            <a:ext cx="2187105" cy="243536"/>
          </a:xfrm>
          <a:prstGeom prst="roundRect">
            <a:avLst>
              <a:gd name="adj" fmla="val 0"/>
            </a:avLst>
          </a:prstGeom>
          <a:solidFill>
            <a:srgbClr val="344532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사업 책임자 </a:t>
            </a:r>
            <a:r>
              <a: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(PM)</a:t>
            </a:r>
            <a:endParaRPr lang="ko-KR" altLang="en-US" sz="1000" kern="0" spc="-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CB8483C-F6D3-798B-375E-FF0ACEE661D0}"/>
              </a:ext>
            </a:extLst>
          </p:cNvPr>
          <p:cNvSpPr/>
          <p:nvPr/>
        </p:nvSpPr>
        <p:spPr>
          <a:xfrm>
            <a:off x="3859448" y="2299597"/>
            <a:ext cx="2187105" cy="24353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lIns="36000" tIns="18000" rIns="0" bIns="18000" rtlCol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유대훈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수석연구원</a:t>
            </a:r>
            <a:r>
              <a:rPr lang="en-US" altLang="ko-KR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본부장</a:t>
            </a: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모서리가 둥근 직사각형 167">
            <a:extLst>
              <a:ext uri="{FF2B5EF4-FFF2-40B4-BE49-F238E27FC236}">
                <a16:creationId xmlns:a16="http://schemas.microsoft.com/office/drawing/2014/main" id="{C571D954-0B5C-FB42-EEDC-BAA171B49165}"/>
              </a:ext>
            </a:extLst>
          </p:cNvPr>
          <p:cNvSpPr/>
          <p:nvPr/>
        </p:nvSpPr>
        <p:spPr bwMode="auto">
          <a:xfrm>
            <a:off x="3859448" y="2738095"/>
            <a:ext cx="2187105" cy="243536"/>
          </a:xfrm>
          <a:prstGeom prst="roundRect">
            <a:avLst>
              <a:gd name="adj" fmla="val 0"/>
            </a:avLst>
          </a:prstGeom>
          <a:solidFill>
            <a:srgbClr val="70AD47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395" eaLnBrk="0" fontAlgn="base" hangingPunct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실무 책임자</a:t>
            </a:r>
            <a:r>
              <a:rPr lang="en-US" altLang="ko-KR" sz="1000" kern="0" spc="-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(PL)</a:t>
            </a:r>
            <a:endParaRPr lang="ko-KR" altLang="en-US" sz="1000" kern="0" spc="-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3113C7-27C6-80D7-1043-71FFB256D37A}"/>
              </a:ext>
            </a:extLst>
          </p:cNvPr>
          <p:cNvSpPr/>
          <p:nvPr/>
        </p:nvSpPr>
        <p:spPr>
          <a:xfrm>
            <a:off x="3859448" y="3023284"/>
            <a:ext cx="2187105" cy="42235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lIns="36000" tIns="18000" rIns="0" bIns="18000" rtlCol="0" anchor="ctr"/>
          <a:lstStyle/>
          <a:p>
            <a:pPr algn="ctr" defTabSz="91439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/>
            </a:pPr>
            <a:r>
              <a:rPr lang="ko-KR" altLang="en-US" sz="1050" kern="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조예슬</a:t>
            </a:r>
            <a:r>
              <a:rPr lang="ko-KR" altLang="en-US" sz="105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선임연구원</a:t>
            </a:r>
            <a:endParaRPr lang="en-US" altLang="ko-KR" sz="1050" kern="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7A7AAA0-A472-B8F0-1D61-F32807C8132C}"/>
              </a:ext>
            </a:extLst>
          </p:cNvPr>
          <p:cNvCxnSpPr>
            <a:cxnSpLocks/>
          </p:cNvCxnSpPr>
          <p:nvPr/>
        </p:nvCxnSpPr>
        <p:spPr>
          <a:xfrm>
            <a:off x="4953000" y="3445643"/>
            <a:ext cx="0" cy="202382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254AA6-41C9-780D-BD8C-47886D77B25D}"/>
              </a:ext>
            </a:extLst>
          </p:cNvPr>
          <p:cNvSpPr/>
          <p:nvPr/>
        </p:nvSpPr>
        <p:spPr>
          <a:xfrm>
            <a:off x="6519998" y="1631733"/>
            <a:ext cx="3041516" cy="2695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원본 제안서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P. 37~ P. 38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참고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]</a:t>
            </a:r>
            <a:endParaRPr lang="ko-KR" altLang="en-US" sz="800" spc="-50" dirty="0">
              <a:solidFill>
                <a:schemeClr val="tx1">
                  <a:lumMod val="50000"/>
                  <a:lumOff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0446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B19B-5990-B7B3-73F7-DAA13593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텍스트 개체 틀 1">
            <a:extLst>
              <a:ext uri="{FF2B5EF4-FFF2-40B4-BE49-F238E27FC236}">
                <a16:creationId xmlns:a16="http://schemas.microsoft.com/office/drawing/2014/main" id="{E4CF244F-7CA7-1348-DEF8-5C9BFCBA9BF2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과업은 착수일로부터 </a:t>
            </a:r>
            <a:r>
              <a:rPr lang="ko-KR" altLang="en-US" dirty="0">
                <a:solidFill>
                  <a:srgbClr val="FF6600"/>
                </a:solidFill>
              </a:rPr>
              <a:t>약 </a:t>
            </a:r>
            <a:r>
              <a:rPr lang="en-US" altLang="ko-KR" dirty="0">
                <a:solidFill>
                  <a:srgbClr val="FF6600"/>
                </a:solidFill>
              </a:rPr>
              <a:t>9</a:t>
            </a:r>
            <a:r>
              <a:rPr lang="ko-KR" altLang="en-US" dirty="0">
                <a:solidFill>
                  <a:srgbClr val="FF6600"/>
                </a:solidFill>
              </a:rPr>
              <a:t>개월</a:t>
            </a:r>
            <a:r>
              <a:rPr lang="en-US" altLang="ko-KR" dirty="0">
                <a:solidFill>
                  <a:srgbClr val="FF6600"/>
                </a:solidFill>
              </a:rPr>
              <a:t> </a:t>
            </a:r>
            <a:r>
              <a:rPr lang="ko-KR" altLang="en-US" dirty="0">
                <a:solidFill>
                  <a:srgbClr val="FF6600"/>
                </a:solidFill>
              </a:rPr>
              <a:t>간</a:t>
            </a:r>
            <a:r>
              <a:rPr lang="en-US" altLang="ko-KR" dirty="0">
                <a:solidFill>
                  <a:srgbClr val="FF6600"/>
                </a:solidFill>
              </a:rPr>
              <a:t> </a:t>
            </a:r>
            <a:r>
              <a:rPr lang="ko-KR" altLang="en-US" dirty="0">
                <a:solidFill>
                  <a:srgbClr val="FF6600"/>
                </a:solidFill>
              </a:rPr>
              <a:t>추진되며</a:t>
            </a:r>
            <a:r>
              <a:rPr lang="en-US" altLang="ko-KR" dirty="0"/>
              <a:t>,</a:t>
            </a:r>
            <a:r>
              <a:rPr lang="ko-KR" altLang="en-US" dirty="0"/>
              <a:t> 추진일정에 따른 산출물의 종류를 다음과 같이 제시함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7910F-419E-66FE-081E-E29418A8111C}"/>
              </a:ext>
            </a:extLst>
          </p:cNvPr>
          <p:cNvSpPr txBox="1"/>
          <p:nvPr/>
        </p:nvSpPr>
        <p:spPr>
          <a:xfrm>
            <a:off x="304730" y="6416675"/>
            <a:ext cx="4953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* </a:t>
            </a:r>
            <a:r>
              <a:rPr lang="ko-KR" altLang="en-US" sz="9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추진일정은 공동훈련센터 내부 사정에 따라 변경될 수 있으며</a:t>
            </a:r>
            <a:r>
              <a:rPr lang="en-US" altLang="ko-KR" sz="9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9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담당자와의 협의를 통해 진행함</a:t>
            </a:r>
            <a:r>
              <a:rPr lang="en-US" altLang="ko-KR" sz="9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.</a:t>
            </a:r>
            <a:endParaRPr lang="ko-KR" altLang="en-US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4F0077-7F7B-6E80-2A8F-E20496DE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518" y="6492878"/>
            <a:ext cx="440967" cy="365125"/>
          </a:xfrm>
        </p:spPr>
        <p:txBody>
          <a:bodyPr/>
          <a:lstStyle/>
          <a:p>
            <a:pPr latinLnBrk="0"/>
            <a:r>
              <a:rPr lang="en-US" altLang="ko-KR" spc="-50" dirty="0">
                <a:latin typeface="페이퍼로지 4 Regular" pitchFamily="2" charset="-127"/>
                <a:ea typeface="페이퍼로지 4 Regular" pitchFamily="2" charset="-127"/>
              </a:rPr>
              <a:t>- </a:t>
            </a:r>
            <a:fld id="{F0AEE96D-C800-4200-B178-74DC3655196B}" type="slidenum">
              <a:rPr lang="ko-KR" altLang="en-US" spc="-50">
                <a:latin typeface="페이퍼로지 4 Regular" pitchFamily="2" charset="-127"/>
                <a:ea typeface="페이퍼로지 4 Regular" pitchFamily="2" charset="-127"/>
              </a:rPr>
              <a:pPr latinLnBrk="0"/>
              <a:t>28</a:t>
            </a:fld>
            <a:r>
              <a:rPr lang="ko-KR" altLang="en-US" spc="-5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pc="-5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endParaRPr lang="ko-KR" altLang="en-US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B5634D1-47B4-AC23-AAA4-8C9B04275460}"/>
              </a:ext>
            </a:extLst>
          </p:cNvPr>
          <p:cNvSpPr/>
          <p:nvPr/>
        </p:nvSpPr>
        <p:spPr>
          <a:xfrm>
            <a:off x="7294246" y="257475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Ⅳ.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과업수행 조직 및 관리</a:t>
            </a:r>
          </a:p>
          <a:p>
            <a:pPr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추진일정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15C7815-3DE0-4034-B256-948AC1AA6EB7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DA8C5E2C-24D5-DDF6-E002-6E4EE94D898E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CD6D75-5D5B-31AB-B357-A3C093BBB97E}"/>
                </a:ext>
              </a:extLst>
            </p:cNvPr>
            <p:cNvSpPr txBox="1"/>
            <p:nvPr/>
          </p:nvSpPr>
          <p:spPr>
            <a:xfrm>
              <a:off x="377068" y="300781"/>
              <a:ext cx="9943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ko-KR" altLang="en-US" sz="1400" spc="-50" dirty="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rPr>
                <a:t>추진 일정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997899-FBA9-3A64-0ACA-669AA2640287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추진 일정 계획</a:t>
            </a:r>
            <a:endParaRPr lang="en-US" altLang="ko-KR" sz="1400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EEF6B9C-A503-A90A-919B-F437F6F74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790234"/>
              </p:ext>
            </p:extLst>
          </p:nvPr>
        </p:nvGraphicFramePr>
        <p:xfrm>
          <a:off x="349513" y="1376362"/>
          <a:ext cx="9212003" cy="5040304"/>
        </p:xfrm>
        <a:graphic>
          <a:graphicData uri="http://schemas.openxmlformats.org/drawingml/2006/table">
            <a:tbl>
              <a:tblPr/>
              <a:tblGrid>
                <a:gridCol w="2356552">
                  <a:extLst>
                    <a:ext uri="{9D8B030D-6E8A-4147-A177-3AD203B41FA5}">
                      <a16:colId xmlns:a16="http://schemas.microsoft.com/office/drawing/2014/main" val="1545296553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971590171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40370429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908767490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084390783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361929728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213832546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3917538147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3084704756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135102370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175831582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1197406424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467214496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562697691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1655962156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2665601064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3214802027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1565659090"/>
                    </a:ext>
                  </a:extLst>
                </a:gridCol>
                <a:gridCol w="285003">
                  <a:extLst>
                    <a:ext uri="{9D8B030D-6E8A-4147-A177-3AD203B41FA5}">
                      <a16:colId xmlns:a16="http://schemas.microsoft.com/office/drawing/2014/main" val="3244290625"/>
                    </a:ext>
                  </a:extLst>
                </a:gridCol>
                <a:gridCol w="1725397">
                  <a:extLst>
                    <a:ext uri="{9D8B030D-6E8A-4147-A177-3AD203B41FA5}">
                      <a16:colId xmlns:a16="http://schemas.microsoft.com/office/drawing/2014/main" val="137229208"/>
                    </a:ext>
                  </a:extLst>
                </a:gridCol>
              </a:tblGrid>
              <a:tr h="19403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훈련운영 주요과정</a:t>
                      </a: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gridSpan="1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2026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년</a:t>
                      </a: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0" spc="-7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29987" marR="29987" marT="16640" marB="1664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0" spc="-7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29987" marR="29987" marT="16640" marB="1664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9987" marR="29987" marT="16640" marB="1664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 산출물</a:t>
                      </a: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31013"/>
                  </a:ext>
                </a:extLst>
              </a:tr>
              <a:tr h="1940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50" baseline="0" dirty="0">
                        <a:solidFill>
                          <a:schemeClr val="bg1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0" spc="-7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29987" marR="29987" marT="16640" marB="1664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7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9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11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12</a:t>
                      </a:r>
                      <a:r>
                        <a:rPr lang="ko-KR" altLang="en-US" sz="9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50" baseline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75073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Module 1. AI 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직무역량모델링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업종별</a:t>
                      </a: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직무별 </a:t>
                      </a: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활용방안 및 핵심 스킬 목록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교육과정에서 다루는 스킬 목록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직무역량 모델 및 핵심 스킬 목록</a:t>
                      </a:r>
                      <a:endParaRPr lang="en-US" altLang="ko-KR" sz="95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479259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indent="0" algn="l" defTabSz="914400" rtl="0" eaLnBrk="1" latinLnBrk="0" hangingPunct="1"/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활용방안 조사 </a:t>
                      </a: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0"/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704371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친환경 </a:t>
                      </a:r>
                      <a:r>
                        <a:rPr lang="ko-KR" altLang="en-US" sz="900" kern="0" spc="-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ko-KR" altLang="en-US" sz="900" kern="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-50" baseline="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00" kern="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분석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964111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역량모델 구축</a:t>
                      </a:r>
                      <a:endParaRPr lang="ko-KR" altLang="en-US" sz="900" kern="0" spc="-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99713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Module 2. 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차세대 </a:t>
                      </a:r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반영 교육체계</a:t>
                      </a:r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고도화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교육과정–AI 직무역량 </a:t>
                      </a:r>
                      <a:r>
                        <a:rPr lang="ko-KR" altLang="ko-KR" sz="95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매핑표</a:t>
                      </a:r>
                      <a:r>
                        <a:rPr lang="ko-KR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endParaRPr lang="en-US" altLang="ko-KR" sz="95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</a:t>
                      </a:r>
                      <a:r>
                        <a:rPr lang="en-US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95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endParaRPr lang="en-US" altLang="ko-KR" sz="95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수요 </a:t>
                      </a:r>
                      <a:r>
                        <a:rPr lang="ko-KR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 결과</a:t>
                      </a: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차세대(’26~’30) AI 반영 교육</a:t>
                      </a:r>
                      <a:r>
                        <a:rPr lang="en-US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체계 및 마스터플랜</a:t>
                      </a:r>
                      <a:r>
                        <a:rPr lang="en-US" altLang="ko-KR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95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고도화 결과</a:t>
                      </a:r>
                      <a:endParaRPr lang="ko-KR" altLang="ko-KR" sz="950" kern="0" spc="-50" baseline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089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indent="0" algn="l" defTabSz="914400" rtl="0" eaLnBrk="1" latinLnBrk="0" hangingPunct="1"/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 </a:t>
                      </a: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– 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직무역량 매핑 분석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25168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indent="0" algn="l" defTabSz="914400" rtl="0" eaLnBrk="1" latinLnBrk="0" hangingPunct="1"/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수요조사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5134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indent="0" algn="l" defTabSz="914400" rtl="0" eaLnBrk="1" latinLnBrk="0" hangingPunct="1"/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</a:t>
                      </a: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(’26~’30) 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마스터플랜 고도화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64804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Module 3. AI 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900" kern="0" spc="-50" baseline="0" dirty="0" err="1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및 과정 설계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79388" algn="l"/>
                        </a:tabLst>
                        <a:defRPr/>
                      </a:pP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950" kern="0" spc="-50" baseline="0" noProof="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재설계 결과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79388" algn="l"/>
                        </a:tabLst>
                        <a:defRPr/>
                      </a:pP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기존 교육과정 재설계 결과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79388" algn="l"/>
                        </a:tabLst>
                        <a:defRPr/>
                      </a:pP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 맞춤형 </a:t>
                      </a:r>
                      <a:r>
                        <a:rPr lang="en-US" altLang="ko-KR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교육과정 기획안 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31524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900" kern="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재설계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156355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기존 교육과정 재설계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78119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 맞춤형 </a:t>
                      </a:r>
                      <a:r>
                        <a:rPr lang="en-US" altLang="ko-KR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교육 콘텐츠 설계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636860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최종보고서 제출 및 수정</a:t>
                      </a:r>
                      <a:r>
                        <a:rPr lang="en-US" altLang="ko-KR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0" spc="-50" baseline="0" dirty="0">
                          <a:solidFill>
                            <a:schemeClr val="tx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보완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63525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50" kern="0" spc="-50" baseline="0" noProof="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최종보고서</a:t>
                      </a:r>
                      <a:endParaRPr lang="en-US" altLang="ko-KR" sz="950" kern="0" spc="-50" baseline="0" noProof="0" dirty="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67394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최종보고서 초안 제출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256297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보고서 보완 및 고도화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19441"/>
                  </a:ext>
                </a:extLst>
              </a:tr>
              <a:tr h="232981">
                <a:tc>
                  <a:txBody>
                    <a:bodyPr/>
                    <a:lstStyle/>
                    <a:p>
                      <a:pPr marL="17780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최종보고서 제출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167884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전문가 자문회의</a:t>
                      </a: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220340"/>
                  </a:ext>
                </a:extLst>
              </a:tr>
              <a:tr h="31499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정기보고회 </a:t>
                      </a: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착수</a:t>
                      </a: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중간</a:t>
                      </a: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</a:t>
                      </a:r>
                      <a:r>
                        <a:rPr lang="en-US" altLang="ko-KR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baseline="0" dirty="0"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rgbClr val="00206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50" kern="0" spc="-50" baseline="0" dirty="0">
                        <a:solidFill>
                          <a:srgbClr val="00206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209068"/>
                  </a:ext>
                </a:extLst>
              </a:tr>
              <a:tr h="30477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50" baseline="0" dirty="0"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정기 격주보고</a:t>
                      </a: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Arial" panose="020B0604020202020204" pitchFamily="34" charset="0"/>
                        </a:rPr>
                        <a:t>격주 </a:t>
                      </a:r>
                      <a:r>
                        <a:rPr kumimoji="1" lang="en-US" altLang="ko-KR" sz="1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Arial" panose="020B0604020202020204" pitchFamily="34" charset="0"/>
                        </a:rPr>
                        <a:t>회 이상 발주기관 담당자와 진행사항 점검 및 업무협의 진행을 통한 이슈 해결</a:t>
                      </a:r>
                      <a:endParaRPr kumimoji="1" lang="en-US" altLang="ko-KR" sz="1000" b="0" i="0" u="none" strike="noStrike" cap="none" spc="-5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Arial" panose="020B0604020202020204" pitchFamily="34" charset="0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70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spc="-5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Arial" panose="020B0604020202020204" pitchFamily="34" charset="0"/>
                      </a:endParaRPr>
                    </a:p>
                  </a:txBody>
                  <a:tcPr marL="29987" marR="29987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69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08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D9BA-6CF6-1935-83A5-D75AFC2F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B13DE0-C908-785C-5969-5D884DEB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- </a:t>
            </a:r>
            <a:fld id="{F0AEE96D-C800-4200-B178-74DC3655196B}" type="slidenum">
              <a:rPr lang="ko-KR" altLang="en-US" spc="-50" smtClean="0">
                <a:latin typeface="a고딕18" panose="02020600000000000000" pitchFamily="18" charset="-127"/>
                <a:ea typeface="a고딕18" panose="02020600000000000000" pitchFamily="18" charset="-127"/>
              </a:rPr>
              <a:pPr/>
              <a:t>29</a:t>
            </a:fld>
            <a:r>
              <a:rPr lang="ko-KR" altLang="en-US"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 </a:t>
            </a:r>
            <a:r>
              <a:rPr spc="-50" dirty="0">
                <a:latin typeface="a고딕18" panose="02020600000000000000" pitchFamily="18" charset="-127"/>
                <a:ea typeface="a고딕18" panose="02020600000000000000" pitchFamily="18" charset="-127"/>
              </a:rPr>
              <a:t>-</a:t>
            </a:r>
            <a:endParaRPr lang="ko-KR" altLang="en-US" spc="-50" dirty="0"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B56CC6-32AB-6367-A8AB-CD483D1ED809}"/>
              </a:ext>
            </a:extLst>
          </p:cNvPr>
          <p:cNvSpPr/>
          <p:nvPr/>
        </p:nvSpPr>
        <p:spPr>
          <a:xfrm>
            <a:off x="1513166" y="262250"/>
            <a:ext cx="4321743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부문별 사업 관리방안</a:t>
            </a:r>
            <a:endParaRPr lang="en-US" altLang="ko-KR" sz="1400" spc="-50" dirty="0">
              <a:solidFill>
                <a:schemeClr val="tx1">
                  <a:lumMod val="75000"/>
                  <a:lumOff val="2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FD07D0-7FBA-BA44-FD1A-2F8F823368F5}"/>
              </a:ext>
            </a:extLst>
          </p:cNvPr>
          <p:cNvSpPr/>
          <p:nvPr/>
        </p:nvSpPr>
        <p:spPr>
          <a:xfrm>
            <a:off x="7003774" y="257475"/>
            <a:ext cx="2557739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Ⅳ.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과업수행 조직 및 관리</a:t>
            </a:r>
          </a:p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사업 관리방안</a:t>
            </a: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C8430497-9152-AFF9-7F2E-C185EE657915}"/>
              </a:ext>
            </a:extLst>
          </p:cNvPr>
          <p:cNvGrpSpPr/>
          <p:nvPr/>
        </p:nvGrpSpPr>
        <p:grpSpPr>
          <a:xfrm>
            <a:off x="344953" y="-7270"/>
            <a:ext cx="1058535" cy="735932"/>
            <a:chOff x="344953" y="-7270"/>
            <a:chExt cx="1058535" cy="735932"/>
          </a:xfrm>
          <a:solidFill>
            <a:srgbClr val="344532"/>
          </a:solidFill>
        </p:grpSpPr>
        <p:sp>
          <p:nvSpPr>
            <p:cNvPr id="101" name="사각형: 둥근 위쪽 모서리 100">
              <a:extLst>
                <a:ext uri="{FF2B5EF4-FFF2-40B4-BE49-F238E27FC236}">
                  <a16:creationId xmlns:a16="http://schemas.microsoft.com/office/drawing/2014/main" id="{665670FA-61F9-6CB6-7D1E-66C276789E78}"/>
                </a:ext>
              </a:extLst>
            </p:cNvPr>
            <p:cNvSpPr/>
            <p:nvPr/>
          </p:nvSpPr>
          <p:spPr>
            <a:xfrm rot="10800000">
              <a:off x="344953" y="-7270"/>
              <a:ext cx="1058535" cy="735932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108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00" spc="-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361F6A9-6472-1E38-90CB-45C9B942E4AC}"/>
                </a:ext>
              </a:extLst>
            </p:cNvPr>
            <p:cNvSpPr txBox="1"/>
            <p:nvPr/>
          </p:nvSpPr>
          <p:spPr>
            <a:xfrm>
              <a:off x="389086" y="300781"/>
              <a:ext cx="970268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spc="-50">
                  <a:solidFill>
                    <a:prstClr val="white"/>
                  </a:solidFill>
                  <a:latin typeface="페이퍼로지 7 Bold" pitchFamily="2" charset="-127"/>
                  <a:ea typeface="페이퍼로지 7 Bold" pitchFamily="2" charset="-127"/>
                </a:defRPr>
              </a:lvl1pPr>
            </a:lstStyle>
            <a:p>
              <a:r>
                <a:rPr lang="ko-KR" altLang="en-US" dirty="0"/>
                <a:t>사업관리체계</a:t>
              </a:r>
            </a:p>
          </p:txBody>
        </p:sp>
      </p:grpSp>
      <p:sp>
        <p:nvSpPr>
          <p:cNvPr id="59" name="텍스트 개체 틀 1">
            <a:extLst>
              <a:ext uri="{FF2B5EF4-FFF2-40B4-BE49-F238E27FC236}">
                <a16:creationId xmlns:a16="http://schemas.microsoft.com/office/drawing/2014/main" id="{B236C6C2-4993-E37A-2567-ACD5A3CABFBE}"/>
              </a:ext>
            </a:extLst>
          </p:cNvPr>
          <p:cNvSpPr txBox="1">
            <a:spLocks/>
          </p:cNvSpPr>
          <p:nvPr/>
        </p:nvSpPr>
        <p:spPr>
          <a:xfrm>
            <a:off x="344487" y="836613"/>
            <a:ext cx="9217026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일정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위험관리계획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산출물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성과의 </a:t>
            </a:r>
            <a:r>
              <a:rPr lang="en-US" altLang="ko-KR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대 관리 모듈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을 </a:t>
            </a:r>
            <a:r>
              <a:rPr lang="ko-KR" altLang="en-US" sz="1700" spc="-50" dirty="0">
                <a:solidFill>
                  <a:srgbClr val="FF6600"/>
                </a:solidFill>
                <a:latin typeface="페이퍼로지 4 Regular" pitchFamily="2" charset="-127"/>
                <a:ea typeface="페이퍼로지 4 Regular" pitchFamily="2" charset="-127"/>
              </a:rPr>
              <a:t>유기적으로 연계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하여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700" spc="-50" dirty="0">
                <a:latin typeface="페이퍼로지 4 Regular" pitchFamily="2" charset="-127"/>
                <a:ea typeface="페이퍼로지 4 Regular" pitchFamily="2" charset="-127"/>
              </a:rPr>
              <a:t>사업 전 과정의 품질과 일정을 체계적으로 관리하여 과업 성과를 제고하고자 함</a:t>
            </a:r>
            <a:r>
              <a:rPr lang="en-US" altLang="ko-KR" sz="1700" spc="-5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endParaRPr lang="ko-KR" altLang="en-US" sz="17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1" name="텍스트 개체 틀 1">
            <a:extLst>
              <a:ext uri="{FF2B5EF4-FFF2-40B4-BE49-F238E27FC236}">
                <a16:creationId xmlns:a16="http://schemas.microsoft.com/office/drawing/2014/main" id="{D87DEC5F-285C-EB65-44D7-7D0F53E58C21}"/>
              </a:ext>
            </a:extLst>
          </p:cNvPr>
          <p:cNvSpPr txBox="1">
            <a:spLocks/>
          </p:cNvSpPr>
          <p:nvPr/>
        </p:nvSpPr>
        <p:spPr>
          <a:xfrm>
            <a:off x="344487" y="1538207"/>
            <a:ext cx="4464051" cy="335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spc="-50" dirty="0">
                <a:latin typeface="페이퍼로지 4 Regular" pitchFamily="2" charset="-127"/>
                <a:ea typeface="페이퍼로지 4 Regular" pitchFamily="2" charset="-127"/>
              </a:rPr>
              <a:t>사업관리 모듈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526A10B2-B0C7-7943-5BA5-EB9E72938895}"/>
              </a:ext>
            </a:extLst>
          </p:cNvPr>
          <p:cNvCxnSpPr>
            <a:cxnSpLocks/>
          </p:cNvCxnSpPr>
          <p:nvPr/>
        </p:nvCxnSpPr>
        <p:spPr>
          <a:xfrm>
            <a:off x="339695" y="1896459"/>
            <a:ext cx="9232994" cy="0"/>
          </a:xfrm>
          <a:prstGeom prst="line">
            <a:avLst/>
          </a:prstGeom>
          <a:ln w="28575">
            <a:solidFill>
              <a:srgbClr val="344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위쪽 모서리 50">
            <a:extLst>
              <a:ext uri="{FF2B5EF4-FFF2-40B4-BE49-F238E27FC236}">
                <a16:creationId xmlns:a16="http://schemas.microsoft.com/office/drawing/2014/main" id="{B09D8994-CCD1-487E-035D-5C802EEE9700}"/>
              </a:ext>
            </a:extLst>
          </p:cNvPr>
          <p:cNvSpPr/>
          <p:nvPr/>
        </p:nvSpPr>
        <p:spPr>
          <a:xfrm rot="5400000">
            <a:off x="358969" y="1969272"/>
            <a:ext cx="4428609" cy="44661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1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CF6FC6-454D-8026-0835-36A5AB42947A}"/>
              </a:ext>
            </a:extLst>
          </p:cNvPr>
          <p:cNvSpPr/>
          <p:nvPr/>
        </p:nvSpPr>
        <p:spPr>
          <a:xfrm>
            <a:off x="419870" y="2066011"/>
            <a:ext cx="4294109" cy="20535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endParaRPr kumimoji="1" lang="en-US" altLang="ko-KR" sz="1000" b="0" i="0" u="none" strike="noStrike" kern="0" cap="none" spc="-5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3AA0309-449C-3204-5195-52283CC3E8E3}"/>
              </a:ext>
            </a:extLst>
          </p:cNvPr>
          <p:cNvSpPr/>
          <p:nvPr/>
        </p:nvSpPr>
        <p:spPr>
          <a:xfrm>
            <a:off x="469247" y="1996160"/>
            <a:ext cx="832504" cy="173185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>
                <a:latin typeface="페이퍼로지 4 Regular" pitchFamily="2" charset="-127"/>
                <a:ea typeface="페이퍼로지 4 Regular" pitchFamily="2" charset="-127"/>
              </a:rPr>
              <a:t>① 일정관리</a:t>
            </a:r>
            <a:endParaRPr lang="ko-KR" altLang="en-US" sz="10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A70524-F68C-1D92-B2CE-393B84DC12A3}"/>
              </a:ext>
            </a:extLst>
          </p:cNvPr>
          <p:cNvSpPr/>
          <p:nvPr/>
        </p:nvSpPr>
        <p:spPr>
          <a:xfrm>
            <a:off x="419870" y="4287702"/>
            <a:ext cx="4294109" cy="20535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L="88900" indent="-88900" defTabSz="914400" fontAlgn="base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사업 前</a:t>
            </a:r>
            <a:r>
              <a:rPr lang="en-US" altLang="ko-KR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中</a:t>
            </a:r>
            <a:r>
              <a:rPr lang="en-US" altLang="ko-KR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後 발생 가능한 위험요인 식별</a:t>
            </a:r>
            <a:endParaRPr lang="en-US" altLang="ko-KR" sz="900" kern="0" spc="-3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위험요인별 원인 및 대응방안 수립</a:t>
            </a:r>
            <a:endParaRPr lang="en-US" altLang="ko-KR" sz="900" kern="0" spc="-3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marL="88900" indent="-88900" defTabSz="914400" fontAlgn="base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위험관리 </a:t>
            </a:r>
            <a:r>
              <a:rPr lang="en-US" altLang="ko-KR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R&amp;R </a:t>
            </a:r>
            <a:r>
              <a:rPr lang="ko-KR" altLang="en-US" sz="900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설정</a:t>
            </a:r>
            <a:endParaRPr lang="en-US" altLang="ko-KR" sz="900" kern="0" spc="-3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86C1BD00-E51B-3F4C-3B85-53D68EC3B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013961"/>
              </p:ext>
            </p:extLst>
          </p:nvPr>
        </p:nvGraphicFramePr>
        <p:xfrm>
          <a:off x="469246" y="2209745"/>
          <a:ext cx="4219370" cy="1862278"/>
        </p:xfrm>
        <a:graphic>
          <a:graphicData uri="http://schemas.openxmlformats.org/drawingml/2006/table">
            <a:tbl>
              <a:tblPr/>
              <a:tblGrid>
                <a:gridCol w="289628">
                  <a:extLst>
                    <a:ext uri="{9D8B030D-6E8A-4147-A177-3AD203B41FA5}">
                      <a16:colId xmlns:a16="http://schemas.microsoft.com/office/drawing/2014/main" val="4197110678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566732780"/>
                    </a:ext>
                  </a:extLst>
                </a:gridCol>
                <a:gridCol w="2716070">
                  <a:extLst>
                    <a:ext uri="{9D8B030D-6E8A-4147-A177-3AD203B41FA5}">
                      <a16:colId xmlns:a16="http://schemas.microsoft.com/office/drawing/2014/main" val="1952539864"/>
                    </a:ext>
                  </a:extLst>
                </a:gridCol>
                <a:gridCol w="775522">
                  <a:extLst>
                    <a:ext uri="{9D8B030D-6E8A-4147-A177-3AD203B41FA5}">
                      <a16:colId xmlns:a16="http://schemas.microsoft.com/office/drawing/2014/main" val="3030226051"/>
                    </a:ext>
                  </a:extLst>
                </a:gridCol>
              </a:tblGrid>
              <a:tr h="16724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u="none" strike="noStrike" kern="1200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u="none" strike="noStrike" kern="1200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u="none" strike="noStrike" kern="1200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581886"/>
                  </a:ext>
                </a:extLst>
              </a:tr>
              <a:tr h="477874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정기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사업목표 및 범위 확정</a:t>
                      </a:r>
                      <a:endParaRPr lang="en-US" altLang="ko-KR" sz="8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 추진 계획 및 내용 보고</a:t>
                      </a:r>
                      <a:endParaRPr lang="en-US" altLang="ko-KR" sz="8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사업팀 구성 및 업무 분장 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계약 체결 이후 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주일 이내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992363"/>
                  </a:ext>
                </a:extLst>
              </a:tr>
              <a:tr h="3390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협약기업 환경분석과 </a:t>
                      </a:r>
                      <a:r>
                        <a:rPr lang="ko-KR" altLang="en-US" sz="8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결과 공유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조정</a:t>
                      </a:r>
                      <a:endParaRPr lang="en-US" altLang="ko-KR" sz="8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사업추진 일정 점검 및 보고 등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8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말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446173"/>
                  </a:ext>
                </a:extLst>
              </a:tr>
              <a:tr h="4778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중간보고회 등 제시의견 반영 여부 등 보고</a:t>
                      </a:r>
                      <a:endParaRPr lang="en-US" altLang="ko-KR" sz="8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산업전환 공동훈련센터 </a:t>
                      </a:r>
                      <a:r>
                        <a:rPr lang="ko-KR" altLang="en-US" sz="8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최종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안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 최종 산출물 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초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59768"/>
                  </a:ext>
                </a:extLst>
              </a:tr>
              <a:tr h="20013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월간보고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단위 사업 추진 현황 및 주요 이슈 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 -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73338"/>
                  </a:ext>
                </a:extLst>
              </a:tr>
              <a:tr h="20013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수시보고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88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사업 추진 중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이슈 사항에 대한 수시보고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54756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BF62715-9DBF-4D26-483C-4FD77F5E5BE6}"/>
              </a:ext>
            </a:extLst>
          </p:cNvPr>
          <p:cNvSpPr/>
          <p:nvPr/>
        </p:nvSpPr>
        <p:spPr>
          <a:xfrm>
            <a:off x="469247" y="4204667"/>
            <a:ext cx="1043920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② 위험관리계획</a:t>
            </a:r>
          </a:p>
        </p:txBody>
      </p:sp>
      <p:sp>
        <p:nvSpPr>
          <p:cNvPr id="21" name="사각형: 둥근 위쪽 모서리 50">
            <a:extLst>
              <a:ext uri="{FF2B5EF4-FFF2-40B4-BE49-F238E27FC236}">
                <a16:creationId xmlns:a16="http://schemas.microsoft.com/office/drawing/2014/main" id="{23218A54-262A-21B8-A978-57296F125B04}"/>
              </a:ext>
            </a:extLst>
          </p:cNvPr>
          <p:cNvSpPr/>
          <p:nvPr/>
        </p:nvSpPr>
        <p:spPr>
          <a:xfrm rot="5400000">
            <a:off x="5125286" y="1961571"/>
            <a:ext cx="4428609" cy="446619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100" spc="-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E4482D-DA2C-3B26-2BE8-1E5830C9AD7F}"/>
              </a:ext>
            </a:extLst>
          </p:cNvPr>
          <p:cNvSpPr/>
          <p:nvPr/>
        </p:nvSpPr>
        <p:spPr>
          <a:xfrm>
            <a:off x="5186187" y="2058310"/>
            <a:ext cx="4294109" cy="20535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R="0" lvl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tabLst/>
              <a:defRPr/>
            </a:pPr>
            <a:endParaRPr kumimoji="1" lang="en-US" altLang="ko-KR" sz="1000" b="0" i="0" u="none" strike="noStrike" kern="0" cap="none" spc="-5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6AAA181-7F2C-A119-D207-4B9A356E1BE5}"/>
              </a:ext>
            </a:extLst>
          </p:cNvPr>
          <p:cNvSpPr/>
          <p:nvPr/>
        </p:nvSpPr>
        <p:spPr>
          <a:xfrm>
            <a:off x="5235564" y="1988459"/>
            <a:ext cx="1284300" cy="173185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③ 단계별 산출물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A29C68-4D12-7268-8DEF-E762AD9AC530}"/>
              </a:ext>
            </a:extLst>
          </p:cNvPr>
          <p:cNvSpPr/>
          <p:nvPr/>
        </p:nvSpPr>
        <p:spPr>
          <a:xfrm>
            <a:off x="5186187" y="4280001"/>
            <a:ext cx="4294109" cy="20535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R="0" lvl="0" algn="l" defTabSz="457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tabLst/>
              <a:defRPr/>
            </a:pPr>
            <a:endParaRPr kumimoji="1" lang="en-US" altLang="ko-KR" sz="1000" b="0" i="0" u="none" strike="noStrike" kern="0" cap="none" spc="-5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1D96F32-E13F-C364-CDC7-15E47CB712AB}"/>
              </a:ext>
            </a:extLst>
          </p:cNvPr>
          <p:cNvSpPr/>
          <p:nvPr/>
        </p:nvSpPr>
        <p:spPr>
          <a:xfrm>
            <a:off x="5235563" y="4196966"/>
            <a:ext cx="1710863" cy="193550"/>
          </a:xfrm>
          <a:prstGeom prst="roundRect">
            <a:avLst/>
          </a:prstGeom>
          <a:solidFill>
            <a:srgbClr val="3B7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latin typeface="페이퍼로지 4 Regular" pitchFamily="2" charset="-127"/>
                <a:ea typeface="페이퍼로지 4 Regular" pitchFamily="2" charset="-127"/>
              </a:rPr>
              <a:t>④ 성과관리를 위한 평가지표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BFE11E8-E9C2-FB61-016E-5536481B4950}"/>
              </a:ext>
            </a:extLst>
          </p:cNvPr>
          <p:cNvGrpSpPr/>
          <p:nvPr/>
        </p:nvGrpSpPr>
        <p:grpSpPr>
          <a:xfrm>
            <a:off x="461245" y="5009029"/>
            <a:ext cx="4217944" cy="1210760"/>
            <a:chOff x="332030" y="4819818"/>
            <a:chExt cx="4445816" cy="136741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4AE1DE3-DE2A-DD4A-809D-738E627EBFFE}"/>
                </a:ext>
              </a:extLst>
            </p:cNvPr>
            <p:cNvSpPr/>
            <p:nvPr/>
          </p:nvSpPr>
          <p:spPr bwMode="auto">
            <a:xfrm>
              <a:off x="1061595" y="4819818"/>
              <a:ext cx="525548" cy="397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en-US" altLang="ko-KR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Issue</a:t>
              </a: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파악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81D02EE-990D-5662-B90D-0255DE09475F}"/>
                </a:ext>
              </a:extLst>
            </p:cNvPr>
            <p:cNvSpPr/>
            <p:nvPr/>
          </p:nvSpPr>
          <p:spPr bwMode="auto">
            <a:xfrm>
              <a:off x="1698953" y="4819818"/>
              <a:ext cx="526527" cy="397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대응 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담당선정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446E825-91C8-AFE7-0747-98E2EB3AF23D}"/>
                </a:ext>
              </a:extLst>
            </p:cNvPr>
            <p:cNvSpPr/>
            <p:nvPr/>
          </p:nvSpPr>
          <p:spPr bwMode="auto">
            <a:xfrm>
              <a:off x="2337290" y="4819818"/>
              <a:ext cx="526527" cy="397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en-US" altLang="ko-KR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Issue </a:t>
              </a:r>
            </a:p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해결요청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4675CA5-35E6-0E95-72C1-0026AC51D2AF}"/>
                </a:ext>
              </a:extLst>
            </p:cNvPr>
            <p:cNvSpPr/>
            <p:nvPr/>
          </p:nvSpPr>
          <p:spPr bwMode="auto">
            <a:xfrm>
              <a:off x="2975626" y="4819818"/>
              <a:ext cx="525548" cy="397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en-US" altLang="ko-KR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Issue </a:t>
              </a:r>
            </a:p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해소관리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546D4B2-C70E-DF61-12A0-0F3BC8F43852}"/>
                </a:ext>
              </a:extLst>
            </p:cNvPr>
            <p:cNvSpPr/>
            <p:nvPr/>
          </p:nvSpPr>
          <p:spPr bwMode="auto">
            <a:xfrm>
              <a:off x="3612984" y="4819818"/>
              <a:ext cx="526527" cy="397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en-US" altLang="ko-KR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Issue </a:t>
              </a:r>
            </a:p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해소 확인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E77CC7F-53F8-E7E5-3FAA-CA7C7C91E55F}"/>
                </a:ext>
              </a:extLst>
            </p:cNvPr>
            <p:cNvSpPr/>
            <p:nvPr/>
          </p:nvSpPr>
          <p:spPr bwMode="auto">
            <a:xfrm>
              <a:off x="4251319" y="4819819"/>
              <a:ext cx="526527" cy="3973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R="0" lvl="0" indent="0" algn="ctr" fontAlgn="base">
                <a:lnSpc>
                  <a:spcPct val="100000"/>
                </a:lnSpc>
                <a:spcBef>
                  <a:spcPts val="0"/>
                </a:spcBef>
                <a:buClr>
                  <a:srgbClr val="44546A">
                    <a:lumMod val="75000"/>
                  </a:srgbClr>
                </a:buClr>
                <a:buSzTx/>
                <a:buFontTx/>
                <a:buNone/>
                <a:tabLst/>
                <a:defRPr/>
              </a:pPr>
              <a:r>
                <a:rPr lang="ko-KR" altLang="en-US" sz="80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결과승인</a:t>
              </a:r>
              <a:endParaRPr lang="en-US" altLang="ko-KR" sz="8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0" name="모서리가 둥근 직사각형 90">
              <a:extLst>
                <a:ext uri="{FF2B5EF4-FFF2-40B4-BE49-F238E27FC236}">
                  <a16:creationId xmlns:a16="http://schemas.microsoft.com/office/drawing/2014/main" id="{3EB4AB53-BC04-A4CD-EF76-5C2303D2B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31" y="5252071"/>
              <a:ext cx="701158" cy="285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algn="ctr" fontAlgn="base">
                <a:buClr>
                  <a:srgbClr val="44546A">
                    <a:lumMod val="75000"/>
                  </a:srgbClr>
                </a:buClr>
              </a:pPr>
              <a:r>
                <a:rPr lang="ko-KR" altLang="en-US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총괄책임자</a:t>
              </a:r>
              <a:r>
                <a:rPr lang="en-US" altLang="ko-KR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(PM)</a:t>
              </a:r>
              <a:endParaRPr lang="ko-KR" altLang="en-US" sz="8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1" name="모서리가 둥근 직사각형 129">
              <a:extLst>
                <a:ext uri="{FF2B5EF4-FFF2-40B4-BE49-F238E27FC236}">
                  <a16:creationId xmlns:a16="http://schemas.microsoft.com/office/drawing/2014/main" id="{7670F3CA-D58F-AE63-36F6-F0268E0E2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30" y="5573783"/>
              <a:ext cx="701158" cy="285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algn="ctr" fontAlgn="base">
                <a:buClr>
                  <a:srgbClr val="44546A">
                    <a:lumMod val="75000"/>
                  </a:srgbClr>
                </a:buClr>
              </a:pPr>
              <a:r>
                <a:rPr lang="ko-KR" altLang="en-US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실무책임자 </a:t>
              </a:r>
              <a:r>
                <a:rPr lang="en-US" altLang="ko-KR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(PL)</a:t>
              </a:r>
              <a:endParaRPr lang="ko-KR" altLang="en-US" sz="8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2" name="타원 132">
              <a:extLst>
                <a:ext uri="{FF2B5EF4-FFF2-40B4-BE49-F238E27FC236}">
                  <a16:creationId xmlns:a16="http://schemas.microsoft.com/office/drawing/2014/main" id="{35ADF808-02AE-1317-4F6B-789C0541B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747" y="5343949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3" name="타원 133">
              <a:extLst>
                <a:ext uri="{FF2B5EF4-FFF2-40B4-BE49-F238E27FC236}">
                  <a16:creationId xmlns:a16="http://schemas.microsoft.com/office/drawing/2014/main" id="{D15E9F48-A03C-CE5E-C9DF-6C99BEC7F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747" y="5666235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4" name="타원 148">
              <a:extLst>
                <a:ext uri="{FF2B5EF4-FFF2-40B4-BE49-F238E27FC236}">
                  <a16:creationId xmlns:a16="http://schemas.microsoft.com/office/drawing/2014/main" id="{90EF10AF-543C-E1A0-6B17-399BFCE2E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747" y="5978561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5" name="타원 149">
              <a:extLst>
                <a:ext uri="{FF2B5EF4-FFF2-40B4-BE49-F238E27FC236}">
                  <a16:creationId xmlns:a16="http://schemas.microsoft.com/office/drawing/2014/main" id="{3EA5A856-52AB-4659-70DA-D573A677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594" y="5343949"/>
              <a:ext cx="73244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6" name="타원 151">
              <a:extLst>
                <a:ext uri="{FF2B5EF4-FFF2-40B4-BE49-F238E27FC236}">
                  <a16:creationId xmlns:a16="http://schemas.microsoft.com/office/drawing/2014/main" id="{7DC073B8-AE42-4A9A-2885-06CE9315A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930" y="5666235"/>
              <a:ext cx="73244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7" name="타원 152">
              <a:extLst>
                <a:ext uri="{FF2B5EF4-FFF2-40B4-BE49-F238E27FC236}">
                  <a16:creationId xmlns:a16="http://schemas.microsoft.com/office/drawing/2014/main" id="{4CB6EAAD-52B0-8244-92D9-8654F6326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491" y="5343949"/>
              <a:ext cx="72182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8" name="타원 156">
              <a:extLst>
                <a:ext uri="{FF2B5EF4-FFF2-40B4-BE49-F238E27FC236}">
                  <a16:creationId xmlns:a16="http://schemas.microsoft.com/office/drawing/2014/main" id="{BAB9316A-7665-934F-D4F1-C15629FED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778" y="5666235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9" name="타원 157">
              <a:extLst>
                <a:ext uri="{FF2B5EF4-FFF2-40B4-BE49-F238E27FC236}">
                  <a16:creationId xmlns:a16="http://schemas.microsoft.com/office/drawing/2014/main" id="{5A46C220-9EF8-AABD-54E5-9AC9461BB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778" y="5978561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F1735510-4B02-E66C-A71C-38A37C8BDB03}"/>
                </a:ext>
              </a:extLst>
            </p:cNvPr>
            <p:cNvCxnSpPr>
              <a:cxnSpLocks/>
            </p:cNvCxnSpPr>
            <p:nvPr/>
          </p:nvCxnSpPr>
          <p:spPr>
            <a:xfrm>
              <a:off x="1093539" y="5586244"/>
              <a:ext cx="3672135" cy="0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  <a:effectLst/>
          </p:spPr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557DC9E-B8CF-90E5-FE31-4DF929663A2A}"/>
                </a:ext>
              </a:extLst>
            </p:cNvPr>
            <p:cNvCxnSpPr>
              <a:cxnSpLocks/>
            </p:cNvCxnSpPr>
            <p:nvPr/>
          </p:nvCxnSpPr>
          <p:spPr>
            <a:xfrm>
              <a:off x="1087193" y="5875443"/>
              <a:ext cx="3678480" cy="0"/>
            </a:xfrm>
            <a:prstGeom prst="line">
              <a:avLst/>
            </a:prstGeom>
            <a:noFill/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  <a:effectLst/>
          </p:spPr>
        </p:cxnSp>
        <p:sp>
          <p:nvSpPr>
            <p:cNvPr id="42" name="타원 151">
              <a:extLst>
                <a:ext uri="{FF2B5EF4-FFF2-40B4-BE49-F238E27FC236}">
                  <a16:creationId xmlns:a16="http://schemas.microsoft.com/office/drawing/2014/main" id="{665AF54F-2E79-3B33-0C82-0CF23995F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930" y="5978561"/>
              <a:ext cx="73244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43" name="모서리가 둥근 직사각형 130">
              <a:extLst>
                <a:ext uri="{FF2B5EF4-FFF2-40B4-BE49-F238E27FC236}">
                  <a16:creationId xmlns:a16="http://schemas.microsoft.com/office/drawing/2014/main" id="{930F4F76-BB8E-7017-FAA0-409FEAF34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31" y="5901322"/>
              <a:ext cx="701158" cy="2859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none" anchor="ctr"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algn="ctr" fontAlgn="base">
                <a:buClr>
                  <a:srgbClr val="44546A">
                    <a:lumMod val="75000"/>
                  </a:srgbClr>
                </a:buClr>
              </a:pPr>
              <a:r>
                <a:rPr lang="ko-KR" altLang="en-US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연구</a:t>
              </a:r>
              <a:r>
                <a:rPr lang="en-US" altLang="ko-KR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보조</a:t>
              </a:r>
              <a:r>
                <a:rPr lang="en-US" altLang="ko-KR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)</a:t>
              </a:r>
              <a:r>
                <a:rPr lang="ko-KR" altLang="en-US" sz="800" b="0" spc="-5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원</a:t>
              </a:r>
              <a:endParaRPr lang="en-US" altLang="ko-KR" sz="800" b="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44" name="타원 155">
              <a:extLst>
                <a:ext uri="{FF2B5EF4-FFF2-40B4-BE49-F238E27FC236}">
                  <a16:creationId xmlns:a16="http://schemas.microsoft.com/office/drawing/2014/main" id="{825F2215-596B-959D-C61A-BB2033A8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623" y="5343911"/>
              <a:ext cx="73244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45" name="타원 151">
              <a:extLst>
                <a:ext uri="{FF2B5EF4-FFF2-40B4-BE49-F238E27FC236}">
                  <a16:creationId xmlns:a16="http://schemas.microsoft.com/office/drawing/2014/main" id="{66D6294E-3D81-8CBE-FB7A-314521B2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932" y="5343945"/>
              <a:ext cx="73244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46" name="타원 156">
              <a:extLst>
                <a:ext uri="{FF2B5EF4-FFF2-40B4-BE49-F238E27FC236}">
                  <a16:creationId xmlns:a16="http://schemas.microsoft.com/office/drawing/2014/main" id="{77C2DEDA-E679-A701-F387-33E3FEB8E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795" y="5343925"/>
              <a:ext cx="73243" cy="111456"/>
            </a:xfrm>
            <a:prstGeom prst="ellipse">
              <a:avLst/>
            </a:prstGeom>
            <a:solidFill>
              <a:srgbClr val="5B804F"/>
            </a:solidFill>
            <a:ln w="9525" algn="ctr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1pPr>
              <a:lvl2pPr marL="742950" indent="-28575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2pPr>
              <a:lvl3pPr marL="11430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3pPr>
              <a:lvl4pPr marL="16002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4pPr>
              <a:lvl5pPr marL="2057400" indent="-228600" eaLnBrk="0" hangingPunct="0"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chemeClr val="tx1"/>
                  </a:solidFill>
                  <a:latin typeface="Arial" pitchFamily="34" charset="0"/>
                  <a:ea typeface="바탕" pitchFamily="18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15B18DE8-28FF-C79D-5327-E3D3ED37F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61634"/>
              </p:ext>
            </p:extLst>
          </p:nvPr>
        </p:nvGraphicFramePr>
        <p:xfrm>
          <a:off x="5237920" y="2209745"/>
          <a:ext cx="4202963" cy="1862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709">
                  <a:extLst>
                    <a:ext uri="{9D8B030D-6E8A-4147-A177-3AD203B41FA5}">
                      <a16:colId xmlns:a16="http://schemas.microsoft.com/office/drawing/2014/main" val="152457106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7786842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4238868988"/>
                    </a:ext>
                  </a:extLst>
                </a:gridCol>
                <a:gridCol w="439301">
                  <a:extLst>
                    <a:ext uri="{9D8B030D-6E8A-4147-A177-3AD203B41FA5}">
                      <a16:colId xmlns:a16="http://schemas.microsoft.com/office/drawing/2014/main" val="2128712769"/>
                    </a:ext>
                  </a:extLst>
                </a:gridCol>
                <a:gridCol w="424953">
                  <a:extLst>
                    <a:ext uri="{9D8B030D-6E8A-4147-A177-3AD203B41FA5}">
                      <a16:colId xmlns:a16="http://schemas.microsoft.com/office/drawing/2014/main" val="1051096642"/>
                    </a:ext>
                  </a:extLst>
                </a:gridCol>
              </a:tblGrid>
              <a:tr h="1692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u="none" strike="noStrike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  <a:endParaRPr lang="ko-KR" altLang="en-US" sz="800" b="0" i="0" u="none" strike="noStrike" spc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u="none" strike="noStrike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산출물</a:t>
                      </a:r>
                      <a:endParaRPr lang="ko-KR" altLang="en-US" sz="800" b="0" i="0" u="none" strike="noStrike" spc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세부구분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800" b="0" i="0" u="none" strike="noStrike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제출시기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File </a:t>
                      </a:r>
                      <a:r>
                        <a:rPr lang="ko-KR" altLang="en-US" sz="800" b="0" u="none" strike="noStrike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형태</a:t>
                      </a:r>
                      <a:endParaRPr lang="ko-KR" altLang="en-US" sz="800" b="0" i="0" u="none" strike="noStrike" spc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9560"/>
                  </a:ext>
                </a:extLst>
              </a:tr>
              <a:tr h="169298">
                <a:tc rowSpan="3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M1. </a:t>
                      </a:r>
                    </a:p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직무역량모델링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업종별</a:t>
                      </a: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직무별 </a:t>
                      </a: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활용방안 및 핵심 스킬 목록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  <a:endParaRPr lang="en-US" sz="800" kern="1200" spc="-5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98192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교육과정에서 다루는 스킬 목록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  <a:endParaRPr lang="en-US" sz="800" kern="1200" spc="-5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626598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직무역량 모델 및 핵심 스킬 목록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  <a:endParaRPr lang="en-US" altLang="ko-KR" sz="800" kern="1200" spc="-5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1807"/>
                  </a:ext>
                </a:extLst>
              </a:tr>
              <a:tr h="169298">
                <a:tc rowSpan="3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M2. </a:t>
                      </a:r>
                    </a:p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 </a:t>
                      </a:r>
                      <a:r>
                        <a:rPr lang="en-US" altLang="ko-KR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교육체계 고도화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기존 교육과정</a:t>
                      </a: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–AI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직무역량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매핑표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7173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스킬 수요 분석 결과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86568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</a:t>
                      </a: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(’26~’30) 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마스터플랜 고도화 결과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54065"/>
                  </a:ext>
                </a:extLst>
              </a:tr>
              <a:tr h="169298">
                <a:tc rowSpan="3">
                  <a:txBody>
                    <a:bodyPr/>
                    <a:lstStyle/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M3.</a:t>
                      </a:r>
                    </a:p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AI </a:t>
                      </a: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800" b="0" i="0" u="none" strike="noStrike" kern="1200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</a:t>
                      </a:r>
                      <a:endParaRPr lang="en-US" altLang="ko-KR" sz="800" b="0" i="0" u="none" strike="noStrike" kern="1200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algn="ctr" font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</a:t>
                      </a:r>
                      <a:r>
                        <a:rPr lang="ko-KR" altLang="en-US" sz="800" kern="1200" spc="-50" dirty="0" err="1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재설계 결과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30887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100" b="0" i="0" u="none" strike="noStrike" spc="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기존 교육과정 재설계 결과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743940"/>
                  </a:ext>
                </a:extLst>
              </a:tr>
              <a:tr h="169298"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100" b="0" i="0" u="none" strike="noStrike" spc="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직무 맞춤형 </a:t>
                      </a: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교육과정 기획안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034301"/>
                  </a:ext>
                </a:extLst>
              </a:tr>
              <a:tr h="16929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사후관리 지원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최종보고서</a:t>
                      </a:r>
                      <a:endParaRPr lang="en-US" altLang="ko-KR" sz="800" kern="1200" spc="-5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</a:t>
                      </a:r>
                      <a:r>
                        <a:rPr lang="ko-KR" altLang="en-US" sz="800" kern="1200" spc="-5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445776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4BB6AB9C-129A-0216-9174-900756CEEE8F}"/>
              </a:ext>
            </a:extLst>
          </p:cNvPr>
          <p:cNvGrpSpPr/>
          <p:nvPr/>
        </p:nvGrpSpPr>
        <p:grpSpPr>
          <a:xfrm>
            <a:off x="9075724" y="2423110"/>
            <a:ext cx="296030" cy="1598574"/>
            <a:chOff x="10777155" y="2404911"/>
            <a:chExt cx="517758" cy="3855737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9067010B-D043-E8F0-069D-34F90703CA83}"/>
                </a:ext>
              </a:extLst>
            </p:cNvPr>
            <p:cNvGrpSpPr/>
            <p:nvPr/>
          </p:nvGrpSpPr>
          <p:grpSpPr>
            <a:xfrm>
              <a:off x="10785518" y="4835502"/>
              <a:ext cx="501032" cy="212403"/>
              <a:chOff x="8935127" y="4595749"/>
              <a:chExt cx="501032" cy="212403"/>
            </a:xfrm>
          </p:grpSpPr>
          <p:pic>
            <p:nvPicPr>
              <p:cNvPr id="93" name="그림 92">
                <a:extLst>
                  <a:ext uri="{FF2B5EF4-FFF2-40B4-BE49-F238E27FC236}">
                    <a16:creationId xmlns:a16="http://schemas.microsoft.com/office/drawing/2014/main" id="{152D6E89-5663-7BF7-BDCA-DAE605445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4595749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CB92E213-9605-8C53-EB3B-AF5E65946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4596210"/>
                <a:ext cx="197618" cy="211942"/>
              </a:xfrm>
              <a:prstGeom prst="rect">
                <a:avLst/>
              </a:prstGeom>
            </p:spPr>
          </p:pic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6C8C114-5EC5-880C-3858-70002A189145}"/>
                </a:ext>
              </a:extLst>
            </p:cNvPr>
            <p:cNvGrpSpPr/>
            <p:nvPr/>
          </p:nvGrpSpPr>
          <p:grpSpPr>
            <a:xfrm>
              <a:off x="10777155" y="2404911"/>
              <a:ext cx="517758" cy="213333"/>
              <a:chOff x="8935127" y="2489101"/>
              <a:chExt cx="517758" cy="213333"/>
            </a:xfrm>
          </p:grpSpPr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BC10CF2F-7629-C46A-A8EF-000898BC6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2489101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92" name="그림 91">
                <a:extLst>
                  <a:ext uri="{FF2B5EF4-FFF2-40B4-BE49-F238E27FC236}">
                    <a16:creationId xmlns:a16="http://schemas.microsoft.com/office/drawing/2014/main" id="{25594D06-8486-096E-92FB-EA7B9F509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21815" y="2490492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3AD6ED43-FB01-D68A-ADEA-C1D198CF3890}"/>
                </a:ext>
              </a:extLst>
            </p:cNvPr>
            <p:cNvGrpSpPr/>
            <p:nvPr/>
          </p:nvGrpSpPr>
          <p:grpSpPr>
            <a:xfrm>
              <a:off x="10780870" y="3620904"/>
              <a:ext cx="510328" cy="212868"/>
              <a:chOff x="8925831" y="3542425"/>
              <a:chExt cx="510328" cy="212868"/>
            </a:xfrm>
          </p:grpSpPr>
          <p:pic>
            <p:nvPicPr>
              <p:cNvPr id="89" name="그림 88">
                <a:extLst>
                  <a:ext uri="{FF2B5EF4-FFF2-40B4-BE49-F238E27FC236}">
                    <a16:creationId xmlns:a16="http://schemas.microsoft.com/office/drawing/2014/main" id="{CB1F2756-726C-7E0B-4475-FED9FB385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3543351"/>
                <a:ext cx="197618" cy="211942"/>
              </a:xfrm>
              <a:prstGeom prst="rect">
                <a:avLst/>
              </a:prstGeom>
            </p:spPr>
          </p:pic>
          <p:pic>
            <p:nvPicPr>
              <p:cNvPr id="90" name="그림 89">
                <a:extLst>
                  <a:ext uri="{FF2B5EF4-FFF2-40B4-BE49-F238E27FC236}">
                    <a16:creationId xmlns:a16="http://schemas.microsoft.com/office/drawing/2014/main" id="{898A401A-3CFD-B192-F746-50F0F440E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25831" y="3542425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446926C-3274-A518-BFB7-A286C0AE429D}"/>
                </a:ext>
              </a:extLst>
            </p:cNvPr>
            <p:cNvGrpSpPr/>
            <p:nvPr/>
          </p:nvGrpSpPr>
          <p:grpSpPr>
            <a:xfrm>
              <a:off x="10777155" y="2810397"/>
              <a:ext cx="517758" cy="213178"/>
              <a:chOff x="8935127" y="2840209"/>
              <a:chExt cx="517758" cy="213178"/>
            </a:xfrm>
          </p:grpSpPr>
          <p:pic>
            <p:nvPicPr>
              <p:cNvPr id="85" name="그림 84">
                <a:extLst>
                  <a:ext uri="{FF2B5EF4-FFF2-40B4-BE49-F238E27FC236}">
                    <a16:creationId xmlns:a16="http://schemas.microsoft.com/office/drawing/2014/main" id="{796471F8-A9E3-2F6F-7487-89AEE989C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2840209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88" name="그림 87">
                <a:extLst>
                  <a:ext uri="{FF2B5EF4-FFF2-40B4-BE49-F238E27FC236}">
                    <a16:creationId xmlns:a16="http://schemas.microsoft.com/office/drawing/2014/main" id="{C57F0C2A-E447-10E6-E2D4-D33CE4E1A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21815" y="2841445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3FB0FC40-ABA4-D8CF-1623-8EE6FE3C52ED}"/>
                </a:ext>
              </a:extLst>
            </p:cNvPr>
            <p:cNvGrpSpPr/>
            <p:nvPr/>
          </p:nvGrpSpPr>
          <p:grpSpPr>
            <a:xfrm>
              <a:off x="10777155" y="3215728"/>
              <a:ext cx="517758" cy="213023"/>
              <a:chOff x="8935127" y="3191317"/>
              <a:chExt cx="517758" cy="213023"/>
            </a:xfrm>
          </p:grpSpPr>
          <p:pic>
            <p:nvPicPr>
              <p:cNvPr id="83" name="그림 82">
                <a:extLst>
                  <a:ext uri="{FF2B5EF4-FFF2-40B4-BE49-F238E27FC236}">
                    <a16:creationId xmlns:a16="http://schemas.microsoft.com/office/drawing/2014/main" id="{71DC6165-FFC9-D1A9-4DC0-1401D60FC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3191317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84" name="그림 83">
                <a:extLst>
                  <a:ext uri="{FF2B5EF4-FFF2-40B4-BE49-F238E27FC236}">
                    <a16:creationId xmlns:a16="http://schemas.microsoft.com/office/drawing/2014/main" id="{618F3F70-3B3E-55B6-5E4C-46028E1A3B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21815" y="3192398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683B1F4-ABD3-6E6E-397F-4AFD80C1D3F9}"/>
                </a:ext>
              </a:extLst>
            </p:cNvPr>
            <p:cNvGrpSpPr/>
            <p:nvPr/>
          </p:nvGrpSpPr>
          <p:grpSpPr>
            <a:xfrm>
              <a:off x="10780870" y="4025925"/>
              <a:ext cx="510328" cy="212713"/>
              <a:chOff x="8925831" y="3893533"/>
              <a:chExt cx="510328" cy="212713"/>
            </a:xfrm>
          </p:grpSpPr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1C8247A0-6277-7735-939A-2FD070E504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3894304"/>
                <a:ext cx="197618" cy="211942"/>
              </a:xfrm>
              <a:prstGeom prst="rect">
                <a:avLst/>
              </a:prstGeom>
            </p:spPr>
          </p:pic>
          <p:pic>
            <p:nvPicPr>
              <p:cNvPr id="82" name="그림 81">
                <a:extLst>
                  <a:ext uri="{FF2B5EF4-FFF2-40B4-BE49-F238E27FC236}">
                    <a16:creationId xmlns:a16="http://schemas.microsoft.com/office/drawing/2014/main" id="{90BD60FE-D2EA-EF11-19B0-D52FC2355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25831" y="3893533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9360917-978E-705C-0583-5336709F6394}"/>
                </a:ext>
              </a:extLst>
            </p:cNvPr>
            <p:cNvGrpSpPr/>
            <p:nvPr/>
          </p:nvGrpSpPr>
          <p:grpSpPr>
            <a:xfrm>
              <a:off x="10780870" y="4430791"/>
              <a:ext cx="510328" cy="212558"/>
              <a:chOff x="8925831" y="4244641"/>
              <a:chExt cx="510328" cy="212558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6CFADCE6-4347-7711-3388-D1908DFD4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4245257"/>
                <a:ext cx="197618" cy="211942"/>
              </a:xfrm>
              <a:prstGeom prst="rect">
                <a:avLst/>
              </a:prstGeom>
            </p:spPr>
          </p:pic>
          <p:pic>
            <p:nvPicPr>
              <p:cNvPr id="79" name="그림 78">
                <a:extLst>
                  <a:ext uri="{FF2B5EF4-FFF2-40B4-BE49-F238E27FC236}">
                    <a16:creationId xmlns:a16="http://schemas.microsoft.com/office/drawing/2014/main" id="{CD8BB910-8C5F-E611-F072-00F7C71EA9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25831" y="4244641"/>
                <a:ext cx="231070" cy="211942"/>
              </a:xfrm>
              <a:prstGeom prst="rect">
                <a:avLst/>
              </a:prstGeom>
            </p:spPr>
          </p:pic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A38DAAD6-5D37-9C82-F74E-A89A233A3689}"/>
                </a:ext>
              </a:extLst>
            </p:cNvPr>
            <p:cNvGrpSpPr/>
            <p:nvPr/>
          </p:nvGrpSpPr>
          <p:grpSpPr>
            <a:xfrm>
              <a:off x="10785518" y="5240058"/>
              <a:ext cx="501032" cy="212248"/>
              <a:chOff x="8935127" y="4946857"/>
              <a:chExt cx="501032" cy="212248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5D4ACB38-8871-1B8C-FE3E-17F35C7B05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4946857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77" name="그림 76">
                <a:extLst>
                  <a:ext uri="{FF2B5EF4-FFF2-40B4-BE49-F238E27FC236}">
                    <a16:creationId xmlns:a16="http://schemas.microsoft.com/office/drawing/2014/main" id="{2B65BA89-BFDB-50A6-6214-17BED54227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4947163"/>
                <a:ext cx="197618" cy="211942"/>
              </a:xfrm>
              <a:prstGeom prst="rect">
                <a:avLst/>
              </a:prstGeom>
            </p:spPr>
          </p:pic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B245A72-DA66-F879-13D9-D5D3B407C001}"/>
                </a:ext>
              </a:extLst>
            </p:cNvPr>
            <p:cNvGrpSpPr/>
            <p:nvPr/>
          </p:nvGrpSpPr>
          <p:grpSpPr>
            <a:xfrm>
              <a:off x="10785518" y="5644459"/>
              <a:ext cx="501032" cy="212093"/>
              <a:chOff x="8935127" y="5297965"/>
              <a:chExt cx="501032" cy="212093"/>
            </a:xfrm>
          </p:grpSpPr>
          <p:pic>
            <p:nvPicPr>
              <p:cNvPr id="68" name="그림 67">
                <a:extLst>
                  <a:ext uri="{FF2B5EF4-FFF2-40B4-BE49-F238E27FC236}">
                    <a16:creationId xmlns:a16="http://schemas.microsoft.com/office/drawing/2014/main" id="{1FC3B2A0-D628-44C5-9065-49AB93CDB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5297965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F1E25CE1-6C1C-362C-86F6-53DAA4B33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5298116"/>
                <a:ext cx="197618" cy="211942"/>
              </a:xfrm>
              <a:prstGeom prst="rect">
                <a:avLst/>
              </a:prstGeom>
            </p:spPr>
          </p:pic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82E2AEBE-EC9D-15C6-52AA-1E4FC917A24A}"/>
                </a:ext>
              </a:extLst>
            </p:cNvPr>
            <p:cNvGrpSpPr/>
            <p:nvPr/>
          </p:nvGrpSpPr>
          <p:grpSpPr>
            <a:xfrm>
              <a:off x="10785518" y="6048706"/>
              <a:ext cx="501032" cy="211942"/>
              <a:chOff x="8935127" y="5649069"/>
              <a:chExt cx="501032" cy="211942"/>
            </a:xfrm>
          </p:grpSpPr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5CFDAEFD-1CA6-D60E-82DB-376F79CE8C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35127" y="5649069"/>
                <a:ext cx="212479" cy="211942"/>
              </a:xfrm>
              <a:prstGeom prst="rect">
                <a:avLst/>
              </a:prstGeom>
            </p:spPr>
          </p:pic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8281675C-4F59-5FDB-1074-DE4AF655BD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38541" y="5649069"/>
                <a:ext cx="197618" cy="211942"/>
              </a:xfrm>
              <a:prstGeom prst="rect">
                <a:avLst/>
              </a:prstGeom>
            </p:spPr>
          </p:pic>
        </p:grpSp>
      </p:grp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DBF5BB77-486A-6C9A-65D5-0E3D02C5C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71787"/>
              </p:ext>
            </p:extLst>
          </p:nvPr>
        </p:nvGraphicFramePr>
        <p:xfrm>
          <a:off x="5235564" y="4418394"/>
          <a:ext cx="4203548" cy="1874016"/>
        </p:xfrm>
        <a:graphic>
          <a:graphicData uri="http://schemas.openxmlformats.org/drawingml/2006/table">
            <a:tbl>
              <a:tblPr/>
              <a:tblGrid>
                <a:gridCol w="448102">
                  <a:extLst>
                    <a:ext uri="{9D8B030D-6E8A-4147-A177-3AD203B41FA5}">
                      <a16:colId xmlns:a16="http://schemas.microsoft.com/office/drawing/2014/main" val="1646859954"/>
                    </a:ext>
                  </a:extLst>
                </a:gridCol>
                <a:gridCol w="703687">
                  <a:extLst>
                    <a:ext uri="{9D8B030D-6E8A-4147-A177-3AD203B41FA5}">
                      <a16:colId xmlns:a16="http://schemas.microsoft.com/office/drawing/2014/main" val="2533421011"/>
                    </a:ext>
                  </a:extLst>
                </a:gridCol>
                <a:gridCol w="946162">
                  <a:extLst>
                    <a:ext uri="{9D8B030D-6E8A-4147-A177-3AD203B41FA5}">
                      <a16:colId xmlns:a16="http://schemas.microsoft.com/office/drawing/2014/main" val="2560105357"/>
                    </a:ext>
                  </a:extLst>
                </a:gridCol>
                <a:gridCol w="1822242">
                  <a:extLst>
                    <a:ext uri="{9D8B030D-6E8A-4147-A177-3AD203B41FA5}">
                      <a16:colId xmlns:a16="http://schemas.microsoft.com/office/drawing/2014/main" val="1588636148"/>
                    </a:ext>
                  </a:extLst>
                </a:gridCol>
                <a:gridCol w="283355">
                  <a:extLst>
                    <a:ext uri="{9D8B030D-6E8A-4147-A177-3AD203B41FA5}">
                      <a16:colId xmlns:a16="http://schemas.microsoft.com/office/drawing/2014/main" val="3138646829"/>
                    </a:ext>
                  </a:extLst>
                </a:gridCol>
              </a:tblGrid>
              <a:tr h="10341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영역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핵심성공요인</a:t>
                      </a:r>
                      <a:r>
                        <a:rPr lang="en-US" altLang="ko-KR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(CSF)</a:t>
                      </a:r>
                      <a:endParaRPr lang="ko-KR" altLang="en-US" sz="700" kern="0" spc="-50" baseline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핵심성과지표</a:t>
                      </a:r>
                      <a:r>
                        <a:rPr lang="en-US" altLang="ko-KR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KPI)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35615"/>
                  </a:ext>
                </a:extLst>
              </a:tr>
              <a:tr h="1034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 err="1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지표명</a:t>
                      </a:r>
                      <a:endParaRPr lang="ko-KR" altLang="en-US" sz="700" kern="0" spc="-50" baseline="0" dirty="0">
                        <a:solidFill>
                          <a:schemeClr val="bg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측정방법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단위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372526"/>
                  </a:ext>
                </a:extLst>
              </a:tr>
              <a:tr h="103410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90000"/>
                        </a:lnSpc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일정관리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일정 준수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 산출물 납기일 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추진단계별 수행목표 수립 및 실적 점검</a:t>
                      </a:r>
                      <a:endParaRPr lang="en-US" altLang="ko-KR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%</a:t>
                      </a:r>
                      <a:endParaRPr lang="ko-KR" altLang="en-US" sz="700" kern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870221"/>
                  </a:ext>
                </a:extLst>
              </a:tr>
              <a:tr h="206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주간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정기보고 실시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주간보고를 위한 양식을 개발하였는가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?</a:t>
                      </a:r>
                      <a:endParaRPr lang="ko-KR" altLang="en-US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정기 보고체계를 수립하였는가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?</a:t>
                      </a:r>
                      <a:endParaRPr lang="ko-KR" altLang="en-US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106165"/>
                  </a:ext>
                </a:extLst>
              </a:tr>
              <a:tr h="3102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지속적인 모니터링 및</a:t>
                      </a:r>
                      <a:endParaRPr lang="en-US" altLang="ko-KR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피드백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모니터링 체크리스트를 개발하였는가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?</a:t>
                      </a:r>
                      <a:endParaRPr lang="ko-KR" altLang="en-US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단계별 </a:t>
                      </a:r>
                      <a:r>
                        <a:rPr lang="ko-KR" altLang="en-US" sz="7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및 교육과정 설계 진행현황을 일정에 맞게 점검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관리하였는가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?</a:t>
                      </a:r>
                      <a:endParaRPr lang="ko-KR" altLang="en-US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648128"/>
                  </a:ext>
                </a:extLst>
              </a:tr>
              <a:tr h="20682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인력관리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분야별 전문인력의 투입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투입인력 이력사항</a:t>
                      </a:r>
                      <a:endParaRPr lang="en-US" altLang="ko-KR" sz="700" kern="0" spc="-3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본 용역의 요구 역량 대비 투입인력 경력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매칭 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(KTR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용역 수행 경험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유사 프로젝트 경험 등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점</a:t>
                      </a:r>
                      <a:endParaRPr lang="en-US" sz="700" kern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054868"/>
                  </a:ext>
                </a:extLst>
              </a:tr>
              <a:tr h="1034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업무분장 명확화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역할별 </a:t>
                      </a:r>
                      <a:r>
                        <a:rPr lang="ko-KR" altLang="en-US" sz="7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업무분장표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수립 여부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530569"/>
                  </a:ext>
                </a:extLst>
              </a:tr>
              <a:tr h="20682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i="0" u="none" strike="noStrike" kern="1200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품질관리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차세대 </a:t>
                      </a:r>
                      <a:r>
                        <a:rPr lang="en-US" altLang="ko-KR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반영 마스터플랜 완성도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KTR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특화 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융합 </a:t>
                      </a:r>
                      <a:r>
                        <a:rPr lang="ko-KR" altLang="en-US" sz="7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스킬셋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반영 수준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분야별 전문가 그룹 구성 여부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(AI,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친환경 </a:t>
                      </a:r>
                      <a:r>
                        <a:rPr lang="ko-KR" altLang="en-US" sz="7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바이오화학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교육훈련 등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382356"/>
                  </a:ext>
                </a:extLst>
              </a:tr>
              <a:tr h="1034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/>
                        <a:defRPr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전문가 자문회의 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회 이상 실시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73174"/>
                  </a:ext>
                </a:extLst>
              </a:tr>
              <a:tr h="206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신규 교육 콘텐츠의 적용 가능성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현업 활용 가능성에 대한 내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외부 평가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  <a:endParaRPr lang="ko-KR" altLang="en-US" sz="700" kern="0" spc="-5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3336"/>
                  </a:ext>
                </a:extLst>
              </a:tr>
              <a:tr h="10341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6792" marR="16792" marT="25218" marB="2521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 산출물 완성도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최종보고서 완성도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요구사항 대비 산출물 충족 여부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199972"/>
                  </a:ext>
                </a:extLst>
              </a:tr>
              <a:tr h="10341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baseline="0" dirty="0">
                        <a:solidFill>
                          <a:srgbClr val="00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6792" marR="16792" marT="25218" marB="2521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25218" marR="25218" marT="25218" marB="2521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산출물 체계성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분석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kern="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교육로드맵</a:t>
                      </a:r>
                      <a:r>
                        <a:rPr lang="en-US" altLang="ko-KR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ko-KR" altLang="en-US" sz="700" kern="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과정 설계 간 연계성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0" spc="-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Y/N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03587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F35DB39-1327-1D03-9896-E230C425DAC9}"/>
              </a:ext>
            </a:extLst>
          </p:cNvPr>
          <p:cNvSpPr/>
          <p:nvPr/>
        </p:nvSpPr>
        <p:spPr>
          <a:xfrm>
            <a:off x="6519998" y="1631733"/>
            <a:ext cx="3041516" cy="2695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원본 제안서 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P. 34~ P. 36 </a:t>
            </a:r>
            <a:r>
              <a:rPr lang="ko-KR" altLang="en-US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참고</a:t>
            </a:r>
            <a:r>
              <a:rPr lang="en-US" altLang="ko-KR" sz="8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605590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35094</TotalTime>
  <Words>10350</Words>
  <Application>Microsoft Office PowerPoint</Application>
  <PresentationFormat>A4 용지(210x297mm)</PresentationFormat>
  <Paragraphs>1955</Paragraphs>
  <Slides>30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51" baseType="lpstr">
      <vt:lpstr>a고딕14</vt:lpstr>
      <vt:lpstr>Arial</vt:lpstr>
      <vt:lpstr>페이퍼로지 1 Thin</vt:lpstr>
      <vt:lpstr>Wingdings</vt:lpstr>
      <vt:lpstr>SpoqaHanSans-Bold</vt:lpstr>
      <vt:lpstr>a고딕16</vt:lpstr>
      <vt:lpstr>Arial Narrow</vt:lpstr>
      <vt:lpstr>페이퍼로지 7 Bold</vt:lpstr>
      <vt:lpstr>a고딕18</vt:lpstr>
      <vt:lpstr>페이퍼로지 5 Medium</vt:lpstr>
      <vt:lpstr>페이퍼로지 6 SemiBold</vt:lpstr>
      <vt:lpstr>페이퍼로지 4 Regular</vt:lpstr>
      <vt:lpstr>페이퍼로지 3 Light</vt:lpstr>
      <vt:lpstr>Calibri</vt:lpstr>
      <vt:lpstr>페이퍼로지 8 ExtraBold</vt:lpstr>
      <vt:lpstr>Calibri Light</vt:lpstr>
      <vt:lpstr>a고딕12</vt:lpstr>
      <vt:lpstr>나눔바른고딕</vt:lpstr>
      <vt:lpstr>a고딕17</vt:lpstr>
      <vt:lpstr>Office 2013 - 2022 테마</vt:lpstr>
      <vt:lpstr>1_Office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은하 안</cp:lastModifiedBy>
  <cp:revision>2521</cp:revision>
  <cp:lastPrinted>2026-04-03T12:48:45Z</cp:lastPrinted>
  <dcterms:created xsi:type="dcterms:W3CDTF">2020-09-14T09:09:07Z</dcterms:created>
  <dcterms:modified xsi:type="dcterms:W3CDTF">2026-04-17T07:15:55Z</dcterms:modified>
</cp:coreProperties>
</file>