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914400"/>
            <a:ext cx="1828800" cy="18288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2286000"/>
            <a:ext cx="1828800" cy="1828800"/>
          </a:xfrm>
          <a:prstGeom prst="ellipse">
            <a:avLst/>
          </a:prstGeom>
          <a:solidFill>
            <a:srgbClr val="E8836F">
              <a:alpha val="80000"/>
            </a:srgbClr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(Ieum)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근로자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HR 체계 구축 협업 제안서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직급·승진 체계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45720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직무급 임금 체계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45720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근로계약·법적 기준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45720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인사 규정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349240"/>
            <a:ext cx="502920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440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제안 : 시앤피컨설팅  (담당 : 이석주 팀장)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7607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수신 : 이음 경영지원팀장님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605332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2026년 4월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협업 제안 — 한눈에 보기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63040"/>
            <a:ext cx="137160" cy="365760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▌ 제안 개요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파트너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 (장애인 HR B2B)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5877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대상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(기아 자회사형 표준사업장)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1638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범위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1638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3개 트랙 (HR 체계 · 직무 관리 · 직무 발굴)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398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방식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7398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무상 파일럿 (MOU · NDA)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추진 방향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3159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2026~2027 장기 동반 파트너십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1463040"/>
            <a:ext cx="6126480" cy="3657600"/>
          </a:xfrm>
          <a:prstGeom prst="roundRect">
            <a:avLst>
              <a:gd name="adj" fmla="val 250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600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이음만의 HR을 완성하는 4대 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60720" y="2103120"/>
            <a:ext cx="502920" cy="5029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208483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직급 및 승진 체계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3957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RPG형 14단계 레벨맵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816352"/>
            <a:ext cx="502920" cy="5029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816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279806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직무급 기반 임금 체계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108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직무가치·숙련도 연동 페이밴드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529584"/>
            <a:ext cx="502920" cy="5029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351129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 · 법적 기준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38221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근로기준법 · 장애인고용촉진법 3중 준수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4242816"/>
            <a:ext cx="502920" cy="50292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④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422452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인사 규정 (7종)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45354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취업·복무·평가·징계·안전보건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5EFE7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이음이 설립 초기부터 '장애인 근로자 전용 HR'을 갖춘다면, 사옥 오픈 이후 운영 리스크·이직률·법적 리스크를 현저히 줄일 수 있습니다.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시앤피컨설팅은 첫 표준사업장 레퍼런스를 함께 만들어 가는 파트너십을 진심으로 제안드립니다.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제안 배경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2027년 사옥 운영에 앞서 이음이 지금 준비해야 할 4가지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08760"/>
            <a:ext cx="137160" cy="2194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HR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HR 체계 부재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228600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근로자 중심의 직급·임금·평가·규정 체계를 처음부터 정교하게 설계해야 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50876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508760"/>
            <a:ext cx="137160" cy="2194560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828800"/>
            <a:ext cx="822960" cy="822960"/>
          </a:xfrm>
          <a:prstGeom prst="ellipse">
            <a:avLst/>
          </a:prstGeom>
          <a:solidFill>
            <a:srgbClr val="E8836F">
              <a:alpha val="15000"/>
            </a:srgbClr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55680" y="1737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8096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일반 HR 복제 불가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80960" y="228600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 유형별 특성 · 성장 동기 · 현업 관리 현실을 동시에 충족해야 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137160" cy="2194560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251960"/>
            <a:ext cx="822960" cy="822960"/>
          </a:xfrm>
          <a:prstGeom prst="ellipse">
            <a:avLst/>
          </a:prstGeom>
          <a:solidFill>
            <a:srgbClr val="739E82">
              <a:alpha val="15000"/>
            </a:srgbClr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51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JD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828800" y="4251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 운영 자산 부재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828800" y="470916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제과제빵·바리스타 직무프로파일 / SOP / 교육자료의 표준화된 운영 체계 미비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931920"/>
            <a:ext cx="137160" cy="21945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4251960"/>
            <a:ext cx="822960" cy="822960"/>
          </a:xfrm>
          <a:prstGeom prst="ellipse">
            <a:avLst/>
          </a:prstGeom>
          <a:solidFill>
            <a:srgbClr val="C9A961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251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＋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15568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680960" y="4251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 확장성 미확보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80960" y="470916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2027년 이후 추가 장애인 적합 직무 발굴 역량 · 방법론 필요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HR vs 일반 HR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이음에 필요한 것은 '일반 HR의 복제'가 아닌 '장애인 전용 HR 설계'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2377440" cy="502920"/>
          </a:xfrm>
          <a:prstGeom prst="rect">
            <a:avLst/>
          </a:prstGeom>
          <a:solidFill>
            <a:srgbClr val="A88B3E"/>
          </a:solidFill>
          <a:ln w="12700">
            <a:solidFill>
              <a:srgbClr val="A88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구 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0" y="1417320"/>
            <a:ext cx="4114800" cy="502920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일반 기업 HR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1417320"/>
            <a:ext cx="4754880" cy="50292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417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표준사업장 HR (이음)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112471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92024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성장 피드백 주기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192024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2~3년 단위 (듬성듬성)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1920240"/>
            <a:ext cx="4389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3~6개월 단위 (가시적·빈번)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523744"/>
            <a:ext cx="11247120" cy="603504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523744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직급 구조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2523744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5~7단계 선형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523744"/>
            <a:ext cx="4389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10~20단계 세분화 (RPG형)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127248"/>
            <a:ext cx="112471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27248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임금 체계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3127248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호봉급 · 연봉제 중심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127248"/>
            <a:ext cx="4389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직무급 + 레벨업 인센티브 연동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730752"/>
            <a:ext cx="11247120" cy="603504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730752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평가 방식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3730752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성과·역량 중심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3730752"/>
            <a:ext cx="4389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출근·안전·숙련·성장 다차원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334256"/>
            <a:ext cx="112471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334256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 요소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433425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표준 조항 중심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4334256"/>
            <a:ext cx="4389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 유형별 편의제공·지원 조항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937760"/>
            <a:ext cx="11247120" cy="603504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9377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인사 규정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08960" y="4937760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노동법 준수 중심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23760" y="4937760"/>
            <a:ext cx="4389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노동법 + 장애인고용촉진법 중첩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B365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669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 이음의 HR은 '장애인을 고용하는 일반 HR'이 아니라, '장애인 근로자 특성을 전제로 설계된 HR'이어야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 파트너 소개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HR 솔루션 B2B 전문 · 3단계 서비스 모델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45720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63040"/>
            <a:ext cx="4572000" cy="82296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Disability HR Solution Partner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업의 정체성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42062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근로자 HR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전문 B2B 컨설팅 &amp; BPO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핵심 역량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42062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 게이미피케이션 기반 직무 발굴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 장애 특성 반영 HR 설계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 100% 합법 직접고용 구조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수행 실적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42062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03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2024~2026 선도기업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직무개발 사업 수행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3단계 서비스 모델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94960" y="2057400"/>
            <a:ext cx="6309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0574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 발굴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게이미피케이션 워크샵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적합 직무 발굴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 이음 적용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383280"/>
            <a:ext cx="6309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338328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HR 체계 구축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3520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직급·임금·평가·규정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End-to-End 설계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332720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 이음 적용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4709160"/>
            <a:ext cx="6309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47091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4892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STEP 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5257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위탁 관리 BPO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4944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Basic / Standard / 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월 단위 운영 대행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32720" y="4846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해당 없음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 rot="5400000">
            <a:off x="8229600" y="3200400"/>
            <a:ext cx="182880" cy="137160"/>
          </a:xfrm>
          <a:prstGeom prst="rightTriangl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5400000">
            <a:off x="8229600" y="4526280"/>
            <a:ext cx="182880" cy="137160"/>
          </a:xfrm>
          <a:prstGeom prst="rightTriangl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3트랙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1(HR 체계) · Track 2(직무 관리) · Track 3(직무 발굴)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6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3794760" cy="48463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417320"/>
            <a:ext cx="3794760" cy="1234440"/>
          </a:xfrm>
          <a:prstGeom prst="roundRect">
            <a:avLst>
              <a:gd name="adj" fmla="val 8889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23160"/>
            <a:ext cx="3794760" cy="22860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463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Core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737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0299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HR 체계 구축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전체 운영의 '뼈대'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직급 · 승진 체계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직무급 임금 체계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 · 법적 기준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9834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인사 규정 (7종)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1417320"/>
            <a:ext cx="3794760" cy="48463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1417320"/>
            <a:ext cx="3794760" cy="1234440"/>
          </a:xfrm>
          <a:prstGeom prst="roundRect">
            <a:avLst>
              <a:gd name="adj" fmla="val 888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2423160"/>
            <a:ext cx="379476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1463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Operational Asset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1737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80560" y="20299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 관리 고도화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48056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제과제빵·바리스타를 운영 가능 수준으로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2926080"/>
            <a:ext cx="320040" cy="32004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직무프로파일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611880"/>
            <a:ext cx="320040" cy="32004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표준작업절차서 (SOP)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4297680"/>
            <a:ext cx="320040" cy="32004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83480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교육자료·커리큘럼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983480"/>
            <a:ext cx="320040" cy="32004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8348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평가·피드백 도구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229600" y="1417320"/>
            <a:ext cx="3794760" cy="48463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25400">
            <a:solidFill>
              <a:srgbClr val="739E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1417320"/>
            <a:ext cx="3794760" cy="1234440"/>
          </a:xfrm>
          <a:prstGeom prst="roundRect">
            <a:avLst>
              <a:gd name="adj" fmla="val 8889"/>
            </a:avLst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2423160"/>
            <a:ext cx="3794760" cy="228600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14630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Future Expansion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1737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3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12480" y="20299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 발굴·개발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841248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2027년 이후 추가 직무 확장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503920" y="29260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91540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맞춤 워크샵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503920" y="36118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039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91540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5대 가치 영역 프레임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503920" y="42976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915400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후보 직무 스크리닝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503920" y="49834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91540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도입 JD · 로드맵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1 — HR 체계 4대 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맞춤 장애인 근로자 HR 체계의 핵심 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7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43830" y="2743200"/>
            <a:ext cx="2103120" cy="2103120"/>
          </a:xfrm>
          <a:prstGeom prst="ellipse">
            <a:avLst/>
          </a:prstGeom>
          <a:solidFill>
            <a:srgbClr val="1B365D"/>
          </a:solidFill>
          <a:ln w="381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383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HR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4383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4대 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4383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468880"/>
            <a:ext cx="1294790" cy="1325880"/>
          </a:xfrm>
          <a:prstGeom prst="line">
            <a:avLst/>
          </a:prstGeom>
          <a:noFill/>
          <a:ln w="25400">
            <a:solidFill>
              <a:srgbClr val="2E75B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155448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17556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직급 및 승진 체계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2468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RPG형 14단계 레벨맵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객관적 승진 트리거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>
            <a:off x="7146950" y="2468880"/>
            <a:ext cx="1174090" cy="1325880"/>
          </a:xfrm>
          <a:prstGeom prst="line">
            <a:avLst/>
          </a:prstGeom>
          <a:noFill/>
          <a:ln w="25400">
            <a:solidFill>
              <a:srgbClr val="C9A96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321040" y="155448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1737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81160" y="17556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직무급 임금 체계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03920" y="2468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직무가치·숙련도 연동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기본급+변동급+복지 3계층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3749040" y="3794760"/>
            <a:ext cx="1294790" cy="1554480"/>
          </a:xfrm>
          <a:prstGeom prst="line">
            <a:avLst/>
          </a:prstGeom>
          <a:noFill/>
          <a:ln w="25400">
            <a:solidFill>
              <a:srgbClr val="E8836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" y="44348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83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00200" y="463600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 · 법적 기준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53492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근로기준법·장애인고용촉진법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3중 법률 적합성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 flipV="1">
            <a:off x="7146950" y="3794760"/>
            <a:ext cx="1174090" cy="1554480"/>
          </a:xfrm>
          <a:prstGeom prst="line">
            <a:avLst/>
          </a:prstGeom>
          <a:noFill/>
          <a:ln w="25400">
            <a:solidFill>
              <a:srgbClr val="739E8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321040" y="44348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39E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4617720"/>
            <a:ext cx="640080" cy="640080"/>
          </a:xfrm>
          <a:prstGeom prst="ellipse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④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281160" y="463600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인사 규정 (7종)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03920" y="53492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취업·복무·인사·평가·보상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징계·안전보건 규정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 직급 및 승진 체계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제과제빵 직군 14단계 RPG 레벨맵 (프로토타입 샘플)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8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017520" cy="4846320"/>
          </a:xfrm>
          <a:prstGeom prst="roundRect">
            <a:avLst>
              <a:gd name="adj" fmla="val 303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설계 철학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265176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4884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084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가시적 성장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3957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3~6개월 단위 레벨업 체감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044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세분화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5~7단계 → 10~20 레벨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직업 정체성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3159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'근로자' 아닌 '베이커/바리스타'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9651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객관성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52760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출근·안전·평가·스킬 트리거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146304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1463040"/>
            <a:ext cx="594360" cy="329184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146304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14630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새싹 어소시에이트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146304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182880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1828800"/>
            <a:ext cx="594360" cy="329184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182880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18288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견습 베이커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182880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+3%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0" y="219456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2194560"/>
            <a:ext cx="594360" cy="329184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1945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43400" y="2194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어소시에이트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12280" y="219456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+6%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0" y="256032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0" y="2560320"/>
            <a:ext cx="59436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256032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43400" y="25603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주니어 베이커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12280" y="256032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+10%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0" y="292608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2926080"/>
            <a:ext cx="59436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292608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343400" y="29260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베이커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12280" y="292608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+14%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0" y="329184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3291840"/>
            <a:ext cx="59436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0" y="329184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43400" y="32918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베이커 (스페셜)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12280" y="329184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+18%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0" y="365760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3657600"/>
            <a:ext cx="59436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0" y="365760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L7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343400" y="36576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어드밴스드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12280" y="365760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+22%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863840" y="146304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1463040"/>
            <a:ext cx="594360" cy="32918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63840" y="146304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549640" y="14630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시니어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1018520" y="146304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+26%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863840" y="182880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63840" y="1828800"/>
            <a:ext cx="594360" cy="32918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63840" y="182880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L9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549640" y="18288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시니어 (리드)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1018520" y="182880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+32%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863840" y="219456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63840" y="2194560"/>
            <a:ext cx="594360" cy="32918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219456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549640" y="2194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시니어 (매스터리)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1018520" y="219456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+38%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863840" y="256032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63840" y="2560320"/>
            <a:ext cx="594360" cy="32918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63840" y="256032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L11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549640" y="25603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엑스퍼트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1018520" y="256032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+42%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863840" y="292608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63840" y="2926080"/>
            <a:ext cx="594360" cy="329184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63840" y="292608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L12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549640" y="29260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마스터 (주니어)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1018520" y="292608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+46%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863840" y="329184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863840" y="3291840"/>
            <a:ext cx="594360" cy="329184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63840" y="329184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L13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549640" y="32918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마스터 파티시에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1018520" y="329184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+50%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863840" y="365760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63840" y="3657600"/>
            <a:ext cx="594360" cy="329184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63840" y="365760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L14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549640" y="36576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그랜드 마스터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11018520" y="365760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+55%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657600" y="41148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F5EF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■ 신입 (L1~L3)     ■ 숙련 (L4~L7)     ■ 리더 (L8~L11)     ■ 마스터 (L12~L14)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 직무급 기반 임금 체계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'호봉' 아닌 '직무가치·숙련도' 기반  |  기본급 + 변동급 + 복지 3계층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9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기본급 (Base)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 × 레벨 매트릭스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331720"/>
            <a:ext cx="32918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23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최저임금 대비 배수 설계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 간 일정 인상률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4173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변동급 (Variable)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9496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레벨업 + 성과 인센티브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331720"/>
            <a:ext cx="32918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423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레벨업 1회 5~50만 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분기 성과 평가 연동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14173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964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복지 (Benefits)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2688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기본복지 + 선택복지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49640" y="2331720"/>
            <a:ext cx="32918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423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전원 동일 기본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레벨별 연 30~200만 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2918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레벨업 추가 보상 매트릭스 (프로토타입)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358444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※ 기본 복리후생(4대보험·건강검진·식대·통근·경조사비)은 전 임직원 동일 적용. 아래는 그 위에 레벨별 차등 보상 설계.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13632"/>
            <a:ext cx="2286000" cy="310896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136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구 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0" y="3913632"/>
            <a:ext cx="2240280" cy="310896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39136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L1~L3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3913632"/>
            <a:ext cx="224028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L4~L7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3913632"/>
            <a:ext cx="2240280" cy="31089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9136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L8~L11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464040" y="3913632"/>
            <a:ext cx="2240280" cy="310896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64040" y="391363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L12~L14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224528"/>
            <a:ext cx="1124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224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대외 호칭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34640" y="4224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어소시에이트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4224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베이커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0" y="4224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시니어 베이커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555480" y="4224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마스터 베이커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498848"/>
            <a:ext cx="11247120" cy="274320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기본급 인상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34640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베이스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74920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+10%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+25%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55480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+45%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4773168"/>
            <a:ext cx="1124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773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레벨업 인센티브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834640" y="4773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5만 원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74920" y="4773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10만 원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15200" y="4773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20만 원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555480" y="4773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50만 원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5047488"/>
            <a:ext cx="11247120" cy="274320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50474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선택 복지 (연)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834640" y="50474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30만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74920" y="50474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60만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15200" y="50474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100만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555480" y="504748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200만 원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5321808"/>
            <a:ext cx="1124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53218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추가 휴가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834640" y="5321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-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074920" y="5321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리프레시 반차 2일/년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15200" y="5321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리프레시 연차 2일/년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555480" y="53218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안식 휴가 5일/2년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" y="5596128"/>
            <a:ext cx="11247120" cy="274320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5596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배지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834640" y="5596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밀알 배지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074920" y="5596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반죽 배지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315200" y="5596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골든 크러스트 배지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555480" y="5596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마스터 오븐 배지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5870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사내 권한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834640" y="58704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-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074920" y="58704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신입 OJT 보조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315200" y="58704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멘토·품질 점검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555480" y="58704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신제품 결정 참여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solidFill>
            <a:srgbClr val="F5EF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" y="61447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상징물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2834640" y="61447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입사 키트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074920" y="61447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네임 명찰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315200" y="61447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시니어 앞치마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555480" y="61447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마스터 앞치마 + 각인 도구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 근로계약 · 법적 기준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근로기준법 · 장애인고용촉진법 · 최저임금법 3중 적합성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3중 법률 적합성 점검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4520"/>
            <a:ext cx="3749040" cy="36576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근로기준법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필수 기재사항 13개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최저임금·근로시간·휴게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E883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874520"/>
            <a:ext cx="3749040" cy="365760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장애인고용촉진법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차별 금지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정당한 편의제공 의무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87452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874520"/>
            <a:ext cx="3749040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최저임금법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2331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원칙 최저임금 이상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(예외 시 인가 절차)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근로계약서 설계 3층 구조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F5EFE7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94760"/>
            <a:ext cx="109728" cy="2468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 표준 조항 (전 근로자 공통)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315968"/>
            <a:ext cx="329184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526280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434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근로기준법 제17조 필수 기재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4910328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818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임금구성·지급·근로시간·휴가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294376"/>
            <a:ext cx="128016" cy="12801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2029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시용·수습·비밀유지·겸업금지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0" y="379476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F5EFE7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3794760"/>
            <a:ext cx="109728" cy="2468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 장애 유형별 선택 조항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17720" y="4315968"/>
            <a:ext cx="32918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526280"/>
            <a:ext cx="128016" cy="128016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434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합리적 편의제공 (작업환경·도구·보조공학)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910328"/>
            <a:ext cx="128016" cy="128016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818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근무시간 유연화 (단시간·분할·휴게 확대)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5294376"/>
            <a:ext cx="128016" cy="128016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52029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지원인력·직무지도원 배치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5678424"/>
            <a:ext cx="128016" cy="128016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55869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의사소통 방식 (수어·문자·그림)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21040" y="3794760"/>
            <a:ext cx="3749040" cy="2468880"/>
          </a:xfrm>
          <a:prstGeom prst="roundRect">
            <a:avLst>
              <a:gd name="adj" fmla="val 3704"/>
            </a:avLst>
          </a:prstGeom>
          <a:solidFill>
            <a:srgbClr val="F5EFE7"/>
          </a:solidFill>
          <a:ln w="19050">
            <a:solidFill>
              <a:srgbClr val="739E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3794760"/>
            <a:ext cx="109728" cy="2468880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9E82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 보호자·후견인 동의 (필요 시)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49640" y="4315968"/>
            <a:ext cx="3291840" cy="0"/>
          </a:xfrm>
          <a:prstGeom prst="line">
            <a:avLst/>
          </a:prstGeom>
          <a:noFill/>
          <a:ln w="12700">
            <a:solidFill>
              <a:srgbClr val="739E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0" y="4526280"/>
            <a:ext cx="128016" cy="128016"/>
          </a:xfrm>
          <a:prstGeom prst="ellipse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23960" y="4434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성년후견·한정후견 등재 확인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910328"/>
            <a:ext cx="128016" cy="128016"/>
          </a:xfrm>
          <a:prstGeom prst="ellipse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23960" y="4818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보호자 배석 면담 · 별도 동의서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595360" y="5294376"/>
            <a:ext cx="128016" cy="128016"/>
          </a:xfrm>
          <a:prstGeom prst="ellipse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23960" y="52029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3자 조정 절차 사전 명시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④ 인사 규정 — 운영 매뉴얼 수준 구축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취업·복무·인사·평가·보상·징계·안전보건 7종 세트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11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08760"/>
            <a:ext cx="2743200" cy="45720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  취업규칙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근로조건·복무·해고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10인 이상 필수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5087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508760"/>
            <a:ext cx="27432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  복무규정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20440" y="21031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근무시간·휴게·복장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출퇴근 관리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508760"/>
            <a:ext cx="2743200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  인사규정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58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21031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채용·배치·승진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전보·퇴직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15087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883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508760"/>
            <a:ext cx="2743200" cy="457200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④  평가규정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81160" y="21031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평가 주기·지표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등급·피드백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739E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37560"/>
            <a:ext cx="2743200" cy="457200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⑤  보상규정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974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4008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임금·인센티브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복리후생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7560" y="3337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A88B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337560"/>
            <a:ext cx="2743200" cy="457200"/>
          </a:xfrm>
          <a:prstGeom prst="rect">
            <a:avLst/>
          </a:prstGeom>
          <a:solidFill>
            <a:srgbClr val="A88B3E"/>
          </a:solidFill>
          <a:ln w="12700">
            <a:solidFill>
              <a:srgbClr val="A88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⑥  징계규정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778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52044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징계 사유·절차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구제·배려 의무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337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F2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3337560"/>
            <a:ext cx="274320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⑦  안전보건규정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458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400800" y="39319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작업 안전·사고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대응·건강관리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25780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시행 프로세스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0080" y="566928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669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경영진·현업·법무 3자 검토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70048" y="57150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852928" y="566928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52928" y="5669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근로자 과반수 의견청취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82896" y="57150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065776" y="566928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65776" y="5669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노동부 신고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95744" y="57150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278624" y="566928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78624" y="5669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사내 비치·시각화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08592" y="57150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491472" y="566928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91472" y="5669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연 1회 정기 개정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2 — 직무 관리 고도화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제과제빵·바리스타 직무를 체계적·표준화된 운영 자산으로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12 /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산출 체계 — 4대 자산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4520"/>
            <a:ext cx="640080" cy="96012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직무프로파일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목적·과업·역량·장애유형별 수행 범위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14884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1B365D">
              <a:alpha val="20000"/>
            </a:srgbClr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148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A4 4~6p/직무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26080"/>
            <a:ext cx="6400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2608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344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표준작업절차서 (SOP)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공정·동작 단위 매뉴얼 (사진·그림)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320040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2E75B6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200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A4 10~20p/공정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77640"/>
            <a:ext cx="640080" cy="960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7764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444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교육자료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434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온보딩 커리큘럼·체크리스트·모의훈련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66360" y="425196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C9A961">
              <a:alpha val="2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42519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2주 커리큘럼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02920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029200"/>
            <a:ext cx="640080" cy="960120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02920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234440" y="5120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평가·피드백 도구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3444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숙련도 점검표·일일 자기점검 카드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66360" y="530352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E8836F">
              <a:alpha val="20000"/>
            </a:srgbClr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53035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1장 양식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 유형별 반영 원칙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75120" y="18745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5EFE7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2057400"/>
            <a:ext cx="594360" cy="59436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발달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95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발달장애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89520" y="2331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그림·아이콘·컬러 코드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1페이지 1공정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75120" y="29260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5EFE7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3108960"/>
            <a:ext cx="594360" cy="59436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청각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8952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청각장애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58952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영상 자막·수어 병기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비상 알림 시각화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39776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5EFE7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4160520"/>
            <a:ext cx="594360" cy="59436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지체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8952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지체장애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8952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작업대·도구 조정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배리어프리 동선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75120" y="50292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5EFE7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5212080"/>
            <a:ext cx="594360" cy="59436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시각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89520" y="5120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시각장애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589520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음성 안내·점자 라벨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촉각 공정 표시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 Track 2 산출물 = Track 1 직급·임금 체계의 운영 기반 (상호 연동)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3 — 직무 발굴·개발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5대 가치 영역 프레임워크  (2026H2 ~ 2027)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13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B365D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 차별화 근거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2024~2026 선도기업 장애인 직무개발 사업 수행 노하우 (산업군 횡단 현장 자산)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86000"/>
            <a:ext cx="224028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 고객서비스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874520" cy="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CS 응대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874520" cy="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48640" y="3749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VOC 분류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874520" cy="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만족도 조사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22860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E883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0632" y="2286000"/>
            <a:ext cx="2240280" cy="777240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70632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 업무효율화·AI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53512" y="3657600"/>
            <a:ext cx="1874520" cy="0"/>
          </a:xfrm>
          <a:prstGeom prst="line">
            <a:avLst/>
          </a:prstGeom>
          <a:noFill/>
          <a:ln w="6350">
            <a:solidFill>
              <a:srgbClr val="E8836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862072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 라벨링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53512" y="4206240"/>
            <a:ext cx="1874520" cy="0"/>
          </a:xfrm>
          <a:prstGeom prst="line">
            <a:avLst/>
          </a:prstGeom>
          <a:noFill/>
          <a:ln w="6350">
            <a:solidFill>
              <a:srgbClr val="E8836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862072" y="3749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문서 디지털화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53512" y="4754880"/>
            <a:ext cx="1874520" cy="0"/>
          </a:xfrm>
          <a:prstGeom prst="line">
            <a:avLst/>
          </a:prstGeom>
          <a:noFill/>
          <a:ln w="6350">
            <a:solidFill>
              <a:srgbClr val="E8836F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862072" y="4297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자동화 보조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84064" y="22860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4064" y="2286000"/>
            <a:ext cx="2240280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NEW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84064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 신규 사업 보조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66944" y="3657600"/>
            <a:ext cx="18745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175504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시장조사 보조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66944" y="4206240"/>
            <a:ext cx="18745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175504" y="3749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SNS 운영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66944" y="4754880"/>
            <a:ext cx="18745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175504" y="4297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상품 등록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97496" y="22860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739E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97496" y="2286000"/>
            <a:ext cx="2240280" cy="777240"/>
          </a:xfrm>
          <a:prstGeom prst="rect">
            <a:avLst/>
          </a:prstGeom>
          <a:solidFill>
            <a:srgbClr val="739E82"/>
          </a:solidFill>
          <a:ln w="12700">
            <a:solidFill>
              <a:srgbClr val="739E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97496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ESG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97496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④ ESG 실천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580376" y="3657600"/>
            <a:ext cx="1874520" cy="0"/>
          </a:xfrm>
          <a:prstGeom prst="line">
            <a:avLst/>
          </a:prstGeom>
          <a:noFill/>
          <a:ln w="6350">
            <a:solidFill>
              <a:srgbClr val="739E82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7488936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사회공헌 기획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580376" y="4206240"/>
            <a:ext cx="1874520" cy="0"/>
          </a:xfrm>
          <a:prstGeom prst="line">
            <a:avLst/>
          </a:prstGeom>
          <a:noFill/>
          <a:ln w="6350">
            <a:solidFill>
              <a:srgbClr val="739E82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7488936" y="3749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친환경 캠페인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580376" y="4754880"/>
            <a:ext cx="1874520" cy="0"/>
          </a:xfrm>
          <a:prstGeom prst="line">
            <a:avLst/>
          </a:prstGeom>
          <a:noFill/>
          <a:ln w="6350">
            <a:solidFill>
              <a:srgbClr val="739E82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7488936" y="4297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ESG 리포트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710928" y="22860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10928" y="2286000"/>
            <a:ext cx="2240280" cy="7772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10928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WEL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71092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⑤ 임직원 복지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893808" y="3657600"/>
            <a:ext cx="1874520" cy="0"/>
          </a:xfrm>
          <a:prstGeom prst="line">
            <a:avLst/>
          </a:prstGeom>
          <a:noFill/>
          <a:ln w="6350">
            <a:solidFill>
              <a:srgbClr val="1B365D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9802368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사내 카페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893808" y="4206240"/>
            <a:ext cx="1874520" cy="0"/>
          </a:xfrm>
          <a:prstGeom prst="line">
            <a:avLst/>
          </a:prstGeom>
          <a:noFill/>
          <a:ln w="6350">
            <a:solidFill>
              <a:srgbClr val="1B365D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9802368" y="3749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우편물 관리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893808" y="4754880"/>
            <a:ext cx="1874520" cy="0"/>
          </a:xfrm>
          <a:prstGeom prst="line">
            <a:avLst/>
          </a:prstGeom>
          <a:noFill/>
          <a:ln w="6350">
            <a:solidFill>
              <a:srgbClr val="1B365D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9802368" y="4297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시설 관리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5EFE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5623560"/>
            <a:ext cx="548640" cy="54864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" y="5623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463040" y="5669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맞춤 워크샵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246120" y="566928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3566160" y="5623560"/>
            <a:ext cx="548640" cy="54864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66160" y="5623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206240" y="5669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후보 직무 스크리닝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989320" y="566928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6309360" y="5623560"/>
            <a:ext cx="548640" cy="54864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5623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949440" y="5669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JD 작성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732520" y="566928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→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9052560" y="5623560"/>
            <a:ext cx="548640" cy="54864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52560" y="5623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692640" y="5669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도입 로드맵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장기 동반 파트너십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 ~ 2027 이음 사옥 운영 시작까지 지속적으로 함께 호흡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14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5EFE7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08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고정된 일정표가 아닌 이음의 사옥 오픈 준비 흐름에 '동행'하는 파트너십. 이음의 내부 의사결정·자원 상황에 맞춰 탄력적 진행.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1033272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3017520"/>
            <a:ext cx="365760" cy="36576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2026년 상반기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관계 정착 + Track 1 출발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566160"/>
            <a:ext cx="365760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886200"/>
            <a:ext cx="274320" cy="27432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양사 호흡 맞추기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1560" y="4480560"/>
            <a:ext cx="274320" cy="27432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4389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AS-IS 진단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1560" y="5074920"/>
            <a:ext cx="274320" cy="27432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4983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레벨·임금 체계 초안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3017520"/>
            <a:ext cx="365760" cy="365760"/>
          </a:xfrm>
          <a:prstGeom prst="ellipse">
            <a:avLst/>
          </a:prstGeom>
          <a:solidFill>
            <a:srgbClr val="C9A961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2026년 하반기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Track 1·2 병행 진척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566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566160"/>
            <a:ext cx="3657600" cy="91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886200"/>
            <a:ext cx="274320" cy="274320"/>
          </a:xfrm>
          <a:prstGeom prst="ellipse">
            <a:avLst/>
          </a:prstGeom>
          <a:solidFill>
            <a:srgbClr val="C9A961">
              <a:alpha val="3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HR 체계 본격 구축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4480560"/>
            <a:ext cx="274320" cy="274320"/>
          </a:xfrm>
          <a:prstGeom prst="ellipse">
            <a:avLst/>
          </a:prstGeom>
          <a:solidFill>
            <a:srgbClr val="C9A961">
              <a:alpha val="3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389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제과제빵·바리스타 직무 자산화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5074920"/>
            <a:ext cx="274320" cy="274320"/>
          </a:xfrm>
          <a:prstGeom prst="ellipse">
            <a:avLst/>
          </a:prstGeom>
          <a:solidFill>
            <a:srgbClr val="C9A961">
              <a:alpha val="30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4983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근로계약·인사규정 초안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012680" y="3017520"/>
            <a:ext cx="365760" cy="365760"/>
          </a:xfrm>
          <a:prstGeom prst="ellipse">
            <a:avLst/>
          </a:prstGeom>
          <a:solidFill>
            <a:srgbClr val="E8836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2027년 사옥 오픈 전후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2104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운영 안착 + Track 3 발굴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1040" y="3566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883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3566160"/>
            <a:ext cx="3657600" cy="91440"/>
          </a:xfrm>
          <a:prstGeom prst="rect">
            <a:avLst/>
          </a:prstGeom>
          <a:solidFill>
            <a:srgbClr val="E8836F"/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49640" y="3886200"/>
            <a:ext cx="274320" cy="274320"/>
          </a:xfrm>
          <a:prstGeom prst="ellipse">
            <a:avLst/>
          </a:prstGeom>
          <a:solidFill>
            <a:srgbClr val="E8836F">
              <a:alpha val="30000"/>
            </a:srgbClr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1540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운영 점검·미세조정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49640" y="4480560"/>
            <a:ext cx="274320" cy="274320"/>
          </a:xfrm>
          <a:prstGeom prst="ellipse">
            <a:avLst/>
          </a:prstGeom>
          <a:solidFill>
            <a:srgbClr val="E8836F">
              <a:alpha val="30000"/>
            </a:srgbClr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15400" y="4389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신규 직무 워크샵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549640" y="5074920"/>
            <a:ext cx="274320" cy="274320"/>
          </a:xfrm>
          <a:prstGeom prst="ellipse">
            <a:avLst/>
          </a:prstGeom>
          <a:solidFill>
            <a:srgbClr val="E8836F">
              <a:alpha val="30000"/>
            </a:srgbClr>
          </a:solidFill>
          <a:ln w="12700">
            <a:solidFill>
              <a:srgbClr val="E8836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49640" y="5056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6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15400" y="4983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확장 로드맵 수립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5989320"/>
            <a:ext cx="11247120" cy="411480"/>
          </a:xfrm>
          <a:prstGeom prst="roundRect">
            <a:avLst>
              <a:gd name="adj" fmla="val 11111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분기 방향 조율  |  월 단위 산출물 리뷰  |  상시 실무 채널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조건 및 역할 분담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Win-Win 기반의 투명한 역할 구분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15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5577840" cy="4937760"/>
          </a:xfrm>
          <a:prstGeom prst="roundRect">
            <a:avLst>
              <a:gd name="adj" fmla="val 1852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 제공 사항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52120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3개 트랙 산출물 일체 무상 제공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5328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유상 프로젝트 동등 품질 수준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 1회 정례 리포팅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38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단계별 마일스톤 리뷰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산출물 저작권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5445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내부 활용 자유 사용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166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전담 컨설턴트 배정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5504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온·오프라인 수시 대응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1417320"/>
            <a:ext cx="5577840" cy="4937760"/>
          </a:xfrm>
          <a:prstGeom prst="roundRect">
            <a:avLst>
              <a:gd name="adj" fmla="val 1852"/>
            </a:avLst>
          </a:prstGeom>
          <a:solidFill>
            <a:srgbClr val="F5EFE7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측 요청 협조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355080" y="1965960"/>
            <a:ext cx="5212080" cy="0"/>
          </a:xfrm>
          <a:prstGeom prst="line">
            <a:avLst/>
          </a:prstGeom>
          <a:noFill/>
          <a:ln w="12700">
            <a:solidFill>
              <a:srgbClr val="1B36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2240280"/>
            <a:ext cx="411480" cy="41148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2148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필수 범위 정보 공유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25328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운영 시나리오·채용계획·직무목록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3246120"/>
            <a:ext cx="411480" cy="41148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3154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주요 산출물 내부 리뷰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3538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내 검토·피드백 제공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4251960"/>
            <a:ext cx="411480" cy="41148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홍보·레퍼런스 활용 동의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45445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범위 협의, 개인정보 비식별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5257800"/>
            <a:ext cx="411480" cy="41148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5166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보안·리스크 관리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55504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NDA 체결, 개인정보 미접근 설계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09728" cy="777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팀장님께 제안드리는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시점은 이음 내부 일정에 맞추어 유연하게 진행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384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7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× 시앤피컨설팅  |  협업 제안서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16 /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051560"/>
            <a:ext cx="914400" cy="914400"/>
          </a:xfrm>
          <a:prstGeom prst="ellipse">
            <a:avLst/>
          </a:prstGeom>
          <a:solidFill>
            <a:srgbClr val="1B365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①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3개 트랙 협업 범위 합의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2834640"/>
            <a:ext cx="164592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본 제안 범위 중 우선 착수 범위 결정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15087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051560"/>
            <a:ext cx="914400" cy="914400"/>
          </a:xfrm>
          <a:prstGeom prst="ellipse">
            <a:avLst/>
          </a:prstGeom>
          <a:solidFill>
            <a:srgbClr val="2E75B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②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661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내부 공유 및 승인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31920" y="2834640"/>
            <a:ext cx="16459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대표이사님 공유 · 승인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15087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051560"/>
            <a:ext cx="914400" cy="914400"/>
          </a:xfrm>
          <a:prstGeom prst="ellipse">
            <a:avLst/>
          </a:prstGeom>
          <a:solidFill>
            <a:srgbClr val="C9A9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③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922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MOU · NDA 체결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0" y="2834640"/>
            <a:ext cx="16459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경영지원팀장님 주관으로 양사 체결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5256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35440" y="15087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E883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9840" y="1051560"/>
            <a:ext cx="914400" cy="914400"/>
          </a:xfrm>
          <a:prstGeom prst="ellipse">
            <a:avLst/>
          </a:prstGeom>
          <a:solidFill>
            <a:srgbClr val="E8836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0" y="1051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④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4183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킥오프 미팅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784080" y="2834640"/>
            <a:ext cx="1645920" cy="0"/>
          </a:xfrm>
          <a:prstGeom prst="line">
            <a:avLst/>
          </a:prstGeom>
          <a:noFill/>
          <a:ln w="19050">
            <a:solidFill>
              <a:srgbClr val="E883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 실무진 · 시앤피 실무진 첫 워크 세션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11247120" cy="1965960"/>
          </a:xfrm>
          <a:prstGeom prst="roundRect">
            <a:avLst>
              <a:gd name="adj" fmla="val 4651"/>
            </a:avLst>
          </a:prstGeom>
          <a:solidFill>
            <a:srgbClr val="F5EFE7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▶ 팀장님 내부 검토 포인트 (대표이사님 보고 시 유용)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0080" y="4754880"/>
            <a:ext cx="1088136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965192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4892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협업 범위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06040" y="4892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3개 트랙 전체 vs. Track 1·2 우선 → Track 3 순차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80760" y="4965192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892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홍보 활용 범위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46720" y="4892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회사명 공개/비공개, 사례 노출 수준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605272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532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MOU·NDA 체결 권한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60604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경영지원팀장님 위임 또는 대표 직접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5605272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5532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프로젝트 카운터파트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4672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주간 리포팅 수신·피드백 담당자 지정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C9A961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657600" cy="0"/>
          </a:xfrm>
          <a:prstGeom prst="line">
            <a:avLst/>
          </a:prstGeom>
          <a:noFill/>
          <a:ln w="381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이음과 시앤피컨설팅이 함께 만들어 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장애인 근로자 HR 체계의 새로운 기준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069848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지난 미팅에서 나눈 방향이, 이음의 현장에서 실제로 살아 움직이는 HR 체계로 구현되도록,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2026년부터 2027년 사옥 운영 시작까지 진심으로 동행하겠습니다.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팀장님의 의사결정을 뒷받침하는 데 필요한 무엇이든 신속히 준비해 드리겠습니다.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시앤피컨설팅  |  이석주 팀장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4E0"/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eykis.lsj@gmail.com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이음 × 시앤피컨설팅 협업 제안</dc:title>
  <dc:subject>PptxGenJS Presentation</dc:subject>
  <dc:creator>시앤피컨설팅 이석주</dc:creator>
  <cp:lastModifiedBy>시앤피컨설팅 이석주</cp:lastModifiedBy>
  <cp:revision>1</cp:revision>
  <dcterms:created xsi:type="dcterms:W3CDTF">2026-04-21T07:45:55Z</dcterms:created>
  <dcterms:modified xsi:type="dcterms:W3CDTF">2026-04-21T07:45:55Z</dcterms:modified>
</cp:coreProperties>
</file>