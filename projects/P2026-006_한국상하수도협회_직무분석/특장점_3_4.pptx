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1097280" cy="320040"/>
          </a:xfrm>
          <a:prstGeom prst="rect">
            <a:avLst/>
          </a:prstGeom>
          <a:solidFill>
            <a:srgbClr val="F08C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특장점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508760" y="137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제안사의 특장점(2/2)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I. 제안 개요</a:t>
            </a:r>
            <a:endParaRPr lang="en-US" sz="900" dirty="0"/>
          </a:p>
          <a:p>
            <a:pPr algn="r" indent="0" marL="0">
              <a:buNone/>
            </a:pPr>
            <a:r>
              <a:rPr lang="en-US" sz="900" b="1" dirty="0">
                <a:solidFill>
                  <a:srgbClr val="FFA7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제안의 특징과 장점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제안사는 2012년부터 현재까지 </a:t>
            </a:r>
            <a:pPr indent="0" marL="0">
              <a:buNone/>
            </a:pPr>
            <a:r>
              <a:rPr lang="en-US" sz="1300" b="1" dirty="0">
                <a:solidFill>
                  <a:srgbClr val="F08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 개발·활용 전 주기 역량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보유하고 있으며, </a:t>
            </a:r>
            <a:pPr indent="0" marL="0">
              <a:buNone/>
            </a:pPr>
            <a:r>
              <a:rPr lang="en-US" sz="1300" b="1" dirty="0">
                <a:solidFill>
                  <a:srgbClr val="F08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AX(AI Transformation) 진단 도구 기반 기업 맞춤형 미래 신기술 훈련과정 설계 역량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갖추고 있음.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4160520" cy="320040"/>
          </a:xfrm>
          <a:prstGeom prst="rect">
            <a:avLst/>
          </a:prstGeom>
          <a:solidFill>
            <a:srgbClr val="F08C0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801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NCS 개발·활용 전 주기 역량 보유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4160520" cy="1051560"/>
          </a:xfrm>
          <a:prstGeom prst="rect">
            <a:avLst/>
          </a:prstGeom>
          <a:solidFill>
            <a:srgbClr val="252545"/>
          </a:solidFill>
          <a:ln w="6350">
            <a:solidFill>
              <a:srgbClr val="3A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19072"/>
            <a:ext cx="38862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2012년부터 현재까지 NCS 관련 전 주기 사업을 수행하여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 체계에 대한 깊은 이해와 실무 적용 역량을 축적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50" b="1" dirty="0">
                <a:solidFill>
                  <a:srgbClr val="FFA7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 개발·개선 → 참여인력 역량향상과정 → SQF 설계·개발</a:t>
            </a:r>
            <a:endParaRPr lang="en-US" sz="1000" dirty="0"/>
          </a:p>
          <a:p>
            <a:pPr indent="0" marL="0">
              <a:buNone/>
            </a:pPr>
            <a:r>
              <a:rPr lang="en-US" sz="950" b="1" dirty="0">
                <a:solidFill>
                  <a:srgbClr val="FFA7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자격 연계 → NCS·SQF 개발·활용 정책 연구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788920"/>
            <a:ext cx="1371600" cy="274320"/>
          </a:xfrm>
          <a:prstGeom prst="rect">
            <a:avLst/>
          </a:prstGeom>
          <a:solidFill>
            <a:srgbClr val="3A3A5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A7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45920" y="2788920"/>
            <a:ext cx="2788920" cy="274320"/>
          </a:xfrm>
          <a:prstGeom prst="rect">
            <a:avLst/>
          </a:prstGeom>
          <a:solidFill>
            <a:srgbClr val="3A3A5A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27889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A7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수행 내용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1371600" cy="347472"/>
          </a:xfrm>
          <a:prstGeom prst="rect">
            <a:avLst/>
          </a:prstGeom>
          <a:solidFill>
            <a:srgbClr val="252545"/>
          </a:solidFill>
          <a:ln w="3810">
            <a:solidFill>
              <a:srgbClr val="3A3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063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 개발·개선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5920" y="3063240"/>
            <a:ext cx="2788920" cy="347472"/>
          </a:xfrm>
          <a:prstGeom prst="rect">
            <a:avLst/>
          </a:prstGeom>
          <a:solidFill>
            <a:srgbClr val="252545"/>
          </a:solidFill>
          <a:ln w="3810">
            <a:solidFill>
              <a:srgbClr val="3A3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30632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국가직무능력표준 개발 및 개선 사업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410712"/>
            <a:ext cx="1371600" cy="347472"/>
          </a:xfrm>
          <a:prstGeom prst="rect">
            <a:avLst/>
          </a:prstGeom>
          <a:solidFill>
            <a:srgbClr val="2A2A4A"/>
          </a:solidFill>
          <a:ln w="3810">
            <a:solidFill>
              <a:srgbClr val="3A3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4107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역량향상과정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0" y="3410712"/>
            <a:ext cx="2788920" cy="347472"/>
          </a:xfrm>
          <a:prstGeom prst="rect">
            <a:avLst/>
          </a:prstGeom>
          <a:solidFill>
            <a:srgbClr val="2A2A4A"/>
          </a:solidFill>
          <a:ln w="3810">
            <a:solidFill>
              <a:srgbClr val="3A3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37360" y="34107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NCS 개발·개선 참여인력 역량향상과정 운영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758184"/>
            <a:ext cx="1371600" cy="347472"/>
          </a:xfrm>
          <a:prstGeom prst="rect">
            <a:avLst/>
          </a:prstGeom>
          <a:solidFill>
            <a:srgbClr val="252545"/>
          </a:solidFill>
          <a:ln w="3810">
            <a:solidFill>
              <a:srgbClr val="3A3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7581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SQF 설계·개발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0" y="3758184"/>
            <a:ext cx="2788920" cy="347472"/>
          </a:xfrm>
          <a:prstGeom prst="rect">
            <a:avLst/>
          </a:prstGeom>
          <a:solidFill>
            <a:srgbClr val="252545"/>
          </a:solidFill>
          <a:ln w="3810">
            <a:solidFill>
              <a:srgbClr val="3A3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37360" y="37581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산업별 역량체계(SQF) 설계 및 개발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105656"/>
            <a:ext cx="1371600" cy="347472"/>
          </a:xfrm>
          <a:prstGeom prst="rect">
            <a:avLst/>
          </a:prstGeom>
          <a:solidFill>
            <a:srgbClr val="2A2A4A"/>
          </a:solidFill>
          <a:ln w="3810">
            <a:solidFill>
              <a:srgbClr val="3A3A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1056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 연계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645920" y="4105656"/>
            <a:ext cx="2788920" cy="347472"/>
          </a:xfrm>
          <a:prstGeom prst="rect">
            <a:avLst/>
          </a:prstGeom>
          <a:solidFill>
            <a:srgbClr val="2A2A4A"/>
          </a:solidFill>
          <a:ln w="3810">
            <a:solidFill>
              <a:srgbClr val="3A3A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37360" y="41056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NCS 기반 자격체계 연구·개발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453128"/>
            <a:ext cx="1371600" cy="347472"/>
          </a:xfrm>
          <a:prstGeom prst="rect">
            <a:avLst/>
          </a:prstGeom>
          <a:solidFill>
            <a:srgbClr val="252545"/>
          </a:solidFill>
          <a:ln w="3810">
            <a:solidFill>
              <a:srgbClr val="3A3A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4531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 연구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45920" y="4453128"/>
            <a:ext cx="2788920" cy="347472"/>
          </a:xfrm>
          <a:prstGeom prst="rect">
            <a:avLst/>
          </a:prstGeom>
          <a:solidFill>
            <a:srgbClr val="252545"/>
          </a:solidFill>
          <a:ln w="3810">
            <a:solidFill>
              <a:srgbClr val="3A3A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0" y="44531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NCS·SQF 개발·활용 정책 연구 수행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1280160"/>
            <a:ext cx="4160520" cy="320040"/>
          </a:xfrm>
          <a:prstGeom prst="rect">
            <a:avLst/>
          </a:prstGeom>
          <a:solidFill>
            <a:srgbClr val="F08C00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12801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AX 진단 기반 기업 맞춤형 미래 신기술 훈련과정 설계 역량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1645920"/>
            <a:ext cx="4160520" cy="1051560"/>
          </a:xfrm>
          <a:prstGeom prst="rect">
            <a:avLst/>
          </a:prstGeom>
          <a:solidFill>
            <a:srgbClr val="252545"/>
          </a:solidFill>
          <a:ln w="6350">
            <a:solidFill>
              <a:srgbClr val="3A3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1719072"/>
            <a:ext cx="38862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한국산업인력공단 AI 공동훈련센터 대상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진단 컨설팅 도구 연구·개발 수행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50" b="1" dirty="0">
                <a:solidFill>
                  <a:srgbClr val="FFA7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기업별 AX 수준 진단 → 단계별 맞춤형 AI·디지털</a:t>
            </a:r>
            <a:endParaRPr lang="en-US" sz="1000" dirty="0"/>
          </a:p>
          <a:p>
            <a:pPr indent="0" marL="0">
              <a:buNone/>
            </a:pPr>
            <a:r>
              <a:rPr lang="en-US" sz="950" b="1" dirty="0">
                <a:solidFill>
                  <a:srgbClr val="FFA7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훈련과정 설계로 실효성 높은 교육과정 개발 가능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2788920"/>
            <a:ext cx="2103120" cy="274320"/>
          </a:xfrm>
          <a:prstGeom prst="rect">
            <a:avLst/>
          </a:prstGeom>
          <a:solidFill>
            <a:srgbClr val="3A3A5A"/>
          </a:solidFill>
          <a:ln/>
        </p:spPr>
      </p:sp>
      <p:sp>
        <p:nvSpPr>
          <p:cNvPr id="40" name="Text 38"/>
          <p:cNvSpPr/>
          <p:nvPr/>
        </p:nvSpPr>
        <p:spPr>
          <a:xfrm>
            <a:off x="4709160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A7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진단 7대 영역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12280" y="2788920"/>
            <a:ext cx="2057400" cy="274320"/>
          </a:xfrm>
          <a:prstGeom prst="rect">
            <a:avLst/>
          </a:prstGeom>
          <a:solidFill>
            <a:srgbClr val="3A3A5A"/>
          </a:solidFill>
          <a:ln/>
        </p:spPr>
      </p:sp>
      <p:sp>
        <p:nvSpPr>
          <p:cNvPr id="42" name="Text 40"/>
          <p:cNvSpPr/>
          <p:nvPr/>
        </p:nvSpPr>
        <p:spPr>
          <a:xfrm>
            <a:off x="6812280" y="27889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A7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진행단계 구분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3108960"/>
            <a:ext cx="2011680" cy="246888"/>
          </a:xfrm>
          <a:prstGeom prst="rect">
            <a:avLst/>
          </a:prstGeom>
          <a:solidFill>
            <a:srgbClr val="252545"/>
          </a:solidFill>
          <a:ln/>
        </p:spPr>
      </p:sp>
      <p:sp>
        <p:nvSpPr>
          <p:cNvPr id="44" name="Shape 42"/>
          <p:cNvSpPr/>
          <p:nvPr/>
        </p:nvSpPr>
        <p:spPr>
          <a:xfrm>
            <a:off x="4846320" y="3182112"/>
            <a:ext cx="100584" cy="100584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45" name="Text 43"/>
          <p:cNvSpPr/>
          <p:nvPr/>
        </p:nvSpPr>
        <p:spPr>
          <a:xfrm>
            <a:off x="5001768" y="310896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전략(Strategy)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3364992"/>
            <a:ext cx="2011680" cy="246888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47" name="Shape 45"/>
          <p:cNvSpPr/>
          <p:nvPr/>
        </p:nvSpPr>
        <p:spPr>
          <a:xfrm>
            <a:off x="4846320" y="3438144"/>
            <a:ext cx="100584" cy="100584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48" name="Text 46"/>
          <p:cNvSpPr/>
          <p:nvPr/>
        </p:nvSpPr>
        <p:spPr>
          <a:xfrm>
            <a:off x="5001768" y="336499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조직(Organization)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3621024"/>
            <a:ext cx="2011680" cy="246888"/>
          </a:xfrm>
          <a:prstGeom prst="rect">
            <a:avLst/>
          </a:prstGeom>
          <a:solidFill>
            <a:srgbClr val="252545"/>
          </a:solidFill>
          <a:ln/>
        </p:spPr>
      </p:sp>
      <p:sp>
        <p:nvSpPr>
          <p:cNvPr id="50" name="Shape 48"/>
          <p:cNvSpPr/>
          <p:nvPr/>
        </p:nvSpPr>
        <p:spPr>
          <a:xfrm>
            <a:off x="4846320" y="3694176"/>
            <a:ext cx="100584" cy="100584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51" name="Text 49"/>
          <p:cNvSpPr/>
          <p:nvPr/>
        </p:nvSpPr>
        <p:spPr>
          <a:xfrm>
            <a:off x="5001768" y="3621024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인재(People)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54880" y="3877056"/>
            <a:ext cx="2011680" cy="246888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53" name="Shape 51"/>
          <p:cNvSpPr/>
          <p:nvPr/>
        </p:nvSpPr>
        <p:spPr>
          <a:xfrm>
            <a:off x="4846320" y="3950208"/>
            <a:ext cx="100584" cy="100584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54" name="Text 52"/>
          <p:cNvSpPr/>
          <p:nvPr/>
        </p:nvSpPr>
        <p:spPr>
          <a:xfrm>
            <a:off x="5001768" y="3877056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문화(Culture)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54880" y="4133088"/>
            <a:ext cx="2011680" cy="246888"/>
          </a:xfrm>
          <a:prstGeom prst="rect">
            <a:avLst/>
          </a:prstGeom>
          <a:solidFill>
            <a:srgbClr val="252545"/>
          </a:solidFill>
          <a:ln/>
        </p:spPr>
      </p:sp>
      <p:sp>
        <p:nvSpPr>
          <p:cNvPr id="56" name="Shape 54"/>
          <p:cNvSpPr/>
          <p:nvPr/>
        </p:nvSpPr>
        <p:spPr>
          <a:xfrm>
            <a:off x="4846320" y="4206240"/>
            <a:ext cx="100584" cy="100584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57" name="Text 55"/>
          <p:cNvSpPr/>
          <p:nvPr/>
        </p:nvSpPr>
        <p:spPr>
          <a:xfrm>
            <a:off x="5001768" y="413308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데이터(Data)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54880" y="4389120"/>
            <a:ext cx="2011680" cy="246888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59" name="Shape 57"/>
          <p:cNvSpPr/>
          <p:nvPr/>
        </p:nvSpPr>
        <p:spPr>
          <a:xfrm>
            <a:off x="4846320" y="4462272"/>
            <a:ext cx="100584" cy="100584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60" name="Text 58"/>
          <p:cNvSpPr/>
          <p:nvPr/>
        </p:nvSpPr>
        <p:spPr>
          <a:xfrm>
            <a:off x="5001768" y="438912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인프라(Infrastructure)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54880" y="4645152"/>
            <a:ext cx="2011680" cy="246888"/>
          </a:xfrm>
          <a:prstGeom prst="rect">
            <a:avLst/>
          </a:prstGeom>
          <a:solidFill>
            <a:srgbClr val="252545"/>
          </a:solidFill>
          <a:ln/>
        </p:spPr>
      </p:sp>
      <p:sp>
        <p:nvSpPr>
          <p:cNvPr id="62" name="Shape 60"/>
          <p:cNvSpPr/>
          <p:nvPr/>
        </p:nvSpPr>
        <p:spPr>
          <a:xfrm>
            <a:off x="4846320" y="4718304"/>
            <a:ext cx="100584" cy="100584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63" name="Text 61"/>
          <p:cNvSpPr/>
          <p:nvPr/>
        </p:nvSpPr>
        <p:spPr>
          <a:xfrm>
            <a:off x="5001768" y="464515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거버넌스(Governance)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858000" y="3108960"/>
            <a:ext cx="1965960" cy="502920"/>
          </a:xfrm>
          <a:prstGeom prst="rect">
            <a:avLst/>
          </a:prstGeom>
          <a:solidFill>
            <a:srgbClr val="252545"/>
          </a:solidFill>
          <a:ln w="6350">
            <a:solidFill>
              <a:srgbClr val="3A3A5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58000" y="3108960"/>
            <a:ext cx="54864" cy="50292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66" name="Shape 64"/>
          <p:cNvSpPr/>
          <p:nvPr/>
        </p:nvSpPr>
        <p:spPr>
          <a:xfrm>
            <a:off x="6967728" y="3182112"/>
            <a:ext cx="411480" cy="347472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67" name="Text 65"/>
          <p:cNvSpPr/>
          <p:nvPr/>
        </p:nvSpPr>
        <p:spPr>
          <a:xfrm>
            <a:off x="6967728" y="318211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Lv1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452360" y="3136392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선제대응단계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B0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총점 30점 미만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858000" y="3721608"/>
            <a:ext cx="1965960" cy="502920"/>
          </a:xfrm>
          <a:prstGeom prst="rect">
            <a:avLst/>
          </a:prstGeom>
          <a:solidFill>
            <a:srgbClr val="252545"/>
          </a:solidFill>
          <a:ln w="6350">
            <a:solidFill>
              <a:srgbClr val="3A3A5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858000" y="3721608"/>
            <a:ext cx="54864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1" name="Shape 69"/>
          <p:cNvSpPr/>
          <p:nvPr/>
        </p:nvSpPr>
        <p:spPr>
          <a:xfrm>
            <a:off x="6967728" y="3794760"/>
            <a:ext cx="411480" cy="34747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2" name="Text 70"/>
          <p:cNvSpPr/>
          <p:nvPr/>
        </p:nvSpPr>
        <p:spPr>
          <a:xfrm>
            <a:off x="6967728" y="37947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Lv2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7452360" y="3749040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단계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B0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총점 30점 이상 60점 미만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858000" y="4334256"/>
            <a:ext cx="1965960" cy="502920"/>
          </a:xfrm>
          <a:prstGeom prst="rect">
            <a:avLst/>
          </a:prstGeom>
          <a:solidFill>
            <a:srgbClr val="252545"/>
          </a:solidFill>
          <a:ln w="6350">
            <a:solidFill>
              <a:srgbClr val="3A3A5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858000" y="4334256"/>
            <a:ext cx="54864" cy="502920"/>
          </a:xfrm>
          <a:prstGeom prst="rect">
            <a:avLst/>
          </a:prstGeom>
          <a:solidFill>
            <a:srgbClr val="F08C00"/>
          </a:solidFill>
          <a:ln/>
        </p:spPr>
      </p:sp>
      <p:sp>
        <p:nvSpPr>
          <p:cNvPr id="76" name="Shape 74"/>
          <p:cNvSpPr/>
          <p:nvPr/>
        </p:nvSpPr>
        <p:spPr>
          <a:xfrm>
            <a:off x="6967728" y="4407408"/>
            <a:ext cx="411480" cy="347472"/>
          </a:xfrm>
          <a:prstGeom prst="rect">
            <a:avLst/>
          </a:prstGeom>
          <a:solidFill>
            <a:srgbClr val="F08C00"/>
          </a:solidFill>
          <a:ln/>
        </p:spPr>
      </p:sp>
      <p:sp>
        <p:nvSpPr>
          <p:cNvPr id="77" name="Text 75"/>
          <p:cNvSpPr/>
          <p:nvPr/>
        </p:nvSpPr>
        <p:spPr>
          <a:xfrm>
            <a:off x="6967728" y="440740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Lv3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7452360" y="4361688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정착단계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B0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총점 60점 이상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858000" y="3633826"/>
            <a:ext cx="1965960" cy="65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A726"/>
                </a:solidFill>
              </a:rPr>
              <a:t>▼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858000" y="4246474"/>
            <a:ext cx="1965960" cy="65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A726"/>
                </a:solidFill>
              </a:rPr>
              <a:t>▼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709160" y="470916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B0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한국산업인력공단 AI 공동훈련센터 AX 진단 컨설팅 도구 v2.0 기반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제안사의 특장점(2/2)</dc:title>
  <dc:subject>PptxGenJS Presentation</dc:subject>
  <dc:creator>C&amp;P Consulting</dc:creator>
  <cp:lastModifiedBy>C&amp;P Consulting</cp:lastModifiedBy>
  <cp:revision>1</cp:revision>
  <dcterms:created xsi:type="dcterms:W3CDTF">2026-03-20T10:31:21Z</dcterms:created>
  <dcterms:modified xsi:type="dcterms:W3CDTF">2026-03-20T10:31:21Z</dcterms:modified>
</cp:coreProperties>
</file>