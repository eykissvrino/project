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handoutMasterIdLst>
    <p:handoutMasterId r:id="rId21"/>
  </p:handoutMasterIdLst>
  <p:sldIdLst>
    <p:sldId id="332" r:id="rId2"/>
    <p:sldId id="330" r:id="rId3"/>
    <p:sldId id="366" r:id="rId4"/>
    <p:sldId id="415" r:id="rId5"/>
    <p:sldId id="371" r:id="rId6"/>
    <p:sldId id="426" r:id="rId7"/>
    <p:sldId id="367" r:id="rId8"/>
    <p:sldId id="418" r:id="rId9"/>
    <p:sldId id="427" r:id="rId10"/>
    <p:sldId id="433" r:id="rId11"/>
    <p:sldId id="429" r:id="rId12"/>
    <p:sldId id="432" r:id="rId13"/>
    <p:sldId id="431" r:id="rId14"/>
    <p:sldId id="434" r:id="rId15"/>
    <p:sldId id="428" r:id="rId16"/>
    <p:sldId id="409" r:id="rId17"/>
    <p:sldId id="408" r:id="rId18"/>
    <p:sldId id="420" r:id="rId19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F43E6359-0AAE-446E-B05D-8FA1BD355E2F}">
          <p14:sldIdLst>
            <p14:sldId id="332"/>
            <p14:sldId id="330"/>
          </p14:sldIdLst>
        </p14:section>
        <p14:section name="1. 사업 개요" id="{9215D373-039F-4EBB-9CB4-23427AC6B03B}">
          <p14:sldIdLst>
            <p14:sldId id="366"/>
            <p14:sldId id="415"/>
            <p14:sldId id="371"/>
            <p14:sldId id="426"/>
          </p14:sldIdLst>
        </p14:section>
        <p14:section name="2. 사업수행 부문" id="{DCD1AC7F-27D4-4B9D-AFE0-35C11C0C98E4}">
          <p14:sldIdLst>
            <p14:sldId id="367"/>
            <p14:sldId id="418"/>
            <p14:sldId id="427"/>
            <p14:sldId id="433"/>
            <p14:sldId id="429"/>
            <p14:sldId id="432"/>
            <p14:sldId id="431"/>
            <p14:sldId id="434"/>
            <p14:sldId id="428"/>
          </p14:sldIdLst>
        </p14:section>
        <p14:section name="4. 제안기관 일반사항" id="{A33BE22A-21B4-47DA-BD35-21DEB3B6175D}">
          <p14:sldIdLst>
            <p14:sldId id="409"/>
            <p14:sldId id="408"/>
            <p14:sldId id="42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913" userDrawn="1">
          <p15:clr>
            <a:srgbClr val="A4A3A4"/>
          </p15:clr>
        </p15:guide>
        <p15:guide id="3" orient="horz" pos="1253" userDrawn="1">
          <p15:clr>
            <a:srgbClr val="A4A3A4"/>
          </p15:clr>
        </p15:guide>
        <p15:guide id="5" pos="149" userDrawn="1">
          <p15:clr>
            <a:srgbClr val="A4A3A4"/>
          </p15:clr>
        </p15:guide>
        <p15:guide id="6" orient="horz" pos="550" userDrawn="1">
          <p15:clr>
            <a:srgbClr val="A4A3A4"/>
          </p15:clr>
        </p15:guide>
        <p15:guide id="7" orient="horz" pos="459" userDrawn="1">
          <p15:clr>
            <a:srgbClr val="A4A3A4"/>
          </p15:clr>
        </p15:guide>
        <p15:guide id="8" orient="horz" pos="4065" userDrawn="1">
          <p15:clr>
            <a:srgbClr val="A4A3A4"/>
          </p15:clr>
        </p15:guide>
        <p15:guide id="9" pos="6068" userDrawn="1">
          <p15:clr>
            <a:srgbClr val="A4A3A4"/>
          </p15:clr>
        </p15:guide>
        <p15:guide id="10" orient="horz" pos="1434" userDrawn="1">
          <p15:clr>
            <a:srgbClr val="A4A3A4"/>
          </p15:clr>
        </p15:guide>
        <p15:guide id="11" pos="3052" userDrawn="1">
          <p15:clr>
            <a:srgbClr val="A4A3A4"/>
          </p15:clr>
        </p15:guide>
        <p15:guide id="12" pos="3188" userDrawn="1">
          <p15:clr>
            <a:srgbClr val="A4A3A4"/>
          </p15:clr>
        </p15:guide>
        <p15:guide id="13" orient="horz" pos="2001" userDrawn="1">
          <p15:clr>
            <a:srgbClr val="A4A3A4"/>
          </p15:clr>
        </p15:guide>
        <p15:guide id="14" orient="horz" pos="142" userDrawn="1">
          <p15:clr>
            <a:srgbClr val="A4A3A4"/>
          </p15:clr>
        </p15:guide>
        <p15:guide id="15" orient="horz" pos="1548" userDrawn="1">
          <p15:clr>
            <a:srgbClr val="A4A3A4"/>
          </p15:clr>
        </p15:guide>
        <p15:guide id="16" orient="horz" pos="18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79D"/>
    <a:srgbClr val="0000FF"/>
    <a:srgbClr val="0000CC"/>
    <a:srgbClr val="215F9A"/>
    <a:srgbClr val="F2F2F2"/>
    <a:srgbClr val="3057B9"/>
    <a:srgbClr val="212E55"/>
    <a:srgbClr val="004193"/>
    <a:srgbClr val="535353"/>
    <a:srgbClr val="DCF1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00" autoAdjust="0"/>
    <p:restoredTop sz="94715" autoAdjust="0"/>
  </p:normalViewPr>
  <p:slideViewPr>
    <p:cSldViewPr snapToGrid="0" showGuides="1">
      <p:cViewPr varScale="1">
        <p:scale>
          <a:sx n="155" d="100"/>
          <a:sy n="155" d="100"/>
        </p:scale>
        <p:origin x="1740" y="144"/>
      </p:cViewPr>
      <p:guideLst>
        <p:guide orient="horz" pos="913"/>
        <p:guide orient="horz" pos="1253"/>
        <p:guide pos="149"/>
        <p:guide orient="horz" pos="550"/>
        <p:guide orient="horz" pos="459"/>
        <p:guide orient="horz" pos="4065"/>
        <p:guide pos="6068"/>
        <p:guide orient="horz" pos="1434"/>
        <p:guide pos="3052"/>
        <p:guide pos="3188"/>
        <p:guide orient="horz" pos="2001"/>
        <p:guide orient="horz" pos="142"/>
        <p:guide orient="horz" pos="1548"/>
        <p:guide orient="horz" pos="18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09" d="100"/>
          <a:sy n="109" d="100"/>
        </p:scale>
        <p:origin x="523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석주 이" userId="b6553f64e91d015d" providerId="LiveId" clId="{7E74A06A-B2AA-4EEC-A19D-AA52293F645A}"/>
    <pc:docChg chg="modSld">
      <pc:chgData name="석주 이" userId="b6553f64e91d015d" providerId="LiveId" clId="{7E74A06A-B2AA-4EEC-A19D-AA52293F645A}" dt="2026-05-04T04:39:17.356" v="0" actId="948"/>
      <pc:docMkLst>
        <pc:docMk/>
      </pc:docMkLst>
      <pc:sldChg chg="modSp mod">
        <pc:chgData name="석주 이" userId="b6553f64e91d015d" providerId="LiveId" clId="{7E74A06A-B2AA-4EEC-A19D-AA52293F645A}" dt="2026-05-04T04:39:17.356" v="0" actId="948"/>
        <pc:sldMkLst>
          <pc:docMk/>
          <pc:sldMk cId="3268203366" sldId="432"/>
        </pc:sldMkLst>
        <pc:graphicFrameChg chg="modGraphic">
          <ac:chgData name="석주 이" userId="b6553f64e91d015d" providerId="LiveId" clId="{7E74A06A-B2AA-4EEC-A19D-AA52293F645A}" dt="2026-05-04T04:39:17.356" v="0" actId="948"/>
          <ac:graphicFrameMkLst>
            <pc:docMk/>
            <pc:sldMk cId="3268203366" sldId="432"/>
            <ac:graphicFrameMk id="8" creationId="{BB41E2E4-0428-271B-9B6D-E6AF32FA20C4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7298022-82C7-63A2-9C82-C91F9D4501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5830DC6-F205-0629-3C52-C2240F41D58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62CAA1-988E-408A-B4FE-A93099D8D0E2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5DEF416-BC7E-5112-0471-1D739EAE24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B039A5-019D-3F98-338F-AB466E44AB6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8A9199-8086-423D-82ED-43F01680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06043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43360B-F05D-49FF-9B40-F897C8590CC6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5597B6-67CE-4163-B743-B1B93A8357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2899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7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FAD5E-03CD-A802-95AD-77917748E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46A824-5626-2914-458E-5ABD4067D5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D9FD78-4C72-9149-FB4C-E684CD9B09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C17B70-9544-CAFD-8935-B6EF311343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D42ED4-ACC1-41DB-8FD4-75FC71A17C1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4728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39E4C-60CA-96B1-6BAE-E6E2F20E0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3578EF2-7E42-F9C9-0B03-AE785B8D43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0E8ECC-940C-5572-2A04-FAABACF24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E223CF-4419-3F46-FAA1-8C1AC0816B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1094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F9252-D905-92C7-FCF8-A14550E13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600721-5908-5783-EC6A-D1EFB66AA5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309EF7-01EE-DA81-D137-F58522964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BC9931-FB0B-CD3E-52D9-F2DDDE7D38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118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6EB32-A91F-D82D-46AB-8C712B41F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C87D7F-4DC9-8E46-F9B0-7C19A7BA32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21644F-0789-4A85-E080-4B3BF6EB2D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496600-83AE-9CD9-5CAB-FD7A3FCD29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45433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F527D-8917-E2EC-25D9-581ABD197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7BE756-CB35-8816-4679-AA51CAB75A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66A560-D51E-55B1-DDA3-F20BDF4368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3BF9B0-8A11-8470-05A9-66F6A41897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20815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FB3F8-3140-3FFC-B84E-87BEB23D0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D887D7-D8D7-E10F-8F38-A07C5DA540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8A0878-A32B-1D90-4FF3-B5B395DA4A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85B005-13D9-0144-DC88-1303B535E7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4228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74D5D-59DF-EAED-C8EA-0123BAA88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FA0B21-C94B-14A4-6ACA-5ADBFAA2D3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30F6824-1BFF-338E-1D75-5F85561F8E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7C5D7B-E78C-FC2C-0ED9-A7419D5B8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10767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57A18-6A18-9134-B470-5EFDB43E2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AC44C8-0937-0C42-A4BE-BDED73919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CD82F9F-F437-1B4F-3A9C-83881F752F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4716AF-B4ED-6BC0-E28C-0227FE4CCF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88973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5726C-73CC-066E-E51C-B97F72D94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F7A4C4-FB6D-97F6-CFCC-EDF826DDA0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493AA1-903D-3673-A574-20F69834DE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368746-1D78-0C69-078A-BBA0A632B0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57884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46289-CBA1-3D92-D0F1-2B47A7952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11E023-AA43-B6C9-3ED7-F12CFC00D6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3D398A-013E-9981-F8EF-20917E055B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00B44B-CEAF-3105-C84E-4B2DFFDC9B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56712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DE133-70B3-8192-C128-65E7F2072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3721BF-A132-463C-A115-1586B318C0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A7160B-073D-5887-F5DF-D991877FD6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BB2BFE-2D51-C9C1-BEAD-2DD240A2A5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84441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8CCD2-233E-68B3-D63E-8E3A7720E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7F8B3D-E7D7-E722-4DE6-8464224E2B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087F19-5424-803E-A47A-0141CA3EC3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6E0A22-3EC6-9F1F-5FE8-273B15ACD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5959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7D975-128C-E76A-2DA6-6C10CC83D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A5C323D-2DA1-8D60-A843-3F4E45CFA5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A426EC-1F13-0AF5-EB60-C76E5878B4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60F95D-B7E4-10CF-FE1F-D8648AE6E2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27263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DFE5B-D1BF-246E-634B-C32BA9545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907449-8CF5-0A46-D855-BF8137F71B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150263-89F4-48A9-3152-1A4DC36C9B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D15089-798A-6792-1437-B37064CBDC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597B6-67CE-4163-B743-B1B93A835704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539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0C1AA5D3-522E-02FE-4A38-175F607D28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17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580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3D20474C-A01F-E293-1871-AB2DA1115199}"/>
              </a:ext>
            </a:extLst>
          </p:cNvPr>
          <p:cNvSpPr/>
          <p:nvPr userDrawn="1"/>
        </p:nvSpPr>
        <p:spPr>
          <a:xfrm>
            <a:off x="-266697" y="0"/>
            <a:ext cx="5352873" cy="6858000"/>
          </a:xfrm>
          <a:custGeom>
            <a:avLst/>
            <a:gdLst>
              <a:gd name="connsiteX0" fmla="*/ 0 w 5352872"/>
              <a:gd name="connsiteY0" fmla="*/ 0 h 6858000"/>
              <a:gd name="connsiteX1" fmla="*/ 5352872 w 5352872"/>
              <a:gd name="connsiteY1" fmla="*/ 0 h 6858000"/>
              <a:gd name="connsiteX2" fmla="*/ 5289689 w 5352872"/>
              <a:gd name="connsiteY2" fmla="*/ 258922 h 6858000"/>
              <a:gd name="connsiteX3" fmla="*/ 4930244 w 5352872"/>
              <a:gd name="connsiteY3" fmla="*/ 3429001 h 6858000"/>
              <a:gd name="connsiteX4" fmla="*/ 5289689 w 5352872"/>
              <a:gd name="connsiteY4" fmla="*/ 6599080 h 6858000"/>
              <a:gd name="connsiteX5" fmla="*/ 5352872 w 5352872"/>
              <a:gd name="connsiteY5" fmla="*/ 6858000 h 6858000"/>
              <a:gd name="connsiteX6" fmla="*/ 0 w 5352872"/>
              <a:gd name="connsiteY6" fmla="*/ 6858000 h 6858000"/>
              <a:gd name="connsiteX7" fmla="*/ 0 w 5352872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52872" h="6858000">
                <a:moveTo>
                  <a:pt x="0" y="0"/>
                </a:moveTo>
                <a:lnTo>
                  <a:pt x="5352872" y="0"/>
                </a:lnTo>
                <a:lnTo>
                  <a:pt x="5289689" y="258922"/>
                </a:lnTo>
                <a:cubicBezTo>
                  <a:pt x="5054524" y="1277658"/>
                  <a:pt x="4930244" y="2338816"/>
                  <a:pt x="4930244" y="3429001"/>
                </a:cubicBezTo>
                <a:cubicBezTo>
                  <a:pt x="4930244" y="4519186"/>
                  <a:pt x="5054524" y="5580344"/>
                  <a:pt x="5289689" y="6599080"/>
                </a:cubicBezTo>
                <a:lnTo>
                  <a:pt x="535287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047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180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890B5A-A826-58A3-78C1-69922E91ED8E}"/>
              </a:ext>
            </a:extLst>
          </p:cNvPr>
          <p:cNvSpPr txBox="1"/>
          <p:nvPr userDrawn="1"/>
        </p:nvSpPr>
        <p:spPr>
          <a:xfrm>
            <a:off x="6850826" y="6602366"/>
            <a:ext cx="2494786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lvl="0" algn="r">
              <a:buNone/>
            </a:pPr>
            <a:r>
              <a:rPr lang="en-US" altLang="ko-KR" sz="900" kern="12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2026</a:t>
            </a:r>
            <a:r>
              <a:rPr lang="ko-KR" altLang="en-US" sz="900" kern="12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년 직업분류 고도화를 위한 직업정보 프레임워크 연구</a:t>
            </a:r>
            <a:endParaRPr lang="en-US" altLang="ko-KR" sz="900" kern="1200" spc="-41" dirty="0">
              <a:solidFill>
                <a:schemeClr val="tx1">
                  <a:lumMod val="75000"/>
                  <a:lumOff val="25000"/>
                </a:schemeClr>
              </a:solidFill>
              <a:latin typeface="페이퍼로지 3 Light" pitchFamily="2" charset="-127"/>
              <a:ea typeface="페이퍼로지 3 Light" pitchFamily="2" charset="-127"/>
              <a:cs typeface="+mn-cs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0B682C45-12F4-CD5E-8899-3586E82D2921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9384443" y="6610970"/>
            <a:ext cx="255133" cy="124650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kern="1200" spc="-41" smtClean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lang="en-GB" altLang="ko-KR" sz="900" kern="1200" spc="-41" dirty="0">
              <a:solidFill>
                <a:schemeClr val="tx1">
                  <a:lumMod val="75000"/>
                  <a:lumOff val="25000"/>
                </a:schemeClr>
              </a:solidFill>
              <a:latin typeface="페이퍼로지 3 Light" pitchFamily="2" charset="-127"/>
              <a:ea typeface="페이퍼로지 3 Light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7269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3D20474C-A01F-E293-1871-AB2DA1115199}"/>
              </a:ext>
            </a:extLst>
          </p:cNvPr>
          <p:cNvSpPr/>
          <p:nvPr userDrawn="1"/>
        </p:nvSpPr>
        <p:spPr>
          <a:xfrm>
            <a:off x="-266697" y="0"/>
            <a:ext cx="5352873" cy="6858000"/>
          </a:xfrm>
          <a:custGeom>
            <a:avLst/>
            <a:gdLst>
              <a:gd name="connsiteX0" fmla="*/ 0 w 5352872"/>
              <a:gd name="connsiteY0" fmla="*/ 0 h 6858000"/>
              <a:gd name="connsiteX1" fmla="*/ 5352872 w 5352872"/>
              <a:gd name="connsiteY1" fmla="*/ 0 h 6858000"/>
              <a:gd name="connsiteX2" fmla="*/ 5289689 w 5352872"/>
              <a:gd name="connsiteY2" fmla="*/ 258922 h 6858000"/>
              <a:gd name="connsiteX3" fmla="*/ 4930244 w 5352872"/>
              <a:gd name="connsiteY3" fmla="*/ 3429001 h 6858000"/>
              <a:gd name="connsiteX4" fmla="*/ 5289689 w 5352872"/>
              <a:gd name="connsiteY4" fmla="*/ 6599080 h 6858000"/>
              <a:gd name="connsiteX5" fmla="*/ 5352872 w 5352872"/>
              <a:gd name="connsiteY5" fmla="*/ 6858000 h 6858000"/>
              <a:gd name="connsiteX6" fmla="*/ 0 w 5352872"/>
              <a:gd name="connsiteY6" fmla="*/ 6858000 h 6858000"/>
              <a:gd name="connsiteX7" fmla="*/ 0 w 5352872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52872" h="6858000">
                <a:moveTo>
                  <a:pt x="0" y="0"/>
                </a:moveTo>
                <a:lnTo>
                  <a:pt x="5352872" y="0"/>
                </a:lnTo>
                <a:lnTo>
                  <a:pt x="5289689" y="258922"/>
                </a:lnTo>
                <a:cubicBezTo>
                  <a:pt x="5054524" y="1277658"/>
                  <a:pt x="4930244" y="2338816"/>
                  <a:pt x="4930244" y="3429001"/>
                </a:cubicBezTo>
                <a:cubicBezTo>
                  <a:pt x="4930244" y="4519186"/>
                  <a:pt x="5054524" y="5580344"/>
                  <a:pt x="5289689" y="6599080"/>
                </a:cubicBezTo>
                <a:lnTo>
                  <a:pt x="535287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047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180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030427-A488-428C-47F5-5EDD25491CE1}"/>
              </a:ext>
            </a:extLst>
          </p:cNvPr>
          <p:cNvSpPr txBox="1"/>
          <p:nvPr userDrawn="1"/>
        </p:nvSpPr>
        <p:spPr>
          <a:xfrm>
            <a:off x="6850826" y="6602366"/>
            <a:ext cx="2494786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lvl="0" algn="r">
              <a:buNone/>
            </a:pPr>
            <a:r>
              <a:rPr lang="en-US" altLang="ko-KR" sz="900" kern="12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2026</a:t>
            </a:r>
            <a:r>
              <a:rPr lang="ko-KR" altLang="en-US" sz="900" kern="12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년 직업분류 고도화를 위한 직업정보 프레임워크 연구</a:t>
            </a:r>
            <a:endParaRPr lang="en-US" altLang="ko-KR" sz="900" kern="1200" spc="-41" dirty="0">
              <a:solidFill>
                <a:schemeClr val="tx1">
                  <a:lumMod val="75000"/>
                  <a:lumOff val="25000"/>
                </a:schemeClr>
              </a:solidFill>
              <a:latin typeface="페이퍼로지 3 Light" pitchFamily="2" charset="-127"/>
              <a:ea typeface="페이퍼로지 3 Light" pitchFamily="2" charset="-127"/>
              <a:cs typeface="+mn-cs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3C7F39C7-D9C4-A399-B790-88A5D3E12937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9384443" y="6610970"/>
            <a:ext cx="255133" cy="124650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kern="1200" spc="-41" smtClean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lang="en-GB" altLang="ko-KR" sz="900" kern="1200" spc="-41" dirty="0">
              <a:solidFill>
                <a:schemeClr val="tx1">
                  <a:lumMod val="75000"/>
                  <a:lumOff val="25000"/>
                </a:schemeClr>
              </a:solidFill>
              <a:latin typeface="페이퍼로지 3 Light" pitchFamily="2" charset="-127"/>
              <a:ea typeface="페이퍼로지 3 Light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9483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1C312037-49F0-F0BD-6E90-1CC37526969D}"/>
              </a:ext>
            </a:extLst>
          </p:cNvPr>
          <p:cNvGrpSpPr/>
          <p:nvPr userDrawn="1"/>
        </p:nvGrpSpPr>
        <p:grpSpPr>
          <a:xfrm>
            <a:off x="0" y="-2824"/>
            <a:ext cx="9906000" cy="708569"/>
            <a:chOff x="0" y="-2824"/>
            <a:chExt cx="9906000" cy="73925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380ABAE-41FF-A726-D253-37E6E47F3E3A}"/>
                </a:ext>
              </a:extLst>
            </p:cNvPr>
            <p:cNvSpPr/>
            <p:nvPr userDrawn="1"/>
          </p:nvSpPr>
          <p:spPr>
            <a:xfrm>
              <a:off x="0" y="-2824"/>
              <a:ext cx="9896811" cy="7392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B9A3B34-8B59-C710-9376-18C31BF07CFD}"/>
                </a:ext>
              </a:extLst>
            </p:cNvPr>
            <p:cNvSpPr/>
            <p:nvPr userDrawn="1"/>
          </p:nvSpPr>
          <p:spPr>
            <a:xfrm>
              <a:off x="257729" y="-2821"/>
              <a:ext cx="618550" cy="735757"/>
            </a:xfrm>
            <a:prstGeom prst="rect">
              <a:avLst/>
            </a:prstGeom>
            <a:solidFill>
              <a:srgbClr val="0047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6D744332-BC5A-26D6-3F24-4ACE498202F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355768" y="158731"/>
              <a:ext cx="422479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8DD19D5-2DFF-1122-C614-54E969F3133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736427"/>
              <a:ext cx="9906000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992160A-AE33-EC05-DE7F-4D88B4DDB714}"/>
              </a:ext>
            </a:extLst>
          </p:cNvPr>
          <p:cNvSpPr txBox="1"/>
          <p:nvPr userDrawn="1"/>
        </p:nvSpPr>
        <p:spPr>
          <a:xfrm>
            <a:off x="6830436" y="6602366"/>
            <a:ext cx="2515176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lvl="0" algn="r">
              <a:buNone/>
            </a:pPr>
            <a:r>
              <a:rPr lang="en-US" altLang="ko-KR" sz="900" kern="12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2026</a:t>
            </a:r>
            <a:r>
              <a:rPr lang="ko-KR" altLang="en-US" sz="900" kern="1200" spc="-41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년 직업분류 고도화를 위한 직업정보 프레임워크 연구</a:t>
            </a:r>
            <a:endParaRPr lang="en-US" altLang="ko-KR" sz="900" kern="1200" spc="-41" dirty="0">
              <a:solidFill>
                <a:schemeClr val="tx1">
                  <a:lumMod val="75000"/>
                  <a:lumOff val="25000"/>
                </a:schemeClr>
              </a:solidFill>
              <a:latin typeface="페이퍼로지 3 Light" pitchFamily="2" charset="-127"/>
              <a:ea typeface="페이퍼로지 3 Light" pitchFamily="2" charset="-127"/>
              <a:cs typeface="+mn-cs"/>
            </a:endParaRP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7525220C-6F4D-07DC-339D-EFA742733CB2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9384443" y="6610970"/>
            <a:ext cx="255133" cy="124650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fld id="{9DEF99B5-B94F-45AE-8F80-FB46EC622A21}" type="slidenum">
              <a:rPr lang="en-GB" altLang="ko-KR" sz="900" kern="1200" spc="-41" smtClean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lang="en-GB" altLang="ko-KR" sz="900" kern="1200" spc="-41" dirty="0">
              <a:solidFill>
                <a:schemeClr val="tx1">
                  <a:lumMod val="75000"/>
                  <a:lumOff val="25000"/>
                </a:schemeClr>
              </a:solidFill>
              <a:latin typeface="페이퍼로지 3 Light" pitchFamily="2" charset="-127"/>
              <a:ea typeface="페이퍼로지 3 Light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4583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363CD-C894-4517-B9CF-A2C7A06EAF49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5E4FF-9C59-483A-9030-FFCEC36C1D7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0" y="0"/>
            <a:ext cx="9906000" cy="6858000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00" b="78120"/>
          <a:stretch/>
        </p:blipFill>
        <p:spPr>
          <a:xfrm>
            <a:off x="1" y="5940170"/>
            <a:ext cx="1129993" cy="91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196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C890FB-6662-4C0C-A235-FB94F8DD481A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BF2B35-6339-49B5-83E5-FA6F7F9C56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8495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3" r:id="rId2"/>
    <p:sldLayoutId id="2147483674" r:id="rId3"/>
    <p:sldLayoutId id="2147483667" r:id="rId4"/>
    <p:sldLayoutId id="2147483672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895A6-32DF-4497-4696-5CF2A2A8B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9EBE20C3-06CA-DA8E-C03B-8E0449A5E6A8}"/>
              </a:ext>
            </a:extLst>
          </p:cNvPr>
          <p:cNvGrpSpPr/>
          <p:nvPr/>
        </p:nvGrpSpPr>
        <p:grpSpPr>
          <a:xfrm>
            <a:off x="236538" y="497831"/>
            <a:ext cx="9432925" cy="461665"/>
            <a:chOff x="381000" y="1076951"/>
            <a:chExt cx="9288463" cy="46166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62FA6CE-D8EF-D332-A7C8-87A2DD582A08}"/>
                </a:ext>
              </a:extLst>
            </p:cNvPr>
            <p:cNvSpPr txBox="1"/>
            <p:nvPr/>
          </p:nvSpPr>
          <p:spPr>
            <a:xfrm>
              <a:off x="381000" y="1076951"/>
              <a:ext cx="49217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dirty="0">
                  <a:solidFill>
                    <a:srgbClr val="004193"/>
                  </a:solidFill>
                  <a:latin typeface="페이퍼로지 8 ExtraBold" pitchFamily="2" charset="-127"/>
                  <a:ea typeface="페이퍼로지 8 ExtraBold" pitchFamily="2" charset="-127"/>
                </a:rPr>
                <a:t>[</a:t>
              </a:r>
              <a:r>
                <a:rPr lang="ko-KR" altLang="en-US" sz="2400" dirty="0">
                  <a:solidFill>
                    <a:srgbClr val="004193"/>
                  </a:solidFill>
                  <a:latin typeface="페이퍼로지 8 ExtraBold" pitchFamily="2" charset="-127"/>
                  <a:ea typeface="페이퍼로지 8 ExtraBold" pitchFamily="2" charset="-127"/>
                </a:rPr>
                <a:t>제안발표자료</a:t>
              </a:r>
              <a:r>
                <a:rPr lang="en-US" altLang="ko-KR" sz="2400" dirty="0">
                  <a:solidFill>
                    <a:srgbClr val="004193"/>
                  </a:solidFill>
                  <a:latin typeface="페이퍼로지 8 ExtraBold" pitchFamily="2" charset="-127"/>
                  <a:ea typeface="페이퍼로지 8 ExtraBold" pitchFamily="2" charset="-127"/>
                </a:rPr>
                <a:t>]</a:t>
              </a:r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0D6B788-2597-2FDD-0426-6DA5C4FFFCCA}"/>
                </a:ext>
              </a:extLst>
            </p:cNvPr>
            <p:cNvCxnSpPr>
              <a:cxnSpLocks/>
            </p:cNvCxnSpPr>
            <p:nvPr/>
          </p:nvCxnSpPr>
          <p:spPr>
            <a:xfrm>
              <a:off x="2319130" y="1307783"/>
              <a:ext cx="7350333" cy="0"/>
            </a:xfrm>
            <a:prstGeom prst="line">
              <a:avLst/>
            </a:prstGeom>
            <a:ln w="38100">
              <a:solidFill>
                <a:srgbClr val="0041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B8C77B4-F35D-267E-0953-31D57AF90B89}"/>
              </a:ext>
            </a:extLst>
          </p:cNvPr>
          <p:cNvSpPr txBox="1"/>
          <p:nvPr/>
        </p:nvSpPr>
        <p:spPr>
          <a:xfrm>
            <a:off x="236536" y="2207528"/>
            <a:ext cx="943292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>
                <a:solidFill>
                  <a:srgbClr val="004193"/>
                </a:solidFill>
                <a:latin typeface="페이퍼로지 8 ExtraBold" pitchFamily="2" charset="-127"/>
                <a:ea typeface="페이퍼로지 8 ExtraBold" pitchFamily="2" charset="-127"/>
              </a:rPr>
              <a:t>직업분류 고도화를 위한 직업정보 프레임워크 연구</a:t>
            </a:r>
            <a:endParaRPr lang="en-US" altLang="ko-KR" sz="4400" dirty="0">
              <a:solidFill>
                <a:srgbClr val="004193"/>
              </a:solidFill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CBB41E-DBCF-A3A1-E1F8-7B9D1485EC64}"/>
              </a:ext>
            </a:extLst>
          </p:cNvPr>
          <p:cNvSpPr txBox="1"/>
          <p:nvPr/>
        </p:nvSpPr>
        <p:spPr>
          <a:xfrm>
            <a:off x="2492135" y="3822750"/>
            <a:ext cx="49217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2026. 04.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9DD980D-2BC0-D722-7171-32DAB963A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536" y="6280346"/>
            <a:ext cx="1871889" cy="45757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5F281E2-A120-D6AE-A2F2-028103F48D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89" y="6228846"/>
            <a:ext cx="1933572" cy="56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814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B7FC0-A881-C75D-8DA9-BEB2F3923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13A18942-9AED-5DC5-EC5A-B8D94A84843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4938377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2F3856E9-4239-4EE7-A372-FDCF4882FD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9057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CC9CDCF-90F8-42B0-BD0A-794C52688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7" y="30095"/>
            <a:ext cx="990575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07D05FE-3FB8-4314-A050-9AB40814D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7" y="-11219"/>
            <a:ext cx="4588167" cy="6483075"/>
            <a:chOff x="-19221" y="0"/>
            <a:chExt cx="5646974" cy="6483075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DDC6C42-DDD5-4105-85F2-9C052563A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FB95E12-4EF0-42F7-BCF9-AD31B4C8E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338F8B2-67A9-4086-9341-7705CAB6F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E653AAAF-CCEF-494B-9366-16BB3815A6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4B356D9-49C3-412F-8E03-AC9AE8371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6D6A6349-919E-3139-2B5E-5AD363204BB9}"/>
              </a:ext>
            </a:extLst>
          </p:cNvPr>
          <p:cNvSpPr/>
          <p:nvPr/>
        </p:nvSpPr>
        <p:spPr>
          <a:xfrm>
            <a:off x="653796" y="2023236"/>
            <a:ext cx="2973568" cy="28209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ko-KR" sz="3600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  <a:cs typeface="+mj-cs"/>
              </a:rPr>
              <a:t>Contents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30927E-FDB8-1803-2915-4C757442FC08}"/>
              </a:ext>
            </a:extLst>
          </p:cNvPr>
          <p:cNvSpPr txBox="1"/>
          <p:nvPr/>
        </p:nvSpPr>
        <p:spPr>
          <a:xfrm>
            <a:off x="374644" y="2724699"/>
            <a:ext cx="3038011" cy="26731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ko-KR" altLang="en-US" sz="1137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페이퍼로지 6 SemiBold" pitchFamily="2" charset="-127"/>
                <a:ea typeface="페이퍼로지 6 SemiBold" pitchFamily="2" charset="-127"/>
              </a:rPr>
              <a:t>직업분류 고도화를 위한 직업정보 프레임워크 연구</a:t>
            </a:r>
            <a:endParaRPr lang="en-US" altLang="ko-KR" sz="1137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EDEAF87-5C57-1925-8D78-1639D83C5D51}"/>
              </a:ext>
            </a:extLst>
          </p:cNvPr>
          <p:cNvGrpSpPr/>
          <p:nvPr/>
        </p:nvGrpSpPr>
        <p:grpSpPr>
          <a:xfrm>
            <a:off x="4588360" y="2474171"/>
            <a:ext cx="5044590" cy="2370709"/>
            <a:chOff x="5101167" y="2798365"/>
            <a:chExt cx="4525433" cy="2370709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0A55359-F61A-BBA7-FB34-5109BD26511E}"/>
                </a:ext>
              </a:extLst>
            </p:cNvPr>
            <p:cNvSpPr/>
            <p:nvPr/>
          </p:nvSpPr>
          <p:spPr>
            <a:xfrm>
              <a:off x="5342646" y="3197316"/>
              <a:ext cx="3933334" cy="19717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lvl="1" indent="-342900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buAutoNum type="arabicPeriod"/>
                <a:defRPr/>
              </a:pPr>
              <a:r>
                <a:rPr lang="en-US" altLang="ko-KR" sz="1400" kern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KSCO </a:t>
              </a:r>
              <a:r>
                <a:rPr lang="ko-KR" altLang="en-US" sz="1400" kern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직업별 직무기술 정의서 작성</a:t>
              </a:r>
              <a:endParaRPr lang="en-US" altLang="ko-KR" sz="1400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Arial"/>
              </a:endParaRPr>
            </a:p>
            <a:p>
              <a:pPr marL="342900" lvl="1" indent="-342900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buAutoNum type="arabicPeriod"/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국내</a:t>
              </a: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·</a:t>
              </a:r>
              <a:r>
                <a: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외</a:t>
              </a: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 </a:t>
              </a:r>
              <a:r>
                <a: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사례 분석</a:t>
              </a:r>
              <a:endPara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Arial"/>
              </a:endParaRPr>
            </a:p>
            <a:p>
              <a:pPr marL="342900" lvl="1" indent="-342900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buAutoNum type="arabicPeriod"/>
                <a:defRPr/>
              </a:pPr>
              <a:r>
                <a:rPr lang="ko-KR" altLang="en-US" sz="1400" kern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한국직업분류 고도화를 위한 구조적 틀 마련</a:t>
              </a:r>
              <a:endParaRPr lang="en-US" altLang="ko-KR" sz="1400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Arial"/>
              </a:endParaRPr>
            </a:p>
            <a:p>
              <a:pPr marL="342900" lvl="1" indent="-342900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buAutoNum type="arabicPeriod"/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시뮬레이션 검증 및 전문가 검토</a:t>
              </a: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·</a:t>
              </a:r>
              <a:r>
                <a: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조정</a:t>
              </a:r>
              <a:endParaRPr lang="en-US" altLang="ko-KR" sz="1400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Arial"/>
              </a:endParaRPr>
            </a:p>
            <a:p>
              <a:pPr marL="0" lvl="1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defRPr/>
              </a:pPr>
              <a:endParaRPr lang="ko-KR" altLang="en-US" sz="1400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Arial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D30B3C3-8D3E-4E64-8A6A-D3CC1E1505AB}"/>
                </a:ext>
              </a:extLst>
            </p:cNvPr>
            <p:cNvSpPr/>
            <p:nvPr/>
          </p:nvSpPr>
          <p:spPr>
            <a:xfrm>
              <a:off x="5423401" y="2808672"/>
              <a:ext cx="1215425" cy="38600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370332">
                <a:lnSpc>
                  <a:spcPct val="130000"/>
                </a:lnSpc>
                <a:spcAft>
                  <a:spcPts val="600"/>
                </a:spcAft>
                <a:buClr>
                  <a:srgbClr val="000000"/>
                </a:buClr>
                <a:buFont typeface="Arial"/>
                <a:defRPr/>
              </a:pPr>
              <a:r>
                <a:rPr lang="ko-KR" altLang="en-US" sz="1600" kern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4193"/>
                  </a:solidFill>
                  <a:latin typeface="+mn-lt"/>
                  <a:ea typeface="페이퍼로지 6 SemiBold" pitchFamily="2" charset="-127"/>
                  <a:cs typeface="Arial"/>
                </a:rPr>
                <a:t>연구 수행 방안</a:t>
              </a:r>
              <a:endParaRPr lang="en-US" altLang="ko-KR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193"/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9060169B-6274-E627-6557-A37C0DE282E8}"/>
                </a:ext>
              </a:extLst>
            </p:cNvPr>
            <p:cNvSpPr/>
            <p:nvPr/>
          </p:nvSpPr>
          <p:spPr>
            <a:xfrm>
              <a:off x="5101167" y="2798365"/>
              <a:ext cx="37992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370332">
                <a:spcAft>
                  <a:spcPts val="600"/>
                </a:spcAft>
              </a:pPr>
              <a:r>
                <a:rPr lang="en-US" altLang="ko-KR" sz="2000" kern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4193"/>
                  </a:solidFill>
                  <a:latin typeface="페이퍼로지 6 SemiBold" pitchFamily="2" charset="-127"/>
                  <a:ea typeface="페이퍼로지 6 SemiBold" pitchFamily="2" charset="-127"/>
                </a:rPr>
                <a:t>Ⅱ.</a:t>
              </a:r>
              <a:endPara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193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73CD58B5-46FA-596C-B652-D992E1D9C589}"/>
                </a:ext>
              </a:extLst>
            </p:cNvPr>
            <p:cNvSpPr/>
            <p:nvPr/>
          </p:nvSpPr>
          <p:spPr>
            <a:xfrm>
              <a:off x="9096710" y="3197319"/>
              <a:ext cx="529890" cy="657100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lvl="1" algn="r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lang="en-US" altLang="ko-KR" sz="1400" spc="-4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페이퍼로지 4 Regular" pitchFamily="2" charset="-127"/>
                  <a:cs typeface="Arial"/>
                </a:rPr>
                <a:t>08</a:t>
              </a:r>
            </a:p>
            <a:p>
              <a:pPr marL="0" lvl="1" algn="r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lang="en-US" altLang="ko-KR" sz="1400" spc="-4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페이퍼로지 4 Regular" pitchFamily="2" charset="-127"/>
                  <a:cs typeface="Arial"/>
                </a:rPr>
                <a:t>10</a:t>
              </a:r>
            </a:p>
            <a:p>
              <a:pPr marL="0" lvl="1" algn="r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lang="en-US" altLang="ko-KR" sz="1400" spc="-4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페이퍼로지 4 Regular" pitchFamily="2" charset="-127"/>
                  <a:cs typeface="Arial"/>
                </a:rPr>
                <a:t>13</a:t>
              </a:r>
            </a:p>
            <a:p>
              <a:pPr marL="0" lvl="1" algn="r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lang="en-US" altLang="ko-KR" sz="1400" spc="-4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페이퍼로지 4 Regular" pitchFamily="2" charset="-127"/>
                  <a:cs typeface="Arial"/>
                </a:rPr>
                <a:t>15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874DF9D-9945-6D72-820C-106D8C0E5850}"/>
                </a:ext>
              </a:extLst>
            </p:cNvPr>
            <p:cNvSpPr/>
            <p:nvPr/>
          </p:nvSpPr>
          <p:spPr>
            <a:xfrm>
              <a:off x="9045678" y="2814423"/>
              <a:ext cx="580922" cy="414455"/>
            </a:xfrm>
            <a:prstGeom prst="rect">
              <a:avLst/>
            </a:prstGeom>
          </p:spPr>
          <p:txBody>
            <a:bodyPr wrap="none">
              <a:noAutofit/>
            </a:bodyPr>
            <a:lstStyle/>
            <a:p>
              <a:pPr algn="r" defTabSz="370332">
                <a:lnSpc>
                  <a:spcPct val="130000"/>
                </a:lnSpc>
                <a:spcAft>
                  <a:spcPts val="600"/>
                </a:spcAft>
                <a:buClr>
                  <a:srgbClr val="000000"/>
                </a:buClr>
                <a:buFont typeface="Arial"/>
                <a:defRPr/>
              </a:pPr>
              <a:r>
                <a:rPr lang="en-US" altLang="ko-KR" sz="16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4193"/>
                  </a:solidFill>
                  <a:ea typeface="페이퍼로지 6 SemiBold" pitchFamily="2" charset="-127"/>
                  <a:cs typeface="Arial"/>
                </a:rPr>
                <a:t>07</a:t>
              </a:r>
              <a:endPara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193"/>
                </a:solidFill>
                <a:ea typeface="페이퍼로지 6 SemiBold" pitchFamily="2" charset="-127"/>
                <a:cs typeface="Arial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1ED710DB-F230-7A9D-1024-9F9AE8F65E13}"/>
              </a:ext>
            </a:extLst>
          </p:cNvPr>
          <p:cNvGrpSpPr/>
          <p:nvPr/>
        </p:nvGrpSpPr>
        <p:grpSpPr>
          <a:xfrm>
            <a:off x="4588360" y="368860"/>
            <a:ext cx="5044590" cy="1733545"/>
            <a:chOff x="5101167" y="880533"/>
            <a:chExt cx="4525433" cy="1733545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8952A161-FBBD-9111-E50C-F1E69E5954E4}"/>
                </a:ext>
              </a:extLst>
            </p:cNvPr>
            <p:cNvSpPr/>
            <p:nvPr/>
          </p:nvSpPr>
          <p:spPr>
            <a:xfrm>
              <a:off x="5342646" y="1279482"/>
              <a:ext cx="3933334" cy="11715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lvl="1" indent="-342900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buAutoNum type="arabicPeriod"/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연구 배경 및 필요성</a:t>
              </a:r>
              <a:endPara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Arial"/>
              </a:endParaRPr>
            </a:p>
            <a:p>
              <a:pPr marL="342900" lvl="1" indent="-342900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buAutoNum type="arabicPeriod"/>
                <a:defRPr/>
              </a:pPr>
              <a:r>
                <a:rPr lang="ko-KR" altLang="en-US" sz="1400" kern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연구 목적 및 범위</a:t>
              </a:r>
              <a:endParaRPr lang="en-US" altLang="ko-KR" sz="1400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Arial"/>
              </a:endParaRPr>
            </a:p>
            <a:p>
              <a:pPr marL="342900" lvl="1" indent="-342900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buAutoNum type="arabicPeriod"/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연구 추진 전략</a:t>
              </a:r>
              <a:r>
                <a:rPr lang="ko-KR" altLang="en-US" sz="1400" kern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 </a:t>
              </a:r>
              <a:endParaRPr lang="en-US" altLang="ko-KR" sz="1400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Arial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7667F1F5-BDCB-0C94-2976-E67FB67AF8F8}"/>
                </a:ext>
              </a:extLst>
            </p:cNvPr>
            <p:cNvSpPr/>
            <p:nvPr/>
          </p:nvSpPr>
          <p:spPr>
            <a:xfrm>
              <a:off x="5423401" y="890839"/>
              <a:ext cx="853040" cy="38600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370332">
                <a:lnSpc>
                  <a:spcPct val="130000"/>
                </a:lnSpc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lang="ko-KR" altLang="en-US" sz="1600" kern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4193"/>
                  </a:solidFill>
                  <a:latin typeface="+mn-lt"/>
                  <a:ea typeface="페이퍼로지 6 SemiBold" pitchFamily="2" charset="-127"/>
                  <a:cs typeface="Arial"/>
                </a:rPr>
                <a:t>연구 개요</a:t>
              </a:r>
              <a:endParaRPr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193"/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E5E3D720-9742-0AF5-0F1B-77724D9F47E8}"/>
                </a:ext>
              </a:extLst>
            </p:cNvPr>
            <p:cNvSpPr/>
            <p:nvPr/>
          </p:nvSpPr>
          <p:spPr>
            <a:xfrm>
              <a:off x="5101167" y="880533"/>
              <a:ext cx="35260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370332">
                <a:spcAft>
                  <a:spcPts val="600"/>
                </a:spcAft>
              </a:pPr>
              <a:r>
                <a:rPr lang="en-US" altLang="ko-KR" sz="2000" kern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4193"/>
                  </a:solidFill>
                  <a:latin typeface="페이퍼로지 6 SemiBold" pitchFamily="2" charset="-127"/>
                  <a:ea typeface="페이퍼로지 6 SemiBold" pitchFamily="2" charset="-127"/>
                </a:rPr>
                <a:t>Ⅰ. </a:t>
              </a:r>
              <a:endPara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193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C37088B6-5FC2-FA7B-61FB-2B22637430E1}"/>
                </a:ext>
              </a:extLst>
            </p:cNvPr>
            <p:cNvSpPr/>
            <p:nvPr/>
          </p:nvSpPr>
          <p:spPr>
            <a:xfrm>
              <a:off x="9096710" y="1279486"/>
              <a:ext cx="529890" cy="1334592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lvl="1" algn="r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페이퍼로지 4 Regular" pitchFamily="2" charset="-127"/>
                  <a:cs typeface="Arial"/>
                </a:rPr>
                <a:t>04</a:t>
              </a:r>
            </a:p>
            <a:p>
              <a:pPr marL="0" lvl="1" algn="r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페이퍼로지 4 Regular" pitchFamily="2" charset="-127"/>
                  <a:cs typeface="Arial"/>
                </a:rPr>
                <a:t>05</a:t>
              </a:r>
            </a:p>
            <a:p>
              <a:pPr marL="0" lvl="1" algn="r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페이퍼로지 4 Regular" pitchFamily="2" charset="-127"/>
                  <a:cs typeface="Arial"/>
                </a:rPr>
                <a:t>06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F30ED46B-FD5C-8D56-D19E-065B4A3638A5}"/>
                </a:ext>
              </a:extLst>
            </p:cNvPr>
            <p:cNvSpPr/>
            <p:nvPr/>
          </p:nvSpPr>
          <p:spPr>
            <a:xfrm>
              <a:off x="9045678" y="896591"/>
              <a:ext cx="580922" cy="414455"/>
            </a:xfrm>
            <a:prstGeom prst="rect">
              <a:avLst/>
            </a:prstGeom>
          </p:spPr>
          <p:txBody>
            <a:bodyPr wrap="none">
              <a:noAutofit/>
            </a:bodyPr>
            <a:lstStyle/>
            <a:p>
              <a:pPr algn="r" defTabSz="370332">
                <a:lnSpc>
                  <a:spcPct val="130000"/>
                </a:lnSpc>
                <a:spcAft>
                  <a:spcPts val="600"/>
                </a:spcAft>
                <a:buClr>
                  <a:srgbClr val="000000"/>
                </a:buClr>
                <a:buFont typeface="Arial"/>
                <a:defRPr/>
              </a:pPr>
              <a:r>
                <a:rPr lang="en-US" altLang="ko-KR" sz="16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4193"/>
                  </a:solidFill>
                  <a:ea typeface="페이퍼로지 6 SemiBold" pitchFamily="2" charset="-127"/>
                  <a:cs typeface="Arial"/>
                </a:rPr>
                <a:t>04</a:t>
              </a:r>
              <a:endPara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193"/>
                </a:solidFill>
                <a:ea typeface="페이퍼로지 6 SemiBold" pitchFamily="2" charset="-127"/>
                <a:cs typeface="Arial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E21910D6-AA28-F63F-F087-47BB7980B393}"/>
              </a:ext>
            </a:extLst>
          </p:cNvPr>
          <p:cNvGrpSpPr/>
          <p:nvPr/>
        </p:nvGrpSpPr>
        <p:grpSpPr>
          <a:xfrm>
            <a:off x="4588359" y="4781513"/>
            <a:ext cx="5044591" cy="1215721"/>
            <a:chOff x="5101167" y="5190031"/>
            <a:chExt cx="4525434" cy="1215721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4B7C8C8-8227-C60A-A470-FA180568DAA0}"/>
                </a:ext>
              </a:extLst>
            </p:cNvPr>
            <p:cNvSpPr/>
            <p:nvPr/>
          </p:nvSpPr>
          <p:spPr>
            <a:xfrm>
              <a:off x="5101167" y="5190031"/>
              <a:ext cx="42594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370332">
                <a:spcAft>
                  <a:spcPts val="600"/>
                </a:spcAft>
              </a:pPr>
              <a:r>
                <a:rPr lang="en-US" altLang="ko-KR" sz="2000" kern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4193"/>
                  </a:solidFill>
                  <a:latin typeface="페이퍼로지 6 SemiBold" pitchFamily="2" charset="-127"/>
                  <a:ea typeface="페이퍼로지 6 SemiBold" pitchFamily="2" charset="-127"/>
                </a:rPr>
                <a:t>Ⅲ.</a:t>
              </a:r>
              <a:endPara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193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78E65E5-7F51-1D49-E649-EDB29BE6AA82}"/>
                </a:ext>
              </a:extLst>
            </p:cNvPr>
            <p:cNvSpPr/>
            <p:nvPr/>
          </p:nvSpPr>
          <p:spPr>
            <a:xfrm>
              <a:off x="5423401" y="5243895"/>
              <a:ext cx="121542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370332">
                <a:spcAft>
                  <a:spcPts val="600"/>
                </a:spcAft>
                <a:buClr>
                  <a:srgbClr val="000000"/>
                </a:buClr>
                <a:buFont typeface="Arial"/>
                <a:defRPr/>
              </a:pPr>
              <a:r>
                <a:rPr lang="ko-KR" altLang="en-US" sz="1600" kern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4193"/>
                  </a:solidFill>
                  <a:latin typeface="+mn-lt"/>
                  <a:ea typeface="페이퍼로지 6 SemiBold" pitchFamily="2" charset="-127"/>
                  <a:cs typeface="Arial"/>
                </a:rPr>
                <a:t>연구 관리 방안</a:t>
              </a:r>
              <a:endParaRPr lang="en-US" altLang="ko-KR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193"/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CBC2F2C-925F-EA85-7EA5-47BE401605F6}"/>
                </a:ext>
              </a:extLst>
            </p:cNvPr>
            <p:cNvSpPr/>
            <p:nvPr/>
          </p:nvSpPr>
          <p:spPr>
            <a:xfrm>
              <a:off x="9094666" y="5191684"/>
              <a:ext cx="531935" cy="443263"/>
            </a:xfrm>
            <a:prstGeom prst="rect">
              <a:avLst/>
            </a:prstGeom>
          </p:spPr>
          <p:txBody>
            <a:bodyPr wrap="none">
              <a:noAutofit/>
            </a:bodyPr>
            <a:lstStyle/>
            <a:p>
              <a:pPr algn="r" defTabSz="370332">
                <a:lnSpc>
                  <a:spcPct val="130000"/>
                </a:lnSpc>
                <a:spcAft>
                  <a:spcPts val="600"/>
                </a:spcAft>
                <a:buClr>
                  <a:srgbClr val="000000"/>
                </a:buClr>
                <a:buFont typeface="Arial"/>
                <a:defRPr/>
              </a:pPr>
              <a:r>
                <a:rPr lang="en-US" altLang="ko-KR" sz="16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4193"/>
                  </a:solidFill>
                  <a:ea typeface="페이퍼로지 6 SemiBold" pitchFamily="2" charset="-127"/>
                  <a:cs typeface="Arial"/>
                </a:rPr>
                <a:t>16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D60C715F-D957-248E-326B-1D8938BC9FF7}"/>
                </a:ext>
              </a:extLst>
            </p:cNvPr>
            <p:cNvSpPr/>
            <p:nvPr/>
          </p:nvSpPr>
          <p:spPr>
            <a:xfrm>
              <a:off x="5342646" y="5634322"/>
              <a:ext cx="3933334" cy="7714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lvl="1" indent="-342900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buAutoNum type="arabicPeriod"/>
                <a:defRPr/>
              </a:pPr>
              <a:r>
                <a:rPr lang="ko-KR" altLang="en-US" sz="1400" kern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수행 조직 및 업무분장</a:t>
              </a:r>
              <a:endParaRPr lang="en-US" altLang="ko-KR" sz="1400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Arial"/>
              </a:endParaRPr>
            </a:p>
            <a:p>
              <a:pPr marL="342900" lvl="1" indent="-342900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buAutoNum type="arabicPeriod"/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  <a:cs typeface="Arial"/>
                </a:rPr>
                <a:t>추진 일정 계획</a:t>
              </a:r>
              <a:endPara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Arial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83B774E7-A2FC-9F32-AB48-C4724F6557B7}"/>
                </a:ext>
              </a:extLst>
            </p:cNvPr>
            <p:cNvSpPr/>
            <p:nvPr/>
          </p:nvSpPr>
          <p:spPr>
            <a:xfrm>
              <a:off x="9096710" y="5634326"/>
              <a:ext cx="529890" cy="727629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lvl="1" algn="r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페이퍼로지 4 Regular" pitchFamily="2" charset="-127"/>
                  <a:cs typeface="Arial"/>
                </a:rPr>
                <a:t>17</a:t>
              </a:r>
            </a:p>
            <a:p>
              <a:pPr marL="0" lvl="1" algn="r" defTabSz="370332">
                <a:lnSpc>
                  <a:spcPct val="150000"/>
                </a:lnSpc>
                <a:spcAft>
                  <a:spcPts val="600"/>
                </a:spcAft>
                <a:buClr>
                  <a:srgbClr val="000000"/>
                </a:buClr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페이퍼로지 4 Regular" pitchFamily="2" charset="-127"/>
                  <a:cs typeface="Arial"/>
                </a:rPr>
                <a:t>18</a:t>
              </a: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AA0A8F43-3D5A-BE32-25DF-02175BF1F5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89" y="6203022"/>
            <a:ext cx="1933572" cy="56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826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C92D1-4710-AC4F-C2B4-2A4BE3F07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C777BC9D-A26C-1408-918E-A3D0E876F01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538" y="45376"/>
            <a:ext cx="4938377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41C49092-C3A1-2A18-C74F-62E83092C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9057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19285B-C1BA-2C97-C2D8-1740563B6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7" y="30095"/>
            <a:ext cx="990575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0F53FA7-6911-A5A6-6539-9B9E9F7DC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7" y="-11219"/>
            <a:ext cx="4588167" cy="6483075"/>
            <a:chOff x="-19221" y="0"/>
            <a:chExt cx="5646974" cy="6483075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F79F94C-4E55-3583-1BF3-7071B55F3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1FC34D6-A4E2-A8E1-4D0A-1D429FE66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D4D18F50-6BFF-F7A7-AAF2-613490D626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76C87200-29F9-2B85-B452-B2C7DB4DF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527CA46-1015-0C81-0ABB-E34B46A84F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6" name="Picture 3">
            <a:extLst>
              <a:ext uri="{FF2B5EF4-FFF2-40B4-BE49-F238E27FC236}">
                <a16:creationId xmlns:a16="http://schemas.microsoft.com/office/drawing/2014/main" id="{34B9288A-41BB-EC07-15F9-E73EC4904BD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6126481" cy="6858001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</p:pic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6B44D532-352A-497C-41C2-B5BB882BAC3A}"/>
              </a:ext>
            </a:extLst>
          </p:cNvPr>
          <p:cNvSpPr txBox="1">
            <a:spLocks/>
          </p:cNvSpPr>
          <p:nvPr/>
        </p:nvSpPr>
        <p:spPr>
          <a:xfrm>
            <a:off x="796" y="2009014"/>
            <a:ext cx="6003764" cy="1066962"/>
          </a:xfrm>
          <a:prstGeom prst="rect">
            <a:avLst/>
          </a:prstGeom>
        </p:spPr>
        <p:txBody>
          <a:bodyPr vert="horz" wrap="square" lIns="360000" tIns="72001" rIns="25200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None/>
              <a:defRPr lang="en-US" sz="21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400" indent="-2304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&gt;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82400" indent="-23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–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698400" indent="-201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-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6984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None/>
              <a:defRPr sz="1700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400"/>
              </a:spcBef>
              <a:defRPr/>
            </a:pPr>
            <a:r>
              <a:rPr lang="en-US" altLang="ko-KR" sz="25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Ⅰ. </a:t>
            </a:r>
            <a:r>
              <a:rPr lang="ko-KR" altLang="en-US" sz="25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연구 개요</a:t>
            </a:r>
          </a:p>
        </p:txBody>
      </p:sp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9B32A977-A3A4-A764-1381-1C0F290591A3}"/>
              </a:ext>
            </a:extLst>
          </p:cNvPr>
          <p:cNvSpPr txBox="1">
            <a:spLocks/>
          </p:cNvSpPr>
          <p:nvPr/>
        </p:nvSpPr>
        <p:spPr>
          <a:xfrm>
            <a:off x="277426" y="2683422"/>
            <a:ext cx="5849055" cy="2165564"/>
          </a:xfrm>
          <a:prstGeom prst="rect">
            <a:avLst/>
          </a:prstGeom>
        </p:spPr>
        <p:txBody>
          <a:bodyPr vert="horz" wrap="square" lIns="360000" tIns="72001" rIns="252000" bIns="0" rtlCol="0" anchor="t" anchorCtr="0">
            <a:normAutofit/>
          </a:bodyPr>
          <a:lstStyle>
            <a:defPPr>
              <a:defRPr lang="en-US"/>
            </a:defPPr>
            <a:lvl1pPr indent="0" defTabSz="914400">
              <a:lnSpc>
                <a:spcPct val="90000"/>
              </a:lnSpc>
              <a:spcBef>
                <a:spcPts val="0"/>
              </a:spcBef>
              <a:buFont typeface="Arial Narrow" pitchFamily="34" charset="0"/>
              <a:buNone/>
              <a:defRPr sz="2100" b="0" i="0" baseline="0"/>
            </a:lvl1pPr>
            <a:lvl2pPr marL="342900" lvl="1" indent="-342900" defTabSz="914400">
              <a:lnSpc>
                <a:spcPct val="140000"/>
              </a:lnSpc>
              <a:spcBef>
                <a:spcPts val="400"/>
              </a:spcBef>
              <a:buClr>
                <a:schemeClr val="tx1">
                  <a:lumMod val="85000"/>
                  <a:lumOff val="15000"/>
                </a:schemeClr>
              </a:buClr>
              <a:buFont typeface="Arial Narrow" pitchFamily="34" charset="0"/>
              <a:buAutoNum type="arabicPeriod"/>
              <a:defRPr sz="2000" b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defRPr>
            </a:lvl2pPr>
            <a:lvl3pPr marL="482400" indent="-234000" defTabSz="914400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–"/>
              <a:defRPr sz="2100" b="0"/>
            </a:lvl3pPr>
            <a:lvl4pPr marL="698400" indent="-201600" defTabSz="914400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-"/>
              <a:defRPr sz="2100" b="0"/>
            </a:lvl4pPr>
            <a:lvl5pPr marL="698400" indent="0" defTabSz="914400">
              <a:lnSpc>
                <a:spcPct val="90000"/>
              </a:lnSpc>
              <a:spcBef>
                <a:spcPts val="0"/>
              </a:spcBef>
              <a:buFont typeface="Arial Narrow" pitchFamily="34" charset="0"/>
              <a:buNone/>
              <a:defRPr sz="1700">
                <a:latin typeface="Arial Narrow" pitchFamily="34" charset="0"/>
              </a:defRPr>
            </a:lvl5pPr>
            <a:lvl6pPr marL="2514600" indent="-228600" defTabSz="914400">
              <a:spcBef>
                <a:spcPct val="20000"/>
              </a:spcBef>
              <a:buFont typeface="Arial Narrow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 Narrow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 Narrow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 Narrow" pitchFamily="34" charset="0"/>
              <a:buChar char="•"/>
              <a:defRPr sz="2000"/>
            </a:lvl9pPr>
          </a:lstStyle>
          <a:p>
            <a:pPr lvl="1"/>
            <a:r>
              <a:rPr lang="ko-KR" altLang="en-US" dirty="0"/>
              <a:t>연구</a:t>
            </a:r>
            <a:r>
              <a:rPr lang="en-US" altLang="ko-KR" dirty="0"/>
              <a:t> </a:t>
            </a:r>
            <a:r>
              <a:rPr lang="ko-KR" altLang="en-US" dirty="0"/>
              <a:t>배경 및 필요성</a:t>
            </a:r>
            <a:endParaRPr lang="en-US" altLang="ko-KR" dirty="0"/>
          </a:p>
          <a:p>
            <a:pPr lvl="1"/>
            <a:r>
              <a:rPr lang="ko-KR" altLang="en-US" dirty="0"/>
              <a:t>연구 목적 및 범위</a:t>
            </a:r>
            <a:endParaRPr lang="en-US" altLang="ko-KR" dirty="0"/>
          </a:p>
          <a:p>
            <a:pPr lvl="1"/>
            <a:r>
              <a:rPr lang="ko-KR" altLang="en-US" dirty="0"/>
              <a:t>연구 추진 전략</a:t>
            </a:r>
          </a:p>
        </p:txBody>
      </p:sp>
    </p:spTree>
    <p:extLst>
      <p:ext uri="{BB962C8B-B14F-4D97-AF65-F5344CB8AC3E}">
        <p14:creationId xmlns:p14="http://schemas.microsoft.com/office/powerpoint/2010/main" val="479115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3BA0E-569D-0886-073F-890EA1C62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B5486BB-618F-A46A-3092-C889FE90AF31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Ⅰ.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개요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8" name="TextBox 1">
            <a:extLst>
              <a:ext uri="{FF2B5EF4-FFF2-40B4-BE49-F238E27FC236}">
                <a16:creationId xmlns:a16="http://schemas.microsoft.com/office/drawing/2014/main" id="{3BE1C062-206A-1C3C-5EA3-40F0A577A8BC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9" name="TextBox 2">
            <a:extLst>
              <a:ext uri="{FF2B5EF4-FFF2-40B4-BE49-F238E27FC236}">
                <a16:creationId xmlns:a16="http://schemas.microsoft.com/office/drawing/2014/main" id="{C13C811C-C68E-D6F5-505C-6795D7DD1678}"/>
              </a:ext>
            </a:extLst>
          </p:cNvPr>
          <p:cNvSpPr txBox="1"/>
          <p:nvPr/>
        </p:nvSpPr>
        <p:spPr>
          <a:xfrm>
            <a:off x="978778" y="230485"/>
            <a:ext cx="73774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연구 배경 및 필요성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515E3A2-8B7E-1A8E-EAF7-E08EF1C1D952}"/>
              </a:ext>
            </a:extLst>
          </p:cNvPr>
          <p:cNvSpPr/>
          <p:nvPr/>
        </p:nvSpPr>
        <p:spPr>
          <a:xfrm>
            <a:off x="246264" y="2254015"/>
            <a:ext cx="4598786" cy="323973"/>
          </a:xfrm>
          <a:prstGeom prst="rect">
            <a:avLst/>
          </a:prstGeom>
          <a:solidFill>
            <a:srgbClr val="004193"/>
          </a:solidFill>
          <a:ln>
            <a:solidFill>
              <a:srgbClr val="00419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➀ 직업분류체계의 정책적 중요성</a:t>
            </a:r>
            <a:endParaRPr lang="en-US" altLang="ko-KR" sz="1200" dirty="0">
              <a:ln w="127000">
                <a:noFill/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6A6C26D-1E72-D0BB-7A24-AC2E31F17821}"/>
              </a:ext>
            </a:extLst>
          </p:cNvPr>
          <p:cNvSpPr/>
          <p:nvPr/>
        </p:nvSpPr>
        <p:spPr>
          <a:xfrm>
            <a:off x="246264" y="2587476"/>
            <a:ext cx="4598786" cy="1270149"/>
          </a:xfrm>
          <a:prstGeom prst="rect">
            <a:avLst/>
          </a:prstGeom>
          <a:solidFill>
            <a:schemeClr val="bg1"/>
          </a:solidFill>
          <a:ln>
            <a:solidFill>
              <a:srgbClr val="00419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국가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차원의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직업분류체계는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노동시장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통계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생산뿐만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아니라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직업정보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제공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인력수급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분석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교육·훈련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정책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설계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등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다양한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정책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영역에서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활용되는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핵심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기반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인프라임</a:t>
            </a:r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우리나라의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한국표준직업분류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(KSCO)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역시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국제표준직업분류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(ISCO-08)를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기반으로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구축되어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국가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통계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및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행정자료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생산의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표준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기준으로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활용되고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있음</a:t>
            </a:r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306DDD6-A4CD-B0CE-54A1-36CA5A2F05B4}"/>
              </a:ext>
            </a:extLst>
          </p:cNvPr>
          <p:cNvSpPr/>
          <p:nvPr/>
        </p:nvSpPr>
        <p:spPr>
          <a:xfrm>
            <a:off x="246264" y="4108594"/>
            <a:ext cx="4598786" cy="323973"/>
          </a:xfrm>
          <a:prstGeom prst="rect">
            <a:avLst/>
          </a:prstGeom>
          <a:solidFill>
            <a:srgbClr val="004193"/>
          </a:solidFill>
          <a:ln>
            <a:solidFill>
              <a:srgbClr val="00419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➁ </a:t>
            </a:r>
            <a:r>
              <a:rPr lang="en-US" altLang="ko-KR" sz="1200" dirty="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ISCO-28 </a:t>
            </a:r>
            <a:r>
              <a:rPr lang="ko-KR" altLang="en-US" sz="1200" dirty="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개정 동향</a:t>
            </a:r>
            <a:endParaRPr lang="en-US" altLang="ko-KR" sz="1200" dirty="0">
              <a:ln w="127000">
                <a:noFill/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CDDD73B-C608-D1CC-49EC-6774AE9710C8}"/>
              </a:ext>
            </a:extLst>
          </p:cNvPr>
          <p:cNvSpPr/>
          <p:nvPr/>
        </p:nvSpPr>
        <p:spPr>
          <a:xfrm>
            <a:off x="246264" y="4427626"/>
            <a:ext cx="4598786" cy="700526"/>
          </a:xfrm>
          <a:prstGeom prst="rect">
            <a:avLst/>
          </a:prstGeom>
          <a:solidFill>
            <a:schemeClr val="bg1"/>
          </a:solidFill>
          <a:ln>
            <a:solidFill>
              <a:srgbClr val="00419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국제노동기구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(ILO)는 ISCO-28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개정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논의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과정에서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직능수준체계를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교육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(Education),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책임성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(Responsibility),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경험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(Experience),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업무기반학습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(Work-based learning)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등으로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확대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중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596E71C-7804-9219-AB48-4026506D0793}"/>
              </a:ext>
            </a:extLst>
          </p:cNvPr>
          <p:cNvSpPr/>
          <p:nvPr/>
        </p:nvSpPr>
        <p:spPr>
          <a:xfrm>
            <a:off x="246264" y="5412707"/>
            <a:ext cx="4598786" cy="323973"/>
          </a:xfrm>
          <a:prstGeom prst="rect">
            <a:avLst/>
          </a:prstGeom>
          <a:solidFill>
            <a:srgbClr val="004193"/>
          </a:solidFill>
          <a:ln>
            <a:solidFill>
              <a:srgbClr val="00419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➂ 노동시장 환경의 급격한 변화</a:t>
            </a:r>
            <a:endParaRPr lang="en-US" altLang="ko-KR" sz="1200" dirty="0">
              <a:ln w="127000">
                <a:noFill/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E915DA3-C732-C719-298E-4E38C2EE4C3D}"/>
              </a:ext>
            </a:extLst>
          </p:cNvPr>
          <p:cNvSpPr/>
          <p:nvPr/>
        </p:nvSpPr>
        <p:spPr>
          <a:xfrm>
            <a:off x="246264" y="5731738"/>
            <a:ext cx="4598786" cy="700526"/>
          </a:xfrm>
          <a:prstGeom prst="rect">
            <a:avLst/>
          </a:prstGeom>
          <a:solidFill>
            <a:schemeClr val="bg1"/>
          </a:solidFill>
          <a:ln>
            <a:solidFill>
              <a:srgbClr val="00419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기술혁신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디지털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전환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새로운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산업의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등장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등으로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인해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구조가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빠르게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변화하고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있음</a:t>
            </a:r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0" name="텍스트 개체 틀 1">
            <a:extLst>
              <a:ext uri="{FF2B5EF4-FFF2-40B4-BE49-F238E27FC236}">
                <a16:creationId xmlns:a16="http://schemas.microsoft.com/office/drawing/2014/main" id="{BBA6597D-31BB-A0D3-5375-BD8FF7994978}"/>
              </a:ext>
            </a:extLst>
          </p:cNvPr>
          <p:cNvSpPr txBox="1">
            <a:spLocks/>
          </p:cNvSpPr>
          <p:nvPr/>
        </p:nvSpPr>
        <p:spPr>
          <a:xfrm>
            <a:off x="243782" y="883334"/>
            <a:ext cx="9389168" cy="56605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국제표준직업분류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(ISCO-28)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의 개정 작업이 진행됨에 따라 이를 국내 직업분류체계에 반영하기 위한 직업정보 프레임워크 구축이 필요함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TextBox 246">
            <a:extLst>
              <a:ext uri="{FF2B5EF4-FFF2-40B4-BE49-F238E27FC236}">
                <a16:creationId xmlns:a16="http://schemas.microsoft.com/office/drawing/2014/main" id="{9F547768-954C-A474-CCD3-7BD9091EBE64}"/>
              </a:ext>
            </a:extLst>
          </p:cNvPr>
          <p:cNvSpPr txBox="1"/>
          <p:nvPr/>
        </p:nvSpPr>
        <p:spPr>
          <a:xfrm>
            <a:off x="261816" y="1652713"/>
            <a:ext cx="4583234" cy="350838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spc="-15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연구 배경</a:t>
            </a:r>
            <a:endParaRPr lang="en-US" altLang="ko-KR" sz="1600" spc="-15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630D292-F0F9-DF1B-37FC-D4C2253D9854}"/>
              </a:ext>
            </a:extLst>
          </p:cNvPr>
          <p:cNvCxnSpPr>
            <a:cxnSpLocks/>
          </p:cNvCxnSpPr>
          <p:nvPr/>
        </p:nvCxnSpPr>
        <p:spPr>
          <a:xfrm>
            <a:off x="261816" y="1627313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246">
            <a:extLst>
              <a:ext uri="{FF2B5EF4-FFF2-40B4-BE49-F238E27FC236}">
                <a16:creationId xmlns:a16="http://schemas.microsoft.com/office/drawing/2014/main" id="{D2FAC21B-7811-A33E-D8E0-59C973FC1E64}"/>
              </a:ext>
            </a:extLst>
          </p:cNvPr>
          <p:cNvSpPr txBox="1"/>
          <p:nvPr/>
        </p:nvSpPr>
        <p:spPr>
          <a:xfrm>
            <a:off x="5083054" y="1652713"/>
            <a:ext cx="4583234" cy="350838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spc="-15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연구 필요성</a:t>
            </a:r>
            <a:endParaRPr lang="en-US" altLang="ko-KR" sz="1600" spc="-15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1B73AD7-8959-689C-B63E-BF9EBAC1E03F}"/>
              </a:ext>
            </a:extLst>
          </p:cNvPr>
          <p:cNvCxnSpPr>
            <a:cxnSpLocks/>
          </p:cNvCxnSpPr>
          <p:nvPr/>
        </p:nvCxnSpPr>
        <p:spPr>
          <a:xfrm>
            <a:off x="5083054" y="1627313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5F38914-5EB6-6F1C-B3D0-5959444B05AC}"/>
              </a:ext>
            </a:extLst>
          </p:cNvPr>
          <p:cNvSpPr/>
          <p:nvPr/>
        </p:nvSpPr>
        <p:spPr>
          <a:xfrm>
            <a:off x="5060949" y="2248258"/>
            <a:ext cx="2149473" cy="339218"/>
          </a:xfrm>
          <a:prstGeom prst="rect">
            <a:avLst/>
          </a:prstGeom>
          <a:solidFill>
            <a:srgbClr val="004193"/>
          </a:solidFill>
          <a:ln>
            <a:solidFill>
              <a:srgbClr val="00419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해외</a:t>
            </a:r>
            <a:r>
              <a:rPr lang="en-US" altLang="ko-KR" sz="1200" dirty="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(O*</a:t>
            </a:r>
            <a:r>
              <a:rPr lang="en-US" altLang="ko-KR" sz="120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NET </a:t>
            </a:r>
            <a:r>
              <a:rPr lang="ko-KR" altLang="en-US" sz="120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등</a:t>
            </a:r>
            <a:r>
              <a:rPr lang="en-US" altLang="ko-KR" sz="120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  <a:endParaRPr lang="en-US" altLang="ko-KR" sz="1200" dirty="0">
              <a:ln w="127000">
                <a:noFill/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C231434-0316-1A8B-7647-6CB15A585330}"/>
              </a:ext>
            </a:extLst>
          </p:cNvPr>
          <p:cNvSpPr/>
          <p:nvPr/>
        </p:nvSpPr>
        <p:spPr>
          <a:xfrm>
            <a:off x="7461091" y="2248258"/>
            <a:ext cx="2149473" cy="339218"/>
          </a:xfrm>
          <a:prstGeom prst="rect">
            <a:avLst/>
          </a:prstGeom>
          <a:solidFill>
            <a:srgbClr val="004193"/>
          </a:solidFill>
          <a:ln>
            <a:solidFill>
              <a:srgbClr val="00419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국내</a:t>
            </a:r>
            <a:r>
              <a:rPr lang="en-US" altLang="ko-KR" sz="1200" dirty="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en-US" altLang="ko-KR" sz="120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KSCO)</a:t>
            </a:r>
            <a:endParaRPr lang="en-US" altLang="ko-KR" sz="1200" dirty="0">
              <a:ln w="127000">
                <a:noFill/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3D9EC0-AF47-DB1D-F656-E8CA86D976E8}"/>
              </a:ext>
            </a:extLst>
          </p:cNvPr>
          <p:cNvSpPr txBox="1"/>
          <p:nvPr/>
        </p:nvSpPr>
        <p:spPr>
          <a:xfrm>
            <a:off x="5060950" y="2689857"/>
            <a:ext cx="2149472" cy="1996443"/>
          </a:xfrm>
          <a:prstGeom prst="rect">
            <a:avLst/>
          </a:prstGeom>
          <a:pattFill prst="dkUpDiag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  <a:ln w="2857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 defTabSz="804838">
              <a:defRPr sz="900" kern="0" spc="-41">
                <a:solidFill>
                  <a:srgbClr val="333333"/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√ 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업무활동</a:t>
            </a:r>
            <a:endParaRPr lang="en-US" altLang="ko-KR" sz="120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√ 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기술도구</a:t>
            </a:r>
            <a:endParaRPr lang="en-US" altLang="ko-KR" sz="120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√ 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역량</a:t>
            </a: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능력</a:t>
            </a: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지식</a:t>
            </a:r>
            <a:endParaRPr lang="en-US" altLang="ko-KR" sz="120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√ 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학력</a:t>
            </a: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자격</a:t>
            </a:r>
            <a:endParaRPr lang="en-US" altLang="ko-KR" sz="120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√ 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업무환경</a:t>
            </a:r>
            <a:endParaRPr lang="en-US" altLang="ko-KR" sz="120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√ 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임금</a:t>
            </a: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고용전망</a:t>
            </a:r>
            <a:endParaRPr lang="en-US" altLang="ko-KR" sz="120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=&gt; 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다차원 구조화 </a:t>
            </a: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DB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CC934C-A51C-E227-8EE5-C7B57BD3B8F4}"/>
              </a:ext>
            </a:extLst>
          </p:cNvPr>
          <p:cNvSpPr txBox="1"/>
          <p:nvPr/>
        </p:nvSpPr>
        <p:spPr>
          <a:xfrm>
            <a:off x="7461092" y="2689857"/>
            <a:ext cx="2149472" cy="1996443"/>
          </a:xfrm>
          <a:prstGeom prst="rect">
            <a:avLst/>
          </a:prstGeom>
          <a:pattFill prst="dkUpDiag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  <a:ln w="28575" cap="flat" cmpd="sng" algn="ctr">
            <a:solidFill>
              <a:schemeClr val="accent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 defTabSz="804838">
              <a:defRPr sz="900" kern="0" spc="-41">
                <a:solidFill>
                  <a:srgbClr val="333333"/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√ </a:t>
            </a:r>
            <a:r>
              <a:rPr lang="ko-KR" altLang="en-US" sz="1200" kern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직업명</a:t>
            </a: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코드</a:t>
            </a:r>
            <a:endParaRPr lang="en-US" altLang="ko-KR" sz="120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√ 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직무 정의</a:t>
            </a:r>
            <a:endParaRPr lang="en-US" altLang="ko-KR" sz="120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√ 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주요 업무</a:t>
            </a: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서술형</a:t>
            </a: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X 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구조화된 정보</a:t>
            </a:r>
            <a:endParaRPr lang="en-US" altLang="ko-KR" sz="120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X 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역량</a:t>
            </a: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기술</a:t>
            </a: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도구</a:t>
            </a:r>
            <a:endParaRPr lang="en-US" altLang="ko-KR" sz="120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X 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업무환경</a:t>
            </a: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자격</a:t>
            </a:r>
            <a:endParaRPr lang="en-US" altLang="ko-KR" sz="120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=&gt; </a:t>
            </a:r>
            <a:r>
              <a:rPr lang="ko-KR" altLang="en-US" sz="1200" kern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서술형 텍스트 중심</a:t>
            </a:r>
            <a:endParaRPr lang="en-US" altLang="ko-KR" sz="120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BA5ED1F-9C4C-DBFA-F662-2245C4388AC7}"/>
              </a:ext>
            </a:extLst>
          </p:cNvPr>
          <p:cNvSpPr/>
          <p:nvPr/>
        </p:nvSpPr>
        <p:spPr>
          <a:xfrm>
            <a:off x="5049716" y="4983480"/>
            <a:ext cx="4583234" cy="1448784"/>
          </a:xfrm>
          <a:prstGeom prst="rect">
            <a:avLst/>
          </a:prstGeom>
          <a:solidFill>
            <a:schemeClr val="bg1"/>
          </a:solidFill>
          <a:ln>
            <a:solidFill>
              <a:srgbClr val="00419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현행 한국표준직업분류는 직업정보가 서술형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비구조화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형태로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 간 체계적인 비교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분석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및 정책 활용에 한계가 존재함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  <a:p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서술형 문장 형태 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작업 수행 활동이 서술형 문장 형태로 제시되어 있음</a:t>
            </a:r>
            <a:endParaRPr lang="en-US" altLang="ko-KR" sz="11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표준화된 분류 부재 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동일한 업무활동이 서로 다른 표현으로 기술되어 있음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데이터 구조 미흡 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직업정보가 데이터 구조 형태로 구축되어 있지 않음</a:t>
            </a:r>
            <a:r>
              <a:rPr lang="en-US" altLang="ko-KR" sz="11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</p:txBody>
      </p:sp>
      <p:sp>
        <p:nvSpPr>
          <p:cNvPr id="39" name="이등변 삼각형 38">
            <a:extLst>
              <a:ext uri="{FF2B5EF4-FFF2-40B4-BE49-F238E27FC236}">
                <a16:creationId xmlns:a16="http://schemas.microsoft.com/office/drawing/2014/main" id="{BF2B20E8-B503-87EB-C4F5-0E0E3FA5A240}"/>
              </a:ext>
            </a:extLst>
          </p:cNvPr>
          <p:cNvSpPr/>
          <p:nvPr/>
        </p:nvSpPr>
        <p:spPr>
          <a:xfrm rot="10800000">
            <a:off x="6926043" y="4770120"/>
            <a:ext cx="830580" cy="160020"/>
          </a:xfrm>
          <a:prstGeom prst="triangl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724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D9824-E4D3-5456-2FAB-0A3764E95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262BFC1B-C6FC-0BDC-5F32-22E4F1BFD4AC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 latinLnBrk="0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Ⅰ.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개요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8" name="TextBox 1">
            <a:extLst>
              <a:ext uri="{FF2B5EF4-FFF2-40B4-BE49-F238E27FC236}">
                <a16:creationId xmlns:a16="http://schemas.microsoft.com/office/drawing/2014/main" id="{B700FA9F-D358-C4C7-3A4C-970616C376F3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9" name="TextBox 2">
            <a:extLst>
              <a:ext uri="{FF2B5EF4-FFF2-40B4-BE49-F238E27FC236}">
                <a16:creationId xmlns:a16="http://schemas.microsoft.com/office/drawing/2014/main" id="{E2530316-FABE-B129-DDAC-C152EC1BE66B}"/>
              </a:ext>
            </a:extLst>
          </p:cNvPr>
          <p:cNvSpPr txBox="1"/>
          <p:nvPr/>
        </p:nvSpPr>
        <p:spPr>
          <a:xfrm>
            <a:off x="978778" y="230485"/>
            <a:ext cx="73774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연구 목적 및 범위</a:t>
            </a:r>
          </a:p>
        </p:txBody>
      </p:sp>
      <p:sp>
        <p:nvSpPr>
          <p:cNvPr id="3" name="텍스트 개체 틀 1">
            <a:extLst>
              <a:ext uri="{FF2B5EF4-FFF2-40B4-BE49-F238E27FC236}">
                <a16:creationId xmlns:a16="http://schemas.microsoft.com/office/drawing/2014/main" id="{6E89B613-98F5-8974-61BB-8B1CCF3AA95C}"/>
              </a:ext>
            </a:extLst>
          </p:cNvPr>
          <p:cNvSpPr txBox="1">
            <a:spLocks/>
          </p:cNvSpPr>
          <p:nvPr/>
        </p:nvSpPr>
        <p:spPr>
          <a:xfrm>
            <a:off x="243781" y="873124"/>
            <a:ext cx="9422507" cy="57626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직업분류 고도화를 위해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대 연구영역을 단계적으로 추진하여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KSCO 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기반 한국형 직업정보 프레임워크를 설계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구축하고자 함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F0051A5-37BE-91CA-46D0-4CF5D4B4BFF6}"/>
              </a:ext>
            </a:extLst>
          </p:cNvPr>
          <p:cNvSpPr/>
          <p:nvPr/>
        </p:nvSpPr>
        <p:spPr>
          <a:xfrm>
            <a:off x="236537" y="1988784"/>
            <a:ext cx="959286" cy="900465"/>
          </a:xfrm>
          <a:prstGeom prst="rect">
            <a:avLst/>
          </a:prstGeom>
          <a:solidFill>
            <a:srgbClr val="004193"/>
          </a:solidFill>
          <a:ln>
            <a:solidFill>
              <a:srgbClr val="0041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연구 목적</a:t>
            </a:r>
            <a:endParaRPr lang="en-US" altLang="ko-KR" sz="1200" dirty="0">
              <a:ln w="127000">
                <a:noFill/>
              </a:ln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523A59E6-26B1-B438-154E-AC1874E33ED2}"/>
              </a:ext>
            </a:extLst>
          </p:cNvPr>
          <p:cNvSpPr/>
          <p:nvPr/>
        </p:nvSpPr>
        <p:spPr>
          <a:xfrm>
            <a:off x="1328145" y="1988785"/>
            <a:ext cx="8304803" cy="900465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rgbClr val="212E55"/>
            </a:solidFill>
            <a:round/>
            <a:headEnd/>
            <a:tailEnd/>
          </a:ln>
          <a:effectLst/>
        </p:spPr>
        <p:txBody>
          <a:bodyPr lIns="72000" tIns="72000" rIns="72000" bIns="72000" anchor="ctr"/>
          <a:lstStyle/>
          <a:p>
            <a:pPr algn="ctr">
              <a:lnSpc>
                <a:spcPct val="110000"/>
              </a:lnSpc>
              <a:buSzPct val="80000"/>
            </a:pPr>
            <a:r>
              <a:rPr lang="ko-KR" altLang="en-US" spc="-122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한국표준직업분류</a:t>
            </a:r>
            <a:r>
              <a:rPr lang="en-US" altLang="ko-KR" spc="-122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(KSCO) </a:t>
            </a:r>
            <a:r>
              <a:rPr lang="ko-KR" altLang="en-US" spc="-122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기반의 직업정보 </a:t>
            </a:r>
            <a:r>
              <a:rPr lang="en-US" altLang="ko-KR" spc="-122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DB</a:t>
            </a:r>
            <a:r>
              <a:rPr lang="ko-KR" altLang="en-US" spc="-122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를 체계적으로 정비하고</a:t>
            </a:r>
            <a:r>
              <a:rPr lang="en-US" altLang="ko-KR" spc="-122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, </a:t>
            </a:r>
          </a:p>
          <a:p>
            <a:pPr algn="ctr">
              <a:lnSpc>
                <a:spcPct val="110000"/>
              </a:lnSpc>
              <a:buSzPct val="80000"/>
            </a:pPr>
            <a:r>
              <a:rPr lang="ko-KR" altLang="en-US" spc="-122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직업 간 비교</a:t>
            </a:r>
            <a:r>
              <a:rPr lang="en-US" altLang="ko-KR" spc="-122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pc="-122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분석 및 정책적 활용이 가능한 직업정보 프레임워크를 구축하는 것임</a:t>
            </a:r>
            <a:r>
              <a:rPr lang="en-US" altLang="ko-KR" spc="-122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</p:txBody>
      </p: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1E560366-51C7-E83A-F023-C71838562A25}"/>
              </a:ext>
            </a:extLst>
          </p:cNvPr>
          <p:cNvGrpSpPr/>
          <p:nvPr/>
        </p:nvGrpSpPr>
        <p:grpSpPr>
          <a:xfrm>
            <a:off x="236537" y="3040380"/>
            <a:ext cx="9405578" cy="3412809"/>
            <a:chOff x="236537" y="3164660"/>
            <a:chExt cx="9405578" cy="3288529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9215B924-4E61-A304-5020-D17FF2093AF3}"/>
                </a:ext>
              </a:extLst>
            </p:cNvPr>
            <p:cNvSpPr/>
            <p:nvPr/>
          </p:nvSpPr>
          <p:spPr>
            <a:xfrm>
              <a:off x="236537" y="3164661"/>
              <a:ext cx="959286" cy="3288528"/>
            </a:xfrm>
            <a:prstGeom prst="rect">
              <a:avLst/>
            </a:prstGeom>
            <a:solidFill>
              <a:srgbClr val="004193"/>
            </a:solidFill>
            <a:ln>
              <a:solidFill>
                <a:srgbClr val="0041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ln w="127000">
                    <a:noFill/>
                  </a:ln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연구 내용 및 추진 단계</a:t>
              </a:r>
              <a:endParaRPr lang="en-US" altLang="ko-KR" sz="1200" dirty="0">
                <a:ln w="127000">
                  <a:noFill/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E7EF0949-DAD4-F400-A23F-83A072539223}"/>
                </a:ext>
              </a:extLst>
            </p:cNvPr>
            <p:cNvSpPr/>
            <p:nvPr/>
          </p:nvSpPr>
          <p:spPr>
            <a:xfrm>
              <a:off x="4199223" y="3164660"/>
              <a:ext cx="2571813" cy="305543"/>
            </a:xfrm>
            <a:prstGeom prst="rect">
              <a:avLst/>
            </a:prstGeom>
            <a:solidFill>
              <a:srgbClr val="0059C4"/>
            </a:solidFill>
            <a:ln w="25400" cap="flat" cmpd="sng" algn="ctr">
              <a:noFill/>
              <a:prstDash val="solid"/>
            </a:ln>
            <a:effectLst/>
          </p:spPr>
          <p:txBody>
            <a:bodyPr lIns="0" rIns="0" rtlCol="0" anchor="ctr"/>
            <a:lstStyle/>
            <a:p>
              <a:pPr algn="ctr" defTabSz="914400"/>
              <a:r>
                <a:rPr lang="en-US" altLang="ko-KR" sz="1200" kern="0" spc="-50" dirty="0">
                  <a:solidFill>
                    <a:prstClr val="white"/>
                  </a:solidFill>
                  <a:latin typeface="페이퍼로지 6 SemiBold" pitchFamily="2" charset="-127"/>
                  <a:ea typeface="페이퍼로지 6 SemiBold" pitchFamily="2" charset="-127"/>
                </a:rPr>
                <a:t>3. </a:t>
              </a:r>
              <a:r>
                <a:rPr lang="ko-KR" altLang="en-US" sz="1200" kern="0" spc="-50" dirty="0">
                  <a:solidFill>
                    <a:prstClr val="white"/>
                  </a:solidFill>
                  <a:latin typeface="페이퍼로지 6 SemiBold" pitchFamily="2" charset="-127"/>
                  <a:ea typeface="페이퍼로지 6 SemiBold" pitchFamily="2" charset="-127"/>
                </a:rPr>
                <a:t>한국표준직업분류 고도화 구조적 틀 마련</a:t>
              </a:r>
              <a:endParaRPr lang="en-US" altLang="ko-KR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0C50B8FC-A287-F8F5-EB19-001620862BAB}"/>
                </a:ext>
              </a:extLst>
            </p:cNvPr>
            <p:cNvSpPr/>
            <p:nvPr/>
          </p:nvSpPr>
          <p:spPr>
            <a:xfrm>
              <a:off x="1328145" y="3164660"/>
              <a:ext cx="2571813" cy="305543"/>
            </a:xfrm>
            <a:prstGeom prst="rect">
              <a:avLst/>
            </a:prstGeom>
            <a:solidFill>
              <a:srgbClr val="0059C4"/>
            </a:solidFill>
            <a:ln w="25400" cap="flat" cmpd="sng" algn="ctr">
              <a:noFill/>
              <a:prstDash val="solid"/>
            </a:ln>
            <a:effectLst/>
          </p:spPr>
          <p:txBody>
            <a:bodyPr lIns="0" rIns="0" rtlCol="0" anchor="ctr"/>
            <a:lstStyle/>
            <a:p>
              <a:pPr algn="ctr" defTabSz="914400"/>
              <a:r>
                <a:rPr lang="en-US" altLang="ko-KR" sz="1200" kern="0" spc="-50" dirty="0">
                  <a:solidFill>
                    <a:prstClr val="white"/>
                  </a:solidFill>
                  <a:latin typeface="페이퍼로지 6 SemiBold" pitchFamily="2" charset="-127"/>
                  <a:ea typeface="페이퍼로지 6 SemiBold" pitchFamily="2" charset="-127"/>
                </a:rPr>
                <a:t>1. KSCO </a:t>
              </a:r>
              <a:r>
                <a:rPr lang="ko-KR" altLang="en-US" sz="1200" kern="0" spc="-50" dirty="0">
                  <a:solidFill>
                    <a:prstClr val="white"/>
                  </a:solidFill>
                  <a:latin typeface="페이퍼로지 6 SemiBold" pitchFamily="2" charset="-127"/>
                  <a:ea typeface="페이퍼로지 6 SemiBold" pitchFamily="2" charset="-127"/>
                </a:rPr>
                <a:t>직업별 직무기술 정의서 작성</a:t>
              </a:r>
              <a:endParaRPr lang="en-US" altLang="ko-KR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69B3775C-522E-5851-107E-003A7D144D53}"/>
                </a:ext>
              </a:extLst>
            </p:cNvPr>
            <p:cNvSpPr/>
            <p:nvPr/>
          </p:nvSpPr>
          <p:spPr>
            <a:xfrm>
              <a:off x="7070302" y="3164660"/>
              <a:ext cx="2571813" cy="305543"/>
            </a:xfrm>
            <a:prstGeom prst="rect">
              <a:avLst/>
            </a:prstGeom>
            <a:solidFill>
              <a:srgbClr val="0059C4"/>
            </a:solidFill>
            <a:ln w="25400" cap="flat" cmpd="sng" algn="ctr">
              <a:noFill/>
              <a:prstDash val="solid"/>
            </a:ln>
            <a:effectLst/>
          </p:spPr>
          <p:txBody>
            <a:bodyPr lIns="0" rIns="0" rtlCol="0" anchor="ctr"/>
            <a:lstStyle/>
            <a:p>
              <a:pPr algn="ctr" defTabSz="914400"/>
              <a:r>
                <a:rPr lang="en-US" altLang="ko-KR" sz="1200" kern="0" spc="-50" dirty="0">
                  <a:solidFill>
                    <a:prstClr val="white"/>
                  </a:solidFill>
                  <a:latin typeface="페이퍼로지 6 SemiBold" pitchFamily="2" charset="-127"/>
                  <a:ea typeface="페이퍼로지 6 SemiBold" pitchFamily="2" charset="-127"/>
                </a:rPr>
                <a:t>4. </a:t>
              </a:r>
              <a:r>
                <a:rPr lang="ko-KR" altLang="en-US" sz="1200" kern="0" spc="-50" dirty="0">
                  <a:solidFill>
                    <a:prstClr val="white"/>
                  </a:solidFill>
                  <a:latin typeface="페이퍼로지 6 SemiBold" pitchFamily="2" charset="-127"/>
                  <a:ea typeface="페이퍼로지 6 SemiBold" pitchFamily="2" charset="-127"/>
                </a:rPr>
                <a:t>시뮬레이션 및 검증</a:t>
              </a:r>
              <a:endParaRPr lang="en-US" altLang="ko-KR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75" name="AutoShape 22">
              <a:extLst>
                <a:ext uri="{FF2B5EF4-FFF2-40B4-BE49-F238E27FC236}">
                  <a16:creationId xmlns:a16="http://schemas.microsoft.com/office/drawing/2014/main" id="{4DDEE5F9-C783-4F77-0683-4B536F2B8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9223" y="3577930"/>
              <a:ext cx="2571812" cy="287525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9525" algn="ctr">
              <a:solidFill>
                <a:srgbClr val="212E55"/>
              </a:solidFill>
              <a:round/>
              <a:headEnd/>
              <a:tailEnd/>
            </a:ln>
            <a:effectLst/>
          </p:spPr>
          <p:txBody>
            <a:bodyPr lIns="54000" tIns="54000" rIns="54000" bIns="5400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업무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·</a:t>
              </a: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지식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·</a:t>
              </a: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기술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·</a:t>
              </a: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능력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·</a:t>
              </a: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도구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·</a:t>
              </a: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환경의 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6</a:t>
              </a: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대 차원 제안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차원별 측정 가능한 직능유형 구성요소 선정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·</a:t>
              </a: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구조화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직업 간 기능적 비교가 가능한 표준화 구조 설계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행정 데이터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(</a:t>
              </a: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고용보험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, </a:t>
              </a: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국가자격 등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) </a:t>
              </a: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연계 가능 구조 설계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정책 현장 활용방안 및 갱신 체계 제시</a:t>
              </a:r>
              <a:endPara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endPara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산출물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: </a:t>
              </a:r>
            </a:p>
            <a:p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직업정보 프레임워크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, </a:t>
              </a:r>
            </a:p>
            <a:p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직업정보 구성요소 정의 및 적용기준</a:t>
              </a:r>
            </a:p>
          </p:txBody>
        </p:sp>
        <p:sp>
          <p:nvSpPr>
            <p:cNvPr id="77" name="AutoShape 22">
              <a:extLst>
                <a:ext uri="{FF2B5EF4-FFF2-40B4-BE49-F238E27FC236}">
                  <a16:creationId xmlns:a16="http://schemas.microsoft.com/office/drawing/2014/main" id="{3BAC60F2-BBEB-5AA8-A2FA-C6B647FF3E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8145" y="3556955"/>
              <a:ext cx="2571812" cy="117889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9525" algn="ctr">
              <a:solidFill>
                <a:srgbClr val="212E55"/>
              </a:solidFill>
              <a:round/>
              <a:headEnd/>
              <a:tailEnd/>
            </a:ln>
            <a:effectLst/>
          </p:spPr>
          <p:txBody>
            <a:bodyPr lIns="54000" tIns="54000" rIns="54000" bIns="5400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세분류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직업을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업무내용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중심으로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분류</a:t>
              </a:r>
              <a:endPara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핵심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직무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표준화</a:t>
              </a:r>
              <a:endPara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직업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간 </a:t>
              </a: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비교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가능성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제고</a:t>
              </a:r>
              <a:endPara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endPara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산출물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: </a:t>
              </a: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직업별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직무기술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정의서</a:t>
              </a:r>
              <a:endPara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80" name="AutoShape 22">
              <a:extLst>
                <a:ext uri="{FF2B5EF4-FFF2-40B4-BE49-F238E27FC236}">
                  <a16:creationId xmlns:a16="http://schemas.microsoft.com/office/drawing/2014/main" id="{FF61EBBA-9979-D148-21B1-E61345C930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0303" y="3577929"/>
              <a:ext cx="2571812" cy="287525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9525" algn="ctr">
              <a:solidFill>
                <a:srgbClr val="212E55"/>
              </a:solidFill>
              <a:round/>
              <a:headEnd/>
              <a:tailEnd/>
            </a:ln>
            <a:effectLst/>
          </p:spPr>
          <p:txBody>
            <a:bodyPr lIns="54000" tIns="54000" rIns="54000" bIns="5400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직무 특성이 상이한 중분류 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2~3</a:t>
              </a: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개 대상 선정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4</a:t>
              </a: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단계 분석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: </a:t>
              </a: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직업설명 분석 → 활동 추출 → 차원별 재구성 → 변별력 검토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6</a:t>
              </a: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대 차원별 구성요소의 적용 가능성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·</a:t>
              </a: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변별력 분석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정량 분석 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+ </a:t>
              </a: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전문가 정성 평가 이중 검증 실시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피드백 반영 후 구성요소 최종 보완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·</a:t>
              </a:r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확정</a:t>
              </a:r>
              <a:endPara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endPara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산출물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: </a:t>
              </a:r>
            </a:p>
            <a:p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시뮬레이션 결과보고서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, </a:t>
              </a:r>
            </a:p>
            <a:p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전문가 검토 의견서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, </a:t>
              </a:r>
            </a:p>
            <a:p>
              <a:r>
                <a:rPr lang="ko-KR" altLang="en-US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직업정보 프레임워크 최종안</a:t>
              </a: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4908B930-E48C-B2EF-6514-25B1AB25AF31}"/>
                </a:ext>
              </a:extLst>
            </p:cNvPr>
            <p:cNvSpPr/>
            <p:nvPr/>
          </p:nvSpPr>
          <p:spPr>
            <a:xfrm>
              <a:off x="1328145" y="4884063"/>
              <a:ext cx="2571813" cy="305543"/>
            </a:xfrm>
            <a:prstGeom prst="rect">
              <a:avLst/>
            </a:prstGeom>
            <a:solidFill>
              <a:srgbClr val="0059C4"/>
            </a:solidFill>
            <a:ln w="25400" cap="flat" cmpd="sng" algn="ctr">
              <a:noFill/>
              <a:prstDash val="solid"/>
            </a:ln>
            <a:effectLst/>
          </p:spPr>
          <p:txBody>
            <a:bodyPr lIns="0" rIns="0" rtlCol="0" anchor="ctr"/>
            <a:lstStyle/>
            <a:p>
              <a:pPr algn="ctr" defTabSz="914400"/>
              <a:r>
                <a:rPr lang="en-US" altLang="ko-KR" sz="1200" kern="0" spc="-50" dirty="0">
                  <a:solidFill>
                    <a:prstClr val="white"/>
                  </a:solidFill>
                  <a:latin typeface="페이퍼로지 6 SemiBold" pitchFamily="2" charset="-127"/>
                  <a:ea typeface="페이퍼로지 6 SemiBold" pitchFamily="2" charset="-127"/>
                </a:rPr>
                <a:t>2. </a:t>
              </a:r>
              <a:r>
                <a:rPr lang="ko-KR" altLang="en-US" sz="1200" kern="0" spc="-50" dirty="0">
                  <a:solidFill>
                    <a:prstClr val="white"/>
                  </a:solidFill>
                  <a:latin typeface="페이퍼로지 6 SemiBold" pitchFamily="2" charset="-127"/>
                  <a:ea typeface="페이퍼로지 6 SemiBold" pitchFamily="2" charset="-127"/>
                </a:rPr>
                <a:t>국내</a:t>
              </a:r>
              <a:r>
                <a:rPr lang="en-US" altLang="ko-KR" sz="1200" kern="0" spc="-50" dirty="0">
                  <a:solidFill>
                    <a:prstClr val="white"/>
                  </a:solidFill>
                  <a:latin typeface="페이퍼로지 6 SemiBold" pitchFamily="2" charset="-127"/>
                  <a:ea typeface="페이퍼로지 6 SemiBold" pitchFamily="2" charset="-127"/>
                </a:rPr>
                <a:t>·</a:t>
              </a:r>
              <a:r>
                <a:rPr lang="ko-KR" altLang="en-US" sz="1200" kern="0" spc="-50" dirty="0">
                  <a:solidFill>
                    <a:prstClr val="white"/>
                  </a:solidFill>
                  <a:latin typeface="페이퍼로지 6 SemiBold" pitchFamily="2" charset="-127"/>
                  <a:ea typeface="페이퍼로지 6 SemiBold" pitchFamily="2" charset="-127"/>
                </a:rPr>
                <a:t>외</a:t>
              </a:r>
              <a:r>
                <a:rPr lang="en-US" altLang="ko-KR" sz="1200" kern="0" spc="-50" dirty="0">
                  <a:solidFill>
                    <a:prstClr val="white"/>
                  </a:solidFill>
                  <a:latin typeface="페이퍼로지 6 SemiBold" pitchFamily="2" charset="-127"/>
                  <a:ea typeface="페이퍼로지 6 SemiBold" pitchFamily="2" charset="-127"/>
                </a:rPr>
                <a:t> </a:t>
              </a:r>
              <a:r>
                <a:rPr lang="ko-KR" altLang="en-US" sz="1200" kern="0" spc="-50" dirty="0">
                  <a:solidFill>
                    <a:prstClr val="white"/>
                  </a:solidFill>
                  <a:latin typeface="페이퍼로지 6 SemiBold" pitchFamily="2" charset="-127"/>
                  <a:ea typeface="페이퍼로지 6 SemiBold" pitchFamily="2" charset="-127"/>
                </a:rPr>
                <a:t>직업정보 사례분석</a:t>
              </a:r>
              <a:endParaRPr lang="en-US" altLang="ko-KR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101" name="AutoShape 22">
              <a:extLst>
                <a:ext uri="{FF2B5EF4-FFF2-40B4-BE49-F238E27FC236}">
                  <a16:creationId xmlns:a16="http://schemas.microsoft.com/office/drawing/2014/main" id="{CA244419-9B08-7CD8-3EEE-25809C1A8E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8145" y="5274299"/>
              <a:ext cx="2571812" cy="117889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9525" algn="ctr">
              <a:solidFill>
                <a:srgbClr val="212E55"/>
              </a:solidFill>
              <a:round/>
              <a:headEnd/>
              <a:tailEnd/>
            </a:ln>
            <a:effectLst/>
          </p:spPr>
          <p:txBody>
            <a:bodyPr lIns="54000" tIns="54000" rIns="54000" bIns="5400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O*NET, ESCO, NOC 등 </a:t>
              </a: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해외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사례</a:t>
              </a:r>
              <a:endPara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KSCO, KECO, NCS 등 </a:t>
              </a: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국내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사례</a:t>
              </a:r>
              <a:endPara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공통요소와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차별요소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분석</a:t>
              </a:r>
              <a:endPara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endPara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산출물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: </a:t>
              </a: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직능유형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구성요소</a:t>
              </a:r>
              <a:r>
                <a:rPr lang="en-US" altLang="ko-KR" sz="1200" dirty="0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en-US" altLang="ko-KR" sz="1200" dirty="0" err="1">
                  <a:ln w="1270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비교분석표</a:t>
              </a:r>
              <a:endPara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102" name="이등변 삼각형 101">
              <a:extLst>
                <a:ext uri="{FF2B5EF4-FFF2-40B4-BE49-F238E27FC236}">
                  <a16:creationId xmlns:a16="http://schemas.microsoft.com/office/drawing/2014/main" id="{3644FBF2-4E34-D1DA-0242-1D271D06A822}"/>
                </a:ext>
              </a:extLst>
            </p:cNvPr>
            <p:cNvSpPr/>
            <p:nvPr/>
          </p:nvSpPr>
          <p:spPr>
            <a:xfrm rot="5400000">
              <a:off x="3634299" y="4066390"/>
              <a:ext cx="830580" cy="160020"/>
            </a:xfrm>
            <a:prstGeom prst="triangl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이등변 삼각형 102">
              <a:extLst>
                <a:ext uri="{FF2B5EF4-FFF2-40B4-BE49-F238E27FC236}">
                  <a16:creationId xmlns:a16="http://schemas.microsoft.com/office/drawing/2014/main" id="{5B2CBC5B-8F3B-27FA-522D-05B460AF0859}"/>
                </a:ext>
              </a:extLst>
            </p:cNvPr>
            <p:cNvSpPr/>
            <p:nvPr/>
          </p:nvSpPr>
          <p:spPr>
            <a:xfrm rot="5400000">
              <a:off x="3634299" y="5783734"/>
              <a:ext cx="830580" cy="160020"/>
            </a:xfrm>
            <a:prstGeom prst="triangl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" name="이등변 삼각형 103">
              <a:extLst>
                <a:ext uri="{FF2B5EF4-FFF2-40B4-BE49-F238E27FC236}">
                  <a16:creationId xmlns:a16="http://schemas.microsoft.com/office/drawing/2014/main" id="{F82AD89A-A25A-971F-D566-0502C89ABD0C}"/>
                </a:ext>
              </a:extLst>
            </p:cNvPr>
            <p:cNvSpPr/>
            <p:nvPr/>
          </p:nvSpPr>
          <p:spPr>
            <a:xfrm rot="5400000">
              <a:off x="6517380" y="4818902"/>
              <a:ext cx="830580" cy="160020"/>
            </a:xfrm>
            <a:prstGeom prst="triangl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90198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920AC-AD4C-0744-2021-15F84B23F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A383550-BF1D-8C2F-13A2-FE73099ADAF0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 latinLnBrk="0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Ⅰ.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개요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8" name="TextBox 1">
            <a:extLst>
              <a:ext uri="{FF2B5EF4-FFF2-40B4-BE49-F238E27FC236}">
                <a16:creationId xmlns:a16="http://schemas.microsoft.com/office/drawing/2014/main" id="{03C47021-0F99-933D-074D-149DF6AB387E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03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9" name="TextBox 2">
            <a:extLst>
              <a:ext uri="{FF2B5EF4-FFF2-40B4-BE49-F238E27FC236}">
                <a16:creationId xmlns:a16="http://schemas.microsoft.com/office/drawing/2014/main" id="{664875FF-15D8-D5ED-03F2-1EA2F17F52B7}"/>
              </a:ext>
            </a:extLst>
          </p:cNvPr>
          <p:cNvSpPr txBox="1"/>
          <p:nvPr/>
        </p:nvSpPr>
        <p:spPr>
          <a:xfrm>
            <a:off x="978778" y="230485"/>
            <a:ext cx="73774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연구 추진 전략</a:t>
            </a:r>
          </a:p>
        </p:txBody>
      </p:sp>
      <p:sp>
        <p:nvSpPr>
          <p:cNvPr id="3" name="텍스트 개체 틀 1">
            <a:extLst>
              <a:ext uri="{FF2B5EF4-FFF2-40B4-BE49-F238E27FC236}">
                <a16:creationId xmlns:a16="http://schemas.microsoft.com/office/drawing/2014/main" id="{1E00CB48-DB32-56A8-6C3B-085B5FF231B8}"/>
              </a:ext>
            </a:extLst>
          </p:cNvPr>
          <p:cNvSpPr txBox="1">
            <a:spLocks/>
          </p:cNvSpPr>
          <p:nvPr/>
        </p:nvSpPr>
        <p:spPr>
          <a:xfrm>
            <a:off x="243781" y="842963"/>
            <a:ext cx="9422507" cy="52739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한국 직업 데이터에서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AI 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기반으로 직무요소를 도출하고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O*NET 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등 국제 체계를 벤치마킹하여 연계 가능한 차원 구조를 설계하며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도출된 결과의 국제적 타당성을 검증하여 한국형 프레임워크를 구축함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845EABEF-A173-33AA-849E-364B3261515F}"/>
              </a:ext>
            </a:extLst>
          </p:cNvPr>
          <p:cNvSpPr/>
          <p:nvPr/>
        </p:nvSpPr>
        <p:spPr>
          <a:xfrm>
            <a:off x="236538" y="1692840"/>
            <a:ext cx="4608514" cy="317090"/>
          </a:xfrm>
          <a:prstGeom prst="rect">
            <a:avLst/>
          </a:prstGeom>
          <a:solidFill>
            <a:srgbClr val="0059C4"/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algn="ctr" defTabSz="914400"/>
            <a:r>
              <a:rPr lang="ko-KR" altLang="en-US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추진 전략 </a:t>
            </a:r>
            <a:r>
              <a:rPr lang="en-US" altLang="ko-KR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1. </a:t>
            </a:r>
            <a:r>
              <a:rPr lang="ko-KR" altLang="en-US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데이터 기반 귀납적 접근</a:t>
            </a:r>
            <a:endParaRPr lang="en-US" altLang="ko-KR" sz="1200" kern="0" spc="-50" dirty="0">
              <a:solidFill>
                <a:prstClr val="white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D31A52D0-A15D-6754-E705-DB8D34BAA59C}"/>
              </a:ext>
            </a:extLst>
          </p:cNvPr>
          <p:cNvSpPr/>
          <p:nvPr/>
        </p:nvSpPr>
        <p:spPr>
          <a:xfrm>
            <a:off x="5060950" y="1692840"/>
            <a:ext cx="4572000" cy="317090"/>
          </a:xfrm>
          <a:prstGeom prst="rect">
            <a:avLst/>
          </a:prstGeom>
          <a:solidFill>
            <a:srgbClr val="0059C4"/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algn="ctr" defTabSz="914400"/>
            <a:r>
              <a:rPr lang="ko-KR" altLang="en-US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추진 전략 </a:t>
            </a:r>
            <a:r>
              <a:rPr lang="en-US" altLang="ko-KR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2. </a:t>
            </a:r>
            <a:r>
              <a:rPr lang="ko-KR" altLang="en-US" sz="1200" kern="0" spc="-5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국제 체계 벤치마킹 및 타당성 검증</a:t>
            </a:r>
            <a:endParaRPr lang="en-US" altLang="ko-KR" sz="1200" kern="0" spc="-50" dirty="0">
              <a:solidFill>
                <a:prstClr val="white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80" name="AutoShape 22">
            <a:extLst>
              <a:ext uri="{FF2B5EF4-FFF2-40B4-BE49-F238E27FC236}">
                <a16:creationId xmlns:a16="http://schemas.microsoft.com/office/drawing/2014/main" id="{655397BB-B7B2-3D10-1254-536233F6C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0950" y="2152650"/>
            <a:ext cx="4571999" cy="430053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 algn="ctr">
            <a:solidFill>
              <a:srgbClr val="212E55"/>
            </a:solidFill>
            <a:round/>
            <a:headEnd/>
            <a:tailEnd/>
          </a:ln>
          <a:effectLst/>
        </p:spPr>
        <p:txBody>
          <a:bodyPr lIns="54000" tIns="54000" rIns="54000" bIns="54000" anchor="t"/>
          <a:lstStyle/>
          <a:p>
            <a:r>
              <a:rPr lang="ko-KR" altLang="en-US" sz="13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■ 핵심 참조 프레임워크</a:t>
            </a:r>
            <a:r>
              <a:rPr lang="en-US" altLang="ko-KR" sz="13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: O*NET </a:t>
            </a: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업무활동 계층구조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: GWA → IWA → DWA → Tasks(18,796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개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 </a:t>
            </a: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GWA 4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대 범주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정보 입력 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/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정신적 과정 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/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업무 산출 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/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타인과의 상호작용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를 직무활동 분류 기준으로 참고 </a:t>
            </a:r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콘텐츠 모델 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6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대 영역 구조를 한국형 직능유형 차원 설계의 벤치마크로 활용</a:t>
            </a:r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endParaRPr lang="ko-KR" altLang="en-US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r>
              <a:rPr lang="ko-KR" altLang="en-US" sz="13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■ 비교</a:t>
            </a:r>
            <a:r>
              <a:rPr lang="en-US" altLang="ko-KR" sz="13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·</a:t>
            </a:r>
            <a:r>
              <a:rPr lang="ko-KR" altLang="en-US" sz="13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검증 대상 해외 체계 참고</a:t>
            </a:r>
            <a:endParaRPr lang="en-US" altLang="ko-KR" sz="13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ISCO-08: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직능수준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en-US" altLang="ko-KR" sz="1200" spc="-15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Skill Level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 +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직능유형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en-US" altLang="ko-KR" sz="1200" spc="-15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Skill Specialization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분류 원리 → 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ISCO-28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개정 대비 직접 연계 </a:t>
            </a:r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ESCO: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 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+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기술 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+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자격의 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3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축 연계 구조 → 차원 간 연결 설계</a:t>
            </a:r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NOC: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기술유형 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+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기술수준 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2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차원 분류 → 차원 구분의 단순성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명확성</a:t>
            </a:r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endParaRPr lang="ko-KR" altLang="en-US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r>
              <a:rPr lang="ko-KR" altLang="en-US" sz="13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■ 활용 방식 </a:t>
            </a:r>
            <a:endParaRPr lang="en-US" altLang="ko-KR" sz="13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해외 체계 간 공통요소와 차별요소를 분석하여 한국형 구성요소의 타당성 확보 </a:t>
            </a:r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국내 체계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(KECO, </a:t>
            </a:r>
            <a:r>
              <a:rPr lang="ko-KR" altLang="en-US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워크피디아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NCS, KQF/SQF)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와의 매핑을 통해 기존 인프라 활용 가능성 확인</a:t>
            </a:r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endParaRPr lang="ko-KR" altLang="en-US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r>
              <a:rPr lang="ko-KR" altLang="en-US" sz="13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■ 기대 효과 </a:t>
            </a:r>
            <a:endParaRPr lang="en-US" altLang="ko-KR" sz="13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국제 비교 가능성 확보 및 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ISCO-28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개정 시 한국 분류체계의 즉시 대응 기반 마련</a:t>
            </a:r>
          </a:p>
        </p:txBody>
      </p:sp>
      <p:sp>
        <p:nvSpPr>
          <p:cNvPr id="2" name="AutoShape 22">
            <a:extLst>
              <a:ext uri="{FF2B5EF4-FFF2-40B4-BE49-F238E27FC236}">
                <a16:creationId xmlns:a16="http://schemas.microsoft.com/office/drawing/2014/main" id="{381546D2-4593-5BB1-BB7C-D03BCD59B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37" y="2152650"/>
            <a:ext cx="4608513" cy="430053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 algn="ctr">
            <a:solidFill>
              <a:srgbClr val="212E55"/>
            </a:solidFill>
            <a:round/>
            <a:headEnd/>
            <a:tailEnd/>
          </a:ln>
          <a:effectLst/>
        </p:spPr>
        <p:txBody>
          <a:bodyPr lIns="54000" tIns="54000" rIns="54000" bIns="54000" anchor="t"/>
          <a:lstStyle/>
          <a:p>
            <a:r>
              <a:rPr lang="ko-KR" altLang="en-US" sz="13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■ 분석 대상 자료 </a:t>
            </a:r>
            <a:endParaRPr lang="en-US" altLang="ko-KR" sz="13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KSCO </a:t>
            </a:r>
            <a:r>
              <a:rPr lang="ko-KR" altLang="en-US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세분류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426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개 직업 설명 텍스트 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기본 분석 대상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 </a:t>
            </a: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한국직업사전 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6,000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여 개 직무기술서 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직무활동 보강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 </a:t>
            </a: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NCS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능력단위 및 능력단위요소 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한국적 직무 표준 반영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 </a:t>
            </a: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lang="ko-KR" altLang="en-US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워크피디아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·KNOW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의 직업별 숙련도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중요도 데이터 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부가정보 연계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r>
              <a:rPr lang="en-US" altLang="ko-KR" sz="13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■ </a:t>
            </a:r>
            <a:r>
              <a:rPr lang="ko-KR" altLang="en-US" sz="13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분석 방법</a:t>
            </a:r>
            <a:r>
              <a:rPr lang="en-US" altLang="ko-KR" sz="13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: AI </a:t>
            </a:r>
            <a:r>
              <a:rPr lang="ko-KR" altLang="en-US" sz="13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기반 텍스트 분석 </a:t>
            </a:r>
            <a:r>
              <a:rPr lang="en-US" altLang="ko-KR" sz="13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4</a:t>
            </a:r>
            <a:r>
              <a:rPr lang="ko-KR" altLang="en-US" sz="13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단계 파이프라인 </a:t>
            </a:r>
            <a:endParaRPr lang="en-US" altLang="ko-KR" sz="13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①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텍스트 수집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정제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다수 출처의 직업 설명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직무기술을 통합 수집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가공 </a:t>
            </a:r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② NLP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구조 분석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자연어 처리를 활용한 문장 단위 구문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의미 분석 </a:t>
            </a:r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③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직무활동 추출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행동 중심 동사 및 행위 표현을 식별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추출 </a:t>
            </a:r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④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군집화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통합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의미적으로 유사한 직무활동을 </a:t>
            </a:r>
            <a:r>
              <a:rPr lang="ko-KR" altLang="en-US" sz="1200" dirty="0" err="1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군집화하여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표준 직무요소로 통합</a:t>
            </a:r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endParaRPr lang="ko-KR" altLang="en-US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r>
              <a:rPr lang="ko-KR" altLang="en-US" sz="13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■ 분석 기준</a:t>
            </a:r>
            <a:endParaRPr lang="en-US" altLang="ko-KR" sz="13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해외 체계의 단순 번역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이식이 아닌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국내 복수 출처 데이터에서 도출 </a:t>
            </a:r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O*NET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체계는 분류 기준 설계를 위한 참고 프레임워크로 활용</a:t>
            </a:r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분석 결과는 전문가 검토를 거쳐 최종 확정 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이중 검증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</a:p>
          <a:p>
            <a:endParaRPr lang="en-US" altLang="ko-KR" sz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r>
              <a:rPr lang="en-US" altLang="ko-KR" sz="13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■ </a:t>
            </a:r>
            <a:r>
              <a:rPr lang="ko-KR" altLang="en-US" sz="13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기대 효과 </a:t>
            </a:r>
            <a:endParaRPr lang="en-US" altLang="ko-KR" sz="13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한국 노동시장의 고유한 산업구조</a:t>
            </a:r>
            <a:r>
              <a:rPr lang="en-US" altLang="ko-KR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200" dirty="0">
                <a:ln w="1270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직무관행이 반영된 실증 기반 직무요소 확보</a:t>
            </a:r>
          </a:p>
        </p:txBody>
      </p:sp>
    </p:spTree>
    <p:extLst>
      <p:ext uri="{BB962C8B-B14F-4D97-AF65-F5344CB8AC3E}">
        <p14:creationId xmlns:p14="http://schemas.microsoft.com/office/powerpoint/2010/main" val="2943751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8E50F-AF7C-C8F1-162F-6928BE078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E9D6BA16-AB75-50E2-79F2-83A6AA642C0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538" y="45376"/>
            <a:ext cx="4938377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E048F405-2703-88D8-38D2-EC0C2618A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9057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75456BC-5E0F-EBDF-29E2-618C50267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7" y="30095"/>
            <a:ext cx="990575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9AE80AD-6248-17FF-B9F1-D56D319EE1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7" y="-11219"/>
            <a:ext cx="4588167" cy="6483075"/>
            <a:chOff x="-19221" y="0"/>
            <a:chExt cx="5646974" cy="6483075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1F20031-CB2E-5F7A-A55B-029726E2A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2BE1E5F-3ECB-3D98-3DE6-550FA8C695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C8BF4E6-2B24-3190-6E6E-F8F36C319E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B0F2FF9-0C3B-7FB7-3C38-5E24828FA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E38A84D-6001-3D82-9C8A-412D5DAF02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6" name="Picture 3">
            <a:extLst>
              <a:ext uri="{FF2B5EF4-FFF2-40B4-BE49-F238E27FC236}">
                <a16:creationId xmlns:a16="http://schemas.microsoft.com/office/drawing/2014/main" id="{FFC89A30-D16B-C13F-C579-C6DADFE4D50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282"/>
            <a:ext cx="6126481" cy="6858001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</p:pic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C42C26F6-2E3D-6CFE-993F-DC7AA43C0BFB}"/>
              </a:ext>
            </a:extLst>
          </p:cNvPr>
          <p:cNvSpPr txBox="1">
            <a:spLocks/>
          </p:cNvSpPr>
          <p:nvPr/>
        </p:nvSpPr>
        <p:spPr>
          <a:xfrm>
            <a:off x="796" y="2009014"/>
            <a:ext cx="6003764" cy="1066962"/>
          </a:xfrm>
          <a:prstGeom prst="rect">
            <a:avLst/>
          </a:prstGeom>
        </p:spPr>
        <p:txBody>
          <a:bodyPr vert="horz" wrap="square" lIns="360000" tIns="72001" rIns="25200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None/>
              <a:defRPr lang="en-US" sz="21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400" indent="-2304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&gt;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82400" indent="-23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–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698400" indent="-201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-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6984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None/>
              <a:defRPr sz="1700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400"/>
              </a:spcBef>
              <a:defRPr/>
            </a:pPr>
            <a:r>
              <a:rPr lang="en-US" altLang="ko-KR" sz="25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Ⅱ. </a:t>
            </a:r>
            <a:r>
              <a:rPr lang="ko-KR" altLang="en-US" sz="25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연구 수행 방안</a:t>
            </a:r>
          </a:p>
        </p:txBody>
      </p:sp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52F01F62-2330-7B9F-999E-081C6808FAD7}"/>
              </a:ext>
            </a:extLst>
          </p:cNvPr>
          <p:cNvSpPr txBox="1">
            <a:spLocks/>
          </p:cNvSpPr>
          <p:nvPr/>
        </p:nvSpPr>
        <p:spPr>
          <a:xfrm>
            <a:off x="236539" y="2528265"/>
            <a:ext cx="5817400" cy="3924923"/>
          </a:xfrm>
          <a:prstGeom prst="rect">
            <a:avLst/>
          </a:prstGeom>
        </p:spPr>
        <p:txBody>
          <a:bodyPr vert="horz" wrap="square" lIns="360000" tIns="72001" rIns="25200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None/>
              <a:defRPr lang="en-US" sz="21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400" indent="-2304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&gt;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82400" indent="-23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–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698400" indent="-201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-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6984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None/>
              <a:defRPr sz="1700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40000"/>
              </a:lnSpc>
              <a:spcBef>
                <a:spcPts val="400"/>
              </a:spcBef>
              <a:buClr>
                <a:schemeClr val="tx1">
                  <a:lumMod val="85000"/>
                  <a:lumOff val="15000"/>
                </a:schemeClr>
              </a:buClr>
              <a:buFont typeface="Arial Narrow" pitchFamily="34" charset="0"/>
              <a:buAutoNum type="arabicPeriod"/>
              <a:defRPr/>
            </a:pPr>
            <a:r>
              <a:rPr lang="en-US" altLang="ko-KR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rPr>
              <a:t>KSCO </a:t>
            </a:r>
            <a:r>
              <a:rPr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rPr>
              <a:t>직업별 직무기술 정의서 작성</a:t>
            </a:r>
            <a:endParaRPr lang="en-US" altLang="ko-KR" sz="2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6 SemiBold" pitchFamily="2" charset="-127"/>
              <a:ea typeface="페이퍼로지 6 SemiBold" pitchFamily="2" charset="-127"/>
              <a:cs typeface="Arial"/>
            </a:endParaRPr>
          </a:p>
          <a:p>
            <a:pPr marL="342900" lvl="1" indent="-342900">
              <a:lnSpc>
                <a:spcPct val="140000"/>
              </a:lnSpc>
              <a:spcBef>
                <a:spcPts val="400"/>
              </a:spcBef>
              <a:buClr>
                <a:schemeClr val="tx1">
                  <a:lumMod val="85000"/>
                  <a:lumOff val="15000"/>
                </a:schemeClr>
              </a:buClr>
              <a:buFont typeface="Arial Narrow" pitchFamily="34" charset="0"/>
              <a:buAutoNum type="arabicPeriod"/>
              <a:defRPr/>
            </a:pPr>
            <a:r>
              <a:rPr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rPr>
              <a:t>국내</a:t>
            </a:r>
            <a:r>
              <a:rPr lang="en-US" altLang="ko-KR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rPr>
              <a:t>·</a:t>
            </a:r>
            <a:r>
              <a:rPr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rPr>
              <a:t>외</a:t>
            </a:r>
            <a:r>
              <a:rPr lang="en-US" altLang="ko-KR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rPr>
              <a:t> </a:t>
            </a:r>
            <a:r>
              <a:rPr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rPr>
              <a:t>사례 분석</a:t>
            </a:r>
            <a:endParaRPr lang="en-US" altLang="ko-KR" sz="2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6 SemiBold" pitchFamily="2" charset="-127"/>
              <a:ea typeface="페이퍼로지 6 SemiBold" pitchFamily="2" charset="-127"/>
              <a:cs typeface="Arial"/>
            </a:endParaRPr>
          </a:p>
          <a:p>
            <a:pPr marL="342900" lvl="1" indent="-342900">
              <a:lnSpc>
                <a:spcPct val="140000"/>
              </a:lnSpc>
              <a:spcBef>
                <a:spcPts val="400"/>
              </a:spcBef>
              <a:buClr>
                <a:schemeClr val="tx1">
                  <a:lumMod val="85000"/>
                  <a:lumOff val="15000"/>
                </a:schemeClr>
              </a:buClr>
              <a:buFont typeface="Arial Narrow" pitchFamily="34" charset="0"/>
              <a:buAutoNum type="arabicPeriod"/>
              <a:defRPr/>
            </a:pPr>
            <a:r>
              <a:rPr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rPr>
              <a:t>한국직업분류 고도화를 위한 구조적 틀 마련</a:t>
            </a:r>
            <a:endParaRPr lang="en-US" altLang="ko-KR" sz="2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페이퍼로지 6 SemiBold" pitchFamily="2" charset="-127"/>
              <a:ea typeface="페이퍼로지 6 SemiBold" pitchFamily="2" charset="-127"/>
              <a:cs typeface="Arial"/>
            </a:endParaRPr>
          </a:p>
          <a:p>
            <a:pPr marL="342900" lvl="1" indent="-342900">
              <a:lnSpc>
                <a:spcPct val="140000"/>
              </a:lnSpc>
              <a:spcBef>
                <a:spcPts val="400"/>
              </a:spcBef>
              <a:buClr>
                <a:schemeClr val="tx1">
                  <a:lumMod val="85000"/>
                  <a:lumOff val="15000"/>
                </a:schemeClr>
              </a:buClr>
              <a:buFont typeface="Arial Narrow" pitchFamily="34" charset="0"/>
              <a:buAutoNum type="arabicPeriod"/>
              <a:defRPr/>
            </a:pPr>
            <a:r>
              <a:rPr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rPr>
              <a:t>시뮬레이션 검증 및 전문가 검토</a:t>
            </a:r>
            <a:r>
              <a:rPr lang="en-US" altLang="ko-KR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rPr>
              <a:t>·</a:t>
            </a:r>
            <a:r>
              <a:rPr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Arial"/>
              </a:rPr>
              <a:t>조정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5352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8CD56-C493-DE26-460B-53AD87BCA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1B67B33-9956-8DE6-4DB2-01A26F7581A4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Ⅱ.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수행 방안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0" name="텍스트 개체 틀 1">
            <a:extLst>
              <a:ext uri="{FF2B5EF4-FFF2-40B4-BE49-F238E27FC236}">
                <a16:creationId xmlns:a16="http://schemas.microsoft.com/office/drawing/2014/main" id="{8945E8E9-6334-2646-6FF9-1A18E3996849}"/>
              </a:ext>
            </a:extLst>
          </p:cNvPr>
          <p:cNvSpPr txBox="1">
            <a:spLocks/>
          </p:cNvSpPr>
          <p:nvPr/>
        </p:nvSpPr>
        <p:spPr>
          <a:xfrm>
            <a:off x="243781" y="842963"/>
            <a:ext cx="9422507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KSCO </a:t>
            </a:r>
            <a:r>
              <a:rPr lang="ko-KR" alt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세분류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직업을 대상으로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AI 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기반 텍스트 분석과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O*NET 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참조 프레임워크를 결합하여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직업별 직무기술 정의서를 체계적으로 작성함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" name="TextBox 246">
            <a:extLst>
              <a:ext uri="{FF2B5EF4-FFF2-40B4-BE49-F238E27FC236}">
                <a16:creationId xmlns:a16="http://schemas.microsoft.com/office/drawing/2014/main" id="{1390D9EF-D426-A068-CB6A-9AB0A23BCDB6}"/>
              </a:ext>
            </a:extLst>
          </p:cNvPr>
          <p:cNvSpPr txBox="1"/>
          <p:nvPr/>
        </p:nvSpPr>
        <p:spPr>
          <a:xfrm>
            <a:off x="261816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직무기술 정의서 작성 방법 및 내용</a:t>
            </a:r>
            <a:endParaRPr lang="en-US" altLang="ko-KR" sz="16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9CC8AE57-BDE1-B0B3-AFA4-147AC7613321}"/>
              </a:ext>
            </a:extLst>
          </p:cNvPr>
          <p:cNvCxnSpPr>
            <a:cxnSpLocks/>
          </p:cNvCxnSpPr>
          <p:nvPr/>
        </p:nvCxnSpPr>
        <p:spPr>
          <a:xfrm>
            <a:off x="261816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46">
            <a:extLst>
              <a:ext uri="{FF2B5EF4-FFF2-40B4-BE49-F238E27FC236}">
                <a16:creationId xmlns:a16="http://schemas.microsoft.com/office/drawing/2014/main" id="{9C2A6EB5-D4A9-F824-980B-5EFEB2AD566B}"/>
              </a:ext>
            </a:extLst>
          </p:cNvPr>
          <p:cNvSpPr txBox="1"/>
          <p:nvPr/>
        </p:nvSpPr>
        <p:spPr>
          <a:xfrm>
            <a:off x="5086229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AI(NLP) 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기반 직무기술 정의서 작성 절차</a:t>
            </a:r>
            <a:endParaRPr lang="en-US" altLang="ko-KR" sz="16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88BD77AE-32B1-A9CD-24EC-391E37A2843D}"/>
              </a:ext>
            </a:extLst>
          </p:cNvPr>
          <p:cNvCxnSpPr>
            <a:cxnSpLocks/>
          </p:cNvCxnSpPr>
          <p:nvPr/>
        </p:nvCxnSpPr>
        <p:spPr>
          <a:xfrm>
            <a:off x="5086229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15F819D-D685-919D-AF7E-BFDCBC4A2B40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3DA439B-F936-C142-9311-CAF1AF078D5B}"/>
              </a:ext>
            </a:extLst>
          </p:cNvPr>
          <p:cNvSpPr/>
          <p:nvPr/>
        </p:nvSpPr>
        <p:spPr>
          <a:xfrm>
            <a:off x="-586309" y="5543"/>
            <a:ext cx="439178" cy="1554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3DA1D23-DBD4-D7AC-F442-21893DE2A1E8}"/>
              </a:ext>
            </a:extLst>
          </p:cNvPr>
          <p:cNvSpPr/>
          <p:nvPr/>
        </p:nvSpPr>
        <p:spPr>
          <a:xfrm>
            <a:off x="-507160" y="64182"/>
            <a:ext cx="280880" cy="168544"/>
          </a:xfrm>
          <a:prstGeom prst="rect">
            <a:avLst/>
          </a:prstGeom>
          <a:solidFill>
            <a:srgbClr val="212E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8AA66F2-147E-2E8A-83B8-3BDDAD9D7769}"/>
              </a:ext>
            </a:extLst>
          </p:cNvPr>
          <p:cNvSpPr/>
          <p:nvPr/>
        </p:nvSpPr>
        <p:spPr>
          <a:xfrm>
            <a:off x="-507160" y="705014"/>
            <a:ext cx="280880" cy="168544"/>
          </a:xfrm>
          <a:prstGeom prst="rect">
            <a:avLst/>
          </a:prstGeom>
          <a:solidFill>
            <a:srgbClr val="82B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E96B7C8-D00C-409B-DA6B-E2CA465E3355}"/>
              </a:ext>
            </a:extLst>
          </p:cNvPr>
          <p:cNvSpPr/>
          <p:nvPr/>
        </p:nvSpPr>
        <p:spPr>
          <a:xfrm>
            <a:off x="-507160" y="281885"/>
            <a:ext cx="280880" cy="168544"/>
          </a:xfrm>
          <a:prstGeom prst="rect">
            <a:avLst/>
          </a:prstGeom>
          <a:solidFill>
            <a:srgbClr val="3061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1F01031-B468-DE1F-D712-F9D37C2C490E}"/>
              </a:ext>
            </a:extLst>
          </p:cNvPr>
          <p:cNvSpPr/>
          <p:nvPr/>
        </p:nvSpPr>
        <p:spPr>
          <a:xfrm>
            <a:off x="-507160" y="489352"/>
            <a:ext cx="280880" cy="168544"/>
          </a:xfrm>
          <a:prstGeom prst="rect">
            <a:avLst/>
          </a:prstGeom>
          <a:solidFill>
            <a:srgbClr val="DC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CD45D16-18FA-A626-F520-59209976BE18}"/>
              </a:ext>
            </a:extLst>
          </p:cNvPr>
          <p:cNvSpPr/>
          <p:nvPr/>
        </p:nvSpPr>
        <p:spPr>
          <a:xfrm>
            <a:off x="-507160" y="914522"/>
            <a:ext cx="280880" cy="168544"/>
          </a:xfrm>
          <a:prstGeom prst="rect">
            <a:avLst/>
          </a:prstGeom>
          <a:solidFill>
            <a:srgbClr val="565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25AD482-F369-D67D-D425-7EC5257EE6D6}"/>
              </a:ext>
            </a:extLst>
          </p:cNvPr>
          <p:cNvSpPr/>
          <p:nvPr/>
        </p:nvSpPr>
        <p:spPr>
          <a:xfrm>
            <a:off x="-507160" y="1127107"/>
            <a:ext cx="280880" cy="164042"/>
          </a:xfrm>
          <a:prstGeom prst="rect">
            <a:avLst/>
          </a:prstGeom>
          <a:solidFill>
            <a:srgbClr val="53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950A7E4-BAFB-30E5-D2CE-EEB673B22B87}"/>
              </a:ext>
            </a:extLst>
          </p:cNvPr>
          <p:cNvSpPr/>
          <p:nvPr/>
        </p:nvSpPr>
        <p:spPr>
          <a:xfrm>
            <a:off x="-507160" y="1335190"/>
            <a:ext cx="280880" cy="16404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37B56C46-6285-428A-4451-2DED587CB440}"/>
              </a:ext>
            </a:extLst>
          </p:cNvPr>
          <p:cNvSpPr/>
          <p:nvPr/>
        </p:nvSpPr>
        <p:spPr bwMode="auto">
          <a:xfrm>
            <a:off x="258458" y="2254250"/>
            <a:ext cx="4583233" cy="4198938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>
            <a:defPPr>
              <a:defRPr lang="ko-KR"/>
            </a:defPPr>
            <a:lvl1pPr algn="ctr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ctr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ctr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ctr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ctr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000" b="1" kern="120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000" b="1" kern="120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000" b="1" kern="120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000" b="1" kern="120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l" defTabSz="91440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</a:pP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■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직무기술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정의서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개발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방법론</a:t>
            </a:r>
            <a:endParaRPr kumimoji="0" lang="en-US" altLang="ko-KR" sz="1200" b="0" kern="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79375" algn="l" defTabSz="91440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Font typeface="Arial" panose="020B0604020202020204" pitchFamily="34" charset="0"/>
              <a:buChar char="•"/>
            </a:pP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본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연구에서는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KSCO에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포함된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직업별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직무기술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정의서를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체계적으로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작성하기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위하여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AI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기반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텍스트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분석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기법과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국제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직업정보체계의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직무활동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분류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방법론을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결합한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직무요소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도출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방법을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적용</a:t>
            </a:r>
            <a:r>
              <a:rPr kumimoji="0" lang="ko-KR" altLang="en-US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할 계획임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  <a:p>
            <a:pPr marL="449263" lvl="1" indent="-182563" algn="l">
              <a:buFont typeface="페이퍼로지 5 Medium" pitchFamily="2" charset="-127"/>
              <a:buChar char="−"/>
            </a:pPr>
            <a:r>
              <a:rPr lang="en-US" altLang="ko-KR" sz="1100" b="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AI/NLP </a:t>
            </a:r>
            <a:r>
              <a:rPr lang="en-US" altLang="ko-KR" sz="1100" b="0" dirty="0" err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기반</a:t>
            </a:r>
            <a:r>
              <a:rPr lang="en-US" altLang="ko-KR" sz="1100" b="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텍스트</a:t>
            </a:r>
            <a:r>
              <a:rPr lang="en-US" altLang="ko-KR" sz="1100" b="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분석으로</a:t>
            </a:r>
            <a:r>
              <a:rPr lang="en-US" altLang="ko-KR" sz="1100" b="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직무활동을</a:t>
            </a:r>
            <a:r>
              <a:rPr lang="en-US" altLang="ko-KR" sz="1100" b="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자동</a:t>
            </a:r>
            <a:r>
              <a:rPr lang="en-US" altLang="ko-KR" sz="1100" b="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추출</a:t>
            </a:r>
            <a:endParaRPr lang="en-US" altLang="ko-KR" sz="1100" b="0" dirty="0">
              <a:latin typeface="페이퍼로지 5 Medium" pitchFamily="2" charset="-127"/>
              <a:ea typeface="페이퍼로지 5 Medium" pitchFamily="2" charset="-127"/>
            </a:endParaRPr>
          </a:p>
          <a:p>
            <a:pPr marL="449263" lvl="1" indent="-182563" algn="l">
              <a:buFont typeface="페이퍼로지 5 Medium" pitchFamily="2" charset="-127"/>
              <a:buChar char="−"/>
            </a:pPr>
            <a:r>
              <a:rPr lang="en-US" altLang="ko-KR" sz="1100" b="0" dirty="0" err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표준화된</a:t>
            </a:r>
            <a:r>
              <a:rPr lang="en-US" altLang="ko-KR" sz="1100" b="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직무요소</a:t>
            </a:r>
            <a:r>
              <a:rPr lang="en-US" altLang="ko-KR" sz="1100" b="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(work elements) </a:t>
            </a:r>
            <a:r>
              <a:rPr lang="en-US" altLang="ko-KR" sz="1100" b="0" dirty="0" err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형태로</a:t>
            </a:r>
            <a:r>
              <a:rPr lang="en-US" altLang="ko-KR" sz="1100" b="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구조화</a:t>
            </a:r>
            <a:endParaRPr lang="en-US" altLang="ko-KR" sz="1100" b="0" dirty="0">
              <a:latin typeface="페이퍼로지 5 Medium" pitchFamily="2" charset="-127"/>
              <a:ea typeface="페이퍼로지 5 Medium" pitchFamily="2" charset="-127"/>
            </a:endParaRPr>
          </a:p>
          <a:p>
            <a:pPr marL="449263" lvl="1" indent="-182563" algn="l">
              <a:buFont typeface="페이퍼로지 5 Medium" pitchFamily="2" charset="-127"/>
              <a:buChar char="−"/>
            </a:pPr>
            <a:r>
              <a:rPr lang="en-US" altLang="ko-KR" sz="1100" b="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O*NET </a:t>
            </a:r>
            <a:r>
              <a:rPr lang="en-US" altLang="ko-KR" sz="1100" b="0" dirty="0" err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업무활동</a:t>
            </a:r>
            <a:r>
              <a:rPr lang="en-US" altLang="ko-KR" sz="1100" b="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분류체계를</a:t>
            </a:r>
            <a:r>
              <a:rPr lang="en-US" altLang="ko-KR" sz="1100" b="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참고하여</a:t>
            </a:r>
            <a:r>
              <a:rPr lang="en-US" altLang="ko-KR" sz="1100" b="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분류</a:t>
            </a:r>
            <a:r>
              <a:rPr lang="en-US" altLang="ko-KR" sz="1100" b="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기준</a:t>
            </a:r>
            <a:r>
              <a:rPr lang="en-US" altLang="ko-KR" sz="1100" b="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설계</a:t>
            </a:r>
            <a:endParaRPr lang="en-US" altLang="ko-KR" sz="1100" b="0" dirty="0">
              <a:latin typeface="페이퍼로지 5 Medium" pitchFamily="2" charset="-127"/>
              <a:ea typeface="페이퍼로지 5 Medium" pitchFamily="2" charset="-127"/>
            </a:endParaRPr>
          </a:p>
          <a:p>
            <a:pPr marL="449263" lvl="1" indent="-182563" algn="l">
              <a:buFont typeface="페이퍼로지 5 Medium" pitchFamily="2" charset="-127"/>
              <a:buChar char="−"/>
            </a:pPr>
            <a:r>
              <a:rPr lang="en-US" altLang="ko-KR" sz="1100" b="0" dirty="0" err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직업</a:t>
            </a:r>
            <a:r>
              <a:rPr lang="en-US" altLang="ko-KR" sz="1100" b="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 간 </a:t>
            </a:r>
            <a:r>
              <a:rPr lang="en-US" altLang="ko-KR" sz="1100" b="0" dirty="0" err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체계적</a:t>
            </a:r>
            <a:r>
              <a:rPr lang="en-US" altLang="ko-KR" sz="1100" b="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비교·분석이</a:t>
            </a:r>
            <a:r>
              <a:rPr lang="en-US" altLang="ko-KR" sz="1100" b="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가능한</a:t>
            </a:r>
            <a:r>
              <a:rPr lang="en-US" altLang="ko-KR" sz="1100" b="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구조적</a:t>
            </a:r>
            <a:r>
              <a:rPr lang="en-US" altLang="ko-KR" sz="1100" b="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산출물</a:t>
            </a:r>
            <a:r>
              <a:rPr lang="en-US" altLang="ko-KR" sz="1100" b="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도출</a:t>
            </a:r>
            <a:endParaRPr lang="en-US" altLang="ko-KR" sz="1100" b="0" dirty="0">
              <a:latin typeface="페이퍼로지 5 Medium" pitchFamily="2" charset="-127"/>
              <a:ea typeface="페이퍼로지 5 Medium" pitchFamily="2" charset="-127"/>
            </a:endParaRPr>
          </a:p>
          <a:p>
            <a:pPr marL="449263" lvl="1" indent="-182563" algn="l">
              <a:buFont typeface="페이퍼로지 5 Medium" pitchFamily="2" charset="-127"/>
              <a:buChar char="−"/>
            </a:pPr>
            <a:r>
              <a:rPr lang="en-US" altLang="ko-KR" sz="1100" b="0" dirty="0" err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국제적으로</a:t>
            </a:r>
            <a:r>
              <a:rPr lang="en-US" altLang="ko-KR" sz="1100" b="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검증된</a:t>
            </a:r>
            <a:r>
              <a:rPr lang="en-US" altLang="ko-KR" sz="1100" b="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분류체계를</a:t>
            </a:r>
            <a:r>
              <a:rPr lang="en-US" altLang="ko-KR" sz="1100" b="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참고하여</a:t>
            </a:r>
            <a:r>
              <a:rPr lang="en-US" altLang="ko-KR" sz="1100" b="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직무요소를</a:t>
            </a:r>
            <a:r>
              <a:rPr lang="en-US" altLang="ko-KR" sz="1100" b="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표준화</a:t>
            </a:r>
            <a:endParaRPr lang="en-US" altLang="ko-KR" sz="1100" b="0" dirty="0">
              <a:latin typeface="페이퍼로지 5 Medium" pitchFamily="2" charset="-127"/>
              <a:ea typeface="페이퍼로지 5 Medium" pitchFamily="2" charset="-127"/>
            </a:endParaRPr>
          </a:p>
          <a:p>
            <a:pPr marL="449263" lvl="1" indent="-182563" algn="l">
              <a:buFont typeface="페이퍼로지 5 Medium" pitchFamily="2" charset="-127"/>
              <a:buChar char="−"/>
            </a:pPr>
            <a:r>
              <a:rPr lang="en-US" altLang="ko-KR" sz="1100" b="0" dirty="0" err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모든</a:t>
            </a:r>
            <a:r>
              <a:rPr lang="en-US" altLang="ko-KR" sz="1100" b="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 AI </a:t>
            </a:r>
            <a:r>
              <a:rPr lang="en-US" altLang="ko-KR" sz="1100" b="0" dirty="0" err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분석</a:t>
            </a:r>
            <a:r>
              <a:rPr lang="en-US" altLang="ko-KR" sz="1100" b="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결과는</a:t>
            </a:r>
            <a:r>
              <a:rPr lang="en-US" altLang="ko-KR" sz="1100" b="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전문가</a:t>
            </a:r>
            <a:r>
              <a:rPr lang="en-US" altLang="ko-KR" sz="1100" b="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검증</a:t>
            </a:r>
            <a:r>
              <a:rPr lang="en-US" altLang="ko-KR" sz="1100" b="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절차를</a:t>
            </a:r>
            <a:r>
              <a:rPr lang="en-US" altLang="ko-KR" sz="1100" b="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거쳐</a:t>
            </a:r>
            <a:r>
              <a:rPr lang="en-US" altLang="ko-KR" sz="1100" b="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최종</a:t>
            </a:r>
            <a:r>
              <a:rPr lang="en-US" altLang="ko-KR" sz="1100" b="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rPr>
              <a:t>확정</a:t>
            </a:r>
            <a:endParaRPr lang="en-US" altLang="ko-KR" sz="1100" b="0" dirty="0">
              <a:latin typeface="페이퍼로지 5 Medium" pitchFamily="2" charset="-127"/>
              <a:ea typeface="페이퍼로지 5 Medium" pitchFamily="2" charset="-127"/>
            </a:endParaRPr>
          </a:p>
          <a:p>
            <a:pPr algn="l" defTabSz="91440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</a:pPr>
            <a:endParaRPr kumimoji="0" lang="en-US" altLang="ko-KR" sz="1200" b="0" kern="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algn="l" defTabSz="91440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</a:pP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■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대상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: KSCO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세분류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수준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</a:t>
            </a:r>
            <a:endParaRPr kumimoji="0" lang="en-US" altLang="ko-KR" sz="1200" b="0" kern="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algn="l" defTabSz="91440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</a:pP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   (대10/중42/소149/세426/세세1,206개)</a:t>
            </a:r>
          </a:p>
          <a:p>
            <a:pPr algn="l" defTabSz="91440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</a:pPr>
            <a:endParaRPr kumimoji="0" lang="en-US" altLang="ko-KR" sz="1200" b="0" kern="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algn="l" defTabSz="91440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</a:pP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■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작성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절차</a:t>
            </a:r>
            <a:endParaRPr kumimoji="0" lang="en-US" altLang="ko-KR" sz="1200" b="0" kern="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79375" algn="l" defTabSz="91440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Font typeface="Arial" panose="020B0604020202020204" pitchFamily="34" charset="0"/>
              <a:buChar char="•"/>
            </a:pP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현행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업무내용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기술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검토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→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표준화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직무요소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도출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→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직무기술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정의서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구성</a:t>
            </a:r>
            <a:endParaRPr kumimoji="0" lang="en-US" altLang="ko-KR" sz="1200" b="0" kern="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algn="l" defTabSz="91440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</a:pPr>
            <a:endParaRPr kumimoji="0" lang="en-US" altLang="ko-KR" sz="1200" b="0" kern="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algn="l" defTabSz="91440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</a:pP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■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간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비교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가능성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확보</a:t>
            </a:r>
            <a:endParaRPr kumimoji="0" lang="en-US" altLang="ko-KR" sz="1200" b="0" kern="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79375" algn="l" defTabSz="91440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Font typeface="Arial" panose="020B0604020202020204" pitchFamily="34" charset="0"/>
              <a:buChar char="•"/>
            </a:pP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직무요소를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공통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기준에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따라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구조화하여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직업분류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고도화의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기반</a:t>
            </a:r>
            <a:r>
              <a:rPr kumimoji="0" lang="en-US" altLang="ko-KR" sz="12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2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제공</a:t>
            </a:r>
            <a:endParaRPr kumimoji="0" lang="en-US" altLang="ko-KR" sz="1200" b="0" kern="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2B2A2799-452F-0F77-D589-8E05D6A52C82}"/>
              </a:ext>
            </a:extLst>
          </p:cNvPr>
          <p:cNvSpPr txBox="1"/>
          <p:nvPr/>
        </p:nvSpPr>
        <p:spPr>
          <a:xfrm>
            <a:off x="978778" y="230485"/>
            <a:ext cx="869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en-US" altLang="ko-KR" sz="240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KSCO </a:t>
            </a:r>
            <a:r>
              <a:rPr lang="ko-KR" altLang="en-US" sz="240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직업별 </a:t>
            </a:r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직무기술 정의서 작성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1BA7AD-1677-D79D-CA0D-FED465287062}"/>
              </a:ext>
            </a:extLst>
          </p:cNvPr>
          <p:cNvSpPr txBox="1"/>
          <p:nvPr/>
        </p:nvSpPr>
        <p:spPr>
          <a:xfrm>
            <a:off x="5060950" y="2241551"/>
            <a:ext cx="1298799" cy="846191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05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① 직업 설명 텍스트 수집</a:t>
            </a:r>
            <a:r>
              <a:rPr lang="en-US" altLang="ko-KR" sz="105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05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정제</a:t>
            </a:r>
            <a:endParaRPr lang="en-US" altLang="ko-KR" sz="1050" kern="0" spc="-41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88BA77-28E4-C8D7-F2B4-6452654C4347}"/>
              </a:ext>
            </a:extLst>
          </p:cNvPr>
          <p:cNvSpPr txBox="1"/>
          <p:nvPr/>
        </p:nvSpPr>
        <p:spPr>
          <a:xfrm>
            <a:off x="5060950" y="3363366"/>
            <a:ext cx="1298799" cy="846191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05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② 자연어처리</a:t>
            </a:r>
            <a:r>
              <a:rPr lang="en-US" altLang="ko-KR" sz="105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(NLP) </a:t>
            </a:r>
            <a:r>
              <a:rPr lang="ko-KR" altLang="en-US" sz="105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적용 문장 구조 분석</a:t>
            </a:r>
            <a:endParaRPr lang="en-US" altLang="ko-KR" sz="1050" kern="0" spc="-41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EC3F24-B01D-9010-61F1-87029AF3FF6A}"/>
              </a:ext>
            </a:extLst>
          </p:cNvPr>
          <p:cNvSpPr txBox="1"/>
          <p:nvPr/>
        </p:nvSpPr>
        <p:spPr>
          <a:xfrm>
            <a:off x="5060950" y="4485182"/>
            <a:ext cx="1298799" cy="846191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05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③ 행동 중심 동사 및 행위 표현 추출</a:t>
            </a:r>
            <a:endParaRPr lang="en-US" altLang="ko-KR" sz="1050" kern="0" spc="-41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25F79E-6B3B-088E-E36C-E9C8C39917C5}"/>
              </a:ext>
            </a:extLst>
          </p:cNvPr>
          <p:cNvSpPr txBox="1"/>
          <p:nvPr/>
        </p:nvSpPr>
        <p:spPr>
          <a:xfrm>
            <a:off x="5060950" y="5606997"/>
            <a:ext cx="1298799" cy="846191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05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④ 유사 직무활동 군집화 및 통합</a:t>
            </a:r>
            <a:endParaRPr lang="en-US" altLang="ko-KR" sz="1050" kern="0" spc="-41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ADC9D9-FA93-4C2A-0398-82786247FA84}"/>
              </a:ext>
            </a:extLst>
          </p:cNvPr>
          <p:cNvSpPr txBox="1"/>
          <p:nvPr/>
        </p:nvSpPr>
        <p:spPr>
          <a:xfrm>
            <a:off x="6466867" y="2241551"/>
            <a:ext cx="3180675" cy="846191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en-US" altLang="ko-KR" sz="10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KSCO에</a:t>
            </a:r>
            <a:r>
              <a:rPr lang="en-US" altLang="ko-KR" sz="1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0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제시된</a:t>
            </a:r>
            <a:r>
              <a:rPr lang="en-US" altLang="ko-KR" sz="1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0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</a:t>
            </a:r>
            <a:r>
              <a:rPr lang="en-US" altLang="ko-KR" sz="1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0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설명</a:t>
            </a:r>
            <a:r>
              <a:rPr lang="en-US" altLang="ko-KR" sz="1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0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텍스트를</a:t>
            </a:r>
            <a:r>
              <a:rPr lang="en-US" altLang="ko-KR" sz="1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0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수집하고</a:t>
            </a:r>
            <a:r>
              <a:rPr lang="en-US" altLang="ko-KR" sz="1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0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분석</a:t>
            </a:r>
            <a:r>
              <a:rPr lang="en-US" altLang="ko-KR" sz="1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0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가능한</a:t>
            </a:r>
            <a:r>
              <a:rPr lang="en-US" altLang="ko-KR" sz="1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0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형태로</a:t>
            </a:r>
            <a:r>
              <a:rPr lang="en-US" altLang="ko-KR" sz="1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0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정제</a:t>
            </a:r>
            <a:endParaRPr lang="en-US" altLang="ko-KR" sz="1000" b="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83EC62-6538-9C76-E8BB-8CC67C70D97C}"/>
              </a:ext>
            </a:extLst>
          </p:cNvPr>
          <p:cNvSpPr txBox="1"/>
          <p:nvPr/>
        </p:nvSpPr>
        <p:spPr>
          <a:xfrm>
            <a:off x="6466867" y="3366943"/>
            <a:ext cx="3180675" cy="846191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en-US" altLang="ko-KR" sz="1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NLP </a:t>
            </a:r>
            <a:r>
              <a:rPr lang="en-US" altLang="ko-KR" sz="10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기법을</a:t>
            </a:r>
            <a:r>
              <a:rPr lang="en-US" altLang="ko-KR" sz="1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0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활용하여</a:t>
            </a:r>
            <a:r>
              <a:rPr lang="en-US" altLang="ko-KR" sz="1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0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</a:t>
            </a:r>
            <a:r>
              <a:rPr lang="en-US" altLang="ko-KR" sz="1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0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설명</a:t>
            </a:r>
            <a:r>
              <a:rPr lang="en-US" altLang="ko-KR" sz="1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0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텍스트의</a:t>
            </a:r>
            <a:r>
              <a:rPr lang="en-US" altLang="ko-KR" sz="1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0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문장</a:t>
            </a:r>
            <a:r>
              <a:rPr lang="en-US" altLang="ko-KR" sz="1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0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구조를</a:t>
            </a:r>
            <a:r>
              <a:rPr lang="en-US" altLang="ko-KR" sz="1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0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분석</a:t>
            </a:r>
            <a:endParaRPr lang="en-US" altLang="ko-KR" sz="1000" b="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48BF210-1CE5-135E-8D28-621AC45B128A}"/>
              </a:ext>
            </a:extLst>
          </p:cNvPr>
          <p:cNvSpPr txBox="1"/>
          <p:nvPr/>
        </p:nvSpPr>
        <p:spPr>
          <a:xfrm>
            <a:off x="6466867" y="4484349"/>
            <a:ext cx="3180675" cy="846191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en-US" altLang="ko-KR" sz="10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</a:t>
            </a:r>
            <a:r>
              <a:rPr lang="en-US" altLang="ko-KR" sz="1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0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설명에서</a:t>
            </a:r>
            <a:r>
              <a:rPr lang="en-US" altLang="ko-KR" sz="1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0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직무</a:t>
            </a:r>
            <a:r>
              <a:rPr lang="en-US" altLang="ko-KR" sz="1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0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수행과</a:t>
            </a:r>
            <a:r>
              <a:rPr lang="en-US" altLang="ko-KR" sz="1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0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관련된</a:t>
            </a:r>
            <a:r>
              <a:rPr lang="en-US" altLang="ko-KR" sz="1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0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행동</a:t>
            </a:r>
            <a:r>
              <a:rPr lang="en-US" altLang="ko-KR" sz="1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0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중심의</a:t>
            </a:r>
            <a:r>
              <a:rPr lang="en-US" altLang="ko-KR" sz="1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0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동사와</a:t>
            </a:r>
            <a:r>
              <a:rPr lang="en-US" altLang="ko-KR" sz="1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0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행위</a:t>
            </a:r>
            <a:r>
              <a:rPr lang="en-US" altLang="ko-KR" sz="1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0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표현을</a:t>
            </a:r>
            <a:r>
              <a:rPr lang="en-US" altLang="ko-KR" sz="1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0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추출</a:t>
            </a:r>
            <a:endParaRPr lang="en-US" altLang="ko-KR" sz="1000" b="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BF4F3EC-4C47-DA52-A563-39C95D8C4149}"/>
              </a:ext>
            </a:extLst>
          </p:cNvPr>
          <p:cNvSpPr txBox="1"/>
          <p:nvPr/>
        </p:nvSpPr>
        <p:spPr>
          <a:xfrm>
            <a:off x="6466867" y="5606997"/>
            <a:ext cx="3180675" cy="846191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en-US" altLang="ko-KR" sz="10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추출된</a:t>
            </a:r>
            <a:r>
              <a:rPr lang="en-US" altLang="ko-KR" sz="1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0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직무활동을</a:t>
            </a:r>
            <a:r>
              <a:rPr lang="en-US" altLang="ko-KR" sz="1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0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의미적으로</a:t>
            </a:r>
            <a:r>
              <a:rPr lang="en-US" altLang="ko-KR" sz="1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0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군집화하고</a:t>
            </a:r>
            <a:r>
              <a:rPr lang="en-US" altLang="ko-KR" sz="1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0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유사한</a:t>
            </a:r>
            <a:r>
              <a:rPr lang="en-US" altLang="ko-KR" sz="1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0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활동을</a:t>
            </a:r>
            <a:r>
              <a:rPr lang="en-US" altLang="ko-KR" sz="1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0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통합</a:t>
            </a:r>
            <a:endParaRPr lang="en-US" altLang="ko-KR" sz="1000" b="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409C60C1-0FD3-58AE-A843-27292B26F1CC}"/>
              </a:ext>
            </a:extLst>
          </p:cNvPr>
          <p:cNvCxnSpPr>
            <a:cxnSpLocks/>
            <a:stCxn id="12" idx="2"/>
            <a:endCxn id="18" idx="0"/>
          </p:cNvCxnSpPr>
          <p:nvPr/>
        </p:nvCxnSpPr>
        <p:spPr>
          <a:xfrm>
            <a:off x="5710350" y="3087742"/>
            <a:ext cx="0" cy="27562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0A44D6B9-C307-CD29-B519-7A9BF62F671D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>
            <a:off x="5710350" y="4209557"/>
            <a:ext cx="0" cy="27562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FFE3F94F-6DD1-30D9-9B1E-5F662C71EEF8}"/>
              </a:ext>
            </a:extLst>
          </p:cNvPr>
          <p:cNvCxnSpPr>
            <a:cxnSpLocks/>
            <a:stCxn id="19" idx="2"/>
            <a:endCxn id="26" idx="0"/>
          </p:cNvCxnSpPr>
          <p:nvPr/>
        </p:nvCxnSpPr>
        <p:spPr>
          <a:xfrm>
            <a:off x="5710350" y="5331373"/>
            <a:ext cx="0" cy="27562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5765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7A7D2-A100-C932-7F86-876465730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9655B08-4764-0DD2-7863-A81714350799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 latinLnBrk="0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Ⅱ.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수행 방안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0" name="텍스트 개체 틀 1">
            <a:extLst>
              <a:ext uri="{FF2B5EF4-FFF2-40B4-BE49-F238E27FC236}">
                <a16:creationId xmlns:a16="http://schemas.microsoft.com/office/drawing/2014/main" id="{81E24216-3439-8DE9-A40A-B16A4AC16AEF}"/>
              </a:ext>
            </a:extLst>
          </p:cNvPr>
          <p:cNvSpPr txBox="1">
            <a:spLocks/>
          </p:cNvSpPr>
          <p:nvPr/>
        </p:nvSpPr>
        <p:spPr>
          <a:xfrm>
            <a:off x="243781" y="842963"/>
            <a:ext cx="9422507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AI 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텍스트 분석으로 추출된 직무활동을 표준화된 직무요소로 구조화하고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O*NET Work Activities 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체계와 매핑하여 직업 간 비교 가능한 형태로 제시함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" name="TextBox 246">
            <a:extLst>
              <a:ext uri="{FF2B5EF4-FFF2-40B4-BE49-F238E27FC236}">
                <a16:creationId xmlns:a16="http://schemas.microsoft.com/office/drawing/2014/main" id="{36AA2897-A9CC-B357-6C3D-C10A137D8932}"/>
              </a:ext>
            </a:extLst>
          </p:cNvPr>
          <p:cNvSpPr txBox="1"/>
          <p:nvPr/>
        </p:nvSpPr>
        <p:spPr>
          <a:xfrm>
            <a:off x="261816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직무기술 정의서 직무요소 구조화 예시</a:t>
            </a:r>
            <a:endParaRPr lang="en-US" altLang="ko-KR" sz="16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E51D269-0231-1FF7-DB51-76040C833E62}"/>
              </a:ext>
            </a:extLst>
          </p:cNvPr>
          <p:cNvCxnSpPr>
            <a:cxnSpLocks/>
          </p:cNvCxnSpPr>
          <p:nvPr/>
        </p:nvCxnSpPr>
        <p:spPr>
          <a:xfrm>
            <a:off x="261816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46">
            <a:extLst>
              <a:ext uri="{FF2B5EF4-FFF2-40B4-BE49-F238E27FC236}">
                <a16:creationId xmlns:a16="http://schemas.microsoft.com/office/drawing/2014/main" id="{EE0E42F5-4435-A528-EF8F-F9CC7C43E73E}"/>
              </a:ext>
            </a:extLst>
          </p:cNvPr>
          <p:cNvSpPr txBox="1"/>
          <p:nvPr/>
        </p:nvSpPr>
        <p:spPr>
          <a:xfrm>
            <a:off x="5086229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직업별 직무활동 도출 예시</a:t>
            </a:r>
            <a:endParaRPr lang="en-US" altLang="ko-KR" sz="16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F7424D1D-B3BB-CCE7-9CE2-98AA10BD9123}"/>
              </a:ext>
            </a:extLst>
          </p:cNvPr>
          <p:cNvCxnSpPr>
            <a:cxnSpLocks/>
          </p:cNvCxnSpPr>
          <p:nvPr/>
        </p:nvCxnSpPr>
        <p:spPr>
          <a:xfrm>
            <a:off x="5086229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489930A-49E5-CFA0-2079-CC6D5318DF3B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FBEE974-FC8D-792E-33A4-80A2BD38E916}"/>
              </a:ext>
            </a:extLst>
          </p:cNvPr>
          <p:cNvSpPr/>
          <p:nvPr/>
        </p:nvSpPr>
        <p:spPr>
          <a:xfrm>
            <a:off x="-586309" y="5543"/>
            <a:ext cx="439178" cy="1554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20AFD54-207D-CED3-192D-0CD1992EFAEE}"/>
              </a:ext>
            </a:extLst>
          </p:cNvPr>
          <p:cNvSpPr/>
          <p:nvPr/>
        </p:nvSpPr>
        <p:spPr>
          <a:xfrm>
            <a:off x="-507160" y="64182"/>
            <a:ext cx="280880" cy="168544"/>
          </a:xfrm>
          <a:prstGeom prst="rect">
            <a:avLst/>
          </a:prstGeom>
          <a:solidFill>
            <a:srgbClr val="212E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2179195-F674-B4CF-85D8-0AC9E1A4AC9D}"/>
              </a:ext>
            </a:extLst>
          </p:cNvPr>
          <p:cNvSpPr/>
          <p:nvPr/>
        </p:nvSpPr>
        <p:spPr>
          <a:xfrm>
            <a:off x="-507160" y="705014"/>
            <a:ext cx="280880" cy="168544"/>
          </a:xfrm>
          <a:prstGeom prst="rect">
            <a:avLst/>
          </a:prstGeom>
          <a:solidFill>
            <a:srgbClr val="82B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C36EDA0-6F2E-2A03-333A-2995F7B82E56}"/>
              </a:ext>
            </a:extLst>
          </p:cNvPr>
          <p:cNvSpPr/>
          <p:nvPr/>
        </p:nvSpPr>
        <p:spPr>
          <a:xfrm>
            <a:off x="-507160" y="281885"/>
            <a:ext cx="280880" cy="168544"/>
          </a:xfrm>
          <a:prstGeom prst="rect">
            <a:avLst/>
          </a:prstGeom>
          <a:solidFill>
            <a:srgbClr val="3061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E1A63F3-A4E5-6368-38C8-44F1BC8F3124}"/>
              </a:ext>
            </a:extLst>
          </p:cNvPr>
          <p:cNvSpPr/>
          <p:nvPr/>
        </p:nvSpPr>
        <p:spPr>
          <a:xfrm>
            <a:off x="-507160" y="489352"/>
            <a:ext cx="280880" cy="168544"/>
          </a:xfrm>
          <a:prstGeom prst="rect">
            <a:avLst/>
          </a:prstGeom>
          <a:solidFill>
            <a:srgbClr val="DC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4D6B128-B37D-DCFB-FADE-1EFD321281BC}"/>
              </a:ext>
            </a:extLst>
          </p:cNvPr>
          <p:cNvSpPr/>
          <p:nvPr/>
        </p:nvSpPr>
        <p:spPr>
          <a:xfrm>
            <a:off x="-507160" y="914522"/>
            <a:ext cx="280880" cy="168544"/>
          </a:xfrm>
          <a:prstGeom prst="rect">
            <a:avLst/>
          </a:prstGeom>
          <a:solidFill>
            <a:srgbClr val="565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5DCAEB9-F34C-930C-269D-838C264A3A25}"/>
              </a:ext>
            </a:extLst>
          </p:cNvPr>
          <p:cNvSpPr/>
          <p:nvPr/>
        </p:nvSpPr>
        <p:spPr>
          <a:xfrm>
            <a:off x="-507160" y="1127107"/>
            <a:ext cx="280880" cy="164042"/>
          </a:xfrm>
          <a:prstGeom prst="rect">
            <a:avLst/>
          </a:prstGeom>
          <a:solidFill>
            <a:srgbClr val="53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94C3B76-8854-87D5-9817-D3DA69DE2A1E}"/>
              </a:ext>
            </a:extLst>
          </p:cNvPr>
          <p:cNvSpPr/>
          <p:nvPr/>
        </p:nvSpPr>
        <p:spPr>
          <a:xfrm>
            <a:off x="-507160" y="1335190"/>
            <a:ext cx="280880" cy="16404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D6D1E9CF-91B0-B133-46C1-2CFA628C9978}"/>
              </a:ext>
            </a:extLst>
          </p:cNvPr>
          <p:cNvSpPr/>
          <p:nvPr/>
        </p:nvSpPr>
        <p:spPr bwMode="auto">
          <a:xfrm>
            <a:off x="236538" y="5120016"/>
            <a:ext cx="4583233" cy="1333172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>
            <a:defPPr>
              <a:defRPr lang="ko-KR"/>
            </a:defPPr>
            <a:lvl1pPr algn="ctr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ctr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ctr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ctr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ctr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000" b="1" kern="120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000" b="1" kern="120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000" b="1" kern="120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000" b="1" kern="120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171450" indent="-17145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Font typeface="Arial" panose="020B0604020202020204" pitchFamily="34" charset="0"/>
              <a:buChar char="•"/>
            </a:pPr>
            <a:r>
              <a:rPr kumimoji="0" lang="en-US" altLang="ko-KR" sz="11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교사</a:t>
            </a:r>
            <a:r>
              <a:rPr kumimoji="0" lang="en-US" altLang="ko-KR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/</a:t>
            </a:r>
            <a:r>
              <a:rPr kumimoji="0" lang="en-US" altLang="ko-KR" sz="11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강사</a:t>
            </a:r>
            <a:r>
              <a:rPr kumimoji="0" lang="en-US" altLang="ko-KR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: </a:t>
            </a:r>
            <a:r>
              <a:rPr kumimoji="0" lang="en-US" altLang="ko-KR" sz="11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교육</a:t>
            </a:r>
            <a:r>
              <a:rPr kumimoji="0" lang="en-US" altLang="ko-KR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1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대상·환경이</a:t>
            </a:r>
            <a:r>
              <a:rPr kumimoji="0" lang="en-US" altLang="ko-KR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1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다르나</a:t>
            </a:r>
            <a:r>
              <a:rPr kumimoji="0" lang="en-US" altLang="ko-KR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1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직무요소</a:t>
            </a:r>
            <a:r>
              <a:rPr kumimoji="0" lang="en-US" altLang="ko-KR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1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수준에서</a:t>
            </a:r>
            <a:r>
              <a:rPr kumimoji="0" lang="en-US" altLang="ko-KR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1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동일</a:t>
            </a:r>
            <a:r>
              <a:rPr kumimoji="0" lang="en-US" altLang="ko-KR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1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구조</a:t>
            </a:r>
            <a:r>
              <a:rPr kumimoji="0" lang="en-US" altLang="ko-KR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1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공유</a:t>
            </a:r>
            <a:endParaRPr kumimoji="0" lang="en-US" altLang="ko-KR" sz="1100" b="0" kern="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171450" indent="-17145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Font typeface="Arial" panose="020B0604020202020204" pitchFamily="34" charset="0"/>
              <a:buChar char="•"/>
            </a:pPr>
            <a:r>
              <a:rPr kumimoji="0" lang="en-US" altLang="ko-KR" sz="11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데이터</a:t>
            </a:r>
            <a:r>
              <a:rPr kumimoji="0" lang="en-US" altLang="ko-KR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1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분석가</a:t>
            </a:r>
            <a:r>
              <a:rPr kumimoji="0" lang="en-US" altLang="ko-KR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/</a:t>
            </a:r>
            <a:r>
              <a:rPr kumimoji="0" lang="en-US" altLang="ko-KR" sz="11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마케팅</a:t>
            </a:r>
            <a:r>
              <a:rPr kumimoji="0" lang="en-US" altLang="ko-KR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1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전문가</a:t>
            </a:r>
            <a:r>
              <a:rPr kumimoji="0" lang="en-US" altLang="ko-KR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: </a:t>
            </a:r>
            <a:r>
              <a:rPr kumimoji="0" lang="en-US" altLang="ko-KR" sz="11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분석</a:t>
            </a:r>
            <a:r>
              <a:rPr kumimoji="0" lang="en-US" altLang="ko-KR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1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대상이</a:t>
            </a:r>
            <a:r>
              <a:rPr kumimoji="0" lang="en-US" altLang="ko-KR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1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상이하나</a:t>
            </a:r>
            <a:r>
              <a:rPr kumimoji="0" lang="en-US" altLang="ko-KR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'</a:t>
            </a:r>
            <a:r>
              <a:rPr kumimoji="0" lang="en-US" altLang="ko-KR" sz="11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분석'과</a:t>
            </a:r>
            <a:r>
              <a:rPr kumimoji="0" lang="en-US" altLang="ko-KR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'</a:t>
            </a:r>
            <a:r>
              <a:rPr kumimoji="0" lang="en-US" altLang="ko-KR" sz="11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데이터</a:t>
            </a:r>
            <a:r>
              <a:rPr kumimoji="0" lang="en-US" altLang="ko-KR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1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해석'이라는</a:t>
            </a:r>
            <a:r>
              <a:rPr kumimoji="0" lang="en-US" altLang="ko-KR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1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핵심</a:t>
            </a:r>
            <a:r>
              <a:rPr kumimoji="0" lang="en-US" altLang="ko-KR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1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직무요소를</a:t>
            </a:r>
            <a:r>
              <a:rPr kumimoji="0" lang="en-US" altLang="ko-KR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1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공통</a:t>
            </a:r>
            <a:r>
              <a:rPr kumimoji="0" lang="en-US" altLang="ko-KR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1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포함</a:t>
            </a:r>
            <a:endParaRPr kumimoji="0" lang="en-US" altLang="ko-KR" sz="1100" b="0" kern="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</a:pPr>
            <a:endParaRPr kumimoji="0" lang="en-US" altLang="ko-KR" sz="1100" b="0" kern="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</a:pPr>
            <a:r>
              <a:rPr kumimoji="0" lang="en-US" altLang="ko-KR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→ </a:t>
            </a:r>
            <a:r>
              <a:rPr kumimoji="0" lang="en-US" altLang="ko-KR" sz="11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표준화된</a:t>
            </a:r>
            <a:r>
              <a:rPr kumimoji="0" lang="en-US" altLang="ko-KR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1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직무요소를</a:t>
            </a:r>
            <a:r>
              <a:rPr kumimoji="0" lang="en-US" altLang="ko-KR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1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통해</a:t>
            </a:r>
            <a:r>
              <a:rPr kumimoji="0" lang="en-US" altLang="ko-KR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1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직업</a:t>
            </a:r>
            <a:r>
              <a:rPr kumimoji="0" lang="en-US" altLang="ko-KR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간 </a:t>
            </a:r>
            <a:r>
              <a:rPr kumimoji="0" lang="en-US" altLang="ko-KR" sz="11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비교</a:t>
            </a:r>
            <a:r>
              <a:rPr kumimoji="0" lang="en-US" altLang="ko-KR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1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분석</a:t>
            </a:r>
            <a:r>
              <a:rPr kumimoji="0" lang="en-US" altLang="ko-KR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kumimoji="0" lang="en-US" altLang="ko-KR" sz="11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직능유형</a:t>
            </a:r>
            <a:r>
              <a:rPr kumimoji="0" lang="en-US" altLang="ko-KR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1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구성요소</a:t>
            </a:r>
            <a:r>
              <a:rPr kumimoji="0" lang="en-US" altLang="ko-KR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1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연계</a:t>
            </a:r>
            <a:r>
              <a:rPr kumimoji="0" lang="en-US" altLang="ko-KR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kumimoji="0" lang="en-US" altLang="ko-KR" sz="11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정책적</a:t>
            </a:r>
            <a:r>
              <a:rPr kumimoji="0" lang="en-US" altLang="ko-KR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1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활용의</a:t>
            </a:r>
            <a:r>
              <a:rPr kumimoji="0" lang="en-US" altLang="ko-KR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1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기초</a:t>
            </a:r>
            <a:r>
              <a:rPr kumimoji="0" lang="en-US" altLang="ko-KR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1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데이터</a:t>
            </a:r>
            <a:r>
              <a:rPr kumimoji="0" lang="en-US" altLang="ko-KR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1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역할</a:t>
            </a:r>
            <a:r>
              <a:rPr kumimoji="0" lang="en-US" altLang="ko-KR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1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수행</a:t>
            </a:r>
            <a:endParaRPr kumimoji="0" lang="en-US" altLang="ko-KR" sz="1100" b="0" kern="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0A71E20E-C58E-46B3-0AF5-7E955874E731}"/>
              </a:ext>
            </a:extLst>
          </p:cNvPr>
          <p:cNvSpPr txBox="1"/>
          <p:nvPr/>
        </p:nvSpPr>
        <p:spPr>
          <a:xfrm>
            <a:off x="978778" y="230485"/>
            <a:ext cx="869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KSCO </a:t>
            </a:r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직업별 직무기술 정의서 작성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E8D3194-9F76-C490-6609-A375D906C2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516258"/>
              </p:ext>
            </p:extLst>
          </p:nvPr>
        </p:nvGraphicFramePr>
        <p:xfrm>
          <a:off x="243782" y="2241551"/>
          <a:ext cx="4601268" cy="2621655"/>
        </p:xfrm>
        <a:graphic>
          <a:graphicData uri="http://schemas.openxmlformats.org/drawingml/2006/table">
            <a:tbl>
              <a:tblPr/>
              <a:tblGrid>
                <a:gridCol w="614521">
                  <a:extLst>
                    <a:ext uri="{9D8B030D-6E8A-4147-A177-3AD203B41FA5}">
                      <a16:colId xmlns:a16="http://schemas.microsoft.com/office/drawing/2014/main" val="277857175"/>
                    </a:ext>
                  </a:extLst>
                </a:gridCol>
                <a:gridCol w="533939">
                  <a:extLst>
                    <a:ext uri="{9D8B030D-6E8A-4147-A177-3AD203B41FA5}">
                      <a16:colId xmlns:a16="http://schemas.microsoft.com/office/drawing/2014/main" val="3690079578"/>
                    </a:ext>
                  </a:extLst>
                </a:gridCol>
                <a:gridCol w="1779798">
                  <a:extLst>
                    <a:ext uri="{9D8B030D-6E8A-4147-A177-3AD203B41FA5}">
                      <a16:colId xmlns:a16="http://schemas.microsoft.com/office/drawing/2014/main" val="273381125"/>
                    </a:ext>
                  </a:extLst>
                </a:gridCol>
                <a:gridCol w="1673010">
                  <a:extLst>
                    <a:ext uri="{9D8B030D-6E8A-4147-A177-3AD203B41FA5}">
                      <a16:colId xmlns:a16="http://schemas.microsoft.com/office/drawing/2014/main" val="2138818860"/>
                    </a:ext>
                  </a:extLst>
                </a:gridCol>
              </a:tblGrid>
              <a:tr h="31236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구분</a:t>
                      </a:r>
                      <a:endParaRPr lang="en-US" sz="11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직업</a:t>
                      </a:r>
                      <a:endParaRPr lang="en-US" sz="11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업무내용</a:t>
                      </a:r>
                      <a:endParaRPr lang="en-US" sz="11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표준화 직무요소</a:t>
                      </a:r>
                      <a:endParaRPr lang="en-US" sz="11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2074388"/>
                  </a:ext>
                </a:extLst>
              </a:tr>
              <a:tr h="490863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동일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직무요소</a:t>
                      </a:r>
                      <a:endParaRPr lang="en-US" sz="1050" dirty="0">
                        <a:latin typeface="페이퍼로지 5 Medium" pitchFamily="2" charset="-127"/>
                        <a:ea typeface="페이퍼로지 5 Medium" pitchFamily="2" charset="-127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교사</a:t>
                      </a:r>
                      <a:endParaRPr lang="en-US" sz="1100" dirty="0">
                        <a:latin typeface="페이퍼로지 5 Medium" pitchFamily="2" charset="-127"/>
                        <a:ea typeface="페이퍼로지 5 Medium" pitchFamily="2" charset="-127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학생에게 교육과정 학습내용을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가르치고 평가하며 생활지도</a:t>
                      </a:r>
                      <a:endParaRPr lang="en-US" sz="1050" dirty="0">
                        <a:latin typeface="페이퍼로지 5 Medium" pitchFamily="2" charset="-127"/>
                        <a:ea typeface="페이퍼로지 5 Medium" pitchFamily="2" charset="-127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지식전달, 의사소통,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학습자 이해, 수업 설계</a:t>
                      </a:r>
                      <a:endParaRPr lang="en-US" sz="1050" dirty="0">
                        <a:latin typeface="페이퍼로지 5 Medium" pitchFamily="2" charset="-127"/>
                        <a:ea typeface="페이퍼로지 5 Medium" pitchFamily="2" charset="-127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3840697"/>
                  </a:ext>
                </a:extLst>
              </a:tr>
              <a:tr h="490863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강사</a:t>
                      </a:r>
                      <a:endParaRPr lang="en-US" sz="1100" dirty="0">
                        <a:latin typeface="페이퍼로지 5 Medium" pitchFamily="2" charset="-127"/>
                        <a:ea typeface="페이퍼로지 5 Medium" pitchFamily="2" charset="-127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수강생에게 이론·기술을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가르치고 실기나 기능을 평가</a:t>
                      </a:r>
                      <a:endParaRPr lang="en-US" sz="1050" dirty="0">
                        <a:latin typeface="페이퍼로지 5 Medium" pitchFamily="2" charset="-127"/>
                        <a:ea typeface="페이퍼로지 5 Medium" pitchFamily="2" charset="-127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지식전달, 의사소통,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학습자 이해, 수업 설계</a:t>
                      </a:r>
                      <a:endParaRPr lang="en-US" sz="1050" dirty="0">
                        <a:latin typeface="페이퍼로지 5 Medium" pitchFamily="2" charset="-127"/>
                        <a:ea typeface="페이퍼로지 5 Medium" pitchFamily="2" charset="-127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5996981"/>
                  </a:ext>
                </a:extLst>
              </a:tr>
              <a:tr h="513175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유사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직무요소</a:t>
                      </a:r>
                      <a:endParaRPr lang="en-US" sz="1050" dirty="0">
                        <a:latin typeface="페이퍼로지 5 Medium" pitchFamily="2" charset="-127"/>
                        <a:ea typeface="페이퍼로지 5 Medium" pitchFamily="2" charset="-127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데이터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분석가</a:t>
                      </a:r>
                      <a:endParaRPr lang="en-US" sz="1100" dirty="0">
                        <a:latin typeface="페이퍼로지 5 Medium" pitchFamily="2" charset="-127"/>
                        <a:ea typeface="페이퍼로지 5 Medium" pitchFamily="2" charset="-127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데이터를 가공·분석하여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의사결정에 필요한 정보를 제공</a:t>
                      </a:r>
                      <a:endParaRPr lang="en-US" sz="1050" dirty="0">
                        <a:latin typeface="페이퍼로지 5 Medium" pitchFamily="2" charset="-127"/>
                        <a:ea typeface="페이퍼로지 5 Medium" pitchFamily="2" charset="-127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분석, 데이터 해석,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의사결정 지원</a:t>
                      </a:r>
                      <a:endParaRPr lang="en-US" sz="1050" dirty="0">
                        <a:latin typeface="페이퍼로지 5 Medium" pitchFamily="2" charset="-127"/>
                        <a:ea typeface="페이퍼로지 5 Medium" pitchFamily="2" charset="-127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678017"/>
                  </a:ext>
                </a:extLst>
              </a:tr>
              <a:tr h="5131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마케팅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전문가</a:t>
                      </a:r>
                      <a:endParaRPr lang="en-US" sz="1100" dirty="0">
                        <a:latin typeface="페이퍼로지 5 Medium" pitchFamily="2" charset="-127"/>
                        <a:ea typeface="페이퍼로지 5 Medium" pitchFamily="2" charset="-127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시장·소비자 정보를 분석하여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전략을 수립</a:t>
                      </a:r>
                      <a:endParaRPr lang="en-US" sz="1050" dirty="0">
                        <a:latin typeface="페이퍼로지 5 Medium" pitchFamily="2" charset="-127"/>
                        <a:ea typeface="페이퍼로지 5 Medium" pitchFamily="2" charset="-127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분석, 데이터 해석,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전략 수립</a:t>
                      </a:r>
                      <a:endParaRPr lang="en-US" sz="1050" dirty="0">
                        <a:latin typeface="페이퍼로지 5 Medium" pitchFamily="2" charset="-127"/>
                        <a:ea typeface="페이퍼로지 5 Medium" pitchFamily="2" charset="-127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1141983"/>
                  </a:ext>
                </a:extLst>
              </a:tr>
              <a:tr h="301212">
                <a:tc gridSpan="4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latin typeface="페이퍼로지 5 Medium" pitchFamily="2" charset="-127"/>
                          <a:ea typeface="페이퍼로지 5 Medium" pitchFamily="2" charset="-127"/>
                          <a:cs typeface="맑은 고딕" charset="0"/>
                        </a:rPr>
                        <a:t>표준화 기준 </a:t>
                      </a:r>
                      <a:r>
                        <a:rPr lang="en-US" altLang="ko-KR" sz="1050" dirty="0">
                          <a:latin typeface="페이퍼로지 5 Medium" pitchFamily="2" charset="-127"/>
                          <a:ea typeface="페이퍼로지 5 Medium" pitchFamily="2" charset="-127"/>
                          <a:cs typeface="맑은 고딕" charset="0"/>
                        </a:rPr>
                        <a:t>: </a:t>
                      </a:r>
                      <a:r>
                        <a:rPr lang="ko-KR" altLang="en-US" sz="1050" dirty="0">
                          <a:latin typeface="페이퍼로지 5 Medium" pitchFamily="2" charset="-127"/>
                          <a:ea typeface="페이퍼로지 5 Medium" pitchFamily="2" charset="-127"/>
                          <a:cs typeface="맑은 고딕" charset="0"/>
                        </a:rPr>
                        <a:t>직업 간 공통 활동 통합</a:t>
                      </a:r>
                      <a:r>
                        <a:rPr lang="en-US" altLang="ko-KR" sz="1050" dirty="0">
                          <a:latin typeface="페이퍼로지 5 Medium" pitchFamily="2" charset="-127"/>
                          <a:ea typeface="페이퍼로지 5 Medium" pitchFamily="2" charset="-127"/>
                          <a:cs typeface="맑은 고딕" charset="0"/>
                        </a:rPr>
                        <a:t>, </a:t>
                      </a:r>
                      <a:r>
                        <a:rPr lang="ko-KR" altLang="en-US" sz="1050" dirty="0">
                          <a:latin typeface="페이퍼로지 5 Medium" pitchFamily="2" charset="-127"/>
                          <a:ea typeface="페이퍼로지 5 Medium" pitchFamily="2" charset="-127"/>
                          <a:cs typeface="맑은 고딕" charset="0"/>
                        </a:rPr>
                        <a:t>의미적 유사 활동 군집화</a:t>
                      </a:r>
                      <a:r>
                        <a:rPr lang="en-US" altLang="ko-KR" sz="1050" dirty="0">
                          <a:latin typeface="페이퍼로지 5 Medium" pitchFamily="2" charset="-127"/>
                          <a:ea typeface="페이퍼로지 5 Medium" pitchFamily="2" charset="-127"/>
                          <a:cs typeface="맑은 고딕" charset="0"/>
                        </a:rPr>
                        <a:t>, </a:t>
                      </a:r>
                      <a:r>
                        <a:rPr lang="ko-KR" altLang="en-US" sz="1050" dirty="0">
                          <a:latin typeface="페이퍼로지 5 Medium" pitchFamily="2" charset="-127"/>
                          <a:ea typeface="페이퍼로지 5 Medium" pitchFamily="2" charset="-127"/>
                          <a:cs typeface="맑은 고딕" charset="0"/>
                        </a:rPr>
                        <a:t>수행 목적 중심 재구성</a:t>
                      </a:r>
                      <a:endParaRPr lang="en-US" sz="1050" dirty="0">
                        <a:latin typeface="페이퍼로지 5 Medium" pitchFamily="2" charset="-127"/>
                        <a:ea typeface="페이퍼로지 5 Medium" pitchFamily="2" charset="-127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페이퍼로지 5 Medium" pitchFamily="2" charset="-127"/>
                        <a:ea typeface="페이퍼로지 5 Medium" pitchFamily="2" charset="-127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페이퍼로지 5 Medium" pitchFamily="2" charset="-127"/>
                        <a:ea typeface="페이퍼로지 5 Medium" pitchFamily="2" charset="-127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페이퍼로지 5 Medium" pitchFamily="2" charset="-127"/>
                        <a:ea typeface="페이퍼로지 5 Medium" pitchFamily="2" charset="-127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4918823"/>
                  </a:ext>
                </a:extLst>
              </a:tr>
            </a:tbl>
          </a:graphicData>
        </a:graphic>
      </p:graphicFrame>
      <p:sp>
        <p:nvSpPr>
          <p:cNvPr id="4" name="이등변 삼각형 3">
            <a:extLst>
              <a:ext uri="{FF2B5EF4-FFF2-40B4-BE49-F238E27FC236}">
                <a16:creationId xmlns:a16="http://schemas.microsoft.com/office/drawing/2014/main" id="{28B12006-5BD3-D8A9-D853-2F583F00B9DE}"/>
              </a:ext>
            </a:extLst>
          </p:cNvPr>
          <p:cNvSpPr/>
          <p:nvPr/>
        </p:nvSpPr>
        <p:spPr>
          <a:xfrm rot="10800000">
            <a:off x="2097169" y="4911600"/>
            <a:ext cx="861969" cy="160020"/>
          </a:xfrm>
          <a:prstGeom prst="triangl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F452AB8-5C57-9870-E36B-2AC08780E5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271686"/>
              </p:ext>
            </p:extLst>
          </p:nvPr>
        </p:nvGraphicFramePr>
        <p:xfrm>
          <a:off x="5060951" y="2241550"/>
          <a:ext cx="4571998" cy="2621655"/>
        </p:xfrm>
        <a:graphic>
          <a:graphicData uri="http://schemas.openxmlformats.org/drawingml/2006/table">
            <a:tbl>
              <a:tblPr/>
              <a:tblGrid>
                <a:gridCol w="919121">
                  <a:extLst>
                    <a:ext uri="{9D8B030D-6E8A-4147-A177-3AD203B41FA5}">
                      <a16:colId xmlns:a16="http://schemas.microsoft.com/office/drawing/2014/main" val="3675168837"/>
                    </a:ext>
                  </a:extLst>
                </a:gridCol>
                <a:gridCol w="2407751">
                  <a:extLst>
                    <a:ext uri="{9D8B030D-6E8A-4147-A177-3AD203B41FA5}">
                      <a16:colId xmlns:a16="http://schemas.microsoft.com/office/drawing/2014/main" val="2445292385"/>
                    </a:ext>
                  </a:extLst>
                </a:gridCol>
                <a:gridCol w="1245126">
                  <a:extLst>
                    <a:ext uri="{9D8B030D-6E8A-4147-A177-3AD203B41FA5}">
                      <a16:colId xmlns:a16="http://schemas.microsoft.com/office/drawing/2014/main" val="2701236632"/>
                    </a:ext>
                  </a:extLst>
                </a:gridCol>
              </a:tblGrid>
              <a:tr h="3227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1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1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업무내용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1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추출된 직무활동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311988"/>
                  </a:ext>
                </a:extLst>
              </a:tr>
              <a:tr h="76628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교사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학생들에게 교육과정의 내용을 가르치고 학습 결과를 평가한다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fontAlgn="base" latinLnBrk="0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지식 전달</a:t>
                      </a:r>
                      <a:endParaRPr lang="en-US" altLang="ko-KR" sz="105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171450" marR="0" indent="-171450" algn="l" fontAlgn="base" latinLnBrk="0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학습 평가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6223882"/>
                  </a:ext>
                </a:extLst>
              </a:tr>
              <a:tr h="76628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데이터 분석가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데이터를 분석하여 의사결정을 지원한다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fontAlgn="base" latinLnBrk="0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데이터 분석</a:t>
                      </a:r>
                      <a:endParaRPr lang="en-US" altLang="ko-KR" sz="105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171450" marR="0" indent="-171450" algn="l" fontAlgn="base" latinLnBrk="0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정보 해석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637839"/>
                  </a:ext>
                </a:extLst>
              </a:tr>
              <a:tr h="76628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마케팅 전문가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시장 정보를 분석하여 마케팅 전략을 수립한다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fontAlgn="base" latinLnBrk="0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시장 분석</a:t>
                      </a:r>
                      <a:endParaRPr lang="en-US" altLang="ko-KR" sz="105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171450" marR="0" indent="-171450" algn="l" fontAlgn="base" latinLnBrk="0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전략 수립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5445202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E95C0817-9470-7FAC-39C0-8502487E29C0}"/>
              </a:ext>
            </a:extLst>
          </p:cNvPr>
          <p:cNvSpPr/>
          <p:nvPr/>
        </p:nvSpPr>
        <p:spPr bwMode="auto">
          <a:xfrm>
            <a:off x="5060950" y="5120016"/>
            <a:ext cx="4583233" cy="1333172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rtlCol="0" anchor="ctr"/>
          <a:lstStyle>
            <a:defPPr>
              <a:defRPr lang="ko-KR"/>
            </a:defPPr>
            <a:lvl1pPr algn="ctr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ctr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ctr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ctr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ctr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000" b="1" kern="120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000" b="1" kern="120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000" b="1" kern="120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000" b="1" kern="120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171450" indent="-17145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Font typeface="Arial" panose="020B0604020202020204" pitchFamily="34" charset="0"/>
              <a:buChar char="•"/>
            </a:pPr>
            <a:r>
              <a:rPr kumimoji="0" lang="en-US" altLang="ko-KR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NLP </a:t>
            </a:r>
            <a:r>
              <a:rPr kumimoji="0" lang="ko-KR" altLang="en-US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기반 자동 추출로 </a:t>
            </a:r>
            <a:r>
              <a:rPr kumimoji="0" lang="en-US" altLang="ko-KR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1,206</a:t>
            </a:r>
            <a:r>
              <a:rPr kumimoji="0" lang="ko-KR" altLang="en-US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개 </a:t>
            </a:r>
            <a:r>
              <a:rPr kumimoji="0" lang="ko-KR" altLang="en-US" sz="1100" b="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세분류</a:t>
            </a:r>
            <a:r>
              <a:rPr kumimoji="0" lang="ko-KR" altLang="en-US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직업 전체에 일관된 기준의 직무활동 도출 가능</a:t>
            </a:r>
          </a:p>
          <a:p>
            <a:pPr marL="171450" indent="-17145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Font typeface="Arial" panose="020B0604020202020204" pitchFamily="34" charset="0"/>
              <a:buChar char="•"/>
            </a:pPr>
            <a:r>
              <a:rPr kumimoji="0" lang="ko-KR" altLang="en-US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행동 중심 동사 기반 추출로 </a:t>
            </a:r>
            <a:r>
              <a:rPr kumimoji="0" lang="en-US" altLang="ko-KR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O*NET Work Activities </a:t>
            </a:r>
            <a:r>
              <a:rPr kumimoji="0" lang="ko-KR" altLang="en-US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분류체계와 직접 매핑 가능한 형태 확보</a:t>
            </a:r>
            <a:endParaRPr kumimoji="0" lang="en-US" altLang="ko-KR" sz="1100" b="0" kern="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</a:pPr>
            <a:endParaRPr kumimoji="0" lang="ko-KR" altLang="en-US" sz="1100" b="0" kern="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</a:pPr>
            <a:r>
              <a:rPr kumimoji="0" lang="ko-KR" altLang="en-US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→ </a:t>
            </a:r>
            <a:r>
              <a:rPr kumimoji="0" lang="en-US" altLang="ko-KR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kumimoji="0" lang="ko-KR" altLang="en-US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텍스트 분석을 통해 대규모 직업 데이터에서 체계적으로 직무활동을 도출하고</a:t>
            </a:r>
            <a:r>
              <a:rPr kumimoji="0" lang="en-US" altLang="ko-KR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kumimoji="0" lang="ko-KR" altLang="en-US" sz="1100" b="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국제 직업정보체계와의 연계 기반을 마련</a:t>
            </a:r>
          </a:p>
        </p:txBody>
      </p:sp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0474F536-AF75-A06D-E90F-84E6776E39A7}"/>
              </a:ext>
            </a:extLst>
          </p:cNvPr>
          <p:cNvSpPr/>
          <p:nvPr/>
        </p:nvSpPr>
        <p:spPr>
          <a:xfrm rot="10800000">
            <a:off x="6921581" y="4911600"/>
            <a:ext cx="861969" cy="160020"/>
          </a:xfrm>
          <a:prstGeom prst="triangl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0931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E601C-C872-2A1C-D48E-E3E85CFE8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50E3808-90E3-FE7E-9B7F-78324DF23CD8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Ⅱ.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수행 방안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0" name="텍스트 개체 틀 1">
            <a:extLst>
              <a:ext uri="{FF2B5EF4-FFF2-40B4-BE49-F238E27FC236}">
                <a16:creationId xmlns:a16="http://schemas.microsoft.com/office/drawing/2014/main" id="{AC677A20-5D99-29B4-D009-A2E404FE1E15}"/>
              </a:ext>
            </a:extLst>
          </p:cNvPr>
          <p:cNvSpPr txBox="1">
            <a:spLocks/>
          </p:cNvSpPr>
          <p:nvPr/>
        </p:nvSpPr>
        <p:spPr>
          <a:xfrm>
            <a:off x="243781" y="842963"/>
            <a:ext cx="9422507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해외 체계는 업무활동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지식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기술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능력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도구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환경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등 다차원적 직업정보를 </a:t>
            </a:r>
            <a:r>
              <a:rPr lang="ko-KR" alt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구조화하여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제공하는 반면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</a:p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국내 체계는 기본 분류 정보 중심으로 구축되어 있어 직업정보의 통합적 활용에 한계가 있음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" name="TextBox 246">
            <a:extLst>
              <a:ext uri="{FF2B5EF4-FFF2-40B4-BE49-F238E27FC236}">
                <a16:creationId xmlns:a16="http://schemas.microsoft.com/office/drawing/2014/main" id="{8DE1BD91-9A1D-EC64-967E-0F6207DB3902}"/>
              </a:ext>
            </a:extLst>
          </p:cNvPr>
          <p:cNvSpPr txBox="1"/>
          <p:nvPr/>
        </p:nvSpPr>
        <p:spPr>
          <a:xfrm>
            <a:off x="261816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해외 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4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개국 직업정보 체계 비교</a:t>
            </a:r>
            <a:endParaRPr lang="en-US" altLang="ko-KR" sz="16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E33860A-2B67-2F97-8EFF-C4951652A689}"/>
              </a:ext>
            </a:extLst>
          </p:cNvPr>
          <p:cNvCxnSpPr>
            <a:cxnSpLocks/>
          </p:cNvCxnSpPr>
          <p:nvPr/>
        </p:nvCxnSpPr>
        <p:spPr>
          <a:xfrm>
            <a:off x="261816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AE453A6-AB94-B336-9296-A271A5DE6D51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25E645D-CAFF-D3B4-6BEA-95239E7EF223}"/>
              </a:ext>
            </a:extLst>
          </p:cNvPr>
          <p:cNvSpPr/>
          <p:nvPr/>
        </p:nvSpPr>
        <p:spPr>
          <a:xfrm>
            <a:off x="-586309" y="5543"/>
            <a:ext cx="439178" cy="1554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7C092C7-7926-C83F-5EEC-DAEFAF8EF806}"/>
              </a:ext>
            </a:extLst>
          </p:cNvPr>
          <p:cNvSpPr/>
          <p:nvPr/>
        </p:nvSpPr>
        <p:spPr>
          <a:xfrm>
            <a:off x="-507160" y="64182"/>
            <a:ext cx="280880" cy="168544"/>
          </a:xfrm>
          <a:prstGeom prst="rect">
            <a:avLst/>
          </a:prstGeom>
          <a:solidFill>
            <a:srgbClr val="212E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7ECB9AA-03D7-8502-F5E5-61015FB09CFF}"/>
              </a:ext>
            </a:extLst>
          </p:cNvPr>
          <p:cNvSpPr/>
          <p:nvPr/>
        </p:nvSpPr>
        <p:spPr>
          <a:xfrm>
            <a:off x="-507160" y="705014"/>
            <a:ext cx="280880" cy="168544"/>
          </a:xfrm>
          <a:prstGeom prst="rect">
            <a:avLst/>
          </a:prstGeom>
          <a:solidFill>
            <a:srgbClr val="82B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CC69158-889B-C327-CF58-C8B4BB5A3C3D}"/>
              </a:ext>
            </a:extLst>
          </p:cNvPr>
          <p:cNvSpPr/>
          <p:nvPr/>
        </p:nvSpPr>
        <p:spPr>
          <a:xfrm>
            <a:off x="-507160" y="281885"/>
            <a:ext cx="280880" cy="168544"/>
          </a:xfrm>
          <a:prstGeom prst="rect">
            <a:avLst/>
          </a:prstGeom>
          <a:solidFill>
            <a:srgbClr val="3061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36FE607-976C-E61B-14CD-E3A1DBB4F693}"/>
              </a:ext>
            </a:extLst>
          </p:cNvPr>
          <p:cNvSpPr/>
          <p:nvPr/>
        </p:nvSpPr>
        <p:spPr>
          <a:xfrm>
            <a:off x="-507160" y="489352"/>
            <a:ext cx="280880" cy="168544"/>
          </a:xfrm>
          <a:prstGeom prst="rect">
            <a:avLst/>
          </a:prstGeom>
          <a:solidFill>
            <a:srgbClr val="DC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74B1600-7BA6-B3CC-1683-C2DEF953DE74}"/>
              </a:ext>
            </a:extLst>
          </p:cNvPr>
          <p:cNvSpPr/>
          <p:nvPr/>
        </p:nvSpPr>
        <p:spPr>
          <a:xfrm>
            <a:off x="-507160" y="914522"/>
            <a:ext cx="280880" cy="168544"/>
          </a:xfrm>
          <a:prstGeom prst="rect">
            <a:avLst/>
          </a:prstGeom>
          <a:solidFill>
            <a:srgbClr val="565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6E6B955-EF93-8E2A-AE74-795F0CA5336A}"/>
              </a:ext>
            </a:extLst>
          </p:cNvPr>
          <p:cNvSpPr/>
          <p:nvPr/>
        </p:nvSpPr>
        <p:spPr>
          <a:xfrm>
            <a:off x="-507160" y="1127107"/>
            <a:ext cx="280880" cy="164042"/>
          </a:xfrm>
          <a:prstGeom prst="rect">
            <a:avLst/>
          </a:prstGeom>
          <a:solidFill>
            <a:srgbClr val="53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02FDFDC-7863-60A5-FBB7-84571D42C942}"/>
              </a:ext>
            </a:extLst>
          </p:cNvPr>
          <p:cNvSpPr/>
          <p:nvPr/>
        </p:nvSpPr>
        <p:spPr>
          <a:xfrm>
            <a:off x="-507160" y="1335190"/>
            <a:ext cx="280880" cy="16404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206DF083-18B7-95FB-2524-4E6C3377003D}"/>
              </a:ext>
            </a:extLst>
          </p:cNvPr>
          <p:cNvSpPr txBox="1"/>
          <p:nvPr/>
        </p:nvSpPr>
        <p:spPr>
          <a:xfrm>
            <a:off x="978778" y="230485"/>
            <a:ext cx="869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국내</a:t>
            </a:r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외</a:t>
            </a:r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사례 분석</a:t>
            </a:r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_</a:t>
            </a:r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국내</a:t>
            </a:r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외</a:t>
            </a:r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직업정보 체계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9AAC91-2169-8A38-7AEE-63329EA605AF}"/>
              </a:ext>
            </a:extLst>
          </p:cNvPr>
          <p:cNvSpPr txBox="1"/>
          <p:nvPr/>
        </p:nvSpPr>
        <p:spPr>
          <a:xfrm>
            <a:off x="236537" y="2697480"/>
            <a:ext cx="1298799" cy="754587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en-US" altLang="ko-KR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ILO</a:t>
            </a:r>
          </a:p>
          <a:p>
            <a:pPr defTabSz="804838">
              <a:lnSpc>
                <a:spcPct val="130000"/>
              </a:lnSpc>
              <a:defRPr/>
            </a:pPr>
            <a:r>
              <a:rPr lang="ko-KR" altLang="en-US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국제표준직업분류</a:t>
            </a:r>
            <a:endParaRPr lang="en-US" altLang="ko-KR" sz="1200" kern="0" spc="-41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defTabSz="804838">
              <a:lnSpc>
                <a:spcPct val="130000"/>
              </a:lnSpc>
              <a:defRPr/>
            </a:pPr>
            <a:r>
              <a:rPr lang="en-US" altLang="ko-KR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(ISCO-08)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C90525-E19E-A622-7F6A-29E3EFD06EDE}"/>
              </a:ext>
            </a:extLst>
          </p:cNvPr>
          <p:cNvSpPr txBox="1"/>
          <p:nvPr/>
        </p:nvSpPr>
        <p:spPr>
          <a:xfrm>
            <a:off x="236537" y="3697853"/>
            <a:ext cx="1298799" cy="754587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en-US" altLang="ko-KR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O*NET</a:t>
            </a:r>
          </a:p>
          <a:p>
            <a:pPr defTabSz="804838">
              <a:lnSpc>
                <a:spcPct val="130000"/>
              </a:lnSpc>
              <a:defRPr/>
            </a:pPr>
            <a:r>
              <a:rPr lang="en-US" altLang="ko-KR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미국</a:t>
            </a:r>
            <a:r>
              <a:rPr lang="en-US" altLang="ko-KR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F8F2C4-0D90-29D3-D94B-A9BCB742E17F}"/>
              </a:ext>
            </a:extLst>
          </p:cNvPr>
          <p:cNvSpPr txBox="1"/>
          <p:nvPr/>
        </p:nvSpPr>
        <p:spPr>
          <a:xfrm>
            <a:off x="236537" y="4698228"/>
            <a:ext cx="1298799" cy="754587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en-US" altLang="ko-KR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ESCO</a:t>
            </a:r>
          </a:p>
          <a:p>
            <a:pPr defTabSz="804838">
              <a:lnSpc>
                <a:spcPct val="130000"/>
              </a:lnSpc>
              <a:defRPr/>
            </a:pPr>
            <a:r>
              <a:rPr lang="en-US" altLang="ko-KR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유럽</a:t>
            </a:r>
            <a:r>
              <a:rPr lang="en-US" altLang="ko-KR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789091-07DC-00D9-495F-6913479E8318}"/>
              </a:ext>
            </a:extLst>
          </p:cNvPr>
          <p:cNvSpPr txBox="1"/>
          <p:nvPr/>
        </p:nvSpPr>
        <p:spPr>
          <a:xfrm>
            <a:off x="236537" y="5698601"/>
            <a:ext cx="1298799" cy="754587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en-US" altLang="ko-KR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NOC</a:t>
            </a:r>
          </a:p>
          <a:p>
            <a:pPr defTabSz="804838">
              <a:lnSpc>
                <a:spcPct val="130000"/>
              </a:lnSpc>
              <a:defRPr/>
            </a:pPr>
            <a:r>
              <a:rPr lang="en-US" altLang="ko-KR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캐나다</a:t>
            </a:r>
            <a:r>
              <a:rPr lang="en-US" altLang="ko-KR" sz="12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C9C173-17FE-04A5-D4EB-6DD2B6F28A96}"/>
              </a:ext>
            </a:extLst>
          </p:cNvPr>
          <p:cNvSpPr txBox="1"/>
          <p:nvPr/>
        </p:nvSpPr>
        <p:spPr>
          <a:xfrm>
            <a:off x="2531837" y="2697480"/>
            <a:ext cx="2291291" cy="754587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92075" indent="-92075"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en-US" altLang="ko-KR" sz="1050" dirty="0"/>
              <a:t>4</a:t>
            </a:r>
            <a:r>
              <a:rPr lang="ko-KR" altLang="en-US" sz="1050" dirty="0"/>
              <a:t>단계 계층</a:t>
            </a:r>
            <a:r>
              <a:rPr lang="en-US" altLang="ko-KR" sz="1050" dirty="0"/>
              <a:t>, </a:t>
            </a:r>
            <a:r>
              <a:rPr lang="ko-KR" altLang="en-US" sz="1050" dirty="0"/>
              <a:t>직능수준 </a:t>
            </a:r>
            <a:r>
              <a:rPr lang="en-US" altLang="ko-KR" sz="1050" dirty="0"/>
              <a:t>+ </a:t>
            </a:r>
            <a:r>
              <a:rPr lang="ko-KR" altLang="en-US" sz="1050" dirty="0"/>
              <a:t>직능유형 분류</a:t>
            </a:r>
            <a:endParaRPr lang="en-US" altLang="ko-KR" sz="1050" dirty="0"/>
          </a:p>
          <a:p>
            <a:pPr marL="92075" indent="-92075"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en-US" altLang="ko-KR" sz="1050" dirty="0"/>
              <a:t>ISCO-28 </a:t>
            </a:r>
            <a:r>
              <a:rPr lang="ko-KR" altLang="en-US" sz="1050" dirty="0"/>
              <a:t>개정 중</a:t>
            </a:r>
            <a:endParaRPr lang="en-US" altLang="ko-KR" sz="105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A57D30-395C-E3D4-84CA-3CA94F7F669B}"/>
              </a:ext>
            </a:extLst>
          </p:cNvPr>
          <p:cNvSpPr txBox="1"/>
          <p:nvPr/>
        </p:nvSpPr>
        <p:spPr>
          <a:xfrm>
            <a:off x="2531837" y="3701043"/>
            <a:ext cx="2291291" cy="754587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92075" indent="-92075">
              <a:buFont typeface="Arial" panose="020B0604020202020204" pitchFamily="34" charset="0"/>
              <a:buChar char="•"/>
            </a:pPr>
            <a:r>
              <a:rPr lang="en-US" altLang="ko-KR" sz="1050" dirty="0"/>
              <a:t>6</a:t>
            </a:r>
            <a:r>
              <a:rPr lang="ko-KR" altLang="en-US" sz="1050" dirty="0"/>
              <a:t>개 영역 다차원 구조</a:t>
            </a:r>
            <a:endParaRPr lang="en-US" altLang="ko-KR" sz="1050" dirty="0"/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US" altLang="ko-KR" sz="1050" dirty="0"/>
              <a:t>18,796</a:t>
            </a:r>
            <a:r>
              <a:rPr lang="ko-KR" altLang="en-US" sz="1050" dirty="0"/>
              <a:t>개</a:t>
            </a:r>
            <a:r>
              <a:rPr lang="en-US" altLang="ko-KR" sz="1050" dirty="0"/>
              <a:t> Tasks 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1050" dirty="0"/>
              <a:t>가장 포괄적으로 제시되어 있음</a:t>
            </a:r>
            <a:endParaRPr lang="en-US" altLang="ko-KR" sz="105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B654E4D-315C-C0FE-1137-C41EA0476817}"/>
              </a:ext>
            </a:extLst>
          </p:cNvPr>
          <p:cNvSpPr txBox="1"/>
          <p:nvPr/>
        </p:nvSpPr>
        <p:spPr>
          <a:xfrm>
            <a:off x="2531837" y="4697485"/>
            <a:ext cx="2291291" cy="754587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1050" dirty="0"/>
              <a:t>직업 </a:t>
            </a:r>
            <a:r>
              <a:rPr lang="en-US" altLang="ko-KR" sz="1050" dirty="0"/>
              <a:t>+ </a:t>
            </a:r>
            <a:r>
              <a:rPr lang="ko-KR" altLang="en-US" sz="1050" dirty="0"/>
              <a:t>기술 </a:t>
            </a:r>
            <a:r>
              <a:rPr lang="en-US" altLang="ko-KR" sz="1050" dirty="0"/>
              <a:t>+ </a:t>
            </a:r>
            <a:r>
              <a:rPr lang="ko-KR" altLang="en-US" sz="1050" dirty="0"/>
              <a:t>자격 </a:t>
            </a:r>
            <a:r>
              <a:rPr lang="en-US" altLang="ko-KR" sz="1050" dirty="0"/>
              <a:t>3</a:t>
            </a:r>
            <a:r>
              <a:rPr lang="ko-KR" altLang="en-US" sz="1050" dirty="0"/>
              <a:t>축 연계</a:t>
            </a:r>
            <a:endParaRPr lang="en-US" altLang="ko-KR" sz="105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D36F31-4429-7E3D-AF8F-A0CCE6A2DBE7}"/>
              </a:ext>
            </a:extLst>
          </p:cNvPr>
          <p:cNvSpPr txBox="1"/>
          <p:nvPr/>
        </p:nvSpPr>
        <p:spPr>
          <a:xfrm>
            <a:off x="2531837" y="5698601"/>
            <a:ext cx="2291291" cy="754587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1050" dirty="0"/>
              <a:t>기술유형 </a:t>
            </a:r>
            <a:r>
              <a:rPr lang="en-US" altLang="ko-KR" sz="1050" dirty="0"/>
              <a:t>+ </a:t>
            </a:r>
            <a:r>
              <a:rPr lang="ko-KR" altLang="en-US" sz="1050" dirty="0"/>
              <a:t>기술수준 </a:t>
            </a:r>
            <a:r>
              <a:rPr lang="en-US" altLang="ko-KR" sz="1050" dirty="0"/>
              <a:t>2</a:t>
            </a:r>
            <a:r>
              <a:rPr lang="ko-KR" altLang="en-US" sz="1050" dirty="0"/>
              <a:t>차원 분류</a:t>
            </a:r>
            <a:endParaRPr lang="en-US" altLang="ko-KR" sz="10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A30F6C-FE24-3309-E358-B25411A0A898}"/>
              </a:ext>
            </a:extLst>
          </p:cNvPr>
          <p:cNvSpPr txBox="1"/>
          <p:nvPr/>
        </p:nvSpPr>
        <p:spPr>
          <a:xfrm>
            <a:off x="1660207" y="2697480"/>
            <a:ext cx="746760" cy="754587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>
              <a:tabLst>
                <a:tab pos="92075" algn="l"/>
              </a:tabLst>
            </a:pPr>
            <a:r>
              <a:rPr lang="en-US" altLang="ko-KR" sz="1200" dirty="0"/>
              <a:t>436</a:t>
            </a:r>
            <a:r>
              <a:rPr lang="ko-KR" altLang="en-US" sz="1200" dirty="0"/>
              <a:t>개 </a:t>
            </a:r>
            <a:r>
              <a:rPr lang="ko-KR" altLang="en-US" sz="1200" dirty="0" err="1"/>
              <a:t>단위군</a:t>
            </a:r>
            <a:endParaRPr lang="en-US" altLang="ko-KR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A7850F-95F9-BB36-AD35-14B917B0FC14}"/>
              </a:ext>
            </a:extLst>
          </p:cNvPr>
          <p:cNvSpPr txBox="1"/>
          <p:nvPr/>
        </p:nvSpPr>
        <p:spPr>
          <a:xfrm>
            <a:off x="1660207" y="3701043"/>
            <a:ext cx="746760" cy="754587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/>
            <a:r>
              <a:rPr lang="en-US" altLang="ko-KR" sz="1200" dirty="0"/>
              <a:t>1,016</a:t>
            </a:r>
            <a:r>
              <a:rPr lang="ko-KR" altLang="en-US" sz="1200" dirty="0"/>
              <a:t>개</a:t>
            </a:r>
            <a:endParaRPr lang="en-US" altLang="ko-KR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30B9DA-061F-E415-34D8-3C3871D5C0E6}"/>
              </a:ext>
            </a:extLst>
          </p:cNvPr>
          <p:cNvSpPr txBox="1"/>
          <p:nvPr/>
        </p:nvSpPr>
        <p:spPr>
          <a:xfrm>
            <a:off x="1660207" y="4697485"/>
            <a:ext cx="746760" cy="754587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/>
            <a:r>
              <a:rPr lang="en-US" altLang="ko-KR" sz="1200" dirty="0"/>
              <a:t>3,008</a:t>
            </a:r>
            <a:r>
              <a:rPr lang="ko-KR" altLang="en-US" sz="1200" dirty="0"/>
              <a:t>개</a:t>
            </a:r>
            <a:endParaRPr lang="en-US" altLang="ko-KR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E218E2-3FD4-C379-CD46-C52354AB7C7F}"/>
              </a:ext>
            </a:extLst>
          </p:cNvPr>
          <p:cNvSpPr txBox="1"/>
          <p:nvPr/>
        </p:nvSpPr>
        <p:spPr>
          <a:xfrm>
            <a:off x="1660207" y="5698601"/>
            <a:ext cx="746760" cy="754587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/>
            <a:r>
              <a:rPr lang="en-US" altLang="ko-KR" sz="1200" dirty="0"/>
              <a:t>500</a:t>
            </a:r>
            <a:r>
              <a:rPr lang="ko-KR" altLang="en-US" sz="1200" dirty="0"/>
              <a:t>개 </a:t>
            </a:r>
            <a:r>
              <a:rPr lang="ko-KR" altLang="en-US" sz="1200" dirty="0" err="1"/>
              <a:t>세분류</a:t>
            </a:r>
            <a:endParaRPr lang="en-US" altLang="ko-KR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16DBFE0-9581-25BF-3366-3D4516647FA7}"/>
              </a:ext>
            </a:extLst>
          </p:cNvPr>
          <p:cNvSpPr txBox="1"/>
          <p:nvPr/>
        </p:nvSpPr>
        <p:spPr>
          <a:xfrm>
            <a:off x="236537" y="2241550"/>
            <a:ext cx="1298799" cy="280669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구분</a:t>
            </a:r>
            <a:endParaRPr lang="en-US" altLang="ko-KR" sz="11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6268C8-C786-9887-8257-D6631FCCCF3B}"/>
              </a:ext>
            </a:extLst>
          </p:cNvPr>
          <p:cNvSpPr txBox="1"/>
          <p:nvPr/>
        </p:nvSpPr>
        <p:spPr>
          <a:xfrm>
            <a:off x="1660208" y="2241550"/>
            <a:ext cx="746760" cy="280669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직업 수</a:t>
            </a:r>
            <a:endParaRPr lang="en-US" altLang="ko-KR" sz="11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73D6AD-4D61-2CE6-69FA-DB6B7BD6F584}"/>
              </a:ext>
            </a:extLst>
          </p:cNvPr>
          <p:cNvSpPr txBox="1"/>
          <p:nvPr/>
        </p:nvSpPr>
        <p:spPr>
          <a:xfrm>
            <a:off x="2531837" y="2241550"/>
            <a:ext cx="2291291" cy="280669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핵심 특징</a:t>
            </a:r>
            <a:endParaRPr lang="en-US" altLang="ko-KR" sz="11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" name="TextBox 246">
            <a:extLst>
              <a:ext uri="{FF2B5EF4-FFF2-40B4-BE49-F238E27FC236}">
                <a16:creationId xmlns:a16="http://schemas.microsoft.com/office/drawing/2014/main" id="{A856EE9D-CF48-93D0-1E15-FD65EA22A857}"/>
              </a:ext>
            </a:extLst>
          </p:cNvPr>
          <p:cNvSpPr txBox="1"/>
          <p:nvPr/>
        </p:nvSpPr>
        <p:spPr>
          <a:xfrm>
            <a:off x="5083053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국내 직업정보 체계 요약</a:t>
            </a:r>
            <a:endParaRPr lang="en-US" altLang="ko-KR" sz="16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7B95590-99FA-5B4F-521E-1777FCE8E25B}"/>
              </a:ext>
            </a:extLst>
          </p:cNvPr>
          <p:cNvCxnSpPr>
            <a:cxnSpLocks/>
          </p:cNvCxnSpPr>
          <p:nvPr/>
        </p:nvCxnSpPr>
        <p:spPr>
          <a:xfrm>
            <a:off x="5083053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0E40014-5E56-C161-161F-96D8618C88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534865"/>
              </p:ext>
            </p:extLst>
          </p:nvPr>
        </p:nvGraphicFramePr>
        <p:xfrm>
          <a:off x="5057776" y="2241550"/>
          <a:ext cx="4608512" cy="4211640"/>
        </p:xfrm>
        <a:graphic>
          <a:graphicData uri="http://schemas.openxmlformats.org/drawingml/2006/table">
            <a:tbl>
              <a:tblPr/>
              <a:tblGrid>
                <a:gridCol w="1036001">
                  <a:extLst>
                    <a:ext uri="{9D8B030D-6E8A-4147-A177-3AD203B41FA5}">
                      <a16:colId xmlns:a16="http://schemas.microsoft.com/office/drawing/2014/main" val="3675168837"/>
                    </a:ext>
                  </a:extLst>
                </a:gridCol>
                <a:gridCol w="3572511">
                  <a:extLst>
                    <a:ext uri="{9D8B030D-6E8A-4147-A177-3AD203B41FA5}">
                      <a16:colId xmlns:a16="http://schemas.microsoft.com/office/drawing/2014/main" val="2445292385"/>
                    </a:ext>
                  </a:extLst>
                </a:gridCol>
              </a:tblGrid>
              <a:tr h="2720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내용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311988"/>
                  </a:ext>
                </a:extLst>
              </a:tr>
              <a:tr h="65660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KSCO 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한국표준직업분류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indent="-92075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통계청 관리 국가 표준 분류 체계 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92075" marR="0" indent="-92075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직업명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코드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 정의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주요 업무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색인어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등 기본 분류 정보 중심 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92075" marR="0" indent="-92075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한계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: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기술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/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도구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역량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업무환경 등 부가정보 미포함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 설명이 서술형 문장 형태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223882"/>
                  </a:ext>
                </a:extLst>
              </a:tr>
              <a:tr h="65660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KECO 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한국고용직업분류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indent="-92075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한국고용정보원이 고용서비스 목적으로 개발 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92075" marR="0" indent="-92075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 수행 내용의 유사성을 기준으로 분류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(KSCO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는 직능수준 우선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 </a:t>
                      </a:r>
                    </a:p>
                    <a:p>
                      <a:pPr marL="92075" marR="0" indent="-92075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한계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: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직업별 상세 직무정보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역량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도구 등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는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미제공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637839"/>
                  </a:ext>
                </a:extLst>
              </a:tr>
              <a:tr h="65660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워크피디아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고용노동부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lvl="0" indent="-92075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500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여 개 직업에 대해 다차원 정보 통합 제공 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92075" lvl="0" indent="-92075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 수행 내용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교육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자격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임금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일자리 전망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업무특성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전직 가능 직업 등 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92075" lvl="0" indent="-92075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국내 체계 중 가장 풍부한 직업정보 항목 보유 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92075" lvl="0" indent="-92075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한계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: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대상 직업 수가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500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여 개로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KSCO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전체 커버 불가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445202"/>
                  </a:ext>
                </a:extLst>
              </a:tr>
              <a:tr h="65660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한국직업사전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한국고용정보원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indent="-92075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약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6,000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여 개 직무기술서 수록 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92075" marR="0" indent="-92075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부가직업정보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: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정규교육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숙련기간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직무기능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자료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/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사람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/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사물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작업환경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자격 등 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92075" marR="0" indent="-92075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한계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: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직업사전 자체의 구조적 정리가 부족하여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DB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활용에 제한적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175186"/>
                  </a:ext>
                </a:extLst>
              </a:tr>
              <a:tr h="65660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NCS 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국가직무능력표준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lvl="0" indent="-92075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24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대분류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/ 81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중분류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/ 273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소분류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/ 1,100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세분류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92075" lvl="0" indent="-92075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능력단위 기반으로 가장 광범위한 직무정보 보유 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92075" lvl="0" indent="-92075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교육훈련과의 연계가 강점 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92075" lvl="0" indent="-92075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한계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: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직업분류 체계와 직접 연계되어 있지 않아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KSCO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와의 매핑 필요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940275"/>
                  </a:ext>
                </a:extLst>
              </a:tr>
              <a:tr h="65660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KQF/SQF 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국가역량체계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8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 수준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(Level)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의 역량 정의 체계 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KQF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는 학력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자격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훈련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경력을 통합 인정하는 일반적 역량 기준으로 활용되며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산업별 직무역량 맵 제공 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한계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: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현재 모든 직업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산업에 적용되어 있지 않아 선별적 활용 필요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209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0696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5E6B3-AD65-8CC6-F4B6-A9020D01A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8142552-1E6A-D041-B9B0-5F3963F59B1C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Ⅱ.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수행 방안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0" name="텍스트 개체 틀 1">
            <a:extLst>
              <a:ext uri="{FF2B5EF4-FFF2-40B4-BE49-F238E27FC236}">
                <a16:creationId xmlns:a16="http://schemas.microsoft.com/office/drawing/2014/main" id="{F1110D9B-3791-A36D-C760-BF91EAFDDDD9}"/>
              </a:ext>
            </a:extLst>
          </p:cNvPr>
          <p:cNvSpPr txBox="1">
            <a:spLocks/>
          </p:cNvSpPr>
          <p:nvPr/>
        </p:nvSpPr>
        <p:spPr>
          <a:xfrm>
            <a:off x="243781" y="842963"/>
            <a:ext cx="9422507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O*NET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은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6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대 영역에 걸쳐 직업정보를 다차원적으로 구조화하고 있으나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KSCO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는 기본 식별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직무 정의 중심으로 구성되어 대부분의 부가정보 영역이 부재함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F42781-7F72-7267-9376-0D5A7CF92097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44E0A28-4C31-EAA7-D426-00633E09C337}"/>
              </a:ext>
            </a:extLst>
          </p:cNvPr>
          <p:cNvSpPr/>
          <p:nvPr/>
        </p:nvSpPr>
        <p:spPr>
          <a:xfrm>
            <a:off x="-586309" y="5543"/>
            <a:ext cx="439178" cy="1554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3C0C5AE-DCB3-C58C-B3E1-D3E75227194D}"/>
              </a:ext>
            </a:extLst>
          </p:cNvPr>
          <p:cNvSpPr/>
          <p:nvPr/>
        </p:nvSpPr>
        <p:spPr>
          <a:xfrm>
            <a:off x="-507160" y="64182"/>
            <a:ext cx="280880" cy="168544"/>
          </a:xfrm>
          <a:prstGeom prst="rect">
            <a:avLst/>
          </a:prstGeom>
          <a:solidFill>
            <a:srgbClr val="212E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1709662-871E-165B-FE96-94D22C6719D1}"/>
              </a:ext>
            </a:extLst>
          </p:cNvPr>
          <p:cNvSpPr/>
          <p:nvPr/>
        </p:nvSpPr>
        <p:spPr>
          <a:xfrm>
            <a:off x="-507160" y="705014"/>
            <a:ext cx="280880" cy="168544"/>
          </a:xfrm>
          <a:prstGeom prst="rect">
            <a:avLst/>
          </a:prstGeom>
          <a:solidFill>
            <a:srgbClr val="82B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2B85C63-A69E-9C43-F700-A76E22CFEE7A}"/>
              </a:ext>
            </a:extLst>
          </p:cNvPr>
          <p:cNvSpPr/>
          <p:nvPr/>
        </p:nvSpPr>
        <p:spPr>
          <a:xfrm>
            <a:off x="-507160" y="281885"/>
            <a:ext cx="280880" cy="168544"/>
          </a:xfrm>
          <a:prstGeom prst="rect">
            <a:avLst/>
          </a:prstGeom>
          <a:solidFill>
            <a:srgbClr val="3061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697870E-06AF-742F-AD00-038EC1CA4D5A}"/>
              </a:ext>
            </a:extLst>
          </p:cNvPr>
          <p:cNvSpPr/>
          <p:nvPr/>
        </p:nvSpPr>
        <p:spPr>
          <a:xfrm>
            <a:off x="-507160" y="489352"/>
            <a:ext cx="280880" cy="168544"/>
          </a:xfrm>
          <a:prstGeom prst="rect">
            <a:avLst/>
          </a:prstGeom>
          <a:solidFill>
            <a:srgbClr val="DC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596913CB-6168-77BF-A797-4F63E7E9739D}"/>
              </a:ext>
            </a:extLst>
          </p:cNvPr>
          <p:cNvSpPr/>
          <p:nvPr/>
        </p:nvSpPr>
        <p:spPr>
          <a:xfrm>
            <a:off x="-507160" y="914522"/>
            <a:ext cx="280880" cy="168544"/>
          </a:xfrm>
          <a:prstGeom prst="rect">
            <a:avLst/>
          </a:prstGeom>
          <a:solidFill>
            <a:srgbClr val="565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E531446-7F74-8AEC-B18D-DB4C7FDD363A}"/>
              </a:ext>
            </a:extLst>
          </p:cNvPr>
          <p:cNvSpPr/>
          <p:nvPr/>
        </p:nvSpPr>
        <p:spPr>
          <a:xfrm>
            <a:off x="-507160" y="1127107"/>
            <a:ext cx="280880" cy="164042"/>
          </a:xfrm>
          <a:prstGeom prst="rect">
            <a:avLst/>
          </a:prstGeom>
          <a:solidFill>
            <a:srgbClr val="53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AB43D4B-0FA7-EF79-A0F0-8FBB2D389212}"/>
              </a:ext>
            </a:extLst>
          </p:cNvPr>
          <p:cNvSpPr/>
          <p:nvPr/>
        </p:nvSpPr>
        <p:spPr>
          <a:xfrm>
            <a:off x="-507160" y="1335190"/>
            <a:ext cx="280880" cy="16404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150DC383-038C-4A42-2EB9-7A09A7AD9009}"/>
              </a:ext>
            </a:extLst>
          </p:cNvPr>
          <p:cNvSpPr txBox="1"/>
          <p:nvPr/>
        </p:nvSpPr>
        <p:spPr>
          <a:xfrm>
            <a:off x="978778" y="230485"/>
            <a:ext cx="869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국내</a:t>
            </a:r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외</a:t>
            </a:r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사례 분석</a:t>
            </a:r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_O*NET – KSCO </a:t>
            </a:r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구성요소</a:t>
            </a:r>
          </a:p>
        </p:txBody>
      </p:sp>
      <p:sp>
        <p:nvSpPr>
          <p:cNvPr id="8" name="TextBox 246">
            <a:extLst>
              <a:ext uri="{FF2B5EF4-FFF2-40B4-BE49-F238E27FC236}">
                <a16:creationId xmlns:a16="http://schemas.microsoft.com/office/drawing/2014/main" id="{30A27653-B0FC-6033-08CF-0AD17609BF00}"/>
              </a:ext>
            </a:extLst>
          </p:cNvPr>
          <p:cNvSpPr txBox="1"/>
          <p:nvPr/>
        </p:nvSpPr>
        <p:spPr>
          <a:xfrm>
            <a:off x="252858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미국 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O*NET 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콘텐츠 모델 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6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대 영역</a:t>
            </a:r>
            <a:endParaRPr lang="en-US" altLang="ko-KR" sz="16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CC89CAE4-B81B-D558-7640-9A41B3BB5C9A}"/>
              </a:ext>
            </a:extLst>
          </p:cNvPr>
          <p:cNvCxnSpPr>
            <a:cxnSpLocks/>
          </p:cNvCxnSpPr>
          <p:nvPr/>
        </p:nvCxnSpPr>
        <p:spPr>
          <a:xfrm>
            <a:off x="252858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E4BAC9C-B585-B8C8-C39F-18748AED52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23161"/>
              </p:ext>
            </p:extLst>
          </p:nvPr>
        </p:nvGraphicFramePr>
        <p:xfrm>
          <a:off x="227581" y="2241550"/>
          <a:ext cx="9405365" cy="4211639"/>
        </p:xfrm>
        <a:graphic>
          <a:graphicData uri="http://schemas.openxmlformats.org/drawingml/2006/table">
            <a:tbl>
              <a:tblPr/>
              <a:tblGrid>
                <a:gridCol w="1448819">
                  <a:extLst>
                    <a:ext uri="{9D8B030D-6E8A-4147-A177-3AD203B41FA5}">
                      <a16:colId xmlns:a16="http://schemas.microsoft.com/office/drawing/2014/main" val="3675168837"/>
                    </a:ext>
                  </a:extLst>
                </a:gridCol>
                <a:gridCol w="3978273">
                  <a:extLst>
                    <a:ext uri="{9D8B030D-6E8A-4147-A177-3AD203B41FA5}">
                      <a16:colId xmlns:a16="http://schemas.microsoft.com/office/drawing/2014/main" val="2445292385"/>
                    </a:ext>
                  </a:extLst>
                </a:gridCol>
                <a:gridCol w="3978273">
                  <a:extLst>
                    <a:ext uri="{9D8B030D-6E8A-4147-A177-3AD203B41FA5}">
                      <a16:colId xmlns:a16="http://schemas.microsoft.com/office/drawing/2014/main" val="3687230847"/>
                    </a:ext>
                  </a:extLst>
                </a:gridCol>
              </a:tblGrid>
              <a:tr h="26226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1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O*NET</a:t>
                      </a:r>
                      <a:endParaRPr lang="ko-KR" altLang="en-US" sz="11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1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KSCO</a:t>
                      </a:r>
                      <a:endParaRPr lang="ko-KR" altLang="en-US" sz="11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311988"/>
                  </a:ext>
                </a:extLst>
              </a:tr>
              <a:tr h="771362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① 근로자 특성 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(Worker Characteristics)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능력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(Abilities) 52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</a:p>
                    <a:p>
                      <a:pPr marL="171450" marR="0" indent="-17145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직업적 관심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(RIASEC) 6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유형 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171450" marR="0" indent="-17145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 가치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(Work Values) </a:t>
                      </a:r>
                    </a:p>
                    <a:p>
                      <a:pPr marL="171450" marR="0" indent="-17145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업무 스타일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(Work Styles)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해당 없음</a:t>
                      </a:r>
                      <a:endParaRPr lang="en-US" altLang="ko-KR" sz="11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 - KSCO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는 개인의 능력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흥미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가치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업무스타일 등 근로자 특성 정보를 포함하지 않음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223882"/>
                  </a:ext>
                </a:extLst>
              </a:tr>
              <a:tr h="601663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② 근로자 요구사항 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(Worker Requirements)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기술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(Skills) 25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171450" marR="0" indent="-17145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지식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(Knowledge) 33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 분야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171450" marR="0" indent="-17145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교육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(Education)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해당 없음</a:t>
                      </a:r>
                      <a:endParaRPr lang="en-US" altLang="ko-KR" sz="11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 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-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 수행에 필요한 기술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지식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교육수준 등의 정보가 구조화되어 있지 않음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637839"/>
                  </a:ext>
                </a:extLst>
              </a:tr>
              <a:tr h="601663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③ 경력 요구사항 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(Experience Requirements)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업무 경험 및 교육훈련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(Experience and Training)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입직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요건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(Entry Requirements) </a:t>
                      </a:r>
                    </a:p>
                    <a:p>
                      <a:pPr marL="171450" marR="0" indent="-17145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자격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(Licensing)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해당 없음</a:t>
                      </a:r>
                      <a:endParaRPr lang="en-US" altLang="ko-KR" sz="11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 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-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입직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요건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자격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경력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훈련 요구 등의 정보를 별도로 제공하지 않음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445202"/>
                  </a:ext>
                </a:extLst>
              </a:tr>
              <a:tr h="601663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④ 직업 요구사항 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(Occupational Requirements)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업무활동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(GWA 41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),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세부업무활동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(DWA ~2,000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</a:p>
                    <a:p>
                      <a:pPr marL="171450" marR="0" indent="-17145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업무구성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(Work Context)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1200" dirty="0">
                          <a:solidFill>
                            <a:srgbClr val="0000FF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부분 포함 </a:t>
                      </a:r>
                      <a:endParaRPr lang="en-US" altLang="ko-KR" sz="1100" kern="1200" dirty="0">
                        <a:solidFill>
                          <a:srgbClr val="0000FF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 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-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주요 업무내용을 서술형 문장으로 제시하나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GWA·DWA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등 계층적 업무활동 구조는 부재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175186"/>
                  </a:ext>
                </a:extLst>
              </a:tr>
              <a:tr h="601663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⑤ 인력 특성 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(Workforce Characteristics)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노동시장 정보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(Labor Market Information</a:t>
                      </a:r>
                    </a:p>
                    <a:p>
                      <a:pPr marL="171450" lvl="0" indent="-171450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 전망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(Occupational Outlook)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해당 없음</a:t>
                      </a:r>
                      <a:endParaRPr lang="en-US" altLang="ko-KR" sz="1100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lvl="0" indent="0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 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-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노동시장 정보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임금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고용전망 등의 데이터를 포함하지 않음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940275"/>
                  </a:ext>
                </a:extLst>
              </a:tr>
              <a:tr h="771362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⑥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직업특정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정보 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(Occupation-Specific Information)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 개요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(Description)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과업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(Tasks, 18,796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기술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(Technology Skills)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장비 및 도구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(Tools)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rgbClr val="0000FF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부분 포함 </a:t>
                      </a:r>
                      <a:endParaRPr lang="en-US" altLang="ko-KR" sz="1100" kern="1200" dirty="0">
                        <a:solidFill>
                          <a:srgbClr val="0000FF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 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-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 설명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 정의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과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색인어를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제공하나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Tasks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목록이나 도구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기술 정보는 부재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209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2792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E7535-88D8-A7C2-C90A-90B93332E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이등변 삼각형 38">
            <a:extLst>
              <a:ext uri="{FF2B5EF4-FFF2-40B4-BE49-F238E27FC236}">
                <a16:creationId xmlns:a16="http://schemas.microsoft.com/office/drawing/2014/main" id="{C6E11A98-8529-A272-5520-0162D773D3F5}"/>
              </a:ext>
            </a:extLst>
          </p:cNvPr>
          <p:cNvSpPr/>
          <p:nvPr/>
        </p:nvSpPr>
        <p:spPr bwMode="auto">
          <a:xfrm rot="5400000">
            <a:off x="4547232" y="4322536"/>
            <a:ext cx="3750491" cy="165278"/>
          </a:xfrm>
          <a:prstGeom prst="triangle">
            <a:avLst/>
          </a:prstGeom>
          <a:gradFill flip="none" rotWithShape="1">
            <a:gsLst>
              <a:gs pos="0">
                <a:schemeClr val="tx2">
                  <a:lumMod val="10000"/>
                  <a:lumOff val="90000"/>
                </a:schemeClr>
              </a:gs>
              <a:gs pos="77000">
                <a:schemeClr val="tx2">
                  <a:lumMod val="25000"/>
                  <a:lumOff val="75000"/>
                </a:schemeClr>
              </a:gs>
            </a:gsLst>
            <a:lin ang="16200000" scaled="1"/>
            <a:tileRect/>
          </a:gradFill>
          <a:ln w="3175">
            <a:noFill/>
            <a:miter lim="800000"/>
            <a:headEnd/>
            <a:tailEnd/>
          </a:ln>
          <a:effectLst/>
        </p:spPr>
        <p:txBody>
          <a:bodyPr rot="0" spcFirstLastPara="0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algn="ctr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ctr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ctr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ctr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ctr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000" b="1" kern="120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000" b="1" kern="120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000" b="1" kern="120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000" b="1" kern="120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l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kumimoji="0" lang="ko-KR" altLang="en-US" b="0" kern="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D8D75A1-79C6-6E25-7408-9E05997CA897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Ⅱ.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수행 방안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0" name="텍스트 개체 틀 1">
            <a:extLst>
              <a:ext uri="{FF2B5EF4-FFF2-40B4-BE49-F238E27FC236}">
                <a16:creationId xmlns:a16="http://schemas.microsoft.com/office/drawing/2014/main" id="{FCACF35C-EC9B-A255-5193-F0C6A8134D36}"/>
              </a:ext>
            </a:extLst>
          </p:cNvPr>
          <p:cNvSpPr txBox="1">
            <a:spLocks/>
          </p:cNvSpPr>
          <p:nvPr/>
        </p:nvSpPr>
        <p:spPr>
          <a:xfrm>
            <a:off x="243781" y="842963"/>
            <a:ext cx="9422507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국내외 직업정보 구성항목을 비교한 결과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O*NET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만이 거의 전 항목을 포괄하며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국내 체계는 정보가 분산되어 있어 이를 통합할 수 있는 프레임워크 구축이 필요함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" name="TextBox 246">
            <a:extLst>
              <a:ext uri="{FF2B5EF4-FFF2-40B4-BE49-F238E27FC236}">
                <a16:creationId xmlns:a16="http://schemas.microsoft.com/office/drawing/2014/main" id="{671479D0-A5A7-D568-1B9D-C0A952918CB3}"/>
              </a:ext>
            </a:extLst>
          </p:cNvPr>
          <p:cNvSpPr txBox="1"/>
          <p:nvPr/>
        </p:nvSpPr>
        <p:spPr>
          <a:xfrm>
            <a:off x="261816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국내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외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직업정보의 구성 항목 비교분석 결과</a:t>
            </a:r>
            <a:endParaRPr lang="en-US" altLang="ko-KR" sz="16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804FDF42-F756-CC5B-7685-B0EE1F5B87EF}"/>
              </a:ext>
            </a:extLst>
          </p:cNvPr>
          <p:cNvCxnSpPr>
            <a:cxnSpLocks/>
          </p:cNvCxnSpPr>
          <p:nvPr/>
        </p:nvCxnSpPr>
        <p:spPr>
          <a:xfrm>
            <a:off x="261816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ED73DDC-CAF5-73AB-149D-BF77221AB730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A121143-9E6A-5FAC-67D5-FB933B9680DF}"/>
              </a:ext>
            </a:extLst>
          </p:cNvPr>
          <p:cNvSpPr/>
          <p:nvPr/>
        </p:nvSpPr>
        <p:spPr>
          <a:xfrm>
            <a:off x="-586309" y="5543"/>
            <a:ext cx="439178" cy="1554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AD82909-A416-C951-757A-425C57C93CB8}"/>
              </a:ext>
            </a:extLst>
          </p:cNvPr>
          <p:cNvSpPr/>
          <p:nvPr/>
        </p:nvSpPr>
        <p:spPr>
          <a:xfrm>
            <a:off x="-507160" y="64182"/>
            <a:ext cx="280880" cy="168544"/>
          </a:xfrm>
          <a:prstGeom prst="rect">
            <a:avLst/>
          </a:prstGeom>
          <a:solidFill>
            <a:srgbClr val="212E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1F3E4D7-79E4-A616-E277-D8CFDDFDD57B}"/>
              </a:ext>
            </a:extLst>
          </p:cNvPr>
          <p:cNvSpPr/>
          <p:nvPr/>
        </p:nvSpPr>
        <p:spPr>
          <a:xfrm>
            <a:off x="-507160" y="705014"/>
            <a:ext cx="280880" cy="168544"/>
          </a:xfrm>
          <a:prstGeom prst="rect">
            <a:avLst/>
          </a:prstGeom>
          <a:solidFill>
            <a:srgbClr val="82B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A5A9D5F-0CA6-A61C-FFA0-DA9EF039A080}"/>
              </a:ext>
            </a:extLst>
          </p:cNvPr>
          <p:cNvSpPr/>
          <p:nvPr/>
        </p:nvSpPr>
        <p:spPr>
          <a:xfrm>
            <a:off x="-507160" y="281885"/>
            <a:ext cx="280880" cy="168544"/>
          </a:xfrm>
          <a:prstGeom prst="rect">
            <a:avLst/>
          </a:prstGeom>
          <a:solidFill>
            <a:srgbClr val="3061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C3B10F2-EE4D-777B-881D-3EED4BB954A8}"/>
              </a:ext>
            </a:extLst>
          </p:cNvPr>
          <p:cNvSpPr/>
          <p:nvPr/>
        </p:nvSpPr>
        <p:spPr>
          <a:xfrm>
            <a:off x="-507160" y="489352"/>
            <a:ext cx="280880" cy="168544"/>
          </a:xfrm>
          <a:prstGeom prst="rect">
            <a:avLst/>
          </a:prstGeom>
          <a:solidFill>
            <a:srgbClr val="DC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E69FBFB-9159-2077-604E-66AFCB451519}"/>
              </a:ext>
            </a:extLst>
          </p:cNvPr>
          <p:cNvSpPr/>
          <p:nvPr/>
        </p:nvSpPr>
        <p:spPr>
          <a:xfrm>
            <a:off x="-507160" y="914522"/>
            <a:ext cx="280880" cy="168544"/>
          </a:xfrm>
          <a:prstGeom prst="rect">
            <a:avLst/>
          </a:prstGeom>
          <a:solidFill>
            <a:srgbClr val="565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660BCDBB-D6A8-044B-7E51-611D48A56E29}"/>
              </a:ext>
            </a:extLst>
          </p:cNvPr>
          <p:cNvSpPr/>
          <p:nvPr/>
        </p:nvSpPr>
        <p:spPr>
          <a:xfrm>
            <a:off x="-507160" y="1127107"/>
            <a:ext cx="280880" cy="164042"/>
          </a:xfrm>
          <a:prstGeom prst="rect">
            <a:avLst/>
          </a:prstGeom>
          <a:solidFill>
            <a:srgbClr val="53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0BD6F98-588F-CD70-10B2-1D9DAC1A5938}"/>
              </a:ext>
            </a:extLst>
          </p:cNvPr>
          <p:cNvSpPr/>
          <p:nvPr/>
        </p:nvSpPr>
        <p:spPr>
          <a:xfrm>
            <a:off x="-507160" y="1335190"/>
            <a:ext cx="280880" cy="16404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B95490AF-781F-F8C9-DBCA-7377EE763F8F}"/>
              </a:ext>
            </a:extLst>
          </p:cNvPr>
          <p:cNvSpPr txBox="1"/>
          <p:nvPr/>
        </p:nvSpPr>
        <p:spPr>
          <a:xfrm>
            <a:off x="978778" y="230485"/>
            <a:ext cx="869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국내</a:t>
            </a:r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외</a:t>
            </a:r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사례 분석</a:t>
            </a:r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_</a:t>
            </a:r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국내</a:t>
            </a:r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외</a:t>
            </a:r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직업정보 구성항목 비교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B41E2E4-0428-271B-9B6D-E6AF32FA20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076563"/>
              </p:ext>
            </p:extLst>
          </p:nvPr>
        </p:nvGraphicFramePr>
        <p:xfrm>
          <a:off x="236538" y="2241551"/>
          <a:ext cx="6053946" cy="4215772"/>
        </p:xfrm>
        <a:graphic>
          <a:graphicData uri="http://schemas.openxmlformats.org/drawingml/2006/table">
            <a:tbl>
              <a:tblPr/>
              <a:tblGrid>
                <a:gridCol w="649287">
                  <a:extLst>
                    <a:ext uri="{9D8B030D-6E8A-4147-A177-3AD203B41FA5}">
                      <a16:colId xmlns:a16="http://schemas.microsoft.com/office/drawing/2014/main" val="1494705636"/>
                    </a:ext>
                  </a:extLst>
                </a:gridCol>
                <a:gridCol w="1264642">
                  <a:extLst>
                    <a:ext uri="{9D8B030D-6E8A-4147-A177-3AD203B41FA5}">
                      <a16:colId xmlns:a16="http://schemas.microsoft.com/office/drawing/2014/main" val="757021707"/>
                    </a:ext>
                  </a:extLst>
                </a:gridCol>
                <a:gridCol w="591431">
                  <a:extLst>
                    <a:ext uri="{9D8B030D-6E8A-4147-A177-3AD203B41FA5}">
                      <a16:colId xmlns:a16="http://schemas.microsoft.com/office/drawing/2014/main" val="2058490667"/>
                    </a:ext>
                  </a:extLst>
                </a:gridCol>
                <a:gridCol w="591431">
                  <a:extLst>
                    <a:ext uri="{9D8B030D-6E8A-4147-A177-3AD203B41FA5}">
                      <a16:colId xmlns:a16="http://schemas.microsoft.com/office/drawing/2014/main" val="1288559940"/>
                    </a:ext>
                  </a:extLst>
                </a:gridCol>
                <a:gridCol w="591431">
                  <a:extLst>
                    <a:ext uri="{9D8B030D-6E8A-4147-A177-3AD203B41FA5}">
                      <a16:colId xmlns:a16="http://schemas.microsoft.com/office/drawing/2014/main" val="2592506821"/>
                    </a:ext>
                  </a:extLst>
                </a:gridCol>
                <a:gridCol w="591431">
                  <a:extLst>
                    <a:ext uri="{9D8B030D-6E8A-4147-A177-3AD203B41FA5}">
                      <a16:colId xmlns:a16="http://schemas.microsoft.com/office/drawing/2014/main" val="939396511"/>
                    </a:ext>
                  </a:extLst>
                </a:gridCol>
                <a:gridCol w="591431">
                  <a:extLst>
                    <a:ext uri="{9D8B030D-6E8A-4147-A177-3AD203B41FA5}">
                      <a16:colId xmlns:a16="http://schemas.microsoft.com/office/drawing/2014/main" val="3282244820"/>
                    </a:ext>
                  </a:extLst>
                </a:gridCol>
                <a:gridCol w="591431">
                  <a:extLst>
                    <a:ext uri="{9D8B030D-6E8A-4147-A177-3AD203B41FA5}">
                      <a16:colId xmlns:a16="http://schemas.microsoft.com/office/drawing/2014/main" val="1883899807"/>
                    </a:ext>
                  </a:extLst>
                </a:gridCol>
                <a:gridCol w="591431">
                  <a:extLst>
                    <a:ext uri="{9D8B030D-6E8A-4147-A177-3AD203B41FA5}">
                      <a16:colId xmlns:a16="http://schemas.microsoft.com/office/drawing/2014/main" val="1683284982"/>
                    </a:ext>
                  </a:extLst>
                </a:gridCol>
              </a:tblGrid>
              <a:tr h="168326">
                <a:tc rowSpan="2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구분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해외 직업정보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국내 직업정보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468295"/>
                  </a:ext>
                </a:extLst>
              </a:tr>
              <a:tr h="2896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8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O*NET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8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ISCO-08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8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KSCO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8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KECO/</a:t>
                      </a:r>
                      <a:r>
                        <a:rPr lang="ko-KR" altLang="en-US" sz="8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취업알선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kern="1200" dirty="0" err="1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임금직업포털</a:t>
                      </a:r>
                      <a:endParaRPr lang="ko-KR" altLang="en-US" sz="800" kern="1200" dirty="0">
                        <a:solidFill>
                          <a:schemeClr val="bg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kern="120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한국직업사전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800" kern="120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NCS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8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KQF/SQF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130398"/>
                  </a:ext>
                </a:extLst>
              </a:tr>
              <a:tr h="260632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기본 식별 정보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(KECO 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기반 일련번호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  <a:endParaRPr lang="ko-KR" altLang="en-US" sz="700" kern="120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○(NCS 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코드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  <a:endParaRPr lang="ko-KR" altLang="en-US" sz="700" kern="120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601497"/>
                  </a:ext>
                </a:extLst>
              </a:tr>
              <a:tr h="260632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 정의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5154387"/>
                  </a:ext>
                </a:extLst>
              </a:tr>
              <a:tr h="260632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주요 업무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Task)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(18,796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  <a:endParaRPr lang="ko-KR" altLang="en-US" sz="700" kern="120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능력단위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능력단위 요소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  <a:endParaRPr lang="ko-KR" altLang="en-US" sz="7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능력단위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  <a:endParaRPr lang="ko-KR" altLang="en-US" sz="700" kern="120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4050579"/>
                  </a:ext>
                </a:extLst>
              </a:tr>
              <a:tr h="260632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 예시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○(Alternate Titles)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관련명칭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/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관련직업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  <a:endParaRPr lang="ko-KR" altLang="en-US" sz="700" kern="120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626379"/>
                  </a:ext>
                </a:extLst>
              </a:tr>
              <a:tr h="260632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분류 보조 정보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70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색인어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  <a:endParaRPr lang="ko-KR" altLang="en-US" sz="7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△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관심 태그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  <a:endParaRPr lang="ko-KR" altLang="en-US" sz="700" kern="120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유사명칭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  <a:endParaRPr lang="ko-KR" altLang="en-US" sz="700" kern="120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423134"/>
                  </a:ext>
                </a:extLst>
              </a:tr>
              <a:tr h="260632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분류 시 유의사항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860891"/>
                  </a:ext>
                </a:extLst>
              </a:tr>
              <a:tr h="365454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연계 코드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X(SOC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기반 체계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  <a:endParaRPr lang="ko-KR" altLang="en-US" sz="7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구차수 연계코드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  <a:endParaRPr lang="ko-KR" altLang="en-US" sz="700" kern="120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○(KSCO)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○(KSCO, KSIC, KECO)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997665"/>
                  </a:ext>
                </a:extLst>
              </a:tr>
              <a:tr h="260632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기술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/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도구 정보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○(Technology Skills, Tools)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404071"/>
                  </a:ext>
                </a:extLst>
              </a:tr>
              <a:tr h="260632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역량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/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능력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/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지식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○(Abilities, Skills, Knowledge)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△(D.P.T)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△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지식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기술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태도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  <a:endParaRPr lang="ko-KR" altLang="en-US" sz="700" kern="120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6355345"/>
                  </a:ext>
                </a:extLst>
              </a:tr>
              <a:tr h="260632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학력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/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전공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/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자격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○(Education, Licensing)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정규교육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  <a:endParaRPr lang="ko-KR" altLang="en-US" sz="700" kern="120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△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관련 기초능력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  <a:endParaRPr lang="ko-KR" altLang="en-US" sz="700" kern="120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281056"/>
                  </a:ext>
                </a:extLst>
              </a:tr>
              <a:tr h="260632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업무환경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/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성격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/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가치관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○(Work Context, Styles, Values)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△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강도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장소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환경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  <a:endParaRPr lang="ko-KR" altLang="en-US" sz="7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948316"/>
                  </a:ext>
                </a:extLst>
              </a:tr>
              <a:tr h="260632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임금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○(BLS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연계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</a:t>
                      </a:r>
                      <a:endParaRPr lang="ko-KR" altLang="en-US" sz="7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609960"/>
                  </a:ext>
                </a:extLst>
              </a:tr>
              <a:tr h="260632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채용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/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훈련 정보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△(Experience Requirements)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87595"/>
                  </a:ext>
                </a:extLst>
              </a:tr>
              <a:tr h="260632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일자리 전망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○(Occupational Outlook)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○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X</a:t>
                      </a:r>
                    </a:p>
                  </a:txBody>
                  <a:tcPr marL="47253" marR="47253" marT="23626" marB="2362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864705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3A7E6801-D809-AE7D-C496-5CAD67B1D59F}"/>
              </a:ext>
            </a:extLst>
          </p:cNvPr>
          <p:cNvSpPr txBox="1"/>
          <p:nvPr/>
        </p:nvSpPr>
        <p:spPr>
          <a:xfrm>
            <a:off x="6554470" y="2475616"/>
            <a:ext cx="3078480" cy="288289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 defTabSz="804838">
              <a:lnSpc>
                <a:spcPct val="130000"/>
              </a:lnSpc>
              <a:defRPr/>
            </a:pPr>
            <a:r>
              <a:rPr lang="ko-KR" altLang="en-US" sz="14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적용방안 </a:t>
            </a:r>
            <a:r>
              <a:rPr lang="en-US" altLang="ko-KR" sz="14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1. </a:t>
            </a:r>
            <a:r>
              <a:rPr lang="ko-KR" altLang="en-US" sz="14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주요 업무</a:t>
            </a:r>
            <a:r>
              <a:rPr lang="en-US" altLang="ko-KR" sz="14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(Tasks) </a:t>
            </a:r>
            <a:r>
              <a:rPr lang="ko-KR" altLang="en-US" sz="14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최신화</a:t>
            </a:r>
            <a:r>
              <a:rPr lang="en-US" altLang="ko-KR" sz="14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4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보강 </a:t>
            </a:r>
            <a:endParaRPr lang="en-US" altLang="ko-KR" sz="1400" kern="0" spc="-41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412F7BD-4F9E-60F6-8FF7-640815D3AD1A}"/>
              </a:ext>
            </a:extLst>
          </p:cNvPr>
          <p:cNvSpPr txBox="1"/>
          <p:nvPr/>
        </p:nvSpPr>
        <p:spPr>
          <a:xfrm>
            <a:off x="6554471" y="2841957"/>
            <a:ext cx="3078480" cy="1259825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92075" indent="-92075">
              <a:buFont typeface="Arial" panose="020B0604020202020204" pitchFamily="34" charset="0"/>
              <a:buChar char="•"/>
            </a:pPr>
            <a:r>
              <a:rPr lang="en-US" altLang="ko-KR" sz="1200" dirty="0"/>
              <a:t>ISCO Tasks, O*NET 18,796</a:t>
            </a:r>
            <a:r>
              <a:rPr lang="ko-KR" altLang="en-US" sz="1200" dirty="0"/>
              <a:t>개</a:t>
            </a:r>
            <a:r>
              <a:rPr lang="en-US" altLang="ko-KR" sz="1200" dirty="0"/>
              <a:t>, </a:t>
            </a:r>
            <a:r>
              <a:rPr lang="ko-KR" altLang="en-US" sz="1200" dirty="0"/>
              <a:t>한국직업사전 </a:t>
            </a:r>
            <a:r>
              <a:rPr lang="en-US" altLang="ko-KR" sz="1200" dirty="0"/>
              <a:t>6,000</a:t>
            </a:r>
            <a:r>
              <a:rPr lang="ko-KR" altLang="en-US" sz="1200" dirty="0"/>
              <a:t>여 개</a:t>
            </a:r>
            <a:r>
              <a:rPr lang="en-US" altLang="ko-KR" sz="1200" dirty="0"/>
              <a:t>, NCS </a:t>
            </a:r>
            <a:r>
              <a:rPr lang="ko-KR" altLang="en-US" sz="1200" dirty="0"/>
              <a:t>능력단위 활용 </a:t>
            </a:r>
            <a:endParaRPr lang="en-US" altLang="ko-KR" sz="1200" dirty="0"/>
          </a:p>
          <a:p>
            <a:pPr marL="92075" indent="-92075"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r>
              <a:rPr lang="ko-KR" altLang="en-US" sz="1200" dirty="0">
                <a:solidFill>
                  <a:srgbClr val="0000CC"/>
                </a:solidFill>
              </a:rPr>
              <a:t>→ 업무</a:t>
            </a:r>
            <a:r>
              <a:rPr lang="en-US" altLang="ko-KR" sz="1200" dirty="0">
                <a:solidFill>
                  <a:srgbClr val="0000CC"/>
                </a:solidFill>
              </a:rPr>
              <a:t>(Work Activities) </a:t>
            </a:r>
            <a:r>
              <a:rPr lang="ko-KR" altLang="en-US" sz="1200" dirty="0">
                <a:solidFill>
                  <a:srgbClr val="0000CC"/>
                </a:solidFill>
              </a:rPr>
              <a:t>차원의 근거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7793E97-9ACF-8CC3-E1B0-9012576CEDCF}"/>
              </a:ext>
            </a:extLst>
          </p:cNvPr>
          <p:cNvSpPr txBox="1"/>
          <p:nvPr/>
        </p:nvSpPr>
        <p:spPr>
          <a:xfrm>
            <a:off x="6554470" y="4430524"/>
            <a:ext cx="3078480" cy="288289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 defTabSz="804838">
              <a:lnSpc>
                <a:spcPct val="130000"/>
              </a:lnSpc>
              <a:defRPr/>
            </a:pPr>
            <a:r>
              <a:rPr lang="ko-KR" altLang="en-US" sz="14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적용방안 </a:t>
            </a:r>
            <a:r>
              <a:rPr lang="en-US" altLang="ko-KR" sz="14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2. </a:t>
            </a:r>
            <a:r>
              <a:rPr lang="ko-KR" altLang="en-US" sz="1400" kern="0" spc="-41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부가정보 보강 </a:t>
            </a:r>
            <a:endParaRPr lang="en-US" altLang="ko-KR" sz="1400" kern="0" spc="-41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4DA86F-DFCC-ABBC-2408-2EC6F625DD41}"/>
              </a:ext>
            </a:extLst>
          </p:cNvPr>
          <p:cNvSpPr txBox="1"/>
          <p:nvPr/>
        </p:nvSpPr>
        <p:spPr>
          <a:xfrm>
            <a:off x="6554471" y="4796865"/>
            <a:ext cx="3078480" cy="1660458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1200" dirty="0" err="1"/>
              <a:t>워크피디아</a:t>
            </a:r>
            <a:r>
              <a:rPr lang="ko-KR" altLang="en-US" sz="1200" dirty="0"/>
              <a:t> 다차원 정보 </a:t>
            </a:r>
            <a:r>
              <a:rPr lang="en-US" altLang="ko-KR" sz="1200" dirty="0"/>
              <a:t>+ KNOW </a:t>
            </a:r>
            <a:r>
              <a:rPr lang="ko-KR" altLang="en-US" sz="1200" dirty="0"/>
              <a:t>숙련도</a:t>
            </a:r>
            <a:r>
              <a:rPr lang="en-US" altLang="ko-KR" sz="1200" dirty="0"/>
              <a:t>·</a:t>
            </a:r>
            <a:r>
              <a:rPr lang="ko-KR" altLang="en-US" sz="1200" dirty="0"/>
              <a:t>중요도 데이터를 </a:t>
            </a:r>
            <a:r>
              <a:rPr lang="en-US" altLang="ko-KR" sz="1200" dirty="0"/>
              <a:t>KSCO</a:t>
            </a:r>
            <a:r>
              <a:rPr lang="ko-KR" altLang="en-US" sz="1200" dirty="0"/>
              <a:t>와 연계 </a:t>
            </a:r>
            <a:endParaRPr lang="en-US" altLang="ko-KR" sz="1200" dirty="0"/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US" altLang="ko-KR" sz="1200" dirty="0"/>
              <a:t>KQF/SQF </a:t>
            </a:r>
            <a:r>
              <a:rPr lang="ko-KR" altLang="en-US" sz="1200" dirty="0"/>
              <a:t>수준별 정의 구조를 역량 수준 연계 형태로 설계</a:t>
            </a:r>
            <a:r>
              <a:rPr lang="en-US" altLang="ko-KR" sz="1200" dirty="0"/>
              <a:t>(</a:t>
            </a:r>
            <a:r>
              <a:rPr lang="ko-KR" altLang="en-US" sz="1200" dirty="0"/>
              <a:t>개발 완료 분야 중심 선별 적용</a:t>
            </a:r>
            <a:r>
              <a:rPr lang="en-US" altLang="ko-KR" sz="1200" dirty="0"/>
              <a:t>)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r>
              <a:rPr lang="ko-KR" altLang="en-US" sz="1200" dirty="0">
                <a:solidFill>
                  <a:srgbClr val="0000CC"/>
                </a:solidFill>
              </a:rPr>
              <a:t>→ 지식</a:t>
            </a:r>
            <a:r>
              <a:rPr lang="en-US" altLang="ko-KR" sz="1200" dirty="0">
                <a:solidFill>
                  <a:srgbClr val="0000CC"/>
                </a:solidFill>
              </a:rPr>
              <a:t>·</a:t>
            </a:r>
            <a:r>
              <a:rPr lang="ko-KR" altLang="en-US" sz="1200" dirty="0">
                <a:solidFill>
                  <a:srgbClr val="0000CC"/>
                </a:solidFill>
              </a:rPr>
              <a:t>기술</a:t>
            </a:r>
            <a:r>
              <a:rPr lang="en-US" altLang="ko-KR" sz="1200" dirty="0">
                <a:solidFill>
                  <a:srgbClr val="0000CC"/>
                </a:solidFill>
              </a:rPr>
              <a:t>·</a:t>
            </a:r>
            <a:r>
              <a:rPr lang="ko-KR" altLang="en-US" sz="1200" dirty="0">
                <a:solidFill>
                  <a:srgbClr val="0000CC"/>
                </a:solidFill>
              </a:rPr>
              <a:t>능력</a:t>
            </a:r>
            <a:r>
              <a:rPr lang="en-US" altLang="ko-KR" sz="1200" dirty="0">
                <a:solidFill>
                  <a:srgbClr val="0000CC"/>
                </a:solidFill>
              </a:rPr>
              <a:t>·</a:t>
            </a:r>
            <a:r>
              <a:rPr lang="ko-KR" altLang="en-US" sz="1200" dirty="0">
                <a:solidFill>
                  <a:srgbClr val="0000CC"/>
                </a:solidFill>
              </a:rPr>
              <a:t>도구</a:t>
            </a:r>
            <a:r>
              <a:rPr lang="en-US" altLang="ko-KR" sz="1200" dirty="0">
                <a:solidFill>
                  <a:srgbClr val="0000CC"/>
                </a:solidFill>
              </a:rPr>
              <a:t>·</a:t>
            </a:r>
            <a:r>
              <a:rPr lang="ko-KR" altLang="en-US" sz="1200" dirty="0">
                <a:solidFill>
                  <a:srgbClr val="0000CC"/>
                </a:solidFill>
              </a:rPr>
              <a:t>환경 차원의 근거</a:t>
            </a:r>
          </a:p>
        </p:txBody>
      </p:sp>
    </p:spTree>
    <p:extLst>
      <p:ext uri="{BB962C8B-B14F-4D97-AF65-F5344CB8AC3E}">
        <p14:creationId xmlns:p14="http://schemas.microsoft.com/office/powerpoint/2010/main" val="3268203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2CA75-BEA4-8C01-0253-AAEBE794A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115CABD-47F7-FFC7-F07E-A4E23DE63531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Ⅱ.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수행 방안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0" name="텍스트 개체 틀 1">
            <a:extLst>
              <a:ext uri="{FF2B5EF4-FFF2-40B4-BE49-F238E27FC236}">
                <a16:creationId xmlns:a16="http://schemas.microsoft.com/office/drawing/2014/main" id="{2DC139A1-9835-7B8F-B76E-995BD777E06F}"/>
              </a:ext>
            </a:extLst>
          </p:cNvPr>
          <p:cNvSpPr txBox="1">
            <a:spLocks/>
          </p:cNvSpPr>
          <p:nvPr/>
        </p:nvSpPr>
        <p:spPr>
          <a:xfrm>
            <a:off x="243781" y="842963"/>
            <a:ext cx="9422507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국내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외 직업정보 활용 특성을 종합적으로 검토하여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지식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기술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능력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도구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환경의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6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대 차원으로 구성된 </a:t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한국형 직능유형 프레임워크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안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을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다음과 같이 제안함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" name="TextBox 246">
            <a:extLst>
              <a:ext uri="{FF2B5EF4-FFF2-40B4-BE49-F238E27FC236}">
                <a16:creationId xmlns:a16="http://schemas.microsoft.com/office/drawing/2014/main" id="{355EC60A-FC1D-C426-B60C-C1330C5718B9}"/>
              </a:ext>
            </a:extLst>
          </p:cNvPr>
          <p:cNvSpPr txBox="1"/>
          <p:nvPr/>
        </p:nvSpPr>
        <p:spPr>
          <a:xfrm>
            <a:off x="261816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한국형 직능유형 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6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대 차원 프레임워크 설계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안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)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2CABF7B6-B8C7-4617-9D21-DBB640F0F8AE}"/>
              </a:ext>
            </a:extLst>
          </p:cNvPr>
          <p:cNvCxnSpPr>
            <a:cxnSpLocks/>
          </p:cNvCxnSpPr>
          <p:nvPr/>
        </p:nvCxnSpPr>
        <p:spPr>
          <a:xfrm>
            <a:off x="261816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855C5CF-94E4-1CA0-EA2F-03E53819B380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03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0E7CCC3-BABE-4C11-E0CE-E068F120661B}"/>
              </a:ext>
            </a:extLst>
          </p:cNvPr>
          <p:cNvSpPr/>
          <p:nvPr/>
        </p:nvSpPr>
        <p:spPr>
          <a:xfrm>
            <a:off x="-586309" y="5543"/>
            <a:ext cx="439178" cy="1554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0038760-2A06-08E0-2C40-F681AED5465A}"/>
              </a:ext>
            </a:extLst>
          </p:cNvPr>
          <p:cNvSpPr/>
          <p:nvPr/>
        </p:nvSpPr>
        <p:spPr>
          <a:xfrm>
            <a:off x="-507160" y="64182"/>
            <a:ext cx="280880" cy="168544"/>
          </a:xfrm>
          <a:prstGeom prst="rect">
            <a:avLst/>
          </a:prstGeom>
          <a:solidFill>
            <a:srgbClr val="212E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8228EAC-7D58-9AED-E579-3E8C8DE90D3C}"/>
              </a:ext>
            </a:extLst>
          </p:cNvPr>
          <p:cNvSpPr/>
          <p:nvPr/>
        </p:nvSpPr>
        <p:spPr>
          <a:xfrm>
            <a:off x="-507160" y="705014"/>
            <a:ext cx="280880" cy="168544"/>
          </a:xfrm>
          <a:prstGeom prst="rect">
            <a:avLst/>
          </a:prstGeom>
          <a:solidFill>
            <a:srgbClr val="82B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2828919B-A165-9CE6-244D-9C4D9A8DE0D9}"/>
              </a:ext>
            </a:extLst>
          </p:cNvPr>
          <p:cNvSpPr/>
          <p:nvPr/>
        </p:nvSpPr>
        <p:spPr>
          <a:xfrm>
            <a:off x="-507160" y="281885"/>
            <a:ext cx="280880" cy="168544"/>
          </a:xfrm>
          <a:prstGeom prst="rect">
            <a:avLst/>
          </a:prstGeom>
          <a:solidFill>
            <a:srgbClr val="3061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57AE67C-CCE0-9F82-50B7-BD8F1E1609BB}"/>
              </a:ext>
            </a:extLst>
          </p:cNvPr>
          <p:cNvSpPr/>
          <p:nvPr/>
        </p:nvSpPr>
        <p:spPr>
          <a:xfrm>
            <a:off x="-507160" y="489352"/>
            <a:ext cx="280880" cy="168544"/>
          </a:xfrm>
          <a:prstGeom prst="rect">
            <a:avLst/>
          </a:prstGeom>
          <a:solidFill>
            <a:srgbClr val="DC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1B166E3-53E8-01EA-4793-9EF6BCBFD870}"/>
              </a:ext>
            </a:extLst>
          </p:cNvPr>
          <p:cNvSpPr/>
          <p:nvPr/>
        </p:nvSpPr>
        <p:spPr>
          <a:xfrm>
            <a:off x="-507160" y="914522"/>
            <a:ext cx="280880" cy="168544"/>
          </a:xfrm>
          <a:prstGeom prst="rect">
            <a:avLst/>
          </a:prstGeom>
          <a:solidFill>
            <a:srgbClr val="565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0FA8B94-1965-F6BB-C1F2-2777516AA56F}"/>
              </a:ext>
            </a:extLst>
          </p:cNvPr>
          <p:cNvSpPr/>
          <p:nvPr/>
        </p:nvSpPr>
        <p:spPr>
          <a:xfrm>
            <a:off x="-507160" y="1127107"/>
            <a:ext cx="280880" cy="164042"/>
          </a:xfrm>
          <a:prstGeom prst="rect">
            <a:avLst/>
          </a:prstGeom>
          <a:solidFill>
            <a:srgbClr val="53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35CF43F-A8BE-4C8F-6126-9A323FF8219D}"/>
              </a:ext>
            </a:extLst>
          </p:cNvPr>
          <p:cNvSpPr/>
          <p:nvPr/>
        </p:nvSpPr>
        <p:spPr>
          <a:xfrm>
            <a:off x="-507160" y="1335190"/>
            <a:ext cx="280880" cy="16404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7CB15633-9583-70F3-F952-8BA37AF77572}"/>
              </a:ext>
            </a:extLst>
          </p:cNvPr>
          <p:cNvSpPr txBox="1"/>
          <p:nvPr/>
        </p:nvSpPr>
        <p:spPr>
          <a:xfrm>
            <a:off x="978778" y="230485"/>
            <a:ext cx="869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한국직업분류 고도화 구조적 틀 마련</a:t>
            </a:r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_</a:t>
            </a:r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프레임워크 설계</a:t>
            </a:r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(</a:t>
            </a:r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안</a:t>
            </a:r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)</a:t>
            </a:r>
            <a:endParaRPr lang="ko-KR" altLang="en-US" sz="2400" dirty="0">
              <a:solidFill>
                <a:srgbClr val="004193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C6228C-50E1-2A02-95B4-576126BDCC86}"/>
              </a:ext>
            </a:extLst>
          </p:cNvPr>
          <p:cNvSpPr txBox="1"/>
          <p:nvPr/>
        </p:nvSpPr>
        <p:spPr>
          <a:xfrm>
            <a:off x="236538" y="2241550"/>
            <a:ext cx="1363662" cy="280669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2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구분</a:t>
            </a:r>
            <a:endParaRPr lang="en-US" altLang="ko-KR" sz="12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262DCFF-E8C8-A997-14F2-496A09B54C26}"/>
              </a:ext>
            </a:extLst>
          </p:cNvPr>
          <p:cNvSpPr txBox="1"/>
          <p:nvPr/>
        </p:nvSpPr>
        <p:spPr>
          <a:xfrm>
            <a:off x="5911831" y="2241550"/>
            <a:ext cx="3721119" cy="280669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2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세부 예시</a:t>
            </a:r>
            <a:endParaRPr lang="en-US" altLang="ko-KR" sz="12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B12BCE-1848-11AD-12AB-727981622687}"/>
              </a:ext>
            </a:extLst>
          </p:cNvPr>
          <p:cNvSpPr txBox="1"/>
          <p:nvPr/>
        </p:nvSpPr>
        <p:spPr>
          <a:xfrm>
            <a:off x="1854205" y="2241550"/>
            <a:ext cx="3721119" cy="280669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2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정의</a:t>
            </a:r>
            <a:endParaRPr lang="en-US" altLang="ko-KR" sz="12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D03566-ED16-4B28-D400-F5F2F13AD8EB}"/>
              </a:ext>
            </a:extLst>
          </p:cNvPr>
          <p:cNvSpPr txBox="1"/>
          <p:nvPr/>
        </p:nvSpPr>
        <p:spPr>
          <a:xfrm>
            <a:off x="236538" y="2607725"/>
            <a:ext cx="1363662" cy="356991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buNone/>
            </a:pPr>
            <a:r>
              <a:rPr lang="ko-KR" altLang="en-US" sz="1200" dirty="0">
                <a:latin typeface="페이퍼로지 5 Medium" pitchFamily="2" charset="-127"/>
                <a:ea typeface="페이퍼로지 5 Medium" pitchFamily="2" charset="-127"/>
              </a:rPr>
              <a:t>업무 </a:t>
            </a:r>
            <a:endParaRPr lang="en-US" altLang="ko-KR" sz="1200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buNone/>
            </a:pPr>
            <a:r>
              <a:rPr lang="en-US" altLang="ko-KR" sz="1200" dirty="0">
                <a:latin typeface="페이퍼로지 5 Medium" pitchFamily="2" charset="-127"/>
                <a:ea typeface="페이퍼로지 5 Medium" pitchFamily="2" charset="-127"/>
              </a:rPr>
              <a:t>(Work Activities)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A278FB-E123-7AE7-4957-5C041CA177E6}"/>
              </a:ext>
            </a:extLst>
          </p:cNvPr>
          <p:cNvSpPr txBox="1"/>
          <p:nvPr/>
        </p:nvSpPr>
        <p:spPr>
          <a:xfrm>
            <a:off x="236538" y="3081039"/>
            <a:ext cx="1363662" cy="356991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buNone/>
            </a:pPr>
            <a:r>
              <a:rPr lang="ko-KR" altLang="en-US" sz="1200" dirty="0">
                <a:latin typeface="페이퍼로지 5 Medium" pitchFamily="2" charset="-127"/>
                <a:ea typeface="페이퍼로지 5 Medium" pitchFamily="2" charset="-127"/>
              </a:rPr>
              <a:t>지식 </a:t>
            </a:r>
            <a:r>
              <a:rPr lang="en-US" altLang="ko-KR" sz="1200" dirty="0">
                <a:latin typeface="페이퍼로지 5 Medium" pitchFamily="2" charset="-127"/>
                <a:ea typeface="페이퍼로지 5 Medium" pitchFamily="2" charset="-127"/>
              </a:rPr>
              <a:t>(Knowledge)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5C3BC0-F8D2-0DFB-8BB3-14D12DC4C5E0}"/>
              </a:ext>
            </a:extLst>
          </p:cNvPr>
          <p:cNvSpPr txBox="1"/>
          <p:nvPr/>
        </p:nvSpPr>
        <p:spPr>
          <a:xfrm>
            <a:off x="236538" y="3556213"/>
            <a:ext cx="1363662" cy="356991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buNone/>
            </a:pPr>
            <a:r>
              <a:rPr lang="ko-KR" altLang="en-US" sz="1200" dirty="0">
                <a:latin typeface="페이퍼로지 5 Medium" pitchFamily="2" charset="-127"/>
                <a:ea typeface="페이퍼로지 5 Medium" pitchFamily="2" charset="-127"/>
              </a:rPr>
              <a:t>기술 </a:t>
            </a:r>
            <a:endParaRPr lang="en-US" altLang="ko-KR" sz="1200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buNone/>
            </a:pPr>
            <a:r>
              <a:rPr lang="en-US" altLang="ko-KR" sz="1200" dirty="0">
                <a:latin typeface="페이퍼로지 5 Medium" pitchFamily="2" charset="-127"/>
                <a:ea typeface="페이퍼로지 5 Medium" pitchFamily="2" charset="-127"/>
              </a:rPr>
              <a:t>(Skills)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4728BE-9E1D-976E-A530-D8E8116B9122}"/>
              </a:ext>
            </a:extLst>
          </p:cNvPr>
          <p:cNvSpPr txBox="1"/>
          <p:nvPr/>
        </p:nvSpPr>
        <p:spPr>
          <a:xfrm>
            <a:off x="236538" y="4029527"/>
            <a:ext cx="1363662" cy="356991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buNone/>
            </a:pPr>
            <a:r>
              <a:rPr lang="ko-KR" altLang="en-US" sz="1200" dirty="0">
                <a:latin typeface="페이퍼로지 5 Medium" pitchFamily="2" charset="-127"/>
                <a:ea typeface="페이퍼로지 5 Medium" pitchFamily="2" charset="-127"/>
              </a:rPr>
              <a:t>능력 </a:t>
            </a:r>
            <a:endParaRPr lang="en-US" altLang="ko-KR" sz="1200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buNone/>
            </a:pPr>
            <a:r>
              <a:rPr lang="en-US" altLang="ko-KR" sz="1200" dirty="0">
                <a:latin typeface="페이퍼로지 5 Medium" pitchFamily="2" charset="-127"/>
                <a:ea typeface="페이퍼로지 5 Medium" pitchFamily="2" charset="-127"/>
              </a:rPr>
              <a:t>(Abilities)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439CAF-14A8-163D-5FB9-E54FD194395E}"/>
              </a:ext>
            </a:extLst>
          </p:cNvPr>
          <p:cNvSpPr txBox="1"/>
          <p:nvPr/>
        </p:nvSpPr>
        <p:spPr>
          <a:xfrm>
            <a:off x="236538" y="4502840"/>
            <a:ext cx="1363662" cy="356991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buNone/>
            </a:pPr>
            <a:r>
              <a:rPr lang="ko-KR" altLang="en-US" sz="1200" dirty="0">
                <a:latin typeface="페이퍼로지 5 Medium" pitchFamily="2" charset="-127"/>
                <a:ea typeface="페이퍼로지 5 Medium" pitchFamily="2" charset="-127"/>
              </a:rPr>
              <a:t>도구 </a:t>
            </a:r>
            <a:endParaRPr lang="en-US" altLang="ko-KR" sz="1200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buNone/>
            </a:pPr>
            <a:r>
              <a:rPr lang="en-US" altLang="ko-KR" sz="1200" dirty="0">
                <a:latin typeface="페이퍼로지 5 Medium" pitchFamily="2" charset="-127"/>
                <a:ea typeface="페이퍼로지 5 Medium" pitchFamily="2" charset="-127"/>
              </a:rPr>
              <a:t>(Tools &amp; Tech)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E43551-C11A-535D-AFA7-1C5D9DE160D1}"/>
              </a:ext>
            </a:extLst>
          </p:cNvPr>
          <p:cNvSpPr txBox="1"/>
          <p:nvPr/>
        </p:nvSpPr>
        <p:spPr>
          <a:xfrm>
            <a:off x="236538" y="4976154"/>
            <a:ext cx="1363662" cy="356991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buNone/>
            </a:pPr>
            <a:r>
              <a:rPr lang="ko-KR" altLang="en-US" sz="1200" dirty="0">
                <a:latin typeface="페이퍼로지 5 Medium" pitchFamily="2" charset="-127"/>
                <a:ea typeface="페이퍼로지 5 Medium" pitchFamily="2" charset="-127"/>
              </a:rPr>
              <a:t>환경 </a:t>
            </a:r>
            <a:endParaRPr lang="en-US" altLang="ko-KR" sz="1200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buNone/>
            </a:pPr>
            <a:r>
              <a:rPr lang="en-US" altLang="ko-KR" sz="1200" dirty="0">
                <a:latin typeface="페이퍼로지 5 Medium" pitchFamily="2" charset="-127"/>
                <a:ea typeface="페이퍼로지 5 Medium" pitchFamily="2" charset="-127"/>
              </a:rPr>
              <a:t>(Work Context)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3FC7FD-39CF-DFBD-4574-115DC60193F0}"/>
              </a:ext>
            </a:extLst>
          </p:cNvPr>
          <p:cNvSpPr txBox="1"/>
          <p:nvPr/>
        </p:nvSpPr>
        <p:spPr>
          <a:xfrm>
            <a:off x="5911828" y="2607725"/>
            <a:ext cx="3721119" cy="356991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lnSpc>
                <a:spcPct val="100000"/>
              </a:lnSpc>
              <a:buNone/>
            </a:pPr>
            <a:r>
              <a:rPr lang="ko-KR" altLang="en-US" sz="1200" dirty="0"/>
              <a:t>정보수집</a:t>
            </a:r>
            <a:r>
              <a:rPr lang="en-US" altLang="ko-KR" sz="1200" dirty="0"/>
              <a:t>, </a:t>
            </a:r>
            <a:r>
              <a:rPr lang="ko-KR" altLang="en-US" sz="1200" dirty="0"/>
              <a:t>데이터분석</a:t>
            </a:r>
            <a:r>
              <a:rPr lang="en-US" altLang="ko-KR" sz="1200" dirty="0"/>
              <a:t>, </a:t>
            </a:r>
            <a:r>
              <a:rPr lang="ko-KR" altLang="en-US" sz="1200" dirty="0"/>
              <a:t>의사결정</a:t>
            </a:r>
            <a:r>
              <a:rPr lang="en-US" altLang="ko-KR" sz="1200" dirty="0"/>
              <a:t>, </a:t>
            </a:r>
            <a:r>
              <a:rPr lang="ko-KR" altLang="en-US" sz="1200" dirty="0"/>
              <a:t>대인서비스 등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60A763-D0EA-385B-59ED-4D55D4094A1C}"/>
              </a:ext>
            </a:extLst>
          </p:cNvPr>
          <p:cNvSpPr txBox="1"/>
          <p:nvPr/>
        </p:nvSpPr>
        <p:spPr>
          <a:xfrm>
            <a:off x="5911828" y="3082547"/>
            <a:ext cx="3721119" cy="356991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lnSpc>
                <a:spcPct val="100000"/>
              </a:lnSpc>
              <a:buNone/>
            </a:pPr>
            <a:r>
              <a:rPr lang="ko-KR" altLang="en-US" sz="1200" dirty="0"/>
              <a:t>사업</a:t>
            </a:r>
            <a:r>
              <a:rPr lang="en-US" altLang="ko-KR" sz="1200" dirty="0"/>
              <a:t>·</a:t>
            </a:r>
            <a:r>
              <a:rPr lang="ko-KR" altLang="en-US" sz="1200" dirty="0"/>
              <a:t>경영</a:t>
            </a:r>
            <a:r>
              <a:rPr lang="en-US" altLang="ko-KR" sz="1200" dirty="0"/>
              <a:t>, </a:t>
            </a:r>
            <a:r>
              <a:rPr lang="ko-KR" altLang="en-US" sz="1200" dirty="0"/>
              <a:t>공학</a:t>
            </a:r>
            <a:r>
              <a:rPr lang="en-US" altLang="ko-KR" sz="1200" dirty="0"/>
              <a:t>·</a:t>
            </a:r>
            <a:r>
              <a:rPr lang="ko-KR" altLang="en-US" sz="1200" dirty="0"/>
              <a:t>기술</a:t>
            </a:r>
            <a:r>
              <a:rPr lang="en-US" altLang="ko-KR" sz="1200" dirty="0"/>
              <a:t>, </a:t>
            </a:r>
            <a:r>
              <a:rPr lang="ko-KR" altLang="en-US" sz="1200" dirty="0"/>
              <a:t>수학</a:t>
            </a:r>
            <a:r>
              <a:rPr lang="en-US" altLang="ko-KR" sz="1200" dirty="0"/>
              <a:t>·</a:t>
            </a:r>
            <a:r>
              <a:rPr lang="ko-KR" altLang="en-US" sz="1200" dirty="0"/>
              <a:t>과학</a:t>
            </a:r>
            <a:r>
              <a:rPr lang="en-US" altLang="ko-KR" sz="1200" dirty="0"/>
              <a:t>, </a:t>
            </a:r>
            <a:r>
              <a:rPr lang="ko-KR" altLang="en-US" sz="1200" dirty="0"/>
              <a:t>보건 등 </a:t>
            </a:r>
            <a:r>
              <a:rPr lang="en-US" altLang="ko-KR" sz="1200" dirty="0"/>
              <a:t>33</a:t>
            </a:r>
            <a:r>
              <a:rPr lang="ko-KR" altLang="en-US" sz="1200" dirty="0"/>
              <a:t>개 분야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A4ECB0-91DA-D1AE-7D04-34831D536EC3}"/>
              </a:ext>
            </a:extLst>
          </p:cNvPr>
          <p:cNvSpPr txBox="1"/>
          <p:nvPr/>
        </p:nvSpPr>
        <p:spPr>
          <a:xfrm>
            <a:off x="5911828" y="3555861"/>
            <a:ext cx="3721119" cy="356991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lnSpc>
                <a:spcPct val="100000"/>
              </a:lnSpc>
              <a:buNone/>
            </a:pPr>
            <a:r>
              <a:rPr lang="ko-KR" altLang="en-US" sz="1200" dirty="0"/>
              <a:t>기본기술</a:t>
            </a:r>
            <a:r>
              <a:rPr lang="en-US" altLang="ko-KR" sz="1200" dirty="0"/>
              <a:t>, </a:t>
            </a:r>
            <a:r>
              <a:rPr lang="ko-KR" altLang="en-US" sz="1200" dirty="0"/>
              <a:t>교차기능기술 등 약 </a:t>
            </a:r>
            <a:r>
              <a:rPr lang="en-US" altLang="ko-KR" sz="1200" dirty="0"/>
              <a:t>25</a:t>
            </a:r>
            <a:r>
              <a:rPr lang="ko-KR" altLang="en-US" sz="1200" dirty="0"/>
              <a:t>개 요소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8FD9F8-73E7-F49C-F1CC-0B60D1C15DDF}"/>
              </a:ext>
            </a:extLst>
          </p:cNvPr>
          <p:cNvSpPr txBox="1"/>
          <p:nvPr/>
        </p:nvSpPr>
        <p:spPr>
          <a:xfrm>
            <a:off x="5911828" y="4029527"/>
            <a:ext cx="3721119" cy="356991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lnSpc>
                <a:spcPct val="100000"/>
              </a:lnSpc>
              <a:buNone/>
            </a:pPr>
            <a:r>
              <a:rPr lang="ko-KR" altLang="en-US" sz="1200" dirty="0"/>
              <a:t>인지</a:t>
            </a:r>
            <a:r>
              <a:rPr lang="en-US" altLang="ko-KR" sz="1200" dirty="0"/>
              <a:t>·</a:t>
            </a:r>
            <a:r>
              <a:rPr lang="ko-KR" altLang="en-US" sz="1200" dirty="0"/>
              <a:t>정신운동</a:t>
            </a:r>
            <a:r>
              <a:rPr lang="en-US" altLang="ko-KR" sz="1200" dirty="0"/>
              <a:t>·</a:t>
            </a:r>
            <a:r>
              <a:rPr lang="ko-KR" altLang="en-US" sz="1200" dirty="0"/>
              <a:t>신체</a:t>
            </a:r>
            <a:r>
              <a:rPr lang="en-US" altLang="ko-KR" sz="1200" dirty="0"/>
              <a:t>·</a:t>
            </a:r>
            <a:r>
              <a:rPr lang="ko-KR" altLang="en-US" sz="1200" dirty="0"/>
              <a:t>감각 능력 등 </a:t>
            </a:r>
            <a:r>
              <a:rPr lang="en-US" altLang="ko-KR" sz="1200" dirty="0"/>
              <a:t>52</a:t>
            </a:r>
            <a:r>
              <a:rPr lang="ko-KR" altLang="en-US" sz="1200" dirty="0"/>
              <a:t>개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8D350F1-72CA-FDFC-FB28-0B645133C67A}"/>
              </a:ext>
            </a:extLst>
          </p:cNvPr>
          <p:cNvSpPr txBox="1"/>
          <p:nvPr/>
        </p:nvSpPr>
        <p:spPr>
          <a:xfrm>
            <a:off x="5911828" y="4502840"/>
            <a:ext cx="3721119" cy="356991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lnSpc>
                <a:spcPct val="100000"/>
              </a:lnSpc>
              <a:buNone/>
            </a:pPr>
            <a:r>
              <a:rPr lang="ko-KR" altLang="en-US" sz="1200" dirty="0"/>
              <a:t>기술 스킬</a:t>
            </a:r>
            <a:r>
              <a:rPr lang="en-US" altLang="ko-KR" sz="1200" dirty="0"/>
              <a:t>, </a:t>
            </a:r>
            <a:r>
              <a:rPr lang="ko-KR" altLang="en-US" sz="1200" dirty="0"/>
              <a:t>장비</a:t>
            </a:r>
            <a:r>
              <a:rPr lang="en-US" altLang="ko-KR" sz="1200" dirty="0"/>
              <a:t>·</a:t>
            </a:r>
            <a:r>
              <a:rPr lang="ko-KR" altLang="en-US" sz="1200" dirty="0"/>
              <a:t>도구</a:t>
            </a:r>
            <a:r>
              <a:rPr lang="en-US" altLang="ko-KR" sz="1200" dirty="0"/>
              <a:t>, </a:t>
            </a:r>
            <a:r>
              <a:rPr lang="ko-KR" altLang="en-US" sz="1200" dirty="0"/>
              <a:t>신기술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4DCEF09-7CD8-52BB-2ADC-4252DF19AABD}"/>
              </a:ext>
            </a:extLst>
          </p:cNvPr>
          <p:cNvSpPr txBox="1"/>
          <p:nvPr/>
        </p:nvSpPr>
        <p:spPr>
          <a:xfrm>
            <a:off x="5911828" y="4976154"/>
            <a:ext cx="3721119" cy="356991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lnSpc>
                <a:spcPct val="100000"/>
              </a:lnSpc>
              <a:buNone/>
            </a:pPr>
            <a:r>
              <a:rPr lang="ko-KR" altLang="en-US" sz="1200" dirty="0"/>
              <a:t>실내</a:t>
            </a:r>
            <a:r>
              <a:rPr lang="en-US" altLang="ko-KR" sz="1200" dirty="0"/>
              <a:t>·</a:t>
            </a:r>
            <a:r>
              <a:rPr lang="ko-KR" altLang="en-US" sz="1200" dirty="0"/>
              <a:t>실외</a:t>
            </a:r>
            <a:r>
              <a:rPr lang="en-US" altLang="ko-KR" sz="1200" dirty="0"/>
              <a:t>, </a:t>
            </a:r>
            <a:r>
              <a:rPr lang="ko-KR" altLang="en-US" sz="1200" dirty="0"/>
              <a:t>온도</a:t>
            </a:r>
            <a:r>
              <a:rPr lang="en-US" altLang="ko-KR" sz="1200" dirty="0"/>
              <a:t>·</a:t>
            </a:r>
            <a:r>
              <a:rPr lang="ko-KR" altLang="en-US" sz="1200" dirty="0"/>
              <a:t>소음</a:t>
            </a:r>
            <a:r>
              <a:rPr lang="en-US" altLang="ko-KR" sz="1200" dirty="0"/>
              <a:t>, </a:t>
            </a:r>
            <a:r>
              <a:rPr lang="ko-KR" altLang="en-US" sz="1200" dirty="0"/>
              <a:t>대면빈도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팀작업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7AAB69-EF26-3ADB-9B86-9B8E55B4E96E}"/>
              </a:ext>
            </a:extLst>
          </p:cNvPr>
          <p:cNvSpPr txBox="1"/>
          <p:nvPr/>
        </p:nvSpPr>
        <p:spPr>
          <a:xfrm>
            <a:off x="1854200" y="2607725"/>
            <a:ext cx="3721119" cy="356991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lnSpc>
                <a:spcPct val="100000"/>
              </a:lnSpc>
              <a:buNone/>
            </a:pPr>
            <a:r>
              <a:rPr lang="ko-KR" altLang="en-US" sz="1200" dirty="0"/>
              <a:t>직업 수행 과정에서 수행되는 주요 업무활동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18188B-1D3F-1C1C-8464-696397C6DA4F}"/>
              </a:ext>
            </a:extLst>
          </p:cNvPr>
          <p:cNvSpPr txBox="1"/>
          <p:nvPr/>
        </p:nvSpPr>
        <p:spPr>
          <a:xfrm>
            <a:off x="1854200" y="3082547"/>
            <a:ext cx="3721119" cy="356991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lnSpc>
                <a:spcPct val="100000"/>
              </a:lnSpc>
              <a:buNone/>
            </a:pPr>
            <a:r>
              <a:rPr lang="ko-KR" altLang="en-US" sz="1200" dirty="0"/>
              <a:t>직무 수행을 위해 요구되는 이론적</a:t>
            </a:r>
            <a:r>
              <a:rPr lang="en-US" altLang="ko-KR" sz="1200" dirty="0"/>
              <a:t>·</a:t>
            </a:r>
            <a:r>
              <a:rPr lang="ko-KR" altLang="en-US" sz="1200" dirty="0"/>
              <a:t>전문적 지식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21CA07-2E7C-A29B-9005-14FC6620C78B}"/>
              </a:ext>
            </a:extLst>
          </p:cNvPr>
          <p:cNvSpPr txBox="1"/>
          <p:nvPr/>
        </p:nvSpPr>
        <p:spPr>
          <a:xfrm>
            <a:off x="1854200" y="3555861"/>
            <a:ext cx="3721119" cy="356991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lnSpc>
                <a:spcPct val="100000"/>
              </a:lnSpc>
              <a:buNone/>
            </a:pPr>
            <a:r>
              <a:rPr lang="ko-KR" altLang="en-US" sz="1200" dirty="0"/>
              <a:t>업무 과정에서 활용되는 실무적 기술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D4E37B-D76D-B748-4A22-F3EDB80157DB}"/>
              </a:ext>
            </a:extLst>
          </p:cNvPr>
          <p:cNvSpPr txBox="1"/>
          <p:nvPr/>
        </p:nvSpPr>
        <p:spPr>
          <a:xfrm>
            <a:off x="1854200" y="4029527"/>
            <a:ext cx="3721119" cy="356991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lnSpc>
                <a:spcPct val="100000"/>
              </a:lnSpc>
              <a:buNone/>
            </a:pPr>
            <a:r>
              <a:rPr lang="ko-KR" altLang="en-US" sz="1200" dirty="0"/>
              <a:t>직무 수행에 요구되는 인지적</a:t>
            </a:r>
            <a:r>
              <a:rPr lang="en-US" altLang="ko-KR" sz="1200" dirty="0"/>
              <a:t>·</a:t>
            </a:r>
            <a:r>
              <a:rPr lang="ko-KR" altLang="en-US" sz="1200" dirty="0"/>
              <a:t>신체적 능력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D34F69A-18A9-B122-6920-6664B9A20F99}"/>
              </a:ext>
            </a:extLst>
          </p:cNvPr>
          <p:cNvSpPr txBox="1"/>
          <p:nvPr/>
        </p:nvSpPr>
        <p:spPr>
          <a:xfrm>
            <a:off x="1854200" y="4502840"/>
            <a:ext cx="3721119" cy="356991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lnSpc>
                <a:spcPct val="100000"/>
              </a:lnSpc>
              <a:buNone/>
            </a:pPr>
            <a:r>
              <a:rPr lang="ko-KR" altLang="en-US" sz="1200" dirty="0"/>
              <a:t>업무 수행에 활용되는 장비</a:t>
            </a:r>
            <a:r>
              <a:rPr lang="en-US" altLang="ko-KR" sz="1200" dirty="0"/>
              <a:t>·</a:t>
            </a:r>
            <a:r>
              <a:rPr lang="ko-KR" altLang="en-US" sz="1200" dirty="0"/>
              <a:t>기술</a:t>
            </a:r>
            <a:r>
              <a:rPr lang="en-US" altLang="ko-KR" sz="1200" dirty="0"/>
              <a:t>·SW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BB3B6B3-8B90-AA9D-74CB-D8EEA363AC21}"/>
              </a:ext>
            </a:extLst>
          </p:cNvPr>
          <p:cNvSpPr txBox="1"/>
          <p:nvPr/>
        </p:nvSpPr>
        <p:spPr>
          <a:xfrm>
            <a:off x="1854200" y="4976154"/>
            <a:ext cx="3721119" cy="356991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lnSpc>
                <a:spcPct val="100000"/>
              </a:lnSpc>
              <a:buNone/>
            </a:pPr>
            <a:r>
              <a:rPr lang="ko-KR" altLang="en-US" sz="1200" dirty="0"/>
              <a:t>업무 수행 과정의 물리적</a:t>
            </a:r>
            <a:r>
              <a:rPr lang="en-US" altLang="ko-KR" sz="1200" dirty="0"/>
              <a:t>·</a:t>
            </a:r>
            <a:r>
              <a:rPr lang="ko-KR" altLang="en-US" sz="1200" dirty="0"/>
              <a:t>사회적 환경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A8C0851-C7C5-64AC-2ECE-9323E5E0853B}"/>
              </a:ext>
            </a:extLst>
          </p:cNvPr>
          <p:cNvSpPr txBox="1"/>
          <p:nvPr/>
        </p:nvSpPr>
        <p:spPr>
          <a:xfrm>
            <a:off x="1854200" y="5551723"/>
            <a:ext cx="7778746" cy="893262"/>
          </a:xfrm>
          <a:prstGeom prst="rect">
            <a:avLst/>
          </a:prstGeom>
          <a:pattFill prst="dkUpDiag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  <a:ln w="2857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 defTabSz="804838">
              <a:defRPr sz="900" kern="0" spc="-41">
                <a:solidFill>
                  <a:srgbClr val="333333"/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O*NET </a:t>
            </a:r>
            <a:r>
              <a:rPr lang="ko-KR" altLang="en-US" sz="1200" dirty="0"/>
              <a:t>콘텐츠 모델의 구조와 국내 직업정보 활용 특성을 종합적으로 검토하여 설계 </a:t>
            </a:r>
            <a:endParaRPr lang="en-US" altLang="ko-KR" sz="1200" dirty="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6</a:t>
            </a:r>
            <a:r>
              <a:rPr lang="ko-KR" altLang="en-US" sz="1200" dirty="0"/>
              <a:t>대 차원</a:t>
            </a:r>
            <a:r>
              <a:rPr lang="en-US" altLang="ko-KR" sz="1200" dirty="0"/>
              <a:t>(</a:t>
            </a:r>
            <a:r>
              <a:rPr lang="ko-KR" altLang="en-US" sz="1200" dirty="0"/>
              <a:t>안</a:t>
            </a:r>
            <a:r>
              <a:rPr lang="en-US" altLang="ko-KR" sz="1200" dirty="0"/>
              <a:t>)</a:t>
            </a:r>
            <a:r>
              <a:rPr lang="ko-KR" altLang="en-US" sz="1200" dirty="0"/>
              <a:t>은 연구 수행 과정에서 국내외 사례 분석 및 전문가 검토를 거쳐 조정</a:t>
            </a:r>
            <a:r>
              <a:rPr lang="en-US" altLang="ko-KR" sz="1200" dirty="0"/>
              <a:t>·</a:t>
            </a:r>
            <a:r>
              <a:rPr lang="ko-KR" altLang="en-US" sz="1200" dirty="0"/>
              <a:t>확정 가능 </a:t>
            </a:r>
            <a:endParaRPr lang="en-US" altLang="ko-KR" sz="1200" dirty="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일회성 분석 도구가 아닌</a:t>
            </a:r>
            <a:r>
              <a:rPr lang="en-US" altLang="ko-KR" sz="1200" dirty="0"/>
              <a:t>, </a:t>
            </a:r>
            <a:r>
              <a:rPr lang="ko-KR" altLang="en-US" sz="1200" dirty="0"/>
              <a:t>향후 직업정보가 지속적으로 축적</a:t>
            </a:r>
            <a:r>
              <a:rPr lang="en-US" altLang="ko-KR" sz="1200" dirty="0"/>
              <a:t>·</a:t>
            </a:r>
            <a:r>
              <a:rPr lang="ko-KR" altLang="en-US" sz="1200" dirty="0"/>
              <a:t>갱신될 수 있는 프레임워크로서 설계</a:t>
            </a:r>
            <a:endParaRPr lang="en-US" altLang="ko-KR" sz="1200" kern="1200" dirty="0">
              <a:ln w="127000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CB38815-9C40-A378-02C8-2D50820C96BB}"/>
              </a:ext>
            </a:extLst>
          </p:cNvPr>
          <p:cNvSpPr txBox="1"/>
          <p:nvPr/>
        </p:nvSpPr>
        <p:spPr>
          <a:xfrm>
            <a:off x="236538" y="5546739"/>
            <a:ext cx="1363662" cy="906449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2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설계 방향</a:t>
            </a:r>
            <a:endParaRPr lang="en-US" altLang="ko-KR" sz="12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977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1D98A-5370-ECDF-AEC5-A7CCF19F1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CC65D36-A6C3-A24E-1583-EAAB21DA5050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Ⅱ.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수행 방안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0" name="텍스트 개체 틀 1">
            <a:extLst>
              <a:ext uri="{FF2B5EF4-FFF2-40B4-BE49-F238E27FC236}">
                <a16:creationId xmlns:a16="http://schemas.microsoft.com/office/drawing/2014/main" id="{4A839C90-F521-ADB0-D667-CD2894F9134E}"/>
              </a:ext>
            </a:extLst>
          </p:cNvPr>
          <p:cNvSpPr txBox="1">
            <a:spLocks/>
          </p:cNvSpPr>
          <p:nvPr/>
        </p:nvSpPr>
        <p:spPr>
          <a:xfrm>
            <a:off x="243781" y="842963"/>
            <a:ext cx="9422507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직능유형 구성요소는 직업 간 비교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행정 데이터 연계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·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분류체계 연동이 가능한 구조로 설계하여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직업분류 개정 및 고용서비스 등 정책 현장에서 실질적으로 활용될 수 있도록 하고자 함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945E6E-CF5F-B7AA-1532-E462F93F6A5E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03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A77FDAF-4826-6BC2-DCAF-900958776C93}"/>
              </a:ext>
            </a:extLst>
          </p:cNvPr>
          <p:cNvSpPr/>
          <p:nvPr/>
        </p:nvSpPr>
        <p:spPr>
          <a:xfrm>
            <a:off x="-586309" y="5543"/>
            <a:ext cx="439178" cy="1554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53C22ED-0C31-14E0-CFDC-3C81E2B97BD2}"/>
              </a:ext>
            </a:extLst>
          </p:cNvPr>
          <p:cNvSpPr/>
          <p:nvPr/>
        </p:nvSpPr>
        <p:spPr>
          <a:xfrm>
            <a:off x="-507160" y="64182"/>
            <a:ext cx="280880" cy="168544"/>
          </a:xfrm>
          <a:prstGeom prst="rect">
            <a:avLst/>
          </a:prstGeom>
          <a:solidFill>
            <a:srgbClr val="212E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54F4445-7DC1-9BEB-352F-1974B26D24A8}"/>
              </a:ext>
            </a:extLst>
          </p:cNvPr>
          <p:cNvSpPr/>
          <p:nvPr/>
        </p:nvSpPr>
        <p:spPr>
          <a:xfrm>
            <a:off x="-507160" y="705014"/>
            <a:ext cx="280880" cy="168544"/>
          </a:xfrm>
          <a:prstGeom prst="rect">
            <a:avLst/>
          </a:prstGeom>
          <a:solidFill>
            <a:srgbClr val="82B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13E0792-54F0-9BFF-436E-A11F54B8392D}"/>
              </a:ext>
            </a:extLst>
          </p:cNvPr>
          <p:cNvSpPr/>
          <p:nvPr/>
        </p:nvSpPr>
        <p:spPr>
          <a:xfrm>
            <a:off x="-507160" y="281885"/>
            <a:ext cx="280880" cy="168544"/>
          </a:xfrm>
          <a:prstGeom prst="rect">
            <a:avLst/>
          </a:prstGeom>
          <a:solidFill>
            <a:srgbClr val="3061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288EA5E-BB71-E6C3-A891-B27A1E262425}"/>
              </a:ext>
            </a:extLst>
          </p:cNvPr>
          <p:cNvSpPr/>
          <p:nvPr/>
        </p:nvSpPr>
        <p:spPr>
          <a:xfrm>
            <a:off x="-507160" y="489352"/>
            <a:ext cx="280880" cy="168544"/>
          </a:xfrm>
          <a:prstGeom prst="rect">
            <a:avLst/>
          </a:prstGeom>
          <a:solidFill>
            <a:srgbClr val="DC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77FEA01-1F4C-1C6F-2E5B-4D3DB1663F31}"/>
              </a:ext>
            </a:extLst>
          </p:cNvPr>
          <p:cNvSpPr/>
          <p:nvPr/>
        </p:nvSpPr>
        <p:spPr>
          <a:xfrm>
            <a:off x="-507160" y="914522"/>
            <a:ext cx="280880" cy="168544"/>
          </a:xfrm>
          <a:prstGeom prst="rect">
            <a:avLst/>
          </a:prstGeom>
          <a:solidFill>
            <a:srgbClr val="565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5A9366F-D20E-9CAC-13C4-D8DBC0476FD8}"/>
              </a:ext>
            </a:extLst>
          </p:cNvPr>
          <p:cNvSpPr/>
          <p:nvPr/>
        </p:nvSpPr>
        <p:spPr>
          <a:xfrm>
            <a:off x="-507160" y="1127107"/>
            <a:ext cx="280880" cy="164042"/>
          </a:xfrm>
          <a:prstGeom prst="rect">
            <a:avLst/>
          </a:prstGeom>
          <a:solidFill>
            <a:srgbClr val="53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BD092E4E-5EEE-D426-543E-A57E09646178}"/>
              </a:ext>
            </a:extLst>
          </p:cNvPr>
          <p:cNvSpPr txBox="1"/>
          <p:nvPr/>
        </p:nvSpPr>
        <p:spPr>
          <a:xfrm>
            <a:off x="978778" y="230485"/>
            <a:ext cx="869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한국직업분류 고도화 구조적 틀 마련</a:t>
            </a:r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_</a:t>
            </a:r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프레임워크 설계</a:t>
            </a:r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(</a:t>
            </a:r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안</a:t>
            </a:r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)</a:t>
            </a:r>
            <a:endParaRPr lang="ko-KR" altLang="en-US" sz="2400" dirty="0">
              <a:solidFill>
                <a:srgbClr val="004193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0441BC-FF91-21DB-7DB5-325938BC86A9}"/>
              </a:ext>
            </a:extLst>
          </p:cNvPr>
          <p:cNvSpPr txBox="1"/>
          <p:nvPr/>
        </p:nvSpPr>
        <p:spPr>
          <a:xfrm>
            <a:off x="236537" y="2697480"/>
            <a:ext cx="1298799" cy="1028554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200" dirty="0">
                <a:latin typeface="페이퍼로지 5 Medium" pitchFamily="2" charset="-127"/>
                <a:ea typeface="페이퍼로지 5 Medium" pitchFamily="2" charset="-127"/>
              </a:rPr>
              <a:t>① 직업 간 기능적 비교가 가능한 구조</a:t>
            </a:r>
            <a:endParaRPr lang="en-US" altLang="ko-KR" sz="1200" kern="0" spc="-41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C47F6E-96BD-CADE-9723-B6D640B3DAE4}"/>
              </a:ext>
            </a:extLst>
          </p:cNvPr>
          <p:cNvSpPr txBox="1"/>
          <p:nvPr/>
        </p:nvSpPr>
        <p:spPr>
          <a:xfrm>
            <a:off x="236537" y="4061057"/>
            <a:ext cx="1298799" cy="1028554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200" dirty="0">
                <a:latin typeface="페이퍼로지 5 Medium" pitchFamily="2" charset="-127"/>
                <a:ea typeface="페이퍼로지 5 Medium" pitchFamily="2" charset="-127"/>
              </a:rPr>
              <a:t>② 행정 데이터와 연계 가능한 구조</a:t>
            </a:r>
            <a:endParaRPr lang="en-US" altLang="ko-KR" sz="1200" kern="0" spc="-41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3AFFFA-0B07-B56C-51F1-7AA431DFB27D}"/>
              </a:ext>
            </a:extLst>
          </p:cNvPr>
          <p:cNvSpPr txBox="1"/>
          <p:nvPr/>
        </p:nvSpPr>
        <p:spPr>
          <a:xfrm>
            <a:off x="236537" y="5424636"/>
            <a:ext cx="1298799" cy="1028554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200" dirty="0">
                <a:latin typeface="페이퍼로지 5 Medium" pitchFamily="2" charset="-127"/>
                <a:ea typeface="페이퍼로지 5 Medium" pitchFamily="2" charset="-127"/>
              </a:rPr>
              <a:t>③ 직업분류 체계와 연계 가능한 정보 구조</a:t>
            </a:r>
            <a:endParaRPr lang="en-US" altLang="ko-KR" sz="1200" kern="0" spc="-41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45D5C7-1822-6C51-67B7-13242626B34E}"/>
              </a:ext>
            </a:extLst>
          </p:cNvPr>
          <p:cNvSpPr txBox="1"/>
          <p:nvPr/>
        </p:nvSpPr>
        <p:spPr>
          <a:xfrm>
            <a:off x="1676401" y="2697480"/>
            <a:ext cx="3146728" cy="1028554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buNone/>
            </a:pPr>
            <a:r>
              <a:rPr lang="en-US" altLang="ko-KR" sz="1200" dirty="0"/>
              <a:t>· </a:t>
            </a:r>
            <a:r>
              <a:rPr lang="ko-KR" altLang="en-US" sz="1200" dirty="0"/>
              <a:t>직업 수행 활동의 공통성을 고려하여 표준화된 직무활동 단위 설정 </a:t>
            </a:r>
            <a:endParaRPr lang="en-US" altLang="ko-KR" sz="1200" dirty="0"/>
          </a:p>
          <a:p>
            <a:pPr>
              <a:buNone/>
            </a:pPr>
            <a:r>
              <a:rPr lang="en-US" altLang="ko-KR" sz="1200" dirty="0"/>
              <a:t>· </a:t>
            </a:r>
            <a:r>
              <a:rPr lang="ko-KR" altLang="en-US" sz="1200" dirty="0"/>
              <a:t>차원별 측정 가능한 직능유형 구성요소 선정</a:t>
            </a:r>
            <a:r>
              <a:rPr lang="en-US" altLang="ko-KR" sz="1200" dirty="0"/>
              <a:t> </a:t>
            </a:r>
            <a:r>
              <a:rPr lang="ko-KR" altLang="en-US" sz="1200" dirty="0"/>
              <a:t>및 구조화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A6B7D4-5A8A-AFC3-19F4-D85F90D22754}"/>
              </a:ext>
            </a:extLst>
          </p:cNvPr>
          <p:cNvSpPr txBox="1"/>
          <p:nvPr/>
        </p:nvSpPr>
        <p:spPr>
          <a:xfrm>
            <a:off x="1676401" y="4065405"/>
            <a:ext cx="3146728" cy="1028554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buNone/>
            </a:pPr>
            <a:r>
              <a:rPr lang="en-US" altLang="ko-KR" sz="1200" dirty="0"/>
              <a:t>· </a:t>
            </a:r>
            <a:r>
              <a:rPr lang="ko-KR" altLang="en-US" sz="1200" dirty="0"/>
              <a:t>고용보험</a:t>
            </a:r>
            <a:r>
              <a:rPr lang="en-US" altLang="ko-KR" sz="1200" dirty="0"/>
              <a:t>, </a:t>
            </a:r>
            <a:r>
              <a:rPr lang="ko-KR" altLang="en-US" sz="1200" dirty="0"/>
              <a:t>국가자격 등 행정 데이터와 직접 연결 가능 </a:t>
            </a:r>
            <a:endParaRPr lang="en-US" altLang="ko-KR" sz="1200" dirty="0"/>
          </a:p>
          <a:p>
            <a:pPr>
              <a:buNone/>
            </a:pPr>
            <a:r>
              <a:rPr lang="en-US" altLang="ko-KR" sz="1200" dirty="0"/>
              <a:t>· </a:t>
            </a:r>
            <a:r>
              <a:rPr lang="ko-KR" altLang="en-US" sz="1200" dirty="0"/>
              <a:t>정책 현장에서 해석 및 활용 가능하도록 구체적 적용방안과 함께 제시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47D66C-B91A-6E4A-BA54-7809772F0698}"/>
              </a:ext>
            </a:extLst>
          </p:cNvPr>
          <p:cNvSpPr txBox="1"/>
          <p:nvPr/>
        </p:nvSpPr>
        <p:spPr>
          <a:xfrm>
            <a:off x="1676401" y="5423624"/>
            <a:ext cx="3146728" cy="1028554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buNone/>
            </a:pPr>
            <a:r>
              <a:rPr lang="en-US" altLang="ko-KR" sz="1200" dirty="0"/>
              <a:t>· KSCO </a:t>
            </a:r>
            <a:r>
              <a:rPr lang="ko-KR" altLang="en-US" sz="1200" dirty="0"/>
              <a:t>개정 시 직접 활용 가능한 형태로 제시 </a:t>
            </a:r>
            <a:endParaRPr lang="en-US" altLang="ko-KR" sz="1200" dirty="0"/>
          </a:p>
          <a:p>
            <a:pPr>
              <a:buNone/>
            </a:pPr>
            <a:r>
              <a:rPr lang="en-US" altLang="ko-KR" sz="1200" dirty="0"/>
              <a:t>· </a:t>
            </a:r>
            <a:r>
              <a:rPr lang="ko-KR" altLang="en-US" sz="1200" dirty="0"/>
              <a:t>각 구성요소에 대한 개념 정의와 적용 기준을 함께 제시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164F07-5E45-A2BA-C755-29A7D51E8D4F}"/>
              </a:ext>
            </a:extLst>
          </p:cNvPr>
          <p:cNvSpPr txBox="1"/>
          <p:nvPr/>
        </p:nvSpPr>
        <p:spPr>
          <a:xfrm>
            <a:off x="236537" y="2241550"/>
            <a:ext cx="1298799" cy="280669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2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기준</a:t>
            </a:r>
            <a:endParaRPr lang="en-US" altLang="ko-KR" sz="12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503328-E299-A180-273E-05FFD0A6C5A1}"/>
              </a:ext>
            </a:extLst>
          </p:cNvPr>
          <p:cNvSpPr txBox="1"/>
          <p:nvPr/>
        </p:nvSpPr>
        <p:spPr>
          <a:xfrm>
            <a:off x="1676401" y="2241550"/>
            <a:ext cx="3146728" cy="280669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2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내용</a:t>
            </a:r>
            <a:endParaRPr lang="en-US" altLang="ko-KR" sz="12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D98D2EF-2493-0C5C-882D-B75978E8B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550823"/>
              </p:ext>
            </p:extLst>
          </p:nvPr>
        </p:nvGraphicFramePr>
        <p:xfrm>
          <a:off x="5057776" y="2241550"/>
          <a:ext cx="4575174" cy="4210628"/>
        </p:xfrm>
        <a:graphic>
          <a:graphicData uri="http://schemas.openxmlformats.org/drawingml/2006/table">
            <a:tbl>
              <a:tblPr/>
              <a:tblGrid>
                <a:gridCol w="1419224">
                  <a:extLst>
                    <a:ext uri="{9D8B030D-6E8A-4147-A177-3AD203B41FA5}">
                      <a16:colId xmlns:a16="http://schemas.microsoft.com/office/drawing/2014/main" val="3675168837"/>
                    </a:ext>
                  </a:extLst>
                </a:gridCol>
                <a:gridCol w="3155950">
                  <a:extLst>
                    <a:ext uri="{9D8B030D-6E8A-4147-A177-3AD203B41FA5}">
                      <a16:colId xmlns:a16="http://schemas.microsoft.com/office/drawing/2014/main" val="2445292385"/>
                    </a:ext>
                  </a:extLst>
                </a:gridCol>
              </a:tblGrid>
              <a:tr h="32219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활용 방안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내용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311988"/>
                  </a:ext>
                </a:extLst>
              </a:tr>
              <a:tr h="77768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dirty="0" err="1">
                          <a:latin typeface="페이퍼로지 5 Medium" pitchFamily="2" charset="-127"/>
                          <a:ea typeface="페이퍼로지 5 Medium" pitchFamily="2" charset="-127"/>
                        </a:rPr>
                        <a:t>직업군</a:t>
                      </a:r>
                      <a:r>
                        <a:rPr lang="ko-KR" altLang="en-US" sz="12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 재구조화 검토 지원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직업 간 기능적 유사성 분석을 통한 </a:t>
                      </a:r>
                      <a:r>
                        <a:rPr lang="ko-KR" altLang="en-US" sz="1200" dirty="0" err="1">
                          <a:latin typeface="페이퍼로지 5 Medium" pitchFamily="2" charset="-127"/>
                          <a:ea typeface="페이퍼로지 5 Medium" pitchFamily="2" charset="-127"/>
                        </a:rPr>
                        <a:t>직업군</a:t>
                      </a:r>
                      <a:r>
                        <a:rPr lang="ko-KR" altLang="en-US" sz="12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 통합</a:t>
                      </a:r>
                      <a:r>
                        <a:rPr lang="en-US" altLang="ko-KR" sz="12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·</a:t>
                      </a:r>
                      <a:r>
                        <a:rPr lang="ko-KR" altLang="en-US" sz="12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분리 검토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223882"/>
                  </a:ext>
                </a:extLst>
              </a:tr>
              <a:tr h="77768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신규 직업 분류 배치 근거 제공 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신규 직업의 기능적 위치 파악 및 분류 체계 내 배치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637839"/>
                  </a:ext>
                </a:extLst>
              </a:tr>
              <a:tr h="77768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직업분류 개정 시 체계적 분석 기반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직무활동 데이터에 기반한 객관적 분류 기준 활용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445202"/>
                  </a:ext>
                </a:extLst>
              </a:tr>
              <a:tr h="77768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직업 간 전환 가능성 분석 기초 자료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고용서비스</a:t>
                      </a:r>
                      <a:r>
                        <a:rPr lang="en-US" altLang="ko-KR" sz="12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(</a:t>
                      </a:r>
                      <a:r>
                        <a:rPr lang="ko-KR" altLang="en-US" sz="12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직업상담</a:t>
                      </a:r>
                      <a:r>
                        <a:rPr lang="en-US" altLang="ko-KR" sz="12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, </a:t>
                      </a:r>
                      <a:r>
                        <a:rPr lang="ko-KR" altLang="en-US" sz="12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취업알선</a:t>
                      </a:r>
                      <a:r>
                        <a:rPr lang="en-US" altLang="ko-KR" sz="12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)</a:t>
                      </a:r>
                      <a:r>
                        <a:rPr lang="ko-KR" altLang="en-US" sz="12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에서 전직 경로 분석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175186"/>
                  </a:ext>
                </a:extLst>
              </a:tr>
              <a:tr h="77768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직업 변동 모니터링 체계 구축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산업구조 변화</a:t>
                      </a:r>
                      <a:r>
                        <a:rPr lang="en-US" altLang="ko-KR" sz="12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·</a:t>
                      </a:r>
                      <a:r>
                        <a:rPr lang="ko-KR" altLang="en-US" sz="12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기술혁신에 따른 직업 변동 추적</a:t>
                      </a:r>
                      <a:r>
                        <a:rPr lang="en-US" altLang="ko-KR" sz="12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·</a:t>
                      </a:r>
                      <a:r>
                        <a:rPr lang="ko-KR" altLang="en-US" sz="12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예측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940275"/>
                  </a:ext>
                </a:extLst>
              </a:tr>
            </a:tbl>
          </a:graphicData>
        </a:graphic>
      </p:graphicFrame>
      <p:sp>
        <p:nvSpPr>
          <p:cNvPr id="17" name="TextBox 246">
            <a:extLst>
              <a:ext uri="{FF2B5EF4-FFF2-40B4-BE49-F238E27FC236}">
                <a16:creationId xmlns:a16="http://schemas.microsoft.com/office/drawing/2014/main" id="{68D0FAE1-BC04-B888-AC2C-E6E47A476895}"/>
              </a:ext>
            </a:extLst>
          </p:cNvPr>
          <p:cNvSpPr txBox="1"/>
          <p:nvPr/>
        </p:nvSpPr>
        <p:spPr>
          <a:xfrm>
            <a:off x="261816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한국형 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6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차원 프레임워크 설계 기준</a:t>
            </a:r>
            <a:endParaRPr lang="en-US" altLang="ko-KR" sz="16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8DB2E175-4B39-9D09-D7AF-5556DF824492}"/>
              </a:ext>
            </a:extLst>
          </p:cNvPr>
          <p:cNvCxnSpPr>
            <a:cxnSpLocks/>
          </p:cNvCxnSpPr>
          <p:nvPr/>
        </p:nvCxnSpPr>
        <p:spPr>
          <a:xfrm>
            <a:off x="261816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246">
            <a:extLst>
              <a:ext uri="{FF2B5EF4-FFF2-40B4-BE49-F238E27FC236}">
                <a16:creationId xmlns:a16="http://schemas.microsoft.com/office/drawing/2014/main" id="{B0A0CCB8-D3E4-C631-2C9D-97627E938A93}"/>
              </a:ext>
            </a:extLst>
          </p:cNvPr>
          <p:cNvSpPr txBox="1"/>
          <p:nvPr/>
        </p:nvSpPr>
        <p:spPr>
          <a:xfrm>
            <a:off x="5083053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정책적 활용 방안</a:t>
            </a:r>
            <a:endParaRPr lang="en-US" altLang="ko-KR" sz="16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4DA46DA8-5860-CAC6-FE50-11D1010FFF12}"/>
              </a:ext>
            </a:extLst>
          </p:cNvPr>
          <p:cNvCxnSpPr>
            <a:cxnSpLocks/>
          </p:cNvCxnSpPr>
          <p:nvPr/>
        </p:nvCxnSpPr>
        <p:spPr>
          <a:xfrm>
            <a:off x="5083053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1716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5C352-52E6-7CBC-1986-21799A747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E47CA8C-90DA-511A-4DD6-385DF38BFA26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Ⅱ.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수행 방안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0" name="텍스트 개체 틀 1">
            <a:extLst>
              <a:ext uri="{FF2B5EF4-FFF2-40B4-BE49-F238E27FC236}">
                <a16:creationId xmlns:a16="http://schemas.microsoft.com/office/drawing/2014/main" id="{70B86866-69C9-8D53-5874-8AC6EE50AD2F}"/>
              </a:ext>
            </a:extLst>
          </p:cNvPr>
          <p:cNvSpPr txBox="1">
            <a:spLocks/>
          </p:cNvSpPr>
          <p:nvPr/>
        </p:nvSpPr>
        <p:spPr>
          <a:xfrm>
            <a:off x="243781" y="842963"/>
            <a:ext cx="9422507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>
              <a:defRPr sz="17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KSCO 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중분류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2~3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개를 대상으로 시뮬레이션을 실시하고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전문가 검토를 통해 직능유형 구성요소의 타당성과 변별력을 검증하여 최종안을 확정함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" name="TextBox 246">
            <a:extLst>
              <a:ext uri="{FF2B5EF4-FFF2-40B4-BE49-F238E27FC236}">
                <a16:creationId xmlns:a16="http://schemas.microsoft.com/office/drawing/2014/main" id="{34AC0C54-5DF2-18FC-3624-656ADC6B700A}"/>
              </a:ext>
            </a:extLst>
          </p:cNvPr>
          <p:cNvSpPr txBox="1"/>
          <p:nvPr/>
        </p:nvSpPr>
        <p:spPr>
          <a:xfrm>
            <a:off x="261816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시뮬레이션을 통한 검증 계획</a:t>
            </a:r>
            <a:endParaRPr lang="en-US" altLang="ko-KR" sz="16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346DC58-BDB9-50F9-3355-B1A7AB65EE9E}"/>
              </a:ext>
            </a:extLst>
          </p:cNvPr>
          <p:cNvCxnSpPr>
            <a:cxnSpLocks/>
          </p:cNvCxnSpPr>
          <p:nvPr/>
        </p:nvCxnSpPr>
        <p:spPr>
          <a:xfrm>
            <a:off x="261816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46">
            <a:extLst>
              <a:ext uri="{FF2B5EF4-FFF2-40B4-BE49-F238E27FC236}">
                <a16:creationId xmlns:a16="http://schemas.microsoft.com/office/drawing/2014/main" id="{EA68EB99-2B24-ADBD-2E1C-2D5248CDE778}"/>
              </a:ext>
            </a:extLst>
          </p:cNvPr>
          <p:cNvSpPr txBox="1"/>
          <p:nvPr/>
        </p:nvSpPr>
        <p:spPr>
          <a:xfrm>
            <a:off x="5086229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전문가 검토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조정</a:t>
            </a:r>
            <a:r>
              <a:rPr lang="en-US" altLang="ko-KR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60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항목</a:t>
            </a:r>
            <a:endParaRPr lang="en-US" altLang="ko-KR" sz="160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CE5A7DA-1C3B-CC50-EAF0-4C37E94AF65D}"/>
              </a:ext>
            </a:extLst>
          </p:cNvPr>
          <p:cNvCxnSpPr>
            <a:cxnSpLocks/>
          </p:cNvCxnSpPr>
          <p:nvPr/>
        </p:nvCxnSpPr>
        <p:spPr>
          <a:xfrm>
            <a:off x="5086229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6E13336-22A6-0EF9-01B7-EC2E4C9F2B90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04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F00CFDD-011C-562A-5FB2-6950D07C94A1}"/>
              </a:ext>
            </a:extLst>
          </p:cNvPr>
          <p:cNvSpPr/>
          <p:nvPr/>
        </p:nvSpPr>
        <p:spPr>
          <a:xfrm>
            <a:off x="-586309" y="5543"/>
            <a:ext cx="439178" cy="1554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9DB6A4B-FD06-D11F-D258-93C1A672A2FB}"/>
              </a:ext>
            </a:extLst>
          </p:cNvPr>
          <p:cNvSpPr/>
          <p:nvPr/>
        </p:nvSpPr>
        <p:spPr>
          <a:xfrm>
            <a:off x="-507160" y="64182"/>
            <a:ext cx="280880" cy="168544"/>
          </a:xfrm>
          <a:prstGeom prst="rect">
            <a:avLst/>
          </a:prstGeom>
          <a:solidFill>
            <a:srgbClr val="212E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DBE0EEE-5AD2-43EB-8A9F-F8C2D8199535}"/>
              </a:ext>
            </a:extLst>
          </p:cNvPr>
          <p:cNvSpPr/>
          <p:nvPr/>
        </p:nvSpPr>
        <p:spPr>
          <a:xfrm>
            <a:off x="-507160" y="705014"/>
            <a:ext cx="280880" cy="168544"/>
          </a:xfrm>
          <a:prstGeom prst="rect">
            <a:avLst/>
          </a:prstGeom>
          <a:solidFill>
            <a:srgbClr val="82B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3824A1F-758B-1523-5026-FAB20CD9BBE5}"/>
              </a:ext>
            </a:extLst>
          </p:cNvPr>
          <p:cNvSpPr/>
          <p:nvPr/>
        </p:nvSpPr>
        <p:spPr>
          <a:xfrm>
            <a:off x="-507160" y="281885"/>
            <a:ext cx="280880" cy="168544"/>
          </a:xfrm>
          <a:prstGeom prst="rect">
            <a:avLst/>
          </a:prstGeom>
          <a:solidFill>
            <a:srgbClr val="3061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8E06DFC-F6B1-9B17-DBAB-ACBAE0BFC1F1}"/>
              </a:ext>
            </a:extLst>
          </p:cNvPr>
          <p:cNvSpPr/>
          <p:nvPr/>
        </p:nvSpPr>
        <p:spPr>
          <a:xfrm>
            <a:off x="-507160" y="489352"/>
            <a:ext cx="280880" cy="168544"/>
          </a:xfrm>
          <a:prstGeom prst="rect">
            <a:avLst/>
          </a:prstGeom>
          <a:solidFill>
            <a:srgbClr val="DC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FA2383C-3EBC-9BFE-839B-FCA6B5B112CC}"/>
              </a:ext>
            </a:extLst>
          </p:cNvPr>
          <p:cNvSpPr/>
          <p:nvPr/>
        </p:nvSpPr>
        <p:spPr>
          <a:xfrm>
            <a:off x="-507160" y="914522"/>
            <a:ext cx="280880" cy="168544"/>
          </a:xfrm>
          <a:prstGeom prst="rect">
            <a:avLst/>
          </a:prstGeom>
          <a:solidFill>
            <a:srgbClr val="565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92848A2-3656-E135-EFA1-090AEDA31E19}"/>
              </a:ext>
            </a:extLst>
          </p:cNvPr>
          <p:cNvSpPr/>
          <p:nvPr/>
        </p:nvSpPr>
        <p:spPr>
          <a:xfrm>
            <a:off x="-507160" y="1127107"/>
            <a:ext cx="280880" cy="164042"/>
          </a:xfrm>
          <a:prstGeom prst="rect">
            <a:avLst/>
          </a:prstGeom>
          <a:solidFill>
            <a:srgbClr val="53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679DEA0-064C-A7A1-D56B-539F726DD2D3}"/>
              </a:ext>
            </a:extLst>
          </p:cNvPr>
          <p:cNvSpPr/>
          <p:nvPr/>
        </p:nvSpPr>
        <p:spPr>
          <a:xfrm>
            <a:off x="-507160" y="1335190"/>
            <a:ext cx="280880" cy="16404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F56"/>
              </a:solidFill>
              <a:effectLst/>
              <a:uLnTx/>
              <a:uFillTx/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E6F46DD-71B9-1434-51F2-956AAEBCB0D2}"/>
              </a:ext>
            </a:extLst>
          </p:cNvPr>
          <p:cNvSpPr txBox="1"/>
          <p:nvPr/>
        </p:nvSpPr>
        <p:spPr>
          <a:xfrm>
            <a:off x="978778" y="230485"/>
            <a:ext cx="869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시뮬레이션 검증 및 전문가</a:t>
            </a:r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검토</a:t>
            </a:r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조정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B510C29-3FCF-9328-5A21-4210908B60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963475"/>
              </p:ext>
            </p:extLst>
          </p:nvPr>
        </p:nvGraphicFramePr>
        <p:xfrm>
          <a:off x="236538" y="4010024"/>
          <a:ext cx="4608511" cy="2472944"/>
        </p:xfrm>
        <a:graphic>
          <a:graphicData uri="http://schemas.openxmlformats.org/drawingml/2006/table">
            <a:tbl>
              <a:tblPr/>
              <a:tblGrid>
                <a:gridCol w="1439862">
                  <a:extLst>
                    <a:ext uri="{9D8B030D-6E8A-4147-A177-3AD203B41FA5}">
                      <a16:colId xmlns:a16="http://schemas.microsoft.com/office/drawing/2014/main" val="3675168837"/>
                    </a:ext>
                  </a:extLst>
                </a:gridCol>
                <a:gridCol w="3168649">
                  <a:extLst>
                    <a:ext uri="{9D8B030D-6E8A-4147-A177-3AD203B41FA5}">
                      <a16:colId xmlns:a16="http://schemas.microsoft.com/office/drawing/2014/main" val="2445292385"/>
                    </a:ext>
                  </a:extLst>
                </a:gridCol>
              </a:tblGrid>
              <a:tr h="22929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시뮬레이션 절차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kern="1200" dirty="0">
                          <a:solidFill>
                            <a:schemeClr val="bg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내용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311988"/>
                  </a:ext>
                </a:extLst>
              </a:tr>
              <a:tr h="55346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①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 설명 분석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선정 중분류 내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세분류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직업의 설명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주요업무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관련 정보 종합분석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223882"/>
                  </a:ext>
                </a:extLst>
              </a:tr>
              <a:tr h="55346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②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활동 추출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정리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기반 텍스트 분석으로 직업 수행 활동 추출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행동 중심 정리 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637839"/>
                  </a:ext>
                </a:extLst>
              </a:tr>
              <a:tr h="55346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③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차원별 재구성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추출된 활동을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6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대 차원에 따라 분류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직능유형 요소로 재구성 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445202"/>
                  </a:ext>
                </a:extLst>
              </a:tr>
              <a:tr h="55346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④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변별력 검토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 간 구조 비교를 통해 각 차원 구성요소의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유의미성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확인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175186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B69163A5-985E-147C-96A7-C86BDE27C7A6}"/>
              </a:ext>
            </a:extLst>
          </p:cNvPr>
          <p:cNvSpPr txBox="1"/>
          <p:nvPr/>
        </p:nvSpPr>
        <p:spPr>
          <a:xfrm>
            <a:off x="5060951" y="2241550"/>
            <a:ext cx="1720850" cy="280669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검토</a:t>
            </a:r>
            <a:r>
              <a:rPr lang="en-US" altLang="ko-KR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altLang="en-US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조정 항목</a:t>
            </a:r>
            <a:endParaRPr lang="en-US" altLang="ko-KR" sz="11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ED489AD-4CB6-631D-C654-69D299699D97}"/>
              </a:ext>
            </a:extLst>
          </p:cNvPr>
          <p:cNvSpPr txBox="1"/>
          <p:nvPr/>
        </p:nvSpPr>
        <p:spPr>
          <a:xfrm>
            <a:off x="6905624" y="2241550"/>
            <a:ext cx="2741917" cy="280669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1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내용</a:t>
            </a:r>
            <a:endParaRPr lang="en-US" altLang="ko-KR" sz="11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79ED104-9AA4-C31B-0600-79E56080E0FA}"/>
              </a:ext>
            </a:extLst>
          </p:cNvPr>
          <p:cNvSpPr txBox="1"/>
          <p:nvPr/>
        </p:nvSpPr>
        <p:spPr>
          <a:xfrm>
            <a:off x="236539" y="2241550"/>
            <a:ext cx="813100" cy="1538200"/>
          </a:xfrm>
          <a:prstGeom prst="rect">
            <a:avLst/>
          </a:prstGeom>
          <a:solidFill>
            <a:srgbClr val="00479D"/>
          </a:solidFill>
          <a:ln w="2857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ko-KR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804838">
              <a:lnSpc>
                <a:spcPct val="130000"/>
              </a:lnSpc>
              <a:defRPr/>
            </a:pPr>
            <a:r>
              <a:rPr lang="ko-KR" altLang="en-US" sz="12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시뮬레이션</a:t>
            </a:r>
            <a:endParaRPr lang="en-US" altLang="ko-KR" sz="12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defTabSz="804838">
              <a:lnSpc>
                <a:spcPct val="130000"/>
              </a:lnSpc>
              <a:defRPr/>
            </a:pPr>
            <a:r>
              <a:rPr lang="ko-KR" altLang="en-US" sz="12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대상 선정</a:t>
            </a:r>
            <a:endParaRPr lang="en-US" altLang="ko-KR" sz="12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E77CCEC-514A-4E51-3B9F-340F34BAC51D}"/>
              </a:ext>
            </a:extLst>
          </p:cNvPr>
          <p:cNvSpPr txBox="1"/>
          <p:nvPr/>
        </p:nvSpPr>
        <p:spPr>
          <a:xfrm>
            <a:off x="1124910" y="2276474"/>
            <a:ext cx="3698220" cy="1492959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en-US" altLang="ko-KR" sz="1200" dirty="0"/>
              <a:t> [KSCO </a:t>
            </a:r>
            <a:r>
              <a:rPr lang="ko-KR" altLang="en-US" sz="1200" dirty="0"/>
              <a:t>중분류 수준</a:t>
            </a:r>
            <a:r>
              <a:rPr lang="en-US" altLang="ko-KR" sz="1200" dirty="0"/>
              <a:t>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직무 특성이 서로 다른 산업 영역을 대표하는 </a:t>
            </a:r>
            <a:r>
              <a:rPr lang="ko-KR" altLang="en-US" sz="1200" dirty="0" err="1"/>
              <a:t>직업군</a:t>
            </a: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지식 기반 직업과 기술 기반 직업을 모두 포함하는 </a:t>
            </a:r>
            <a:r>
              <a:rPr lang="ko-KR" altLang="en-US" sz="1200" dirty="0" err="1"/>
              <a:t>직업군</a:t>
            </a: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직무 수행 방식이 비교적 명확하게 구분되는 </a:t>
            </a:r>
            <a:r>
              <a:rPr lang="ko-KR" altLang="en-US" sz="1200" dirty="0" err="1"/>
              <a:t>직업군</a:t>
            </a:r>
            <a:endParaRPr lang="en-US" altLang="ko-KR" sz="1200" dirty="0"/>
          </a:p>
          <a:p>
            <a:r>
              <a:rPr lang="en-US" altLang="ko-KR" sz="1200" dirty="0"/>
              <a:t>ex) </a:t>
            </a:r>
            <a:r>
              <a:rPr lang="ko-KR" altLang="en-US" sz="1200" dirty="0"/>
              <a:t>전문서비스 영역 </a:t>
            </a:r>
            <a:r>
              <a:rPr lang="en-US" altLang="ko-KR" sz="1200" dirty="0"/>
              <a:t>+ </a:t>
            </a:r>
            <a:r>
              <a:rPr lang="ko-KR" altLang="en-US" sz="1200" dirty="0"/>
              <a:t>생산 영역 </a:t>
            </a:r>
            <a:r>
              <a:rPr lang="en-US" altLang="ko-KR" sz="1200" dirty="0"/>
              <a:t>+ </a:t>
            </a:r>
            <a:r>
              <a:rPr lang="ko-KR" altLang="en-US" sz="1200" dirty="0"/>
              <a:t>기술 영역 등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26073A-1E23-E448-7786-8D40EEF932EC}"/>
              </a:ext>
            </a:extLst>
          </p:cNvPr>
          <p:cNvSpPr txBox="1"/>
          <p:nvPr/>
        </p:nvSpPr>
        <p:spPr>
          <a:xfrm>
            <a:off x="5060951" y="2697481"/>
            <a:ext cx="1720854" cy="596857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en-US"/>
            </a:defPPr>
            <a:lvl1pPr algn="ctr" defTabSz="804838">
              <a:lnSpc>
                <a:spcPct val="130000"/>
              </a:lnSpc>
              <a:defRPr sz="1200"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100" dirty="0"/>
              <a:t>① 직능유형 차원 구분의 적절성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A64551-CBD9-F17C-920B-3D38B42AD20B}"/>
              </a:ext>
            </a:extLst>
          </p:cNvPr>
          <p:cNvSpPr txBox="1"/>
          <p:nvPr/>
        </p:nvSpPr>
        <p:spPr>
          <a:xfrm>
            <a:off x="5060951" y="3488748"/>
            <a:ext cx="1720854" cy="596857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en-US"/>
            </a:defPPr>
            <a:lvl1pPr algn="ctr" defTabSz="804838">
              <a:lnSpc>
                <a:spcPct val="130000"/>
              </a:lnSpc>
              <a:defRPr sz="1200"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100" dirty="0"/>
              <a:t>② 차원별 직능유형 구성요소의 타당성 및 변별력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7580D8-C6FD-2637-577F-452F85C8BEA8}"/>
              </a:ext>
            </a:extLst>
          </p:cNvPr>
          <p:cNvSpPr txBox="1"/>
          <p:nvPr/>
        </p:nvSpPr>
        <p:spPr>
          <a:xfrm>
            <a:off x="5060951" y="4280017"/>
            <a:ext cx="1720854" cy="596857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en-US"/>
            </a:defPPr>
            <a:lvl1pPr algn="ctr" defTabSz="804838">
              <a:lnSpc>
                <a:spcPct val="130000"/>
              </a:lnSpc>
              <a:defRPr sz="1200"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100" dirty="0"/>
              <a:t>③ 한국표준직업분류 체계와의 정합성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964B60-10C6-D097-D256-B5D9A0B6B922}"/>
              </a:ext>
            </a:extLst>
          </p:cNvPr>
          <p:cNvSpPr txBox="1"/>
          <p:nvPr/>
        </p:nvSpPr>
        <p:spPr>
          <a:xfrm>
            <a:off x="6905625" y="2697481"/>
            <a:ext cx="2741917" cy="596857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tabLst>
                <a:tab pos="92075" algn="l"/>
              </a:tabLst>
            </a:pPr>
            <a:r>
              <a:rPr lang="en-US" altLang="ko-KR" dirty="0"/>
              <a:t>6</a:t>
            </a:r>
            <a:r>
              <a:rPr lang="ko-KR" altLang="en-US" dirty="0"/>
              <a:t>대 차원</a:t>
            </a:r>
            <a:r>
              <a:rPr lang="en-US" altLang="ko-KR" dirty="0"/>
              <a:t>(</a:t>
            </a:r>
            <a:r>
              <a:rPr lang="ko-KR" altLang="en-US" dirty="0"/>
              <a:t>업무</a:t>
            </a:r>
            <a:r>
              <a:rPr lang="en-US" altLang="ko-KR" dirty="0"/>
              <a:t>·</a:t>
            </a:r>
            <a:r>
              <a:rPr lang="ko-KR" altLang="en-US" dirty="0"/>
              <a:t>지식</a:t>
            </a:r>
            <a:r>
              <a:rPr lang="en-US" altLang="ko-KR" dirty="0"/>
              <a:t>·</a:t>
            </a:r>
            <a:r>
              <a:rPr lang="ko-KR" altLang="en-US" dirty="0"/>
              <a:t>기술</a:t>
            </a:r>
            <a:r>
              <a:rPr lang="en-US" altLang="ko-KR" dirty="0"/>
              <a:t>·</a:t>
            </a:r>
            <a:r>
              <a:rPr lang="ko-KR" altLang="en-US" dirty="0"/>
              <a:t>능력</a:t>
            </a:r>
            <a:r>
              <a:rPr lang="en-US" altLang="ko-KR" dirty="0"/>
              <a:t>·</a:t>
            </a:r>
            <a:r>
              <a:rPr lang="ko-KR" altLang="en-US" dirty="0"/>
              <a:t>도구</a:t>
            </a:r>
            <a:r>
              <a:rPr lang="en-US" altLang="ko-KR" dirty="0"/>
              <a:t>·</a:t>
            </a:r>
            <a:r>
              <a:rPr lang="ko-KR" altLang="en-US" dirty="0"/>
              <a:t>환경</a:t>
            </a:r>
            <a:r>
              <a:rPr lang="en-US" altLang="ko-KR" dirty="0"/>
              <a:t>)</a:t>
            </a:r>
            <a:r>
              <a:rPr lang="ko-KR" altLang="en-US" dirty="0"/>
              <a:t>이 직업 수행 활동을 설명하기에 적절한 구분인지 검토</a:t>
            </a:r>
            <a:endParaRPr lang="en-US" altLang="ko-KR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E762F6F-7009-DF79-9D3E-9BD3CF1C63FE}"/>
              </a:ext>
            </a:extLst>
          </p:cNvPr>
          <p:cNvSpPr txBox="1"/>
          <p:nvPr/>
        </p:nvSpPr>
        <p:spPr>
          <a:xfrm>
            <a:off x="6905625" y="3491271"/>
            <a:ext cx="2741917" cy="596857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tabLst>
                <a:tab pos="92075" algn="l"/>
              </a:tabLs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ko-KR" altLang="en-US" dirty="0"/>
              <a:t>각 차원의 구성요소가 직업 간 차이를 유의미하게 설명할 수 있는지</a:t>
            </a:r>
            <a:r>
              <a:rPr lang="en-US" altLang="ko-KR" dirty="0"/>
              <a:t>, </a:t>
            </a:r>
            <a:r>
              <a:rPr lang="ko-KR" altLang="en-US" dirty="0"/>
              <a:t>중복</a:t>
            </a:r>
            <a:r>
              <a:rPr lang="en-US" altLang="ko-KR" dirty="0"/>
              <a:t>·</a:t>
            </a:r>
            <a:r>
              <a:rPr lang="ko-KR" altLang="en-US" dirty="0"/>
              <a:t>누락 없이 설계되었는지 검토</a:t>
            </a:r>
            <a:endParaRPr lang="en-US" altLang="ko-KR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DBAFD1A-05A9-C3CA-3785-7D0C3F12D98B}"/>
              </a:ext>
            </a:extLst>
          </p:cNvPr>
          <p:cNvSpPr txBox="1"/>
          <p:nvPr/>
        </p:nvSpPr>
        <p:spPr>
          <a:xfrm>
            <a:off x="6905625" y="4279429"/>
            <a:ext cx="2741917" cy="596857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tabLst>
                <a:tab pos="92075" algn="l"/>
              </a:tabLs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ko-KR" altLang="en-US" dirty="0"/>
              <a:t>도출된 </a:t>
            </a:r>
            <a:r>
              <a:rPr lang="ko-KR" altLang="en-US"/>
              <a:t>구성요소가 </a:t>
            </a:r>
            <a:r>
              <a:rPr lang="en-US" altLang="ko-KR"/>
              <a:t>KSCO </a:t>
            </a:r>
            <a:r>
              <a:rPr lang="ko-KR" altLang="en-US"/>
              <a:t>분류체계</a:t>
            </a:r>
            <a:r>
              <a:rPr lang="en-US" altLang="ko-KR"/>
              <a:t>(</a:t>
            </a:r>
            <a:r>
              <a:rPr lang="ko-KR" altLang="en-US"/>
              <a:t>대</a:t>
            </a:r>
            <a:r>
              <a:rPr lang="en-US" altLang="ko-KR"/>
              <a:t>-</a:t>
            </a:r>
            <a:r>
              <a:rPr lang="ko-KR" altLang="en-US"/>
              <a:t>중</a:t>
            </a:r>
            <a:r>
              <a:rPr lang="en-US" altLang="ko-KR"/>
              <a:t>-</a:t>
            </a:r>
            <a:r>
              <a:rPr lang="ko-KR" altLang="en-US"/>
              <a:t>소</a:t>
            </a:r>
            <a:r>
              <a:rPr lang="en-US" altLang="ko-KR"/>
              <a:t>-</a:t>
            </a:r>
            <a:r>
              <a:rPr lang="ko-KR" altLang="en-US"/>
              <a:t>세분류</a:t>
            </a:r>
            <a:r>
              <a:rPr lang="en-US" altLang="ko-KR" dirty="0"/>
              <a:t>)</a:t>
            </a:r>
            <a:r>
              <a:rPr lang="ko-KR" altLang="en-US" dirty="0"/>
              <a:t>와 정합적으로 연계 </a:t>
            </a:r>
            <a:r>
              <a:rPr lang="ko-KR" altLang="en-US"/>
              <a:t>가능한지 검토</a:t>
            </a:r>
            <a:endParaRPr lang="en-US" altLang="ko-KR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E536232-3AB2-1909-E953-DCC09CC76EE8}"/>
              </a:ext>
            </a:extLst>
          </p:cNvPr>
          <p:cNvSpPr txBox="1"/>
          <p:nvPr/>
        </p:nvSpPr>
        <p:spPr>
          <a:xfrm>
            <a:off x="5060951" y="5068174"/>
            <a:ext cx="1720854" cy="596857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en-US"/>
            </a:defPPr>
            <a:lvl1pPr algn="ctr" defTabSz="804838">
              <a:lnSpc>
                <a:spcPct val="130000"/>
              </a:lnSpc>
              <a:defRPr sz="1200"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100" dirty="0"/>
              <a:t>④</a:t>
            </a:r>
            <a:r>
              <a:rPr lang="en-US" altLang="ko-KR" sz="1100" dirty="0"/>
              <a:t> </a:t>
            </a:r>
            <a:r>
              <a:rPr lang="ko-KR" altLang="en-US" sz="1100" dirty="0"/>
              <a:t>직업정보 분석 및 정책 현장에서의 적용 가능성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34BAAA3-16DD-9D36-609C-E28D0820FE1C}"/>
              </a:ext>
            </a:extLst>
          </p:cNvPr>
          <p:cNvSpPr txBox="1"/>
          <p:nvPr/>
        </p:nvSpPr>
        <p:spPr>
          <a:xfrm>
            <a:off x="6905625" y="5067587"/>
            <a:ext cx="2741917" cy="596857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tabLst>
                <a:tab pos="92075" algn="l"/>
              </a:tabLs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ko-KR" altLang="en-US" dirty="0"/>
              <a:t>고용서비스</a:t>
            </a:r>
            <a:r>
              <a:rPr lang="en-US" altLang="ko-KR" dirty="0"/>
              <a:t>(</a:t>
            </a:r>
            <a:r>
              <a:rPr lang="ko-KR" altLang="en-US" dirty="0"/>
              <a:t>직업상담</a:t>
            </a:r>
            <a:r>
              <a:rPr lang="en-US" altLang="ko-KR" dirty="0"/>
              <a:t>·</a:t>
            </a:r>
            <a:r>
              <a:rPr lang="ko-KR" altLang="en-US" dirty="0"/>
              <a:t>취업알선</a:t>
            </a:r>
            <a:r>
              <a:rPr lang="en-US" altLang="ko-KR" dirty="0"/>
              <a:t>), </a:t>
            </a:r>
            <a:r>
              <a:rPr lang="ko-KR" altLang="en-US" dirty="0"/>
              <a:t>인력수급 분석</a:t>
            </a:r>
            <a:r>
              <a:rPr lang="en-US" altLang="ko-KR" dirty="0"/>
              <a:t>, </a:t>
            </a:r>
            <a:r>
              <a:rPr lang="ko-KR" altLang="en-US" dirty="0"/>
              <a:t>교육훈련 설계 등 정책 현장에서 실제 활용 가능한지 검토</a:t>
            </a:r>
            <a:endParaRPr lang="en-US" altLang="ko-KR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D7ED520-AE17-6924-FA56-D8BDACC6B18E}"/>
              </a:ext>
            </a:extLst>
          </p:cNvPr>
          <p:cNvSpPr txBox="1"/>
          <p:nvPr/>
        </p:nvSpPr>
        <p:spPr>
          <a:xfrm>
            <a:off x="5060951" y="5856332"/>
            <a:ext cx="1720854" cy="596857"/>
          </a:xfrm>
          <a:prstGeom prst="rect">
            <a:avLst/>
          </a:prstGeom>
          <a:solidFill>
            <a:srgbClr val="DDEBF7"/>
          </a:solidFill>
          <a:ln w="28575" cap="flat" cmpd="sng" algn="ctr">
            <a:solidFill>
              <a:srgbClr val="71AAE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rtlCol="0" anchor="ctr"/>
          <a:lstStyle>
            <a:defPPr>
              <a:defRPr lang="en-US"/>
            </a:defPPr>
            <a:lvl1pPr algn="ctr" defTabSz="804838">
              <a:lnSpc>
                <a:spcPct val="130000"/>
              </a:lnSpc>
              <a:defRPr sz="1200">
                <a:latin typeface="페이퍼로지 5 Medium" pitchFamily="2" charset="-127"/>
                <a:ea typeface="페이퍼로지 5 Medium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100" dirty="0"/>
              <a:t>⑤ 향후 직업분류 개정 시 활용 가능성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BF4514-8273-574A-29D8-805C41048B5B}"/>
              </a:ext>
            </a:extLst>
          </p:cNvPr>
          <p:cNvSpPr txBox="1"/>
          <p:nvPr/>
        </p:nvSpPr>
        <p:spPr>
          <a:xfrm>
            <a:off x="6905625" y="5855744"/>
            <a:ext cx="2741917" cy="596857"/>
          </a:xfrm>
          <a:prstGeom prst="rect">
            <a:avLst/>
          </a:prstGeom>
          <a:solidFill>
            <a:schemeClr val="bg1"/>
          </a:solidFill>
          <a:ln w="38100" cmpd="tri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 rtlCol="0" anchor="ctr"/>
          <a:lstStyle>
            <a:defPPr>
              <a:defRPr lang="en-US"/>
            </a:defPPr>
            <a:lvl1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tabLst>
                <a:tab pos="92075" algn="l"/>
              </a:tabLst>
              <a:defRPr kumimoji="1" sz="1000" b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Paperlogy-4Regular" pitchFamily="34" charset="-120"/>
              </a:defRPr>
            </a:lvl1pPr>
            <a:lvl2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5pPr>
            <a:lvl6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6pPr>
            <a:lvl7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7pPr>
            <a:lvl8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8pPr>
            <a:lvl9pPr defTabSz="914400" latinLnBrk="1">
              <a:defRPr kumimoji="1" sz="1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en-US" altLang="ko-KR" dirty="0"/>
              <a:t>ISCO-28 </a:t>
            </a:r>
            <a:r>
              <a:rPr lang="ko-KR" altLang="en-US" dirty="0"/>
              <a:t>개정 </a:t>
            </a:r>
            <a:r>
              <a:rPr lang="ko-KR" altLang="en-US"/>
              <a:t>대비 </a:t>
            </a:r>
            <a:r>
              <a:rPr lang="en-US" altLang="ko-KR" dirty="0"/>
              <a:t>KSCO </a:t>
            </a:r>
            <a:r>
              <a:rPr lang="ko-KR" altLang="en-US" dirty="0"/>
              <a:t>개정 과정에서 직능유형 편제 기준으로 활용할 수 </a:t>
            </a:r>
            <a:r>
              <a:rPr lang="ko-KR" altLang="en-US"/>
              <a:t>있는지 검토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83884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A9AB8-105A-3414-E16C-64DFD03EB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87BCCFA6-D6CE-4C17-D353-236FDB109EC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538" y="45376"/>
            <a:ext cx="4938377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EA50B815-9BE3-9FE5-CEB7-F17C567D7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9057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876B288-0B43-C1AC-F278-4924DEB9E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7" y="30095"/>
            <a:ext cx="990575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28595FB-9828-AA8D-0250-D842EB9AE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7" y="-11219"/>
            <a:ext cx="4588167" cy="6483075"/>
            <a:chOff x="-19221" y="0"/>
            <a:chExt cx="5646974" cy="6483075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A725B30-9F41-67DB-4F1C-9327C9C7A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F7D4C54-9713-9CDC-4FB0-D3ED6E970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97AFC73-C6FE-0306-E830-242FE1040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6ADB1F2-9A43-CBB9-BC2F-C0D762F142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D94CEB7-1E30-C032-CE16-5841510D0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6" name="Picture 3">
            <a:extLst>
              <a:ext uri="{FF2B5EF4-FFF2-40B4-BE49-F238E27FC236}">
                <a16:creationId xmlns:a16="http://schemas.microsoft.com/office/drawing/2014/main" id="{1642F8A9-A6BF-185A-FC0E-1A009AE0B8F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6126481" cy="6858001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</p:pic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F98B9C43-2C26-FEB1-F95B-E295EAF9F1F1}"/>
              </a:ext>
            </a:extLst>
          </p:cNvPr>
          <p:cNvSpPr txBox="1">
            <a:spLocks/>
          </p:cNvSpPr>
          <p:nvPr/>
        </p:nvSpPr>
        <p:spPr>
          <a:xfrm>
            <a:off x="796" y="2009014"/>
            <a:ext cx="6003764" cy="1066962"/>
          </a:xfrm>
          <a:prstGeom prst="rect">
            <a:avLst/>
          </a:prstGeom>
        </p:spPr>
        <p:txBody>
          <a:bodyPr vert="horz" wrap="square" lIns="360000" tIns="72001" rIns="25200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None/>
              <a:defRPr lang="en-US" sz="21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400" indent="-2304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&gt;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82400" indent="-23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–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698400" indent="-201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-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6984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None/>
              <a:defRPr sz="1700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400"/>
              </a:spcBef>
              <a:defRPr/>
            </a:pPr>
            <a:r>
              <a:rPr lang="en-US" altLang="ko-KR" sz="25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Ⅲ. </a:t>
            </a:r>
            <a:r>
              <a:rPr lang="ko-KR" altLang="en-US" sz="25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연구 관리 방안</a:t>
            </a:r>
          </a:p>
        </p:txBody>
      </p:sp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730590C1-05DD-5045-B0F3-BDEB1BD9BBDE}"/>
              </a:ext>
            </a:extLst>
          </p:cNvPr>
          <p:cNvSpPr txBox="1">
            <a:spLocks/>
          </p:cNvSpPr>
          <p:nvPr/>
        </p:nvSpPr>
        <p:spPr>
          <a:xfrm>
            <a:off x="277426" y="2683422"/>
            <a:ext cx="5849055" cy="2165564"/>
          </a:xfrm>
          <a:prstGeom prst="rect">
            <a:avLst/>
          </a:prstGeom>
        </p:spPr>
        <p:txBody>
          <a:bodyPr vert="horz" wrap="square" lIns="360000" tIns="72001" rIns="25200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None/>
              <a:defRPr lang="en-US" sz="21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400" indent="-2304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&gt;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82400" indent="-23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–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698400" indent="-201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Char char="-"/>
              <a:defRPr lang="en-US" sz="2100" b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6984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 Narrow" pitchFamily="34" charset="0"/>
              <a:buNone/>
              <a:defRPr sz="1700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 Narrow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40000"/>
              </a:lnSpc>
              <a:spcBef>
                <a:spcPts val="400"/>
              </a:spcBef>
              <a:buClr>
                <a:srgbClr val="000000"/>
              </a:buClr>
              <a:buAutoNum type="arabicPeriod"/>
              <a:defRPr/>
            </a:pPr>
            <a:r>
              <a:rPr lang="ko-KR" altLang="en-US" sz="200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rPr>
              <a:t>수행 조직 및 업무분장</a:t>
            </a:r>
            <a:endParaRPr lang="en-US" altLang="ko-KR" sz="2000" dirty="0">
              <a:solidFill>
                <a:srgbClr val="000000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342900" lvl="1" indent="-342900">
              <a:lnSpc>
                <a:spcPct val="140000"/>
              </a:lnSpc>
              <a:spcBef>
                <a:spcPts val="400"/>
              </a:spcBef>
              <a:buClr>
                <a:srgbClr val="000000"/>
              </a:buClr>
              <a:buAutoNum type="arabicPeriod"/>
              <a:defRPr/>
            </a:pPr>
            <a:r>
              <a:rPr lang="ko-KR" altLang="en-US" sz="200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</a:rPr>
              <a:t>추진 일정 계획</a:t>
            </a:r>
            <a:endParaRPr lang="en-US" altLang="ko-KR" sz="2000" dirty="0">
              <a:solidFill>
                <a:srgbClr val="000000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92648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816B2-CCE8-6040-4A8D-9C213165B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C0DDCC8B-6BDB-9972-DBDB-D1AF2A578D2D}"/>
              </a:ext>
            </a:extLst>
          </p:cNvPr>
          <p:cNvSpPr txBox="1"/>
          <p:nvPr/>
        </p:nvSpPr>
        <p:spPr>
          <a:xfrm>
            <a:off x="236538" y="230486"/>
            <a:ext cx="742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02</a:t>
            </a:r>
            <a:endParaRPr lang="ko-KR" altLang="en-US" sz="2400" dirty="0">
              <a:solidFill>
                <a:srgbClr val="004193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B18479A2-B237-7094-285D-762366062719}"/>
              </a:ext>
            </a:extLst>
          </p:cNvPr>
          <p:cNvSpPr txBox="1"/>
          <p:nvPr/>
        </p:nvSpPr>
        <p:spPr>
          <a:xfrm>
            <a:off x="978778" y="230485"/>
            <a:ext cx="869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240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수행 조직 및 업무분장</a:t>
            </a:r>
            <a:endParaRPr lang="ko-KR" altLang="en-US" sz="2400" dirty="0">
              <a:solidFill>
                <a:srgbClr val="004193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4F6F9CE-10B8-7455-40DD-7EB6EC9715D2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 latinLnBrk="0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Ⅲ.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관리 방안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14ED582-EA63-0E9D-ED9D-62221E45DD4C}"/>
              </a:ext>
            </a:extLst>
          </p:cNvPr>
          <p:cNvSpPr txBox="1">
            <a:spLocks/>
          </p:cNvSpPr>
          <p:nvPr/>
        </p:nvSpPr>
        <p:spPr>
          <a:xfrm>
            <a:off x="243781" y="842963"/>
            <a:ext cx="9422507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457200" rtl="0" eaLnBrk="1" latinLnBrk="0" hangingPunct="1">
              <a:defRPr lang="en-US" altLang="ko-KR" sz="813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700" b="0" i="0" u="none" strike="noStrike" kern="1200" cap="none" spc="-50" normalizeH="0" baseline="0" noProof="0" dirty="0" err="1">
                <a:ln>
                  <a:solidFill>
                    <a:srgbClr val="15608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ㅇㅇㅇㅇ</a:t>
            </a:r>
            <a:endParaRPr kumimoji="0" lang="ko-KR" altLang="en-US" sz="1700" b="0" i="0" u="none" strike="noStrike" kern="1200" cap="none" spc="-50" normalizeH="0" baseline="0" noProof="0" dirty="0">
              <a:ln>
                <a:solidFill>
                  <a:srgbClr val="156082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077FA0-CF77-5317-A429-0D9AE8C8AF96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graphicFrame>
        <p:nvGraphicFramePr>
          <p:cNvPr id="71" name="표 70">
            <a:extLst>
              <a:ext uri="{FF2B5EF4-FFF2-40B4-BE49-F238E27FC236}">
                <a16:creationId xmlns:a16="http://schemas.microsoft.com/office/drawing/2014/main" id="{757C3E6E-94F7-5FAA-3DC2-BDB5B3DF98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7779146"/>
              </p:ext>
            </p:extLst>
          </p:nvPr>
        </p:nvGraphicFramePr>
        <p:xfrm>
          <a:off x="871536" y="6031802"/>
          <a:ext cx="3348218" cy="421386"/>
        </p:xfrm>
        <a:graphic>
          <a:graphicData uri="http://schemas.openxmlformats.org/drawingml/2006/table">
            <a:tbl>
              <a:tblPr/>
              <a:tblGrid>
                <a:gridCol w="3348218">
                  <a:extLst>
                    <a:ext uri="{9D8B030D-6E8A-4147-A177-3AD203B41FA5}">
                      <a16:colId xmlns:a16="http://schemas.microsoft.com/office/drawing/2014/main" val="3028536386"/>
                    </a:ext>
                  </a:extLst>
                </a:gridCol>
              </a:tblGrid>
              <a:tr h="42138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a고딕1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a고딕1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a고딕1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a고딕1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a고딕1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a고딕1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a고딕1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a고딕1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a고딕14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100" kern="0" spc="0" baseline="0" dirty="0">
                          <a:solidFill>
                            <a:srgbClr val="3061A3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[</a:t>
                      </a:r>
                      <a:r>
                        <a:rPr lang="ko-KR" altLang="en-US" sz="1100" kern="0" spc="0" baseline="0" dirty="0">
                          <a:solidFill>
                            <a:srgbClr val="3061A3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연구 및 사업 관리인력 </a:t>
                      </a:r>
                      <a:r>
                        <a:rPr lang="en-US" altLang="ko-KR" sz="1100" kern="0" spc="0" baseline="0" dirty="0">
                          <a:solidFill>
                            <a:srgbClr val="3061A3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: </a:t>
                      </a:r>
                      <a:r>
                        <a:rPr lang="ko-KR" altLang="en-US" sz="1100" kern="0" spc="0" baseline="0" dirty="0">
                          <a:solidFill>
                            <a:srgbClr val="3061A3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총 </a:t>
                      </a:r>
                      <a:r>
                        <a:rPr lang="en-US" altLang="ko-KR" sz="1100" kern="0" spc="0" baseline="0" dirty="0">
                          <a:solidFill>
                            <a:srgbClr val="3061A3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6</a:t>
                      </a:r>
                      <a:r>
                        <a:rPr lang="ko-KR" altLang="en-US" sz="1100" kern="0" spc="0" baseline="0" dirty="0">
                          <a:solidFill>
                            <a:srgbClr val="3061A3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명</a:t>
                      </a:r>
                      <a:r>
                        <a:rPr lang="en-US" altLang="ko-KR" sz="1100" kern="0" spc="0" baseline="0" dirty="0">
                          <a:solidFill>
                            <a:srgbClr val="3061A3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]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100" kern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책임연구원 </a:t>
                      </a:r>
                      <a:r>
                        <a:rPr lang="en-US" altLang="ko-KR" sz="1100" kern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: 1</a:t>
                      </a:r>
                      <a:r>
                        <a:rPr lang="ko-KR" altLang="en-US" sz="1100" kern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명</a:t>
                      </a:r>
                      <a:r>
                        <a:rPr lang="en-US" altLang="ko-KR" sz="1100" kern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  </a:t>
                      </a:r>
                      <a:r>
                        <a:rPr lang="ko-KR" altLang="en-US" sz="1100" kern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공동연구원 </a:t>
                      </a:r>
                      <a:r>
                        <a:rPr lang="en-US" altLang="ko-KR" sz="1100" kern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:</a:t>
                      </a:r>
                      <a:r>
                        <a:rPr lang="ko-KR" altLang="en-US" sz="1100" kern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 </a:t>
                      </a:r>
                      <a:r>
                        <a:rPr lang="en-US" altLang="ko-KR" sz="1100" kern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3</a:t>
                      </a:r>
                      <a:r>
                        <a:rPr lang="ko-KR" altLang="en-US" sz="1100" kern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명  연구보조원 </a:t>
                      </a:r>
                      <a:r>
                        <a:rPr lang="en-US" altLang="ko-KR" sz="1100" kern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:</a:t>
                      </a:r>
                      <a:r>
                        <a:rPr lang="ko-KR" altLang="en-US" sz="1100" kern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 </a:t>
                      </a:r>
                      <a:r>
                        <a:rPr lang="en-US" altLang="ko-KR" sz="1100" kern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2</a:t>
                      </a:r>
                      <a:r>
                        <a:rPr lang="ko-KR" altLang="en-US" sz="1100" kern="0" spc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명</a:t>
                      </a:r>
                      <a:endParaRPr lang="en-US" altLang="ko-KR" sz="1100" kern="0" spc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17908" marR="17908" marT="17908" marB="17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534146"/>
                  </a:ext>
                </a:extLst>
              </a:tr>
            </a:tbl>
          </a:graphicData>
        </a:graphic>
      </p:graphicFrame>
      <p:grpSp>
        <p:nvGrpSpPr>
          <p:cNvPr id="84" name="그룹 83">
            <a:extLst>
              <a:ext uri="{FF2B5EF4-FFF2-40B4-BE49-F238E27FC236}">
                <a16:creationId xmlns:a16="http://schemas.microsoft.com/office/drawing/2014/main" id="{9D58BD06-7D13-AAD4-79B1-2E22A2D374BB}"/>
              </a:ext>
            </a:extLst>
          </p:cNvPr>
          <p:cNvGrpSpPr/>
          <p:nvPr/>
        </p:nvGrpSpPr>
        <p:grpSpPr>
          <a:xfrm>
            <a:off x="416426" y="2276475"/>
            <a:ext cx="4258441" cy="3533784"/>
            <a:chOff x="1456559" y="1741323"/>
            <a:chExt cx="5093316" cy="3247543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35580ADF-709F-4214-962D-342DDF40DA60}"/>
                </a:ext>
              </a:extLst>
            </p:cNvPr>
            <p:cNvGrpSpPr/>
            <p:nvPr/>
          </p:nvGrpSpPr>
          <p:grpSpPr>
            <a:xfrm>
              <a:off x="3283217" y="1741323"/>
              <a:ext cx="1440000" cy="602987"/>
              <a:chOff x="3283217" y="1741323"/>
              <a:chExt cx="1440000" cy="602987"/>
            </a:xfrm>
          </p:grpSpPr>
          <p:sp>
            <p:nvSpPr>
              <p:cNvPr id="46" name="모서리가 둥근 직사각형 167">
                <a:extLst>
                  <a:ext uri="{FF2B5EF4-FFF2-40B4-BE49-F238E27FC236}">
                    <a16:creationId xmlns:a16="http://schemas.microsoft.com/office/drawing/2014/main" id="{DDD1FCDB-85F0-2022-60F4-FCD6ADE13D5B}"/>
                  </a:ext>
                </a:extLst>
              </p:cNvPr>
              <p:cNvSpPr/>
              <p:nvPr/>
            </p:nvSpPr>
            <p:spPr bwMode="auto">
              <a:xfrm>
                <a:off x="3283217" y="1741323"/>
                <a:ext cx="1440000" cy="306000"/>
              </a:xfrm>
              <a:prstGeom prst="roundRect">
                <a:avLst>
                  <a:gd name="adj" fmla="val 0"/>
                </a:avLst>
              </a:prstGeom>
              <a:solidFill>
                <a:srgbClr val="1F497D"/>
              </a:solidFill>
              <a:ln w="9525" cap="flat" cmpd="sng" algn="ctr">
                <a:solidFill>
                  <a:srgbClr val="003F56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lIns="0" rIns="0" anchor="ctr"/>
              <a:lstStyle/>
              <a:p>
                <a:pPr algn="ctr" defTabSz="914395" eaLnBrk="0" fontAlgn="base" hangingPunct="0">
                  <a:lnSpc>
                    <a:spcPts val="17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ko-KR" altLang="en-US" sz="1200" kern="0" spc="-50" dirty="0">
                    <a:solidFill>
                      <a:schemeClr val="bg1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연구 책임자</a:t>
                </a:r>
              </a:p>
            </p:txBody>
          </p: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1CD6672A-6556-7D96-6610-9DC546827B07}"/>
                  </a:ext>
                </a:extLst>
              </p:cNvPr>
              <p:cNvSpPr/>
              <p:nvPr/>
            </p:nvSpPr>
            <p:spPr>
              <a:xfrm>
                <a:off x="3283217" y="2048152"/>
                <a:ext cx="1440000" cy="296158"/>
              </a:xfrm>
              <a:prstGeom prst="rect">
                <a:avLst/>
              </a:prstGeom>
              <a:solidFill>
                <a:sysClr val="window" lastClr="FFFFFF"/>
              </a:solidFill>
              <a:ln w="9525" cap="flat" cmpd="sng" algn="ctr">
                <a:solidFill>
                  <a:srgbClr val="061F3E"/>
                </a:solidFill>
                <a:prstDash val="solid"/>
              </a:ln>
              <a:effectLst/>
            </p:spPr>
            <p:txBody>
              <a:bodyPr lIns="36000" tIns="18000" rIns="0" bIns="18000" rtlCol="0" anchor="ctr"/>
              <a:lstStyle/>
              <a:p>
                <a:pPr algn="ctr" defTabSz="914395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/>
                </a:pPr>
                <a:r>
                  <a:rPr lang="ko-KR" altLang="en-US" sz="1100" kern="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조세형</a:t>
                </a:r>
                <a:endParaRPr lang="en-US" altLang="ko-KR" sz="1100" kern="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</p:grpSp>
        <p:cxnSp>
          <p:nvCxnSpPr>
            <p:cNvPr id="48" name="꺾인 연결선 14">
              <a:extLst>
                <a:ext uri="{FF2B5EF4-FFF2-40B4-BE49-F238E27FC236}">
                  <a16:creationId xmlns:a16="http://schemas.microsoft.com/office/drawing/2014/main" id="{8A9B98A8-90DE-47A5-8726-14F3BAD5C0E2}"/>
                </a:ext>
              </a:extLst>
            </p:cNvPr>
            <p:cNvCxnSpPr>
              <a:cxnSpLocks/>
              <a:stCxn id="47" idx="2"/>
              <a:endCxn id="77" idx="0"/>
            </p:cNvCxnSpPr>
            <p:nvPr/>
          </p:nvCxnSpPr>
          <p:spPr>
            <a:xfrm rot="5400000">
              <a:off x="2723809" y="1797060"/>
              <a:ext cx="732158" cy="1826658"/>
            </a:xfrm>
            <a:prstGeom prst="bentConnector3">
              <a:avLst>
                <a:gd name="adj1" fmla="val 50000"/>
              </a:avLst>
            </a:prstGeom>
            <a:noFill/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</p:cxnSp>
        <p:cxnSp>
          <p:nvCxnSpPr>
            <p:cNvPr id="52" name="꺾인 연결선 14">
              <a:extLst>
                <a:ext uri="{FF2B5EF4-FFF2-40B4-BE49-F238E27FC236}">
                  <a16:creationId xmlns:a16="http://schemas.microsoft.com/office/drawing/2014/main" id="{CB75FA78-2042-420D-C76A-C9DAF79E91AF}"/>
                </a:ext>
              </a:extLst>
            </p:cNvPr>
            <p:cNvCxnSpPr>
              <a:cxnSpLocks/>
              <a:stCxn id="47" idx="2"/>
              <a:endCxn id="21" idx="0"/>
            </p:cNvCxnSpPr>
            <p:nvPr/>
          </p:nvCxnSpPr>
          <p:spPr>
            <a:xfrm rot="16200000" flipH="1">
              <a:off x="4550467" y="1797060"/>
              <a:ext cx="732158" cy="1826658"/>
            </a:xfrm>
            <a:prstGeom prst="bentConnector3">
              <a:avLst>
                <a:gd name="adj1" fmla="val 50000"/>
              </a:avLst>
            </a:prstGeom>
            <a:noFill/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</p:cxn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E2A313CE-B3B9-5F91-C00B-4D0AA51AD947}"/>
                </a:ext>
              </a:extLst>
            </p:cNvPr>
            <p:cNvSpPr/>
            <p:nvPr/>
          </p:nvSpPr>
          <p:spPr>
            <a:xfrm>
              <a:off x="3915807" y="3077707"/>
              <a:ext cx="2262901" cy="266280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lIns="36000" tIns="18000" rIns="0" bIns="18000" rtlCol="0" anchor="ctr"/>
            <a:lstStyle/>
            <a:p>
              <a:pPr algn="ctr" defTabSz="914395">
                <a:tabLst>
                  <a:tab pos="0" algn="l"/>
                </a:tabLst>
                <a:defRPr/>
              </a:pPr>
              <a:endParaRPr lang="ko-KR" altLang="en-US" sz="1000" kern="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2" name="모서리가 둥근 직사각형 167">
              <a:extLst>
                <a:ext uri="{FF2B5EF4-FFF2-40B4-BE49-F238E27FC236}">
                  <a16:creationId xmlns:a16="http://schemas.microsoft.com/office/drawing/2014/main" id="{2388CE75-5823-5858-C853-D7827D6249EB}"/>
                </a:ext>
              </a:extLst>
            </p:cNvPr>
            <p:cNvSpPr/>
            <p:nvPr/>
          </p:nvSpPr>
          <p:spPr bwMode="auto">
            <a:xfrm>
              <a:off x="1456559" y="1741324"/>
              <a:ext cx="1440000" cy="306000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75000"/>
              </a:schemeClr>
            </a:solidFill>
            <a:ln w="9525" cap="flat" cmpd="sng" algn="ctr">
              <a:solidFill>
                <a:srgbClr val="003F56"/>
              </a:solidFill>
              <a:prstDash val="solid"/>
              <a:miter lim="800000"/>
              <a:headEnd/>
              <a:tailEnd/>
            </a:ln>
            <a:effectLst/>
          </p:spPr>
          <p:txBody>
            <a:bodyPr lIns="0" rIns="0" anchor="ctr"/>
            <a:lstStyle/>
            <a:p>
              <a:pPr algn="ctr" defTabSz="914395" eaLnBrk="0" fontAlgn="base" hangingPunct="0">
                <a:lnSpc>
                  <a:spcPts val="17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1200" kern="0" spc="-5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국가데이터처</a:t>
              </a: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BE477BA8-0D17-D2D8-B085-5B99F360F731}"/>
                </a:ext>
              </a:extLst>
            </p:cNvPr>
            <p:cNvSpPr/>
            <p:nvPr/>
          </p:nvSpPr>
          <p:spPr>
            <a:xfrm>
              <a:off x="1456559" y="2052478"/>
              <a:ext cx="1440000" cy="291524"/>
            </a:xfrm>
            <a:prstGeom prst="rect">
              <a:avLst/>
            </a:prstGeom>
            <a:solidFill>
              <a:sysClr val="window" lastClr="FFFFFF"/>
            </a:solidFill>
            <a:ln w="9525" cap="flat" cmpd="sng" algn="ctr">
              <a:solidFill>
                <a:srgbClr val="061F3E"/>
              </a:solidFill>
              <a:prstDash val="solid"/>
            </a:ln>
            <a:effectLst/>
          </p:spPr>
          <p:txBody>
            <a:bodyPr lIns="36000" tIns="18000" rIns="0" bIns="18000" rtlCol="0" anchor="ctr"/>
            <a:lstStyle/>
            <a:p>
              <a:pPr algn="ctr" defTabSz="91439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/>
              </a:pPr>
              <a:r>
                <a:rPr lang="ko-KR" altLang="en-US" sz="1100" kern="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주관부서 담당자</a:t>
              </a:r>
              <a:endParaRPr lang="en-US" altLang="ko-KR" sz="1100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45BE19C7-1FC5-027B-D3D3-DE5FE334F60B}"/>
                </a:ext>
              </a:extLst>
            </p:cNvPr>
            <p:cNvGrpSpPr/>
            <p:nvPr/>
          </p:nvGrpSpPr>
          <p:grpSpPr>
            <a:xfrm>
              <a:off x="1456559" y="3076468"/>
              <a:ext cx="1440000" cy="485672"/>
              <a:chOff x="1456559" y="3076468"/>
              <a:chExt cx="1440000" cy="485672"/>
            </a:xfrm>
          </p:grpSpPr>
          <p:sp>
            <p:nvSpPr>
              <p:cNvPr id="77" name="모서리가 둥근 직사각형 167">
                <a:extLst>
                  <a:ext uri="{FF2B5EF4-FFF2-40B4-BE49-F238E27FC236}">
                    <a16:creationId xmlns:a16="http://schemas.microsoft.com/office/drawing/2014/main" id="{9C00CE84-82C8-C686-12B7-1188949206C8}"/>
                  </a:ext>
                </a:extLst>
              </p:cNvPr>
              <p:cNvSpPr/>
              <p:nvPr/>
            </p:nvSpPr>
            <p:spPr bwMode="auto">
              <a:xfrm>
                <a:off x="1456559" y="3076468"/>
                <a:ext cx="1440000" cy="220312"/>
              </a:xfrm>
              <a:prstGeom prst="roundRect">
                <a:avLst>
                  <a:gd name="adj" fmla="val 0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  <a:ln w="9525" cap="flat" cmpd="sng" algn="ctr">
                <a:solidFill>
                  <a:srgbClr val="003F56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lIns="0" rIns="0" anchor="ctr"/>
              <a:lstStyle/>
              <a:p>
                <a:pPr algn="ctr" defTabSz="914395" eaLnBrk="0" fontAlgn="base" hangingPunct="0">
                  <a:lnSpc>
                    <a:spcPts val="17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ko-KR" altLang="en-US" sz="1200" kern="0" spc="-50" dirty="0">
                    <a:solidFill>
                      <a:schemeClr val="bg1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공동연구원</a:t>
                </a:r>
                <a:r>
                  <a:rPr lang="en-US" altLang="ko-KR" sz="1200" kern="0" spc="-50" dirty="0">
                    <a:solidFill>
                      <a:schemeClr val="bg1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(</a:t>
                </a:r>
                <a:r>
                  <a:rPr lang="ko-KR" altLang="en-US" sz="1200" kern="0" spc="-50" dirty="0">
                    <a:solidFill>
                      <a:schemeClr val="bg1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갑</a:t>
                </a:r>
                <a:r>
                  <a:rPr lang="en-US" altLang="ko-KR" sz="1200" kern="0" spc="-50" dirty="0">
                    <a:solidFill>
                      <a:schemeClr val="bg1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)</a:t>
                </a:r>
                <a:endParaRPr lang="ko-KR" altLang="en-US" sz="1200" kern="0" spc="-5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endParaRPr>
              </a:p>
            </p:txBody>
          </p:sp>
          <p:sp>
            <p:nvSpPr>
              <p:cNvPr id="78" name="직사각형 77">
                <a:extLst>
                  <a:ext uri="{FF2B5EF4-FFF2-40B4-BE49-F238E27FC236}">
                    <a16:creationId xmlns:a16="http://schemas.microsoft.com/office/drawing/2014/main" id="{BFBDD0D0-E504-BB49-0F6E-AD46B28821AB}"/>
                  </a:ext>
                </a:extLst>
              </p:cNvPr>
              <p:cNvSpPr/>
              <p:nvPr/>
            </p:nvSpPr>
            <p:spPr>
              <a:xfrm>
                <a:off x="1456559" y="3295860"/>
                <a:ext cx="1440000" cy="266280"/>
              </a:xfrm>
              <a:prstGeom prst="rect">
                <a:avLst/>
              </a:prstGeom>
              <a:solidFill>
                <a:sysClr val="window" lastClr="FFFFFF"/>
              </a:solidFill>
              <a:ln w="9525" cap="flat" cmpd="sng" algn="ctr">
                <a:solidFill>
                  <a:srgbClr val="061F3E"/>
                </a:solidFill>
                <a:prstDash val="solid"/>
              </a:ln>
              <a:effectLst/>
            </p:spPr>
            <p:txBody>
              <a:bodyPr lIns="36000" tIns="18000" rIns="0" bIns="18000" rtlCol="0" anchor="ctr"/>
              <a:lstStyle/>
              <a:p>
                <a:pPr algn="ctr" defTabSz="914395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/>
                </a:pPr>
                <a:r>
                  <a:rPr lang="ko-KR" altLang="en-US" sz="1100" kern="0" spc="-5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ㅇㅇㅇ</a:t>
                </a:r>
                <a:endParaRPr lang="en-US" altLang="ko-KR" sz="1100" kern="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</p:grp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F5EC7D1-2E8F-80E9-5D00-43FC54C1CD7B}"/>
                </a:ext>
              </a:extLst>
            </p:cNvPr>
            <p:cNvCxnSpPr>
              <a:cxnSpLocks/>
              <a:stCxn id="72" idx="3"/>
              <a:endCxn id="46" idx="1"/>
            </p:cNvCxnSpPr>
            <p:nvPr/>
          </p:nvCxnSpPr>
          <p:spPr>
            <a:xfrm flipV="1">
              <a:off x="2896559" y="1894323"/>
              <a:ext cx="386658" cy="1"/>
            </a:xfrm>
            <a:prstGeom prst="line">
              <a:avLst/>
            </a:prstGeom>
            <a:ln w="1905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45C96417-BD54-4757-3717-5DFECCEF0CA4}"/>
                </a:ext>
              </a:extLst>
            </p:cNvPr>
            <p:cNvGrpSpPr/>
            <p:nvPr/>
          </p:nvGrpSpPr>
          <p:grpSpPr>
            <a:xfrm>
              <a:off x="3283217" y="3076468"/>
              <a:ext cx="1440000" cy="485672"/>
              <a:chOff x="3283217" y="3076468"/>
              <a:chExt cx="1440000" cy="485672"/>
            </a:xfrm>
          </p:grpSpPr>
          <p:sp>
            <p:nvSpPr>
              <p:cNvPr id="19" name="모서리가 둥근 직사각형 167">
                <a:extLst>
                  <a:ext uri="{FF2B5EF4-FFF2-40B4-BE49-F238E27FC236}">
                    <a16:creationId xmlns:a16="http://schemas.microsoft.com/office/drawing/2014/main" id="{7BD3044D-FED4-56CA-EEDD-CA654A1D50F7}"/>
                  </a:ext>
                </a:extLst>
              </p:cNvPr>
              <p:cNvSpPr/>
              <p:nvPr/>
            </p:nvSpPr>
            <p:spPr bwMode="auto">
              <a:xfrm>
                <a:off x="3283217" y="3076468"/>
                <a:ext cx="1440000" cy="220312"/>
              </a:xfrm>
              <a:prstGeom prst="roundRect">
                <a:avLst>
                  <a:gd name="adj" fmla="val 0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  <a:ln w="9525" cap="flat" cmpd="sng" algn="ctr">
                <a:solidFill>
                  <a:srgbClr val="003F56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lIns="0" rIns="0" anchor="ctr"/>
              <a:lstStyle/>
              <a:p>
                <a:pPr algn="ctr" defTabSz="914395" eaLnBrk="0" fontAlgn="base" hangingPunct="0">
                  <a:lnSpc>
                    <a:spcPts val="17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ko-KR" altLang="en-US" sz="1200" kern="0" spc="-50" dirty="0">
                    <a:solidFill>
                      <a:schemeClr val="bg1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공동연구원</a:t>
                </a:r>
                <a:r>
                  <a:rPr lang="en-US" altLang="ko-KR" sz="1200" kern="0" spc="-50" dirty="0">
                    <a:solidFill>
                      <a:schemeClr val="bg1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(</a:t>
                </a:r>
                <a:r>
                  <a:rPr lang="ko-KR" altLang="en-US" sz="1200" kern="0" spc="-50" dirty="0">
                    <a:solidFill>
                      <a:schemeClr val="bg1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갑</a:t>
                </a:r>
                <a:r>
                  <a:rPr lang="en-US" altLang="ko-KR" sz="1200" kern="0" spc="-50" dirty="0">
                    <a:solidFill>
                      <a:schemeClr val="bg1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)</a:t>
                </a:r>
                <a:endParaRPr lang="ko-KR" altLang="en-US" sz="1200" kern="0" spc="-5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endParaRPr>
              </a:p>
            </p:txBody>
          </p:sp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6F3F6CD2-37DC-9021-9C28-87D1EE141677}"/>
                  </a:ext>
                </a:extLst>
              </p:cNvPr>
              <p:cNvSpPr/>
              <p:nvPr/>
            </p:nvSpPr>
            <p:spPr>
              <a:xfrm>
                <a:off x="3283217" y="3295860"/>
                <a:ext cx="1440000" cy="266280"/>
              </a:xfrm>
              <a:prstGeom prst="rect">
                <a:avLst/>
              </a:prstGeom>
              <a:solidFill>
                <a:sysClr val="window" lastClr="FFFFFF"/>
              </a:solidFill>
              <a:ln w="9525" cap="flat" cmpd="sng" algn="ctr">
                <a:solidFill>
                  <a:srgbClr val="061F3E"/>
                </a:solidFill>
                <a:prstDash val="solid"/>
              </a:ln>
              <a:effectLst/>
            </p:spPr>
            <p:txBody>
              <a:bodyPr lIns="36000" tIns="18000" rIns="0" bIns="18000" rtlCol="0" anchor="ctr"/>
              <a:lstStyle/>
              <a:p>
                <a:pPr algn="ctr" defTabSz="914395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/>
                </a:pPr>
                <a:r>
                  <a:rPr lang="ko-KR" altLang="en-US" sz="1100" kern="0" spc="-5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ㅇㅇㅇ</a:t>
                </a:r>
                <a:endParaRPr lang="en-US" altLang="ko-KR" sz="1100" kern="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</p:grp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40AE8DA2-F999-3F10-9506-DB9D5FA8F545}"/>
                </a:ext>
              </a:extLst>
            </p:cNvPr>
            <p:cNvGrpSpPr/>
            <p:nvPr/>
          </p:nvGrpSpPr>
          <p:grpSpPr>
            <a:xfrm>
              <a:off x="5109875" y="3076468"/>
              <a:ext cx="1440000" cy="485672"/>
              <a:chOff x="5109875" y="3076468"/>
              <a:chExt cx="1440000" cy="485672"/>
            </a:xfrm>
          </p:grpSpPr>
          <p:sp>
            <p:nvSpPr>
              <p:cNvPr id="21" name="모서리가 둥근 직사각형 167">
                <a:extLst>
                  <a:ext uri="{FF2B5EF4-FFF2-40B4-BE49-F238E27FC236}">
                    <a16:creationId xmlns:a16="http://schemas.microsoft.com/office/drawing/2014/main" id="{21778105-1D22-FBD0-5536-B554E0915794}"/>
                  </a:ext>
                </a:extLst>
              </p:cNvPr>
              <p:cNvSpPr/>
              <p:nvPr/>
            </p:nvSpPr>
            <p:spPr bwMode="auto">
              <a:xfrm>
                <a:off x="5109875" y="3076468"/>
                <a:ext cx="1440000" cy="220312"/>
              </a:xfrm>
              <a:prstGeom prst="roundRect">
                <a:avLst>
                  <a:gd name="adj" fmla="val 0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  <a:ln w="9525" cap="flat" cmpd="sng" algn="ctr">
                <a:solidFill>
                  <a:srgbClr val="003F56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lIns="0" rIns="0" anchor="ctr"/>
              <a:lstStyle/>
              <a:p>
                <a:pPr algn="ctr" defTabSz="914395" eaLnBrk="0" fontAlgn="base" hangingPunct="0">
                  <a:lnSpc>
                    <a:spcPts val="17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ko-KR" altLang="en-US" sz="1200" kern="0" spc="-50" dirty="0">
                    <a:solidFill>
                      <a:schemeClr val="bg1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공동연구원</a:t>
                </a:r>
                <a:r>
                  <a:rPr lang="en-US" altLang="ko-KR" sz="1200" kern="0" spc="-50" dirty="0">
                    <a:solidFill>
                      <a:schemeClr val="bg1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(</a:t>
                </a:r>
                <a:r>
                  <a:rPr lang="ko-KR" altLang="en-US" sz="1200" kern="0" spc="-50" dirty="0">
                    <a:solidFill>
                      <a:schemeClr val="bg1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갑</a:t>
                </a:r>
                <a:r>
                  <a:rPr lang="en-US" altLang="ko-KR" sz="1200" kern="0" spc="-50" dirty="0">
                    <a:solidFill>
                      <a:schemeClr val="bg1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)</a:t>
                </a:r>
                <a:endParaRPr lang="ko-KR" altLang="en-US" sz="1200" kern="0" spc="-5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endParaRPr>
              </a:p>
            </p:txBody>
          </p: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EE0B4040-2FD4-57F4-7736-DD38F996286B}"/>
                  </a:ext>
                </a:extLst>
              </p:cNvPr>
              <p:cNvSpPr/>
              <p:nvPr/>
            </p:nvSpPr>
            <p:spPr>
              <a:xfrm>
                <a:off x="5109875" y="3295860"/>
                <a:ext cx="1440000" cy="266280"/>
              </a:xfrm>
              <a:prstGeom prst="rect">
                <a:avLst/>
              </a:prstGeom>
              <a:solidFill>
                <a:sysClr val="window" lastClr="FFFFFF"/>
              </a:solidFill>
              <a:ln w="9525" cap="flat" cmpd="sng" algn="ctr">
                <a:solidFill>
                  <a:srgbClr val="061F3E"/>
                </a:solidFill>
                <a:prstDash val="solid"/>
              </a:ln>
              <a:effectLst/>
            </p:spPr>
            <p:txBody>
              <a:bodyPr lIns="36000" tIns="18000" rIns="0" bIns="18000" rtlCol="0" anchor="ctr"/>
              <a:lstStyle/>
              <a:p>
                <a:pPr algn="ctr" defTabSz="914395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/>
                </a:pPr>
                <a:r>
                  <a:rPr lang="ko-KR" altLang="en-US" sz="1100" kern="0" spc="-5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ㅇㅇㅇ</a:t>
                </a:r>
                <a:endParaRPr lang="en-US" altLang="ko-KR" sz="1100" kern="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</p:grp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53AF1E05-44D1-DCAE-C484-28E79AD03FAD}"/>
                </a:ext>
              </a:extLst>
            </p:cNvPr>
            <p:cNvCxnSpPr>
              <a:cxnSpLocks/>
              <a:stCxn id="19" idx="0"/>
              <a:endCxn id="47" idx="2"/>
            </p:cNvCxnSpPr>
            <p:nvPr/>
          </p:nvCxnSpPr>
          <p:spPr>
            <a:xfrm flipV="1">
              <a:off x="4003217" y="2344310"/>
              <a:ext cx="0" cy="732158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</p:cxn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2B5E4FAC-64AE-0388-5141-1B94A10EAB36}"/>
                </a:ext>
              </a:extLst>
            </p:cNvPr>
            <p:cNvGrpSpPr/>
            <p:nvPr/>
          </p:nvGrpSpPr>
          <p:grpSpPr>
            <a:xfrm>
              <a:off x="3283217" y="4235230"/>
              <a:ext cx="1440000" cy="753636"/>
              <a:chOff x="3283217" y="4235230"/>
              <a:chExt cx="1440000" cy="753636"/>
            </a:xfrm>
          </p:grpSpPr>
          <p:sp>
            <p:nvSpPr>
              <p:cNvPr id="36" name="모서리가 둥근 직사각형 167">
                <a:extLst>
                  <a:ext uri="{FF2B5EF4-FFF2-40B4-BE49-F238E27FC236}">
                    <a16:creationId xmlns:a16="http://schemas.microsoft.com/office/drawing/2014/main" id="{9EB7C7A3-7568-9DB8-EAEB-8FF76B3099D6}"/>
                  </a:ext>
                </a:extLst>
              </p:cNvPr>
              <p:cNvSpPr/>
              <p:nvPr/>
            </p:nvSpPr>
            <p:spPr bwMode="auto">
              <a:xfrm>
                <a:off x="3283217" y="4235230"/>
                <a:ext cx="1440000" cy="220312"/>
              </a:xfrm>
              <a:prstGeom prst="roundRect">
                <a:avLst>
                  <a:gd name="adj" fmla="val 0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  <a:ln w="9525" cap="flat" cmpd="sng" algn="ctr">
                <a:solidFill>
                  <a:srgbClr val="003F56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lIns="0" rIns="0" anchor="ctr"/>
              <a:lstStyle/>
              <a:p>
                <a:pPr algn="ctr" defTabSz="914395" eaLnBrk="0" fontAlgn="base" hangingPunct="0">
                  <a:lnSpc>
                    <a:spcPts val="17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ko-KR" altLang="en-US" sz="1200" kern="0" spc="-50" dirty="0">
                    <a:solidFill>
                      <a:schemeClr val="bg1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연구보조원</a:t>
                </a:r>
                <a:r>
                  <a:rPr lang="en-US" altLang="ko-KR" sz="1200" kern="0" spc="-50" dirty="0">
                    <a:solidFill>
                      <a:schemeClr val="bg1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(2</a:t>
                </a:r>
                <a:r>
                  <a:rPr lang="ko-KR" altLang="en-US" sz="1200" kern="0" spc="-50" dirty="0">
                    <a:solidFill>
                      <a:schemeClr val="bg1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명</a:t>
                </a:r>
                <a:r>
                  <a:rPr lang="en-US" altLang="ko-KR" sz="1200" kern="0" spc="-50" dirty="0">
                    <a:solidFill>
                      <a:schemeClr val="bg1"/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)</a:t>
                </a:r>
                <a:endParaRPr lang="ko-KR" altLang="en-US" sz="1200" kern="0" spc="-5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endParaRPr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3B15E9A8-8089-8730-58BB-153FF67D77BC}"/>
                  </a:ext>
                </a:extLst>
              </p:cNvPr>
              <p:cNvSpPr/>
              <p:nvPr/>
            </p:nvSpPr>
            <p:spPr>
              <a:xfrm>
                <a:off x="3283217" y="4454622"/>
                <a:ext cx="1440000" cy="266280"/>
              </a:xfrm>
              <a:prstGeom prst="rect">
                <a:avLst/>
              </a:prstGeom>
              <a:solidFill>
                <a:sysClr val="window" lastClr="FFFFFF"/>
              </a:solidFill>
              <a:ln w="9525" cap="flat" cmpd="sng" algn="ctr">
                <a:solidFill>
                  <a:srgbClr val="061F3E"/>
                </a:solidFill>
                <a:prstDash val="solid"/>
              </a:ln>
              <a:effectLst/>
            </p:spPr>
            <p:txBody>
              <a:bodyPr lIns="36000" tIns="18000" rIns="0" bIns="18000" rtlCol="0" anchor="ctr"/>
              <a:lstStyle/>
              <a:p>
                <a:pPr algn="ctr" defTabSz="914395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/>
                </a:pPr>
                <a:r>
                  <a:rPr lang="ko-KR" altLang="en-US" sz="1100" kern="0" spc="-5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ㅇㅇㅇ</a:t>
                </a:r>
                <a:endParaRPr lang="en-US" altLang="ko-KR" sz="1100" kern="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00AEF979-EF2B-8D97-9A1A-93F344842B0B}"/>
                  </a:ext>
                </a:extLst>
              </p:cNvPr>
              <p:cNvSpPr/>
              <p:nvPr/>
            </p:nvSpPr>
            <p:spPr>
              <a:xfrm>
                <a:off x="3283217" y="4722586"/>
                <a:ext cx="1440000" cy="266280"/>
              </a:xfrm>
              <a:prstGeom prst="rect">
                <a:avLst/>
              </a:prstGeom>
              <a:solidFill>
                <a:sysClr val="window" lastClr="FFFFFF"/>
              </a:solidFill>
              <a:ln w="9525" cap="flat" cmpd="sng" algn="ctr">
                <a:solidFill>
                  <a:srgbClr val="061F3E"/>
                </a:solidFill>
                <a:prstDash val="solid"/>
              </a:ln>
              <a:effectLst/>
            </p:spPr>
            <p:txBody>
              <a:bodyPr lIns="36000" tIns="18000" rIns="0" bIns="18000" rtlCol="0" anchor="ctr"/>
              <a:lstStyle/>
              <a:p>
                <a:pPr algn="ctr" defTabSz="914395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/>
                </a:pPr>
                <a:r>
                  <a:rPr lang="ko-KR" altLang="en-US" sz="1100" kern="0" spc="-5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ㅇㅇㅇ</a:t>
                </a:r>
                <a:endParaRPr lang="en-US" altLang="ko-KR" sz="1100" kern="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</p:grpSp>
        <p:cxnSp>
          <p:nvCxnSpPr>
            <p:cNvPr id="40" name="꺾인 연결선 14">
              <a:extLst>
                <a:ext uri="{FF2B5EF4-FFF2-40B4-BE49-F238E27FC236}">
                  <a16:creationId xmlns:a16="http://schemas.microsoft.com/office/drawing/2014/main" id="{A60B0F66-5099-BE0C-0BD2-AF162547C8F6}"/>
                </a:ext>
              </a:extLst>
            </p:cNvPr>
            <p:cNvCxnSpPr>
              <a:cxnSpLocks/>
              <a:stCxn id="36" idx="0"/>
              <a:endCxn id="22" idx="2"/>
            </p:cNvCxnSpPr>
            <p:nvPr/>
          </p:nvCxnSpPr>
          <p:spPr>
            <a:xfrm rot="5400000" flipH="1" flipV="1">
              <a:off x="4580001" y="2985356"/>
              <a:ext cx="673090" cy="1826658"/>
            </a:xfrm>
            <a:prstGeom prst="bentConnector3">
              <a:avLst>
                <a:gd name="adj1" fmla="val 50000"/>
              </a:avLst>
            </a:prstGeom>
            <a:noFill/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</p:cxnSp>
        <p:cxnSp>
          <p:nvCxnSpPr>
            <p:cNvPr id="43" name="꺾인 연결선 14">
              <a:extLst>
                <a:ext uri="{FF2B5EF4-FFF2-40B4-BE49-F238E27FC236}">
                  <a16:creationId xmlns:a16="http://schemas.microsoft.com/office/drawing/2014/main" id="{AFE0356F-B1FA-EBC5-0A01-DFE269BDE429}"/>
                </a:ext>
              </a:extLst>
            </p:cNvPr>
            <p:cNvCxnSpPr>
              <a:cxnSpLocks/>
              <a:stCxn id="78" idx="2"/>
              <a:endCxn id="36" idx="0"/>
            </p:cNvCxnSpPr>
            <p:nvPr/>
          </p:nvCxnSpPr>
          <p:spPr>
            <a:xfrm rot="16200000" flipH="1">
              <a:off x="2753343" y="2985356"/>
              <a:ext cx="673090" cy="1826658"/>
            </a:xfrm>
            <a:prstGeom prst="bentConnector3">
              <a:avLst>
                <a:gd name="adj1" fmla="val 50000"/>
              </a:avLst>
            </a:prstGeom>
            <a:noFill/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</p:cxn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10467657-3895-3BFB-5BE4-2BFA4E43DBFE}"/>
                </a:ext>
              </a:extLst>
            </p:cNvPr>
            <p:cNvCxnSpPr>
              <a:cxnSpLocks/>
              <a:stCxn id="36" idx="0"/>
              <a:endCxn id="20" idx="2"/>
            </p:cNvCxnSpPr>
            <p:nvPr/>
          </p:nvCxnSpPr>
          <p:spPr>
            <a:xfrm flipV="1">
              <a:off x="4003217" y="3562140"/>
              <a:ext cx="0" cy="67309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</p:cxnSp>
      </p:grpSp>
      <p:sp>
        <p:nvSpPr>
          <p:cNvPr id="3" name="TextBox 246">
            <a:extLst>
              <a:ext uri="{FF2B5EF4-FFF2-40B4-BE49-F238E27FC236}">
                <a16:creationId xmlns:a16="http://schemas.microsoft.com/office/drawing/2014/main" id="{00C9E1BC-7D4B-9A3B-8AE9-4B96E7108C3C}"/>
              </a:ext>
            </a:extLst>
          </p:cNvPr>
          <p:cNvSpPr txBox="1"/>
          <p:nvPr/>
        </p:nvSpPr>
        <p:spPr>
          <a:xfrm>
            <a:off x="261816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spc="-15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수행 조직 체계 </a:t>
            </a:r>
            <a:endParaRPr lang="en-US" altLang="ko-KR" sz="1600" spc="-15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F71DA31-6353-D1FE-DA36-FDD9B4D195AA}"/>
              </a:ext>
            </a:extLst>
          </p:cNvPr>
          <p:cNvCxnSpPr>
            <a:cxnSpLocks/>
          </p:cNvCxnSpPr>
          <p:nvPr/>
        </p:nvCxnSpPr>
        <p:spPr>
          <a:xfrm>
            <a:off x="261816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BA67AB14-4862-58D7-6991-D1E5513D64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432204"/>
              </p:ext>
            </p:extLst>
          </p:nvPr>
        </p:nvGraphicFramePr>
        <p:xfrm>
          <a:off x="5062629" y="2276476"/>
          <a:ext cx="4570321" cy="4176711"/>
        </p:xfrm>
        <a:graphic>
          <a:graphicData uri="http://schemas.openxmlformats.org/drawingml/2006/table">
            <a:tbl>
              <a:tblPr/>
              <a:tblGrid>
                <a:gridCol w="1427930">
                  <a:extLst>
                    <a:ext uri="{9D8B030D-6E8A-4147-A177-3AD203B41FA5}">
                      <a16:colId xmlns:a16="http://schemas.microsoft.com/office/drawing/2014/main" val="3675168837"/>
                    </a:ext>
                  </a:extLst>
                </a:gridCol>
                <a:gridCol w="3142391">
                  <a:extLst>
                    <a:ext uri="{9D8B030D-6E8A-4147-A177-3AD203B41FA5}">
                      <a16:colId xmlns:a16="http://schemas.microsoft.com/office/drawing/2014/main" val="2445292385"/>
                    </a:ext>
                  </a:extLst>
                </a:gridCol>
              </a:tblGrid>
              <a:tr h="37114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구 분</a:t>
                      </a:r>
                    </a:p>
                  </a:txBody>
                  <a:tcPr marL="64770" marR="64770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역 할 분 담 내 용</a:t>
                      </a:r>
                    </a:p>
                  </a:txBody>
                  <a:tcPr marL="64770" marR="64770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311988"/>
                  </a:ext>
                </a:extLst>
              </a:tr>
              <a:tr h="115192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altLang="en-US" sz="1200" kern="0" spc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연구책임자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64770" marR="64770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4460" marR="0" indent="-124460" algn="l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altLang="en-US" sz="1200" kern="0" spc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∘ 사업총괄</a:t>
                      </a:r>
                    </a:p>
                    <a:p>
                      <a:pPr marL="124460" marR="0" indent="-124460" algn="l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altLang="en-US" sz="1200" kern="0" spc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∘ 연구방향 설정</a:t>
                      </a:r>
                    </a:p>
                    <a:p>
                      <a:pPr marL="124460" marR="0" indent="-124460" algn="l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altLang="en-US" sz="1200" kern="0" spc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∘ 착수</a:t>
                      </a:r>
                      <a:r>
                        <a:rPr lang="en-US" altLang="ko-KR" sz="1200" kern="0" spc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, </a:t>
                      </a:r>
                      <a:r>
                        <a:rPr lang="ko-KR" altLang="en-US" sz="1200" kern="0" spc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중간</a:t>
                      </a:r>
                      <a:r>
                        <a:rPr lang="en-US" altLang="ko-KR" sz="1200" kern="0" spc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, </a:t>
                      </a:r>
                      <a:r>
                        <a:rPr lang="ko-KR" altLang="en-US" sz="1200" kern="0" spc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최종보고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64770" marR="64770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223882"/>
                  </a:ext>
                </a:extLst>
              </a:tr>
              <a:tr h="46358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altLang="en-US" sz="1200" kern="0" spc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공동연구자</a:t>
                      </a:r>
                      <a:r>
                        <a:rPr lang="en-US" altLang="ko-KR" sz="1200" kern="0" spc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(</a:t>
                      </a:r>
                      <a:r>
                        <a:rPr lang="ko-KR" altLang="en-US" sz="1200" kern="0" spc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갑</a:t>
                      </a:r>
                      <a:r>
                        <a:rPr lang="en-US" altLang="ko-KR" sz="1200" kern="0" spc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64770" marR="64770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4460" marR="0" indent="-124460" algn="l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altLang="en-US" sz="1200" kern="0" spc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∘ 국내외 문헌 및 사례 분석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64770" marR="64770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637839"/>
                  </a:ext>
                </a:extLst>
              </a:tr>
              <a:tr h="80775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altLang="en-US" sz="1200" kern="0" spc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공동연구자</a:t>
                      </a:r>
                      <a:r>
                        <a:rPr lang="en-US" altLang="ko-KR" sz="1200" kern="0" spc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(</a:t>
                      </a:r>
                      <a:r>
                        <a:rPr lang="ko-KR" altLang="en-US" sz="1200" kern="0" spc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을</a:t>
                      </a:r>
                      <a:r>
                        <a:rPr lang="en-US" altLang="ko-KR" sz="1200" kern="0" spc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)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64770" marR="64770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4460" marR="0" indent="-124460" algn="l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altLang="en-US" sz="1200" kern="0" spc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∘ 직업정보 구조적 틀 설계 및 적용</a:t>
                      </a:r>
                    </a:p>
                    <a:p>
                      <a:pPr marL="124460" marR="0" indent="-124460" algn="l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altLang="en-US" sz="1200" kern="0" spc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∘ 시뮬레이션을 통한 검증 및 조정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64770" marR="64770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445202"/>
                  </a:ext>
                </a:extLst>
              </a:tr>
              <a:tr h="46358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altLang="en-US" sz="1200" kern="0" spc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공동연구자</a:t>
                      </a:r>
                      <a:r>
                        <a:rPr lang="en-US" altLang="ko-KR" sz="1200" kern="0" spc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(</a:t>
                      </a:r>
                      <a:r>
                        <a:rPr lang="ko-KR" altLang="en-US" sz="1200" kern="0" spc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병</a:t>
                      </a:r>
                      <a:r>
                        <a:rPr lang="en-US" altLang="ko-KR" sz="1200" kern="0" spc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)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64770" marR="64770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4460" marR="0" indent="-124460" algn="l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altLang="en-US" sz="1200" kern="0" spc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∘ 직무기술 정의 표준화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64770" marR="64770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175186"/>
                  </a:ext>
                </a:extLst>
              </a:tr>
              <a:tr h="45935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altLang="en-US" sz="1200" kern="0" spc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연구보조원</a:t>
                      </a:r>
                      <a:r>
                        <a:rPr lang="en-US" altLang="ko-KR" sz="1200" kern="0" spc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(1)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64770" marR="64770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24460" marR="0" indent="-124460" algn="l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altLang="en-US" sz="1200" kern="0" spc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∘ 자료 수집 및 분석 지원</a:t>
                      </a:r>
                    </a:p>
                    <a:p>
                      <a:pPr marL="124460" marR="0" indent="-124460" algn="l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altLang="en-US" sz="1200" kern="0" spc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∘ 행정업무 지원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64770" marR="64770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2487841"/>
                  </a:ext>
                </a:extLst>
              </a:tr>
              <a:tr h="45935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altLang="en-US" sz="1200" kern="0" spc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연구보조원</a:t>
                      </a:r>
                      <a:r>
                        <a:rPr lang="en-US" altLang="ko-KR" sz="1200" kern="0" spc="0" dirty="0">
                          <a:effectLst/>
                          <a:latin typeface="페이퍼로지 5 Medium" pitchFamily="2" charset="-127"/>
                          <a:ea typeface="페이퍼로지 5 Medium" pitchFamily="2" charset="-127"/>
                        </a:rPr>
                        <a:t>(2)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64770" marR="64770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281461"/>
                  </a:ext>
                </a:extLst>
              </a:tr>
            </a:tbl>
          </a:graphicData>
        </a:graphic>
      </p:graphicFrame>
      <p:sp>
        <p:nvSpPr>
          <p:cNvPr id="16" name="TextBox 246">
            <a:extLst>
              <a:ext uri="{FF2B5EF4-FFF2-40B4-BE49-F238E27FC236}">
                <a16:creationId xmlns:a16="http://schemas.microsoft.com/office/drawing/2014/main" id="{BAF611FE-94EC-B377-1C3B-2FC8AC402058}"/>
              </a:ext>
            </a:extLst>
          </p:cNvPr>
          <p:cNvSpPr txBox="1"/>
          <p:nvPr/>
        </p:nvSpPr>
        <p:spPr>
          <a:xfrm>
            <a:off x="5083054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spc="-15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업무분장 내용</a:t>
            </a:r>
            <a:endParaRPr lang="en-US" altLang="ko-KR" sz="1600" spc="-15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A1915B97-77A1-3D5D-0310-7A0FAC8E96F9}"/>
              </a:ext>
            </a:extLst>
          </p:cNvPr>
          <p:cNvCxnSpPr>
            <a:cxnSpLocks/>
          </p:cNvCxnSpPr>
          <p:nvPr/>
        </p:nvCxnSpPr>
        <p:spPr>
          <a:xfrm>
            <a:off x="5083054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4991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DFC66-CE53-ABA6-F306-52DD30419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67EAB8C2-5AD1-ED4D-5F7F-C10817E1AAE0}"/>
              </a:ext>
            </a:extLst>
          </p:cNvPr>
          <p:cNvSpPr txBox="1"/>
          <p:nvPr/>
        </p:nvSpPr>
        <p:spPr>
          <a:xfrm>
            <a:off x="236538" y="230486"/>
            <a:ext cx="742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02</a:t>
            </a:r>
            <a:endParaRPr lang="ko-KR" altLang="en-US" sz="2400" dirty="0">
              <a:solidFill>
                <a:srgbClr val="004193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17D367E4-12BB-6AE6-CABF-E349DF2BD1CC}"/>
              </a:ext>
            </a:extLst>
          </p:cNvPr>
          <p:cNvSpPr txBox="1"/>
          <p:nvPr/>
        </p:nvSpPr>
        <p:spPr>
          <a:xfrm>
            <a:off x="978778" y="230485"/>
            <a:ext cx="869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4193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추진 일정 </a:t>
            </a:r>
            <a:r>
              <a:rPr lang="ko-KR" altLang="en-US" sz="2400" dirty="0">
                <a:solidFill>
                  <a:srgbClr val="004193"/>
                </a:solidFill>
                <a:latin typeface="페이퍼로지 7 Bold" pitchFamily="2" charset="-127"/>
                <a:ea typeface="페이퍼로지 7 Bold" pitchFamily="2" charset="-127"/>
              </a:rPr>
              <a:t>관리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4193"/>
              </a:solidFill>
              <a:effectLst/>
              <a:uLnTx/>
              <a:uFillTx/>
              <a:latin typeface="페이퍼로지 7 Bold" pitchFamily="2" charset="-127"/>
              <a:ea typeface="페이퍼로지 7 Bold" pitchFamily="2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A687E7B-1BA8-DAA1-FE72-28E8B12D88D3}"/>
              </a:ext>
            </a:extLst>
          </p:cNvPr>
          <p:cNvSpPr/>
          <p:nvPr/>
        </p:nvSpPr>
        <p:spPr>
          <a:xfrm>
            <a:off x="7402195" y="224366"/>
            <a:ext cx="2267267" cy="467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 latinLnBrk="0">
              <a:buNone/>
            </a:pPr>
            <a:r>
              <a:rPr lang="en-US" altLang="ko-KR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Ⅲ. </a:t>
            </a:r>
            <a:r>
              <a:rPr lang="ko-KR" altLang="en-US" sz="1400" spc="-50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연구 관리 방안</a:t>
            </a:r>
            <a:endParaRPr lang="en-US" altLang="ko-KR" sz="1400" spc="-50" dirty="0">
              <a:solidFill>
                <a:schemeClr val="bg2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" name="TextBox 246">
            <a:extLst>
              <a:ext uri="{FF2B5EF4-FFF2-40B4-BE49-F238E27FC236}">
                <a16:creationId xmlns:a16="http://schemas.microsoft.com/office/drawing/2014/main" id="{96EE31A6-F93C-8238-F3A0-46556891A3B5}"/>
              </a:ext>
            </a:extLst>
          </p:cNvPr>
          <p:cNvSpPr txBox="1"/>
          <p:nvPr/>
        </p:nvSpPr>
        <p:spPr>
          <a:xfrm>
            <a:off x="261816" y="1641194"/>
            <a:ext cx="4583234" cy="353600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600" spc="-150" dirty="0">
                <a:ln w="127000">
                  <a:noFill/>
                </a:ln>
                <a:latin typeface="페이퍼로지 5 Medium" pitchFamily="2" charset="-127"/>
                <a:ea typeface="페이퍼로지 5 Medium" pitchFamily="2" charset="-127"/>
              </a:rPr>
              <a:t>추진일정관리</a:t>
            </a:r>
            <a:endParaRPr lang="en-US" altLang="ko-KR" sz="1600" spc="-150" dirty="0">
              <a:ln w="127000">
                <a:noFill/>
              </a:ln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7E9F982-583C-9BD6-43A6-A8B159B1BF4F}"/>
              </a:ext>
            </a:extLst>
          </p:cNvPr>
          <p:cNvCxnSpPr>
            <a:cxnSpLocks/>
          </p:cNvCxnSpPr>
          <p:nvPr/>
        </p:nvCxnSpPr>
        <p:spPr>
          <a:xfrm>
            <a:off x="261816" y="1629971"/>
            <a:ext cx="0" cy="363989"/>
          </a:xfrm>
          <a:prstGeom prst="line">
            <a:avLst/>
          </a:prstGeom>
          <a:ln w="57150">
            <a:solidFill>
              <a:srgbClr val="004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EAB702B-6C4D-BEE2-3F1F-0EC46B54D9A0}"/>
              </a:ext>
            </a:extLst>
          </p:cNvPr>
          <p:cNvSpPr txBox="1">
            <a:spLocks/>
          </p:cNvSpPr>
          <p:nvPr/>
        </p:nvSpPr>
        <p:spPr>
          <a:xfrm>
            <a:off x="243781" y="842963"/>
            <a:ext cx="9422507" cy="5762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R="0" lvl="0" indent="0" defTabSz="914400" fontAlgn="auto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1700" b="0" i="0" u="none" strike="noStrike" cap="none" spc="-50" normalizeH="0" baseline="0">
                <a:ln>
                  <a:solidFill>
                    <a:srgbClr val="15608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계약체결일로부터 </a:t>
            </a:r>
            <a:r>
              <a:rPr lang="en-US" altLang="ko-KR" dirty="0"/>
              <a:t>8</a:t>
            </a:r>
            <a:r>
              <a:rPr lang="ko-KR" altLang="en-US" dirty="0"/>
              <a:t>개월간 </a:t>
            </a:r>
            <a:r>
              <a:rPr lang="en-US" altLang="ko-KR" dirty="0"/>
              <a:t>4</a:t>
            </a:r>
            <a:r>
              <a:rPr lang="ko-KR" altLang="en-US" dirty="0"/>
              <a:t>대 영역을 단계적</a:t>
            </a:r>
            <a:r>
              <a:rPr lang="en-US" altLang="ko-KR" dirty="0"/>
              <a:t>·</a:t>
            </a:r>
            <a:r>
              <a:rPr lang="ko-KR" altLang="en-US" dirty="0"/>
              <a:t>병행적으로 추진하며</a:t>
            </a:r>
            <a:r>
              <a:rPr lang="en-US" altLang="ko-KR" dirty="0"/>
              <a:t>, </a:t>
            </a:r>
            <a:r>
              <a:rPr lang="ko-KR" altLang="en-US" dirty="0"/>
              <a:t>착수</a:t>
            </a:r>
            <a:r>
              <a:rPr lang="en-US" altLang="ko-KR" dirty="0"/>
              <a:t>/</a:t>
            </a:r>
            <a:r>
              <a:rPr lang="ko-KR" altLang="en-US" dirty="0"/>
              <a:t>중간</a:t>
            </a:r>
            <a:r>
              <a:rPr lang="en-US" altLang="ko-KR" dirty="0"/>
              <a:t>/</a:t>
            </a:r>
            <a:r>
              <a:rPr lang="ko-KR" altLang="en-US" dirty="0"/>
              <a:t>최종 보고회 및 수시 보고체계를 통해 발주기관과 긴밀히 소통하여 연구 결과를 도출할 계획임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BC13DD-42AC-39BE-C3A3-C2DFFD8409B3}"/>
              </a:ext>
            </a:extLst>
          </p:cNvPr>
          <p:cNvSpPr txBox="1"/>
          <p:nvPr/>
        </p:nvSpPr>
        <p:spPr>
          <a:xfrm>
            <a:off x="261816" y="225424"/>
            <a:ext cx="609720" cy="4667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8FA92912-A742-AD9F-B82C-B0DA5ED82E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530560"/>
              </p:ext>
            </p:extLst>
          </p:nvPr>
        </p:nvGraphicFramePr>
        <p:xfrm>
          <a:off x="236547" y="2076450"/>
          <a:ext cx="9396407" cy="4400560"/>
        </p:xfrm>
        <a:graphic>
          <a:graphicData uri="http://schemas.openxmlformats.org/drawingml/2006/table">
            <a:tbl>
              <a:tblPr/>
              <a:tblGrid>
                <a:gridCol w="1173153">
                  <a:extLst>
                    <a:ext uri="{9D8B030D-6E8A-4147-A177-3AD203B41FA5}">
                      <a16:colId xmlns:a16="http://schemas.microsoft.com/office/drawing/2014/main" val="3040323677"/>
                    </a:ext>
                  </a:extLst>
                </a:gridCol>
                <a:gridCol w="3193686">
                  <a:extLst>
                    <a:ext uri="{9D8B030D-6E8A-4147-A177-3AD203B41FA5}">
                      <a16:colId xmlns:a16="http://schemas.microsoft.com/office/drawing/2014/main" val="4123765174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2031622316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2302005798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829139886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1344052004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3880119446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3221824391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555419805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351249854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1956116152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1479505384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1376104911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444942135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1991967613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1839596438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2143341446"/>
                    </a:ext>
                  </a:extLst>
                </a:gridCol>
                <a:gridCol w="314348">
                  <a:extLst>
                    <a:ext uri="{9D8B030D-6E8A-4147-A177-3AD203B41FA5}">
                      <a16:colId xmlns:a16="http://schemas.microsoft.com/office/drawing/2014/main" val="1440506392"/>
                    </a:ext>
                  </a:extLst>
                </a:gridCol>
              </a:tblGrid>
              <a:tr h="291240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단계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연구 내용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1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추진일정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chemeClr val="bg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chemeClr val="bg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chemeClr val="bg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chemeClr val="bg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1696950"/>
                  </a:ext>
                </a:extLst>
              </a:tr>
              <a:tr h="2912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M+1</a:t>
                      </a:r>
                      <a:endParaRPr lang="ko-KR" altLang="en-US" sz="1100" kern="0" spc="-20" baseline="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M+2</a:t>
                      </a:r>
                      <a:endParaRPr lang="ko-KR" altLang="en-US" sz="1100" kern="0" spc="-20" baseline="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M+3</a:t>
                      </a:r>
                      <a:endParaRPr lang="ko-KR" altLang="en-US" sz="1100" kern="0" spc="-20" baseline="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M+4</a:t>
                      </a:r>
                      <a:endParaRPr lang="ko-KR" altLang="en-US" sz="1100" kern="0" spc="-20" baseline="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M+5</a:t>
                      </a:r>
                      <a:endParaRPr lang="ko-KR" altLang="en-US" sz="1100" kern="0" spc="-20" baseline="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M+6</a:t>
                      </a:r>
                      <a:endParaRPr lang="ko-KR" altLang="en-US" sz="1100" kern="0" spc="-20" baseline="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M+7</a:t>
                      </a:r>
                      <a:endParaRPr lang="ko-KR" altLang="en-US" sz="1100" kern="0" spc="-20" baseline="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chemeClr val="bg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M+8</a:t>
                      </a:r>
                      <a:endParaRPr lang="ko-KR" altLang="en-US" sz="1100" kern="0" spc="-20" baseline="0" dirty="0">
                        <a:solidFill>
                          <a:schemeClr val="bg1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chemeClr val="bg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182563"/>
                  </a:ext>
                </a:extLst>
              </a:tr>
              <a:tr h="27272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tabLst>
                          <a:tab pos="4432300" algn="r"/>
                        </a:tabLst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착수보고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★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772131"/>
                  </a:ext>
                </a:extLst>
              </a:tr>
              <a:tr h="272720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한국표준직업분류</a:t>
                      </a:r>
                      <a:endParaRPr lang="en-US" altLang="ko-KR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직무기술 정의서 작성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85725" algn="l"/>
                        </a:tabLst>
                      </a:pPr>
                      <a:r>
                        <a:rPr lang="en-US" altLang="ko-KR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KSCO </a:t>
                      </a:r>
                      <a:r>
                        <a:rPr lang="ko-KR" altLang="en-US" sz="1000" kern="0" spc="-20" baseline="0" dirty="0" err="1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세분류</a:t>
                      </a: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직업별 업무내용 검토 및 핵심 직무 파악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6139073"/>
                  </a:ext>
                </a:extLst>
              </a:tr>
              <a:tr h="2727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indent="-85725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기반 직무활동 추출 및 </a:t>
                      </a:r>
                      <a:r>
                        <a:rPr lang="en-US" altLang="ko-KR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O*NET </a:t>
                      </a: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방법론 참조 구조화</a:t>
                      </a:r>
                      <a:endParaRPr lang="ko-KR" altLang="en-US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2746068"/>
                  </a:ext>
                </a:extLst>
              </a:tr>
              <a:tr h="2727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indent="-85725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표준화 직무요소 도출 및 직무기술 정의서 작성</a:t>
                      </a:r>
                      <a:endParaRPr lang="ko-KR" altLang="en-US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3065611"/>
                  </a:ext>
                </a:extLst>
              </a:tr>
              <a:tr h="272720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직업분류 고도화를 위한 직업정보 프레임워크 연구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국내</a:t>
                      </a:r>
                      <a:r>
                        <a:rPr lang="en-US" altLang="ko-KR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외</a:t>
                      </a:r>
                      <a:r>
                        <a:rPr lang="en-US" altLang="ko-KR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</a:t>
                      </a: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직업정보 사례 분석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6935232"/>
                  </a:ext>
                </a:extLst>
              </a:tr>
              <a:tr h="2727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indent="-85725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국내</a:t>
                      </a:r>
                      <a:r>
                        <a:rPr lang="en-US" altLang="ko-KR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외</a:t>
                      </a:r>
                      <a:r>
                        <a:rPr lang="en-US" altLang="ko-KR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</a:t>
                      </a: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직업정보 사례 비교 미 국내 적용방안 검토</a:t>
                      </a:r>
                      <a:endParaRPr lang="ko-KR" altLang="en-US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7116492"/>
                  </a:ext>
                </a:extLst>
              </a:tr>
              <a:tr h="2727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indent="-85725" algn="l" latinLnBrk="1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한국형 직능유형 </a:t>
                      </a:r>
                      <a:r>
                        <a:rPr kumimoji="0" lang="en-US" altLang="ko-KR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6</a:t>
                      </a:r>
                      <a:r>
                        <a:rPr kumimoji="0" lang="ko-KR" altLang="en-US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대 차원</a:t>
                      </a:r>
                      <a:r>
                        <a:rPr kumimoji="0" lang="en-US" altLang="ko-KR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안</a:t>
                      </a:r>
                      <a:r>
                        <a:rPr kumimoji="0" lang="en-US" altLang="ko-KR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도출 및 구성요소 설계</a:t>
                      </a:r>
                      <a:endParaRPr lang="ko-KR" altLang="en-US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98303"/>
                  </a:ext>
                </a:extLst>
              </a:tr>
              <a:tr h="2727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indent="-85725" algn="l" latinLnBrk="1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직업분류체계와의 연계 방안 및 정책적 활용 방안 제시</a:t>
                      </a:r>
                      <a:endParaRPr lang="ko-KR" altLang="en-US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7639919"/>
                  </a:ext>
                </a:extLst>
              </a:tr>
              <a:tr h="27272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중간보고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17862"/>
                  </a:ext>
                </a:extLst>
              </a:tr>
              <a:tr h="272720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시뮬레이션 및 전문가 검토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시뮬레이션 대상 </a:t>
                      </a:r>
                      <a:r>
                        <a:rPr lang="ko-KR" altLang="en-US" sz="1000" kern="0" spc="-20" baseline="0" dirty="0" err="1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직업군</a:t>
                      </a: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선정 및 분석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595174"/>
                  </a:ext>
                </a:extLst>
              </a:tr>
              <a:tr h="2727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indent="-85725" algn="l" latinLnBrk="1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전문가 검토 실시 및 구성요소 보완</a:t>
                      </a:r>
                      <a:r>
                        <a:rPr kumimoji="0" lang="en-US" altLang="ko-KR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·</a:t>
                      </a:r>
                      <a:r>
                        <a:rPr kumimoji="0" lang="ko-KR" altLang="en-US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조정</a:t>
                      </a:r>
                      <a:endParaRPr lang="ko-KR" altLang="en-US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89993"/>
                  </a:ext>
                </a:extLst>
              </a:tr>
              <a:tr h="2727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indent="-85725" algn="l" latinLnBrk="1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직능유형</a:t>
                      </a:r>
                      <a:r>
                        <a:rPr kumimoji="0" lang="en-US" altLang="ko-KR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구조 최종안 도출</a:t>
                      </a:r>
                      <a:endParaRPr lang="ko-KR" altLang="en-US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AE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579466"/>
                  </a:ext>
                </a:extLst>
              </a:tr>
              <a:tr h="27272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최종보고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-20" baseline="0" dirty="0">
                          <a:solidFill>
                            <a:schemeClr val="bg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★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68232"/>
                  </a:ext>
                </a:extLst>
              </a:tr>
              <a:tr h="2727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연구 보고서 작성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-20" baseline="0" dirty="0">
                          <a:solidFill>
                            <a:srgbClr val="000000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연구 보고서 작성 등 연구 마무리</a:t>
                      </a:r>
                      <a:endParaRPr lang="ko-KR" altLang="en-US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20" baseline="0" dirty="0">
                        <a:solidFill>
                          <a:srgbClr val="000000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915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6937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3436</TotalTime>
  <Words>3797</Words>
  <Application>Microsoft Office PowerPoint</Application>
  <PresentationFormat>A4 용지(210x297mm)</PresentationFormat>
  <Paragraphs>706</Paragraphs>
  <Slides>18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33" baseType="lpstr">
      <vt:lpstr>a고딕14</vt:lpstr>
      <vt:lpstr>맑은 고딕</vt:lpstr>
      <vt:lpstr>페이퍼로지 3 Light</vt:lpstr>
      <vt:lpstr>페이퍼로지 4 Regular</vt:lpstr>
      <vt:lpstr>페이퍼로지 5 Medium</vt:lpstr>
      <vt:lpstr>페이퍼로지 6 SemiBold</vt:lpstr>
      <vt:lpstr>페이퍼로지 7 Bold</vt:lpstr>
      <vt:lpstr>페이퍼로지 8 ExtraBold</vt:lpstr>
      <vt:lpstr>프리젠테이션 6 SemiBold</vt:lpstr>
      <vt:lpstr>Aptos</vt:lpstr>
      <vt:lpstr>Aptos Display</vt:lpstr>
      <vt:lpstr>Arial</vt:lpstr>
      <vt:lpstr>Arial Narrow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윤형 이</dc:creator>
  <cp:lastModifiedBy>석주 이</cp:lastModifiedBy>
  <cp:revision>86</cp:revision>
  <cp:lastPrinted>2025-03-27T12:19:48Z</cp:lastPrinted>
  <dcterms:created xsi:type="dcterms:W3CDTF">2025-03-25T05:59:26Z</dcterms:created>
  <dcterms:modified xsi:type="dcterms:W3CDTF">2026-05-04T04:39:26Z</dcterms:modified>
</cp:coreProperties>
</file>