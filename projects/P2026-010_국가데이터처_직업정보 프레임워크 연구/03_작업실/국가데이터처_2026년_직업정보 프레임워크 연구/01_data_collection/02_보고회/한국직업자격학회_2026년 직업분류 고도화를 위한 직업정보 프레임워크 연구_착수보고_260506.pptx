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32" r:id="rId2"/>
    <p:sldId id="330" r:id="rId3"/>
    <p:sldId id="366" r:id="rId4"/>
    <p:sldId id="415" r:id="rId5"/>
    <p:sldId id="436" r:id="rId6"/>
    <p:sldId id="435" r:id="rId7"/>
    <p:sldId id="367" r:id="rId8"/>
    <p:sldId id="441" r:id="rId9"/>
    <p:sldId id="418" r:id="rId10"/>
    <p:sldId id="440" r:id="rId11"/>
    <p:sldId id="454" r:id="rId12"/>
    <p:sldId id="439" r:id="rId13"/>
    <p:sldId id="442" r:id="rId14"/>
    <p:sldId id="446" r:id="rId15"/>
    <p:sldId id="447" r:id="rId16"/>
    <p:sldId id="448" r:id="rId17"/>
    <p:sldId id="450" r:id="rId18"/>
    <p:sldId id="451" r:id="rId19"/>
    <p:sldId id="452" r:id="rId20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43E6359-0AAE-446E-B05D-8FA1BD355E2F}">
          <p14:sldIdLst>
            <p14:sldId id="332"/>
            <p14:sldId id="330"/>
          </p14:sldIdLst>
        </p14:section>
        <p14:section name="1. 사업 개요" id="{9215D373-039F-4EBB-9CB4-23427AC6B03B}">
          <p14:sldIdLst>
            <p14:sldId id="366"/>
            <p14:sldId id="415"/>
            <p14:sldId id="436"/>
            <p14:sldId id="435"/>
          </p14:sldIdLst>
        </p14:section>
        <p14:section name="2. 사업수행 부문" id="{DCD1AC7F-27D4-4B9D-AFE0-35C11C0C98E4}">
          <p14:sldIdLst>
            <p14:sldId id="367"/>
            <p14:sldId id="441"/>
            <p14:sldId id="418"/>
            <p14:sldId id="440"/>
            <p14:sldId id="454"/>
            <p14:sldId id="439"/>
            <p14:sldId id="442"/>
            <p14:sldId id="446"/>
            <p14:sldId id="447"/>
            <p14:sldId id="448"/>
            <p14:sldId id="450"/>
            <p14:sldId id="451"/>
            <p14:sldId id="4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3" orient="horz" pos="1253" userDrawn="1">
          <p15:clr>
            <a:srgbClr val="A4A3A4"/>
          </p15:clr>
        </p15:guide>
        <p15:guide id="5" pos="149" userDrawn="1">
          <p15:clr>
            <a:srgbClr val="A4A3A4"/>
          </p15:clr>
        </p15:guide>
        <p15:guide id="6" orient="horz" pos="550" userDrawn="1">
          <p15:clr>
            <a:srgbClr val="A4A3A4"/>
          </p15:clr>
        </p15:guide>
        <p15:guide id="7" orient="horz" pos="459" userDrawn="1">
          <p15:clr>
            <a:srgbClr val="A4A3A4"/>
          </p15:clr>
        </p15:guide>
        <p15:guide id="8" orient="horz" pos="4065" userDrawn="1">
          <p15:clr>
            <a:srgbClr val="A4A3A4"/>
          </p15:clr>
        </p15:guide>
        <p15:guide id="9" pos="6068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  <p15:guide id="11" pos="3052" userDrawn="1">
          <p15:clr>
            <a:srgbClr val="A4A3A4"/>
          </p15:clr>
        </p15:guide>
        <p15:guide id="12" pos="3188" userDrawn="1">
          <p15:clr>
            <a:srgbClr val="A4A3A4"/>
          </p15:clr>
        </p15:guide>
        <p15:guide id="13" orient="horz" pos="2001" userDrawn="1">
          <p15:clr>
            <a:srgbClr val="A4A3A4"/>
          </p15:clr>
        </p15:guide>
        <p15:guide id="14" orient="horz" pos="142" userDrawn="1">
          <p15:clr>
            <a:srgbClr val="A4A3A4"/>
          </p15:clr>
        </p15:guide>
        <p15:guide id="15" orient="horz" pos="1548" userDrawn="1">
          <p15:clr>
            <a:srgbClr val="A4A3A4"/>
          </p15:clr>
        </p15:guide>
        <p15:guide id="16" orient="horz" pos="1820" userDrawn="1">
          <p15:clr>
            <a:srgbClr val="A4A3A4"/>
          </p15:clr>
        </p15:guide>
        <p15:guide id="17" orient="horz" pos="14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A"/>
    <a:srgbClr val="71AAE0"/>
    <a:srgbClr val="9A0000"/>
    <a:srgbClr val="FADADF"/>
    <a:srgbClr val="00479D"/>
    <a:srgbClr val="0000FF"/>
    <a:srgbClr val="DCEAF7"/>
    <a:srgbClr val="0000CC"/>
    <a:srgbClr val="F2F2F2"/>
    <a:srgbClr val="305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715" autoAdjust="0"/>
  </p:normalViewPr>
  <p:slideViewPr>
    <p:cSldViewPr snapToGrid="0" showGuides="1">
      <p:cViewPr varScale="1">
        <p:scale>
          <a:sx n="155" d="100"/>
          <a:sy n="155" d="100"/>
        </p:scale>
        <p:origin x="1740" y="144"/>
      </p:cViewPr>
      <p:guideLst>
        <p:guide orient="horz" pos="913"/>
        <p:guide orient="horz" pos="1253"/>
        <p:guide pos="149"/>
        <p:guide orient="horz" pos="550"/>
        <p:guide orient="horz" pos="459"/>
        <p:guide orient="horz" pos="4065"/>
        <p:guide pos="6068"/>
        <p:guide orient="horz" pos="1434"/>
        <p:guide pos="3052"/>
        <p:guide pos="3188"/>
        <p:guide orient="horz" pos="2001"/>
        <p:guide orient="horz" pos="142"/>
        <p:guide orient="horz" pos="1548"/>
        <p:guide orient="horz" pos="1820"/>
        <p:guide orient="horz" pos="14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modSld">
      <pc:chgData name="석주 이" userId="b6553f64e91d015d" providerId="LiveId" clId="{7E74A06A-B2AA-4EEC-A19D-AA52293F645A}" dt="2026-05-07T03:09:27.371" v="2" actId="1076"/>
      <pc:docMkLst>
        <pc:docMk/>
      </pc:docMkLst>
      <pc:sldChg chg="modSp mod">
        <pc:chgData name="석주 이" userId="b6553f64e91d015d" providerId="LiveId" clId="{7E74A06A-B2AA-4EEC-A19D-AA52293F645A}" dt="2026-05-07T03:09:27.371" v="2" actId="1076"/>
        <pc:sldMkLst>
          <pc:docMk/>
          <pc:sldMk cId="966724815" sldId="415"/>
        </pc:sldMkLst>
        <pc:spChg chg="mod">
          <ac:chgData name="석주 이" userId="b6553f64e91d015d" providerId="LiveId" clId="{7E74A06A-B2AA-4EEC-A19D-AA52293F645A}" dt="2026-05-07T03:09:24.613" v="1" actId="14100"/>
          <ac:spMkLst>
            <pc:docMk/>
            <pc:sldMk cId="966724815" sldId="415"/>
            <ac:spMk id="8" creationId="{26A6C26D-1E72-D0BB-7A24-AC2E31F17821}"/>
          </ac:spMkLst>
        </pc:spChg>
        <pc:spChg chg="mod">
          <ac:chgData name="석주 이" userId="b6553f64e91d015d" providerId="LiveId" clId="{7E74A06A-B2AA-4EEC-A19D-AA52293F645A}" dt="2026-05-07T03:09:27.371" v="2" actId="1076"/>
          <ac:spMkLst>
            <pc:docMk/>
            <pc:sldMk cId="966724815" sldId="415"/>
            <ac:spMk id="11" creationId="{9306DDD6-A4CD-B0CE-54A1-36CA5A2F05B4}"/>
          </ac:spMkLst>
        </pc:spChg>
        <pc:spChg chg="mod">
          <ac:chgData name="석주 이" userId="b6553f64e91d015d" providerId="LiveId" clId="{7E74A06A-B2AA-4EEC-A19D-AA52293F645A}" dt="2026-05-07T03:09:27.371" v="2" actId="1076"/>
          <ac:spMkLst>
            <pc:docMk/>
            <pc:sldMk cId="966724815" sldId="415"/>
            <ac:spMk id="14" creationId="{5CDDD73B-C608-D1CC-49EC-6774AE9710C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7298022-82C7-63A2-9C82-C91F9D450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830DC6-F205-0629-3C52-C2240F41D5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2CAA1-988E-408A-B4FE-A93099D8D0E2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DEF416-BC7E-5112-0471-1D739EAE24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B039A5-019D-3F98-338F-AB466E44AB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A9199-8086-423D-82ED-43F01680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604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3360B-F05D-49FF-9B40-F897C8590CC6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597B6-67CE-4163-B743-B1B93A835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89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AD5E-03CD-A802-95AD-77917748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6A824-5626-2914-458E-5ABD4067D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D9FD78-4C72-9149-FB4C-E684CD9B0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C17B70-9544-CAFD-8935-B6EF31134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42ED4-ACC1-41DB-8FD4-75FC71A17C1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2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9E4C-60CA-96B1-6BAE-E6E2F20E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578EF2-7E42-F9C9-0B03-AE785B8D4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0E8ECC-940C-5572-2A04-FAABACF24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223CF-4419-3F46-FAA1-8C1AC0816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109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EA0A8-9162-D201-6EFA-697F06398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CEAC-FFC1-F272-9AA4-731FA31DB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6FFC51-C8F3-196A-A5FE-2CEB915E7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2F7DD0-F274-371C-E567-2962BA88F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276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3C963-B025-7125-90C5-02F4E7151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6C854B-D729-712C-04E0-A3CBB19B5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978EE7-E8F0-006B-B550-6C68AAD2D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DE6D4-5725-3E31-E448-AA2A31098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41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D1692-3A86-A411-6587-1E622AA6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42B709-9EDB-4176-B4A0-6C6DA280A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E5FDE1-B6B7-1435-0DFC-63271F7CE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EDB7B6-6C5A-5A54-FCC3-F840630EF9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22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F527D-8917-E2EC-25D9-581ABD19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7BE756-CB35-8816-4679-AA51CAB75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66A560-D51E-55B1-DDA3-F20BDF436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BF9B0-8A11-8470-05A9-66F6A4189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081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7BAEB-9E7C-D145-9FF6-75C17EBEF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AEEF4E-3DAC-A3FB-3D80-8B75A7298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533BAA-5722-25B7-BD05-8C94072DB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05300-7250-DC06-CE86-E1FF7066A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985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B8FC-E9BE-7586-FF70-292396D85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76480D-2FAA-2F03-528F-27D5ABAEC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9E16EE-8294-2B5F-29B0-5118BC3DF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7F11B6-7B29-33EF-8359-8E87AD53D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448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7020-3389-F319-3D49-639477D4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7954C-7F11-37BD-6E93-9B3DACA33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C25A54-CAE4-FF79-33C3-050E501FA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78FC6D-74E8-4636-9BE5-F9E18B45E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287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D052-51E8-5B57-2E57-342214F89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12B221-010A-1FD2-AE97-EA00303E2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6F6B16-7841-1AAE-86A4-BDC2338C6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379DAD-A487-3AE7-1695-62A965597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904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748F7-C3B2-BA4F-D0B2-0C38FA52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3A9324-E47B-43DC-306B-F91E4C356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A9D312-4077-6932-D527-13000EEB6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FF5EF0-D5DB-3C64-463A-183E74A8F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572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699E8-C814-E13C-0D50-0A8A715E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766285-E7BE-AF50-CCE1-021E26608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CF5D5-78F9-8F34-A638-BDA85C541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599CF0-3698-9D0A-1816-F0DEDC536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738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D343-AAE5-D736-696C-4E6E3931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AF4869-C9DD-F91B-FEC6-BEDE85766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C57CE6-2D2C-1AC1-80EA-B79A78770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CA4CD6-9CD8-119F-6E0A-642E5C7E6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981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B27E-1E3B-17F0-FFEB-E39BD5D9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70FE50-DB9A-3484-AF23-BAF6EB419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D61EE2-20CC-0905-34E5-537BBFCDB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B2975-C4BC-407D-1490-52385B53A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484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060E2-6C92-607B-8D70-B38DFFF4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AA8246-201E-3723-965C-E5A381227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D2ACA7-2769-1749-D6F7-4D5C7B53E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5F5ED-F5F1-1B98-110E-C80EAC2E2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731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77F5B-A34A-13E7-4062-76F77D8A3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4ECD52-DC8B-C5A6-68B6-D15B60CE2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036085-A1E0-6613-C527-69775CE39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15F3CB-A9F9-CFB3-C6EC-3C628757C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122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C1AA5D3-522E-02FE-4A38-175F607D28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80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3D20474C-A01F-E293-1871-AB2DA1115199}"/>
              </a:ext>
            </a:extLst>
          </p:cNvPr>
          <p:cNvSpPr/>
          <p:nvPr userDrawn="1"/>
        </p:nvSpPr>
        <p:spPr>
          <a:xfrm>
            <a:off x="-266697" y="0"/>
            <a:ext cx="5352873" cy="6858000"/>
          </a:xfrm>
          <a:custGeom>
            <a:avLst/>
            <a:gdLst>
              <a:gd name="connsiteX0" fmla="*/ 0 w 5352872"/>
              <a:gd name="connsiteY0" fmla="*/ 0 h 6858000"/>
              <a:gd name="connsiteX1" fmla="*/ 5352872 w 5352872"/>
              <a:gd name="connsiteY1" fmla="*/ 0 h 6858000"/>
              <a:gd name="connsiteX2" fmla="*/ 5289689 w 5352872"/>
              <a:gd name="connsiteY2" fmla="*/ 258922 h 6858000"/>
              <a:gd name="connsiteX3" fmla="*/ 4930244 w 5352872"/>
              <a:gd name="connsiteY3" fmla="*/ 3429001 h 6858000"/>
              <a:gd name="connsiteX4" fmla="*/ 5289689 w 5352872"/>
              <a:gd name="connsiteY4" fmla="*/ 6599080 h 6858000"/>
              <a:gd name="connsiteX5" fmla="*/ 5352872 w 5352872"/>
              <a:gd name="connsiteY5" fmla="*/ 6858000 h 6858000"/>
              <a:gd name="connsiteX6" fmla="*/ 0 w 5352872"/>
              <a:gd name="connsiteY6" fmla="*/ 6858000 h 6858000"/>
              <a:gd name="connsiteX7" fmla="*/ 0 w 535287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2872" h="6858000">
                <a:moveTo>
                  <a:pt x="0" y="0"/>
                </a:moveTo>
                <a:lnTo>
                  <a:pt x="5352872" y="0"/>
                </a:lnTo>
                <a:lnTo>
                  <a:pt x="5289689" y="258922"/>
                </a:lnTo>
                <a:cubicBezTo>
                  <a:pt x="5054524" y="1277658"/>
                  <a:pt x="4930244" y="2338816"/>
                  <a:pt x="4930244" y="3429001"/>
                </a:cubicBezTo>
                <a:cubicBezTo>
                  <a:pt x="4930244" y="4519186"/>
                  <a:pt x="5054524" y="5580344"/>
                  <a:pt x="5289689" y="6599080"/>
                </a:cubicBezTo>
                <a:lnTo>
                  <a:pt x="535287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90B5A-A826-58A3-78C1-69922E91ED8E}"/>
              </a:ext>
            </a:extLst>
          </p:cNvPr>
          <p:cNvSpPr txBox="1"/>
          <p:nvPr userDrawn="1"/>
        </p:nvSpPr>
        <p:spPr>
          <a:xfrm>
            <a:off x="6850826" y="6602366"/>
            <a:ext cx="249478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직업분류 고도화를 위한 직업정보 프레임워크 연구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B682C45-12F4-CD5E-8899-3586E82D292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26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3D20474C-A01F-E293-1871-AB2DA1115199}"/>
              </a:ext>
            </a:extLst>
          </p:cNvPr>
          <p:cNvSpPr/>
          <p:nvPr userDrawn="1"/>
        </p:nvSpPr>
        <p:spPr>
          <a:xfrm>
            <a:off x="-266697" y="0"/>
            <a:ext cx="5352873" cy="6858000"/>
          </a:xfrm>
          <a:custGeom>
            <a:avLst/>
            <a:gdLst>
              <a:gd name="connsiteX0" fmla="*/ 0 w 5352872"/>
              <a:gd name="connsiteY0" fmla="*/ 0 h 6858000"/>
              <a:gd name="connsiteX1" fmla="*/ 5352872 w 5352872"/>
              <a:gd name="connsiteY1" fmla="*/ 0 h 6858000"/>
              <a:gd name="connsiteX2" fmla="*/ 5289689 w 5352872"/>
              <a:gd name="connsiteY2" fmla="*/ 258922 h 6858000"/>
              <a:gd name="connsiteX3" fmla="*/ 4930244 w 5352872"/>
              <a:gd name="connsiteY3" fmla="*/ 3429001 h 6858000"/>
              <a:gd name="connsiteX4" fmla="*/ 5289689 w 5352872"/>
              <a:gd name="connsiteY4" fmla="*/ 6599080 h 6858000"/>
              <a:gd name="connsiteX5" fmla="*/ 5352872 w 5352872"/>
              <a:gd name="connsiteY5" fmla="*/ 6858000 h 6858000"/>
              <a:gd name="connsiteX6" fmla="*/ 0 w 5352872"/>
              <a:gd name="connsiteY6" fmla="*/ 6858000 h 6858000"/>
              <a:gd name="connsiteX7" fmla="*/ 0 w 535287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2872" h="6858000">
                <a:moveTo>
                  <a:pt x="0" y="0"/>
                </a:moveTo>
                <a:lnTo>
                  <a:pt x="5352872" y="0"/>
                </a:lnTo>
                <a:lnTo>
                  <a:pt x="5289689" y="258922"/>
                </a:lnTo>
                <a:cubicBezTo>
                  <a:pt x="5054524" y="1277658"/>
                  <a:pt x="4930244" y="2338816"/>
                  <a:pt x="4930244" y="3429001"/>
                </a:cubicBezTo>
                <a:cubicBezTo>
                  <a:pt x="4930244" y="4519186"/>
                  <a:pt x="5054524" y="5580344"/>
                  <a:pt x="5289689" y="6599080"/>
                </a:cubicBezTo>
                <a:lnTo>
                  <a:pt x="535287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30427-A488-428C-47F5-5EDD25491CE1}"/>
              </a:ext>
            </a:extLst>
          </p:cNvPr>
          <p:cNvSpPr txBox="1"/>
          <p:nvPr userDrawn="1"/>
        </p:nvSpPr>
        <p:spPr>
          <a:xfrm>
            <a:off x="6850826" y="6602366"/>
            <a:ext cx="249478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직업분류 고도화를 위한 직업정보 프레임워크 연구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C7F39C7-D9C4-A399-B790-88A5D3E1293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483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1C312037-49F0-F0BD-6E90-1CC37526969D}"/>
              </a:ext>
            </a:extLst>
          </p:cNvPr>
          <p:cNvGrpSpPr/>
          <p:nvPr userDrawn="1"/>
        </p:nvGrpSpPr>
        <p:grpSpPr>
          <a:xfrm>
            <a:off x="0" y="-2824"/>
            <a:ext cx="9906000" cy="708569"/>
            <a:chOff x="0" y="-2824"/>
            <a:chExt cx="9906000" cy="73925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380ABAE-41FF-A726-D253-37E6E47F3E3A}"/>
                </a:ext>
              </a:extLst>
            </p:cNvPr>
            <p:cNvSpPr/>
            <p:nvPr userDrawn="1"/>
          </p:nvSpPr>
          <p:spPr>
            <a:xfrm>
              <a:off x="0" y="-2824"/>
              <a:ext cx="9896811" cy="7392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B9A3B34-8B59-C710-9376-18C31BF07CFD}"/>
                </a:ext>
              </a:extLst>
            </p:cNvPr>
            <p:cNvSpPr/>
            <p:nvPr userDrawn="1"/>
          </p:nvSpPr>
          <p:spPr>
            <a:xfrm>
              <a:off x="257729" y="-2821"/>
              <a:ext cx="618550" cy="735757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D744332-BC5A-26D6-3F24-4ACE498202F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55768" y="158731"/>
              <a:ext cx="422479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8DD19D5-2DFF-1122-C614-54E969F3133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736427"/>
              <a:ext cx="9906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92160A-AE33-EC05-DE7F-4D88B4DDB714}"/>
              </a:ext>
            </a:extLst>
          </p:cNvPr>
          <p:cNvSpPr txBox="1"/>
          <p:nvPr userDrawn="1"/>
        </p:nvSpPr>
        <p:spPr>
          <a:xfrm>
            <a:off x="6830436" y="6602366"/>
            <a:ext cx="251517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직업분류 고도화를 위한 직업정보 프레임워크 연구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7525220C-6F4D-07DC-339D-EFA742733CB2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58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63CD-C894-4517-B9CF-A2C7A06EAF49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E4FF-9C59-483A-9030-FFCEC36C1D7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00" b="78120"/>
          <a:stretch/>
        </p:blipFill>
        <p:spPr>
          <a:xfrm>
            <a:off x="1" y="5940170"/>
            <a:ext cx="1129993" cy="91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9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890FB-6662-4C0C-A235-FB94F8DD481A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F2B35-6339-49B5-83E5-FA6F7F9C56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49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3" r:id="rId2"/>
    <p:sldLayoutId id="2147483674" r:id="rId3"/>
    <p:sldLayoutId id="2147483667" r:id="rId4"/>
    <p:sldLayoutId id="214748367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95A6-32DF-4497-4696-5CF2A2A8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EBE20C3-06CA-DA8E-C03B-8E0449A5E6A8}"/>
              </a:ext>
            </a:extLst>
          </p:cNvPr>
          <p:cNvGrpSpPr/>
          <p:nvPr/>
        </p:nvGrpSpPr>
        <p:grpSpPr>
          <a:xfrm>
            <a:off x="236538" y="497831"/>
            <a:ext cx="9432925" cy="461665"/>
            <a:chOff x="381000" y="1076951"/>
            <a:chExt cx="9288463" cy="4616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2FA6CE-D8EF-D332-A7C8-87A2DD582A08}"/>
                </a:ext>
              </a:extLst>
            </p:cNvPr>
            <p:cNvSpPr txBox="1"/>
            <p:nvPr/>
          </p:nvSpPr>
          <p:spPr>
            <a:xfrm>
              <a:off x="381000" y="1076951"/>
              <a:ext cx="4921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[</a:t>
              </a:r>
              <a:r>
                <a:rPr lang="ko-KR" altLang="en-US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착수보고</a:t>
              </a:r>
              <a:r>
                <a:rPr lang="en-US" altLang="ko-KR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]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0D6B788-2597-2FDD-0426-6DA5C4FFFCCA}"/>
                </a:ext>
              </a:extLst>
            </p:cNvPr>
            <p:cNvCxnSpPr>
              <a:cxnSpLocks/>
            </p:cNvCxnSpPr>
            <p:nvPr/>
          </p:nvCxnSpPr>
          <p:spPr>
            <a:xfrm>
              <a:off x="2319130" y="1307783"/>
              <a:ext cx="7350333" cy="0"/>
            </a:xfrm>
            <a:prstGeom prst="line">
              <a:avLst/>
            </a:prstGeom>
            <a:ln w="38100">
              <a:solidFill>
                <a:srgbClr val="0041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B8C77B4-F35D-267E-0953-31D57AF90B89}"/>
              </a:ext>
            </a:extLst>
          </p:cNvPr>
          <p:cNvSpPr txBox="1"/>
          <p:nvPr/>
        </p:nvSpPr>
        <p:spPr>
          <a:xfrm>
            <a:off x="236536" y="2207528"/>
            <a:ext cx="94329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직업분류 고도화를 위한 직업정보 프레임워크 연구</a:t>
            </a:r>
            <a:endParaRPr lang="en-US" altLang="ko-KR" sz="4400" dirty="0">
              <a:solidFill>
                <a:srgbClr val="004193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CBB41E-DBCF-A3A1-E1F8-7B9D1485EC64}"/>
              </a:ext>
            </a:extLst>
          </p:cNvPr>
          <p:cNvSpPr txBox="1"/>
          <p:nvPr/>
        </p:nvSpPr>
        <p:spPr>
          <a:xfrm>
            <a:off x="2492135" y="3822750"/>
            <a:ext cx="4921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2026. 05.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DD980D-2BC0-D722-7171-32DAB963A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36" y="6280346"/>
            <a:ext cx="1871889" cy="4575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281E2-A120-D6AE-A2F2-028103F48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89" y="6228846"/>
            <a:ext cx="1933572" cy="5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1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B7FC0-A881-C75D-8DA9-BEB2F392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13A18942-9AED-5DC5-EC5A-B8D94A8484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F3856E9-4239-4EE7-A372-FDCF4882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C9CDCF-90F8-42B0-BD0A-794C5268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7D05FE-3FB8-4314-A050-9AB40814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DDC6C42-DDD5-4105-85F2-9C052563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FB95E12-4EF0-42F7-BCF9-AD31B4C8E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338F8B2-67A9-4086-9341-7705CAB6F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653AAAF-CCEF-494B-9366-16BB3815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4B356D9-49C3-412F-8E03-AC9AE8371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6A6349-919E-3139-2B5E-5AD363204BB9}"/>
              </a:ext>
            </a:extLst>
          </p:cNvPr>
          <p:cNvSpPr/>
          <p:nvPr/>
        </p:nvSpPr>
        <p:spPr>
          <a:xfrm>
            <a:off x="653796" y="2023236"/>
            <a:ext cx="2973568" cy="2820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sz="36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  <a:cs typeface="+mj-cs"/>
              </a:rPr>
              <a:t>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0927E-FDB8-1803-2915-4C757442FC08}"/>
              </a:ext>
            </a:extLst>
          </p:cNvPr>
          <p:cNvSpPr txBox="1"/>
          <p:nvPr/>
        </p:nvSpPr>
        <p:spPr>
          <a:xfrm>
            <a:off x="374644" y="2724699"/>
            <a:ext cx="3038011" cy="26731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ko-KR" altLang="en-US" sz="1137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직업분류 고도화를 위한 직업정보 프레임워크 연구</a:t>
            </a:r>
            <a:endParaRPr lang="en-US" altLang="ko-KR" sz="1137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EDEAF87-5C57-1925-8D78-1639D83C5D51}"/>
              </a:ext>
            </a:extLst>
          </p:cNvPr>
          <p:cNvGrpSpPr/>
          <p:nvPr/>
        </p:nvGrpSpPr>
        <p:grpSpPr>
          <a:xfrm>
            <a:off x="4588360" y="3428408"/>
            <a:ext cx="5044590" cy="1970600"/>
            <a:chOff x="5101167" y="2798365"/>
            <a:chExt cx="4525433" cy="19706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0A55359-F61A-BBA7-FB34-5109BD26511E}"/>
                </a:ext>
              </a:extLst>
            </p:cNvPr>
            <p:cNvSpPr/>
            <p:nvPr/>
          </p:nvSpPr>
          <p:spPr>
            <a:xfrm>
              <a:off x="5342646" y="3197316"/>
              <a:ext cx="3933334" cy="15716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국내</a:t>
              </a:r>
              <a:r>
                <a:rPr lang="en-US" altLang="ko-KR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·</a:t>
              </a: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외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직업정보 분석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직업정보 프레임워크 설계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직업정보 프레임워크 검증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직업분류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고도화 활용 방안</a:t>
              </a:r>
              <a:endParaRPr lang="ko-KR" altLang="en-US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D30B3C3-8D3E-4E64-8A6A-D3CC1E1505AB}"/>
                </a:ext>
              </a:extLst>
            </p:cNvPr>
            <p:cNvSpPr/>
            <p:nvPr/>
          </p:nvSpPr>
          <p:spPr>
            <a:xfrm>
              <a:off x="5423401" y="2808672"/>
              <a:ext cx="1215425" cy="3860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ko-KR" altLang="en-US" sz="16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+mn-lt"/>
                  <a:ea typeface="페이퍼로지 6 SemiBold" pitchFamily="2" charset="-127"/>
                  <a:cs typeface="Arial"/>
                </a:rPr>
                <a:t>연구 </a:t>
              </a:r>
              <a:r>
                <a:rPr lang="ko-KR" altLang="en-US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추진 계획</a:t>
              </a:r>
              <a:endPara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060169B-6274-E627-6557-A37C0DE282E8}"/>
                </a:ext>
              </a:extLst>
            </p:cNvPr>
            <p:cNvSpPr/>
            <p:nvPr/>
          </p:nvSpPr>
          <p:spPr>
            <a:xfrm>
              <a:off x="5101167" y="2798365"/>
              <a:ext cx="3799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</a:pPr>
              <a:r>
                <a:rPr lang="en-US" altLang="ko-KR" sz="20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페이퍼로지 6 SemiBold" pitchFamily="2" charset="-127"/>
                  <a:ea typeface="페이퍼로지 6 SemiBold" pitchFamily="2" charset="-127"/>
                </a:rPr>
                <a:t>Ⅱ.</a:t>
              </a:r>
              <a:endPara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3CD58B5-46FA-596C-B652-D992E1D9C589}"/>
                </a:ext>
              </a:extLst>
            </p:cNvPr>
            <p:cNvSpPr/>
            <p:nvPr/>
          </p:nvSpPr>
          <p:spPr>
            <a:xfrm>
              <a:off x="9096710" y="3197319"/>
              <a:ext cx="529890" cy="65710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08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13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17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19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74DF9D-9945-6D72-820C-106D8C0E5850}"/>
                </a:ext>
              </a:extLst>
            </p:cNvPr>
            <p:cNvSpPr/>
            <p:nvPr/>
          </p:nvSpPr>
          <p:spPr>
            <a:xfrm>
              <a:off x="9045678" y="2814423"/>
              <a:ext cx="580922" cy="414455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07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ea typeface="페이퍼로지 6 SemiBold" pitchFamily="2" charset="-127"/>
                <a:cs typeface="Arial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ED710DB-F230-7A9D-1024-9F9AE8F65E13}"/>
              </a:ext>
            </a:extLst>
          </p:cNvPr>
          <p:cNvGrpSpPr/>
          <p:nvPr/>
        </p:nvGrpSpPr>
        <p:grpSpPr>
          <a:xfrm>
            <a:off x="4588360" y="1323097"/>
            <a:ext cx="5044590" cy="1733545"/>
            <a:chOff x="5101167" y="880533"/>
            <a:chExt cx="4525433" cy="173354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952A161-FBBD-9111-E50C-F1E69E5954E4}"/>
                </a:ext>
              </a:extLst>
            </p:cNvPr>
            <p:cNvSpPr/>
            <p:nvPr/>
          </p:nvSpPr>
          <p:spPr>
            <a:xfrm>
              <a:off x="5342646" y="1279482"/>
              <a:ext cx="3933334" cy="11715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연구 배경 및 필요성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연구 목적 및 범위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추진 일정 계획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667F1F5-BDCB-0C94-2976-E67FB67AF8F8}"/>
                </a:ext>
              </a:extLst>
            </p:cNvPr>
            <p:cNvSpPr/>
            <p:nvPr/>
          </p:nvSpPr>
          <p:spPr>
            <a:xfrm>
              <a:off x="5423401" y="890839"/>
              <a:ext cx="853040" cy="3860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ko-KR" altLang="en-US" sz="16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+mn-lt"/>
                  <a:ea typeface="페이퍼로지 6 SemiBold" pitchFamily="2" charset="-127"/>
                  <a:cs typeface="Arial"/>
                </a:rPr>
                <a:t>연구 개요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5E3D720-9742-0AF5-0F1B-77724D9F47E8}"/>
                </a:ext>
              </a:extLst>
            </p:cNvPr>
            <p:cNvSpPr/>
            <p:nvPr/>
          </p:nvSpPr>
          <p:spPr>
            <a:xfrm>
              <a:off x="5101167" y="880533"/>
              <a:ext cx="35260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</a:pPr>
              <a:r>
                <a:rPr lang="en-US" altLang="ko-KR" sz="20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페이퍼로지 6 SemiBold" pitchFamily="2" charset="-127"/>
                  <a:ea typeface="페이퍼로지 6 SemiBold" pitchFamily="2" charset="-127"/>
                </a:rPr>
                <a:t>Ⅰ. </a:t>
              </a:r>
              <a:endPara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37088B6-5FC2-FA7B-61FB-2B22637430E1}"/>
                </a:ext>
              </a:extLst>
            </p:cNvPr>
            <p:cNvSpPr/>
            <p:nvPr/>
          </p:nvSpPr>
          <p:spPr>
            <a:xfrm>
              <a:off x="9096710" y="1279486"/>
              <a:ext cx="529890" cy="133459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04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05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06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30ED46B-FD5C-8D56-D19E-065B4A3638A5}"/>
                </a:ext>
              </a:extLst>
            </p:cNvPr>
            <p:cNvSpPr/>
            <p:nvPr/>
          </p:nvSpPr>
          <p:spPr>
            <a:xfrm>
              <a:off x="9045678" y="896591"/>
              <a:ext cx="580922" cy="414455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04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ea typeface="페이퍼로지 6 SemiBold" pitchFamily="2" charset="-127"/>
                <a:cs typeface="Arial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AA0A8F43-3D5A-BE32-25DF-02175BF1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89" y="6203022"/>
            <a:ext cx="1933572" cy="5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2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92D1-4710-AC4F-C2B4-2A4BE3F07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C777BC9D-A26C-1408-918E-A3D0E876F01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8" y="45376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1C49092-C3A1-2A18-C74F-62E83092C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9285B-C1BA-2C97-C2D8-1740563B6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0F53FA7-6911-A5A6-6539-9B9E9F7DC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F79F94C-4E55-3583-1BF3-7071B55F3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1FC34D6-A4E2-A8E1-4D0A-1D429FE66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4D18F50-6BFF-F7A7-AAF2-613490D62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6C87200-29F9-2B85-B452-B2C7DB4DF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527CA46-1015-0C81-0ABB-E34B46A84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34B9288A-41BB-EC07-15F9-E73EC4904BD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126481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6B44D532-352A-497C-41C2-B5BB882BAC3A}"/>
              </a:ext>
            </a:extLst>
          </p:cNvPr>
          <p:cNvSpPr txBox="1">
            <a:spLocks/>
          </p:cNvSpPr>
          <p:nvPr/>
        </p:nvSpPr>
        <p:spPr>
          <a:xfrm>
            <a:off x="796" y="2009014"/>
            <a:ext cx="6003764" cy="1066962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Ⅰ. </a:t>
            </a:r>
            <a:r>
              <a:rPr lang="ko-KR" altLang="en-US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연구 개요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9B32A977-A3A4-A764-1381-1C0F290591A3}"/>
              </a:ext>
            </a:extLst>
          </p:cNvPr>
          <p:cNvSpPr txBox="1">
            <a:spLocks/>
          </p:cNvSpPr>
          <p:nvPr/>
        </p:nvSpPr>
        <p:spPr>
          <a:xfrm>
            <a:off x="277426" y="2683422"/>
            <a:ext cx="5849055" cy="2165564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2100" b="0" i="0" baseline="0"/>
            </a:lvl1pPr>
            <a:lvl2pPr marL="342900" lvl="1" indent="-342900" defTabSz="9144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 sz="2000" b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defRPr>
            </a:lvl2pPr>
            <a:lvl3pPr marL="482400" indent="-23400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sz="2100" b="0"/>
            </a:lvl3pPr>
            <a:lvl4pPr marL="698400" indent="-20160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sz="2100" b="0"/>
            </a:lvl4pPr>
            <a:lvl5pPr marL="698400" indent="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>
                <a:latin typeface="Arial Narrow" pitchFamily="34" charset="0"/>
              </a:defRPr>
            </a:lvl5pPr>
            <a:lvl6pPr marL="25146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9pPr>
          </a:lstStyle>
          <a:p>
            <a:pPr lvl="1"/>
            <a:r>
              <a:rPr lang="ko-KR" altLang="en-US" dirty="0"/>
              <a:t>연구</a:t>
            </a:r>
            <a:r>
              <a:rPr lang="en-US" altLang="ko-KR" dirty="0"/>
              <a:t> </a:t>
            </a:r>
            <a:r>
              <a:rPr lang="ko-KR" altLang="en-US" dirty="0"/>
              <a:t>배경 및 필요성</a:t>
            </a:r>
            <a:endParaRPr lang="en-US" altLang="ko-KR" dirty="0"/>
          </a:p>
          <a:p>
            <a:pPr lvl="1"/>
            <a:r>
              <a:rPr lang="ko-KR" altLang="en-US" dirty="0"/>
              <a:t>연구 목적 및 범위</a:t>
            </a:r>
            <a:endParaRPr lang="en-US" altLang="ko-KR" dirty="0"/>
          </a:p>
          <a:p>
            <a:pPr lvl="1"/>
            <a:r>
              <a:rPr lang="ko-KR" altLang="en-US" dirty="0"/>
              <a:t>연구 추진 일정 계획</a:t>
            </a:r>
          </a:p>
        </p:txBody>
      </p:sp>
    </p:spTree>
    <p:extLst>
      <p:ext uri="{BB962C8B-B14F-4D97-AF65-F5344CB8AC3E}">
        <p14:creationId xmlns:p14="http://schemas.microsoft.com/office/powerpoint/2010/main" val="47911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3BA0E-569D-0886-073F-890EA1C6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B5486BB-618F-A46A-3092-C889FE90AF31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Ⅰ.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개요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3BE1C062-206A-1C3C-5EA3-40F0A577A8BC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C13C811C-C68E-D6F5-505C-6795D7DD1678}"/>
              </a:ext>
            </a:extLst>
          </p:cNvPr>
          <p:cNvSpPr txBox="1"/>
          <p:nvPr/>
        </p:nvSpPr>
        <p:spPr>
          <a:xfrm>
            <a:off x="978778" y="230485"/>
            <a:ext cx="7377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연구 배경 및 필요성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15E3A2-8B7E-1A8E-EAF7-E08EF1C1D952}"/>
              </a:ext>
            </a:extLst>
          </p:cNvPr>
          <p:cNvSpPr/>
          <p:nvPr/>
        </p:nvSpPr>
        <p:spPr>
          <a:xfrm>
            <a:off x="246264" y="2254015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➀ 직업분류체계의 정책적 중요성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A6C26D-1E72-D0BB-7A24-AC2E31F17821}"/>
              </a:ext>
            </a:extLst>
          </p:cNvPr>
          <p:cNvSpPr/>
          <p:nvPr/>
        </p:nvSpPr>
        <p:spPr>
          <a:xfrm>
            <a:off x="246264" y="2587476"/>
            <a:ext cx="4598786" cy="1094838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국가 차원의 직업분류체계는 노동시장 통계 </a:t>
            </a:r>
            <a:r>
              <a:rPr lang="ko-KR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생산뿐만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아니라 직업정보 제공, 인력수급 분석, </a:t>
            </a:r>
            <a:r>
              <a:rPr lang="ko-KR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교육·훈련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정책 설계 등 다양한 정책 영역에 활용되는 핵심 기반 인프라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한국표준직업분류(KSCO) 역시 국제표준직업분류(ISCO-08) 기반으로 구축되어 국가 통계 및 행정자료 생산의 표준 기준으로 활용 중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06DDD6-A4CD-B0CE-54A1-36CA5A2F05B4}"/>
              </a:ext>
            </a:extLst>
          </p:cNvPr>
          <p:cNvSpPr/>
          <p:nvPr/>
        </p:nvSpPr>
        <p:spPr>
          <a:xfrm>
            <a:off x="246264" y="4001345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➁ </a:t>
            </a:r>
            <a:r>
              <a:rPr lang="en-US" altLang="ko-KR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ISCO-28 </a:t>
            </a:r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개정 동향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DDD73B-C608-D1CC-49EC-6774AE9710C8}"/>
              </a:ext>
            </a:extLst>
          </p:cNvPr>
          <p:cNvSpPr/>
          <p:nvPr/>
        </p:nvSpPr>
        <p:spPr>
          <a:xfrm>
            <a:off x="246264" y="4320377"/>
            <a:ext cx="4598786" cy="700526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국제노동기구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(ILO)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는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ISCO-28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 논의에서 직능수준의 측정 기준을 </a:t>
            </a:r>
            <a:r>
              <a:rPr lang="ko-KR" altLang="en-US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</a:t>
            </a:r>
            <a:r>
              <a:rPr lang="en-US" altLang="ko-KR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책임성</a:t>
            </a:r>
            <a:r>
              <a:rPr lang="en-US" altLang="ko-KR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경험</a:t>
            </a:r>
            <a:r>
              <a:rPr lang="en-US" altLang="ko-KR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업무기반학습</a:t>
            </a:r>
            <a:r>
              <a:rPr lang="en-US" altLang="ko-KR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 다차원으로 확대 검토 중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(2028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년 시행 예상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96E71C-7804-9219-AB48-4026506D0793}"/>
              </a:ext>
            </a:extLst>
          </p:cNvPr>
          <p:cNvSpPr/>
          <p:nvPr/>
        </p:nvSpPr>
        <p:spPr>
          <a:xfrm>
            <a:off x="246264" y="5412707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➂ 노동시장 환경의 급격한 변화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915DA3-C732-C719-298E-4E38C2EE4C3D}"/>
              </a:ext>
            </a:extLst>
          </p:cNvPr>
          <p:cNvSpPr/>
          <p:nvPr/>
        </p:nvSpPr>
        <p:spPr>
          <a:xfrm>
            <a:off x="246264" y="5731738"/>
            <a:ext cx="4598786" cy="700526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기술혁신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디지털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새로운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등장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등으로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인해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빠르게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변화하고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있음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BBA6597D-31BB-A0D3-5375-BD8FF7994978}"/>
              </a:ext>
            </a:extLst>
          </p:cNvPr>
          <p:cNvSpPr txBox="1">
            <a:spLocks/>
          </p:cNvSpPr>
          <p:nvPr/>
        </p:nvSpPr>
        <p:spPr>
          <a:xfrm>
            <a:off x="243782" y="883334"/>
            <a:ext cx="9389168" cy="56605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ISCO-28 </a:t>
            </a:r>
            <a:r>
              <a:rPr lang="ko-KR" altLang="en-US" dirty="0"/>
              <a:t>개정에 대한 </a:t>
            </a:r>
            <a:r>
              <a:rPr lang="ko-KR" altLang="en-US" dirty="0" err="1"/>
              <a:t>선제적</a:t>
            </a:r>
            <a:r>
              <a:rPr lang="ko-KR" altLang="en-US" dirty="0"/>
              <a:t> 대응과 국내 직업정보의 구조적 한계 극복을 위해</a:t>
            </a:r>
            <a:r>
              <a:rPr lang="en-US" altLang="ko-KR" dirty="0"/>
              <a:t>, </a:t>
            </a:r>
            <a:r>
              <a:rPr lang="ko-KR" altLang="en-US" dirty="0"/>
              <a:t>한국표준직업분류 기반의 </a:t>
            </a:r>
            <a:r>
              <a:rPr lang="ko-KR" altLang="en-US" b="1" dirty="0"/>
              <a:t>직업정보 프레임워크</a:t>
            </a:r>
            <a:r>
              <a:rPr lang="ko-KR" altLang="en-US" dirty="0"/>
              <a:t> 구축이 필요함</a:t>
            </a:r>
            <a:r>
              <a:rPr lang="en-US" altLang="ko-KR" dirty="0"/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46">
            <a:extLst>
              <a:ext uri="{FF2B5EF4-FFF2-40B4-BE49-F238E27FC236}">
                <a16:creationId xmlns:a16="http://schemas.microsoft.com/office/drawing/2014/main" id="{9F547768-954C-A474-CCD3-7BD9091EBE64}"/>
              </a:ext>
            </a:extLst>
          </p:cNvPr>
          <p:cNvSpPr txBox="1"/>
          <p:nvPr/>
        </p:nvSpPr>
        <p:spPr>
          <a:xfrm>
            <a:off x="261816" y="1652713"/>
            <a:ext cx="4583234" cy="350838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연구 배경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630D292-F0F9-DF1B-37FC-D4C2253D9854}"/>
              </a:ext>
            </a:extLst>
          </p:cNvPr>
          <p:cNvCxnSpPr>
            <a:cxnSpLocks/>
          </p:cNvCxnSpPr>
          <p:nvPr/>
        </p:nvCxnSpPr>
        <p:spPr>
          <a:xfrm>
            <a:off x="261816" y="1627313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46">
            <a:extLst>
              <a:ext uri="{FF2B5EF4-FFF2-40B4-BE49-F238E27FC236}">
                <a16:creationId xmlns:a16="http://schemas.microsoft.com/office/drawing/2014/main" id="{D2FAC21B-7811-A33E-D8E0-59C973FC1E64}"/>
              </a:ext>
            </a:extLst>
          </p:cNvPr>
          <p:cNvSpPr txBox="1"/>
          <p:nvPr/>
        </p:nvSpPr>
        <p:spPr>
          <a:xfrm>
            <a:off x="5083054" y="1652713"/>
            <a:ext cx="4583234" cy="350838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연구 필요성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B73AD7-8959-689C-B63E-BF9EBAC1E03F}"/>
              </a:ext>
            </a:extLst>
          </p:cNvPr>
          <p:cNvCxnSpPr>
            <a:cxnSpLocks/>
          </p:cNvCxnSpPr>
          <p:nvPr/>
        </p:nvCxnSpPr>
        <p:spPr>
          <a:xfrm>
            <a:off x="5083054" y="1627313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231434-0316-1A8B-7647-6CB15A585330}"/>
              </a:ext>
            </a:extLst>
          </p:cNvPr>
          <p:cNvSpPr/>
          <p:nvPr/>
        </p:nvSpPr>
        <p:spPr>
          <a:xfrm>
            <a:off x="5049716" y="2248258"/>
            <a:ext cx="4583233" cy="339218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한국 직업정보 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D9EC0-AF47-DB1D-F656-E8CA86D976E8}"/>
              </a:ext>
            </a:extLst>
          </p:cNvPr>
          <p:cNvSpPr txBox="1"/>
          <p:nvPr/>
        </p:nvSpPr>
        <p:spPr>
          <a:xfrm>
            <a:off x="5060953" y="2689857"/>
            <a:ext cx="1187447" cy="1554844"/>
          </a:xfrm>
          <a:prstGeom prst="rect">
            <a:avLst/>
          </a:prstGeom>
          <a:pattFill prst="dkUp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[</a:t>
            </a:r>
            <a:r>
              <a:rPr lang="ko-KR" altLang="en-US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분류 체계</a:t>
            </a:r>
            <a:r>
              <a:rPr lang="en-US" altLang="ko-KR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" indent="-857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KSCO</a:t>
            </a:r>
          </a:p>
          <a:p>
            <a:pPr marL="85725" indent="-857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KECO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BA5ED1F-9C4C-DBFA-F662-2245C4388AC7}"/>
              </a:ext>
            </a:extLst>
          </p:cNvPr>
          <p:cNvSpPr/>
          <p:nvPr/>
        </p:nvSpPr>
        <p:spPr>
          <a:xfrm>
            <a:off x="5049716" y="4655602"/>
            <a:ext cx="4583234" cy="1776662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현행 한국 직업정보 체계는 분산</a:t>
            </a:r>
            <a:r>
              <a:rPr lang="en-US" altLang="ko-KR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서술형 중심으로</a:t>
            </a:r>
            <a:r>
              <a:rPr lang="en-US" altLang="ko-KR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</a:p>
          <a:p>
            <a:pPr algn="ctr"/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 간 체계적 비교</a:t>
            </a:r>
            <a:r>
              <a:rPr lang="en-US" altLang="ko-KR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 및 정책 활용에 구조적 한계가 존재함</a:t>
            </a:r>
            <a:endParaRPr lang="en-US" altLang="ko-KR" sz="14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→</a:t>
            </a:r>
            <a:r>
              <a:rPr lang="en-US" altLang="ko-KR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직업분류 </a:t>
            </a:r>
            <a:r>
              <a:rPr lang="en-US" altLang="ko-KR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- </a:t>
            </a:r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양방향 체계 구축 필요</a:t>
            </a:r>
            <a:endParaRPr lang="en-US" altLang="ko-KR" sz="14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서술형 문장 형태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작업 수행 활동이 서술형 문장 형태로 제시되어 있음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표준화된 분류 부재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동일한 업무활동이 서로 다른 표현으로 기술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데이터 구조 미흡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직업정보가 데이터 구조 형태로 구축되어 있지 않음</a:t>
            </a:r>
          </a:p>
        </p:txBody>
      </p:sp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BF2B20E8-B503-87EB-C4F5-0E0E3FA5A240}"/>
              </a:ext>
            </a:extLst>
          </p:cNvPr>
          <p:cNvSpPr/>
          <p:nvPr/>
        </p:nvSpPr>
        <p:spPr>
          <a:xfrm rot="10800000">
            <a:off x="6926043" y="4370141"/>
            <a:ext cx="830580" cy="16002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2A0EB0-416C-2825-882B-F3BB9E0DC77F}"/>
              </a:ext>
            </a:extLst>
          </p:cNvPr>
          <p:cNvSpPr txBox="1"/>
          <p:nvPr/>
        </p:nvSpPr>
        <p:spPr>
          <a:xfrm>
            <a:off x="8445502" y="2689857"/>
            <a:ext cx="1187447" cy="1554844"/>
          </a:xfrm>
          <a:prstGeom prst="rect">
            <a:avLst/>
          </a:prstGeom>
          <a:pattFill prst="dkUp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[</a:t>
            </a:r>
            <a:r>
              <a:rPr lang="ko-KR" altLang="en-US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정보 자원</a:t>
            </a:r>
            <a:r>
              <a:rPr lang="en-US" altLang="ko-KR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" indent="-857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KNOW</a:t>
            </a:r>
          </a:p>
          <a:p>
            <a:pPr marL="85725" indent="-857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NCS ·SQF</a:t>
            </a:r>
          </a:p>
          <a:p>
            <a:pPr marL="85725" indent="-857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kern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워크넷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등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DEB4C-40DE-31DB-EC57-10298EE9C977}"/>
              </a:ext>
            </a:extLst>
          </p:cNvPr>
          <p:cNvSpPr txBox="1"/>
          <p:nvPr/>
        </p:nvSpPr>
        <p:spPr>
          <a:xfrm>
            <a:off x="6753228" y="2689857"/>
            <a:ext cx="1187447" cy="1554844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defTabSz="804838">
              <a:lnSpc>
                <a:spcPct val="150000"/>
              </a:lnSpc>
              <a:defRPr sz="1200" spc="-4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ko-KR" altLang="en-US" dirty="0"/>
              <a:t>직업정보 프레임워크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직업정보 구성요소</a:t>
            </a:r>
            <a:endParaRPr lang="en-US" altLang="ko-KR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2CDFAB7-E31C-ACAC-5ECF-6234CD413E7F}"/>
              </a:ext>
            </a:extLst>
          </p:cNvPr>
          <p:cNvCxnSpPr>
            <a:cxnSpLocks/>
            <a:stCxn id="21" idx="3"/>
            <a:endCxn id="17" idx="1"/>
          </p:cNvCxnSpPr>
          <p:nvPr/>
        </p:nvCxnSpPr>
        <p:spPr>
          <a:xfrm>
            <a:off x="6248400" y="3467279"/>
            <a:ext cx="504828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EE79B34-D61A-ECE0-1157-8B2E6915A707}"/>
              </a:ext>
            </a:extLst>
          </p:cNvPr>
          <p:cNvCxnSpPr>
            <a:cxnSpLocks/>
            <a:stCxn id="17" idx="3"/>
            <a:endCxn id="9" idx="1"/>
          </p:cNvCxnSpPr>
          <p:nvPr/>
        </p:nvCxnSpPr>
        <p:spPr>
          <a:xfrm>
            <a:off x="7940675" y="3467279"/>
            <a:ext cx="504827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72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D8AB3-A240-1DAD-36B9-1BD9624B4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C5AEAEA-C58F-73C7-8BAE-F978C0DEF826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Ⅰ.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개요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CD670390-D0EE-CAF5-326A-B6351ADEC76D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568460A7-A6DF-4C73-A3CB-D9643D3880A5}"/>
              </a:ext>
            </a:extLst>
          </p:cNvPr>
          <p:cNvSpPr txBox="1"/>
          <p:nvPr/>
        </p:nvSpPr>
        <p:spPr>
          <a:xfrm>
            <a:off x="978778" y="230485"/>
            <a:ext cx="7377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연구 목적 및 범위</a:t>
            </a:r>
          </a:p>
        </p:txBody>
      </p:sp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EA813B51-D7D3-BC61-B3C6-7910FA0D555D}"/>
              </a:ext>
            </a:extLst>
          </p:cNvPr>
          <p:cNvSpPr txBox="1">
            <a:spLocks/>
          </p:cNvSpPr>
          <p:nvPr/>
        </p:nvSpPr>
        <p:spPr>
          <a:xfrm>
            <a:off x="243781" y="873124"/>
            <a:ext cx="9422507" cy="5762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국내</a:t>
            </a:r>
            <a:r>
              <a:rPr lang="en-US" altLang="ko-KR" dirty="0"/>
              <a:t>·</a:t>
            </a:r>
            <a:r>
              <a:rPr lang="ko-KR" altLang="en-US" dirty="0"/>
              <a:t>외 직업정보 분석을 토대로 </a:t>
            </a:r>
            <a:r>
              <a:rPr lang="en-US" altLang="ko-KR" dirty="0"/>
              <a:t>KSCO </a:t>
            </a:r>
            <a:r>
              <a:rPr lang="ko-KR" altLang="en-US" dirty="0"/>
              <a:t>기반 한국형 직업정보 프레임워크를 설계하고</a:t>
            </a:r>
            <a:r>
              <a:rPr lang="en-US" altLang="ko-KR" dirty="0"/>
              <a:t>, </a:t>
            </a:r>
            <a:r>
              <a:rPr lang="ko-KR" altLang="en-US" dirty="0"/>
              <a:t>시범 적용</a:t>
            </a:r>
            <a:r>
              <a:rPr lang="en-US" altLang="ko-KR" dirty="0"/>
              <a:t>·</a:t>
            </a:r>
            <a:r>
              <a:rPr lang="ko-KR" altLang="en-US" dirty="0"/>
              <a:t>검증을 통해 직업분류 고도화의 정량적 분석 기반을 마련하고자 함</a:t>
            </a:r>
            <a:r>
              <a:rPr lang="en-US" altLang="ko-KR" dirty="0"/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AA7BCB6-F876-06AE-6CCB-3BF348CDE77F}"/>
              </a:ext>
            </a:extLst>
          </p:cNvPr>
          <p:cNvSpPr/>
          <p:nvPr/>
        </p:nvSpPr>
        <p:spPr>
          <a:xfrm>
            <a:off x="236537" y="1714500"/>
            <a:ext cx="959286" cy="955788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연구 목적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B83408D-18B7-68A6-34D7-D30B4B5167DF}"/>
              </a:ext>
            </a:extLst>
          </p:cNvPr>
          <p:cNvSpPr/>
          <p:nvPr/>
        </p:nvSpPr>
        <p:spPr>
          <a:xfrm>
            <a:off x="1328145" y="1714501"/>
            <a:ext cx="8304803" cy="9557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72000" tIns="72000" rIns="72000" bIns="72000" anchor="ctr"/>
          <a:lstStyle/>
          <a:p>
            <a:pPr algn="ctr">
              <a:lnSpc>
                <a:spcPct val="110000"/>
              </a:lnSpc>
              <a:buSzPct val="80000"/>
            </a:pP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한국표준직업분류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(KSCO) 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기반의 직업정보 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DB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를 체계적으로 정비하고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, </a:t>
            </a:r>
          </a:p>
          <a:p>
            <a:pPr algn="ctr">
              <a:lnSpc>
                <a:spcPct val="110000"/>
              </a:lnSpc>
              <a:buSzPct val="80000"/>
            </a:pP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 간 비교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분석 및 정책적 활용이 가능한 직업정보 프레임워크를 구축하는 것임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3C5B8B1-4BCD-A125-1D9E-6AA50D93A33E}"/>
              </a:ext>
            </a:extLst>
          </p:cNvPr>
          <p:cNvSpPr/>
          <p:nvPr/>
        </p:nvSpPr>
        <p:spPr>
          <a:xfrm>
            <a:off x="236537" y="2830705"/>
            <a:ext cx="959286" cy="3622484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연구 범위 및 방법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7E0B5BE-CB81-F4B1-538B-98929E061F85}"/>
              </a:ext>
            </a:extLst>
          </p:cNvPr>
          <p:cNvSpPr/>
          <p:nvPr/>
        </p:nvSpPr>
        <p:spPr>
          <a:xfrm>
            <a:off x="1328138" y="2830704"/>
            <a:ext cx="2571813" cy="336571"/>
          </a:xfrm>
          <a:prstGeom prst="rect">
            <a:avLst/>
          </a:prstGeom>
          <a:solidFill>
            <a:srgbClr val="0059C4"/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defTabSz="914400"/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1.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국내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외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직업정보 분석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D7EA6F4-D38B-4C24-5C1C-232A922C2972}"/>
              </a:ext>
            </a:extLst>
          </p:cNvPr>
          <p:cNvSpPr/>
          <p:nvPr/>
        </p:nvSpPr>
        <p:spPr>
          <a:xfrm>
            <a:off x="7070302" y="2830704"/>
            <a:ext cx="2571813" cy="336571"/>
          </a:xfrm>
          <a:prstGeom prst="rect">
            <a:avLst/>
          </a:prstGeom>
          <a:solidFill>
            <a:srgbClr val="0059C4"/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defTabSz="914400"/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3.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직업정보 프레임워크 검증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5" name="AutoShape 22">
            <a:extLst>
              <a:ext uri="{FF2B5EF4-FFF2-40B4-BE49-F238E27FC236}">
                <a16:creationId xmlns:a16="http://schemas.microsoft.com/office/drawing/2014/main" id="{FFEC9CAC-EF31-1916-7902-2DCF6CCA2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138" y="3285942"/>
            <a:ext cx="2571812" cy="316724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해외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사례 분석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ko-KR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O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*NET (미국), ESCO (EU), NOC (캐나다), ISCO-08·28 (ILO)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 및 현황 분석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국내 자원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분석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KSCO·KECO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정보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ko-KR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KNOW·NCS·KQF·워크넷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등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공통 구성요소 도출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업무활동 기술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(Description)</a:t>
            </a: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 요구 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요건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정보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지식·기술·능력·도구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맥락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정보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물리·사회·경제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</a:t>
            </a:r>
            <a:endParaRPr lang="ko-KR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본 연구 활용 가능 요소 선별 (모든 차원이 아닌 분류 개정에 필요한 것)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을 통한 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합목적적 시사점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도출</a:t>
            </a:r>
            <a:endParaRPr lang="ko-KR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" name="AutoShape 22">
            <a:extLst>
              <a:ext uri="{FF2B5EF4-FFF2-40B4-BE49-F238E27FC236}">
                <a16:creationId xmlns:a16="http://schemas.microsoft.com/office/drawing/2014/main" id="{127014DB-EB16-DC74-06D1-BC8FC842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303" y="3285941"/>
            <a:ext cx="2571812" cy="316724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시범 대상 직업 선정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 특성이 상이한 중분류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2~3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 선정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지식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대인서비스 균형 등 고려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endParaRPr lang="en-US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GWA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전문가 평정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직업별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GWA 10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 내외 선정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O*NET BARS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행동 앵커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Level (0~7) ·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중요도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(1~5)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평정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en-US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1 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 간 유사도 분석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GWA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점수 기반 유사도 및 군집 분석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5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  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분류체계 검증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KSCO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내부 동질성 검토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직능수준 개편 필요성 도출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en-US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분류체계 검증 결과 및 개편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안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도출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프레임워크 최종 보완 및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확정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2E42912-869D-3CD4-7F0B-A2310D090F62}"/>
              </a:ext>
            </a:extLst>
          </p:cNvPr>
          <p:cNvSpPr/>
          <p:nvPr/>
        </p:nvSpPr>
        <p:spPr>
          <a:xfrm>
            <a:off x="4199221" y="3285941"/>
            <a:ext cx="2571813" cy="3778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defTabSz="914400"/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2-1.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직업정보 구성체계 설계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7" name="AutoShape 22">
            <a:extLst>
              <a:ext uri="{FF2B5EF4-FFF2-40B4-BE49-F238E27FC236}">
                <a16:creationId xmlns:a16="http://schemas.microsoft.com/office/drawing/2014/main" id="{7F3602B3-79D5-F52D-DAD4-1D2FE5123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9221" y="3663769"/>
            <a:ext cx="2571812" cy="8735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구성요소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(Domain)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설계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업무활동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요구요건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맥락정보 등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업무활동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(Activity)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계층 구조 및 분석 방법 설계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5A144EBF-5FD8-4CF2-FAE1-39B8465052BD}"/>
              </a:ext>
            </a:extLst>
          </p:cNvPr>
          <p:cNvSpPr/>
          <p:nvPr/>
        </p:nvSpPr>
        <p:spPr>
          <a:xfrm>
            <a:off x="4199221" y="4626495"/>
            <a:ext cx="2571813" cy="3778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defTabSz="914400"/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2-2.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직무활동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(Activity)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정보 도출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01" name="AutoShape 22">
            <a:extLst>
              <a:ext uri="{FF2B5EF4-FFF2-40B4-BE49-F238E27FC236}">
                <a16:creationId xmlns:a16="http://schemas.microsoft.com/office/drawing/2014/main" id="{C9E56E8C-605D-CD44-B4D6-972AD06EF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9221" y="5002338"/>
            <a:ext cx="2571812" cy="14508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직무기술 정의서 표준 양식 설계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구성체계 적용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NLP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자연어처리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텍스트 분석으로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활동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도출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및 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표준화 </a:t>
            </a: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KSCO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직업별 업무활동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(Task → DWA → IWA → GWA)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도출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2" name="이등변 삼각형 101">
            <a:extLst>
              <a:ext uri="{FF2B5EF4-FFF2-40B4-BE49-F238E27FC236}">
                <a16:creationId xmlns:a16="http://schemas.microsoft.com/office/drawing/2014/main" id="{7BD05EF8-5EC1-E45F-0B6B-F4FB9D31416C}"/>
              </a:ext>
            </a:extLst>
          </p:cNvPr>
          <p:cNvSpPr/>
          <p:nvPr/>
        </p:nvSpPr>
        <p:spPr>
          <a:xfrm rot="5400000">
            <a:off x="6752377" y="2916755"/>
            <a:ext cx="336575" cy="16002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74AA8CAB-587F-E6D3-973D-FC8F05D99564}"/>
              </a:ext>
            </a:extLst>
          </p:cNvPr>
          <p:cNvSpPr/>
          <p:nvPr/>
        </p:nvSpPr>
        <p:spPr>
          <a:xfrm rot="5400000">
            <a:off x="3884765" y="2916756"/>
            <a:ext cx="336574" cy="16002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4F3818-E766-121F-5BA1-3E0D469506F3}"/>
              </a:ext>
            </a:extLst>
          </p:cNvPr>
          <p:cNvSpPr/>
          <p:nvPr/>
        </p:nvSpPr>
        <p:spPr>
          <a:xfrm>
            <a:off x="4199220" y="2830704"/>
            <a:ext cx="2571813" cy="336571"/>
          </a:xfrm>
          <a:prstGeom prst="rect">
            <a:avLst/>
          </a:prstGeom>
          <a:solidFill>
            <a:srgbClr val="0059C4"/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defTabSz="914400"/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2.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직업정보 프레임워크 설계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838DA10-9FF2-2AC9-13D9-6C219B90C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390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F945F-A3DD-023B-4A22-A5CD62287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4AF98A2B-D274-573C-2917-97EE1EEC8C74}"/>
              </a:ext>
            </a:extLst>
          </p:cNvPr>
          <p:cNvSpPr txBox="1"/>
          <p:nvPr/>
        </p:nvSpPr>
        <p:spPr>
          <a:xfrm>
            <a:off x="236538" y="230486"/>
            <a:ext cx="74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8C0A4F5-4CE1-B757-5863-E9368588F7EE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4193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추진 일정 계획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4916F9-535E-0282-7F54-B8535FD331BF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Ⅲ.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관리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246">
            <a:extLst>
              <a:ext uri="{FF2B5EF4-FFF2-40B4-BE49-F238E27FC236}">
                <a16:creationId xmlns:a16="http://schemas.microsoft.com/office/drawing/2014/main" id="{257F185C-85C0-15CB-24FC-95ABCE577BCD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spc="-1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추진일정관리</a:t>
            </a:r>
            <a:endParaRPr lang="en-US" altLang="ko-KR" sz="1600" spc="-1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2259C6A-A2BA-7546-027C-BD3EABA62B75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1904290-1CD2-142C-D0BE-117BFDAD1684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R="0" lvl="0" indent="0" defTabSz="914400" fontAlgn="auto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700" b="0" i="0" u="none" strike="noStrike" cap="none" spc="-50" normalizeH="0" baseline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계약체결일로부터 </a:t>
            </a:r>
            <a:r>
              <a:rPr lang="en-US" altLang="ko-KR" dirty="0"/>
              <a:t>8</a:t>
            </a:r>
            <a:r>
              <a:rPr lang="ko-KR" altLang="en-US" dirty="0"/>
              <a:t>개월간 </a:t>
            </a:r>
            <a:r>
              <a:rPr lang="en-US" altLang="ko-KR" dirty="0"/>
              <a:t>4</a:t>
            </a:r>
            <a:r>
              <a:rPr lang="ko-KR" altLang="en-US" dirty="0"/>
              <a:t>대 영역을 단계적</a:t>
            </a:r>
            <a:r>
              <a:rPr lang="en-US" altLang="ko-KR" dirty="0"/>
              <a:t>·</a:t>
            </a:r>
            <a:r>
              <a:rPr lang="ko-KR" altLang="en-US" dirty="0"/>
              <a:t>병행적으로 추진하며</a:t>
            </a:r>
            <a:r>
              <a:rPr lang="en-US" altLang="ko-KR" dirty="0"/>
              <a:t>, </a:t>
            </a:r>
            <a:r>
              <a:rPr lang="ko-KR" altLang="en-US" dirty="0"/>
              <a:t>착수</a:t>
            </a:r>
            <a:r>
              <a:rPr lang="en-US" altLang="ko-KR" dirty="0"/>
              <a:t>/</a:t>
            </a:r>
            <a:r>
              <a:rPr lang="ko-KR" altLang="en-US" dirty="0"/>
              <a:t>중간</a:t>
            </a:r>
            <a:r>
              <a:rPr lang="en-US" altLang="ko-KR" dirty="0"/>
              <a:t>/</a:t>
            </a:r>
            <a:r>
              <a:rPr lang="ko-KR" altLang="en-US" dirty="0"/>
              <a:t>최종 보고회 및 수시 보고체계를 통해 발주기관과 긴밀히 소통하여 연구 결과를 도출할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2CA8D-D680-1FC3-3E77-828F6745E0F7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56EC5AE3-39E0-7332-EF1C-178BB5665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195371"/>
              </p:ext>
            </p:extLst>
          </p:nvPr>
        </p:nvGraphicFramePr>
        <p:xfrm>
          <a:off x="236547" y="2076450"/>
          <a:ext cx="9396407" cy="4426442"/>
        </p:xfrm>
        <a:graphic>
          <a:graphicData uri="http://schemas.openxmlformats.org/drawingml/2006/table">
            <a:tbl>
              <a:tblPr/>
              <a:tblGrid>
                <a:gridCol w="1173153">
                  <a:extLst>
                    <a:ext uri="{9D8B030D-6E8A-4147-A177-3AD203B41FA5}">
                      <a16:colId xmlns:a16="http://schemas.microsoft.com/office/drawing/2014/main" val="3040323677"/>
                    </a:ext>
                  </a:extLst>
                </a:gridCol>
                <a:gridCol w="3193686">
                  <a:extLst>
                    <a:ext uri="{9D8B030D-6E8A-4147-A177-3AD203B41FA5}">
                      <a16:colId xmlns:a16="http://schemas.microsoft.com/office/drawing/2014/main" val="412376517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03162231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302005798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82913988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34405200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88011944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221824391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555419805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5124985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956116152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47950538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376104911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444942135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991967613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839596438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14334144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440506392"/>
                    </a:ext>
                  </a:extLst>
                </a:gridCol>
              </a:tblGrid>
              <a:tr h="28478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단계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연구 내용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1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추진일정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696950"/>
                  </a:ext>
                </a:extLst>
              </a:tr>
              <a:tr h="284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M+1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M+2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M+3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M+4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M+5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M+6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M+7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M+8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182563"/>
                  </a:ext>
                </a:extLst>
              </a:tr>
              <a:tr h="26667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</a:tabLs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착수보고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772131"/>
                  </a:ext>
                </a:extLst>
              </a:tr>
              <a:tr h="21942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1.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 직업정보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사례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39073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분석을 통한 적용방안 마련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298998"/>
                  </a:ext>
                </a:extLst>
              </a:tr>
              <a:tr h="219429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2.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프레임워크 설계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구성체계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구성요소 등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설계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89733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  <a:defRPr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자연어처리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(NLP)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기반 직무활동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 도출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065611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표준화 직무요소 도출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29193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직무기술 정의서 표준 양식 개발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293357"/>
                  </a:ext>
                </a:extLst>
              </a:tr>
              <a:tr h="26667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중간보고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17862"/>
                  </a:ext>
                </a:extLst>
              </a:tr>
              <a:tr h="266679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프레임워크 검증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시범 대상 직업 선정 및 시뮬레이션 준비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595174"/>
                  </a:ext>
                </a:extLst>
              </a:tr>
              <a:tr h="2794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중분류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~ 3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직업별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항목 및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BARS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척도 선정</a:t>
                      </a:r>
                      <a:endParaRPr kumimoji="0" lang="ko-KR" altLang="en-US" sz="1000" b="0" i="0" u="none" strike="noStrike" kern="0" cap="none" spc="-2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89993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전문가 평정을 통한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Activity Matrix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도출</a:t>
                      </a:r>
                      <a:endParaRPr kumimoji="0" lang="ko-KR" altLang="en-US" sz="1000" b="0" i="0" u="none" strike="noStrike" kern="0" cap="none" spc="-2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579466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간 유사도 분석 및 분류체계 검증 등 직업정보 데이터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113157"/>
                  </a:ext>
                </a:extLst>
              </a:tr>
              <a:tr h="219429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 고도화 활용 방안 마련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 고도화를 위한 활용 방안 마련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478998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프레임워크 수정</a:t>
                      </a:r>
                      <a:r>
                        <a:rPr kumimoji="0" lang="en-US" altLang="ko-KR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보완</a:t>
                      </a:r>
                      <a:r>
                        <a:rPr kumimoji="0" lang="en-US" altLang="ko-KR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및 확정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44648"/>
                  </a:ext>
                </a:extLst>
              </a:tr>
              <a:tr h="26667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최종보고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68232"/>
                  </a:ext>
                </a:extLst>
              </a:tr>
              <a:tr h="2666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 보고서 작성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 보고서 작성 등 연구 마무리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15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18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8E50F-AF7C-C8F1-162F-6928BE07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9D6BA16-AB75-50E2-79F2-83A6AA642C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8" y="45376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048F405-2703-88D8-38D2-EC0C2618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5456BC-5E0F-EBDF-29E2-618C50267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AE80AD-6248-17FF-B9F1-D56D319EE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1F20031-CB2E-5F7A-A55B-029726E2A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2BE1E5F-3ECB-3D98-3DE6-550FA8C69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C8BF4E6-2B24-3190-6E6E-F8F36C319E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B0F2FF9-0C3B-7FB7-3C38-5E24828FA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E38A84D-6001-3D82-9C8A-412D5DAF0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FFC89A30-D16B-C13F-C579-C6DADFE4D50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82"/>
            <a:ext cx="6126481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C42C26F6-2E3D-6CFE-993F-DC7AA43C0BFB}"/>
              </a:ext>
            </a:extLst>
          </p:cNvPr>
          <p:cNvSpPr txBox="1">
            <a:spLocks/>
          </p:cNvSpPr>
          <p:nvPr/>
        </p:nvSpPr>
        <p:spPr>
          <a:xfrm>
            <a:off x="796" y="2009014"/>
            <a:ext cx="6003764" cy="1066962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Ⅱ. </a:t>
            </a:r>
            <a:r>
              <a:rPr lang="ko-KR" altLang="en-US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연구 추진 계획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2F01F62-2330-7B9F-999E-081C6808FAD7}"/>
              </a:ext>
            </a:extLst>
          </p:cNvPr>
          <p:cNvSpPr txBox="1">
            <a:spLocks/>
          </p:cNvSpPr>
          <p:nvPr/>
        </p:nvSpPr>
        <p:spPr>
          <a:xfrm>
            <a:off x="236539" y="2528265"/>
            <a:ext cx="5817400" cy="3924923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국내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·</a:t>
            </a: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외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 </a:t>
            </a: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직업정보 분석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직업정보 프레임워크 설계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직업정보 프레임워크 검증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직업분류 고도화 활용 방안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35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4F2A-A946-6FF9-674D-4D0263F5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1C66D89-326C-BAD0-8211-A44A2876A891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00454-0B15-C545-E557-71031A86F916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00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498F3FF-FF54-7A35-2218-90144BD551B3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A8D298A-3F1C-A523-811E-306A68A64E26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3153706-386A-6231-7CA1-7507C3D43692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D3045E2-DC6C-03B9-03A4-C90262388CC9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FD32C84-A2AE-6968-099A-35A92E803F41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56E1459-F617-2912-AC74-B97A7B00608E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8BFEAA0-146D-BD78-F705-4D54049E1B35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4D89082-EB1E-6D40-AA76-B3B1A91CABE8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948C0-728B-8B41-EA80-CA5C2E69AFAF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개념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139EC92-A78B-1969-1DF3-4CD0589905BA}"/>
              </a:ext>
            </a:extLst>
          </p:cNvPr>
          <p:cNvSpPr txBox="1">
            <a:spLocks/>
          </p:cNvSpPr>
          <p:nvPr/>
        </p:nvSpPr>
        <p:spPr>
          <a:xfrm>
            <a:off x="243782" y="883334"/>
            <a:ext cx="9389168" cy="56605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직업정보 프레임워크의 개념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구성요소와 직업분류 고도화를 위한 활용방안은 다음과 같음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2B618B47-AF90-1748-42F6-8F74E8640805}"/>
              </a:ext>
            </a:extLst>
          </p:cNvPr>
          <p:cNvSpPr txBox="1"/>
          <p:nvPr/>
        </p:nvSpPr>
        <p:spPr>
          <a:xfrm>
            <a:off x="261815" y="1652713"/>
            <a:ext cx="7403903" cy="350838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직업정보 프레임워크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(Occupational Information Framework)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개념 및 활용 방안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716AFDE-7633-403F-70E4-B9026A21D962}"/>
              </a:ext>
            </a:extLst>
          </p:cNvPr>
          <p:cNvCxnSpPr>
            <a:cxnSpLocks/>
          </p:cNvCxnSpPr>
          <p:nvPr/>
        </p:nvCxnSpPr>
        <p:spPr>
          <a:xfrm>
            <a:off x="261816" y="1627313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35149F-2B45-97E8-B1BF-EB63662B00C9}"/>
              </a:ext>
            </a:extLst>
          </p:cNvPr>
          <p:cNvSpPr txBox="1"/>
          <p:nvPr/>
        </p:nvSpPr>
        <p:spPr>
          <a:xfrm>
            <a:off x="1318260" y="3779809"/>
            <a:ext cx="2590287" cy="79922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92075" indent="-92075" algn="l">
              <a:buFont typeface="Arial" panose="020B0604020202020204" pitchFamily="34" charset="0"/>
              <a:buChar char="•"/>
            </a:pP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업무 활동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(Work activities)</a:t>
            </a:r>
          </a:p>
          <a:p>
            <a:pPr marL="92075" indent="-92075" algn="l">
              <a:buFont typeface="Arial" panose="020B0604020202020204" pitchFamily="34" charset="0"/>
              <a:buChar char="•"/>
            </a:pP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직무 과업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(Task)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937947-6D7C-2B1E-E19E-3411996189C6}"/>
              </a:ext>
            </a:extLst>
          </p:cNvPr>
          <p:cNvSpPr txBox="1"/>
          <p:nvPr/>
        </p:nvSpPr>
        <p:spPr>
          <a:xfrm>
            <a:off x="4180456" y="3779809"/>
            <a:ext cx="2590287" cy="79922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92075" indent="-92075" defTabSz="804838">
              <a:lnSpc>
                <a:spcPct val="150000"/>
              </a:lnSpc>
              <a:buFont typeface="Arial" panose="020B0604020202020204" pitchFamily="34" charset="0"/>
              <a:buChar char="•"/>
              <a:defRPr sz="1200" spc="-4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dirty="0"/>
              <a:t>요구 지식</a:t>
            </a:r>
            <a:r>
              <a:rPr lang="en-US" altLang="ko-KR" dirty="0"/>
              <a:t>(Knowledge)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요구 기술</a:t>
            </a:r>
            <a:r>
              <a:rPr lang="en-US" altLang="ko-KR" dirty="0"/>
              <a:t>(Skills)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요구 능력</a:t>
            </a:r>
            <a:r>
              <a:rPr lang="en-US" altLang="ko-KR" dirty="0"/>
              <a:t>(Abilities)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C61DC9-ED53-569D-97CF-D046796965EE}"/>
              </a:ext>
            </a:extLst>
          </p:cNvPr>
          <p:cNvSpPr txBox="1"/>
          <p:nvPr/>
        </p:nvSpPr>
        <p:spPr>
          <a:xfrm>
            <a:off x="7042651" y="3779809"/>
            <a:ext cx="2590287" cy="79922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92075" indent="-92075" defTabSz="804838">
              <a:lnSpc>
                <a:spcPct val="150000"/>
              </a:lnSpc>
              <a:buFont typeface="Arial" panose="020B0604020202020204" pitchFamily="34" charset="0"/>
              <a:buChar char="•"/>
              <a:defRPr sz="1200" spc="-4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dirty="0"/>
              <a:t>물리적 환경 </a:t>
            </a:r>
            <a:r>
              <a:rPr lang="en-US" altLang="ko-KR" dirty="0"/>
              <a:t>: </a:t>
            </a:r>
            <a:r>
              <a:rPr lang="ko-KR" altLang="en-US" dirty="0"/>
              <a:t>작업장 조건</a:t>
            </a:r>
            <a:r>
              <a:rPr lang="en-US" altLang="ko-KR" dirty="0"/>
              <a:t>, </a:t>
            </a:r>
            <a:r>
              <a:rPr lang="ko-KR" altLang="en-US" dirty="0"/>
              <a:t>안전성 등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사회적 환경 </a:t>
            </a:r>
            <a:r>
              <a:rPr lang="en-US" altLang="ko-KR" dirty="0"/>
              <a:t>: </a:t>
            </a:r>
            <a:r>
              <a:rPr lang="ko-KR" altLang="en-US" dirty="0"/>
              <a:t>협업 형태</a:t>
            </a:r>
            <a:r>
              <a:rPr lang="en-US" altLang="ko-KR" dirty="0"/>
              <a:t>, </a:t>
            </a:r>
            <a:r>
              <a:rPr lang="ko-KR" altLang="en-US" dirty="0"/>
              <a:t>감정 노동 등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경제적 환경 </a:t>
            </a:r>
            <a:r>
              <a:rPr lang="en-US" altLang="ko-KR" dirty="0"/>
              <a:t>: </a:t>
            </a:r>
            <a:r>
              <a:rPr lang="ko-KR" altLang="en-US" dirty="0"/>
              <a:t>임금 수준</a:t>
            </a:r>
            <a:r>
              <a:rPr lang="en-US" altLang="ko-KR" dirty="0"/>
              <a:t>, </a:t>
            </a:r>
            <a:r>
              <a:rPr lang="ko-KR" altLang="en-US" dirty="0"/>
              <a:t>산업</a:t>
            </a:r>
            <a:r>
              <a:rPr lang="en-US" altLang="ko-KR" dirty="0"/>
              <a:t>·</a:t>
            </a:r>
            <a:r>
              <a:rPr lang="ko-KR" altLang="en-US" dirty="0"/>
              <a:t>시장 등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1AC77-A691-4B9C-6EE2-C2D7C2840FA3}"/>
              </a:ext>
            </a:extLst>
          </p:cNvPr>
          <p:cNvSpPr txBox="1"/>
          <p:nvPr/>
        </p:nvSpPr>
        <p:spPr>
          <a:xfrm>
            <a:off x="1318260" y="2249875"/>
            <a:ext cx="8314678" cy="898812"/>
          </a:xfrm>
          <a:prstGeom prst="rect">
            <a:avLst/>
          </a:prstGeom>
          <a:pattFill prst="dkUp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직업정보 프레임워크는 각 직업의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수행 활동</a:t>
            </a:r>
            <a:r>
              <a:rPr lang="en-US" altLang="ko-KR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요구 역량</a:t>
            </a:r>
            <a:r>
              <a:rPr lang="en-US" altLang="ko-KR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직무 특성 등을 체계적으로 설명하기 위한 정보 구조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로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직업의 내용을 구성하는 다양한 요소를 </a:t>
            </a:r>
            <a:r>
              <a:rPr lang="ko-KR" altLang="en-US" sz="1500" kern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구조화하여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직업 간 비교</a:t>
            </a:r>
            <a:r>
              <a:rPr lang="en-US" altLang="ko-KR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분석을 가능하게 하는 역할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을 함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D84C5A1-31DF-81D9-C4DB-4FBAD6DD3BEA}"/>
              </a:ext>
            </a:extLst>
          </p:cNvPr>
          <p:cNvGrpSpPr/>
          <p:nvPr/>
        </p:nvGrpSpPr>
        <p:grpSpPr>
          <a:xfrm>
            <a:off x="1318260" y="3403250"/>
            <a:ext cx="8314678" cy="376559"/>
            <a:chOff x="1318260" y="3429001"/>
            <a:chExt cx="8854440" cy="3733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3A0B93-300A-D727-7E17-55D2351C9854}"/>
                </a:ext>
              </a:extLst>
            </p:cNvPr>
            <p:cNvSpPr txBox="1"/>
            <p:nvPr/>
          </p:nvSpPr>
          <p:spPr>
            <a:xfrm>
              <a:off x="1318260" y="3429001"/>
              <a:ext cx="2758440" cy="37338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804838">
                <a:defRPr sz="900" kern="0" spc="-41">
                  <a:solidFill>
                    <a:srgbClr val="333333"/>
                  </a:solidFill>
                  <a:latin typeface="페이퍼로지 5 Medium" pitchFamily="2" charset="-127"/>
                  <a:ea typeface="페이퍼로지 5 Medium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직업 수행 내용 기술</a:t>
              </a:r>
              <a:r>
                <a:rPr lang="en-US" altLang="ko-KR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(Description)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204265-4F2D-E94B-6C01-F6998F7749B4}"/>
                </a:ext>
              </a:extLst>
            </p:cNvPr>
            <p:cNvSpPr txBox="1"/>
            <p:nvPr/>
          </p:nvSpPr>
          <p:spPr>
            <a:xfrm>
              <a:off x="4366260" y="3429001"/>
              <a:ext cx="2758440" cy="37338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804838">
                <a:defRPr sz="900" kern="0" spc="-41">
                  <a:solidFill>
                    <a:srgbClr val="333333"/>
                  </a:solidFill>
                  <a:latin typeface="페이퍼로지 5 Medium" pitchFamily="2" charset="-127"/>
                  <a:ea typeface="페이퍼로지 5 Medium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직업 수행 요건</a:t>
              </a:r>
              <a:r>
                <a:rPr lang="en-US" altLang="ko-KR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(Requirements)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79065C-9D5F-DC7D-DFD1-4AD113CE1A13}"/>
                </a:ext>
              </a:extLst>
            </p:cNvPr>
            <p:cNvSpPr txBox="1"/>
            <p:nvPr/>
          </p:nvSpPr>
          <p:spPr>
            <a:xfrm>
              <a:off x="7414260" y="3429001"/>
              <a:ext cx="2758440" cy="37338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804838">
                <a:defRPr sz="900" kern="0" spc="-41">
                  <a:solidFill>
                    <a:srgbClr val="333333"/>
                  </a:solidFill>
                  <a:latin typeface="페이퍼로지 5 Medium" pitchFamily="2" charset="-127"/>
                  <a:ea typeface="페이퍼로지 5 Medium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직업 수행 맥락</a:t>
              </a:r>
              <a:r>
                <a:rPr lang="en-US" altLang="ko-KR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(Context)</a:t>
              </a: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A135DE-EE7B-0001-0727-3D85F2486EA1}"/>
              </a:ext>
            </a:extLst>
          </p:cNvPr>
          <p:cNvSpPr/>
          <p:nvPr/>
        </p:nvSpPr>
        <p:spPr>
          <a:xfrm>
            <a:off x="236537" y="2241550"/>
            <a:ext cx="959286" cy="898812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개념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F835A8-896C-C685-DCF0-8715503B1299}"/>
              </a:ext>
            </a:extLst>
          </p:cNvPr>
          <p:cNvSpPr/>
          <p:nvPr/>
        </p:nvSpPr>
        <p:spPr>
          <a:xfrm>
            <a:off x="236537" y="3403249"/>
            <a:ext cx="959286" cy="1175787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구성 요소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AA9F38-B8B8-6D56-11FE-D6D90263E562}"/>
              </a:ext>
            </a:extLst>
          </p:cNvPr>
          <p:cNvSpPr/>
          <p:nvPr/>
        </p:nvSpPr>
        <p:spPr>
          <a:xfrm>
            <a:off x="236537" y="4867826"/>
            <a:ext cx="959286" cy="1585362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활용 방안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66B8EE-AC33-6A28-9836-110D45DB78F0}"/>
              </a:ext>
            </a:extLst>
          </p:cNvPr>
          <p:cNvSpPr txBox="1"/>
          <p:nvPr/>
        </p:nvSpPr>
        <p:spPr>
          <a:xfrm>
            <a:off x="1318260" y="4863377"/>
            <a:ext cx="8314678" cy="158536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ISCO-28 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개정안의 직능수준 프레임워크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(SLF)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또한 작업의 다차원적 정보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교육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500" kern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책무성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경험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업무기반학습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를 직업분류 기준으로 요구하고 있으며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이러한 직업정보 프레임워크는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① 직업 간 유사도 분석 ② 신규 직업 탐지 </a:t>
            </a:r>
            <a:endParaRPr lang="en-US" altLang="ko-KR" sz="1500" b="1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③ 직업분류 체계 검증</a:t>
            </a:r>
            <a:r>
              <a:rPr lang="en-US" altLang="ko-KR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개정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등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직업분류 고도화의 데이터 인프라 역할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을 수행할 수 있음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797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CD56-C493-DE26-460B-53AD87BC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B67B33-9956-8DE6-4DB2-01A26F7581A4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F819D-D685-919D-AF7E-BFDCBC4A2B40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3DA439B-F936-C142-9311-CAF1AF078D5B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DA1D23-DBD4-D7AC-F442-21893DE2A1E8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8AA66F2-147E-2E8A-83B8-3BDDAD9D7769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E96B7C8-D00C-409B-DA6B-E2CA465E3355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1F01031-B468-DE1F-D712-F9D37C2C490E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D45D16-18FA-A626-F520-59209976BE18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25AD482-F369-D67D-D425-7EC5257EE6D6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50A7E4-BAFB-30E5-D2CE-EEB673B22B87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8C4F7-AC25-859F-07EB-B6F43B132B72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분석</a:t>
            </a:r>
          </a:p>
        </p:txBody>
      </p:sp>
      <p:sp>
        <p:nvSpPr>
          <p:cNvPr id="4" name="텍스트 개체 틀 1">
            <a:extLst>
              <a:ext uri="{FF2B5EF4-FFF2-40B4-BE49-F238E27FC236}">
                <a16:creationId xmlns:a16="http://schemas.microsoft.com/office/drawing/2014/main" id="{EC93023E-5D5D-CF60-FFF4-5BCFF2232673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해외 직업정보는 업무활동</a:t>
            </a:r>
            <a:r>
              <a:rPr lang="en-US" altLang="ko-KR" dirty="0"/>
              <a:t>·</a:t>
            </a:r>
            <a:r>
              <a:rPr lang="ko-KR" altLang="en-US" dirty="0"/>
              <a:t>지식</a:t>
            </a:r>
            <a:r>
              <a:rPr lang="en-US" altLang="ko-KR" dirty="0"/>
              <a:t>·</a:t>
            </a:r>
            <a:r>
              <a:rPr lang="ko-KR" altLang="en-US" dirty="0"/>
              <a:t>기술</a:t>
            </a:r>
            <a:r>
              <a:rPr lang="en-US" altLang="ko-KR" dirty="0"/>
              <a:t>·</a:t>
            </a:r>
            <a:r>
              <a:rPr lang="ko-KR" altLang="en-US" dirty="0"/>
              <a:t>능력</a:t>
            </a:r>
            <a:r>
              <a:rPr lang="en-US" altLang="ko-KR" dirty="0"/>
              <a:t>·</a:t>
            </a:r>
            <a:r>
              <a:rPr lang="ko-KR" altLang="en-US" dirty="0"/>
              <a:t>도구</a:t>
            </a:r>
            <a:r>
              <a:rPr lang="en-US" altLang="ko-KR" dirty="0"/>
              <a:t>·</a:t>
            </a:r>
            <a:r>
              <a:rPr lang="ko-KR" altLang="en-US" dirty="0"/>
              <a:t>환경 등 다차원적 직업정보를 제공하는 반면</a:t>
            </a:r>
            <a:r>
              <a:rPr lang="en-US" altLang="ko-KR" dirty="0"/>
              <a:t>, </a:t>
            </a:r>
            <a:r>
              <a:rPr lang="ko-KR" altLang="en-US" dirty="0"/>
              <a:t>국내는 분류</a:t>
            </a:r>
            <a:r>
              <a:rPr lang="en-US" altLang="ko-KR" dirty="0"/>
              <a:t>·</a:t>
            </a:r>
            <a:r>
              <a:rPr lang="ko-KR" altLang="en-US" dirty="0"/>
              <a:t>정보 자원이 분산되어 있어</a:t>
            </a:r>
            <a:r>
              <a:rPr lang="en-US" altLang="ko-KR" dirty="0"/>
              <a:t>, </a:t>
            </a:r>
            <a:r>
              <a:rPr lang="ko-KR" altLang="en-US" dirty="0"/>
              <a:t>국내</a:t>
            </a:r>
            <a:r>
              <a:rPr lang="en-US" altLang="ko-KR" dirty="0"/>
              <a:t>·</a:t>
            </a:r>
            <a:r>
              <a:rPr lang="ko-KR" altLang="en-US" dirty="0"/>
              <a:t>외</a:t>
            </a:r>
            <a:r>
              <a:rPr lang="en-US" altLang="ko-KR" dirty="0"/>
              <a:t> </a:t>
            </a:r>
            <a:r>
              <a:rPr lang="ko-KR" altLang="en-US" dirty="0"/>
              <a:t>직업정보 분석을 통해 직업정보 프레임워크 설계의 시사점을 도출하고자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246">
            <a:extLst>
              <a:ext uri="{FF2B5EF4-FFF2-40B4-BE49-F238E27FC236}">
                <a16:creationId xmlns:a16="http://schemas.microsoft.com/office/drawing/2014/main" id="{C40AF592-3FE6-0EC8-4E67-3BB8FB88530D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해외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개국 직업정보 체계 비교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EB057D2-21A3-5C13-42AE-4B6516EF4086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F11C1A-1C4A-007B-36F9-5D5FC2025E58}"/>
              </a:ext>
            </a:extLst>
          </p:cNvPr>
          <p:cNvSpPr txBox="1"/>
          <p:nvPr/>
        </p:nvSpPr>
        <p:spPr>
          <a:xfrm>
            <a:off x="236537" y="2697480"/>
            <a:ext cx="1298799" cy="854246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ILO</a:t>
            </a:r>
          </a:p>
          <a:p>
            <a:pPr defTabSz="804838">
              <a:lnSpc>
                <a:spcPct val="130000"/>
              </a:lnSpc>
              <a:defRPr/>
            </a:pP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국제표준직업분류</a:t>
            </a:r>
            <a:endParaRPr lang="en-US" altLang="ko-KR" sz="12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(ISCO-08)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662769-2428-C1E9-419A-00796D262629}"/>
              </a:ext>
            </a:extLst>
          </p:cNvPr>
          <p:cNvSpPr txBox="1"/>
          <p:nvPr/>
        </p:nvSpPr>
        <p:spPr>
          <a:xfrm>
            <a:off x="236537" y="3657444"/>
            <a:ext cx="1298799" cy="1211813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O*NET</a:t>
            </a: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미국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D976E9-E388-D5F2-D34F-BC6BFE68F26F}"/>
              </a:ext>
            </a:extLst>
          </p:cNvPr>
          <p:cNvSpPr txBox="1"/>
          <p:nvPr/>
        </p:nvSpPr>
        <p:spPr>
          <a:xfrm>
            <a:off x="236537" y="4985590"/>
            <a:ext cx="1298799" cy="678279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ESCO</a:t>
            </a: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유럽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F55F4B-5C50-FE78-7FA9-753E08AB167F}"/>
              </a:ext>
            </a:extLst>
          </p:cNvPr>
          <p:cNvSpPr txBox="1"/>
          <p:nvPr/>
        </p:nvSpPr>
        <p:spPr>
          <a:xfrm>
            <a:off x="236537" y="5774908"/>
            <a:ext cx="1298799" cy="678279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NOC</a:t>
            </a: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캐나다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80F4A-35DE-F670-D09E-5B3B58E02238}"/>
              </a:ext>
            </a:extLst>
          </p:cNvPr>
          <p:cNvSpPr txBox="1"/>
          <p:nvPr/>
        </p:nvSpPr>
        <p:spPr>
          <a:xfrm>
            <a:off x="1676401" y="2697480"/>
            <a:ext cx="3146728" cy="854246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n-US" altLang="ko-KR" sz="1050" dirty="0"/>
              <a:t>4</a:t>
            </a:r>
            <a:r>
              <a:rPr lang="ko-KR" altLang="en-US" sz="1050" dirty="0"/>
              <a:t>단계 </a:t>
            </a:r>
            <a:r>
              <a:rPr lang="en-US" altLang="ko-KR" sz="1050" dirty="0"/>
              <a:t>Skill Level + 4</a:t>
            </a:r>
            <a:r>
              <a:rPr lang="ko-KR" altLang="en-US" sz="1050" dirty="0"/>
              <a:t>차원</a:t>
            </a:r>
            <a:r>
              <a:rPr lang="en-US" altLang="ko-KR" sz="1050" dirty="0"/>
              <a:t> Skill Specialization(</a:t>
            </a:r>
            <a:r>
              <a:rPr lang="ko-KR" altLang="en-US" sz="1050" dirty="0"/>
              <a:t>지식</a:t>
            </a:r>
            <a:r>
              <a:rPr lang="en-US" altLang="ko-KR" sz="1050" dirty="0"/>
              <a:t>·</a:t>
            </a:r>
            <a:r>
              <a:rPr lang="ko-KR" altLang="en-US" sz="1050" dirty="0"/>
              <a:t>도구</a:t>
            </a:r>
            <a:r>
              <a:rPr lang="en-US" altLang="ko-KR" sz="1050" dirty="0"/>
              <a:t> · </a:t>
            </a:r>
            <a:r>
              <a:rPr lang="ko-KR" altLang="en-US" sz="1050" dirty="0"/>
              <a:t>대상</a:t>
            </a:r>
            <a:r>
              <a:rPr lang="en-US" altLang="ko-KR" sz="1050" dirty="0"/>
              <a:t> · </a:t>
            </a:r>
            <a:r>
              <a:rPr lang="ko-KR" altLang="en-US" sz="1050" dirty="0"/>
              <a:t>산출</a:t>
            </a:r>
            <a:r>
              <a:rPr lang="en-US" altLang="ko-KR" sz="1050" dirty="0"/>
              <a:t>)</a:t>
            </a:r>
          </a:p>
          <a:p>
            <a:pPr marL="92075" indent="-92075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n-US" altLang="ko-KR" sz="1050" b="1" dirty="0"/>
              <a:t>ISCO-28 </a:t>
            </a:r>
            <a:r>
              <a:rPr lang="ko-KR" altLang="en-US" sz="1050" b="1" dirty="0"/>
              <a:t>개정 중 </a:t>
            </a:r>
            <a:r>
              <a:rPr lang="en-US" altLang="ko-KR" sz="1050" b="1" dirty="0"/>
              <a:t>— SLF 4</a:t>
            </a:r>
            <a:r>
              <a:rPr lang="ko-KR" altLang="en-US" sz="1050" b="1" dirty="0"/>
              <a:t>요소 도입</a:t>
            </a:r>
            <a:endParaRPr lang="en-US" altLang="ko-KR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36D33-5BCF-FC05-F922-C6B0511ECA50}"/>
              </a:ext>
            </a:extLst>
          </p:cNvPr>
          <p:cNvSpPr txBox="1"/>
          <p:nvPr/>
        </p:nvSpPr>
        <p:spPr>
          <a:xfrm>
            <a:off x="1676401" y="3661055"/>
            <a:ext cx="3146728" cy="1211813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050" b="1" dirty="0"/>
              <a:t>O*NET-SOC : 1,016</a:t>
            </a:r>
            <a:r>
              <a:rPr lang="ko-KR" altLang="en-US" sz="1050" b="1" dirty="0"/>
              <a:t> 직업</a:t>
            </a:r>
            <a:r>
              <a:rPr lang="en-US" altLang="ko-KR" sz="1050" b="1" dirty="0"/>
              <a:t>(</a:t>
            </a:r>
            <a:r>
              <a:rPr lang="ko-KR" altLang="en-US" sz="1050" b="1" dirty="0"/>
              <a:t>중 </a:t>
            </a:r>
            <a:r>
              <a:rPr lang="en-US" altLang="ko-KR" sz="1050" b="1" dirty="0"/>
              <a:t>923</a:t>
            </a:r>
            <a:r>
              <a:rPr lang="ko-KR" altLang="en-US" sz="1050" b="1" dirty="0"/>
              <a:t>개 직업</a:t>
            </a:r>
            <a:r>
              <a:rPr lang="en-US" altLang="ko-KR" sz="1050" b="1" dirty="0"/>
              <a:t> </a:t>
            </a:r>
            <a:r>
              <a:rPr lang="en-US" altLang="ko-KR" sz="1050" b="1" spc="-150" dirty="0"/>
              <a:t>data</a:t>
            </a:r>
            <a:r>
              <a:rPr lang="en-US" altLang="ko-KR" sz="1050" b="1" dirty="0"/>
              <a:t> </a:t>
            </a:r>
            <a:r>
              <a:rPr lang="ko-KR" altLang="en-US" sz="1050" b="1" dirty="0"/>
              <a:t>구축</a:t>
            </a:r>
            <a:r>
              <a:rPr lang="en-US" altLang="ko-KR" sz="1050" b="1" dirty="0"/>
              <a:t>)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050" b="1" dirty="0"/>
              <a:t>Content Model</a:t>
            </a:r>
            <a:r>
              <a:rPr lang="en-US" altLang="ko-KR" sz="1050" dirty="0"/>
              <a:t> </a:t>
            </a:r>
          </a:p>
          <a:p>
            <a:r>
              <a:rPr lang="en-US" altLang="ko-KR" sz="1050" dirty="0"/>
              <a:t> - 6 Domain × 277 </a:t>
            </a:r>
            <a:r>
              <a:rPr lang="ko-KR" altLang="en-US" sz="1050" dirty="0" err="1"/>
              <a:t>디스크립터</a:t>
            </a:r>
            <a:endParaRPr lang="en-US" altLang="ko-KR" sz="1050" dirty="0"/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050" b="1" dirty="0"/>
              <a:t>업무활동 </a:t>
            </a:r>
            <a:r>
              <a:rPr lang="en-US" altLang="ko-KR" sz="1050" b="1" dirty="0"/>
              <a:t>4</a:t>
            </a:r>
            <a:r>
              <a:rPr lang="ko-KR" altLang="en-US" sz="1050" b="1" dirty="0"/>
              <a:t>계층 </a:t>
            </a:r>
            <a:endParaRPr lang="en-US" altLang="ko-KR" sz="1050" b="1" dirty="0"/>
          </a:p>
          <a:p>
            <a:r>
              <a:rPr lang="en-US" altLang="ko-KR" sz="1050" dirty="0"/>
              <a:t> - GWA, IWA, DWA, Task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38CF4-4701-BC0F-B6FE-CE44AF0538D2}"/>
              </a:ext>
            </a:extLst>
          </p:cNvPr>
          <p:cNvSpPr txBox="1"/>
          <p:nvPr/>
        </p:nvSpPr>
        <p:spPr>
          <a:xfrm>
            <a:off x="1676401" y="4984749"/>
            <a:ext cx="3146728" cy="678279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050" dirty="0"/>
              <a:t>직업 </a:t>
            </a:r>
            <a:r>
              <a:rPr lang="en-US" altLang="ko-KR" sz="1050" dirty="0"/>
              <a:t>+ </a:t>
            </a:r>
            <a:r>
              <a:rPr lang="ko-KR" altLang="en-US" sz="1050" dirty="0"/>
              <a:t>기술 </a:t>
            </a:r>
            <a:r>
              <a:rPr lang="en-US" altLang="ko-KR" sz="1050" dirty="0"/>
              <a:t>+ </a:t>
            </a:r>
            <a:r>
              <a:rPr lang="ko-KR" altLang="en-US" sz="1050" dirty="0"/>
              <a:t>자격 </a:t>
            </a:r>
            <a:r>
              <a:rPr lang="en-US" altLang="ko-KR" sz="1050" dirty="0"/>
              <a:t>3</a:t>
            </a:r>
            <a:r>
              <a:rPr lang="ko-KR" altLang="en-US" sz="1050" dirty="0"/>
              <a:t>축 연계</a:t>
            </a:r>
            <a:endParaRPr lang="en-US" altLang="ko-KR" sz="1050" dirty="0"/>
          </a:p>
          <a:p>
            <a:r>
              <a:rPr lang="en-US" altLang="ko-KR" sz="1050" dirty="0"/>
              <a:t> - </a:t>
            </a:r>
            <a:r>
              <a:rPr lang="ko-KR" altLang="en-US" sz="1050" dirty="0"/>
              <a:t>직업 </a:t>
            </a:r>
            <a:r>
              <a:rPr lang="en-US" altLang="ko-KR" sz="1050" dirty="0"/>
              <a:t>: ISCO-08 </a:t>
            </a:r>
            <a:r>
              <a:rPr lang="ko-KR" altLang="en-US" sz="1050" dirty="0"/>
              <a:t>기반</a:t>
            </a:r>
            <a:endParaRPr lang="en-US" altLang="ko-KR" sz="1050" dirty="0"/>
          </a:p>
          <a:p>
            <a:r>
              <a:rPr lang="en-US" altLang="ko-KR" sz="1050" dirty="0"/>
              <a:t> - </a:t>
            </a:r>
            <a:r>
              <a:rPr lang="ko-KR" altLang="en-US" sz="1050" dirty="0"/>
              <a:t>지식</a:t>
            </a:r>
            <a:r>
              <a:rPr lang="en-US" altLang="ko-KR" sz="1050" dirty="0"/>
              <a:t>·</a:t>
            </a:r>
            <a:r>
              <a:rPr lang="ko-KR" altLang="en-US" sz="1050" dirty="0"/>
              <a:t>기술</a:t>
            </a:r>
            <a:r>
              <a:rPr lang="en-US" altLang="ko-KR" sz="1050" dirty="0"/>
              <a:t>·</a:t>
            </a:r>
            <a:r>
              <a:rPr lang="ko-KR" altLang="en-US" sz="1050" dirty="0"/>
              <a:t>태도</a:t>
            </a:r>
            <a:r>
              <a:rPr lang="en-US" altLang="ko-KR" sz="1050" dirty="0"/>
              <a:t> + </a:t>
            </a:r>
            <a:r>
              <a:rPr lang="ko-KR" altLang="en-US" sz="1050" dirty="0"/>
              <a:t>자격</a:t>
            </a:r>
            <a:r>
              <a:rPr lang="en-US" altLang="ko-KR" sz="1050" dirty="0"/>
              <a:t>·</a:t>
            </a:r>
            <a:r>
              <a:rPr lang="ko-KR" altLang="en-US" sz="1050" dirty="0"/>
              <a:t>학위</a:t>
            </a:r>
            <a:endParaRPr lang="en-US" altLang="ko-KR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A9A4DD-1D34-1F80-2354-A1019D384019}"/>
              </a:ext>
            </a:extLst>
          </p:cNvPr>
          <p:cNvSpPr txBox="1"/>
          <p:nvPr/>
        </p:nvSpPr>
        <p:spPr>
          <a:xfrm>
            <a:off x="1676401" y="5774908"/>
            <a:ext cx="3146728" cy="678279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050" dirty="0"/>
              <a:t>TEER </a:t>
            </a:r>
            <a:r>
              <a:rPr lang="ko-KR" altLang="en-US" sz="1050" dirty="0"/>
              <a:t>시스템 운영</a:t>
            </a:r>
            <a:r>
              <a:rPr lang="en-US" altLang="ko-KR" sz="1050" dirty="0"/>
              <a:t> (</a:t>
            </a:r>
            <a:r>
              <a:rPr lang="en-US" altLang="ko-KR" sz="1050" dirty="0" err="1"/>
              <a:t>Training·Education</a:t>
            </a:r>
            <a:r>
              <a:rPr lang="en-US" altLang="ko-KR" sz="1050" dirty="0"/>
              <a:t>· </a:t>
            </a:r>
            <a:r>
              <a:rPr lang="en-US" altLang="ko-KR" sz="1050" dirty="0" err="1"/>
              <a:t>Experience·Responsibilities</a:t>
            </a:r>
            <a:r>
              <a:rPr lang="en-US" altLang="ko-KR" sz="1050" dirty="0"/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391AC4-7E34-40D8-544E-91720458AAD4}"/>
              </a:ext>
            </a:extLst>
          </p:cNvPr>
          <p:cNvSpPr txBox="1"/>
          <p:nvPr/>
        </p:nvSpPr>
        <p:spPr>
          <a:xfrm>
            <a:off x="236537" y="2241550"/>
            <a:ext cx="1298799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구분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EAF826-E467-CE3E-D0FB-842B3D0CFC51}"/>
              </a:ext>
            </a:extLst>
          </p:cNvPr>
          <p:cNvSpPr txBox="1"/>
          <p:nvPr/>
        </p:nvSpPr>
        <p:spPr>
          <a:xfrm>
            <a:off x="1676401" y="2241550"/>
            <a:ext cx="3146728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핵심 특징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TextBox 246">
            <a:extLst>
              <a:ext uri="{FF2B5EF4-FFF2-40B4-BE49-F238E27FC236}">
                <a16:creationId xmlns:a16="http://schemas.microsoft.com/office/drawing/2014/main" id="{983D8DBB-9AE8-AC11-A758-F73CE0CCB90B}"/>
              </a:ext>
            </a:extLst>
          </p:cNvPr>
          <p:cNvSpPr txBox="1"/>
          <p:nvPr/>
        </p:nvSpPr>
        <p:spPr>
          <a:xfrm>
            <a:off x="5083053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국내 직업정보 체계 요약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0C1B1CA-FC42-23F0-925D-2E19A50F7650}"/>
              </a:ext>
            </a:extLst>
          </p:cNvPr>
          <p:cNvCxnSpPr>
            <a:cxnSpLocks/>
          </p:cNvCxnSpPr>
          <p:nvPr/>
        </p:nvCxnSpPr>
        <p:spPr>
          <a:xfrm>
            <a:off x="5083053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50D2A3BE-2209-5ED4-1290-DD669A91A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16637"/>
              </p:ext>
            </p:extLst>
          </p:nvPr>
        </p:nvGraphicFramePr>
        <p:xfrm>
          <a:off x="5057776" y="2241550"/>
          <a:ext cx="4583234" cy="1554310"/>
        </p:xfrm>
        <a:graphic>
          <a:graphicData uri="http://schemas.openxmlformats.org/drawingml/2006/table">
            <a:tbl>
              <a:tblPr/>
              <a:tblGrid>
                <a:gridCol w="1030318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3552916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</a:tblGrid>
              <a:tr h="276640">
                <a:tc grid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[</a:t>
                      </a: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</a:t>
                      </a:r>
                      <a:r>
                        <a:rPr lang="en-US" altLang="ko-KR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]</a:t>
                      </a:r>
                      <a:endParaRPr lang="ko-KR" alt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335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</a:p>
                  </a:txBody>
                  <a:tcPr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6097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한국표준직업분류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통계청 관리 국가 표준 분류 체계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ISCO-08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기반 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: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직능수준 우선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중분류 이하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직능유형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역량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업무환경 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부재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서술형 문장 형태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23882"/>
                  </a:ext>
                </a:extLst>
              </a:tr>
              <a:tr h="44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KECO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한국고용직업분류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한국고용정보원이 고용서비스 목적으로 개발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수행 내용의 유사성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을 기준으로 분류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직무유형 우선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37839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864B4028-4E17-EF06-7177-8EB626883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002860"/>
              </p:ext>
            </p:extLst>
          </p:nvPr>
        </p:nvGraphicFramePr>
        <p:xfrm>
          <a:off x="5057776" y="4141033"/>
          <a:ext cx="4583234" cy="2312154"/>
        </p:xfrm>
        <a:graphic>
          <a:graphicData uri="http://schemas.openxmlformats.org/drawingml/2006/table">
            <a:tbl>
              <a:tblPr/>
              <a:tblGrid>
                <a:gridCol w="1030318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3552916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</a:tblGrid>
              <a:tr h="260799">
                <a:tc grid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[</a:t>
                      </a: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</a:t>
                      </a:r>
                      <a:r>
                        <a:rPr lang="en-US" altLang="ko-KR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]</a:t>
                      </a:r>
                      <a:endParaRPr lang="ko-KR" alt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335996"/>
                  </a:ext>
                </a:extLst>
              </a:tr>
              <a:tr h="2454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</a:p>
                  </a:txBody>
                  <a:tcPr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3871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워크넷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워크피디아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임금직업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500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여 개 직업에 대해 다차원 정보 통합 제공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수행 내용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일자리 전망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업무특성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전직 가능 직업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등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45202"/>
                  </a:ext>
                </a:extLst>
              </a:tr>
              <a:tr h="3871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한국직업사전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정규교육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숙련기간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직무기능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자료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사람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사물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작업환경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 등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제공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75186"/>
                  </a:ext>
                </a:extLst>
              </a:tr>
              <a:tr h="3871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NCS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국가직무능력표준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24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81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273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소분류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1,100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세분류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능력단위 기반으로 광범위한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직무정보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업무활동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태도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등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보유 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940275"/>
                  </a:ext>
                </a:extLst>
              </a:tr>
              <a:tr h="6443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KQF/SQF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국가역량체계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 수준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(Level)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 역량 정의 체계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KQF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는 학력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훈련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경력을 통합 인정하는 일반적 역량 기준으로 활용되며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산업별 직무역량 맵 제공 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현재 모든 직업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산업에 적용되어 있지 않아 선별적 활용 필요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209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765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BF0D-92C4-CB6C-0DFA-BF25DE91A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DC224DA-F9FC-0B01-085C-C361C1709CC4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67532-3F7C-C78E-95CE-CBFEDB432547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FBC489-2A38-FB10-5493-476B9EBF14E4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C3D6059-AB8E-3198-BEA5-88CA85626494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3CD588D-4314-A31F-59EA-4485DC03EE64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0EADEEB-6368-5E6E-71C1-DA273662EE82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9470CE7-5289-4302-83B7-1BBE185DAB3D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AA8BFB9-D9FA-09D2-9685-FB19D2EF8EFA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89C9D49-D334-B02C-7EB6-8877382D4706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A64B7D4-5343-8C45-2DBE-ADE5963BF0FA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A3A01-76A2-F9E0-671A-DE253F224FC6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분석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334529F-3515-676F-D181-1ECFB4F10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201023"/>
              </p:ext>
            </p:extLst>
          </p:nvPr>
        </p:nvGraphicFramePr>
        <p:xfrm>
          <a:off x="236538" y="2241550"/>
          <a:ext cx="9396411" cy="4211639"/>
        </p:xfrm>
        <a:graphic>
          <a:graphicData uri="http://schemas.openxmlformats.org/drawingml/2006/table">
            <a:tbl>
              <a:tblPr/>
              <a:tblGrid>
                <a:gridCol w="1160689">
                  <a:extLst>
                    <a:ext uri="{9D8B030D-6E8A-4147-A177-3AD203B41FA5}">
                      <a16:colId xmlns:a16="http://schemas.microsoft.com/office/drawing/2014/main" val="3157766755"/>
                    </a:ext>
                  </a:extLst>
                </a:gridCol>
                <a:gridCol w="1872386">
                  <a:extLst>
                    <a:ext uri="{9D8B030D-6E8A-4147-A177-3AD203B41FA5}">
                      <a16:colId xmlns:a16="http://schemas.microsoft.com/office/drawing/2014/main" val="3162612299"/>
                    </a:ext>
                  </a:extLst>
                </a:gridCol>
                <a:gridCol w="3181668">
                  <a:extLst>
                    <a:ext uri="{9D8B030D-6E8A-4147-A177-3AD203B41FA5}">
                      <a16:colId xmlns:a16="http://schemas.microsoft.com/office/drawing/2014/main" val="1172459960"/>
                    </a:ext>
                  </a:extLst>
                </a:gridCol>
                <a:gridCol w="3181668">
                  <a:extLst>
                    <a:ext uri="{9D8B030D-6E8A-4147-A177-3AD203B41FA5}">
                      <a16:colId xmlns:a16="http://schemas.microsoft.com/office/drawing/2014/main" val="2942528726"/>
                    </a:ext>
                  </a:extLst>
                </a:gridCol>
              </a:tblGrid>
              <a:tr h="2931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항목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해외</a:t>
                      </a: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미국</a:t>
                      </a: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체계</a:t>
                      </a:r>
                      <a:endParaRPr lang="en-US" altLang="ko-KR" sz="14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</a:t>
                      </a: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체계</a:t>
                      </a:r>
                      <a:endParaRPr lang="en-US" altLang="ko-KR" sz="14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65015"/>
                  </a:ext>
                </a:extLst>
              </a:tr>
              <a:tr h="25387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관리 체계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 체계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SOC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/ KECO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91372"/>
                  </a:ext>
                </a:extLst>
              </a:tr>
              <a:tr h="23696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시스템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O*NET 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통합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KNOW · NCS ·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워크넷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등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174229"/>
                  </a:ext>
                </a:extLst>
              </a:tr>
              <a:tr h="253875">
                <a:tc rowSpan="9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구성 요소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직업명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코드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39459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정의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 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서술형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791531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업무활동 구조화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 (</a:t>
                      </a:r>
                      <a:r>
                        <a:rPr lang="en-US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GWA·IWA</a:t>
                      </a:r>
                      <a:r>
                        <a:rPr lang="en-US" altLang="ko-KR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en-US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DWA·Task</a:t>
                      </a: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✗ 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서술형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99695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 (KNOW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일부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395842"/>
                  </a:ext>
                </a:extLst>
              </a:tr>
              <a:tr h="23472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역량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 (NCS·KNOW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일부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23125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학력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 (KQF·NCS)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358452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업무환경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 (KNOW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일부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52459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고용전망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 (BLS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연계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워크넷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일부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92659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표준화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통합 </a:t>
                      </a: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✗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957064"/>
                  </a:ext>
                </a:extLst>
              </a:tr>
              <a:tr h="45368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▼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300" dirty="0">
                        <a:effectLst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300" dirty="0">
                        <a:effectLst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208620"/>
                  </a:ext>
                </a:extLst>
              </a:tr>
              <a:tr h="70823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특징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⇒ 분류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 양방향 결합</a:t>
                      </a:r>
                      <a:b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</a:b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⇒ 다차원 구조화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⇒ 분류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 분산</a:t>
                      </a:r>
                      <a:b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</a:b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⇒ 서술형 텍스트 중심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77284"/>
                  </a:ext>
                </a:extLst>
              </a:tr>
            </a:tbl>
          </a:graphicData>
        </a:graphic>
      </p:graphicFrame>
      <p:sp>
        <p:nvSpPr>
          <p:cNvPr id="5" name="TextBox 246">
            <a:extLst>
              <a:ext uri="{FF2B5EF4-FFF2-40B4-BE49-F238E27FC236}">
                <a16:creationId xmlns:a16="http://schemas.microsoft.com/office/drawing/2014/main" id="{8AEF53B2-EF78-CC1C-D700-DD631011CD00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미국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-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한국 직업정보 체계 비교 및 특징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D064769-198A-97B6-D161-B0B58DFCF185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1">
            <a:extLst>
              <a:ext uri="{FF2B5EF4-FFF2-40B4-BE49-F238E27FC236}">
                <a16:creationId xmlns:a16="http://schemas.microsoft.com/office/drawing/2014/main" id="{6DC4B680-E53F-3483-0D82-2A4E21401904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특히</a:t>
            </a:r>
            <a:r>
              <a:rPr lang="en-US" altLang="ko-KR" dirty="0"/>
              <a:t>,</a:t>
            </a:r>
            <a:r>
              <a:rPr lang="ko-KR" altLang="en-US" dirty="0"/>
              <a:t> 미국의 경우 직업 분류</a:t>
            </a:r>
            <a:r>
              <a:rPr lang="en-US" altLang="ko-KR" dirty="0"/>
              <a:t>·</a:t>
            </a:r>
            <a:r>
              <a:rPr lang="ko-KR" altLang="en-US" dirty="0"/>
              <a:t>정보가 양방향으로 결합된 다차원 구조화 </a:t>
            </a:r>
            <a:r>
              <a:rPr lang="en-US" altLang="ko-KR" dirty="0"/>
              <a:t>DB</a:t>
            </a:r>
            <a:r>
              <a:rPr lang="ko-KR" altLang="en-US" dirty="0"/>
              <a:t>를 갖춘 반면</a:t>
            </a:r>
            <a:r>
              <a:rPr lang="en-US" altLang="ko-KR" dirty="0"/>
              <a:t>, </a:t>
            </a:r>
            <a:r>
              <a:rPr lang="ko-KR" altLang="en-US" dirty="0"/>
              <a:t>국내는 분류</a:t>
            </a:r>
            <a:r>
              <a:rPr lang="en-US" altLang="ko-KR" dirty="0"/>
              <a:t>·</a:t>
            </a:r>
            <a:r>
              <a:rPr lang="ko-KR" altLang="en-US" dirty="0"/>
              <a:t>정보가 분산되어 있어 이를 통합할 프레임워크와</a:t>
            </a:r>
            <a:r>
              <a:rPr lang="en-US" altLang="ko-KR" dirty="0"/>
              <a:t> </a:t>
            </a:r>
            <a:r>
              <a:rPr lang="ko-KR" altLang="en-US" dirty="0"/>
              <a:t>직업분류 고도화를 위해 필요한 구성요소를 선별</a:t>
            </a:r>
            <a:r>
              <a:rPr lang="en-US" altLang="ko-KR" dirty="0"/>
              <a:t>·</a:t>
            </a:r>
            <a:r>
              <a:rPr lang="ko-KR" altLang="en-US" dirty="0"/>
              <a:t>적용할 필요가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663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6A359-8C1F-A454-EA74-7D1A33A4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A75D6CD-7F3C-D2A9-CDA0-949A34407D2E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BAE87-B4CB-164E-D5E8-04956DFE08E1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E443ED8-9DF8-7538-EC48-569C96AA083A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C70C5EE-3B2E-3C6E-2E47-15E46FD6BC41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8A4AD7E-765D-C7F4-493E-A7FA7BC8802E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77297A2-BE9E-ED2E-AF29-091C23FCEA81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64F7318-424C-B31A-0733-87761AB39A96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0B26E15-9161-5389-3B2D-CA976D1A7C43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1B9E65D-07DA-8927-526A-ABB57390C16A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348AAFE-EA57-BCC8-BE1C-0D21FC86C2AF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9E3DEB-9C67-13DD-8E33-971F50A0CA49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분석</a:t>
            </a:r>
          </a:p>
        </p:txBody>
      </p:sp>
      <p:sp>
        <p:nvSpPr>
          <p:cNvPr id="5" name="TextBox 246">
            <a:extLst>
              <a:ext uri="{FF2B5EF4-FFF2-40B4-BE49-F238E27FC236}">
                <a16:creationId xmlns:a16="http://schemas.microsoft.com/office/drawing/2014/main" id="{7688DFE9-3D95-DDAB-04DC-3D2CA183ACAC}"/>
              </a:ext>
            </a:extLst>
          </p:cNvPr>
          <p:cNvSpPr txBox="1"/>
          <p:nvPr/>
        </p:nvSpPr>
        <p:spPr>
          <a:xfrm>
            <a:off x="261816" y="1531051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미국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O*NET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직업정보 체계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646CA1C-BBE2-314E-FD7F-DD1DB5055124}"/>
              </a:ext>
            </a:extLst>
          </p:cNvPr>
          <p:cNvCxnSpPr>
            <a:cxnSpLocks/>
          </p:cNvCxnSpPr>
          <p:nvPr/>
        </p:nvCxnSpPr>
        <p:spPr>
          <a:xfrm>
            <a:off x="261816" y="1519828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1">
            <a:extLst>
              <a:ext uri="{FF2B5EF4-FFF2-40B4-BE49-F238E27FC236}">
                <a16:creationId xmlns:a16="http://schemas.microsoft.com/office/drawing/2014/main" id="{CD35BA49-7517-6CF9-70D5-7B37BFC8CF50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O*NET </a:t>
            </a:r>
            <a:r>
              <a:rPr lang="ko-KR" altLang="en-US" dirty="0"/>
              <a:t>콘텐츠 </a:t>
            </a:r>
            <a:r>
              <a:rPr lang="ko-KR" altLang="en-US"/>
              <a:t>모델은 </a:t>
            </a:r>
            <a:r>
              <a:rPr lang="en-US" altLang="ko-KR" dirty="0"/>
              <a:t>6 </a:t>
            </a:r>
            <a:r>
              <a:rPr lang="ko-KR" altLang="en-US"/>
              <a:t>도메인 </a:t>
            </a:r>
            <a:r>
              <a:rPr lang="en-US" altLang="ko-KR" dirty="0"/>
              <a:t>× 277 </a:t>
            </a:r>
            <a:r>
              <a:rPr lang="ko-KR" altLang="en-US" dirty="0" err="1"/>
              <a:t>디스크립터로</a:t>
            </a:r>
            <a:r>
              <a:rPr lang="ko-KR" altLang="en-US" dirty="0"/>
              <a:t> 직업을 </a:t>
            </a:r>
            <a:r>
              <a:rPr lang="ko-KR" altLang="en-US"/>
              <a:t>표준 기술하며</a:t>
            </a:r>
            <a:r>
              <a:rPr lang="en-US" altLang="ko-KR"/>
              <a:t>, </a:t>
            </a:r>
            <a:r>
              <a:rPr lang="en-US" altLang="ko-KR" dirty="0"/>
              <a:t>4</a:t>
            </a:r>
            <a:r>
              <a:rPr lang="ko-KR" altLang="en-US" dirty="0"/>
              <a:t>계층 </a:t>
            </a:r>
            <a:r>
              <a:rPr lang="ko-KR" altLang="en-US"/>
              <a:t>직무활동 체계</a:t>
            </a:r>
            <a:r>
              <a:rPr lang="en-US" altLang="ko-KR"/>
              <a:t>(</a:t>
            </a:r>
            <a:r>
              <a:rPr lang="en-US" altLang="ko-KR" dirty="0" err="1"/>
              <a:t>GWA·IWA·DWA</a:t>
            </a:r>
            <a:r>
              <a:rPr lang="en-US" altLang="ko-KR" err="1"/>
              <a:t>·</a:t>
            </a:r>
            <a:r>
              <a:rPr lang="en-US" altLang="ko-KR"/>
              <a:t>Task</a:t>
            </a:r>
            <a:r>
              <a:rPr lang="en-US" altLang="ko-KR" dirty="0"/>
              <a:t>)</a:t>
            </a:r>
            <a:r>
              <a:rPr lang="ko-KR" altLang="en-US" dirty="0"/>
              <a:t>를 통해 직업 </a:t>
            </a:r>
            <a:r>
              <a:rPr lang="ko-KR" altLang="en-US"/>
              <a:t>간 비교</a:t>
            </a:r>
            <a:r>
              <a:rPr lang="en-US" altLang="ko-KR" dirty="0"/>
              <a:t>·</a:t>
            </a:r>
            <a:r>
              <a:rPr lang="ko-KR" altLang="en-US" dirty="0"/>
              <a:t>분석의 정량 </a:t>
            </a:r>
            <a:r>
              <a:rPr lang="ko-KR" altLang="en-US"/>
              <a:t>데이터를 제공함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084DFDF-A07E-2FB8-14D1-89A89F1B6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860588"/>
              </p:ext>
            </p:extLst>
          </p:nvPr>
        </p:nvGraphicFramePr>
        <p:xfrm>
          <a:off x="243783" y="2722814"/>
          <a:ext cx="4817167" cy="3737230"/>
        </p:xfrm>
        <a:graphic>
          <a:graphicData uri="http://schemas.openxmlformats.org/drawingml/2006/table">
            <a:tbl>
              <a:tblPr/>
              <a:tblGrid>
                <a:gridCol w="1498913">
                  <a:extLst>
                    <a:ext uri="{9D8B030D-6E8A-4147-A177-3AD203B41FA5}">
                      <a16:colId xmlns:a16="http://schemas.microsoft.com/office/drawing/2014/main" val="2846954575"/>
                    </a:ext>
                  </a:extLst>
                </a:gridCol>
                <a:gridCol w="2042382">
                  <a:extLst>
                    <a:ext uri="{9D8B030D-6E8A-4147-A177-3AD203B41FA5}">
                      <a16:colId xmlns:a16="http://schemas.microsoft.com/office/drawing/2014/main" val="2998932753"/>
                    </a:ext>
                  </a:extLst>
                </a:gridCol>
                <a:gridCol w="1275872">
                  <a:extLst>
                    <a:ext uri="{9D8B030D-6E8A-4147-A177-3AD203B41FA5}">
                      <a16:colId xmlns:a16="http://schemas.microsoft.com/office/drawing/2014/main" val="3986714810"/>
                    </a:ext>
                  </a:extLst>
                </a:gridCol>
              </a:tblGrid>
              <a:tr h="2278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영역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133781"/>
                  </a:ext>
                </a:extLst>
              </a:tr>
              <a:tr h="591914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① 근로자 특성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(Worker Characteristics)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(Abilities) 52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직업적 관심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(RIASEC) 6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유형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가치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 Values) 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 스타일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 Styles)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안정적 속성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누구인가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647620"/>
                  </a:ext>
                </a:extLst>
              </a:tr>
              <a:tr h="461102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② 근로자 요구사항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(Worker Requirements)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(Skills) 25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(Knowledge) 33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 분야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(Education)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습득 가능한 개발 요건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무엇을 알아야 하나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82831"/>
                  </a:ext>
                </a:extLst>
              </a:tr>
              <a:tr h="591914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③ 경력 요구사항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(Experience Requirements)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 경험 및 교육훈련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(Experience and Training)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입직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요건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(Entry Requirements) 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(Licensing)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진입 자격 요건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무엇이 필요한가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058987"/>
                  </a:ext>
                </a:extLst>
              </a:tr>
              <a:tr h="630492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④ 직업 요구사항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(Occupational Requirements)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업무활동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(GWA 41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세부업무활동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(DWA ~2,000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업무구성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 Context)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교차직업 활동의 위계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어떤 일을 공통적으로 하는가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034631"/>
                  </a:ext>
                </a:extLst>
              </a:tr>
              <a:tr h="591914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⑤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직업특정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정보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(Occupation-Specific Information)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개요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(Description)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과업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(Tasks, 18,796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(Technology Skills)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장비 및 도구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(Tools)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직업별 고유 구체 과업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이 직업만의 구체적 과업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015895"/>
                  </a:ext>
                </a:extLst>
              </a:tr>
              <a:tr h="475637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⑥ 인력 특성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(Workforce Characteristics)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노동시장 정보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(Labor Market Information</a:t>
                      </a:r>
                    </a:p>
                    <a:p>
                      <a:pPr marL="171450" lvl="0" indent="-17145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전망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(Occupational Outlook)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외부 환경 및 전망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lvl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시장은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어떤가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88319"/>
                  </a:ext>
                </a:extLst>
              </a:tr>
            </a:tbl>
          </a:graphicData>
        </a:graphic>
      </p:graphicFrame>
      <p:sp>
        <p:nvSpPr>
          <p:cNvPr id="10" name="TextBox 246">
            <a:extLst>
              <a:ext uri="{FF2B5EF4-FFF2-40B4-BE49-F238E27FC236}">
                <a16:creationId xmlns:a16="http://schemas.microsoft.com/office/drawing/2014/main" id="{7906C4F0-01D7-D17E-846A-1229D3C189C0}"/>
              </a:ext>
            </a:extLst>
          </p:cNvPr>
          <p:cNvSpPr txBox="1"/>
          <p:nvPr/>
        </p:nvSpPr>
        <p:spPr>
          <a:xfrm>
            <a:off x="243780" y="2012442"/>
            <a:ext cx="4817167" cy="576262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콘텐츠 모델 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6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대 영역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  <a:p>
            <a:pPr latinLnBrk="0"/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 -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직업별 직업정보를 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6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대 영역으로 구조화하고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직업을 기술하는 표준 </a:t>
            </a:r>
            <a:r>
              <a:rPr lang="ko-KR" altLang="en-US" sz="1200" dirty="0" err="1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디스크립터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(Content Model Descriptors)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약 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277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개를 통해 직업정보를 관리하고 있음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11" name="TextBox 246">
            <a:extLst>
              <a:ext uri="{FF2B5EF4-FFF2-40B4-BE49-F238E27FC236}">
                <a16:creationId xmlns:a16="http://schemas.microsoft.com/office/drawing/2014/main" id="{E2796526-7EBF-5C84-5573-F6884D74038B}"/>
              </a:ext>
            </a:extLst>
          </p:cNvPr>
          <p:cNvSpPr txBox="1"/>
          <p:nvPr/>
        </p:nvSpPr>
        <p:spPr>
          <a:xfrm>
            <a:off x="5958841" y="2012442"/>
            <a:ext cx="3674110" cy="576262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업무활동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(Activity)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계층 구조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  <a:p>
            <a:pPr latinLnBrk="0"/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 -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업무활동에 관한 직업정보는 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단계로 계층화 하여 관리하고 있으며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이는 콘텐츠 모델 ④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, ⑤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에 포함됨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4FAD1C5-1EBA-089A-F6B7-01E36F2E8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563759"/>
              </p:ext>
            </p:extLst>
          </p:nvPr>
        </p:nvGraphicFramePr>
        <p:xfrm>
          <a:off x="5958840" y="2722813"/>
          <a:ext cx="3674111" cy="3730373"/>
        </p:xfrm>
        <a:graphic>
          <a:graphicData uri="http://schemas.openxmlformats.org/drawingml/2006/table">
            <a:tbl>
              <a:tblPr/>
              <a:tblGrid>
                <a:gridCol w="1375094">
                  <a:extLst>
                    <a:ext uri="{9D8B030D-6E8A-4147-A177-3AD203B41FA5}">
                      <a16:colId xmlns:a16="http://schemas.microsoft.com/office/drawing/2014/main" val="2846954575"/>
                    </a:ext>
                  </a:extLst>
                </a:gridCol>
                <a:gridCol w="682005">
                  <a:extLst>
                    <a:ext uri="{9D8B030D-6E8A-4147-A177-3AD203B41FA5}">
                      <a16:colId xmlns:a16="http://schemas.microsoft.com/office/drawing/2014/main" val="2998932753"/>
                    </a:ext>
                  </a:extLst>
                </a:gridCol>
                <a:gridCol w="808506">
                  <a:extLst>
                    <a:ext uri="{9D8B030D-6E8A-4147-A177-3AD203B41FA5}">
                      <a16:colId xmlns:a16="http://schemas.microsoft.com/office/drawing/2014/main" val="3986714810"/>
                    </a:ext>
                  </a:extLst>
                </a:gridCol>
                <a:gridCol w="808506">
                  <a:extLst>
                    <a:ext uri="{9D8B030D-6E8A-4147-A177-3AD203B41FA5}">
                      <a16:colId xmlns:a16="http://schemas.microsoft.com/office/drawing/2014/main" val="511806193"/>
                    </a:ext>
                  </a:extLst>
                </a:gridCol>
              </a:tblGrid>
              <a:tr h="220566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계층</a:t>
                      </a:r>
                    </a:p>
                  </a:txBody>
                  <a:tcPr marL="30665" marR="30665" marT="22999" marB="22999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개수</a:t>
                      </a:r>
                    </a:p>
                  </a:txBody>
                  <a:tcPr marL="30665" marR="30665" marT="22999" marB="22999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정의</a:t>
                      </a:r>
                    </a:p>
                  </a:txBody>
                  <a:tcPr marL="30665" marR="30665" marT="22999" marB="22999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측정값</a:t>
                      </a:r>
                    </a:p>
                  </a:txBody>
                  <a:tcPr marL="30665" marR="30665" marT="22999" marB="22999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133781"/>
                  </a:ext>
                </a:extLst>
              </a:tr>
              <a:tr h="903930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 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(Generalized Work Activities)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41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모든 직업에 공통적인 최상위 추상 활동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수준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중요도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647620"/>
                  </a:ext>
                </a:extLst>
              </a:tr>
              <a:tr h="903930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IWA 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(Intermediate Work Activities)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325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와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DWA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사이의 의미적 중간 군집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단위로만 활용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82831"/>
                  </a:ext>
                </a:extLst>
              </a:tr>
              <a:tr h="903930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DWA 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(Detailed Work Activities)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2,000+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간 공유 가능한 세부 활동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단위로만 활용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058987"/>
                  </a:ext>
                </a:extLst>
              </a:tr>
              <a:tr h="798017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Task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19,000+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특정 직업 고유의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SME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작성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진술문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중요도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관련성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빈도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034631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70F0B6-B639-83E3-D89F-1D33848F176E}"/>
              </a:ext>
            </a:extLst>
          </p:cNvPr>
          <p:cNvSpPr/>
          <p:nvPr/>
        </p:nvSpPr>
        <p:spPr>
          <a:xfrm>
            <a:off x="236538" y="4640580"/>
            <a:ext cx="4817166" cy="67056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EB63F8-7F02-1AE3-6272-475115FF0759}"/>
              </a:ext>
            </a:extLst>
          </p:cNvPr>
          <p:cNvSpPr/>
          <p:nvPr/>
        </p:nvSpPr>
        <p:spPr>
          <a:xfrm>
            <a:off x="5951594" y="2948940"/>
            <a:ext cx="3674110" cy="269748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7192B0-B3DD-AC21-0BC2-DB8632F476F0}"/>
              </a:ext>
            </a:extLst>
          </p:cNvPr>
          <p:cNvSpPr/>
          <p:nvPr/>
        </p:nvSpPr>
        <p:spPr>
          <a:xfrm>
            <a:off x="236538" y="5326380"/>
            <a:ext cx="4817166" cy="609600"/>
          </a:xfrm>
          <a:prstGeom prst="rect">
            <a:avLst/>
          </a:prstGeom>
          <a:solidFill>
            <a:schemeClr val="accent3">
              <a:lumMod val="20000"/>
              <a:lumOff val="80000"/>
              <a:alpha val="1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46CF45-30A4-00FF-D344-881178776FEF}"/>
              </a:ext>
            </a:extLst>
          </p:cNvPr>
          <p:cNvSpPr/>
          <p:nvPr/>
        </p:nvSpPr>
        <p:spPr>
          <a:xfrm>
            <a:off x="5951595" y="5661659"/>
            <a:ext cx="3681356" cy="791527"/>
          </a:xfrm>
          <a:prstGeom prst="rect">
            <a:avLst/>
          </a:prstGeom>
          <a:solidFill>
            <a:schemeClr val="accent3">
              <a:lumMod val="20000"/>
              <a:lumOff val="80000"/>
              <a:alpha val="1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B4BF837-DFB1-397F-207F-BE4E988142C2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5053704" y="4297680"/>
            <a:ext cx="897890" cy="6781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562BEB8-90C3-134A-3EA6-31ECC81054F5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5053704" y="5631180"/>
            <a:ext cx="897891" cy="4262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545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88E0E-375F-3248-B1C1-D70A1FDDB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99F501F-02E8-E9F6-E640-C3CAFD4AE011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D3F0C-4DCC-4DDB-7935-FB9E079A7F7C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41F531-4866-A7F1-E546-9E106E044B6C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6B3A53-15D8-BB80-DAEC-7599A129363E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32CDAA5-3371-46F5-E987-D548D9D3053B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EC3F75D-0D46-4AC0-1E5E-C660BC16ACC4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FB643E-EDEF-AEF4-173A-FB7E34F5B737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CEEA0E5-7297-BC66-D187-EE0FAB9D7407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76F60D2-468E-4DB1-11B4-44EBA708C6CB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EF984BD-B759-C55A-9924-238B039D6656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2EFF39-74D0-E92E-0CDB-86175897A473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분석</a:t>
            </a:r>
          </a:p>
        </p:txBody>
      </p:sp>
      <p:sp>
        <p:nvSpPr>
          <p:cNvPr id="5" name="텍스트 개체 틀 1">
            <a:extLst>
              <a:ext uri="{FF2B5EF4-FFF2-40B4-BE49-F238E27FC236}">
                <a16:creationId xmlns:a16="http://schemas.microsoft.com/office/drawing/2014/main" id="{C269EFFC-0626-A61F-AB58-20B88D3FC076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미국 </a:t>
            </a:r>
            <a:r>
              <a:rPr lang="ko-KR" altLang="en-US"/>
              <a:t>직업 분류</a:t>
            </a:r>
            <a:r>
              <a:rPr lang="en-US" altLang="ko-KR"/>
              <a:t>·</a:t>
            </a:r>
            <a:r>
              <a:rPr lang="ko-KR" altLang="en-US"/>
              <a:t>정보</a:t>
            </a:r>
            <a:r>
              <a:rPr lang="en-US" altLang="ko-KR" dirty="0"/>
              <a:t> </a:t>
            </a:r>
            <a:r>
              <a:rPr lang="ko-KR" altLang="en-US" dirty="0"/>
              <a:t>체계의 본질은 </a:t>
            </a:r>
            <a:r>
              <a:rPr lang="ko-KR" altLang="en-US"/>
              <a:t>통계 분류</a:t>
            </a:r>
            <a:r>
              <a:rPr lang="en-US" altLang="ko-KR" dirty="0"/>
              <a:t>(SOC)</a:t>
            </a:r>
            <a:r>
              <a:rPr lang="ko-KR" altLang="en-US"/>
              <a:t>와 직업정보</a:t>
            </a:r>
            <a:r>
              <a:rPr lang="en-US" altLang="ko-KR" dirty="0"/>
              <a:t>(O*NET-SOC)</a:t>
            </a:r>
            <a:r>
              <a:rPr lang="ko-KR" altLang="en-US"/>
              <a:t>를 분리하되</a:t>
            </a:r>
            <a:r>
              <a:rPr lang="en-US" altLang="ko-KR" dirty="0"/>
              <a:t>, </a:t>
            </a:r>
            <a:r>
              <a:rPr lang="ko-KR" altLang="en-US" dirty="0"/>
              <a:t>서로 간에 개정에 영향을 주는 양방향 구조를 </a:t>
            </a:r>
            <a:r>
              <a:rPr lang="ko-KR" altLang="en-US"/>
              <a:t>갖추고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D7B0475-86D9-588E-B2E7-C3EA2A2B5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043502"/>
              </p:ext>
            </p:extLst>
          </p:nvPr>
        </p:nvGraphicFramePr>
        <p:xfrm>
          <a:off x="236538" y="2276474"/>
          <a:ext cx="4608511" cy="4176710"/>
        </p:xfrm>
        <a:graphic>
          <a:graphicData uri="http://schemas.openxmlformats.org/drawingml/2006/table">
            <a:tbl>
              <a:tblPr/>
              <a:tblGrid>
                <a:gridCol w="766161">
                  <a:extLst>
                    <a:ext uri="{9D8B030D-6E8A-4147-A177-3AD203B41FA5}">
                      <a16:colId xmlns:a16="http://schemas.microsoft.com/office/drawing/2014/main" val="782386489"/>
                    </a:ext>
                  </a:extLst>
                </a:gridCol>
                <a:gridCol w="1921175">
                  <a:extLst>
                    <a:ext uri="{9D8B030D-6E8A-4147-A177-3AD203B41FA5}">
                      <a16:colId xmlns:a16="http://schemas.microsoft.com/office/drawing/2014/main" val="3248841406"/>
                    </a:ext>
                  </a:extLst>
                </a:gridCol>
                <a:gridCol w="1921175">
                  <a:extLst>
                    <a:ext uri="{9D8B030D-6E8A-4147-A177-3AD203B41FA5}">
                      <a16:colId xmlns:a16="http://schemas.microsoft.com/office/drawing/2014/main" val="234930773"/>
                    </a:ext>
                  </a:extLst>
                </a:gridCol>
              </a:tblGrid>
              <a:tr h="4945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SOC 2018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O*NET-SOC 2019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9728"/>
                  </a:ext>
                </a:extLst>
              </a:tr>
              <a:tr h="8521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관리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OMB · BLS · SOCPC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DOL ETA · National Center for O*NET Development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62959"/>
                  </a:ext>
                </a:extLst>
              </a:tr>
              <a:tr h="4945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법적 위상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연방 통계 표준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SOC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산하 운영 분류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927144"/>
                  </a:ext>
                </a:extLst>
              </a:tr>
              <a:tr h="4945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목적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통계 작성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집계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데이터 측정값 보유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795574"/>
                  </a:ext>
                </a:extLst>
              </a:tr>
              <a:tr h="4945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수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867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1,016 (923 data-level)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022289"/>
                  </a:ext>
                </a:extLst>
              </a:tr>
              <a:tr h="4945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코드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자리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(.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XX)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674099"/>
                  </a:ext>
                </a:extLst>
              </a:tr>
              <a:tr h="8521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개정 주기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년 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(2010 → 2018 → 2028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예정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SOC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따라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 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분기 부분 갱신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21479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6D5EE28-7788-B65D-BBDF-64462BA41983}"/>
              </a:ext>
            </a:extLst>
          </p:cNvPr>
          <p:cNvSpPr txBox="1"/>
          <p:nvPr/>
        </p:nvSpPr>
        <p:spPr>
          <a:xfrm>
            <a:off x="5060950" y="2276476"/>
            <a:ext cx="4572000" cy="289790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미국 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SOC(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표준직업분류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 절차</a:t>
            </a:r>
            <a:endParaRPr lang="en-US" altLang="ko-KR" sz="12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AF556-4A1D-FB51-2FEF-59063216D155}"/>
              </a:ext>
            </a:extLst>
          </p:cNvPr>
          <p:cNvSpPr txBox="1"/>
          <p:nvPr/>
        </p:nvSpPr>
        <p:spPr>
          <a:xfrm>
            <a:off x="5060950" y="4555747"/>
            <a:ext cx="4572000" cy="289790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SOC  - O*NET 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 양방향 구조</a:t>
            </a:r>
            <a:endParaRPr lang="en-US" altLang="ko-KR" sz="12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1290E-1E8D-41BF-E9F1-679D615BC8B2}"/>
              </a:ext>
            </a:extLst>
          </p:cNvPr>
          <p:cNvSpPr txBox="1"/>
          <p:nvPr/>
        </p:nvSpPr>
        <p:spPr>
          <a:xfrm>
            <a:off x="5060950" y="2649566"/>
            <a:ext cx="4572000" cy="135855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Federal Register 1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차 공고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검토 시작 발표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SOCPC 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위원회 심의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+ 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공공 의견 수렴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Federal Register 2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차 공고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잠정 구조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·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정의 공개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공공 의견 추가 수렴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Federal Register 3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차 공고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최종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SOC 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확정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통계 데이터 적용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(1~2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년 후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66AF0-BF2A-732B-238C-F57CE2DA2195}"/>
              </a:ext>
            </a:extLst>
          </p:cNvPr>
          <p:cNvSpPr txBox="1"/>
          <p:nvPr/>
        </p:nvSpPr>
        <p:spPr>
          <a:xfrm>
            <a:off x="5060950" y="4914506"/>
            <a:ext cx="4572000" cy="155487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dirty="0"/>
              <a:t>*N&amp;E </a:t>
            </a:r>
            <a:r>
              <a:rPr lang="ko-KR" altLang="en-US" dirty="0"/>
              <a:t>신생 직업 식별 → </a:t>
            </a:r>
            <a:r>
              <a:rPr lang="en-US" altLang="ko-KR" dirty="0"/>
              <a:t>SOC </a:t>
            </a:r>
            <a:r>
              <a:rPr lang="ko-KR" altLang="en-US" dirty="0"/>
              <a:t>개정 시 신규 직업 후보로 제안</a:t>
            </a:r>
          </a:p>
          <a:p>
            <a:r>
              <a:rPr lang="en-US" altLang="ko-KR" dirty="0"/>
              <a:t>**OCA </a:t>
            </a:r>
            <a:r>
              <a:rPr lang="ko-KR" altLang="en-US" dirty="0"/>
              <a:t>누적 </a:t>
            </a:r>
            <a:r>
              <a:rPr lang="ko-KR" altLang="en-US" dirty="0" err="1"/>
              <a:t>미매칭</a:t>
            </a:r>
            <a:r>
              <a:rPr lang="ko-KR" altLang="en-US" dirty="0"/>
              <a:t> 사례 → </a:t>
            </a:r>
            <a:r>
              <a:rPr lang="en-US" altLang="ko-KR" dirty="0"/>
              <a:t>SOC </a:t>
            </a:r>
            <a:r>
              <a:rPr lang="ko-KR" altLang="en-US" dirty="0"/>
              <a:t>개정 의제로 이관</a:t>
            </a:r>
          </a:p>
          <a:p>
            <a:r>
              <a:rPr lang="ko-KR" altLang="en-US" dirty="0"/>
              <a:t>콘텐츠 모델 데이터 → 직업 정의 정밀화</a:t>
            </a:r>
            <a:r>
              <a:rPr lang="en-US" altLang="ko-KR" dirty="0"/>
              <a:t>·</a:t>
            </a:r>
            <a:r>
              <a:rPr lang="ko-KR" altLang="en-US" dirty="0"/>
              <a:t>중복</a:t>
            </a:r>
            <a:r>
              <a:rPr lang="en-US" altLang="ko-KR" dirty="0"/>
              <a:t>·</a:t>
            </a:r>
            <a:r>
              <a:rPr lang="ko-KR" altLang="en-US" dirty="0"/>
              <a:t>공백 발견의 근거 자료</a:t>
            </a:r>
          </a:p>
          <a:p>
            <a:r>
              <a:rPr lang="ko-KR" altLang="en-US" dirty="0"/>
              <a:t>분기 릴리즈 → 노동시장 변화 신호를 통계 기관에 정기 공급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000" dirty="0"/>
              <a:t>* N&amp;E : </a:t>
            </a:r>
            <a:r>
              <a:rPr lang="ko-KR" altLang="en-US" sz="1000" dirty="0"/>
              <a:t>고성장 및 신규 산업 등 신규 직업 식별</a:t>
            </a:r>
            <a:r>
              <a:rPr lang="en-US" altLang="ko-KR" sz="1000" dirty="0"/>
              <a:t>·</a:t>
            </a:r>
            <a:r>
              <a:rPr lang="ko-KR" altLang="en-US" sz="1000" dirty="0"/>
              <a:t>등재</a:t>
            </a:r>
            <a:r>
              <a:rPr lang="en-US" altLang="ko-KR" sz="1000" dirty="0"/>
              <a:t> </a:t>
            </a:r>
            <a:r>
              <a:rPr lang="ko-KR" altLang="en-US" sz="1000" dirty="0"/>
              <a:t>절차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** OCA : </a:t>
            </a:r>
            <a:r>
              <a:rPr lang="ko-KR" altLang="en-US" sz="1000" dirty="0"/>
              <a:t>사용자</a:t>
            </a:r>
            <a:r>
              <a:rPr lang="en-US" altLang="ko-KR" sz="1000" dirty="0"/>
              <a:t>(</a:t>
            </a:r>
            <a:r>
              <a:rPr lang="ko-KR" altLang="en-US" sz="1000" dirty="0"/>
              <a:t>기업</a:t>
            </a:r>
            <a:r>
              <a:rPr lang="en-US" altLang="ko-KR" sz="1000" dirty="0"/>
              <a:t>·</a:t>
            </a:r>
            <a:r>
              <a:rPr lang="ko-KR" altLang="en-US" sz="1000" dirty="0"/>
              <a:t>기관</a:t>
            </a:r>
            <a:r>
              <a:rPr lang="en-US" altLang="ko-KR" sz="1000" dirty="0"/>
              <a:t>·</a:t>
            </a:r>
            <a:r>
              <a:rPr lang="ko-KR" altLang="en-US" sz="1000" dirty="0"/>
              <a:t>연구자</a:t>
            </a:r>
            <a:r>
              <a:rPr lang="en-US" altLang="ko-KR" sz="1000" dirty="0"/>
              <a:t>)</a:t>
            </a:r>
            <a:r>
              <a:rPr lang="ko-KR" altLang="en-US" sz="1000" dirty="0"/>
              <a:t>가 직무 정보를 제공해 직업 개정을 요청하는 절차</a:t>
            </a:r>
          </a:p>
        </p:txBody>
      </p:sp>
      <p:sp>
        <p:nvSpPr>
          <p:cNvPr id="20" name="TextBox 246">
            <a:extLst>
              <a:ext uri="{FF2B5EF4-FFF2-40B4-BE49-F238E27FC236}">
                <a16:creationId xmlns:a16="http://schemas.microsoft.com/office/drawing/2014/main" id="{F0B12E15-A7CD-281B-FBA6-4A5587A78B85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미국 직업 분류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정보 체계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FD15955-C4F4-AC38-4846-E3E0D50C3D1D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46">
            <a:extLst>
              <a:ext uri="{FF2B5EF4-FFF2-40B4-BE49-F238E27FC236}">
                <a16:creationId xmlns:a16="http://schemas.microsoft.com/office/drawing/2014/main" id="{2B824021-54C7-1388-07CA-58ACEE0228E0}"/>
              </a:ext>
            </a:extLst>
          </p:cNvPr>
          <p:cNvSpPr txBox="1"/>
          <p:nvPr/>
        </p:nvSpPr>
        <p:spPr>
          <a:xfrm>
            <a:off x="5086229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미국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SOC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개정 절차 및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SOC - O*NET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양방향 구조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9B9F2FE-A5D3-DD75-EF36-CF936CEDB319}"/>
              </a:ext>
            </a:extLst>
          </p:cNvPr>
          <p:cNvCxnSpPr>
            <a:cxnSpLocks/>
          </p:cNvCxnSpPr>
          <p:nvPr/>
        </p:nvCxnSpPr>
        <p:spPr>
          <a:xfrm>
            <a:off x="5086229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614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2ED1-8C20-63C7-E5EB-4F9874B40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BE7916B-E309-7E79-413E-C40D5D63D6F4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2CB9F-FBCB-C780-2A9F-20AC4B47D344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88BD33C-3C7E-1AA9-60D9-9475D287ABF2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81DE168-9529-FEC9-BE2B-D73D21F5F24B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A4B119D-69F9-32AD-E334-429DC8D3E843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BEA95D0-A43C-1E43-5242-14DAA2551C7B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F5EFA0-C8E5-A540-9359-783D97D1FDD7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9758EA8-4CFE-8847-8113-23B97E17A3D0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B1DBA2C-A055-181A-569B-2FAC65286614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695F498-D08D-9FC0-6F4C-54E3E7616CA9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A8487-8983-374C-28A7-19C6DC617C6D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09E89A6-2F07-758B-3C50-AE9691168674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한국형 직업정보 프레임워크는 직업의 </a:t>
            </a:r>
            <a:r>
              <a:rPr lang="ko-KR" altLang="en-US"/>
              <a:t>수행 내용</a:t>
            </a:r>
            <a:r>
              <a:rPr lang="en-US" altLang="ko-KR"/>
              <a:t>·</a:t>
            </a:r>
            <a:r>
              <a:rPr lang="ko-KR" altLang="en-US"/>
              <a:t>요건</a:t>
            </a:r>
            <a:r>
              <a:rPr lang="en-US" altLang="ko-KR" dirty="0"/>
              <a:t>·</a:t>
            </a:r>
            <a:r>
              <a:rPr lang="ko-KR" altLang="en-US"/>
              <a:t>맥락을 </a:t>
            </a:r>
            <a:r>
              <a:rPr lang="en-US" altLang="ko-KR" dirty="0"/>
              <a:t>3</a:t>
            </a:r>
            <a:r>
              <a:rPr lang="ko-KR" altLang="en-US"/>
              <a:t>대 영역</a:t>
            </a:r>
            <a:r>
              <a:rPr lang="en-US" altLang="ko-KR" dirty="0"/>
              <a:t>(Domain)</a:t>
            </a:r>
            <a:r>
              <a:rPr lang="ko-KR" altLang="en-US"/>
              <a:t>으로 구조화하고</a:t>
            </a:r>
            <a:r>
              <a:rPr lang="en-US" altLang="ko-KR" dirty="0"/>
              <a:t>, ISCO-28 SLF 4</a:t>
            </a:r>
            <a:r>
              <a:rPr lang="ko-KR" altLang="en-US" dirty="0"/>
              <a:t>요소를 수용할 수 </a:t>
            </a:r>
            <a:r>
              <a:rPr lang="ko-KR" altLang="en-US"/>
              <a:t>있도록 설계하였으며</a:t>
            </a:r>
            <a:r>
              <a:rPr lang="en-US" altLang="ko-KR" dirty="0"/>
              <a:t>, </a:t>
            </a:r>
            <a:r>
              <a:rPr lang="ko-KR" altLang="en-US" dirty="0"/>
              <a:t>발주기관 및 전문가 자문을 </a:t>
            </a:r>
            <a:r>
              <a:rPr lang="ko-KR" altLang="en-US"/>
              <a:t>통해 보완</a:t>
            </a:r>
            <a:r>
              <a:rPr lang="en-US" altLang="ko-KR" dirty="0"/>
              <a:t>·</a:t>
            </a:r>
            <a:r>
              <a:rPr lang="ko-KR" altLang="en-US"/>
              <a:t>확정할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7594290F-0C65-60E9-8A6B-990CBC86C966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직업정보 프레임워크 설계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안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304E4AB-1294-9B01-5EEC-191D4755019F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01AB8B-4BC3-589C-4687-ED405B272946}"/>
              </a:ext>
            </a:extLst>
          </p:cNvPr>
          <p:cNvSpPr txBox="1"/>
          <p:nvPr/>
        </p:nvSpPr>
        <p:spPr>
          <a:xfrm>
            <a:off x="232843" y="3053714"/>
            <a:ext cx="1442132" cy="207467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defRPr/>
            </a:pPr>
            <a:r>
              <a:rPr lang="ko-KR" altLang="en-US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영역</a:t>
            </a:r>
            <a:endParaRPr lang="en-US" altLang="ko-KR" sz="10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D68A72-FABB-BD0A-E695-11F04F0B94B0}"/>
              </a:ext>
            </a:extLst>
          </p:cNvPr>
          <p:cNvSpPr txBox="1"/>
          <p:nvPr/>
        </p:nvSpPr>
        <p:spPr>
          <a:xfrm>
            <a:off x="1787539" y="3053714"/>
            <a:ext cx="1445681" cy="207467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defRPr/>
            </a:pPr>
            <a:r>
              <a:rPr lang="ko-KR" altLang="en-US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구성요소</a:t>
            </a:r>
            <a:endParaRPr lang="en-US" altLang="ko-KR" sz="10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DC641D-09BE-0797-D379-CA9D74B5080B}"/>
              </a:ext>
            </a:extLst>
          </p:cNvPr>
          <p:cNvSpPr txBox="1"/>
          <p:nvPr/>
        </p:nvSpPr>
        <p:spPr>
          <a:xfrm>
            <a:off x="3399367" y="3053714"/>
            <a:ext cx="1445681" cy="207467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defRPr/>
            </a:pPr>
            <a:r>
              <a:rPr lang="en-US" altLang="ko-KR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ISCO-28 SLF </a:t>
            </a:r>
            <a:r>
              <a:rPr lang="ko-KR" altLang="en-US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매핑</a:t>
            </a:r>
            <a:endParaRPr lang="en-US" altLang="ko-KR" sz="10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825CD7-98E4-5109-9BD3-D92A04B87878}"/>
              </a:ext>
            </a:extLst>
          </p:cNvPr>
          <p:cNvSpPr txBox="1"/>
          <p:nvPr/>
        </p:nvSpPr>
        <p:spPr>
          <a:xfrm>
            <a:off x="5011195" y="3053714"/>
            <a:ext cx="4621755" cy="207467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defRPr/>
            </a:pPr>
            <a:r>
              <a:rPr lang="ko-KR" altLang="en-US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설계 방향</a:t>
            </a:r>
            <a:endParaRPr lang="en-US" altLang="ko-KR" sz="10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739C7D-B39A-CD42-DD86-F6B73AED5D17}"/>
              </a:ext>
            </a:extLst>
          </p:cNvPr>
          <p:cNvSpPr txBox="1"/>
          <p:nvPr/>
        </p:nvSpPr>
        <p:spPr>
          <a:xfrm>
            <a:off x="243780" y="2727185"/>
            <a:ext cx="9389170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직업정보 구성요소 설계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안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4BC5CF-1C36-EFFF-8084-D19A04C31603}"/>
              </a:ext>
            </a:extLst>
          </p:cNvPr>
          <p:cNvSpPr txBox="1"/>
          <p:nvPr/>
        </p:nvSpPr>
        <p:spPr>
          <a:xfrm>
            <a:off x="243782" y="2094374"/>
            <a:ext cx="1120198" cy="576262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직업 분류 및 정의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23AEC1-191E-A4A3-C9F4-D6ADA68FBF8E}"/>
              </a:ext>
            </a:extLst>
          </p:cNvPr>
          <p:cNvSpPr txBox="1"/>
          <p:nvPr/>
        </p:nvSpPr>
        <p:spPr>
          <a:xfrm>
            <a:off x="1429715" y="2114679"/>
            <a:ext cx="8203235" cy="542412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92075" indent="-920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05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indent="0">
              <a:buNone/>
            </a:pPr>
            <a:r>
              <a:rPr lang="en-US" altLang="ko-KR" sz="1200" dirty="0"/>
              <a:t>KSCO </a:t>
            </a:r>
            <a:r>
              <a:rPr lang="ko-KR" altLang="en-US" sz="1200" dirty="0"/>
              <a:t>직업분류</a:t>
            </a:r>
            <a:r>
              <a:rPr lang="en-US" altLang="ko-KR" sz="1200" dirty="0"/>
              <a:t>(</a:t>
            </a:r>
            <a:r>
              <a:rPr lang="ko-KR" altLang="en-US" sz="1200" dirty="0"/>
              <a:t>코드</a:t>
            </a:r>
            <a:r>
              <a:rPr lang="en-US" altLang="ko-KR" sz="1200" dirty="0"/>
              <a:t>)</a:t>
            </a:r>
            <a:r>
              <a:rPr lang="ko-KR" altLang="en-US" sz="1200" dirty="0"/>
              <a:t> 및 정의에 따르며</a:t>
            </a:r>
            <a:r>
              <a:rPr lang="en-US" altLang="ko-KR" sz="1200" dirty="0"/>
              <a:t>, </a:t>
            </a:r>
            <a:r>
              <a:rPr lang="ko-KR" altLang="en-US" sz="1200" dirty="0"/>
              <a:t>아래 </a:t>
            </a:r>
            <a:r>
              <a:rPr lang="en-US" altLang="ko-KR" sz="1200" dirty="0"/>
              <a:t>3</a:t>
            </a:r>
            <a:r>
              <a:rPr lang="ko-KR" altLang="en-US" sz="1200" dirty="0"/>
              <a:t>가지 영역에 대한 직업정보로 구성함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ko-KR" altLang="en-US" sz="1200" dirty="0"/>
              <a:t>직업</a:t>
            </a:r>
            <a:r>
              <a:rPr lang="en-US" altLang="ko-KR" sz="1200" dirty="0"/>
              <a:t>(Occupation)</a:t>
            </a:r>
            <a:r>
              <a:rPr lang="ko-KR" altLang="en-US" sz="1200" dirty="0"/>
              <a:t> </a:t>
            </a:r>
            <a:r>
              <a:rPr lang="en-US" altLang="ko-KR" sz="1200" dirty="0"/>
              <a:t>= ① </a:t>
            </a:r>
            <a:r>
              <a:rPr lang="ko-KR" altLang="en-US" sz="1200" dirty="0"/>
              <a:t>직업 수행 내용</a:t>
            </a:r>
            <a:r>
              <a:rPr lang="en-US" altLang="ko-KR" sz="1200" dirty="0"/>
              <a:t>(GWA1, GWA2, … GWA41) + ② </a:t>
            </a:r>
            <a:r>
              <a:rPr lang="ko-KR" altLang="en-US" sz="1200" dirty="0"/>
              <a:t>직업 수행 요건 </a:t>
            </a:r>
            <a:r>
              <a:rPr lang="en-US" altLang="ko-KR" sz="1200" dirty="0"/>
              <a:t>+ ③ </a:t>
            </a:r>
            <a:r>
              <a:rPr lang="ko-KR" altLang="en-US" sz="1200" dirty="0"/>
              <a:t>직업 수행 맥락</a:t>
            </a:r>
            <a:endParaRPr lang="en-US" altLang="ko-K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90B46-DF07-88F0-24C0-E1B98D80271C}"/>
              </a:ext>
            </a:extLst>
          </p:cNvPr>
          <p:cNvSpPr txBox="1"/>
          <p:nvPr/>
        </p:nvSpPr>
        <p:spPr>
          <a:xfrm>
            <a:off x="1787540" y="3330863"/>
            <a:ext cx="1445681" cy="1172630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직무 활동</a:t>
            </a:r>
            <a:r>
              <a:rPr lang="en-US" altLang="ko-KR" sz="1050" dirty="0"/>
              <a:t>(Work activities)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직무 과업</a:t>
            </a:r>
            <a:r>
              <a:rPr lang="en-US" altLang="ko-KR" sz="1050" dirty="0"/>
              <a:t>(Task)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C183B-8EF3-B287-E237-0E678FBEE4A6}"/>
              </a:ext>
            </a:extLst>
          </p:cNvPr>
          <p:cNvSpPr txBox="1"/>
          <p:nvPr/>
        </p:nvSpPr>
        <p:spPr>
          <a:xfrm>
            <a:off x="1787539" y="4619088"/>
            <a:ext cx="1445681" cy="85925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요구 지식</a:t>
            </a:r>
            <a:r>
              <a:rPr lang="en-US" altLang="ko-KR" sz="1050" spc="-150" dirty="0"/>
              <a:t>(Knowledge)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요구 기술</a:t>
            </a:r>
            <a:r>
              <a:rPr lang="en-US" altLang="ko-KR" sz="1050" dirty="0"/>
              <a:t>(Skills)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요구 능력</a:t>
            </a:r>
            <a:r>
              <a:rPr lang="en-US" altLang="ko-KR" sz="1050" dirty="0"/>
              <a:t>(Abilities)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도구</a:t>
            </a:r>
            <a:r>
              <a:rPr lang="en-US" altLang="ko-KR" sz="1050" dirty="0"/>
              <a:t>(Tools)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03A5A-0AED-ECBF-43FA-1E4DC1C5273B}"/>
              </a:ext>
            </a:extLst>
          </p:cNvPr>
          <p:cNvSpPr txBox="1"/>
          <p:nvPr/>
        </p:nvSpPr>
        <p:spPr>
          <a:xfrm>
            <a:off x="1787539" y="5593937"/>
            <a:ext cx="1445681" cy="85925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물리적 환경</a:t>
            </a:r>
            <a:endParaRPr lang="en-US" altLang="ko-KR" sz="1050" dirty="0"/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사회적 환경 </a:t>
            </a:r>
            <a:endParaRPr lang="en-US" altLang="ko-KR" sz="1050" dirty="0"/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경제적 환경</a:t>
            </a:r>
            <a:endParaRPr lang="en-US" altLang="ko-KR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A79AD0-386B-8801-F560-F7E419AF965A}"/>
              </a:ext>
            </a:extLst>
          </p:cNvPr>
          <p:cNvSpPr txBox="1"/>
          <p:nvPr/>
        </p:nvSpPr>
        <p:spPr>
          <a:xfrm>
            <a:off x="229295" y="3330861"/>
            <a:ext cx="1445681" cy="117262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① 직업 수행 내용 기술</a:t>
            </a:r>
            <a:endParaRPr lang="en-US" altLang="ko-KR" sz="115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en-US" altLang="ko-KR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(Description)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AFE87E-6047-5C53-9B97-39DAC1FF5BC6}"/>
              </a:ext>
            </a:extLst>
          </p:cNvPr>
          <p:cNvSpPr txBox="1"/>
          <p:nvPr/>
        </p:nvSpPr>
        <p:spPr>
          <a:xfrm>
            <a:off x="229295" y="4619088"/>
            <a:ext cx="1445681" cy="8592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② 직업 수행 요건</a:t>
            </a:r>
            <a:endParaRPr lang="en-US" altLang="ko-KR" sz="115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en-US" altLang="ko-KR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(Requirements)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F619E4-99ED-D2F6-4755-9448EC83E492}"/>
              </a:ext>
            </a:extLst>
          </p:cNvPr>
          <p:cNvSpPr txBox="1"/>
          <p:nvPr/>
        </p:nvSpPr>
        <p:spPr>
          <a:xfrm>
            <a:off x="229295" y="5593937"/>
            <a:ext cx="1445681" cy="8592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③ 직업 수행 맥락</a:t>
            </a:r>
            <a:endParaRPr lang="en-US" altLang="ko-KR" sz="115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en-US" altLang="ko-KR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(Context)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B5E9A6-F706-B4CE-1A1A-A7C947048735}"/>
              </a:ext>
            </a:extLst>
          </p:cNvPr>
          <p:cNvSpPr txBox="1"/>
          <p:nvPr/>
        </p:nvSpPr>
        <p:spPr>
          <a:xfrm>
            <a:off x="3399368" y="3330863"/>
            <a:ext cx="1445681" cy="1172630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 err="1"/>
              <a:t>책무성</a:t>
            </a:r>
            <a:r>
              <a:rPr lang="ko-KR" altLang="en-US" sz="1050" dirty="0"/>
              <a:t> </a:t>
            </a:r>
            <a:r>
              <a:rPr lang="en-US" altLang="ko-KR" sz="1050" dirty="0"/>
              <a:t>(Responsibility)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050" dirty="0"/>
              <a:t> </a:t>
            </a:r>
            <a:r>
              <a:rPr lang="en-US" altLang="ko-KR" sz="1050" dirty="0"/>
              <a:t>- </a:t>
            </a:r>
            <a:r>
              <a:rPr lang="ko-KR" altLang="en-US" sz="1050" dirty="0"/>
              <a:t>활동 복잡성</a:t>
            </a:r>
            <a:r>
              <a:rPr lang="en-US" altLang="ko-KR" sz="1050" dirty="0"/>
              <a:t>·</a:t>
            </a:r>
            <a:r>
              <a:rPr lang="ko-KR" altLang="en-US" sz="1050" dirty="0"/>
              <a:t>자율성</a:t>
            </a:r>
            <a:endParaRPr lang="en-US" altLang="ko-KR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9A23F6-5EAA-EF68-B344-4A5BF32FCFD5}"/>
              </a:ext>
            </a:extLst>
          </p:cNvPr>
          <p:cNvSpPr txBox="1"/>
          <p:nvPr/>
        </p:nvSpPr>
        <p:spPr>
          <a:xfrm>
            <a:off x="3399367" y="4619088"/>
            <a:ext cx="1445681" cy="85925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교육</a:t>
            </a:r>
            <a:r>
              <a:rPr lang="ko-KR" altLang="en-US" sz="1050" dirty="0"/>
              <a:t> </a:t>
            </a:r>
            <a:r>
              <a:rPr lang="en-US" altLang="ko-KR" sz="1050" dirty="0"/>
              <a:t>(Education) 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업무기반학습</a:t>
            </a:r>
            <a:r>
              <a:rPr lang="ko-KR" altLang="en-US" sz="1050" dirty="0"/>
              <a:t> </a:t>
            </a:r>
            <a:r>
              <a:rPr lang="en-US" altLang="ko-KR" sz="1050" dirty="0"/>
              <a:t>(WBL) 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경험</a:t>
            </a:r>
            <a:r>
              <a:rPr lang="ko-KR" altLang="en-US" sz="1050" dirty="0"/>
              <a:t> </a:t>
            </a:r>
            <a:r>
              <a:rPr lang="en-US" altLang="ko-KR" sz="1050" dirty="0"/>
              <a:t>(Experience)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080828-E537-7FEC-19D0-67A385F98223}"/>
              </a:ext>
            </a:extLst>
          </p:cNvPr>
          <p:cNvSpPr txBox="1"/>
          <p:nvPr/>
        </p:nvSpPr>
        <p:spPr>
          <a:xfrm>
            <a:off x="3399367" y="5593937"/>
            <a:ext cx="1445681" cy="85925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/>
              <a:t>(</a:t>
            </a:r>
            <a:r>
              <a:rPr lang="ko-KR" altLang="en-US" sz="1050" dirty="0"/>
              <a:t>직업 환경 정보</a:t>
            </a:r>
            <a:r>
              <a:rPr lang="en-US" altLang="ko-KR" sz="1050"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22C0FD-BA5B-1B75-7974-F9F7DC6F4BEB}"/>
              </a:ext>
            </a:extLst>
          </p:cNvPr>
          <p:cNvSpPr txBox="1"/>
          <p:nvPr/>
        </p:nvSpPr>
        <p:spPr>
          <a:xfrm>
            <a:off x="5011195" y="3330861"/>
            <a:ext cx="4621755" cy="117262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92075" indent="-920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05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dirty="0"/>
              <a:t>O*NET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계층 활동 체계 </a:t>
            </a:r>
            <a:r>
              <a:rPr lang="en-US" altLang="ko-KR" dirty="0"/>
              <a:t>GWA·IWA·DWA·TASK </a:t>
            </a:r>
            <a:r>
              <a:rPr lang="ko-KR" altLang="en-US" dirty="0"/>
              <a:t>차용</a:t>
            </a:r>
            <a:endParaRPr lang="en-US" altLang="ko-KR" dirty="0"/>
          </a:p>
          <a:p>
            <a:r>
              <a:rPr lang="en-US" altLang="ko-KR" dirty="0"/>
              <a:t>KSCO</a:t>
            </a:r>
            <a:r>
              <a:rPr lang="ko-KR" altLang="en-US" dirty="0"/>
              <a:t> 직무기술 텍스트 기반 </a:t>
            </a:r>
            <a:r>
              <a:rPr lang="en-US" altLang="ko-KR" dirty="0"/>
              <a:t>Bottom-up </a:t>
            </a:r>
            <a:r>
              <a:rPr lang="ko-KR" altLang="en-US" dirty="0"/>
              <a:t>방법론을 적용하여 자체 개발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KSCO </a:t>
            </a:r>
            <a:r>
              <a:rPr lang="ko-KR" altLang="en-US" dirty="0"/>
              <a:t>텍스트 분석 → </a:t>
            </a:r>
            <a:r>
              <a:rPr lang="en-US" altLang="ko-KR" dirty="0"/>
              <a:t>Task </a:t>
            </a:r>
            <a:r>
              <a:rPr lang="ko-KR" altLang="en-US" dirty="0"/>
              <a:t>도출 → </a:t>
            </a:r>
            <a:r>
              <a:rPr lang="en-US" altLang="ko-KR" dirty="0"/>
              <a:t>DWA </a:t>
            </a:r>
            <a:r>
              <a:rPr lang="ko-KR" altLang="en-US" dirty="0"/>
              <a:t>도출 → </a:t>
            </a:r>
            <a:r>
              <a:rPr lang="en-US" altLang="ko-KR" dirty="0"/>
              <a:t>IWA </a:t>
            </a:r>
            <a:r>
              <a:rPr lang="ko-KR" altLang="en-US" dirty="0"/>
              <a:t>도출 → </a:t>
            </a:r>
            <a:r>
              <a:rPr lang="en-US" altLang="ko-KR" dirty="0"/>
              <a:t>GWA </a:t>
            </a:r>
            <a:r>
              <a:rPr lang="ko-KR" altLang="en-US" dirty="0"/>
              <a:t>도출</a:t>
            </a:r>
            <a:endParaRPr lang="en-US" altLang="ko-KR" dirty="0"/>
          </a:p>
          <a:p>
            <a:r>
              <a:rPr lang="ko-KR" altLang="en-US" dirty="0"/>
              <a:t>직업별 </a:t>
            </a:r>
            <a:r>
              <a:rPr lang="en-US" altLang="ko-KR" dirty="0"/>
              <a:t>GWA </a:t>
            </a:r>
            <a:r>
              <a:rPr lang="ko-KR" altLang="en-US" dirty="0"/>
              <a:t>연계 및 측정 척도 개발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O*NET DB </a:t>
            </a:r>
            <a:r>
              <a:rPr lang="ko-KR" altLang="en-US" dirty="0"/>
              <a:t>활용 직업별 </a:t>
            </a:r>
            <a:r>
              <a:rPr lang="en-US" altLang="ko-KR" dirty="0"/>
              <a:t>GWA </a:t>
            </a:r>
            <a:r>
              <a:rPr lang="ko-KR" altLang="en-US" dirty="0"/>
              <a:t>우선순위 연계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수준</a:t>
            </a:r>
            <a:r>
              <a:rPr lang="en-US" altLang="ko-KR" dirty="0"/>
              <a:t>(Level)&amp; </a:t>
            </a:r>
            <a:r>
              <a:rPr lang="ko-KR" altLang="en-US" dirty="0"/>
              <a:t>중요도</a:t>
            </a:r>
            <a:r>
              <a:rPr lang="en-US" altLang="ko-KR" dirty="0"/>
              <a:t>(Importance)</a:t>
            </a:r>
            <a:r>
              <a:rPr lang="ko-KR" altLang="en-US" dirty="0"/>
              <a:t> 척도 활용 직업별 </a:t>
            </a:r>
            <a:r>
              <a:rPr lang="en-US" altLang="ko-KR" dirty="0"/>
              <a:t>GWA </a:t>
            </a:r>
            <a:r>
              <a:rPr lang="ko-KR" altLang="en-US" dirty="0"/>
              <a:t>표준 점수 측정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C847DB-8925-57BA-01BE-2F7F6044E07B}"/>
              </a:ext>
            </a:extLst>
          </p:cNvPr>
          <p:cNvSpPr txBox="1"/>
          <p:nvPr/>
        </p:nvSpPr>
        <p:spPr>
          <a:xfrm>
            <a:off x="5011195" y="4619090"/>
            <a:ext cx="4621755" cy="85924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92075" indent="-920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05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/>
              <a:t>기존 국내 직업정보 데이터</a:t>
            </a:r>
            <a:r>
              <a:rPr lang="en-US" altLang="ko-KR" dirty="0"/>
              <a:t>(NCS·</a:t>
            </a:r>
            <a:r>
              <a:rPr lang="ko-KR" altLang="en-US" dirty="0" err="1"/>
              <a:t>워크넷</a:t>
            </a:r>
            <a:r>
              <a:rPr lang="en-US" altLang="ko-KR" dirty="0"/>
              <a:t>·KQF·</a:t>
            </a:r>
            <a:r>
              <a:rPr lang="ko-KR" altLang="en-US" dirty="0"/>
              <a:t>직업사전 등 </a:t>
            </a:r>
            <a:r>
              <a:rPr lang="en-US" altLang="ko-KR" dirty="0"/>
              <a:t>) </a:t>
            </a:r>
            <a:r>
              <a:rPr lang="ko-KR" altLang="en-US" dirty="0"/>
              <a:t>연계 활용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- </a:t>
            </a:r>
            <a:r>
              <a:rPr lang="ko-KR" altLang="en-US" dirty="0"/>
              <a:t>직업분류 고도화에 필요한 항목을 우선적으로 선별 필요</a:t>
            </a:r>
            <a:endParaRPr lang="en-US" altLang="ko-K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68A336-16B2-2E7E-5A85-B42CD6649AF8}"/>
              </a:ext>
            </a:extLst>
          </p:cNvPr>
          <p:cNvSpPr txBox="1"/>
          <p:nvPr/>
        </p:nvSpPr>
        <p:spPr>
          <a:xfrm>
            <a:off x="5011195" y="5593937"/>
            <a:ext cx="4621755" cy="85924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92075" indent="-920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05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/>
              <a:t>기존 국내 직업정보 데이터</a:t>
            </a:r>
            <a:r>
              <a:rPr lang="en-US" altLang="ko-KR" dirty="0"/>
              <a:t>(</a:t>
            </a:r>
            <a:r>
              <a:rPr lang="ko-KR" altLang="en-US" dirty="0" err="1"/>
              <a:t>워크넷</a:t>
            </a:r>
            <a:r>
              <a:rPr lang="en-US" altLang="ko-KR" dirty="0"/>
              <a:t>·</a:t>
            </a:r>
            <a:r>
              <a:rPr lang="ko-KR" altLang="en-US" dirty="0" err="1"/>
              <a:t>임금직업포털</a:t>
            </a:r>
            <a:r>
              <a:rPr lang="en-US" altLang="ko-KR" dirty="0"/>
              <a:t>·</a:t>
            </a:r>
            <a:r>
              <a:rPr lang="ko-KR" altLang="en-US" dirty="0"/>
              <a:t>직업사전 등 </a:t>
            </a:r>
            <a:r>
              <a:rPr lang="en-US" altLang="ko-KR" dirty="0"/>
              <a:t>) </a:t>
            </a:r>
            <a:r>
              <a:rPr lang="ko-KR" altLang="en-US" dirty="0"/>
              <a:t>연계 활용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직업분류 고도화에 필요한 항목을 우선적으로 선별 필요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3893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BD4A-4D6F-F399-A1B6-763AE947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3E76F5E-6AF0-4E62-5C13-4A9202CD5CD7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2AB897-4823-7999-4D60-08281C986EF8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D3E8CC-831E-C427-E4C8-E8210F10A9E6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3137EEB-2CED-84C6-E69F-6B048F07036F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E130D69-D3C8-E481-BC75-43EF59C52F4D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F051A71-137B-71E6-FBA5-2736D4235360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489448F-C211-7C07-9AFE-9FC75545B19E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CC5351A-F424-1D1C-9C38-C55D2CDE68BD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60119BF-2190-B76F-9998-6808E8620F41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DC98AD1-B527-BF0C-6BD6-6D70D5083E13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4AE3F-447E-0582-7CC1-0CF52E62B7F7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BB1DFA1-A32A-AAAE-AAE9-257168AA80CB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KSCO </a:t>
            </a:r>
            <a:r>
              <a:rPr lang="ko-KR" altLang="en-US" dirty="0"/>
              <a:t>직무기술 </a:t>
            </a:r>
            <a:r>
              <a:rPr lang="ko-KR" altLang="en-US"/>
              <a:t>텍스트로부터 자연어처리</a:t>
            </a:r>
            <a:r>
              <a:rPr lang="en-US" altLang="ko-KR"/>
              <a:t>(</a:t>
            </a:r>
            <a:r>
              <a:rPr lang="en-US" altLang="ko-KR" dirty="0"/>
              <a:t>NLP) </a:t>
            </a:r>
            <a:r>
              <a:rPr lang="ko-KR" altLang="en-US" dirty="0"/>
              <a:t>분석을 </a:t>
            </a:r>
            <a:r>
              <a:rPr lang="ko-KR" altLang="en-US"/>
              <a:t>통해 직무활동</a:t>
            </a:r>
            <a:r>
              <a:rPr lang="en-US" altLang="ko-KR" dirty="0"/>
              <a:t>(Activity) </a:t>
            </a:r>
            <a:r>
              <a:rPr lang="ko-KR" altLang="en-US" dirty="0"/>
              <a:t>세부 내용과 </a:t>
            </a:r>
            <a:r>
              <a:rPr lang="ko-KR" altLang="en-US"/>
              <a:t>체계를 </a:t>
            </a:r>
            <a:r>
              <a:rPr lang="en-US" altLang="ko-KR" dirty="0"/>
              <a:t>Bottom-up </a:t>
            </a:r>
            <a:r>
              <a:rPr lang="ko-KR" altLang="en-US" dirty="0"/>
              <a:t>방법으로 </a:t>
            </a:r>
            <a:r>
              <a:rPr lang="ko-KR" altLang="en-US" err="1"/>
              <a:t>구축해나갈</a:t>
            </a:r>
            <a:r>
              <a:rPr lang="ko-KR" altLang="en-US"/>
              <a:t>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7BE9BEB0-5603-1F30-105D-B506A6CDE51B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직무활동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(Activity)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도출 방법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E588AF6-427A-A7CB-563E-AA64AA021063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C444E9-FE39-F6B0-C115-D305FCF9EE85}"/>
              </a:ext>
            </a:extLst>
          </p:cNvPr>
          <p:cNvSpPr txBox="1"/>
          <p:nvPr/>
        </p:nvSpPr>
        <p:spPr>
          <a:xfrm>
            <a:off x="229295" y="2080261"/>
            <a:ext cx="1271845" cy="6057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입력 데이터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(In-put)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E8023F-74D2-5AAC-70A3-E1DDFC26F647}"/>
              </a:ext>
            </a:extLst>
          </p:cNvPr>
          <p:cNvSpPr txBox="1"/>
          <p:nvPr/>
        </p:nvSpPr>
        <p:spPr>
          <a:xfrm>
            <a:off x="229295" y="2883881"/>
            <a:ext cx="1271845" cy="6057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자연어 처리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(NLP)</a:t>
            </a:r>
          </a:p>
          <a:p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텍스트 분석</a:t>
            </a:r>
            <a:endParaRPr lang="en-US" altLang="ko-KR" sz="11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1FCA54-18D7-B1BC-259C-BE9C997218E8}"/>
              </a:ext>
            </a:extLst>
          </p:cNvPr>
          <p:cNvSpPr txBox="1"/>
          <p:nvPr/>
        </p:nvSpPr>
        <p:spPr>
          <a:xfrm>
            <a:off x="229295" y="3698066"/>
            <a:ext cx="1271845" cy="195150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직무활동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(Activity) </a:t>
            </a:r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도출</a:t>
            </a:r>
            <a:endParaRPr lang="en-US" altLang="ko-KR" sz="11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D7B16C-A5B3-21F3-D8DC-46FC3A53205E}"/>
              </a:ext>
            </a:extLst>
          </p:cNvPr>
          <p:cNvSpPr txBox="1"/>
          <p:nvPr/>
        </p:nvSpPr>
        <p:spPr>
          <a:xfrm>
            <a:off x="229295" y="5847476"/>
            <a:ext cx="1271845" cy="6057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한국형 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계층 직무활동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(Activity) </a:t>
            </a:r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산출물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(Out-put)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4436D7-5148-E52A-E093-D6844F536472}"/>
              </a:ext>
            </a:extLst>
          </p:cNvPr>
          <p:cNvSpPr txBox="1"/>
          <p:nvPr/>
        </p:nvSpPr>
        <p:spPr>
          <a:xfrm>
            <a:off x="1642760" y="2080261"/>
            <a:ext cx="3202290" cy="60543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/>
              <a:t>KSCO </a:t>
            </a:r>
            <a:r>
              <a:rPr lang="ko-KR" altLang="en-US" sz="1050" dirty="0"/>
              <a:t>직업설명 데이터</a:t>
            </a:r>
            <a:r>
              <a:rPr lang="en-US" altLang="ko-KR" sz="1050" dirty="0"/>
              <a:t>(</a:t>
            </a:r>
            <a:r>
              <a:rPr lang="ko-KR" altLang="en-US" sz="1050" dirty="0" err="1"/>
              <a:t>세분류</a:t>
            </a:r>
            <a:r>
              <a:rPr lang="en-US" altLang="ko-KR" sz="1050" dirty="0"/>
              <a:t> 495</a:t>
            </a:r>
            <a:r>
              <a:rPr lang="ko-KR" altLang="en-US" sz="1050" dirty="0"/>
              <a:t>개</a:t>
            </a:r>
            <a:r>
              <a:rPr lang="en-US" altLang="ko-KR" sz="105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50" dirty="0"/>
              <a:t> - </a:t>
            </a:r>
            <a:r>
              <a:rPr lang="ko-KR" altLang="en-US" sz="1050" dirty="0"/>
              <a:t>정보 부족 시 한국직업사전 및 </a:t>
            </a:r>
            <a:r>
              <a:rPr lang="en-US" altLang="ko-KR" sz="1050" dirty="0"/>
              <a:t>NCS </a:t>
            </a:r>
            <a:r>
              <a:rPr lang="ko-KR" altLang="en-US" sz="1050" dirty="0"/>
              <a:t>활용</a:t>
            </a:r>
            <a:endParaRPr lang="en-US" altLang="ko-KR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FB1E71-C192-FFCE-E9AB-2DCB24F4CE2F}"/>
              </a:ext>
            </a:extLst>
          </p:cNvPr>
          <p:cNvSpPr txBox="1"/>
          <p:nvPr/>
        </p:nvSpPr>
        <p:spPr>
          <a:xfrm>
            <a:off x="1642760" y="2884156"/>
            <a:ext cx="3202290" cy="60543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자연어 처리 </a:t>
            </a:r>
            <a:r>
              <a:rPr lang="en-US" altLang="ko-KR" sz="1050" dirty="0"/>
              <a:t>AI tool </a:t>
            </a:r>
            <a:r>
              <a:rPr lang="ko-KR" altLang="en-US" sz="1050" dirty="0"/>
              <a:t>개발 </a:t>
            </a:r>
            <a:endParaRPr lang="en-US" altLang="ko-KR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50" dirty="0"/>
              <a:t> - </a:t>
            </a:r>
            <a:r>
              <a:rPr lang="ko-KR" altLang="en-US" sz="1050" dirty="0"/>
              <a:t>직업 설명자료 기반 자연어 도출 기준 수립</a:t>
            </a:r>
            <a:endParaRPr lang="en-US" altLang="ko-KR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50" dirty="0"/>
              <a:t> - </a:t>
            </a:r>
            <a:r>
              <a:rPr lang="ko-KR" altLang="en-US" sz="1050" dirty="0"/>
              <a:t>핵심 직무 활동</a:t>
            </a:r>
            <a:r>
              <a:rPr lang="en-US" altLang="ko-KR" sz="1050" dirty="0"/>
              <a:t>, </a:t>
            </a:r>
            <a:r>
              <a:rPr lang="ko-KR" altLang="en-US" sz="1050" dirty="0"/>
              <a:t>표준화 직무요소 도출</a:t>
            </a:r>
            <a:endParaRPr lang="en-US" altLang="ko-KR" sz="105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7F0E81C-F9CD-3080-AD46-8BEB06B026B6}"/>
              </a:ext>
            </a:extLst>
          </p:cNvPr>
          <p:cNvGrpSpPr/>
          <p:nvPr/>
        </p:nvGrpSpPr>
        <p:grpSpPr>
          <a:xfrm>
            <a:off x="1642760" y="3698066"/>
            <a:ext cx="3202290" cy="1951503"/>
            <a:chOff x="1642760" y="3832026"/>
            <a:chExt cx="3202290" cy="165437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FD0878-B0FD-F504-1EC8-7C7B5EB1E53B}"/>
                </a:ext>
              </a:extLst>
            </p:cNvPr>
            <p:cNvSpPr txBox="1"/>
            <p:nvPr/>
          </p:nvSpPr>
          <p:spPr>
            <a:xfrm>
              <a:off x="1642760" y="3832026"/>
              <a:ext cx="3202290" cy="226049"/>
            </a:xfrm>
            <a:prstGeom prst="rect">
              <a:avLst/>
            </a:prstGeom>
            <a:solidFill>
              <a:schemeClr val="bg1"/>
            </a:solidFill>
            <a:ln w="38100" cmpd="tri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72000" rIns="72000" bIns="72000" rtlCol="0" anchor="ctr"/>
            <a:lstStyle>
              <a:defPPr>
                <a:defRPr lang="en-US"/>
              </a:defPPr>
              <a:lvl1pPr marL="228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  <a:defRPr kumimoji="1" sz="1100" b="0">
                  <a:latin typeface="페이퍼로지 5 Medium" pitchFamily="2" charset="-127"/>
                  <a:ea typeface="페이퍼로지 5 Medium" pitchFamily="2" charset="-127"/>
                </a:defRPr>
              </a:lvl1pPr>
              <a:lvl2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altLang="ko-KR" sz="1050" dirty="0"/>
                <a:t>TASK(</a:t>
              </a:r>
              <a:r>
                <a:rPr lang="ko-KR" altLang="en-US" sz="1050" dirty="0"/>
                <a:t>직업별 직무 수행 활동 과업</a:t>
              </a:r>
              <a:r>
                <a:rPr lang="en-US" altLang="ko-KR" sz="1050" dirty="0"/>
                <a:t>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43708DE-F971-32C4-013F-CCB510BBED06}"/>
                </a:ext>
              </a:extLst>
            </p:cNvPr>
            <p:cNvSpPr txBox="1"/>
            <p:nvPr/>
          </p:nvSpPr>
          <p:spPr>
            <a:xfrm>
              <a:off x="1642760" y="4308134"/>
              <a:ext cx="3202290" cy="226049"/>
            </a:xfrm>
            <a:prstGeom prst="rect">
              <a:avLst/>
            </a:prstGeom>
            <a:solidFill>
              <a:schemeClr val="bg1"/>
            </a:solidFill>
            <a:ln w="38100" cmpd="tri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72000" rIns="72000" bIns="72000" rtlCol="0" anchor="ctr"/>
            <a:lstStyle>
              <a:defPPr>
                <a:defRPr lang="en-US"/>
              </a:defPPr>
              <a:lvl1pPr marL="228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  <a:defRPr kumimoji="1" sz="1100" b="0">
                  <a:latin typeface="페이퍼로지 5 Medium" pitchFamily="2" charset="-127"/>
                  <a:ea typeface="페이퍼로지 5 Medium" pitchFamily="2" charset="-127"/>
                </a:defRPr>
              </a:lvl1pPr>
              <a:lvl2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altLang="ko-KR" sz="1050" dirty="0"/>
                <a:t>DWA(</a:t>
              </a:r>
              <a:r>
                <a:rPr lang="ko-KR" altLang="en-US" sz="1050" dirty="0"/>
                <a:t>상세 업무 활동</a:t>
              </a:r>
              <a:r>
                <a:rPr lang="en-US" altLang="ko-KR" sz="1050" dirty="0"/>
                <a:t>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A2FE9BE-A476-7B7A-4834-B6B8060AE580}"/>
                </a:ext>
              </a:extLst>
            </p:cNvPr>
            <p:cNvSpPr txBox="1"/>
            <p:nvPr/>
          </p:nvSpPr>
          <p:spPr>
            <a:xfrm>
              <a:off x="1642760" y="4784242"/>
              <a:ext cx="3202290" cy="226049"/>
            </a:xfrm>
            <a:prstGeom prst="rect">
              <a:avLst/>
            </a:prstGeom>
            <a:solidFill>
              <a:schemeClr val="bg1"/>
            </a:solidFill>
            <a:ln w="38100" cmpd="tri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72000" rIns="72000" bIns="72000" rtlCol="0" anchor="ctr"/>
            <a:lstStyle>
              <a:defPPr>
                <a:defRPr lang="en-US"/>
              </a:defPPr>
              <a:lvl1pPr marL="228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  <a:defRPr kumimoji="1" sz="1100" b="0">
                  <a:latin typeface="페이퍼로지 5 Medium" pitchFamily="2" charset="-127"/>
                  <a:ea typeface="페이퍼로지 5 Medium" pitchFamily="2" charset="-127"/>
                </a:defRPr>
              </a:lvl1pPr>
              <a:lvl2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altLang="ko-KR" sz="1050" dirty="0"/>
                <a:t>IWA(</a:t>
              </a:r>
              <a:r>
                <a:rPr lang="ko-KR" altLang="en-US" sz="1050" dirty="0"/>
                <a:t>중간 업무 활동</a:t>
              </a:r>
              <a:r>
                <a:rPr lang="en-US" altLang="ko-KR" sz="1050" dirty="0"/>
                <a:t>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FB18335-CF20-647B-0323-3DD643AE9D5B}"/>
                </a:ext>
              </a:extLst>
            </p:cNvPr>
            <p:cNvSpPr txBox="1"/>
            <p:nvPr/>
          </p:nvSpPr>
          <p:spPr>
            <a:xfrm>
              <a:off x="1642760" y="5260351"/>
              <a:ext cx="3202290" cy="226049"/>
            </a:xfrm>
            <a:prstGeom prst="rect">
              <a:avLst/>
            </a:prstGeom>
            <a:solidFill>
              <a:schemeClr val="bg1"/>
            </a:solidFill>
            <a:ln w="38100" cmpd="tri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72000" rIns="72000" bIns="72000" rtlCol="0" anchor="ctr"/>
            <a:lstStyle>
              <a:defPPr>
                <a:defRPr lang="en-US"/>
              </a:defPPr>
              <a:lvl1pPr marL="228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  <a:defRPr kumimoji="1" sz="1100" b="0">
                  <a:latin typeface="페이퍼로지 5 Medium" pitchFamily="2" charset="-127"/>
                  <a:ea typeface="페이퍼로지 5 Medium" pitchFamily="2" charset="-127"/>
                </a:defRPr>
              </a:lvl1pPr>
              <a:lvl2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altLang="ko-KR" sz="1050" dirty="0"/>
                <a:t>GWA(</a:t>
              </a:r>
              <a:r>
                <a:rPr lang="ko-KR" altLang="en-US" sz="1050" dirty="0"/>
                <a:t>일반 업무 활동</a:t>
              </a:r>
              <a:r>
                <a:rPr lang="en-US" altLang="ko-KR" sz="1050" dirty="0"/>
                <a:t>)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B1B87B2-3BFE-BC8E-F122-1C9D4B772FF8}"/>
              </a:ext>
            </a:extLst>
          </p:cNvPr>
          <p:cNvSpPr txBox="1"/>
          <p:nvPr/>
        </p:nvSpPr>
        <p:spPr>
          <a:xfrm>
            <a:off x="1642760" y="5847476"/>
            <a:ext cx="3202290" cy="60543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한국형 직무활동</a:t>
            </a:r>
            <a:r>
              <a:rPr lang="en-US" altLang="ko-KR" sz="1050" dirty="0"/>
              <a:t>(Activity) </a:t>
            </a:r>
            <a:r>
              <a:rPr lang="ko-KR" altLang="en-US" sz="1050" dirty="0"/>
              <a:t>체계 </a:t>
            </a:r>
            <a:endParaRPr lang="en-US" altLang="ko-KR" sz="1050" dirty="0"/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직무기술 정의서</a:t>
            </a:r>
            <a:endParaRPr lang="en-US" altLang="ko-KR" sz="1050" dirty="0"/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직업 </a:t>
            </a:r>
            <a:r>
              <a:rPr lang="en-US" altLang="ko-KR" sz="1050" dirty="0"/>
              <a:t>– </a:t>
            </a:r>
            <a:r>
              <a:rPr lang="ko-KR" altLang="en-US" sz="1050" dirty="0"/>
              <a:t>직무활동 매트릭스</a:t>
            </a:r>
            <a:endParaRPr lang="en-US" altLang="ko-KR" sz="1050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BE879C1-E121-A0B5-7B5F-FEAE5BB9B002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>
            <a:off x="3243905" y="3964714"/>
            <a:ext cx="0" cy="29497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976201B-560C-9F60-BF3F-4678D579B9A4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3243905" y="4526332"/>
            <a:ext cx="0" cy="29496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764F2B7-CCA0-F508-4098-C81CFEB63C42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3243905" y="5087950"/>
            <a:ext cx="0" cy="29497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이등변 삼각형 61">
            <a:extLst>
              <a:ext uri="{FF2B5EF4-FFF2-40B4-BE49-F238E27FC236}">
                <a16:creationId xmlns:a16="http://schemas.microsoft.com/office/drawing/2014/main" id="{9B17B50A-3096-48A7-DE28-93D698B4F646}"/>
              </a:ext>
            </a:extLst>
          </p:cNvPr>
          <p:cNvSpPr/>
          <p:nvPr/>
        </p:nvSpPr>
        <p:spPr>
          <a:xfrm rot="10800000">
            <a:off x="762942" y="2739099"/>
            <a:ext cx="204550" cy="102221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1D2D6207-BC06-86B2-66BB-1C21638C7A5E}"/>
              </a:ext>
            </a:extLst>
          </p:cNvPr>
          <p:cNvSpPr/>
          <p:nvPr/>
        </p:nvSpPr>
        <p:spPr>
          <a:xfrm rot="10800000">
            <a:off x="762942" y="3542719"/>
            <a:ext cx="204550" cy="102221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4B3876FE-EC6D-E6F9-06BF-5B3806FCF181}"/>
              </a:ext>
            </a:extLst>
          </p:cNvPr>
          <p:cNvSpPr/>
          <p:nvPr/>
        </p:nvSpPr>
        <p:spPr>
          <a:xfrm rot="10800000">
            <a:off x="762942" y="5697411"/>
            <a:ext cx="204550" cy="102221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A4465C-8BD6-FBF2-D973-A6875C03539F}"/>
              </a:ext>
            </a:extLst>
          </p:cNvPr>
          <p:cNvSpPr txBox="1"/>
          <p:nvPr/>
        </p:nvSpPr>
        <p:spPr>
          <a:xfrm>
            <a:off x="3192677" y="3978753"/>
            <a:ext cx="872696" cy="26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군집화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0D6891F-15F3-65A4-6CA0-FD23A5561383}"/>
              </a:ext>
            </a:extLst>
          </p:cNvPr>
          <p:cNvSpPr txBox="1"/>
          <p:nvPr/>
        </p:nvSpPr>
        <p:spPr>
          <a:xfrm>
            <a:off x="3192677" y="4540125"/>
            <a:ext cx="872696" cy="26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군집화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7ED838-21DD-EBF7-3258-1A3F9F3D3B7E}"/>
              </a:ext>
            </a:extLst>
          </p:cNvPr>
          <p:cNvSpPr txBox="1"/>
          <p:nvPr/>
        </p:nvSpPr>
        <p:spPr>
          <a:xfrm>
            <a:off x="3192677" y="5101987"/>
            <a:ext cx="872696" cy="26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추상화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90C801FF-3DDD-D0AC-3A1E-1CC801342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952" y="2200372"/>
            <a:ext cx="4571997" cy="1901422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AA4B4F2C-AFF0-2AA9-FE1B-F672D01DB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951" y="4573130"/>
            <a:ext cx="4595679" cy="167487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68CA61B-7213-483E-82CD-8E3C9F24DFBF}"/>
              </a:ext>
            </a:extLst>
          </p:cNvPr>
          <p:cNvSpPr txBox="1"/>
          <p:nvPr/>
        </p:nvSpPr>
        <p:spPr>
          <a:xfrm>
            <a:off x="5060949" y="1995184"/>
            <a:ext cx="4571997" cy="205188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한국형 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계층 직무활동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(Activity) 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체계 예시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C68438-2359-8F2A-ED48-77D9D5784477}"/>
              </a:ext>
            </a:extLst>
          </p:cNvPr>
          <p:cNvSpPr txBox="1"/>
          <p:nvPr/>
        </p:nvSpPr>
        <p:spPr>
          <a:xfrm>
            <a:off x="5060949" y="4367942"/>
            <a:ext cx="4571997" cy="205188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한국형 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계층 직무활동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(Activity) 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체계 예시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75437C-EC53-BA98-7E67-81BD80186F51}"/>
              </a:ext>
            </a:extLst>
          </p:cNvPr>
          <p:cNvSpPr txBox="1"/>
          <p:nvPr/>
        </p:nvSpPr>
        <p:spPr>
          <a:xfrm>
            <a:off x="5060950" y="4077308"/>
            <a:ext cx="45719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▶ 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GWA(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일반 활동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이 여러 직업의 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Task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로 분기되어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직업 간 공유 및 비교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유사도 분석 가능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70918C-E14B-4914-33B1-5C11F66EEB6D}"/>
              </a:ext>
            </a:extLst>
          </p:cNvPr>
          <p:cNvSpPr txBox="1"/>
          <p:nvPr/>
        </p:nvSpPr>
        <p:spPr>
          <a:xfrm>
            <a:off x="5060950" y="6206967"/>
            <a:ext cx="47536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▶ 직업별 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GWA(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일반 활동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데이터를 기반으로 분류체계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검증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및 직능수준 개편의 정량 데이터  확보 </a:t>
            </a:r>
          </a:p>
        </p:txBody>
      </p:sp>
      <p:sp>
        <p:nvSpPr>
          <p:cNvPr id="78" name="TextBox 246">
            <a:extLst>
              <a:ext uri="{FF2B5EF4-FFF2-40B4-BE49-F238E27FC236}">
                <a16:creationId xmlns:a16="http://schemas.microsoft.com/office/drawing/2014/main" id="{A9B505E5-7A97-79D5-CDC1-DDD26F8E5EF3}"/>
              </a:ext>
            </a:extLst>
          </p:cNvPr>
          <p:cNvSpPr txBox="1"/>
          <p:nvPr/>
        </p:nvSpPr>
        <p:spPr>
          <a:xfrm>
            <a:off x="50497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직무활동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(Activity)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산출물 예시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0B6B940-DBD7-1CF9-5CF3-AF258E3A858F}"/>
              </a:ext>
            </a:extLst>
          </p:cNvPr>
          <p:cNvCxnSpPr>
            <a:cxnSpLocks/>
          </p:cNvCxnSpPr>
          <p:nvPr/>
        </p:nvCxnSpPr>
        <p:spPr>
          <a:xfrm>
            <a:off x="50497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796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E72D6-083F-79DB-D299-AB6767B7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4C11903-275E-7BF8-1CA6-2DF44308D2EF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E5370B-F41A-B6AF-71DD-EB5B04493952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322A2F5-176B-8E20-7F5E-F63A2081BF1A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4923938-1A05-3B18-71E1-F8C6C469E7FD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15FDC81-D20E-E3B8-8D4C-361326602579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725A742-FB2D-F543-D680-D775F950B6BC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175AA92-6A82-D4AD-AF17-9BE2AA83034D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A285123-5EC8-6B15-01E2-7B1092CF2E1A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65271EE-B84C-9751-CEA7-5E39CA6CE7B0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0011394-5EFF-3028-D0B6-C4F9F2336E3A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FA868-848A-64D5-6349-0193B4DE8B3A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EEF4DD4-0F38-0D10-C100-9FC805F45927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직업정보 프레임워크 구성요소 및 직무활동 체계 정보를 기반으로 직무기술서 양식을 설계하였으며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KSCO ‘</a:t>
            </a:r>
            <a:r>
              <a:rPr lang="ko-KR" altLang="en-US" dirty="0"/>
              <a:t>회계사</a:t>
            </a:r>
            <a:r>
              <a:rPr lang="en-US" altLang="ko-KR" dirty="0"/>
              <a:t>’ </a:t>
            </a:r>
            <a:r>
              <a:rPr lang="ko-KR" altLang="en-US" dirty="0"/>
              <a:t>직업 직무기술서 작성 예시로 연구 진행 과정에서 구성 항목</a:t>
            </a:r>
            <a:r>
              <a:rPr lang="en-US" altLang="ko-KR" dirty="0"/>
              <a:t>·</a:t>
            </a:r>
            <a:r>
              <a:rPr lang="ko-KR" altLang="en-US" dirty="0"/>
              <a:t>내용을 정밀화</a:t>
            </a:r>
            <a:r>
              <a:rPr lang="en-US" altLang="ko-KR" dirty="0"/>
              <a:t>·</a:t>
            </a:r>
            <a:r>
              <a:rPr lang="ko-KR" altLang="en-US" dirty="0"/>
              <a:t>확정할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52298062-FAD5-57EF-54DB-ACCE9D420C42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직무기술 정의서 작성 예시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회계사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2EFD172-BCEE-1D9C-6172-6884171AA6B0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2647C9-76CE-05EB-B06B-D2816C55B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436465"/>
              </p:ext>
            </p:extLst>
          </p:nvPr>
        </p:nvGraphicFramePr>
        <p:xfrm>
          <a:off x="236538" y="2058329"/>
          <a:ext cx="4608512" cy="4399357"/>
        </p:xfrm>
        <a:graphic>
          <a:graphicData uri="http://schemas.openxmlformats.org/drawingml/2006/table">
            <a:tbl>
              <a:tblPr/>
              <a:tblGrid>
                <a:gridCol w="1333660">
                  <a:extLst>
                    <a:ext uri="{9D8B030D-6E8A-4147-A177-3AD203B41FA5}">
                      <a16:colId xmlns:a16="http://schemas.microsoft.com/office/drawing/2014/main" val="782386489"/>
                    </a:ext>
                  </a:extLst>
                </a:gridCol>
                <a:gridCol w="3274852">
                  <a:extLst>
                    <a:ext uri="{9D8B030D-6E8A-4147-A177-3AD203B41FA5}">
                      <a16:colId xmlns:a16="http://schemas.microsoft.com/office/drawing/2014/main" val="3248841406"/>
                    </a:ext>
                  </a:extLst>
                </a:gridCol>
              </a:tblGrid>
              <a:tr h="230767">
                <a:tc gridSpan="2">
                  <a:txBody>
                    <a:bodyPr/>
                    <a:lstStyle/>
                    <a:p>
                      <a:pPr marL="0" indent="0" algn="l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기본정보 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9728"/>
                  </a:ext>
                </a:extLst>
              </a:tr>
              <a:tr h="230767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① 직업 개요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25157"/>
                  </a:ext>
                </a:extLst>
              </a:tr>
              <a:tr h="23076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코드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2812(KSCO 8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62959"/>
                  </a:ext>
                </a:extLst>
              </a:tr>
              <a:tr h="67850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대분류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전문가 및 관련 종사자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중분류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28.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경영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금융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전문가 및 관련직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소분류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281.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인사 및 경영 전문가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세분류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2812.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회계사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7030"/>
                  </a:ext>
                </a:extLst>
              </a:tr>
              <a:tr h="23076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직업명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(Accountant)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927144"/>
                  </a:ext>
                </a:extLst>
              </a:tr>
              <a:tr h="52679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정의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기업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단체 등의 회계 관련 자료를 검토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작성하고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회계의 적정성에 대해 감사 의견을 진술하며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세무 자문 및 경영 컨설팅 업무를 수행하는 전문가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795574"/>
                  </a:ext>
                </a:extLst>
              </a:tr>
              <a:tr h="23076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국제 분류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ISCO-08: 2411 Accountants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022289"/>
                  </a:ext>
                </a:extLst>
              </a:tr>
              <a:tr h="230767">
                <a:tc gridSpan="2">
                  <a:txBody>
                    <a:bodyPr/>
                    <a:lstStyle/>
                    <a:p>
                      <a:pPr marL="0" indent="0" algn="l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578326"/>
                  </a:ext>
                </a:extLst>
              </a:tr>
              <a:tr h="230767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① 직무활동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(Activities)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33607"/>
                  </a:ext>
                </a:extLst>
              </a:tr>
              <a:tr h="8302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Task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재무제표 검토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감사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 기록 정확성 확인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세금 신고 자문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감사 보고서 작성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ko-KR" sz="1000" dirty="0"/>
                        <a:t>: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985560"/>
                  </a:ext>
                </a:extLst>
              </a:tr>
              <a:tr h="73918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정보 분석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(Analyzing Data or Information)</a:t>
                      </a: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정보 처리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(Processing Information)</a:t>
                      </a: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의사 결정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문제해결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(Decision Making)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16104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112CFDF-CE2F-4218-5586-B01E24891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74940"/>
              </p:ext>
            </p:extLst>
          </p:nvPr>
        </p:nvGraphicFramePr>
        <p:xfrm>
          <a:off x="5060952" y="2058328"/>
          <a:ext cx="4571998" cy="4289960"/>
        </p:xfrm>
        <a:graphic>
          <a:graphicData uri="http://schemas.openxmlformats.org/drawingml/2006/table">
            <a:tbl>
              <a:tblPr/>
              <a:tblGrid>
                <a:gridCol w="1323093">
                  <a:extLst>
                    <a:ext uri="{9D8B030D-6E8A-4147-A177-3AD203B41FA5}">
                      <a16:colId xmlns:a16="http://schemas.microsoft.com/office/drawing/2014/main" val="782386489"/>
                    </a:ext>
                  </a:extLst>
                </a:gridCol>
                <a:gridCol w="3248905">
                  <a:extLst>
                    <a:ext uri="{9D8B030D-6E8A-4147-A177-3AD203B41FA5}">
                      <a16:colId xmlns:a16="http://schemas.microsoft.com/office/drawing/2014/main" val="3248841406"/>
                    </a:ext>
                  </a:extLst>
                </a:gridCol>
              </a:tblGrid>
              <a:tr h="186532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② 요구 요건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(Requirements)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25157"/>
                  </a:ext>
                </a:extLst>
              </a:tr>
              <a:tr h="58703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회계원칙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·K-IFRS</a:t>
                      </a: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세법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감사기준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: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62959"/>
                  </a:ext>
                </a:extLst>
              </a:tr>
              <a:tr h="4557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회계자료 분석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감사 절차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7030"/>
                  </a:ext>
                </a:extLst>
              </a:tr>
              <a:tr h="4557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수리적 추론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연역적 추론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: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927144"/>
                  </a:ext>
                </a:extLst>
              </a:tr>
              <a:tr h="58703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SAP</a:t>
                      </a: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ERP </a:t>
                      </a: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Excel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795574"/>
                  </a:ext>
                </a:extLst>
              </a:tr>
              <a:tr h="186532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③ 맥락 정보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(Context)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33607"/>
                  </a:ext>
                </a:extLst>
              </a:tr>
              <a:tr h="4557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물리적 환경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사무실 실내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컴퓨터 작업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ko-KR" sz="1000" dirty="0"/>
                        <a:t>: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985560"/>
                  </a:ext>
                </a:extLst>
              </a:tr>
              <a:tr h="3245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사회적 환경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고객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동료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외부기관 협업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: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18747"/>
                  </a:ext>
                </a:extLst>
              </a:tr>
              <a:tr h="4557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경제적 환경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채용 공고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회계법인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기업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공공기관 등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평균 임금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 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천만원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~ 9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천만원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1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270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7D9C-6620-3FAC-2990-923236E4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0BD4E4F-E7B9-4AF8-CF7B-0E9AAF0DF2C3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73961-FC06-3F3D-96FA-813D98C215F0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DC79D8F-0524-162A-13E8-5F13F474220B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3CBF431-8B56-8F57-1355-AD3E9D058F00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4FAEC00-0228-195D-A8B2-93DCE9411FFF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28351FD-7F3C-9AA6-727E-E4E31EF65DEA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F7BD703-1E30-1533-713E-D4981F5567DE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6F962AD-3991-EB26-CE88-02599908D2F7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EE53BF6-D03F-6CF4-4993-A029896CD1C7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92339D9-DD4A-4889-5CB4-E179A00A50A9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E49257-2313-0736-C86B-688F4CA92F63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33F157D-EDB2-66D2-0195-9A76E4E32CA9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직업별 </a:t>
            </a:r>
            <a:r>
              <a:rPr lang="en-US" altLang="ko-KR" dirty="0"/>
              <a:t>GWA</a:t>
            </a:r>
            <a:r>
              <a:rPr lang="ko-KR" altLang="en-US"/>
              <a:t>를 한국</a:t>
            </a:r>
            <a:r>
              <a:rPr lang="en-US" altLang="ko-KR" dirty="0"/>
              <a:t> </a:t>
            </a:r>
            <a:r>
              <a:rPr lang="ko-KR" altLang="en-US" dirty="0"/>
              <a:t>직업 </a:t>
            </a:r>
            <a:r>
              <a:rPr lang="ko-KR" altLang="en-US"/>
              <a:t>특성과 </a:t>
            </a:r>
            <a:r>
              <a:rPr lang="en-US" altLang="ko-KR"/>
              <a:t>O</a:t>
            </a:r>
            <a:r>
              <a:rPr lang="en-US" altLang="ko-KR" dirty="0"/>
              <a:t>*NET DB</a:t>
            </a:r>
            <a:r>
              <a:rPr lang="ko-KR" altLang="en-US" dirty="0"/>
              <a:t>를 참조하여 각 직업에 </a:t>
            </a:r>
            <a:r>
              <a:rPr lang="ko-KR" altLang="en-US"/>
              <a:t>유의미한 </a:t>
            </a:r>
            <a:r>
              <a:rPr lang="en-US" altLang="ko-KR" dirty="0"/>
              <a:t>GWA</a:t>
            </a:r>
            <a:r>
              <a:rPr lang="ko-KR" altLang="en-US"/>
              <a:t>를 매칭하고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표준화된 </a:t>
            </a:r>
            <a:r>
              <a:rPr lang="ko-KR" altLang="en-US"/>
              <a:t>측정 척도</a:t>
            </a:r>
            <a:r>
              <a:rPr lang="en-US" altLang="ko-KR"/>
              <a:t>(</a:t>
            </a:r>
            <a:r>
              <a:rPr lang="ko-KR" altLang="en-US"/>
              <a:t>수준</a:t>
            </a:r>
            <a:r>
              <a:rPr lang="en-US" altLang="ko-KR"/>
              <a:t>·</a:t>
            </a:r>
            <a:r>
              <a:rPr lang="ko-KR" altLang="en-US"/>
              <a:t>중요도</a:t>
            </a:r>
            <a:r>
              <a:rPr lang="en-US" altLang="ko-KR" dirty="0"/>
              <a:t>) </a:t>
            </a:r>
            <a:r>
              <a:rPr lang="ko-KR" altLang="en-US"/>
              <a:t>및 </a:t>
            </a:r>
            <a:r>
              <a:rPr lang="en-US" altLang="ko-KR" dirty="0"/>
              <a:t>BARS </a:t>
            </a:r>
            <a:r>
              <a:rPr lang="ko-KR" altLang="en-US" dirty="0"/>
              <a:t>행동 앵커를 기반으로 </a:t>
            </a:r>
            <a:r>
              <a:rPr lang="ko-KR" altLang="en-US"/>
              <a:t>직업별 </a:t>
            </a:r>
            <a:r>
              <a:rPr lang="en-US" altLang="ko-KR" dirty="0"/>
              <a:t>GWA</a:t>
            </a:r>
            <a:r>
              <a:rPr lang="ko-KR" altLang="en-US"/>
              <a:t>를 평정</a:t>
            </a:r>
            <a:r>
              <a:rPr lang="en-US" altLang="ko-KR" dirty="0"/>
              <a:t>·</a:t>
            </a:r>
            <a:r>
              <a:rPr lang="ko-KR" altLang="en-US"/>
              <a:t>산정할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4606F71F-6B49-D1AA-DC07-09D5B3F734B8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- GWA(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일반 활동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) Matrix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예시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회계사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E886AC7-8B93-E1A6-3E4E-7325721C069F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F13FCD1-1BE9-8156-6C50-087E1CE66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049268"/>
              </p:ext>
            </p:extLst>
          </p:nvPr>
        </p:nvGraphicFramePr>
        <p:xfrm>
          <a:off x="236537" y="2058328"/>
          <a:ext cx="4608513" cy="4394862"/>
        </p:xfrm>
        <a:graphic>
          <a:graphicData uri="http://schemas.openxmlformats.org/drawingml/2006/table">
            <a:tbl>
              <a:tblPr/>
              <a:tblGrid>
                <a:gridCol w="390614">
                  <a:extLst>
                    <a:ext uri="{9D8B030D-6E8A-4147-A177-3AD203B41FA5}">
                      <a16:colId xmlns:a16="http://schemas.microsoft.com/office/drawing/2014/main" val="782386489"/>
                    </a:ext>
                  </a:extLst>
                </a:gridCol>
                <a:gridCol w="2287499">
                  <a:extLst>
                    <a:ext uri="{9D8B030D-6E8A-4147-A177-3AD203B41FA5}">
                      <a16:colId xmlns:a16="http://schemas.microsoft.com/office/drawing/2014/main" val="1090540868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55830720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4160128641"/>
                    </a:ext>
                  </a:extLst>
                </a:gridCol>
              </a:tblGrid>
              <a:tr h="245688">
                <a:tc grid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 Matrix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825157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구분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GWA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수준 </a:t>
                      </a:r>
                      <a:endParaRPr lang="en-US" altLang="ko-KR" sz="1000"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Level)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중요도 </a:t>
                      </a:r>
                      <a:endParaRPr lang="en-US" altLang="ko-KR" sz="1000"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Importance)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62959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정보 분석 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Analyzing Data or Information)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78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91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901797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정보 처리 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Processing Information)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79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89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45501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정보 수집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Getting Information)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76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88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549228"/>
                  </a:ext>
                </a:extLst>
              </a:tr>
              <a:tr h="27661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:</a:t>
                      </a:r>
                      <a:endParaRPr lang="en-US" altLang="ko-KR" sz="1000" dirty="0"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17030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의사결정</a:t>
                      </a: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문제해결 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Decision Making)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71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84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985560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타인을 위한 정보 해석 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Interpreting for Others)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64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80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18747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외부 조직과 의사소통 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External Communication)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57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80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16104"/>
                  </a:ext>
                </a:extLst>
              </a:tr>
              <a:tr h="27661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893160"/>
                  </a:ext>
                </a:extLst>
              </a:tr>
              <a:tr h="449494">
                <a:tc grid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※ O*NET DB</a:t>
                      </a:r>
                      <a:r>
                        <a:rPr lang="ko-KR" altLang="en-US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를 참조하면서 각 직업에 유의미한 </a:t>
                      </a:r>
                      <a:r>
                        <a:rPr lang="en-US" altLang="ko-KR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GWA</a:t>
                      </a:r>
                      <a:r>
                        <a:rPr lang="ko-KR" altLang="en-US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를 포함하는 형태로 평정 </a:t>
                      </a:r>
                      <a:endParaRPr lang="en-US" altLang="ko-KR" sz="1000" i="1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※ </a:t>
                      </a:r>
                      <a:r>
                        <a:rPr lang="ko-KR" altLang="en-US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항목 수는 직업 특성에 따라 가변적 </a:t>
                      </a:r>
                      <a:r>
                        <a:rPr lang="en-US" altLang="ko-KR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(10</a:t>
                      </a:r>
                      <a:r>
                        <a:rPr lang="ko-KR" altLang="en-US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개 내외</a:t>
                      </a:r>
                      <a:r>
                        <a:rPr lang="en-US" altLang="ko-KR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972482"/>
                  </a:ext>
                </a:extLst>
              </a:tr>
            </a:tbl>
          </a:graphicData>
        </a:graphic>
      </p:graphicFrame>
      <p:sp>
        <p:nvSpPr>
          <p:cNvPr id="8" name="TextBox 246">
            <a:extLst>
              <a:ext uri="{FF2B5EF4-FFF2-40B4-BE49-F238E27FC236}">
                <a16:creationId xmlns:a16="http://schemas.microsoft.com/office/drawing/2014/main" id="{7082FA00-CA58-D5D3-350E-BE06C787F2D6}"/>
              </a:ext>
            </a:extLst>
          </p:cNvPr>
          <p:cNvSpPr txBox="1"/>
          <p:nvPr/>
        </p:nvSpPr>
        <p:spPr>
          <a:xfrm>
            <a:off x="5060952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직무활동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정보 측정 척도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52DA0AF-07F7-5DBF-D850-7E85258FCCBE}"/>
              </a:ext>
            </a:extLst>
          </p:cNvPr>
          <p:cNvCxnSpPr>
            <a:cxnSpLocks/>
          </p:cNvCxnSpPr>
          <p:nvPr/>
        </p:nvCxnSpPr>
        <p:spPr>
          <a:xfrm>
            <a:off x="5060952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A7A715C-5191-FD60-993A-3F93BCCC2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640159"/>
              </p:ext>
            </p:extLst>
          </p:nvPr>
        </p:nvGraphicFramePr>
        <p:xfrm>
          <a:off x="5060952" y="2058328"/>
          <a:ext cx="4571988" cy="1274634"/>
        </p:xfrm>
        <a:graphic>
          <a:graphicData uri="http://schemas.openxmlformats.org/drawingml/2006/table">
            <a:tbl>
              <a:tblPr/>
              <a:tblGrid>
                <a:gridCol w="1191604">
                  <a:extLst>
                    <a:ext uri="{9D8B030D-6E8A-4147-A177-3AD203B41FA5}">
                      <a16:colId xmlns:a16="http://schemas.microsoft.com/office/drawing/2014/main" val="782386489"/>
                    </a:ext>
                  </a:extLst>
                </a:gridCol>
                <a:gridCol w="566286">
                  <a:extLst>
                    <a:ext uri="{9D8B030D-6E8A-4147-A177-3AD203B41FA5}">
                      <a16:colId xmlns:a16="http://schemas.microsoft.com/office/drawing/2014/main" val="3248841406"/>
                    </a:ext>
                  </a:extLst>
                </a:gridCol>
                <a:gridCol w="478842">
                  <a:extLst>
                    <a:ext uri="{9D8B030D-6E8A-4147-A177-3AD203B41FA5}">
                      <a16:colId xmlns:a16="http://schemas.microsoft.com/office/drawing/2014/main" val="132220299"/>
                    </a:ext>
                  </a:extLst>
                </a:gridCol>
                <a:gridCol w="1622631">
                  <a:extLst>
                    <a:ext uri="{9D8B030D-6E8A-4147-A177-3AD203B41FA5}">
                      <a16:colId xmlns:a16="http://schemas.microsoft.com/office/drawing/2014/main" val="2261642632"/>
                    </a:ext>
                  </a:extLst>
                </a:gridCol>
                <a:gridCol w="712625">
                  <a:extLst>
                    <a:ext uri="{9D8B030D-6E8A-4147-A177-3AD203B41FA5}">
                      <a16:colId xmlns:a16="http://schemas.microsoft.com/office/drawing/2014/main" val="3526763397"/>
                    </a:ext>
                  </a:extLst>
                </a:gridCol>
              </a:tblGrid>
              <a:tr h="1865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대상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범위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의미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표준화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25157"/>
                  </a:ext>
                </a:extLst>
              </a:tr>
              <a:tr h="5214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수준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(Level)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GWA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0 ~ 7</a:t>
                      </a: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(8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단계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직무가 요구하는 복잡성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난이도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0 ~ 100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62959"/>
                  </a:ext>
                </a:extLst>
              </a:tr>
              <a:tr h="5214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중요도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(Importance)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GWA</a:t>
                      </a:r>
                    </a:p>
                    <a:p>
                      <a:pPr marL="88900" indent="-8890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Task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 ~ 5</a:t>
                      </a: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단계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직무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수행에서의 중요도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0 ~ 100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7030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C3F94BB5-B606-7C26-A501-F37B2EF19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950" y="3876642"/>
            <a:ext cx="4571998" cy="6400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8FD3A6-6C49-C272-4ADD-8E716CAF7A32}"/>
              </a:ext>
            </a:extLst>
          </p:cNvPr>
          <p:cNvSpPr txBox="1"/>
          <p:nvPr/>
        </p:nvSpPr>
        <p:spPr>
          <a:xfrm>
            <a:off x="5581653" y="4632966"/>
            <a:ext cx="1187447" cy="640092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accent6"/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점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(Low)</a:t>
            </a:r>
          </a:p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“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매장에서 거스름돈 계산을 위한 가격표 읽기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”</a:t>
            </a:r>
            <a:endParaRPr lang="en-US" altLang="ko-KR" sz="7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926D31-81A0-A5CD-AB75-06F1A787C6CA}"/>
              </a:ext>
            </a:extLst>
          </p:cNvPr>
          <p:cNvSpPr txBox="1"/>
          <p:nvPr/>
        </p:nvSpPr>
        <p:spPr>
          <a:xfrm>
            <a:off x="6946903" y="4632966"/>
            <a:ext cx="1187447" cy="640092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점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(Mod)</a:t>
            </a:r>
          </a:p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“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공급업체와 통화로 주문 상태 정보 파악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”</a:t>
            </a:r>
            <a:endParaRPr lang="en-US" altLang="ko-KR" sz="7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A2567B-2837-0B08-1A0C-3B2EDCCDBCCB}"/>
              </a:ext>
            </a:extLst>
          </p:cNvPr>
          <p:cNvSpPr txBox="1"/>
          <p:nvPr/>
        </p:nvSpPr>
        <p:spPr>
          <a:xfrm>
            <a:off x="8312153" y="4632966"/>
            <a:ext cx="1187447" cy="640092"/>
          </a:xfrm>
          <a:prstGeom prst="rect">
            <a:avLst/>
          </a:prstGeom>
          <a:pattFill prst="dkUpDiag">
            <a:fgClr>
              <a:srgbClr val="FADADF"/>
            </a:fgClr>
            <a:bgClr>
              <a:schemeClr val="bg1"/>
            </a:bgClr>
          </a:pattFill>
          <a:ln w="28575" cap="flat" cmpd="sng" algn="ctr">
            <a:solidFill>
              <a:srgbClr val="9A0000"/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점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(High)</a:t>
            </a:r>
          </a:p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“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합병 검토를 위한 </a:t>
            </a:r>
            <a:r>
              <a:rPr lang="ko-KR" altLang="en-US" sz="800" kern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다부서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재무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전략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데이터 종합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”</a:t>
            </a:r>
            <a:endParaRPr lang="en-US" altLang="ko-KR" sz="7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Box 246">
            <a:extLst>
              <a:ext uri="{FF2B5EF4-FFF2-40B4-BE49-F238E27FC236}">
                <a16:creationId xmlns:a16="http://schemas.microsoft.com/office/drawing/2014/main" id="{51944FF4-343D-BAD6-1CF1-74408254F60E}"/>
              </a:ext>
            </a:extLst>
          </p:cNvPr>
          <p:cNvSpPr txBox="1"/>
          <p:nvPr/>
        </p:nvSpPr>
        <p:spPr>
          <a:xfrm>
            <a:off x="5060952" y="3429000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en-US" altLang="ko-KR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GWA </a:t>
            </a:r>
            <a:r>
              <a:rPr lang="ko-KR" altLang="en-US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수준</a:t>
            </a:r>
            <a:r>
              <a:rPr lang="en-US" altLang="ko-KR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(Level) </a:t>
            </a:r>
            <a:r>
              <a:rPr lang="ko-KR" altLang="en-US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측정 행동 앵커 예시</a:t>
            </a:r>
            <a:endParaRPr lang="en-US" altLang="ko-KR" sz="10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  <a:p>
            <a:pPr latinLnBrk="0"/>
            <a:r>
              <a:rPr lang="en-US" altLang="ko-KR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</a:t>
            </a:r>
            <a:r>
              <a:rPr lang="en-US" altLang="ko-KR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GWA : </a:t>
            </a:r>
            <a:r>
              <a:rPr lang="ko-KR" altLang="en-US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정보 수집</a:t>
            </a:r>
            <a:r>
              <a:rPr lang="en-US" altLang="ko-KR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(Getting Information)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A0849A-9AEB-DD7A-2B98-C21D73D3B51D}"/>
              </a:ext>
            </a:extLst>
          </p:cNvPr>
          <p:cNvSpPr txBox="1"/>
          <p:nvPr/>
        </p:nvSpPr>
        <p:spPr>
          <a:xfrm>
            <a:off x="5060950" y="5532131"/>
            <a:ext cx="457199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▶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O*NET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은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41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개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GWA 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각각에 대해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Low(2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점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)·Moderate(4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점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)·High(6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점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) 3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개 위치의 행동 앵커 텍스트를 제공</a:t>
            </a:r>
            <a:endParaRPr lang="en-US" altLang="ko-KR" sz="1000" dirty="0">
              <a:latin typeface="페이퍼로지 3 Light" pitchFamily="2" charset="-127"/>
              <a:ea typeface="페이퍼로지 3 Light" pitchFamily="2" charset="-127"/>
            </a:endParaRPr>
          </a:p>
          <a:p>
            <a:endParaRPr lang="en-US" altLang="ko-KR" sz="1000" dirty="0">
              <a:latin typeface="페이퍼로지 3 Light" pitchFamily="2" charset="-127"/>
              <a:ea typeface="페이퍼로지 3 Light" pitchFamily="2" charset="-127"/>
            </a:endParaRPr>
          </a:p>
          <a:p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▶ 본 연구는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O*NET 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행동 앵커를 활용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·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참조하되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, 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직업 특성에 따라 한국 직업 사례 기반으로 수정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·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보완하고 전문가 검토를 거쳐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BARS 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앵커 확정</a:t>
            </a:r>
            <a:endParaRPr lang="ko-KR" altLang="en-US" sz="1000" b="1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6801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E7AF-BF5F-BD95-958C-B3D2A42FB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464D99-98A3-F176-A84A-61CF0B0E8642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1B6F1-6CC5-36D2-F9ED-FA402983AB0D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AC05513-DE11-BC31-245A-C0A7975CFF12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BE5C2B8-1ADC-E7A0-FB87-C415E668F5BC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4216644-322A-0522-9EE1-45E984C07E4D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A289025-8AA5-D9F7-2C76-BFA64C96E3F1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2B0E388-53F1-6428-05DF-18547C5E5A9F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563E6A2-B48C-B3FD-348F-3BC0B8020072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2A06E19-954C-344C-2179-EF2A69460962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F445812-AA72-2A7E-2DCA-4FD86952105D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9AA3A-E1F6-5711-BA31-747ACE59C581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검증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20CA42A-9738-7489-F397-ABCA3DC80F84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본 연구에서 설계한 직업정보 프레임워크의 적용 가능성과 변별력을 검증하기 위해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KSCO </a:t>
            </a:r>
            <a:r>
              <a:rPr lang="ko-KR" altLang="en-US" dirty="0"/>
              <a:t>중분류 </a:t>
            </a:r>
            <a:r>
              <a:rPr lang="en-US" altLang="ko-KR" dirty="0"/>
              <a:t>2~3</a:t>
            </a:r>
            <a:r>
              <a:rPr lang="ko-KR" altLang="en-US" dirty="0"/>
              <a:t>개를 시범 대상으로 선정하고 전문가 평정 시뮬레이션을 수행할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380D41C8-463E-B7CA-B233-7705323882B6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직업정보 프레임워크 시뮬레이션 대상 선정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9346543-51AF-0D0C-230E-B181BC829A19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46">
            <a:extLst>
              <a:ext uri="{FF2B5EF4-FFF2-40B4-BE49-F238E27FC236}">
                <a16:creationId xmlns:a16="http://schemas.microsoft.com/office/drawing/2014/main" id="{4744EB4A-9E57-A9C6-EBF1-9ACD68B83B85}"/>
              </a:ext>
            </a:extLst>
          </p:cNvPr>
          <p:cNvSpPr txBox="1"/>
          <p:nvPr/>
        </p:nvSpPr>
        <p:spPr>
          <a:xfrm>
            <a:off x="5060952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직무정보 프레임워크 검증 시뮬레이션 절차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8594188-0983-FDB1-954F-FCB499DC18DC}"/>
              </a:ext>
            </a:extLst>
          </p:cNvPr>
          <p:cNvCxnSpPr>
            <a:cxnSpLocks/>
          </p:cNvCxnSpPr>
          <p:nvPr/>
        </p:nvCxnSpPr>
        <p:spPr>
          <a:xfrm>
            <a:off x="5060952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0550E30-4956-884B-4766-F993F72B8C25}"/>
              </a:ext>
            </a:extLst>
          </p:cNvPr>
          <p:cNvSpPr txBox="1"/>
          <p:nvPr/>
        </p:nvSpPr>
        <p:spPr>
          <a:xfrm>
            <a:off x="236539" y="2241550"/>
            <a:ext cx="813100" cy="1538200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시뮬레이션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대상 선정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30C238-2EFD-DD3E-364E-77FC11ED977E}"/>
              </a:ext>
            </a:extLst>
          </p:cNvPr>
          <p:cNvSpPr txBox="1"/>
          <p:nvPr/>
        </p:nvSpPr>
        <p:spPr>
          <a:xfrm>
            <a:off x="1124910" y="2276474"/>
            <a:ext cx="3698220" cy="1492959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200" dirty="0"/>
              <a:t> [KSCO </a:t>
            </a:r>
            <a:r>
              <a:rPr lang="ko-KR" altLang="en-US" sz="1200" dirty="0"/>
              <a:t>중분류 수준</a:t>
            </a:r>
            <a:r>
              <a:rPr lang="en-US" altLang="ko-KR" sz="1200" dirty="0"/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직무 특성이 서로 다른 산업 영역을 대표하는 </a:t>
            </a:r>
            <a:r>
              <a:rPr lang="ko-KR" altLang="en-US" sz="1200" dirty="0" err="1"/>
              <a:t>직업군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지식 기반 직업과 기술 기반 직업을 모두 포함하는 </a:t>
            </a:r>
            <a:r>
              <a:rPr lang="ko-KR" altLang="en-US" sz="1200" dirty="0" err="1"/>
              <a:t>직업군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직무 수행 방식이 비교적 명확하게 구분되는 </a:t>
            </a:r>
            <a:r>
              <a:rPr lang="ko-KR" altLang="en-US" sz="1200" dirty="0" err="1"/>
              <a:t>직업군</a:t>
            </a:r>
            <a:endParaRPr lang="en-US" altLang="ko-KR" sz="1200" dirty="0"/>
          </a:p>
          <a:p>
            <a:r>
              <a:rPr lang="en-US" altLang="ko-KR" sz="1200" dirty="0"/>
              <a:t>ex) </a:t>
            </a:r>
            <a:r>
              <a:rPr lang="ko-KR" altLang="en-US" sz="1200" dirty="0"/>
              <a:t>전문서비스 영역 </a:t>
            </a:r>
            <a:r>
              <a:rPr lang="en-US" altLang="ko-KR" sz="1200" dirty="0"/>
              <a:t>+ </a:t>
            </a:r>
            <a:r>
              <a:rPr lang="ko-KR" altLang="en-US" sz="1200" dirty="0"/>
              <a:t>생산 영역 </a:t>
            </a:r>
            <a:r>
              <a:rPr lang="en-US" altLang="ko-KR" sz="1200" dirty="0"/>
              <a:t>+ </a:t>
            </a:r>
            <a:r>
              <a:rPr lang="ko-KR" altLang="en-US" sz="1200" dirty="0"/>
              <a:t>기술 영역 등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AFFC2B-B82C-9458-5815-0CF4849C4FB4}"/>
              </a:ext>
            </a:extLst>
          </p:cNvPr>
          <p:cNvSpPr txBox="1"/>
          <p:nvPr/>
        </p:nvSpPr>
        <p:spPr>
          <a:xfrm>
            <a:off x="236539" y="3876642"/>
            <a:ext cx="813100" cy="2576546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시뮬레이션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대상 선정</a:t>
            </a:r>
            <a:r>
              <a:rPr lang="en-US" altLang="ko-KR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안</a:t>
            </a:r>
            <a:r>
              <a:rPr lang="en-US" altLang="ko-KR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7F13B6A-BD86-CA1B-F8F6-A5ED3FC8E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663520"/>
              </p:ext>
            </p:extLst>
          </p:nvPr>
        </p:nvGraphicFramePr>
        <p:xfrm>
          <a:off x="1124910" y="3876642"/>
          <a:ext cx="3720141" cy="2576546"/>
        </p:xfrm>
        <a:graphic>
          <a:graphicData uri="http://schemas.openxmlformats.org/drawingml/2006/table">
            <a:tbl>
              <a:tblPr/>
              <a:tblGrid>
                <a:gridCol w="1000452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1248033">
                  <a:extLst>
                    <a:ext uri="{9D8B030D-6E8A-4147-A177-3AD203B41FA5}">
                      <a16:colId xmlns:a16="http://schemas.microsoft.com/office/drawing/2014/main" val="570659017"/>
                    </a:ext>
                  </a:extLst>
                </a:gridCol>
                <a:gridCol w="1471656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</a:tblGrid>
              <a:tr h="269934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중분류 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안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특성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57665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 기반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28.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금융 전문가 및 관련직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 분석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의사결정 중심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23882"/>
                  </a:ext>
                </a:extLst>
              </a:tr>
              <a:tr h="57665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 기반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정보통신 전문가 및 기술직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 활용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문제해결 중심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37839"/>
                  </a:ext>
                </a:extLst>
              </a:tr>
              <a:tr h="57665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대인서비스 기반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24.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보건 전문가 및 관련직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대인 상호작용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진단 중심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45202"/>
                  </a:ext>
                </a:extLst>
              </a:tr>
              <a:tr h="576653">
                <a:tc gridSpan="3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※ KSCO 8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차 개정 영향 영역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신생 직업 포함 영역 등 정책 시의성을 고려하여 발주기관 협의 후 최종 확정 예정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7518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888C579-8058-B38F-ACDA-4BC7DF87BFEC}"/>
              </a:ext>
            </a:extLst>
          </p:cNvPr>
          <p:cNvSpPr txBox="1"/>
          <p:nvPr/>
        </p:nvSpPr>
        <p:spPr>
          <a:xfrm>
            <a:off x="5060951" y="2241550"/>
            <a:ext cx="1720850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단계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7F2192-8BFB-7E8C-1BC8-07009EF10D02}"/>
              </a:ext>
            </a:extLst>
          </p:cNvPr>
          <p:cNvSpPr txBox="1"/>
          <p:nvPr/>
        </p:nvSpPr>
        <p:spPr>
          <a:xfrm>
            <a:off x="6905624" y="2241550"/>
            <a:ext cx="2741917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내용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4453C3CF-D437-8EA4-80E9-BCED31B4903C}"/>
              </a:ext>
            </a:extLst>
          </p:cNvPr>
          <p:cNvGrpSpPr/>
          <p:nvPr/>
        </p:nvGrpSpPr>
        <p:grpSpPr>
          <a:xfrm>
            <a:off x="5060951" y="2697480"/>
            <a:ext cx="4586591" cy="3755707"/>
            <a:chOff x="5060951" y="2697481"/>
            <a:chExt cx="4586591" cy="3414904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5BEE4F3-0288-8014-0489-C10BD75B0F74}"/>
                </a:ext>
              </a:extLst>
            </p:cNvPr>
            <p:cNvGrpSpPr/>
            <p:nvPr/>
          </p:nvGrpSpPr>
          <p:grpSpPr>
            <a:xfrm>
              <a:off x="5060951" y="2697481"/>
              <a:ext cx="4586591" cy="596857"/>
              <a:chOff x="5060951" y="2697481"/>
              <a:chExt cx="4586591" cy="596857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7D61D3B-FC03-E2D6-6457-9086E0B1B26D}"/>
                  </a:ext>
                </a:extLst>
              </p:cNvPr>
              <p:cNvSpPr txBox="1"/>
              <p:nvPr/>
            </p:nvSpPr>
            <p:spPr>
              <a:xfrm>
                <a:off x="5060951" y="2697481"/>
                <a:ext cx="1720854" cy="596857"/>
              </a:xfrm>
              <a:prstGeom prst="rect">
                <a:avLst/>
              </a:prstGeom>
              <a:solidFill>
                <a:srgbClr val="DDEBF7"/>
              </a:solidFill>
              <a:ln w="28575" cap="flat" cmpd="sng" algn="ctr">
                <a:solidFill>
                  <a:srgbClr val="71AAE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rtlCol="0" anchor="ctr"/>
              <a:lstStyle>
                <a:defPPr>
                  <a:defRPr lang="en-US"/>
                </a:defPPr>
                <a:lvl1pPr algn="ctr" defTabSz="804838">
                  <a:lnSpc>
                    <a:spcPct val="130000"/>
                  </a:lnSpc>
                  <a:defRPr sz="1200">
                    <a:latin typeface="페이퍼로지 5 Medium" pitchFamily="2" charset="-127"/>
                    <a:ea typeface="페이퍼로지 5 Medium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100" dirty="0"/>
                  <a:t>① 직업별 직무활동 도출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C085A13-B450-407A-8B03-5FC1F289AA4C}"/>
                  </a:ext>
                </a:extLst>
              </p:cNvPr>
              <p:cNvSpPr txBox="1"/>
              <p:nvPr/>
            </p:nvSpPr>
            <p:spPr>
              <a:xfrm>
                <a:off x="6905625" y="2697481"/>
                <a:ext cx="2741917" cy="596857"/>
              </a:xfrm>
              <a:prstGeom prst="rect">
                <a:avLst/>
              </a:prstGeom>
              <a:solidFill>
                <a:schemeClr val="bg1"/>
              </a:solidFill>
              <a:ln w="38100" cmpd="tri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72000" rIns="72000" bIns="72000" rtlCol="0" anchor="ctr"/>
              <a:lstStyle>
                <a:defPPr>
                  <a:defRPr lang="en-US"/>
                </a:defPPr>
                <a:lvl1pPr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Paperlogy-4Regular" pitchFamily="34" charset="-120"/>
                  </a:defRPr>
                </a:lvl1pPr>
                <a:lvl2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85725" indent="-85725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92075" algn="l"/>
                  </a:tabLst>
                </a:pPr>
                <a:r>
                  <a:rPr lang="ko-KR" altLang="en-US" dirty="0"/>
                  <a:t>자연어 처리</a:t>
                </a:r>
                <a:r>
                  <a:rPr lang="en-US" altLang="ko-KR" dirty="0"/>
                  <a:t>(NLP) </a:t>
                </a:r>
                <a:r>
                  <a:rPr lang="ko-KR" altLang="en-US" dirty="0"/>
                  <a:t>분석 → </a:t>
                </a:r>
                <a:r>
                  <a:rPr lang="en-US" altLang="ko-KR" dirty="0"/>
                  <a:t>Task </a:t>
                </a:r>
                <a:r>
                  <a:rPr lang="ko-KR" altLang="en-US" dirty="0"/>
                  <a:t>→ </a:t>
                </a:r>
                <a:r>
                  <a:rPr lang="en-US" altLang="ko-KR" dirty="0"/>
                  <a:t>DWA </a:t>
                </a:r>
                <a:r>
                  <a:rPr lang="ko-KR" altLang="en-US" dirty="0"/>
                  <a:t>→ </a:t>
                </a:r>
                <a:r>
                  <a:rPr lang="en-US" altLang="ko-KR" dirty="0"/>
                  <a:t>IWA </a:t>
                </a:r>
                <a:r>
                  <a:rPr lang="ko-KR" altLang="en-US" dirty="0"/>
                  <a:t>→ </a:t>
                </a:r>
                <a:r>
                  <a:rPr lang="en-US" altLang="ko-KR" dirty="0"/>
                  <a:t>GWA </a:t>
                </a:r>
                <a:r>
                  <a:rPr lang="ko-KR" altLang="en-US" dirty="0"/>
                  <a:t>도출 </a:t>
                </a:r>
                <a:endParaRPr lang="en-US" altLang="ko-KR" dirty="0"/>
              </a:p>
              <a:p>
                <a:pPr marL="85725" indent="-85725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92075" algn="l"/>
                  </a:tabLst>
                </a:pPr>
                <a:r>
                  <a:rPr lang="ko-KR" altLang="en-US" dirty="0"/>
                  <a:t>직업별 직무기술 정의서 도출</a:t>
                </a:r>
                <a:endParaRPr lang="en-US" altLang="ko-KR" dirty="0"/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178EEBD6-183A-CD0B-47D7-D83765D3E420}"/>
                </a:ext>
              </a:extLst>
            </p:cNvPr>
            <p:cNvGrpSpPr/>
            <p:nvPr/>
          </p:nvGrpSpPr>
          <p:grpSpPr>
            <a:xfrm>
              <a:off x="5060951" y="3400921"/>
              <a:ext cx="4586591" cy="599380"/>
              <a:chOff x="5060951" y="3488748"/>
              <a:chExt cx="4586591" cy="599380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C7AB525-7A97-2B90-B991-A57AADE02200}"/>
                  </a:ext>
                </a:extLst>
              </p:cNvPr>
              <p:cNvSpPr txBox="1"/>
              <p:nvPr/>
            </p:nvSpPr>
            <p:spPr>
              <a:xfrm>
                <a:off x="5060951" y="3488748"/>
                <a:ext cx="1720854" cy="596857"/>
              </a:xfrm>
              <a:prstGeom prst="rect">
                <a:avLst/>
              </a:prstGeom>
              <a:solidFill>
                <a:srgbClr val="DDEBF7"/>
              </a:solidFill>
              <a:ln w="28575" cap="flat" cmpd="sng" algn="ctr">
                <a:solidFill>
                  <a:srgbClr val="71AAE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rtlCol="0" anchor="ctr"/>
              <a:lstStyle>
                <a:defPPr>
                  <a:defRPr lang="en-US"/>
                </a:defPPr>
                <a:lvl1pPr algn="ctr" defTabSz="804838">
                  <a:lnSpc>
                    <a:spcPct val="130000"/>
                  </a:lnSpc>
                  <a:defRPr sz="1200">
                    <a:latin typeface="페이퍼로지 5 Medium" pitchFamily="2" charset="-127"/>
                    <a:ea typeface="페이퍼로지 5 Medium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100" dirty="0"/>
                  <a:t>② 핵심 </a:t>
                </a:r>
                <a:r>
                  <a:rPr lang="en-US" altLang="ko-KR" sz="1100" dirty="0"/>
                  <a:t>GWA </a:t>
                </a:r>
                <a:r>
                  <a:rPr lang="ko-KR" altLang="en-US" sz="1100" dirty="0"/>
                  <a:t>항목 선정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C41A05F-CA94-AD8A-9666-CE33067C8E6D}"/>
                  </a:ext>
                </a:extLst>
              </p:cNvPr>
              <p:cNvSpPr txBox="1"/>
              <p:nvPr/>
            </p:nvSpPr>
            <p:spPr>
              <a:xfrm>
                <a:off x="6905625" y="3491271"/>
                <a:ext cx="2741917" cy="596857"/>
              </a:xfrm>
              <a:prstGeom prst="rect">
                <a:avLst/>
              </a:prstGeom>
              <a:solidFill>
                <a:schemeClr val="bg1"/>
              </a:solidFill>
              <a:ln w="38100" cmpd="tri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72000" rIns="72000" bIns="72000" rtlCol="0" anchor="ctr"/>
              <a:lstStyle>
                <a:defPPr>
                  <a:defRPr lang="en-US"/>
                </a:defPPr>
                <a:lvl1pPr marL="85725" indent="-85725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tabLst>
                    <a:tab pos="92075" algn="l"/>
                  </a:tabLst>
                  <a:defRPr kumimoji="1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Paperlogy-4Regular" pitchFamily="34" charset="-120"/>
                  </a:defRPr>
                </a:lvl1pPr>
                <a:lvl2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ko-KR" dirty="0"/>
                  <a:t>GWA + </a:t>
                </a:r>
                <a:r>
                  <a:rPr lang="ko-KR" altLang="ko-KR" dirty="0" err="1"/>
                  <a:t>O</a:t>
                </a:r>
                <a:r>
                  <a:rPr lang="ko-KR" altLang="ko-KR" dirty="0"/>
                  <a:t>*NET DB 직업별 우선순위 참조 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ko-KR" dirty="0"/>
                  <a:t>한국 직업 특성에 따라 유의미한 GWA 선별</a:t>
                </a: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204139E7-09C0-2433-D4F6-E5B73B893E67}"/>
                </a:ext>
              </a:extLst>
            </p:cNvPr>
            <p:cNvGrpSpPr/>
            <p:nvPr/>
          </p:nvGrpSpPr>
          <p:grpSpPr>
            <a:xfrm>
              <a:off x="5060951" y="4106884"/>
              <a:ext cx="4586591" cy="597445"/>
              <a:chOff x="5060951" y="4279429"/>
              <a:chExt cx="4586591" cy="597445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F8ED81-210B-F4EB-E656-F1EFB67901D6}"/>
                  </a:ext>
                </a:extLst>
              </p:cNvPr>
              <p:cNvSpPr txBox="1"/>
              <p:nvPr/>
            </p:nvSpPr>
            <p:spPr>
              <a:xfrm>
                <a:off x="5060951" y="4280017"/>
                <a:ext cx="1720854" cy="596857"/>
              </a:xfrm>
              <a:prstGeom prst="rect">
                <a:avLst/>
              </a:prstGeom>
              <a:solidFill>
                <a:srgbClr val="DDEBF7"/>
              </a:solidFill>
              <a:ln w="28575" cap="flat" cmpd="sng" algn="ctr">
                <a:solidFill>
                  <a:srgbClr val="71AAE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rtlCol="0" anchor="ctr"/>
              <a:lstStyle>
                <a:defPPr>
                  <a:defRPr lang="en-US"/>
                </a:defPPr>
                <a:lvl1pPr algn="ctr" defTabSz="804838">
                  <a:lnSpc>
                    <a:spcPct val="130000"/>
                  </a:lnSpc>
                  <a:defRPr sz="1200">
                    <a:latin typeface="페이퍼로지 5 Medium" pitchFamily="2" charset="-127"/>
                    <a:ea typeface="페이퍼로지 5 Medium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100" dirty="0"/>
                  <a:t>③ </a:t>
                </a:r>
                <a:r>
                  <a:rPr lang="en-US" altLang="ko-KR" sz="1100" dirty="0"/>
                  <a:t>BARS </a:t>
                </a:r>
                <a:r>
                  <a:rPr lang="ko-KR" altLang="en-US" sz="1100" dirty="0"/>
                  <a:t>행동 척도 선정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86CFFA-FE25-B840-3471-B729200FCFD1}"/>
                  </a:ext>
                </a:extLst>
              </p:cNvPr>
              <p:cNvSpPr txBox="1"/>
              <p:nvPr/>
            </p:nvSpPr>
            <p:spPr>
              <a:xfrm>
                <a:off x="6905625" y="4279429"/>
                <a:ext cx="2741917" cy="596857"/>
              </a:xfrm>
              <a:prstGeom prst="rect">
                <a:avLst/>
              </a:prstGeom>
              <a:solidFill>
                <a:schemeClr val="bg1"/>
              </a:solidFill>
              <a:ln w="38100" cmpd="tri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72000" rIns="72000" bIns="72000" rtlCol="0" anchor="ctr"/>
              <a:lstStyle>
                <a:defPPr>
                  <a:defRPr lang="en-US"/>
                </a:defPPr>
                <a:lvl1pPr marL="85725" indent="-85725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tabLst>
                    <a:tab pos="92075" algn="l"/>
                  </a:tabLst>
                  <a:defRPr kumimoji="1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Paperlogy-4Regular" pitchFamily="34" charset="-120"/>
                  </a:defRPr>
                </a:lvl1pPr>
                <a:lvl2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ko-KR" dirty="0" err="1"/>
                  <a:t>O</a:t>
                </a:r>
                <a:r>
                  <a:rPr lang="ko-KR" altLang="ko-KR" dirty="0"/>
                  <a:t>*NET 41개 GWA 앵커 </a:t>
                </a:r>
                <a:r>
                  <a:rPr lang="ko-KR" altLang="en-US" dirty="0"/>
                  <a:t>기반 </a:t>
                </a:r>
                <a:r>
                  <a:rPr lang="ko-KR" altLang="ko-KR" dirty="0"/>
                  <a:t>전문가 검토 → 한국형 BARS 앵커 확정 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EB2E8D8F-5ABC-CA23-DE96-5460644F19E5}"/>
                </a:ext>
              </a:extLst>
            </p:cNvPr>
            <p:cNvGrpSpPr/>
            <p:nvPr/>
          </p:nvGrpSpPr>
          <p:grpSpPr>
            <a:xfrm>
              <a:off x="5060951" y="4810912"/>
              <a:ext cx="4586591" cy="597444"/>
              <a:chOff x="5060951" y="5067587"/>
              <a:chExt cx="4586591" cy="597444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6CC40C-C7FE-7C29-E128-ABCD3241BD0A}"/>
                  </a:ext>
                </a:extLst>
              </p:cNvPr>
              <p:cNvSpPr txBox="1"/>
              <p:nvPr/>
            </p:nvSpPr>
            <p:spPr>
              <a:xfrm>
                <a:off x="5060951" y="5068174"/>
                <a:ext cx="1720854" cy="596857"/>
              </a:xfrm>
              <a:prstGeom prst="rect">
                <a:avLst/>
              </a:prstGeom>
              <a:solidFill>
                <a:srgbClr val="DDEBF7"/>
              </a:solidFill>
              <a:ln w="28575" cap="flat" cmpd="sng" algn="ctr">
                <a:solidFill>
                  <a:srgbClr val="71AAE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rtlCol="0" anchor="ctr"/>
              <a:lstStyle>
                <a:defPPr>
                  <a:defRPr lang="en-US"/>
                </a:defPPr>
                <a:lvl1pPr algn="ctr" defTabSz="804838">
                  <a:lnSpc>
                    <a:spcPct val="130000"/>
                  </a:lnSpc>
                  <a:defRPr sz="1200">
                    <a:latin typeface="페이퍼로지 5 Medium" pitchFamily="2" charset="-127"/>
                    <a:ea typeface="페이퍼로지 5 Medium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100" dirty="0"/>
                  <a:t>④</a:t>
                </a:r>
                <a:r>
                  <a:rPr lang="en-US" altLang="ko-KR" sz="1100" dirty="0"/>
                  <a:t> </a:t>
                </a:r>
                <a:r>
                  <a:rPr lang="ko-KR" altLang="en-US" sz="1100" dirty="0"/>
                  <a:t>전문가 평정 실시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63DA6D9-0FF6-B694-A940-95B27957CD9C}"/>
                  </a:ext>
                </a:extLst>
              </p:cNvPr>
              <p:cNvSpPr txBox="1"/>
              <p:nvPr/>
            </p:nvSpPr>
            <p:spPr>
              <a:xfrm>
                <a:off x="6905625" y="5067587"/>
                <a:ext cx="2741917" cy="596857"/>
              </a:xfrm>
              <a:prstGeom prst="rect">
                <a:avLst/>
              </a:prstGeom>
              <a:solidFill>
                <a:schemeClr val="bg1"/>
              </a:solidFill>
              <a:ln w="38100" cmpd="tri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72000" rIns="72000" bIns="72000" rtlCol="0" anchor="ctr"/>
              <a:lstStyle>
                <a:defPPr>
                  <a:defRPr lang="en-US"/>
                </a:defPPr>
                <a:lvl1pPr marL="85725" indent="-85725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tabLst>
                    <a:tab pos="92075" algn="l"/>
                  </a:tabLst>
                  <a:defRPr kumimoji="1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Paperlogy-4Regular" pitchFamily="34" charset="-120"/>
                  </a:defRPr>
                </a:lvl1pPr>
                <a:lvl2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ko-KR" dirty="0"/>
                  <a:t>시범 대상 직업별 GWA 평정 </a:t>
                </a: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/>
                  <a:t>  - </a:t>
                </a:r>
                <a:r>
                  <a:rPr lang="ko-KR" altLang="ko-KR" dirty="0"/>
                  <a:t>수준(0~7)</a:t>
                </a:r>
                <a:r>
                  <a:rPr lang="en-US" altLang="ko-KR" dirty="0"/>
                  <a:t>, </a:t>
                </a:r>
                <a:r>
                  <a:rPr lang="ko-KR" altLang="ko-KR" dirty="0"/>
                  <a:t> 중요도(1~5) 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ko-KR" dirty="0"/>
                  <a:t>정량 분석 + 전문가 정성 평가 이중 검증 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9691E71-DD19-03E0-3984-D209E0974D52}"/>
                </a:ext>
              </a:extLst>
            </p:cNvPr>
            <p:cNvGrpSpPr/>
            <p:nvPr/>
          </p:nvGrpSpPr>
          <p:grpSpPr>
            <a:xfrm>
              <a:off x="5060951" y="5514940"/>
              <a:ext cx="4586591" cy="597445"/>
              <a:chOff x="5060951" y="5557315"/>
              <a:chExt cx="4586591" cy="597445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778DDD3-C4D5-DC7D-4580-45E2842773C9}"/>
                  </a:ext>
                </a:extLst>
              </p:cNvPr>
              <p:cNvSpPr txBox="1"/>
              <p:nvPr/>
            </p:nvSpPr>
            <p:spPr>
              <a:xfrm>
                <a:off x="5060951" y="5557903"/>
                <a:ext cx="1720854" cy="596857"/>
              </a:xfrm>
              <a:prstGeom prst="rect">
                <a:avLst/>
              </a:prstGeom>
              <a:solidFill>
                <a:srgbClr val="DDEBF7"/>
              </a:solidFill>
              <a:ln w="28575" cap="flat" cmpd="sng" algn="ctr">
                <a:solidFill>
                  <a:srgbClr val="71AAE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rtlCol="0" anchor="ctr"/>
              <a:lstStyle>
                <a:defPPr>
                  <a:defRPr lang="en-US"/>
                </a:defPPr>
                <a:lvl1pPr algn="ctr" defTabSz="804838">
                  <a:lnSpc>
                    <a:spcPct val="130000"/>
                  </a:lnSpc>
                  <a:defRPr sz="1200">
                    <a:latin typeface="페이퍼로지 5 Medium" pitchFamily="2" charset="-127"/>
                    <a:ea typeface="페이퍼로지 5 Medium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100" dirty="0"/>
                  <a:t>⑤ 결과 분석 및 보완</a:t>
                </a:r>
                <a:r>
                  <a:rPr lang="en-US" altLang="ko-KR" sz="1100" dirty="0"/>
                  <a:t> ·</a:t>
                </a:r>
                <a:r>
                  <a:rPr lang="ko-KR" altLang="en-US" sz="1100" dirty="0"/>
                  <a:t>확정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6EF320-5620-812E-C14A-108BF1B044CC}"/>
                  </a:ext>
                </a:extLst>
              </p:cNvPr>
              <p:cNvSpPr txBox="1"/>
              <p:nvPr/>
            </p:nvSpPr>
            <p:spPr>
              <a:xfrm>
                <a:off x="6905625" y="5557315"/>
                <a:ext cx="2741917" cy="596857"/>
              </a:xfrm>
              <a:prstGeom prst="rect">
                <a:avLst/>
              </a:prstGeom>
              <a:solidFill>
                <a:schemeClr val="bg1"/>
              </a:solidFill>
              <a:ln w="38100" cmpd="tri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72000" rIns="72000" bIns="72000" rtlCol="0" anchor="ctr"/>
              <a:lstStyle>
                <a:defPPr>
                  <a:defRPr lang="en-US"/>
                </a:defPPr>
                <a:lvl1pPr marL="85725" indent="-85725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tabLst>
                    <a:tab pos="92075" algn="l"/>
                  </a:tabLst>
                  <a:defRPr kumimoji="1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Paperlogy-4Regular" pitchFamily="34" charset="-120"/>
                  </a:defRPr>
                </a:lvl1pPr>
                <a:lvl2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en-US" dirty="0"/>
                  <a:t>직업</a:t>
                </a:r>
                <a:r>
                  <a:rPr lang="en-US" altLang="ko-KR" dirty="0"/>
                  <a:t> - GWA </a:t>
                </a:r>
                <a:r>
                  <a:rPr lang="ko-KR" altLang="en-US" dirty="0"/>
                  <a:t>매트릭스 데이터 구축 및 분석</a:t>
                </a:r>
                <a:endParaRPr lang="en-US" altLang="ko-KR" dirty="0"/>
              </a:p>
              <a:p>
                <a:pPr>
                  <a:lnSpc>
                    <a:spcPct val="100000"/>
                  </a:lnSpc>
                </a:pPr>
                <a:r>
                  <a:rPr lang="ko-KR" altLang="en-US" dirty="0"/>
                  <a:t>직업 간 유사도 및 분류체계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변별력 검증</a:t>
                </a:r>
                <a:endParaRPr lang="en-US" altLang="ko-KR" dirty="0"/>
              </a:p>
              <a:p>
                <a:pPr>
                  <a:lnSpc>
                    <a:spcPct val="100000"/>
                  </a:lnSpc>
                </a:pPr>
                <a:r>
                  <a:rPr lang="en-US" altLang="ko-KR" dirty="0"/>
                  <a:t>SLF </a:t>
                </a:r>
                <a:r>
                  <a:rPr lang="ko-KR" altLang="en-US" dirty="0"/>
                  <a:t>기반 직능수준 재정렬 검토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및 신규 직업 탐지 가능성 검토</a:t>
                </a:r>
                <a:endParaRPr lang="en-US" altLang="ko-K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4327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C4CAD-A291-E872-AF56-2BAA1144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72D634-BBF3-5EA5-3623-336F6E3617C6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B6048-91D5-8FFF-D80E-92468B841D73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41C5EBF-6CAC-B479-F946-7051AD80EAC2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385D1E-3B70-374B-3A3D-5216D53D982C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515EE88-F838-19A7-BF28-D4C1D3EE62B3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B95314C-D8F8-3C5E-D30F-D2EA1196D9F2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B9E272E-980B-A40A-15A8-B36072C780A8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E462DAB-7572-E05D-D6E6-B587E92EC889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7F8692D-80A5-B096-0476-166DDFF2722E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DB4F365-08CF-D320-FF5F-DB0F3970BD09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A84FD-C1E6-17CC-9903-915EC6D428B5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검증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92579F-7085-3216-5894-C3EE68EDF951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GWA </a:t>
            </a:r>
            <a:r>
              <a:rPr lang="ko-KR" altLang="en-US" dirty="0"/>
              <a:t>평정 결과를 기반으로 직업 간 유사도 분석 및 분류체계 검증 시뮬레이션을 통해 「직업정보 </a:t>
            </a:r>
            <a:r>
              <a:rPr lang="ko-KR" altLang="en-US" dirty="0" err="1"/>
              <a:t>프레임워크」의</a:t>
            </a:r>
            <a:r>
              <a:rPr lang="ko-KR" altLang="en-US" dirty="0"/>
              <a:t> </a:t>
            </a:r>
            <a:r>
              <a:rPr lang="ko-KR" altLang="en-US"/>
              <a:t>변별력을 검증하고</a:t>
            </a:r>
            <a:r>
              <a:rPr lang="en-US" altLang="ko-KR" dirty="0"/>
              <a:t>, </a:t>
            </a:r>
            <a:r>
              <a:rPr lang="ko-KR" altLang="en-US" dirty="0"/>
              <a:t>프레임워크 구성요소 및 </a:t>
            </a:r>
            <a:r>
              <a:rPr lang="ko-KR" altLang="en-US"/>
              <a:t>체계를 보완</a:t>
            </a:r>
            <a:r>
              <a:rPr lang="en-US" altLang="ko-KR" dirty="0"/>
              <a:t>·</a:t>
            </a:r>
            <a:r>
              <a:rPr lang="ko-KR" altLang="en-US"/>
              <a:t>확정할 계획임</a:t>
            </a:r>
            <a:r>
              <a:rPr lang="en-US" altLang="ko-KR" dirty="0"/>
              <a:t>.</a:t>
            </a:r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8B12DC8A-3A47-76FC-15CA-A33FD0C1C314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en-US"/>
            </a:defPPr>
            <a:lvl1pPr defTabSz="914400">
              <a:defRPr sz="160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 dirty="0"/>
              <a:t>① 직업 간 유사도 분석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8CF1220-4C93-6C71-8406-8A5696AD7496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46">
            <a:extLst>
              <a:ext uri="{FF2B5EF4-FFF2-40B4-BE49-F238E27FC236}">
                <a16:creationId xmlns:a16="http://schemas.microsoft.com/office/drawing/2014/main" id="{56C020E4-336B-28D7-7E32-8510FF3355AF}"/>
              </a:ext>
            </a:extLst>
          </p:cNvPr>
          <p:cNvSpPr txBox="1"/>
          <p:nvPr/>
        </p:nvSpPr>
        <p:spPr>
          <a:xfrm>
            <a:off x="5060952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en-US"/>
            </a:defPPr>
            <a:lvl1pPr defTabSz="914400">
              <a:defRPr sz="160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 dirty="0"/>
              <a:t>② 분류체계 검증</a:t>
            </a:r>
            <a:endParaRPr lang="en-US" altLang="ko-KR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3AB44F1-E78C-F6F4-C761-4F2FF4B76138}"/>
              </a:ext>
            </a:extLst>
          </p:cNvPr>
          <p:cNvCxnSpPr>
            <a:cxnSpLocks/>
          </p:cNvCxnSpPr>
          <p:nvPr/>
        </p:nvCxnSpPr>
        <p:spPr>
          <a:xfrm>
            <a:off x="5060952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001AD48-D60B-9EB4-4377-33E4699EE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981929"/>
              </p:ext>
            </p:extLst>
          </p:nvPr>
        </p:nvGraphicFramePr>
        <p:xfrm>
          <a:off x="236538" y="2269738"/>
          <a:ext cx="4608512" cy="1824768"/>
        </p:xfrm>
        <a:graphic>
          <a:graphicData uri="http://schemas.openxmlformats.org/drawingml/2006/table">
            <a:tbl>
              <a:tblPr/>
              <a:tblGrid>
                <a:gridCol w="712500">
                  <a:extLst>
                    <a:ext uri="{9D8B030D-6E8A-4147-A177-3AD203B41FA5}">
                      <a16:colId xmlns:a16="http://schemas.microsoft.com/office/drawing/2014/main" val="3713719544"/>
                    </a:ext>
                  </a:extLst>
                </a:gridCol>
                <a:gridCol w="3896012">
                  <a:extLst>
                    <a:ext uri="{9D8B030D-6E8A-4147-A177-3AD203B41FA5}">
                      <a16:colId xmlns:a16="http://schemas.microsoft.com/office/drawing/2014/main" val="3788319754"/>
                    </a:ext>
                  </a:extLst>
                </a:gridCol>
              </a:tblGrid>
              <a:tr h="12697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항목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  <a:endParaRPr lang="en-US" altLang="ko-KR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86243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시범 대상 직업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× GWA Matrix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9036"/>
                  </a:ext>
                </a:extLst>
              </a:tr>
              <a:tr h="43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방법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직무활동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(Activity)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벡터 기반 코사인 유사도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군집 분석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(HDBSCAN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등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568878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산출물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간 거리 매트릭스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유사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군집 결과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165362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결과 활용 방안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유사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군집 식별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신규 직업의 기능적 위치 파악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간 경계 검증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48594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9ACDC8FD-6E27-3804-409B-0E3FD5A06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94" y="4451632"/>
            <a:ext cx="3797935" cy="1821136"/>
          </a:xfrm>
          <a:prstGeom prst="rect">
            <a:avLst/>
          </a:prstGeom>
        </p:spPr>
      </p:pic>
      <p:sp>
        <p:nvSpPr>
          <p:cNvPr id="13" name="TextBox 246">
            <a:extLst>
              <a:ext uri="{FF2B5EF4-FFF2-40B4-BE49-F238E27FC236}">
                <a16:creationId xmlns:a16="http://schemas.microsoft.com/office/drawing/2014/main" id="{4432B48D-C6CB-8313-C2C4-2D78188154BF}"/>
              </a:ext>
            </a:extLst>
          </p:cNvPr>
          <p:cNvSpPr txBox="1"/>
          <p:nvPr/>
        </p:nvSpPr>
        <p:spPr>
          <a:xfrm>
            <a:off x="243781" y="2039129"/>
            <a:ext cx="4601266" cy="23734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분석 방법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TextBox 246">
            <a:extLst>
              <a:ext uri="{FF2B5EF4-FFF2-40B4-BE49-F238E27FC236}">
                <a16:creationId xmlns:a16="http://schemas.microsoft.com/office/drawing/2014/main" id="{B0E467D0-F8F0-950D-1DDF-736EF1D9ADE2}"/>
              </a:ext>
            </a:extLst>
          </p:cNvPr>
          <p:cNvSpPr txBox="1"/>
          <p:nvPr/>
        </p:nvSpPr>
        <p:spPr>
          <a:xfrm>
            <a:off x="243781" y="4170530"/>
            <a:ext cx="4601266" cy="23734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분석 결과 예시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31B6581-EC1A-AE45-F114-0392EECC0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141718"/>
              </p:ext>
            </p:extLst>
          </p:nvPr>
        </p:nvGraphicFramePr>
        <p:xfrm>
          <a:off x="5053710" y="2269738"/>
          <a:ext cx="4608512" cy="1824768"/>
        </p:xfrm>
        <a:graphic>
          <a:graphicData uri="http://schemas.openxmlformats.org/drawingml/2006/table">
            <a:tbl>
              <a:tblPr/>
              <a:tblGrid>
                <a:gridCol w="712500">
                  <a:extLst>
                    <a:ext uri="{9D8B030D-6E8A-4147-A177-3AD203B41FA5}">
                      <a16:colId xmlns:a16="http://schemas.microsoft.com/office/drawing/2014/main" val="3713719544"/>
                    </a:ext>
                  </a:extLst>
                </a:gridCol>
                <a:gridCol w="3896012">
                  <a:extLst>
                    <a:ext uri="{9D8B030D-6E8A-4147-A177-3AD203B41FA5}">
                      <a16:colId xmlns:a16="http://schemas.microsoft.com/office/drawing/2014/main" val="3788319754"/>
                    </a:ext>
                  </a:extLst>
                </a:gridCol>
              </a:tblGrid>
              <a:tr h="12697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항목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  <a:endParaRPr lang="en-US" altLang="ko-KR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86243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분석 ① 직업 간 유사도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및 군집 분석 결과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 KSCO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 구조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9036"/>
                  </a:ext>
                </a:extLst>
              </a:tr>
              <a:tr h="43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방법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내부 동질성 검토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간 경계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중복 검증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568878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산출물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정합성 평가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직능수준 개편 필요성 도출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165362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결과 활용 방안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정합성 평가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재구성 가능성 검토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분류체계 개편 권고 도출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48594"/>
                  </a:ext>
                </a:extLst>
              </a:tr>
            </a:tbl>
          </a:graphicData>
        </a:graphic>
      </p:graphicFrame>
      <p:sp>
        <p:nvSpPr>
          <p:cNvPr id="17" name="TextBox 246">
            <a:extLst>
              <a:ext uri="{FF2B5EF4-FFF2-40B4-BE49-F238E27FC236}">
                <a16:creationId xmlns:a16="http://schemas.microsoft.com/office/drawing/2014/main" id="{DF416B99-193A-C865-625E-4F528F09C381}"/>
              </a:ext>
            </a:extLst>
          </p:cNvPr>
          <p:cNvSpPr txBox="1"/>
          <p:nvPr/>
        </p:nvSpPr>
        <p:spPr>
          <a:xfrm>
            <a:off x="5060953" y="2039129"/>
            <a:ext cx="4601266" cy="23734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분석 방법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TextBox 246">
            <a:extLst>
              <a:ext uri="{FF2B5EF4-FFF2-40B4-BE49-F238E27FC236}">
                <a16:creationId xmlns:a16="http://schemas.microsoft.com/office/drawing/2014/main" id="{BCA63BEC-8DA1-F5CA-F82B-7CE5A2DE76E8}"/>
              </a:ext>
            </a:extLst>
          </p:cNvPr>
          <p:cNvSpPr txBox="1"/>
          <p:nvPr/>
        </p:nvSpPr>
        <p:spPr>
          <a:xfrm>
            <a:off x="5060953" y="4170530"/>
            <a:ext cx="4601266" cy="23734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분석 결과 예시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C5312A6-DD0D-E429-C0EE-B6D05469A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541" y="4451632"/>
            <a:ext cx="4360232" cy="191072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AEE290B-CF07-A372-E6DF-D8D3866639EB}"/>
              </a:ext>
            </a:extLst>
          </p:cNvPr>
          <p:cNvSpPr txBox="1"/>
          <p:nvPr/>
        </p:nvSpPr>
        <p:spPr>
          <a:xfrm>
            <a:off x="142102" y="6269663"/>
            <a:ext cx="66170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페이퍼로지 3 Light" pitchFamily="2" charset="-127"/>
                <a:ea typeface="페이퍼로지 3 Light" pitchFamily="2" charset="-127"/>
              </a:rPr>
              <a:t>※ </a:t>
            </a:r>
            <a:r>
              <a:rPr lang="ko-KR" altLang="en-US" sz="700" dirty="0">
                <a:latin typeface="페이퍼로지 3 Light" pitchFamily="2" charset="-127"/>
                <a:ea typeface="페이퍼로지 3 Light" pitchFamily="2" charset="-127"/>
              </a:rPr>
              <a:t>본 도식의 수치는 예시이며</a:t>
            </a:r>
            <a:r>
              <a:rPr lang="en-US" altLang="ko-KR" sz="700" dirty="0">
                <a:latin typeface="페이퍼로지 3 Light" pitchFamily="2" charset="-127"/>
                <a:ea typeface="페이퍼로지 3 Light" pitchFamily="2" charset="-127"/>
              </a:rPr>
              <a:t>, </a:t>
            </a:r>
            <a:r>
              <a:rPr lang="ko-KR" altLang="en-US" sz="700" dirty="0">
                <a:latin typeface="페이퍼로지 3 Light" pitchFamily="2" charset="-127"/>
                <a:ea typeface="페이퍼로지 3 Light" pitchFamily="2" charset="-127"/>
              </a:rPr>
              <a:t>실제 분석 결과는 시뮬레이션 수행 후 산출 예정</a:t>
            </a:r>
            <a:endParaRPr lang="en-US" altLang="ko-KR" sz="700" dirty="0">
              <a:latin typeface="페이퍼로지 3 Light" pitchFamily="2" charset="-127"/>
              <a:ea typeface="페이퍼로지 3 Light" pitchFamily="2" charset="-127"/>
            </a:endParaRPr>
          </a:p>
          <a:p>
            <a:r>
              <a:rPr lang="en-US" altLang="ko-KR" sz="700" dirty="0">
                <a:latin typeface="페이퍼로지 3 Light" pitchFamily="2" charset="-127"/>
                <a:ea typeface="페이퍼로지 3 Light" pitchFamily="2" charset="-127"/>
              </a:rPr>
              <a:t>※ </a:t>
            </a:r>
            <a:r>
              <a:rPr lang="ko-KR" altLang="en-US" sz="700" dirty="0">
                <a:latin typeface="페이퍼로지 3 Light" pitchFamily="2" charset="-127"/>
                <a:ea typeface="페이퍼로지 3 Light" pitchFamily="2" charset="-127"/>
              </a:rPr>
              <a:t>정량</a:t>
            </a:r>
            <a:r>
              <a:rPr lang="en-US" altLang="ko-KR" sz="700" dirty="0">
                <a:latin typeface="페이퍼로지 3 Light" pitchFamily="2" charset="-127"/>
                <a:ea typeface="페이퍼로지 3 Light" pitchFamily="2" charset="-127"/>
              </a:rPr>
              <a:t>·</a:t>
            </a:r>
            <a:r>
              <a:rPr lang="ko-KR" altLang="en-US" sz="700" dirty="0">
                <a:latin typeface="페이퍼로지 3 Light" pitchFamily="2" charset="-127"/>
                <a:ea typeface="페이퍼로지 3 Light" pitchFamily="2" charset="-127"/>
              </a:rPr>
              <a:t>정성 이중 검증을 통해 분류체계 개편 권고안 및 직업정보 프레임워크 최종안 도출 예정</a:t>
            </a:r>
          </a:p>
        </p:txBody>
      </p:sp>
    </p:spTree>
    <p:extLst>
      <p:ext uri="{BB962C8B-B14F-4D97-AF65-F5344CB8AC3E}">
        <p14:creationId xmlns:p14="http://schemas.microsoft.com/office/powerpoint/2010/main" val="2652178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584A5-D6BF-3D7D-1343-81717E65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2E4BB32-AF27-3AFE-8786-E75EB985C860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36F13-BEE8-8FAF-194D-FB11FD11C830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537F8FC-8645-9907-B0C4-76C6FBBD41D6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DAD23AD-A64D-4EF5-3480-8EDE4F11AB9A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5A1BDF5-1CA8-2101-8919-5FBD51D89547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6BA5D5D-7818-AFF9-426F-43B568567F6F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605C67A-AA12-BD49-303A-1652AA0464C0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2D96500-5C02-1EA1-0472-42528355A29D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CB786C1-1C8E-99EF-0DB0-3D1B67AEC044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39C7327-248A-4563-6AB3-34B52C4E1447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9E248-AA14-D762-AF07-CD7AABCC55FF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직업분류 고도화 활용 방안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EC27F05-A5CF-0111-7114-8A3EB2D8B0E7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본 직업정보 프레임워크 데이터를 기반으로 ① 분류체계 구조 검증 ② </a:t>
            </a:r>
            <a:r>
              <a:rPr lang="en-US" altLang="ko-KR" dirty="0"/>
              <a:t>SLF </a:t>
            </a:r>
            <a:r>
              <a:rPr lang="ko-KR" altLang="en-US" dirty="0"/>
              <a:t>기반 직능수준 재정렬 ③ 신생 직업 탐지</a:t>
            </a:r>
            <a:r>
              <a:rPr lang="en-US" altLang="ko-KR" dirty="0"/>
              <a:t>·</a:t>
            </a:r>
            <a:r>
              <a:rPr lang="ko-KR" altLang="en-US" dirty="0"/>
              <a:t>반영 ④ </a:t>
            </a:r>
            <a:r>
              <a:rPr lang="en-US" altLang="ko-KR" dirty="0"/>
              <a:t>KSCO </a:t>
            </a:r>
            <a:r>
              <a:rPr lang="ko-KR" altLang="en-US" dirty="0"/>
              <a:t>개정의 실증적</a:t>
            </a:r>
            <a:r>
              <a:rPr lang="en-US" altLang="ko-KR" dirty="0"/>
              <a:t>·</a:t>
            </a:r>
            <a:r>
              <a:rPr lang="ko-KR" altLang="en-US" dirty="0"/>
              <a:t>정량적 근거 마련 등 </a:t>
            </a:r>
            <a:r>
              <a:rPr lang="ko-KR" altLang="en-US" b="1" dirty="0"/>
              <a:t>직업분류 고도화 방안을 제시할 계획임</a:t>
            </a:r>
            <a:r>
              <a:rPr lang="en-US" altLang="ko-KR" dirty="0"/>
              <a:t>.</a:t>
            </a:r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3830CD53-F70A-AC0A-CB4C-698C4C5DFB5B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en-US"/>
            </a:defPPr>
            <a:lvl1pPr defTabSz="914400">
              <a:defRPr sz="160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 dirty="0"/>
              <a:t>직업분류 고도화 활용 방안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B04DEEB-257D-F6E1-CD93-5D9BBF1A2E72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EB9E3B-B4B9-5F73-54DD-E84EFE11CAE3}"/>
              </a:ext>
            </a:extLst>
          </p:cNvPr>
          <p:cNvSpPr txBox="1"/>
          <p:nvPr/>
        </p:nvSpPr>
        <p:spPr>
          <a:xfrm>
            <a:off x="2591752" y="2601661"/>
            <a:ext cx="4380548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85725" indent="-8572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dirty="0"/>
              <a:t>직업 </a:t>
            </a:r>
            <a:r>
              <a:rPr lang="en-US" altLang="ko-KR" sz="1200" dirty="0"/>
              <a:t>× Activity Matrix → </a:t>
            </a:r>
            <a:r>
              <a:rPr lang="ko-KR" altLang="en-US" sz="1200" dirty="0"/>
              <a:t>코사인 유사도</a:t>
            </a:r>
            <a:r>
              <a:rPr lang="en-US" altLang="ko-KR" sz="1200" dirty="0"/>
              <a:t>·</a:t>
            </a:r>
            <a:r>
              <a:rPr lang="ko-KR" altLang="en-US" sz="1200" dirty="0"/>
              <a:t>군집 분석</a:t>
            </a:r>
            <a:endParaRPr lang="en-US" altLang="ko-K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F046F-3AA4-2F67-7917-D5A288D01A28}"/>
              </a:ext>
            </a:extLst>
          </p:cNvPr>
          <p:cNvSpPr txBox="1"/>
          <p:nvPr/>
        </p:nvSpPr>
        <p:spPr>
          <a:xfrm>
            <a:off x="236538" y="2601661"/>
            <a:ext cx="2179380" cy="845745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/>
              <a:t>① 표준직업분류체계 구조 검증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20D2B1-E204-3DC5-0254-7B295DA2D754}"/>
              </a:ext>
            </a:extLst>
          </p:cNvPr>
          <p:cNvSpPr txBox="1"/>
          <p:nvPr/>
        </p:nvSpPr>
        <p:spPr>
          <a:xfrm>
            <a:off x="236538" y="3599459"/>
            <a:ext cx="2179380" cy="845744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/>
              <a:t>② </a:t>
            </a:r>
            <a:r>
              <a:rPr lang="en-US" altLang="ko-KR" dirty="0"/>
              <a:t>ISCO-28 SFL(</a:t>
            </a:r>
            <a:r>
              <a:rPr lang="ko-KR" altLang="en-US" dirty="0"/>
              <a:t>직능수준</a:t>
            </a:r>
            <a:r>
              <a:rPr lang="en-US" altLang="ko-KR" dirty="0"/>
              <a:t>) </a:t>
            </a:r>
            <a:r>
              <a:rPr lang="ko-KR" altLang="en-US" dirty="0"/>
              <a:t>기반 직능수준 재정렬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D26AA-D14B-4636-D029-1507E9028538}"/>
              </a:ext>
            </a:extLst>
          </p:cNvPr>
          <p:cNvSpPr txBox="1"/>
          <p:nvPr/>
        </p:nvSpPr>
        <p:spPr>
          <a:xfrm>
            <a:off x="2591752" y="3603034"/>
            <a:ext cx="4380548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 dirty="0"/>
              <a:t>SLF 4</a:t>
            </a:r>
            <a:r>
              <a:rPr lang="ko-KR" altLang="en-US" sz="1200" dirty="0"/>
              <a:t>요소 산정 </a:t>
            </a:r>
            <a:r>
              <a:rPr lang="en-US" altLang="ko-KR" sz="1200" dirty="0"/>
              <a:t>(</a:t>
            </a:r>
            <a:r>
              <a:rPr lang="ko-KR" altLang="en-US" sz="1200" dirty="0"/>
              <a:t>교육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책무성</a:t>
            </a:r>
            <a:r>
              <a:rPr lang="en-US" altLang="ko-KR" sz="1200" dirty="0"/>
              <a:t>·</a:t>
            </a:r>
            <a:r>
              <a:rPr lang="ko-KR" altLang="en-US" sz="1200" dirty="0"/>
              <a:t>경험</a:t>
            </a:r>
            <a:r>
              <a:rPr lang="en-US" altLang="ko-KR" sz="1200" dirty="0"/>
              <a:t>·WBL)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/>
              <a:t>  - </a:t>
            </a:r>
            <a:r>
              <a:rPr lang="ko-KR" altLang="en-US" sz="1200" dirty="0"/>
              <a:t>기존 정보 활용 </a:t>
            </a:r>
            <a:r>
              <a:rPr lang="en-US" altLang="ko-KR" sz="1200" dirty="0"/>
              <a:t>: </a:t>
            </a:r>
            <a:r>
              <a:rPr lang="ko-KR" altLang="en-US" sz="1200" dirty="0"/>
              <a:t>교육</a:t>
            </a:r>
            <a:r>
              <a:rPr lang="en-US" altLang="ko-KR" sz="1200" dirty="0"/>
              <a:t>, </a:t>
            </a:r>
            <a:r>
              <a:rPr lang="ko-KR" altLang="en-US" sz="1200" dirty="0"/>
              <a:t>경험</a:t>
            </a:r>
            <a:r>
              <a:rPr lang="en-US" altLang="ko-KR" sz="1200" dirty="0"/>
              <a:t>, WBL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/>
              <a:t>  - </a:t>
            </a:r>
            <a:r>
              <a:rPr lang="ko-KR" altLang="en-US" sz="1200" dirty="0" err="1"/>
              <a:t>책무성</a:t>
            </a:r>
            <a:r>
              <a:rPr lang="en-US" altLang="ko-KR" sz="1200" dirty="0"/>
              <a:t>(Responsibility) : Activity </a:t>
            </a:r>
            <a:r>
              <a:rPr lang="en-US" altLang="ko-KR" sz="1200" dirty="0" err="1"/>
              <a:t>Martix</a:t>
            </a:r>
            <a:r>
              <a:rPr lang="en-US" altLang="ko-KR" sz="1200" dirty="0"/>
              <a:t> </a:t>
            </a:r>
            <a:r>
              <a:rPr lang="ko-KR" altLang="en-US" sz="1200" dirty="0"/>
              <a:t>기반 </a:t>
            </a:r>
            <a:r>
              <a:rPr lang="en-US" altLang="ko-KR" sz="1200" dirty="0"/>
              <a:t>(GWA </a:t>
            </a:r>
            <a:r>
              <a:rPr lang="ko-KR" altLang="en-US" sz="1200" dirty="0"/>
              <a:t>점수 → 업무 복잡성</a:t>
            </a:r>
            <a:r>
              <a:rPr lang="en-US" altLang="ko-KR" sz="1200" dirty="0"/>
              <a:t>·</a:t>
            </a:r>
            <a:r>
              <a:rPr lang="ko-KR" altLang="en-US" sz="1200" dirty="0"/>
              <a:t>자율성 → 책임성 수준</a:t>
            </a:r>
            <a:r>
              <a:rPr lang="en-US" altLang="ko-KR" sz="1200" dirty="0"/>
              <a:t>) </a:t>
            </a:r>
            <a:endParaRPr lang="ko-KR" altLang="ko-KR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4484A4-FBB8-E114-503F-0BE3955FD234}"/>
              </a:ext>
            </a:extLst>
          </p:cNvPr>
          <p:cNvSpPr txBox="1"/>
          <p:nvPr/>
        </p:nvSpPr>
        <p:spPr>
          <a:xfrm>
            <a:off x="236538" y="4601665"/>
            <a:ext cx="2179380" cy="845743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/>
              <a:t>③ 신생 직업 탐지</a:t>
            </a:r>
            <a:r>
              <a:rPr lang="en-US" altLang="ko-KR" dirty="0"/>
              <a:t>·</a:t>
            </a:r>
            <a:r>
              <a:rPr lang="ko-KR" altLang="en-US" dirty="0"/>
              <a:t>반영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AA585F-35D4-C4C7-BD2A-A567C0BB4D19}"/>
              </a:ext>
            </a:extLst>
          </p:cNvPr>
          <p:cNvSpPr txBox="1"/>
          <p:nvPr/>
        </p:nvSpPr>
        <p:spPr>
          <a:xfrm>
            <a:off x="2591752" y="4600831"/>
            <a:ext cx="4380548" cy="845743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200" dirty="0"/>
              <a:t>채용공고</a:t>
            </a:r>
            <a:r>
              <a:rPr lang="en-US" altLang="ko-KR" sz="1200" dirty="0"/>
              <a:t>·</a:t>
            </a:r>
            <a:r>
              <a:rPr lang="ko-KR" altLang="en-US" sz="1200" dirty="0"/>
              <a:t>산업자료 등 산업현장 데이터 활용 </a:t>
            </a:r>
            <a:r>
              <a:rPr lang="en-US" altLang="ko-KR" sz="1200" dirty="0"/>
              <a:t>Activity </a:t>
            </a:r>
            <a:r>
              <a:rPr lang="ko-KR" altLang="en-US" sz="1200" dirty="0"/>
              <a:t>단위 직업 탐지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기존 </a:t>
            </a:r>
            <a:r>
              <a:rPr lang="en-US" altLang="ko-KR" sz="1200" dirty="0"/>
              <a:t>Activity</a:t>
            </a:r>
            <a:r>
              <a:rPr lang="ko-KR" altLang="en-US" sz="1200" dirty="0"/>
              <a:t>로 설명되지 않는 직무활동 패턴 분석</a:t>
            </a:r>
            <a:endParaRPr lang="en-US" altLang="ko-KR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CD21E7-F9A7-E7BD-0604-57D313A8CFD0}"/>
              </a:ext>
            </a:extLst>
          </p:cNvPr>
          <p:cNvSpPr txBox="1"/>
          <p:nvPr/>
        </p:nvSpPr>
        <p:spPr>
          <a:xfrm>
            <a:off x="236538" y="5607444"/>
            <a:ext cx="2179380" cy="845744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/>
              <a:t>④</a:t>
            </a:r>
            <a:r>
              <a:rPr lang="en-US" altLang="ko-KR" dirty="0"/>
              <a:t> KSCO </a:t>
            </a:r>
            <a:r>
              <a:rPr lang="ko-KR" altLang="en-US" dirty="0"/>
              <a:t>개정 근거 데이터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673F69-2ED2-8417-A2A7-DD8CB3EA061D}"/>
              </a:ext>
            </a:extLst>
          </p:cNvPr>
          <p:cNvSpPr txBox="1"/>
          <p:nvPr/>
        </p:nvSpPr>
        <p:spPr>
          <a:xfrm>
            <a:off x="2591752" y="5606612"/>
            <a:ext cx="4380548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ko-KR" sz="1200" dirty="0"/>
              <a:t>시범 대상 직업별 GWA 평정 </a:t>
            </a: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/>
              <a:t>  - </a:t>
            </a:r>
            <a:r>
              <a:rPr lang="ko-KR" altLang="ko-KR" sz="1200" dirty="0"/>
              <a:t>수준(0~7)</a:t>
            </a:r>
            <a:r>
              <a:rPr lang="en-US" altLang="ko-KR" sz="1200" dirty="0"/>
              <a:t>, </a:t>
            </a:r>
            <a:r>
              <a:rPr lang="ko-KR" altLang="ko-KR" sz="1200" dirty="0"/>
              <a:t> 중요도(1~5) </a:t>
            </a:r>
          </a:p>
          <a:p>
            <a:pPr>
              <a:lnSpc>
                <a:spcPct val="100000"/>
              </a:lnSpc>
            </a:pPr>
            <a:r>
              <a:rPr lang="ko-KR" altLang="ko-KR" sz="1200" dirty="0"/>
              <a:t>정량 분석 + 전문가 정성 평가 이중 검증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68FB55-B52C-6CA2-FE1B-E87B6BBFFBBE}"/>
              </a:ext>
            </a:extLst>
          </p:cNvPr>
          <p:cNvSpPr txBox="1"/>
          <p:nvPr/>
        </p:nvSpPr>
        <p:spPr>
          <a:xfrm>
            <a:off x="243780" y="2241550"/>
            <a:ext cx="2179375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활용 방안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FBCF14-A4E3-6116-72AC-BEFC68EDC877}"/>
              </a:ext>
            </a:extLst>
          </p:cNvPr>
          <p:cNvSpPr txBox="1"/>
          <p:nvPr/>
        </p:nvSpPr>
        <p:spPr>
          <a:xfrm>
            <a:off x="2591751" y="2241550"/>
            <a:ext cx="4380548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직업정보 프레임워크 데이터 및 분석 내용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DEE392-3AEF-4412-A3BE-E51835081FBE}"/>
              </a:ext>
            </a:extLst>
          </p:cNvPr>
          <p:cNvSpPr txBox="1"/>
          <p:nvPr/>
        </p:nvSpPr>
        <p:spPr>
          <a:xfrm>
            <a:off x="7148134" y="2601661"/>
            <a:ext cx="2484816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85725" indent="-8572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dirty="0"/>
              <a:t>대분류 내부 동질성 검증</a:t>
            </a:r>
            <a:endParaRPr lang="en-US" altLang="ko-KR" sz="1200" dirty="0"/>
          </a:p>
          <a:p>
            <a:pPr marL="85725" indent="-8572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dirty="0"/>
              <a:t>대분류 간 경계</a:t>
            </a:r>
            <a:r>
              <a:rPr lang="en-US" altLang="ko-KR" sz="1200" dirty="0"/>
              <a:t>·</a:t>
            </a:r>
            <a:r>
              <a:rPr lang="ko-KR" altLang="en-US" sz="1200" dirty="0"/>
              <a:t>중복 검증</a:t>
            </a:r>
            <a:endParaRPr lang="en-US" altLang="ko-KR" sz="1200" dirty="0"/>
          </a:p>
          <a:p>
            <a:pPr marL="85725" indent="-8572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dirty="0" err="1"/>
              <a:t>직업군</a:t>
            </a:r>
            <a:r>
              <a:rPr lang="ko-KR" altLang="en-US" sz="1200" dirty="0"/>
              <a:t> 재구성 가능성 검토</a:t>
            </a:r>
            <a:endParaRPr lang="en-US" altLang="ko-KR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E727FE-4FF8-411B-39F8-455D18B0C736}"/>
              </a:ext>
            </a:extLst>
          </p:cNvPr>
          <p:cNvSpPr txBox="1"/>
          <p:nvPr/>
        </p:nvSpPr>
        <p:spPr>
          <a:xfrm>
            <a:off x="7148134" y="3603034"/>
            <a:ext cx="2484816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200" dirty="0"/>
              <a:t>한국 직업분류의 </a:t>
            </a:r>
            <a:r>
              <a:rPr lang="en-US" altLang="ko-KR" sz="1200" dirty="0"/>
              <a:t>ISCO-28 </a:t>
            </a:r>
            <a:r>
              <a:rPr lang="ko-KR" altLang="en-US" sz="1200" dirty="0"/>
              <a:t>선제 대응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직능수준 재정렬 정량 근거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국제 비교 가능성 확보</a:t>
            </a:r>
            <a:endParaRPr lang="ko-KR" altLang="ko-KR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DAD99F-D68C-4616-F3CF-E04FAE893EE1}"/>
              </a:ext>
            </a:extLst>
          </p:cNvPr>
          <p:cNvSpPr txBox="1"/>
          <p:nvPr/>
        </p:nvSpPr>
        <p:spPr>
          <a:xfrm>
            <a:off x="7148134" y="4600831"/>
            <a:ext cx="2484816" cy="845743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 dirty="0"/>
              <a:t>KECO 2025 </a:t>
            </a:r>
            <a:r>
              <a:rPr lang="ko-KR" altLang="en-US" sz="1200" dirty="0"/>
              <a:t>신설 </a:t>
            </a:r>
            <a:r>
              <a:rPr lang="en-US" altLang="ko-KR" sz="1200" dirty="0"/>
              <a:t>53</a:t>
            </a:r>
            <a:r>
              <a:rPr lang="ko-KR" altLang="en-US" sz="1200" dirty="0"/>
              <a:t>종 </a:t>
            </a:r>
            <a:r>
              <a:rPr lang="en-US" altLang="ko-KR" sz="1200" dirty="0"/>
              <a:t>(</a:t>
            </a:r>
            <a:r>
              <a:rPr lang="ko-KR" altLang="en-US" sz="1200" dirty="0"/>
              <a:t>데이터</a:t>
            </a:r>
            <a:r>
              <a:rPr lang="en-US" altLang="ko-KR" sz="1200" dirty="0"/>
              <a:t>·AI·</a:t>
            </a:r>
            <a:r>
              <a:rPr lang="ko-KR" altLang="en-US" sz="1200" dirty="0"/>
              <a:t>플랫폼</a:t>
            </a:r>
            <a:r>
              <a:rPr lang="en-US" altLang="ko-KR" sz="1200" dirty="0"/>
              <a:t>) </a:t>
            </a:r>
            <a:r>
              <a:rPr lang="ko-KR" altLang="en-US" sz="1200" dirty="0"/>
              <a:t>표준 적용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노동시장 변화 신호 정기 공급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직업 분화</a:t>
            </a:r>
            <a:r>
              <a:rPr lang="en-US" altLang="ko-KR" sz="1200" dirty="0"/>
              <a:t>·</a:t>
            </a:r>
            <a:r>
              <a:rPr lang="ko-KR" altLang="en-US" sz="1200" dirty="0"/>
              <a:t>확장 대상 도출</a:t>
            </a:r>
            <a:endParaRPr lang="en-US" altLang="ko-KR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499BF8-5425-EE12-88A7-BBC50001452D}"/>
              </a:ext>
            </a:extLst>
          </p:cNvPr>
          <p:cNvSpPr txBox="1"/>
          <p:nvPr/>
        </p:nvSpPr>
        <p:spPr>
          <a:xfrm>
            <a:off x="7148134" y="5606612"/>
            <a:ext cx="2484816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200" dirty="0"/>
              <a:t>KSCO 9</a:t>
            </a:r>
            <a:r>
              <a:rPr lang="ko-KR" altLang="en-US" sz="1200" dirty="0"/>
              <a:t>차 개정 정량 데이터 근거</a:t>
            </a:r>
            <a:endParaRPr lang="en-US" altLang="ko-KR" sz="1200" dirty="0"/>
          </a:p>
          <a:p>
            <a:r>
              <a:rPr lang="ko-KR" altLang="en-US" sz="1200" dirty="0"/>
              <a:t>분류체계 개편 정량 평가</a:t>
            </a:r>
            <a:endParaRPr lang="en-US" altLang="ko-KR" sz="1200" dirty="0"/>
          </a:p>
          <a:p>
            <a:r>
              <a:rPr lang="ko-KR" altLang="en-US" sz="1200" dirty="0"/>
              <a:t>직업분류 개정 자동화 기반</a:t>
            </a:r>
            <a:endParaRPr lang="ko-KR" altLang="ko-KR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F7BD11-4993-D164-BF23-DC0639678A61}"/>
              </a:ext>
            </a:extLst>
          </p:cNvPr>
          <p:cNvSpPr txBox="1"/>
          <p:nvPr/>
        </p:nvSpPr>
        <p:spPr>
          <a:xfrm>
            <a:off x="7148133" y="2241550"/>
            <a:ext cx="2484816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정책적 가치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820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4291</TotalTime>
  <Words>4222</Words>
  <Application>Microsoft Office PowerPoint</Application>
  <PresentationFormat>A4 용지(210x297mm)</PresentationFormat>
  <Paragraphs>762</Paragraphs>
  <Slides>19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3" baseType="lpstr">
      <vt:lpstr>a고딕14</vt:lpstr>
      <vt:lpstr>맑은 고딕</vt:lpstr>
      <vt:lpstr>페이퍼로지 3 Light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Aptos</vt:lpstr>
      <vt:lpstr>Aptos Display</vt:lpstr>
      <vt:lpstr>Arial</vt:lpstr>
      <vt:lpstr>Arial Narrow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윤형 이</dc:creator>
  <cp:lastModifiedBy>석주 이</cp:lastModifiedBy>
  <cp:revision>88</cp:revision>
  <cp:lastPrinted>2025-03-27T12:19:48Z</cp:lastPrinted>
  <dcterms:created xsi:type="dcterms:W3CDTF">2025-03-25T05:59:26Z</dcterms:created>
  <dcterms:modified xsi:type="dcterms:W3CDTF">2026-05-07T03:09:28Z</dcterms:modified>
</cp:coreProperties>
</file>