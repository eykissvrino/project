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902825" cy="6858000"/>
  <p:notesSz cx="6858000" cy="9902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59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석주 이" userId="b6553f64e91d015d" providerId="LiveId" clId="{7E74A06A-B2AA-4EEC-A19D-AA52293F645A}"/>
    <pc:docChg chg="modSld sldOrd">
      <pc:chgData name="석주 이" userId="b6553f64e91d015d" providerId="LiveId" clId="{7E74A06A-B2AA-4EEC-A19D-AA52293F645A}" dt="2026-04-16T00:36:01.111" v="7"/>
      <pc:docMkLst>
        <pc:docMk/>
      </pc:docMkLst>
      <pc:sldChg chg="modSp mod">
        <pc:chgData name="석주 이" userId="b6553f64e91d015d" providerId="LiveId" clId="{7E74A06A-B2AA-4EEC-A19D-AA52293F645A}" dt="2026-04-15T23:48:20.121" v="1" actId="1076"/>
        <pc:sldMkLst>
          <pc:docMk/>
          <pc:sldMk cId="0" sldId="260"/>
        </pc:sldMkLst>
        <pc:spChg chg="mod">
          <ac:chgData name="석주 이" userId="b6553f64e91d015d" providerId="LiveId" clId="{7E74A06A-B2AA-4EEC-A19D-AA52293F645A}" dt="2026-04-15T23:48:20.121" v="1" actId="1076"/>
          <ac:spMkLst>
            <pc:docMk/>
            <pc:sldMk cId="0" sldId="260"/>
            <ac:spMk id="20" creationId="{00000000-0000-0000-0000-000000000000}"/>
          </ac:spMkLst>
        </pc:spChg>
      </pc:sldChg>
      <pc:sldChg chg="ord">
        <pc:chgData name="석주 이" userId="b6553f64e91d015d" providerId="LiveId" clId="{7E74A06A-B2AA-4EEC-A19D-AA52293F645A}" dt="2026-04-16T00:36:01.111" v="7"/>
        <pc:sldMkLst>
          <pc:docMk/>
          <pc:sldMk cId="0" sldId="263"/>
        </pc:sldMkLst>
      </pc:sldChg>
      <pc:sldChg chg="ord">
        <pc:chgData name="석주 이" userId="b6553f64e91d015d" providerId="LiveId" clId="{7E74A06A-B2AA-4EEC-A19D-AA52293F645A}" dt="2026-04-16T00:35:51.439" v="5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894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9354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[제안발표자료]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9354312" cy="73152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2011680"/>
            <a:ext cx="93543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직업분류 고도화를 위한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직업정보 프레임워크 연구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" y="411480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66666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2026. 04.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0"/>
            <a:ext cx="9354312" cy="73152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74320" y="557784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국가데이터처 | (사)한국직업자격학회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0" y="731520"/>
            <a:ext cx="365760" cy="32004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0" y="731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06240" y="731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연구 개요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1143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1. 연구 배경 및 필요성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0" y="1463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2. 연구 목적 및 범위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3. 연구 추진 전략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2240280"/>
            <a:ext cx="365760" cy="32004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57600" y="22402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06240" y="2240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연구 수행 방안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2651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1. 직무기술 정의서 작성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29718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2. 국내·외 사례 분석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32918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3. 구조적 틀 마련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3611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4. 시뮬레이션 검증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4069080"/>
            <a:ext cx="365760" cy="32004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657600" y="40690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Ⅲ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0624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연구 관리 방안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4480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1. 수행조직 및 업무분장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4800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2. 추진일정 및 수행절차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5120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3. 수행기관 역량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0" y="5440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4. 품질·보안 관리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9354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Ⅰ. 연구 개요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347472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1. 연구 배경 및 필요성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384048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2. 연구 목적 및 범위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20624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3. 연구 추진 전략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연구 배경 및 필요성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ISCO-28 전면 개정에 대비하여, 직업분류 편제 기준인 직능유형 프레임워크의 구축이 시급함.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43891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직업정보 프레임워크의 개념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직업정보 프레임워크(occupational information framework)는 각 직업의 수행 활동, 요구 역량, 직무 특성 등을 체계적으로 설명하기 위한 정보 구조를 의미함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직업정보 프레임워크는 직업의 내용을 구성하는 다양한 요소를 구조화하여 직업 간 비교와 분석을 가능하게 하는 역할을 함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일반적으로 직업정보 프레임워크는 직무 과업(tasks), 업무활동(work activities), 요구 기술(skills), 요구 지식(knowledge), 업무 환경(work context)으로 구성됨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대표적인 사례로는 미국 O*NET이 있으며, O*NET에서는 직업정보를 업무활동, 기술, 지식, 능력 등 다양한 요소로 구조화하여 직업 간 관계를 분석할 수 있도록 함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직업의 정의 및 특징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직업(occupation)은 개인이 생계를 유지하기 위하여 지속적으로 수행하는 경제활동의 단위를 의미함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직업은 일정한 업무활동(work activities)을 중심으로 구성되며, 업무활동은 직업 간 유사성과 차이를 결정하는 중요한 기준이 됨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직업은 일정한 기술 수준과 역량 요구를 포함하며, 노동시장 구조와 기술 변화에 따라 지속적으로 변화함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직업분류 체계의 정책적 중요성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국가 차원의 직업분류체계는 노동시장 통계 생산뿐만 아니라 직업정보 제공, 인력수급 분석, 교육·훈련 정책 설계 등 다양한 정책 영역에서 활용되는 핵심 기반 인프라임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우리나라의 한국표준직업분류(KSCO) 역시 국제표준직업분류(ISCO-08)를 기반으로 구축되어 국가 통계 및 행정자료 생산의 표준 기준으로 활용되고 있음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ISCO-28 개정 동향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국제노동기구(ILO)는 ISCO-28 개정 논의 과정에서 직능수준체계를 교육(Education), 책임성(Responsibility), 경험(Experience), 업무기반학습(Work-based learning) 등으로 확대 중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노동시장 환경의 급격한 변화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기술혁신, 디지털 전환, 새로운 산업의 등장 등으로 인해 직업 구조가 빠르게 변화하고 있음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0" y="1828800"/>
            <a:ext cx="2103120" cy="438912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12064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해외 (O*NET 등)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ㆍ 업무활동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0" y="2606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ㆍ 기술·도구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20640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ㆍ 역량·능력·지식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20640" y="3246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ㆍ 학력·자격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20640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ㆍ 업무환경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0640" y="3886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ㆍ 임금·고용전망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2064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→ 다차원 구조화 DB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0" y="1828800"/>
            <a:ext cx="2103120" cy="4389120"/>
          </a:xfrm>
          <a:prstGeom prst="rect">
            <a:avLst/>
          </a:prstGeom>
          <a:solidFill>
            <a:srgbClr val="FFE8E8"/>
          </a:solidFill>
          <a:ln w="25400">
            <a:solidFill>
              <a:srgbClr val="D4A4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40664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국내 (KSCO)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0664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ㆍ 직업명, 코드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06640" y="2606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ㆍ 직무 정의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06640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ㆍ 주요 업무(서술형)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06640" y="3246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ㆍ 구조화된 정보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06640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ㆍ 역량·기술·도구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06640" y="3886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ㆍ 업무환경·자격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0664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→ 서술형 텍스트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86600" y="4114800"/>
            <a:ext cx="228600" cy="457200"/>
          </a:xfrm>
          <a:prstGeom prst="rect">
            <a:avLst/>
          </a:prstGeom>
          <a:solidFill>
            <a:srgbClr val="D4A4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949440" y="42519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437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GAP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연구 배경 및 필요성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현행 한국표준직업분류는 직업정보가 서술형·비구조화 형태로, 직업 간 체계적 비교·분석 및 정책 활용에 한계가 있음.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30175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437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서술형 문장 형태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직업의 수행 활동이 서술형 문장 형태로 제시. 직무활동 단위로 구조화되어 있지 않아 비교 분석 어려움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1828800"/>
            <a:ext cx="30175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566160" y="1920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437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2336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표준화된 분류 부재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3774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동일한 업무활동이 서로 다른 표현으로 기술되어 유사성 분석이 곤란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1828800"/>
            <a:ext cx="30175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766560" y="1920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437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22376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데이터 구조 미구축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3774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직업정보가 데이터 구조 형태로 구축되어 있지 않아 DB 구축·활용에 제한적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937760"/>
            <a:ext cx="935431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- 이러한 한계는 직업 간 업무활동 구조를 분석하고 직업분류 체계를 고도화하는 데 있어 제약 요인으로 작용할 수 있음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- 직업정보 프레임워크의 개선은 단순히 직업정보를 확충하는 차원을 넘어 직업분류 체계의 고도화를 위한 핵심 기반으로 작용함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- 직업정보를 업무활동 중심으로 구조화하고 표준화된 직무요소를 구축함으로써 직업 간 관계를 보다 체계적으로 분석할 수 있으며, 이는 향후 직업분류 개정과 직업 구조 분석에 중요한 기반을 제공할 수 있음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4206240"/>
            <a:ext cx="2286000" cy="45720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직업정보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프레임워크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구축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0" y="4297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749040" y="4206240"/>
            <a:ext cx="2286000" cy="45720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74904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직업 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업무활동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유사성·차이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분석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4297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66560" y="4206240"/>
            <a:ext cx="2286000" cy="45720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76656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직업분류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체계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고도화·개정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연구 목적 및 범위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본 연구의 목적은 KSCO 직업정보의 DB를 구축하고, 직업분류 고도화의 기반을 마련하는 것임.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9354312" cy="64008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8988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ISCO-28 개정안에 따른 대분류 등 전면 개정을 위해 직업분류 편제 기준인 직능유형 프레임워크를 구축하고, 직업별 특성과 요구조건 등을 구분할 수 있는 직업정보 DB 구축 기반을 마련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210312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576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[영역1]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직무기술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정의서 작성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4290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437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M+2~5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3657600"/>
            <a:ext cx="188366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산출물: 직업별 직무기술 정의서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세분류 직업을 업무내용 중심으로 분류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핵심 직무 표준화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직업 간 비교 가능성 제고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43891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51760" y="2743200"/>
            <a:ext cx="210312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74320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[영역2]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국내외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사례분석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34290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437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M+1~3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61488" y="3657600"/>
            <a:ext cx="188366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산출물: 직능유형 구성요소 비교분석표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O*NET, ESCO, NOC 등 해외 사례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KSCO, KECO, NCS 등 국내 사례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공통요소와 차별요소 분석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43891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2743200"/>
            <a:ext cx="210312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12064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[영역3]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구조적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틀 마련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34290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437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M+3~6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38928" y="3657600"/>
            <a:ext cx="188366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산출물: 직업정보 프레임워크 설계서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6대 차원 제안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구성요소 선정·구조화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정책 현장 활용방안 제시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40880" y="43891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06640" y="2743200"/>
            <a:ext cx="210312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49808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[영역4]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시뮬레이션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검증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34290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437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M+5~7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16368" y="3657600"/>
            <a:ext cx="188366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산출물: 시뮬레이션 결과보고서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중분류 시범 적용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변별력 검토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구성요소 보완·조정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연구 추진 전략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'데이터 기반 귀납적 접근'과 '국제 검증 체계 참조'를 결합한 연구 전략을 수립함.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2743200" cy="123444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STEP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데이터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수집·분석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45059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KSCO 텍스트 수집·정제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AI/NLP 직무활동 추출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O*NET 참조 분류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직무활동 카테고리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구분 및 정의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0" y="23317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03320" y="1783080"/>
            <a:ext cx="2743200" cy="123444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794760" y="1874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STEP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프레임워크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설계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245059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6대 차원 구조 설계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구성요소 선정·구조화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국내외 사례 반영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적용성 검증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37960" y="23317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66560" y="1783080"/>
            <a:ext cx="2743200" cy="123444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0" y="1874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STEP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시뮬레이션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검증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03720" y="245059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중분류 시범 적용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변별력·적용가능성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검토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전문가 검토·확정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최종 방안 도출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4343400" cy="2606040"/>
          </a:xfrm>
          <a:prstGeom prst="rect">
            <a:avLst/>
          </a:prstGeom>
          <a:solidFill>
            <a:srgbClr val="E8EDF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" y="333756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귀납적 접근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3977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KSCO의 직업 설명 텍스트로부터 AI 기반 자동 추출·구조화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직업 현장 데이터에 기반하여 한국 직업의 실제 직무구조를 파악할 수 있으며, 국제 프레임워크와의 비교를 통해 한국형 직능유형 체계를 개발할 수 있음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02352" y="3246120"/>
            <a:ext cx="4343400" cy="2606040"/>
          </a:xfrm>
          <a:prstGeom prst="rect">
            <a:avLst/>
          </a:prstGeom>
          <a:solidFill>
            <a:srgbClr val="F0F0F0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285232" y="333756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국제 참조 체계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85232" y="3657600"/>
            <a:ext cx="3977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O*NET Work Activities 분류체계를 참고 프레임워크로 활용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국제적으로 검증된 업무활동 분류 체계를 기반으로 한국 직업 데이터를 구조화함으로써, 국제 비교 가능성과 일관성을 확보할 수 있음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핵심 차별점 — AI(NLP) 기반 방법론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본 연구는 AI 기반 텍스트 분석과 O*NET 참조 프레임워크를 결합하여, 직무활동을 체계적으로 추출·구조화하는 차별화된 방법론을 적용함.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251960" cy="1371600"/>
          </a:xfrm>
          <a:prstGeom prst="rect">
            <a:avLst/>
          </a:prstGeom>
          <a:solidFill>
            <a:srgbClr val="FFE8E8"/>
          </a:solidFill>
          <a:ln w="12700">
            <a:solidFill>
              <a:srgbClr val="D4A4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기존 방법론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84248"/>
            <a:ext cx="38862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전문가가 수작업으로 직무내용을 판단·분류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개별 직업마다 독립적으로 직무기술서 작성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직업 설명이 서술형 문장 중심으로 구성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직업 간 비교를 위한 공통 기준 부재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직무활동이 체계적으로 구조화되어 있지 않음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직업 간 직무 구조 비교가 어려움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02352" y="1691640"/>
            <a:ext cx="4251960" cy="1371600"/>
          </a:xfrm>
          <a:prstGeom prst="rect">
            <a:avLst/>
          </a:prstGeom>
          <a:solidFill>
            <a:srgbClr val="E8EDF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285232" y="173736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제안 방법론(본 연구)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85232" y="1984248"/>
            <a:ext cx="38862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AI/NLP 기반 텍스트 분석으로 직무활동을 자동 추출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표준화된 직무요소(work elements) 형태로 구조화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O*NET 업무활동 분류체계를 참고하여 분류 기준 설계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직업 간 체계적 비교·분석이 가능한 구조적 산출물 도출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국제적으로 검증된 분류체계를 참고하여 직무요소를 표준화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모든 AI 분석 결과는 전문가 검증 절차를 거쳐 최종 확정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691640" cy="59436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① 직업 설명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텍스트 수집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·정제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58568" y="341071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50592" y="3246120"/>
            <a:ext cx="1691640" cy="59436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450592" y="32461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② 자연어처리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(NLP) 적용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문장 구조 분석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60520" y="341071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52544" y="3246120"/>
            <a:ext cx="1691640" cy="59436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352544" y="32461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③ 행동 중심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동사 및 행위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표현 추출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62472" y="341071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54496" y="3246120"/>
            <a:ext cx="1691640" cy="59436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254496" y="32461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④ 유사 직무활동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군집화 및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통합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092440" y="3227832"/>
            <a:ext cx="12801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→ O*NET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표준화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직무요소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최종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구조화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" y="3977640"/>
            <a:ext cx="935431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파이프라인 설명: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① 직업 설명 텍스트 수집 및 데이터 정제: KSCO에 제시된 직업 설명 텍스트를 수집하고 분석 가능한 형태로 정제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② 자연어 처리(NLP)를 활용한 문장 구조 분석: NLP 기법을 활용하여 직업 설명 텍스트의 문장 구조를 분석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③ 직무 수행과 관련된 행동 중심 동사 및 행위 표현 추출: 직업 설명에서 직무 수행과 관련된 행동 중심의 동사와 행위 표현을 추출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④ 유사 직무활동의 군집화 및 통합: 추출된 직무활동을 의미적으로 군집화하고 유사한 활동을 통합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9354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Ⅱ. 연구 수행 방안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329184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1. 직무기술 정의서 작성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365760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2. 국내·외 사례 분석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02336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3. 구조적 틀 마련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38912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4. 시뮬레이션 검증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[영역1] 직무기술 정의서 작성 — 개요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한국표준직업분류 세분류 수준 직업을 대상으로, 직무 수행 내용 중심의 직무기술 정의서를 체계적으로 작성함.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직무기술 정의서 개발 방법론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본 연구에서는 KSCO에 포함된 직업별 직무기술 정의서를 체계적으로 작성하기 위하여 AI 기반 텍스트 분석 기법과 국제 직업정보체계의 직무활동 분류 방법론을 결합한 직무요소 도출 방법을 적용함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KSCO는 직업을 "유사한 직무의 집합(a set of similar jobs)"으로 정의하고 있으며, 직무(job)는 특정 고용주를 위하여 수행되는 업무와 과업(tasks and duties)의 집합으로 설명됨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그러나 현행 KSCO의 직업 설명은 직무내용이 서술형 문장 형태로 제시되어 있어: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  - 직무활동이 체계적으로 구조화되어 있지 않음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  - 직업 간 직무 구조 비교가 어려움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  - 직무 기반 직업정보 데이터 구축에 활용하기 어려움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연구 대상: KSCO 세분류 수준 직업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(대10/중42/소149/세426/세세1,206개)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작성 절차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현행 업무내용 기술 검토 → 표준화 직무요소 도출 → 직무기술 정의서 구성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직업 간 비교 가능성 확보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직무요소를 공통 기준에 따라 구조화하여 직업분류 고도화의 기반 제공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20640" y="1828800"/>
            <a:ext cx="4507992" cy="4572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303520" y="1920240"/>
            <a:ext cx="4142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직무기술 정의서 구조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49240" y="2377440"/>
            <a:ext cx="4050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394960" y="2404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① 직업 개요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94960" y="2624328"/>
            <a:ext cx="386791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직업의 정의, 역사, 구조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49240" y="2926080"/>
            <a:ext cx="4050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394960" y="29535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② 주요 업무내용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3172968"/>
            <a:ext cx="386791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현행 KSCO의 직업 설명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49240" y="3474720"/>
            <a:ext cx="4050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394960" y="35021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③ 핵심 직무활동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94960" y="3721608"/>
            <a:ext cx="386791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AI 추출 기반 직무활동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49240" y="4023360"/>
            <a:ext cx="40507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394960" y="40507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④ 표준화 직무요소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94960" y="4270248"/>
            <a:ext cx="386791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O*NET 참조 구조화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[영역1] 직무기술 정의서 — AI 기반 방법론 상세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AI 기반 텍스트 분석을 통해 직무활동을 추출하고, O*NET 업무활동 분류체계를 참고하여 표준화된 직무요소로 구조화함.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47548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분석 대상: KSCO 직업 설명 텍스트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직업 설명의 특성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문장 형태로 서술, 다양한 표현 방식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구조적 관계 미제시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O*NET 업무활동 계층 구조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GWA(일반화된 업무활동, 41개): 직업 전반에서 공통적으로 나타나는 가장 상위 수준의 업무활동 유형. 정보 입력(Information Input), 정신적 과정(Mental Processes), 업무 산출(Work Output), 타인과의 상호작용(Interacting with Others) 등 4개 대범주로 구분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IWA(중간 수준 업무활동): GWA를 보다 구체적인 수준으로 세분화한 업무활동으로, 각 GWA 항목에 대해 보다 명확한 직무 맥락 제공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DWA(세부 업무활동, 약 2,000여 개): IWA를 더욱 구체적인 수행 행위 수준으로 세분화한 것으로, 직업별로 실제 수행되는 구체적인 업무활동 기술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Tasks(과업): 특정 직업에서 수행되는 가장 구체적인 수준의 업무 단위로, 개별 직업에 고유하게 부여되는 과업 목록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본 연구의 직무활동 분류 유형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정보 수집 및 정보 분석 활동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문제 해결 및 의사결정 활동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대인 서비스 및 의사소통 활동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조직 관리 및 조정 활동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기술 및 장비 활용 활동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이와 같은 접근은 직무활동을 직업별로 독립적으로 정의하는 방식이 아니라 국제적으로 검증된 직무활동 체계를 참고하여 직무요소를 표준화한다는 점에서 직업 간 비교 가능성을 높이는 장점을 가짐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0" y="1828800"/>
            <a:ext cx="4325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O*NET 계층구조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2130552" cy="457200"/>
          </a:xfrm>
          <a:prstGeom prst="rect">
            <a:avLst/>
          </a:prstGeom>
          <a:solidFill>
            <a:srgbClr val="E8EDF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0" y="2194560"/>
            <a:ext cx="2130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GWA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(41개)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2670048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852928"/>
            <a:ext cx="2130552" cy="457200"/>
          </a:xfrm>
          <a:prstGeom prst="rect">
            <a:avLst/>
          </a:prstGeom>
          <a:solidFill>
            <a:srgbClr val="E8EDF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0" y="2852928"/>
            <a:ext cx="2130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IWA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75120" y="3328416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3511296"/>
            <a:ext cx="2130552" cy="457200"/>
          </a:xfrm>
          <a:prstGeom prst="rect">
            <a:avLst/>
          </a:prstGeom>
          <a:solidFill>
            <a:srgbClr val="E8EDF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0" y="3511296"/>
            <a:ext cx="2130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DWA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(2,000개)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3986784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4169664"/>
            <a:ext cx="2130552" cy="457200"/>
          </a:xfrm>
          <a:prstGeom prst="rect">
            <a:avLst/>
          </a:prstGeom>
          <a:solidFill>
            <a:srgbClr val="E8EDF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0800" y="4169664"/>
            <a:ext cx="2130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Tasks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[영역1] 표준화 직무요소 구조화 예시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직업명이나 직무 표현이 다르더라도, 공통된 직무요소를 기준으로 직업 간 유사성과 차이를 체계적으로 비교할 수 있음.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9354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표준화 기준: 직업 간 공통 활동 통합  |  의미적 유사 활동 군집화  |  수행 목적 중심 재구성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914400" cy="384048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20040" y="21945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구분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88720" y="2194560"/>
            <a:ext cx="1280160" cy="384048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34440" y="21945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직업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2194560"/>
            <a:ext cx="3474720" cy="384048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514600" y="21945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업무내용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2194560"/>
            <a:ext cx="3685032" cy="384048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989320" y="2194560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표준화 직무요소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578608"/>
            <a:ext cx="91440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20040" y="257860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동일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188720" y="2578608"/>
            <a:ext cx="128016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234440" y="25786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교사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468880" y="2578608"/>
            <a:ext cx="34747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514600" y="25786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학생에게 교육과정 가르침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43600" y="2578608"/>
            <a:ext cx="3685032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989320" y="2578608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지식전달, 의사소통, 학습자이해, 수업설계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74320" y="296265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20040" y="2962656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동일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188720" y="2962656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234440" y="29626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강사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468880" y="2962656"/>
            <a:ext cx="3474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2514600" y="296265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수강생에게 이론·기술 가르침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943600" y="2962656"/>
            <a:ext cx="3685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989320" y="2962656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지식전달, 의사소통, 학습자이해, 수업설계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74320" y="3346704"/>
            <a:ext cx="91440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20040" y="334670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유사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188720" y="3346704"/>
            <a:ext cx="128016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234440" y="334670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데이터 분석가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468880" y="3346704"/>
            <a:ext cx="34747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2514600" y="334670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데이터 가공·분석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943600" y="3346704"/>
            <a:ext cx="3685032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989320" y="3346704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분석, 데이터 해석, 의사결정 지원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74320" y="3730752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320040" y="373075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유사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188720" y="3730752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234440" y="37307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마케팅 전문가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468880" y="3730752"/>
            <a:ext cx="3474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2514600" y="37307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시장 정보 분석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943600" y="3730752"/>
            <a:ext cx="3685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5989320" y="3730752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분석, 데이터 해석, 전략 수립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74320" y="4251960"/>
            <a:ext cx="9354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▸ 교사/강사: 교육 대상·환경이 다르나 직무요소 수준에서 동일 구조 공유 → 직업분류 체계 개선에 활용 가능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74320" y="4507992"/>
            <a:ext cx="9354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▸ 데이터 분석가/마케팅 전문가: 분석 대상 상이하나 "분석"과 "데이터 해석" 핵심 직무요소 공통 → 직업 간 관련성 파악 및 직업정보 활용도 제고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[영역2] 국내·외 사례 분석 - 해외 직업정보 체계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미국 O*NET, 국제표준직업분류(ISCO-08) 등 주요 선진국의 직업정보 체계를 분석하여, 직능유형 구성요소 도입의 방향성을 도출함.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4389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O*NET 콘텐츠 모델 - 6개 영역 상세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① 근로자 특성(Worker Characteristics)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능력(Abilities): 인지, 정신운동, 신체, 감각 능력 총 52개 항목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직업적 관심(RIASEC): 현실형, 탐구형, 예술형, 사회형, 기업형, 관습형 6유형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직업 가치(Work Values): 성취감, 독립성, 인정, 안정성 등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업무 스타일(Work Styles): 성실성, 협력성, 리더십 등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② 근로자 요구사항(Worker Requirements)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기술(Skills): 기본기술, 교차기능기술 총 25개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지식(Knowledge): 경영, 공학, 수학, 예술, 보건, 인문 등 33개 분야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교육(Education): 학력 수준 및 관련 교육과정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③ 경력 요구사항(Experience Requirements)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업무 경험 및 교육훈련(Experience and Training): 필요 경력 기간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입직 요건(Entry Requirements): 직급별 최소 요구사항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자격(Licensing): 국가자격 및 인정 자격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828800"/>
          <a:ext cx="4754880" cy="47548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09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국가/기구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Tasks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직업수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특징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O*NET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(미국)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18,796개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1,016개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6개 영역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다차원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가장 포괄적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ISCO-08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(국제/ILO)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Tasks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중심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436개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세분류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4단계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계층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직무 표준화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ESCO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(유럽)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13,890개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3,008개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직업+기술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+자격 연계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통합적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NOC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(캐나다)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구조화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포함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500개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세분류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기술유형+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기술수준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2차원</a:t>
                      </a:r>
                      <a:endParaRPr lang="en-US" sz="8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[영역2] 국내·외 사례 분석 - 국내 체계 및 비교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국내 6개 직업정보 체계를 해외 체계와 비교 분석한 결과, O*NET은 거의 모든 구성요소를 포괄하는 반면 KSCO는 기본 정보 중심으로 부가정보가 부족함.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93543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KSCO(한국표준직업분류): 통계청 관리, 대분류 10/중분류 42/소분류 149/세분류 426/세세분류 1,206개. 국가 표준 분류로 기본 정보 충실하나 부가정보(기술/도구, 역량, 환경) 부족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워크피디아(고용노동부 임금직업포털): 500여개 직업의 다차원 정보 제공. O*NET의 Related Occupations 기능 보유, 재직자 조사 기반의 실증적 데이터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한국직업사전(한국고용정보원): 6,000여개 직무기술서 수록. 부가정보 풍부(정규교육, 작업환경, 자격 등)하나 구조적 정리 필요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NCS(국가직무능력표준): 24대분류 81중분류 273소분류 1,100세분류. 능력단위 기반 가장 광범위한 직무정보, 교육훈련과 연계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KQF/SQF(국가역량체계/산업별역량체계): 8개 수준의 역량 정의. KQF는 일반적 역량 기준, SQF는 산업별 직무역량 맵 제공하나 모든 직업 적용 어려움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51760"/>
          <a:ext cx="8641080" cy="365760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구분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O*NET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ISCO-08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KSCO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KECO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워크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피디아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직업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사전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NCS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KQF/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SQF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기본식별정보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직무 정의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주요업무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기술/도구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역량/지식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학력/자격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업무환경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임금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일자리전망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[영역2→3] 국내 적용방안 검토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국내외 사례 비교 분석 결과를 바탕으로, 한국형 직능유형 6대 차원의 설계 근거와 적용방안을 도출함.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4389120" cy="109728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미국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SOC ↔ O*NET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하나의 통합 구조로 운영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DOT부터 축적된 직무DB 기반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39512" y="1828800"/>
            <a:ext cx="438912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22392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한국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22392" y="22860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KSCO, KECO 분리 운영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직접 연계 미비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직무활동 단위 체계적 정보 부족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2743200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6576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① 주요 업무 최신화·보강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566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ISCO Tasks &amp; O*NET 18,796개 활용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KSCO 직무정의 구조화 및 신규 직무 추가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Emerging Tasks 검토 및 적용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63240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437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83280" y="3200400"/>
            <a:ext cx="6245352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474720" y="3337560"/>
            <a:ext cx="60624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업무 차원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160520"/>
            <a:ext cx="2743200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5760" y="4160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② 부가정보 보강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526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워크피디아·한국직업사전·직업온톨로지 연계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기술/도구, 역량, 환경 정보 통합 구축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063240" y="4343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437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83280" y="4160520"/>
            <a:ext cx="6245352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474720" y="4297680"/>
            <a:ext cx="60624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지식·기술·능력·도구·환경 차원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5120640"/>
            <a:ext cx="2743200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65760" y="5120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③ KQF/SQF 연계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5486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수준별 정의 구조를 역량 수준 연계 형태로 설계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개발 완료 분야 중심의 선별적 적용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063240" y="5303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437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383280" y="5120640"/>
            <a:ext cx="6245352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474720" y="5257800"/>
            <a:ext cx="60624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역량 수준 연계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6126480"/>
            <a:ext cx="9354312" cy="64008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" y="612648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한국형 직능유형 6대 차원(안) 도출 - 국내외 사례 분석 결과와 전문가 검토의 실증적 기반 제공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[영역3] 한국형 직능유형 6대 차원 프레임워크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본 연구에서는 직업 수행 과정에서 나타나는 핵심 요소를 중심으로, 업무·지식·기술·능력·도구·환경의 6대 차원을 제안함.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3017520" cy="128016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업무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(Work Activities)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직업 수행 과정에서 수행되는 주요 업무활동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(정보수집, 데이터분석, 의사결정, 대인서비스 등)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29000" y="1828800"/>
            <a:ext cx="3017520" cy="128016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520440" y="18745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지식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(Knowledge)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0440" y="21945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직무 수행을 위해 요구되는 이론적·전문적 지식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(사업·경영, 공학·기술, 수학·과학, 보건 등 33개 분야)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583680" y="1828800"/>
            <a:ext cx="3017520" cy="128016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675120" y="18745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기술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(Skills)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75120" y="21945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업무 과정에서 활용되는 실무적 기술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(기본기술, 교차기능기술 등 약 25개 요소)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3246120"/>
            <a:ext cx="3017520" cy="128016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65760" y="3291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능력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(Abilities)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61188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개인이 직무 수행을 위해 요구되는 인지적·신체적 능력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(인지·정신운동·신체·감각 능력 등 52개)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29000" y="3246120"/>
            <a:ext cx="3017520" cy="128016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520440" y="3291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도구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(Tools &amp; Tech)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20440" y="361188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업무 수행에 활용되는 장비, 기술, 소프트웨어 등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(기술 스킬, 장비·도구, 신기술)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583680" y="3246120"/>
            <a:ext cx="3017520" cy="128016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675120" y="3291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환경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(Work Context)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75120" y="361188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업무 수행 과정의 물리적·사회적 업무 환경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(실내·실외, 온도·소음, 대면빈도, 팀작업)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0" y="3749040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KSCO 직업정보 프레임워크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5120640"/>
            <a:ext cx="93543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본 연구에서 제안하는 한국형 직능유형은 O*NET 콘텐츠 모델의 구조와 국내 직업정보 활용 특성을 종합적으로 검토하여 설계함. 6대 차원은 연구 수행 과정에서 국내외 사례 분석 및 전문가 검토를 거쳐 조정·확정될 수 있음.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[영역3] 구성요소 설계 기준 및 정책적 활용 방안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직능유형 구성요소는 직업 간 비교 가능하고 행정 데이터와 연계 가능한 구조로 설계하며, 향후 지속적으로 갱신 가능한 프레임워크로서 설계함.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4389120" cy="96012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① 직업 간 기능적 비교가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가능한 구조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동일 직능 요소로 여러 직업 분류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880360"/>
            <a:ext cx="4389120" cy="96012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5760" y="29260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② 행정 데이터와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연계 가능한 구조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3375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고용보험, 국가자격 등과 직접 연결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4389120" cy="96012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65760" y="39776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③ 직업분류 체계와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연계 가능한 정보 구조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389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KSCO 개정 시 직접 활용 가능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47548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정책적 활용 방안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직업군 재구조화 검토 지원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  직업 간 기능적 유사성을 바탕으로 직업군 통합 검토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신규 직업 분류 배치 근거 제공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  신규 직업 도입 시 유형별 특성 기반의 체계적 배치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직업분류 개정 시 체계적 분석 기반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  정기적 개정 시 객관적 분류 기준으로 활용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직업 간 전환 가능성 분석 기초 자료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  재직자 전직 및 전환교육 경로 개발의 기초 제공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직업 변동 모니터링 체계 구축 지원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  기술 변화에 따른 직업 변동 추적 및 예측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5943600"/>
            <a:ext cx="9354312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" y="5943600"/>
            <a:ext cx="8988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일회성 분석 도구가 아닌, 지속적으로 축적·갱신될 수 있는 프레임워크로 설계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[영역4] 시뮬레이션을 통한 검증 및 전문가 검토·조정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한국표준직업분류 중분류 일부를 대상으로 시뮬레이션을 실시하고, 전문가 검토를 거쳐 구성요소를 최종 확정할 계획임.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4389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시뮬레이션 대상 선정 기준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서로 다른 산업 대표 직업군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지식 중심/기술 중심의 혼합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직무 수행 방식 명확 구분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직업 정보 충분 확보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4단계 시뮬레이션 분석 절차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① 직업 설명 분석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  선정된 중분류 내 세분류 직업의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  설명, 주요업무, 관련 정보 종합분석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② 활동 추출 및 정리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  AI 기반 텍스트분석으로 직업 수행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  활동 추출 및 행동 중심으로 정리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③ 차원별 재구성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  추출된 활동을 6대 차원에 따라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  분류 및 직능유형 요소로 재구성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④ 차원별 변별력 검토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  직업 간 구조 비교를 통해 각 차원의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  구성요소 유의미성 확인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46320" y="2560320"/>
            <a:ext cx="1051560" cy="73152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846320" y="256032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시뮬레이션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실행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0" y="2697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17920" y="2560320"/>
            <a:ext cx="1051560" cy="73152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217920" y="256032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결과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분석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0" y="2697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589520" y="2560320"/>
            <a:ext cx="1051560" cy="73152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589520" y="256032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전문가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검토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2697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61120" y="2560320"/>
            <a:ext cx="1051560" cy="73152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961120" y="256032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최종안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확정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3657600"/>
            <a:ext cx="935431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전문가 검토 주요 항목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□ 직능유형 차원 구분의 적절성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□ 차원별 직능유형 구성요소의 타당성 및 변별력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□ 한국표준직업분류 체계와의 정합성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□ 직업정보 분석 및 정책 현장에서의 적용 가능성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□ 향후 직업분류 개정 시 활용 가능성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최종 설계 원칙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→ 단순한 개념적 모형이 아닌, 실제 직업정보 분석과 정책 활용이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   가능한 실증 기반 직업정보 구조로 제시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9354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Ⅲ. 연구 관리 방안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347472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1. 수행조직 및 업무분장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384048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2. 추진일정 및 수행절차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20624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3. 수행기관 역량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57200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4. 품질·보안 관리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수행조직 및 업무분장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연구책임자 포함 총 6명의 전문 연구진을 구성하고, 4대 영역별로 명확한 역할을 분담하여 과제를 수행함.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1828800"/>
            <a:ext cx="2103120" cy="45720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연구책임자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828800"/>
            <a:ext cx="2103120" cy="4572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0" y="1783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통계청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(주관부서)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029968"/>
            <a:ext cx="2011680" cy="54864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2560320" cy="45720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공동연구자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(갑)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37360" y="2286000"/>
            <a:ext cx="54864" cy="45720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91840" y="2743200"/>
            <a:ext cx="2560320" cy="45720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9184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공동연구자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(을)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2286000"/>
            <a:ext cx="54864" cy="45720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126480" y="2743200"/>
            <a:ext cx="2560320" cy="45720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12648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공동연구자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(병)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0" y="3474720"/>
            <a:ext cx="2560320" cy="45720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28600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연구보조원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(1)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66160" y="3200400"/>
            <a:ext cx="54864" cy="27432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212080" y="3474720"/>
            <a:ext cx="2560320" cy="45720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21208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연구보조원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(2)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3200400"/>
            <a:ext cx="54864" cy="27432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206240"/>
          <a:ext cx="9354312" cy="2286000"/>
        </p:xfrm>
        <a:graphic>
          <a:graphicData uri="http://schemas.openxmlformats.org/drawingml/2006/table">
            <a:tbl>
              <a:tblPr/>
              <a:tblGrid>
                <a:gridCol w="3118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8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8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구분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역할 분담 내용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참여율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연구책임자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사업총괄, 연구방향 설정, 보고회 진행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15%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공동연구자(갑)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국내외 사례분석 주도 (영역2)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20%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공동연구자(을)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프레임워크 설계, 시뮬레이션 검증 (영역3,4)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20%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공동연구자(병)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직무기술 정의 표준화 (영역1)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20%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연구보조원(1)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자료 수집 분석, 통계 처리 지원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15%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연구보조원(2)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행정업무 지원, 보고서 편집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10%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274320" y="6629400"/>
            <a:ext cx="935431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연구책임자는 사업 총괄 및 연구방향 설정을 담당하고, 3명의 공동연구자가 각각 4대 연구영역을 분담하여 전문성을 발휘함. 연구보조원 2명이 자료 수집·분석 및 행정업무를 지원하여 연구진이 핵심 연구에 집중 가능.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추진일정 및 수행절차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계약체결일로부터 8개월간 4대 영역을 단계적으로 추진하며, 보고회 3회·중간점검 2회를 통해 발주기관과 긴밀히 소통할 계획임.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28800"/>
          <a:ext cx="9354312" cy="1645920"/>
        </p:xfrm>
        <a:graphic>
          <a:graphicData uri="http://schemas.openxmlformats.org/drawingml/2006/table">
            <a:tbl>
              <a:tblPr/>
              <a:tblGrid>
                <a:gridCol w="1039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9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9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9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9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9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9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93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93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5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활동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M+1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M+2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M+3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M+4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M+5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M+6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M+7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M+8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사업계획수립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[영역2] 사례분석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[영역1] 배경·필요성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[영역3] 프레임워크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[영역4] 검증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보고서 작성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657600"/>
          <a:ext cx="9354312" cy="548640"/>
        </p:xfrm>
        <a:graphic>
          <a:graphicData uri="http://schemas.openxmlformats.org/drawingml/2006/table">
            <a:tbl>
              <a:tblPr/>
              <a:tblGrid>
                <a:gridCol w="1336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6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6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6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6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6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63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마일스톤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착수보고</a:t>
                      </a:r>
                      <a:endParaRPr lang="en-US" sz="800" dirty="0"/>
                    </a:p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(M+1)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점검1</a:t>
                      </a:r>
                      <a:endParaRPr lang="en-US" sz="800" dirty="0"/>
                    </a:p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(M+2)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중간보고</a:t>
                      </a:r>
                      <a:endParaRPr lang="en-US" sz="800" dirty="0"/>
                    </a:p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(M+4)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점검2</a:t>
                      </a:r>
                      <a:endParaRPr lang="en-US" sz="800" dirty="0"/>
                    </a:p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(M+5)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최종보고</a:t>
                      </a:r>
                      <a:endParaRPr lang="en-US" sz="800" dirty="0"/>
                    </a:p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(M+7)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제출</a:t>
                      </a:r>
                      <a:endParaRPr lang="en-US" sz="800" dirty="0"/>
                    </a:p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(M+8)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274320" y="4389120"/>
            <a:ext cx="935431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일정 추진 특징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영역2(사례분석)가 가장 먼저 착수되어 영역3 설계의 근거 자료 제공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영역1(정의서)과 영역3(프레임워크)은 M+3~5 기간에 병행 추진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영역4(시뮬레이션)는 영역3 완료 후 M+5부터 착수하여 실증 검증 실시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발주기관과의 소통: 보고회 3회(대면) + 중간점검 2회(영상/서면) = 총 5회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수행기관 역량 및 품질·보안 관리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(사)한국직업자격학회는 직업·자격 분야 14년 전문 학회로 37건의 연구실적을 보유하고 있으며, 전문가 검증 기반의 품질관리 체계를 운영함.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4389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(사)한국직업자격학회 개요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설립 2012년 | 업력 14년 | 대표 고혜원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37건 수행실적 | 발주처: 통계청, 고용노동부, 산업인력공단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핵심 관련 실적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ISCO-08 국내도입 적정성 평가 (통계청, '25.04~12, 59,099천원)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직업문항 측정방법 평가 및 개선 (통계청, '24.05~12, 60,000천원)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AI 전환에 따른 일자리 변화 분석 (인공지능위원회, 50,000천원)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산업 일자리전환 특성에 따른 훈련과정 개발 (고용노동부, 50,000천원)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핵심 역량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직업정보 연구 전문성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국제 표준 체계 분석 경험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정부부처 협력 이력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47548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품질 관리 원칙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전문가 검토 필수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샘플 사전검증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이중 검증 체계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결과물 정확성 확보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보안 관리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연구자료 대외비 관리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발주기관 사전승인 필수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정보보안 기준 준수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윤리 관리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윤리교육 이수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표절방지 시스템 활용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AI 활용 방법 투명성 확보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• 데이터 무결성 보장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4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왜 한국직업자격학회인가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29260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4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① 방법론 차별성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AI(NLP) + O*NET 참조 결합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해외 선진 기법과 국내 실정을 동시에 고려한 독창적 방법론 제시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29000" y="1371600"/>
            <a:ext cx="29260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4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520440" y="1554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② 전문 역량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20440" y="21031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14년 전문학회, 37건 실적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정부 주요 직업정보 사업 수행으로 검증된 전문성 및 신뢰도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0" y="1371600"/>
            <a:ext cx="29260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4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75120" y="1554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③ 실현 가능성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21031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6대 차원(안) 구체적 설계 완료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설계 단계 완료로 실제 구현 가능성 높음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5029200"/>
            <a:ext cx="9354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74320" y="5760720"/>
            <a:ext cx="9354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(사)한국직업자격학회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3976</Words>
  <Application>Microsoft Office PowerPoint</Application>
  <PresentationFormat>사용자 지정</PresentationFormat>
  <Paragraphs>768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Paperlogy-4Regular</vt:lpstr>
      <vt:lpstr>Paperlogy-5Medium</vt:lpstr>
      <vt:lpstr>Paperlogy-6SemiBold</vt:lpstr>
      <vt:lpstr>Paperlogy-8ExtraBold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석주 이</cp:lastModifiedBy>
  <cp:revision>1</cp:revision>
  <dcterms:created xsi:type="dcterms:W3CDTF">2026-04-15T23:45:43Z</dcterms:created>
  <dcterms:modified xsi:type="dcterms:W3CDTF">2026-04-16T00:36:07Z</dcterms:modified>
</cp:coreProperties>
</file>