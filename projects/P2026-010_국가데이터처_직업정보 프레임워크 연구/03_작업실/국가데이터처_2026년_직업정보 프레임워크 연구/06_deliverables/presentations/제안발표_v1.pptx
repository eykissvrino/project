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902952" cy="6858000"/>
  <p:notesSz cx="6858000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[제안발표자료]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9354312" cy="73152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0"/>
            <a:ext cx="93543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직업분류 고도화를 위한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직업정보 프레임워크 연구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411480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2026. 04.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5303520"/>
            <a:ext cx="9354312" cy="73152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557784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국가데이터처 | (사)한국직업자격학회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731520"/>
            <a:ext cx="365760" cy="32004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731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06240" y="731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연구 개요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143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1. 연구 배경 및 필요성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1463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2. 연구 목적 및 범위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3. 연구 추진 전략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240280"/>
            <a:ext cx="365760" cy="32004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240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연구 수행 방안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1. 직무기술 정의서 작성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971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2. 국내·외 사례 분석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291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3. 구조적 틀 마련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4. 시뮬레이션 검증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4069080"/>
            <a:ext cx="365760" cy="32004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4069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연구 관리 방안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4480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1. 연구 조직 및 일정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800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2. 예산 계획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5120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3. 리스크 관리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Ⅰ. 연구 개요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347472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1. 연구 배경 및 필요성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384048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2. 연구 목적 및 범위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20624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3. 연구 추진 전략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연구 배경 및 필요성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ISCO-28 전면 개정에 대비하여, 직업분류 편제 기준인 직능유형 프레임워크의 구축이 시급함.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3891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직업분류 체계의 정책적 중요성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국가 차원의 직업분류체계는 노동시장 통계 생산뿐만 아니라 직업정보 제공, 인력수급 분석, 교육·훈련 정책 설계 등 다양한 정책 영역에서 활용되는 핵심 기반 인프라임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우리나라의 한국표준직업분류(KSCO) 역시 국제표준직업분류(ISCO-08)를 기반으로 구축되어 국가 통계 및 행정자료 생산의 표준 기준으로 활용되고 있음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ISCO-28 개정 동향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국제노동기구(ILO)는 ISCO-28 개정 논의 과정에서 직능수준체계를 교육(Education), 책임성(Responsibility), 경험(Experience), 업무기반학습(Work-based learning) 등으로 확대 중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노동시장 환경의 급격한 변화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기술혁신, 디지털 전환, 새로운 산업의 등장 등으로 인해 직업 구조가 빠르게 변화하고 있음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828800"/>
            <a:ext cx="2103120" cy="43891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해외 (O*NET 등)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✓ 업무활동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2606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✓ 기술·도구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✓ 역량·능력·지식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0" y="3246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✓ 학력·자격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2064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✓ 업무환경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✓ 임금·고용전망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⇒ 다차원 구조화 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1828800"/>
            <a:ext cx="2103120" cy="4389120"/>
          </a:xfrm>
          <a:prstGeom prst="rect">
            <a:avLst/>
          </a:prstGeom>
          <a:solidFill>
            <a:srgbClr val="FFE8E8"/>
          </a:solidFill>
          <a:ln w="25400">
            <a:solidFill>
              <a:srgbClr val="D4A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국내 (KSCO)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✓ 직업명, 코드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06640" y="2606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✓ 직무 정의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✓ 주요 업무(서술형)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3246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✗ 구조화된 정보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✗ 역량·기술·도구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✗ 업무환경·자격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0664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⇒ 서술형 텍스트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86600" y="4114800"/>
            <a:ext cx="228600" cy="457200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437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GAP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연구 배경 및 필요성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현행 한국표준직업분류는 직업정보가 서술형·비구조화 형태로, 직업 간 체계적 비교·분석 및 정책 활용에 한계가 있음.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301752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❶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서술형 문장 형태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직업의 수행 활동이 서술형 문장 형태로 제시. 직무활동 단위로 구조화되어 있지 않아 비교 분석 어려움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301752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2336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표준화된 분류 부재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동일한 업무활동이 서로 다른 표현으로 기술되어 유사성 분석이 곤란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828800"/>
            <a:ext cx="301752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920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2376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데이터 구조 미구축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직업정보가 데이터 구조 형태로 구축되어 있지 않아 DB 구축·활용에 제한적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754880"/>
            <a:ext cx="2286000" cy="54864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54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직업정보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프레임워크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구축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4983480"/>
            <a:ext cx="274320" cy="9144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0" y="4892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49040" y="4754880"/>
            <a:ext cx="2286000" cy="54864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4754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직업 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업무활동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유사성·차이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분석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4983480"/>
            <a:ext cx="274320" cy="9144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4892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66560" y="4754880"/>
            <a:ext cx="2286000" cy="54864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4754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직업분류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체계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고도화·개정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연구 목적 및 범위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본 연구의 목적은 KSCO 직업정보의 DB를 구축하고, 직업분류 고도화의 기반을 마련하는 것임.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935431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8988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ISCO-28 개정안에 따른 대분류 등 전면 개정을 위해 직업분류 편제 기준인 직능유형 프레임워크를 구축하고, 직업별 특성과 요구조건 등을 구분할 수 있는 직업정보 DB 구축 기반을 마련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214884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[영역1]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직무기술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정의서 작성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437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M+2~5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794760"/>
            <a:ext cx="1874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KSCO 직업 선정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직무기술서 작성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핵심 활동 추출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4206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2834640"/>
            <a:ext cx="214884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926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[영역2]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국내외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사례분석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352044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437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M+1~3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3794760"/>
            <a:ext cx="1874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O*NET 구조 분석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ISCO-28 개정안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국내 사례 검토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4206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2834640"/>
            <a:ext cx="214884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926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[영역3]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구조적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틀 마련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352044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437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M+3~6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57800" y="3794760"/>
            <a:ext cx="1874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6대 차원 설계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요소 구조화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프레임워크 정의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0" y="4206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2834640"/>
            <a:ext cx="214884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2926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[영역4]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시뮬레이션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검증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35240" y="352044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437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M+5~7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3794760"/>
            <a:ext cx="1874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중분류 시범 적용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변별력 검토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최종 확정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연구 추진 전략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'데이터 기반 귀납적 접근'과 '국제 검증 체계 참조'를 결합한 연구 전략을 수립함.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2560320" cy="109728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STEP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데이터 수집·분석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KSCO 텍스트 수집·정제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AI/NLP 직무활동 추출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O*NET 참조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1874520"/>
            <a:ext cx="2560320" cy="109728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STEP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프레임워크 설계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6대 차원 구조 설계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구성요소 선정·구조화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국내외 사례 반영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1874520"/>
            <a:ext cx="2560320" cy="109728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STEP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시뮬레이션 검증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중분류 시범 적용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변별력·적용가능성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전문가 검토·확정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4389120" cy="256032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83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귀납적 접근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KSCO에서 AI로 직무활동을 직접 추출·구조화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48072" y="3291840"/>
            <a:ext cx="4389120" cy="25603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0952" y="3383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국제 참조 체계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30952" y="374904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O*NET Work Activities 분류체계를 참고 프레임워크로 활용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핵심 차별점 — AI(NLP) 기반 방법론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본 연구는 AI 기반 텍스트 분석과 O*NET 참조 프레임워크를 결합하여, 직무활동을 체계적으로 추출·구조화하는 차별화된 방법론을 적용함.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4389120" cy="1188720"/>
          </a:xfrm>
          <a:prstGeom prst="rect">
            <a:avLst/>
          </a:prstGeom>
          <a:solidFill>
            <a:srgbClr val="FFE8E8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기존 방법론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전문가 수작업 판단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개별 독립적 기술서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서술형 문장 중심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비교 기준 부재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39512" y="1783080"/>
            <a:ext cx="4389120" cy="118872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2392" y="18288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제안 방법론(본 연구)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22392" y="21031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AI/NLP 텍스트 분석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표준화 직무요소 구조화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O*NET 참조 분류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체계적 비교·분석 가능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전문가 검증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828800" cy="54864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① 텍스트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수집·정제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23160" y="3383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51760" y="3246120"/>
            <a:ext cx="1828800" cy="54864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② NLP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구조 분석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3383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1828800" cy="54864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③ 행동 동사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추출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3383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3246120"/>
            <a:ext cx="1828800" cy="54864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④ 유사 활동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군집화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83880" y="32004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→ O*NET 참조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표준화 직무요소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최종 구조화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023360"/>
            <a:ext cx="93543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이 파이프라인을 통해 KSCO의 서술형 직업정보를 체계적으로 구조화된 직무활동 기반 DB로 전환하여, 직업 간 비교·분석이 가능한 프레임워크를 구축함.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Ⅱ. 연구 수행 방안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329184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1. 직무기술 정의서 작성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365760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2. 국내·외 사례 분석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02336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3. 구조적 틀 마련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38912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4. 시뮬레이션 검증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[영역1] 직무기술 정의서 작성 — 개요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한국표준직업분류 세분류 수준 직업을 대상으로, 직무 수행 내용 중심의 직무기술 정의서를 체계적으로 작성함.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연구 대상: KSCO 세분류 수준 직업 대상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(대10/중42/소149/세426/세세1,206개)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작성 절차: 현행 업무내용 기술 검토 → 표준화 직무요소 도출 → 직무기술 정의서 구성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직업 간 비교 가능성 확보: 직무요소를 공통 기준에 따라 구조화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828800"/>
            <a:ext cx="3959352" cy="43891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920240"/>
            <a:ext cx="3593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직무기술 정의서 구조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2377440"/>
            <a:ext cx="34107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2377440"/>
            <a:ext cx="3319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① 직업 개요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880360"/>
            <a:ext cx="34107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880360"/>
            <a:ext cx="3319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② 주요 업무내용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3383280"/>
            <a:ext cx="34107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383280"/>
            <a:ext cx="3319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③ 핵심 직무활동(AI 추출)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886200"/>
            <a:ext cx="34107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3886200"/>
            <a:ext cx="3319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④ 표준화 직무요소(O*NET 참조 구조화)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[영역1] 직무기술 정의서 — AI 기반 방법론 상세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AI 기반 텍스트 분석을 통해 직무활동을 추출하고, O*NET 업무활동 분류체계를 참고하여 표준화된 직무요소로 구조화함.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754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분석 대상: KSCO 직업 설명 텍스트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직업 설명의 특성: 문장 형태, 다양한 표현, 구조적 관계 미제시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O*NET 업무활동 계층: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GWA(41개, 4대 범주) → IWA → DWA(약 2,000개) → Tasks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직무활동 분류 유형(5가지):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정보수집·분석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문제해결·의사결정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대인서비스·의사소통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조직관리·조정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기술·장비 활용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182880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O*NET 계층구조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496312" cy="54864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28600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GWA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108960"/>
            <a:ext cx="2496312" cy="54864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10896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IWA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7033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2496312" cy="54864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93192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DWA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45262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754880"/>
            <a:ext cx="2496312" cy="54864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75488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Tasks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[영역1] 표준화 직무요소 구조화 예시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직업명이나 직무 표현이 다르더라도, 공통된 직무요소를 기준으로 직업 간 유사성과 차이를 체계적으로 비교할 수 있음.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• 직업 간 공통 활동 통합  • 의미적 유사 활동 군집화  • 수행 목적 중심 재구성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1188720" cy="45720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86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구분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2286000"/>
            <a:ext cx="1371600" cy="45720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직업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2286000"/>
            <a:ext cx="3200400" cy="45720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업무내용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286000"/>
            <a:ext cx="3593592" cy="457200"/>
          </a:xfrm>
          <a:prstGeom prst="rect">
            <a:avLst/>
          </a:prstGeom>
          <a:solidFill>
            <a:srgbClr val="00419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28600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표준화 직무요소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11887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43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동일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63040" y="2743200"/>
            <a:ext cx="1371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교사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274320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학생에게 교육과정 가르침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2743200"/>
            <a:ext cx="3593592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74320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지식전달, 의사소통, 학습자이해, 수업설계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동일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63040" y="320040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강사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34640" y="320040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수강생에게 이론·기술 가르침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200400"/>
            <a:ext cx="35935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320040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지식전달, 의사소통, 학습자이해, 수업설계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657600"/>
            <a:ext cx="118872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657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유사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463040" y="3657600"/>
            <a:ext cx="1371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3657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데이터 분석가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34640" y="3657600"/>
            <a:ext cx="3200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0360" y="3657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데이터 가공·분석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35040" y="3657600"/>
            <a:ext cx="3593592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365760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분석, 데이터 해석, 의사결정 지원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11480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114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유사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463040" y="411480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0876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마케팅 전문가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34640" y="411480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80360" y="4114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시장 정보 분석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35040" y="4114800"/>
            <a:ext cx="35935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411480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분석, 데이터 해석, 전략 수립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" y="4754880"/>
            <a:ext cx="9354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▸ 교사/강사: 교육 대상·환경이 다르나 직무요소 수준에서 동일 구조 공유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4320" y="5029200"/>
            <a:ext cx="9354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▸ 데이터 분석가/마케팅 전문가: 분석 대상 상이하나 "분석"과 "데이터 해석" 핵심 직무요소 공통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[영역2] 국내·외 사례 분석 - 해외 직업정보 체계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미국 O*NET, 국제표준직업분류(ISCO-08) 등 주요 선진국의 직업정보 체계를 분석하여, 직능유형 구성요소 도입의 방향성을 도출함.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3891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O*NET 콘텐츠 모델의 특성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O*NET은 미국의 대표적인 직업정보 시스템으로, 1,016개 직업명을 포함하고 923개의 O*NET 데이터 수준 직업으로 55,000개 이상의 일자리를 나타냄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O*NET 콘텐츠 모델은 직업 중심 관점(Job-oriented)과 근로자 중심 관점(Worker-oriented)을 함께 반영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6개 영역으로 구성: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① 근로자 특성 ② 근로자 요구사항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③ 경력 요구사항 ④ 직업 요구사항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  ⑤ 노동력 특성 ⑥ 직업 특정 정보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828800"/>
          <a:ext cx="4754880" cy="438912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국가/기구</a:t>
                      </a:r>
                      <a:endParaRPr lang="en-US" sz="10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Tasks</a:t>
                      </a:r>
                      <a:endParaRPr lang="en-US" sz="10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직업수</a:t>
                      </a:r>
                      <a:endParaRPr lang="en-US" sz="10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특징</a:t>
                      </a:r>
                      <a:endParaRPr lang="en-US" sz="10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O*NET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(미국)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18,796개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1,016개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6개 영역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다차원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ISCO-08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(국제/ILO)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Tasks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중심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436개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세분류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4단계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계층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ESCO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(유럽)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13,890개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3,008개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직업+기술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+자격 연계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NOC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(캐나다)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-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500개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세분류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기술유형+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기술수준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aperlogy-4Regular" pitchFamily="34" charset="0"/>
                          <a:ea typeface="Paperlogy-4Regular" pitchFamily="34" charset="-122"/>
                          <a:cs typeface="Paperlogy-4Regular" pitchFamily="34" charset="-120"/>
                        </a:rPr>
                        <a:t>2차원</a:t>
                      </a:r>
                      <a:endParaRPr lang="en-US" sz="900" dirty="0">
                        <a:latin typeface="Paperlogy-4Regular" charset="0"/>
                        <a:ea typeface="Paperlogy-4Regular" charset="0"/>
                        <a:cs typeface="Paperlogy-4Regular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[영역2] 국내·외 사례 분석 - 국내 체계 및 비교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국내 6개 직업정보 체계를 해외 체계와 비교 분석한 결과, O*NET은 거의 모든 구성요소를 포괄하는 반면 KSCO는 기본 정보 중심으로 부가정보가 부족함.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9354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KSCO(통계청, 국가표준분류): 10/42/149/426/1,206개 | KECO(고용서비스용) | 워크피디아(고용노동부, 500여개 직업, 다차원) | 한국직업사전(6,000여개) | NCS(24대분류, 1,100세분류) | KQF/SQF(8개 수준)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9354312" cy="393192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구분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O*NET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ISCO-08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KSCO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KECO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워크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피디아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직업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사전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NCS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KQF/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SQF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19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기본식별정보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직무 정의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주요업무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기술/도구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역량/지식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학력/자격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업무환경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임금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일자리전망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4193"/>
                          </a:solidFill>
                        </a:rPr>
                        <a:t>○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A437"/>
                          </a:solidFill>
                        </a:rPr>
                        <a:t>△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[영역2→3] 국내 적용방안 검토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국내외 사례 비교 분석 결과를 바탕으로, 한국형 직능유형 6대 차원의 설계 근거와 적용방안을 도출함.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389120" cy="109728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미국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SOC ↔ O*NET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하나의 통합 구조로 운영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DOT부터 축적된 직무DB 기반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39512" y="1828800"/>
            <a:ext cx="438912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2392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한국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22392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KSCO, KECO 분리 운영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직접 연계 미비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직무활동 단위 체계적 정보 부족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3474720" cy="36576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① 주요 업무 최신화·보강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3310128"/>
            <a:ext cx="365760" cy="146304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3200400"/>
            <a:ext cx="4873752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20040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업무 차원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3474720" cy="36576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② 부가정보 보강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3858768"/>
            <a:ext cx="365760" cy="146304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4873752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74904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지식·기술·능력·도구·환경 차원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3474720" cy="365760"/>
          </a:xfrm>
          <a:prstGeom prst="rect">
            <a:avLst/>
          </a:prstGeom>
          <a:solidFill>
            <a:srgbClr val="E8EDF3"/>
          </a:solidFill>
          <a:ln w="12700">
            <a:solidFill>
              <a:srgbClr val="0041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③ KQF/SQF 연계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4407408"/>
            <a:ext cx="365760" cy="146304"/>
          </a:xfrm>
          <a:prstGeom prst="rect">
            <a:avLst/>
          </a:prstGeom>
          <a:solidFill>
            <a:srgbClr val="D4A437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437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97680" y="4297680"/>
            <a:ext cx="4873752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29768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역량 수준 연계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5212080"/>
            <a:ext cx="9354312" cy="73152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212080"/>
            <a:ext cx="8988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한국형 직능유형 6대 차원(안) 도출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[영역3] 한국형 직능유형 6대 차원 프레임워크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본 연구에서는 직업 수행 과정에서 나타나는 핵심 요소를 중심으로, 업무·지식·기술·능력·도구·환경의 6대 차원을 제안함.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3017520" cy="10515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업무(Work Activities)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직업 수행 과정에서 수행되는 주요 업무활동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920240"/>
            <a:ext cx="3017520" cy="10515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지식(Knowledge)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3317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직무 수행을 위해 요구되는 이론적·전문적 지식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920240"/>
            <a:ext cx="3017520" cy="10515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기술(Skills)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23317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업무 과정에서 활용되는 실무적 기술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3017520" cy="10515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54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능력(Abilities)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직무 수행에 요구되는 인지적·신체적 능력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3108960"/>
            <a:ext cx="3017520" cy="10515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154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도구(Tools &amp; Technology)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520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업무 수행에 활용되는 장비, 기술, SW 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3108960"/>
            <a:ext cx="3017520" cy="105156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154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환경(Work Context)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3520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업무 수행 과정의 물리적·사회적 업무 환경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3520440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KSCO 직업정보 프레임워크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5120640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국내외 사례 분석 결과 및 전문가 검토를 거쳐 조정·확정 가능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[영역3] 구성요소 설계 기준 및 정책적 활용 방안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직능유형 구성요소는 직업 간 비교 가능하고 행정 데이터와 연계 가능한 구조로 설계하며, 향후 지속적으로 갱신 가능한 프레임워크로서 설계함.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389120" cy="86868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① 직업 간 기능적 비교가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가능한 구조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389120" cy="86868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② 행정 데이터(고용보험, 국가자격 등)와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연계 가능한 구조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840480"/>
            <a:ext cx="4389120" cy="86868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9319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③ 직업분류 체계와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연계 가능한 정보 구조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정책적 활용 방안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직업군 재구조화 검토 지원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신규 직업 분류 배치 근거 제공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직업분류 개정 시 체계적 분석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 간 전환 가능성 분석 기초 자료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 변동 모니터링 체계 구축 지원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5029200"/>
            <a:ext cx="9354312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02920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일회성 분석 도구가 아닌, 지속적으로 축적·갱신될 수 있는 프레임워크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[영역4] 시뮬레이션을 통한 검증 및 전문가 검토·조정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한국표준직업분류 중분류 일부를 대상으로 시뮬레이션을 실시하고, 전문가 검토를 거쳐 구성요소를 최종 확정할 계획임.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대상 선정 기준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서로 다른 산업 대표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지식+기술 혼합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직무 수행 방식 명확 구분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4단계 분석 절차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① 직업 설명 분석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② 활동 추출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③ 차원별 재구성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④ 변별력 검토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2560320"/>
            <a:ext cx="1051560" cy="7315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56032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시뮬레이션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실행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1051560" cy="7315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56032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결과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분석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589520" y="2560320"/>
            <a:ext cx="1051560" cy="7315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256032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전문가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검토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0" y="2697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61120" y="2560320"/>
            <a:ext cx="1051560" cy="73152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56032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최종안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확정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3840480"/>
            <a:ext cx="93543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전문가 검토 항목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□ 차원 구분 적절성   □ 구성요소 타당성   □ KSCO 정합성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□ 정책 적용성   □ 개정 활용성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9354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Ⅲ. 연구 관리 방안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347472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1. 수행조직 및 업무분장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384048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2. 추진일정 및 수행절차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20624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3. 수행기관 역량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572000"/>
            <a:ext cx="9354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4. 품질·보안 관리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수행조직 및 업무분장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연구책임자 포함 총 6명의 전문 연구진을 구성하고, 4대 영역별로 명확한 역할을 분담하여 과제를 수행함.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21031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연구책임자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2103120" cy="4572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783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통계청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(주관부서)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029968"/>
            <a:ext cx="2011680" cy="54864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공동연구자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(갑)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286000"/>
            <a:ext cx="54864" cy="45720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공동연구자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(을)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286000"/>
            <a:ext cx="54864" cy="45720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공동연구자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(병)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3474720"/>
            <a:ext cx="25603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연구보조원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(1)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3200400"/>
            <a:ext cx="54864" cy="2743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3474720"/>
            <a:ext cx="2560320" cy="457200"/>
          </a:xfrm>
          <a:prstGeom prst="rect">
            <a:avLst/>
          </a:prstGeom>
          <a:solidFill>
            <a:srgbClr val="E8EDF3"/>
          </a:solidFill>
          <a:ln w="25400">
            <a:solidFill>
              <a:srgbClr val="0041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연구보조원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4193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(2)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3200400"/>
            <a:ext cx="54864" cy="274320"/>
          </a:xfrm>
          <a:prstGeom prst="rect">
            <a:avLst/>
          </a:prstGeom>
          <a:solidFill>
            <a:srgbClr val="004193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206240"/>
          <a:ext cx="9354312" cy="2286000"/>
        </p:xfrm>
        <a:graphic>
          <a:graphicData uri="http://schemas.openxmlformats.org/drawingml/2006/table">
            <a:tbl>
              <a:tblPr/>
              <a:tblGrid>
                <a:gridCol w="3118104"/>
                <a:gridCol w="3118104"/>
                <a:gridCol w="3118104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구분</a:t>
                      </a:r>
                      <a:endParaRPr lang="en-US" sz="10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역할 분담 내용</a:t>
                      </a:r>
                      <a:endParaRPr lang="en-US" sz="10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참여율</a:t>
                      </a:r>
                      <a:endParaRPr lang="en-US" sz="10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연구책임자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사업총괄, 연구방향 설정, 보고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공동연구자(갑)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국내외 사례분석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공동연구자(을)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구조적 틀 설계, 시뮬레이션 검증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공동연구자(병)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직무기술 정의 표준화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연구보조원(1)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자료 수집 및 분석 지원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연구보조원(2)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행정업무 지원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추진일정 및 수행절차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계약체결일로부터 8개월간 4대 영역을 단계적으로 추진하며, 보고회 3회·중간점검 2회를 통해 발주기관과 긴밀히 소통할 계획임.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28800"/>
          <a:ext cx="9354312" cy="1645920"/>
        </p:xfrm>
        <a:graphic>
          <a:graphicData uri="http://schemas.openxmlformats.org/drawingml/2006/table">
            <a:tbl>
              <a:tblPr/>
              <a:tblGrid>
                <a:gridCol w="1039368"/>
                <a:gridCol w="1039368"/>
                <a:gridCol w="1039368"/>
                <a:gridCol w="1039368"/>
                <a:gridCol w="1039368"/>
                <a:gridCol w="1039368"/>
                <a:gridCol w="1039368"/>
                <a:gridCol w="1039368"/>
                <a:gridCol w="1039368"/>
              </a:tblGrid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활동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M+1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M+2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M+3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M+4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M+5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M+6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M+7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M+8</a:t>
                      </a:r>
                      <a:endParaRPr lang="en-US" sz="9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사업계획수립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[영역2] 사례분석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[영역1] 배경·필요성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[영역3] 프레임워크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[영역4] 검증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보고서 작성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57600"/>
          <a:ext cx="9354312" cy="548640"/>
        </p:xfrm>
        <a:graphic>
          <a:graphicData uri="http://schemas.openxmlformats.org/drawingml/2006/table">
            <a:tbl>
              <a:tblPr/>
              <a:tblGrid>
                <a:gridCol w="1336330"/>
                <a:gridCol w="1336330"/>
                <a:gridCol w="1336330"/>
                <a:gridCol w="1336330"/>
                <a:gridCol w="1336330"/>
                <a:gridCol w="1336330"/>
                <a:gridCol w="133633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Paperlogy-6SemiBold" pitchFamily="34" charset="0"/>
                          <a:ea typeface="Paperlogy-6SemiBold" pitchFamily="34" charset="-122"/>
                          <a:cs typeface="Paperlogy-6SemiBold" pitchFamily="34" charset="-120"/>
                        </a:rPr>
                        <a:t>마일스톤</a:t>
                      </a:r>
                      <a:endParaRPr lang="en-US" sz="800" dirty="0">
                        <a:latin typeface="Paperlogy-6SemiBold" charset="0"/>
                        <a:ea typeface="Paperlogy-6SemiBold" charset="0"/>
                        <a:cs typeface="Paperlogy-6SemiBold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착수보고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(M+1)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점검1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(M+2)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중간보고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(M+4)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점검2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(M+5)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최종보고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(M+7)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제출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(M+8)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1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2952" cy="731520"/>
          </a:xfrm>
          <a:prstGeom prst="rect">
            <a:avLst/>
          </a:prstGeom>
          <a:solidFill>
            <a:srgbClr val="00419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4193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수행기관 역량 및 품질·보안 관리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9354312" cy="8229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988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(사)한국직업자격학회는 직업·자격 분야 14년 전문 학회로 37건의 연구실적을 보유하고 있으며, 전문가 검증 기반의 품질관리 체계를 운영함.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(사)한국직업자격학회 개요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설립 2012년 | 업력 14년 | 대표 고혜원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37건 수행실적 | 발주처: 통계청, 고용노동부, 산업인력공단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핵심 역량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직업정보 연구 전문성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국제 표준 체계 분석 경험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정부부처 협력 이력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품질 관리 원칙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전문가 검토 필수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샘플 사전검증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이중 검증 체계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보안 관리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연구자료 대외비 관리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발주기관 사전승인 필수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■ 윤리 관리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윤리교육 이수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표절방지 시스템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    • AI 방법 투명성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41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왜 한국직업자격학회인가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29260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① 방법론 차별성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AI(NLP) + O*NET 참조 결합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371600"/>
            <a:ext cx="29260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② 전문 역량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20440" y="219456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14년 전문학회, 37건 실적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29260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4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193"/>
                </a:solidFill>
                <a:latin typeface="Paperlogy-6SemiBold" pitchFamily="34" charset="0"/>
                <a:ea typeface="Paperlogy-6SemiBold" pitchFamily="34" charset="-122"/>
                <a:cs typeface="Paperlogy-6SemiBold" pitchFamily="34" charset="-120"/>
              </a:rPr>
              <a:t>③ 실현 가능성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4193"/>
                </a:solidFill>
                <a:latin typeface="Paperlogy-5Medium" pitchFamily="34" charset="0"/>
                <a:ea typeface="Paperlogy-5Medium" pitchFamily="34" charset="-122"/>
                <a:cs typeface="Paperlogy-5Medium" pitchFamily="34" charset="-120"/>
              </a:rPr>
              <a:t>6대 차원(안) 구체적 설계 완료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5029200"/>
            <a:ext cx="9354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perlogy-8ExtraBold" pitchFamily="34" charset="0"/>
                <a:ea typeface="Paperlogy-8ExtraBold" pitchFamily="34" charset="-122"/>
                <a:cs typeface="Paperlogy-8ExtraBold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4320" y="5760720"/>
            <a:ext cx="9354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(사)한국직업자격학회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0" y="6583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aperlogy-4Regular" pitchFamily="34" charset="0"/>
                <a:ea typeface="Paperlogy-4Regular" pitchFamily="34" charset="-122"/>
                <a:cs typeface="Paperlogy-4Regular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2026-04-15T23:17:34Z</dcterms:created>
  <dcterms:modified xsi:type="dcterms:W3CDTF">2026-04-15T23:17:34Z</dcterms:modified>
</cp:coreProperties>
</file>