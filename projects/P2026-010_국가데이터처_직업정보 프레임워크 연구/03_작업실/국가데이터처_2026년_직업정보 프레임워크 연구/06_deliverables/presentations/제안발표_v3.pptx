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332" r:id="rId2"/>
    <p:sldId id="330" r:id="rId3"/>
    <p:sldId id="366" r:id="rId4"/>
    <p:sldId id="415" r:id="rId5"/>
    <p:sldId id="371" r:id="rId6"/>
    <p:sldId id="426" r:id="rId7"/>
    <p:sldId id="367" r:id="rId8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09" r:id="rId26"/>
    <p:sldId id="408" r:id="rId27"/>
    <p:sldId id="420" r:id="rId28"/>
    <p:sldId id="421" r:id="rId29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43E6359-0AAE-446E-B05D-8FA1BD355E2F}">
          <p14:sldIdLst>
            <p14:sldId id="332"/>
            <p14:sldId id="330"/>
          </p14:sldIdLst>
        </p14:section>
        <p14:section name="1. 사업 개요" id="{9215D373-039F-4EBB-9CB4-23427AC6B03B}">
          <p14:sldIdLst>
            <p14:sldId id="366"/>
            <p14:sldId id="415"/>
            <p14:sldId id="371"/>
            <p14:sldId id="426"/>
          </p14:sldIdLst>
        </p14:section>
        <p14:section name="2. 사업수행 부문" id="{DCD1AC7F-27D4-4B9D-AFE0-35C11C0C98E4}">
          <p14:sldIdLst>
            <p14:sldId id="367"/>
            <p14:sldId id="345"/>
            <p14:sldId id="418"/>
            <p14:sldId id="375"/>
            <p14:sldId id="361"/>
            <p14:sldId id="376"/>
            <p14:sldId id="377"/>
            <p14:sldId id="362"/>
            <p14:sldId id="378"/>
            <p14:sldId id="382"/>
            <p14:sldId id="416"/>
            <p14:sldId id="380"/>
            <p14:sldId id="411"/>
            <p14:sldId id="412"/>
            <p14:sldId id="425"/>
            <p14:sldId id="422"/>
            <p14:sldId id="423"/>
            <p14:sldId id="424"/>
          </p14:sldIdLst>
        </p14:section>
        <p14:section name="4. 제안기관 일반사항" id="{A33BE22A-21B4-47DA-BD35-21DEB3B6175D}">
          <p14:sldIdLst>
            <p14:sldId id="409"/>
            <p14:sldId id="408"/>
            <p14:sldId id="420"/>
            <p14:sldId id="4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orient="horz" pos="4065" userDrawn="1">
          <p15:clr>
            <a:srgbClr val="A4A3A4"/>
          </p15:clr>
        </p15:guide>
        <p15:guide id="9" pos="6068" userDrawn="1">
          <p15:clr>
            <a:srgbClr val="A4A3A4"/>
          </p15:clr>
        </p15:guide>
        <p15:guide id="10" orient="horz" pos="1412" userDrawn="1">
          <p15:clr>
            <a:srgbClr val="A4A3A4"/>
          </p15:clr>
        </p15:guide>
        <p15:guide id="11" pos="3052" userDrawn="1">
          <p15:clr>
            <a:srgbClr val="A4A3A4"/>
          </p15:clr>
        </p15:guide>
        <p15:guide id="12" pos="3188" userDrawn="1">
          <p15:clr>
            <a:srgbClr val="A4A3A4"/>
          </p15:clr>
        </p15:guide>
        <p15:guide id="13" orient="horz" pos="1979" userDrawn="1">
          <p15:clr>
            <a:srgbClr val="A4A3A4"/>
          </p15:clr>
        </p15:guide>
        <p15:guide id="14" orient="horz" pos="142" userDrawn="1">
          <p15:clr>
            <a:srgbClr val="A4A3A4"/>
          </p15:clr>
        </p15:guide>
        <p15:guide id="15" orient="horz" pos="1548" userDrawn="1">
          <p15:clr>
            <a:srgbClr val="A4A3A4"/>
          </p15:clr>
        </p15:guide>
        <p15:guide id="16" orient="horz" pos="18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F2F2F2"/>
    <a:srgbClr val="3057B9"/>
    <a:srgbClr val="212E55"/>
    <a:srgbClr val="004193"/>
    <a:srgbClr val="535353"/>
    <a:srgbClr val="DCF1F9"/>
    <a:srgbClr val="3061A3"/>
    <a:srgbClr val="404040"/>
    <a:srgbClr val="71A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715" autoAdjust="0"/>
  </p:normalViewPr>
  <p:slideViewPr>
    <p:cSldViewPr snapToGrid="0" showGuides="1">
      <p:cViewPr>
        <p:scale>
          <a:sx n="125" d="100"/>
          <a:sy n="125" d="100"/>
        </p:scale>
        <p:origin x="1908" y="774"/>
      </p:cViewPr>
      <p:guideLst>
        <p:guide orient="horz" pos="913"/>
        <p:guide orient="horz" pos="1253"/>
        <p:guide pos="149"/>
        <p:guide orient="horz" pos="550"/>
        <p:guide orient="horz" pos="459"/>
        <p:guide orient="horz" pos="4065"/>
        <p:guide pos="6068"/>
        <p:guide orient="horz" pos="1412"/>
        <p:guide pos="3052"/>
        <p:guide pos="3188"/>
        <p:guide orient="horz" pos="1979"/>
        <p:guide orient="horz" pos="142"/>
        <p:guide orient="horz" pos="1548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3360B-F05D-49FF-9B40-F897C8590C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597B6-67CE-4163-B743-B1B93A835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AD5E-03CD-A802-95AD-77917748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6A824-5626-2914-458E-5ABD4067D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9FD78-4C72-9149-FB4C-E684CD9B0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17B70-9544-CAFD-8935-B6EF3113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42ED4-ACC1-41DB-8FD4-75FC71A17C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2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9E4C-60CA-96B1-6BAE-E6E2F20E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578EF2-7E42-F9C9-0B03-AE785B8D4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E8ECC-940C-5572-2A04-FAABACF2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223CF-4419-3F46-FAA1-8C1AC081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09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9252-D905-92C7-FCF8-A14550E1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600721-5908-5783-EC6A-D1EFB66AA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09EF7-01EE-DA81-D137-F58522964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C9931-FB0B-CD3E-52D9-F2DDDE7D3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1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B32-A91F-D82D-46AB-8C712B41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C87D7F-4DC9-8E46-F9B0-7C19A7BA3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21644F-0789-4A85-E080-4B3BF6EB2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96600-83AE-9CD9-5CAB-FD7A3FCD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43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D975-128C-E76A-2DA6-6C10CC83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5C323D-2DA1-8D60-A843-3F4E45CF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A426EC-1F13-0AF5-EB60-C76E5878B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0F95D-B7E4-10CF-FE1F-D8648AE6E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726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FE5B-D1BF-246E-634B-C32BA954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07449-8CF5-0A46-D855-BF8137F71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150263-89F4-48A9-3152-1A4DC36C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15089-798A-6792-1437-B37064CBD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39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B955-E301-EC3F-83C8-8CC12A9A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7BF2EE-B7DA-95A1-5DB6-90BD0AD7D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F625EE-E917-45E0-22D0-62369C022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8D183-0208-4FCD-74B3-CF8215D73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653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1AA5D3-522E-02FE-4A38-175F607D28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80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0B5A-A826-58A3-78C1-69922E91ED8E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선도기업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전략직종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직무개발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직무디자인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연구용역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B682C45-12F4-CD5E-8899-3586E82D292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6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30427-A488-428C-47F5-5EDD25491CE1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선도기업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전략직종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직무개발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직무디자인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연구용역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C7F39C7-D9C4-A399-B790-88A5D3E1293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12037-49F0-F0BD-6E90-1CC37526969D}"/>
              </a:ext>
            </a:extLst>
          </p:cNvPr>
          <p:cNvGrpSpPr/>
          <p:nvPr userDrawn="1"/>
        </p:nvGrpSpPr>
        <p:grpSpPr>
          <a:xfrm>
            <a:off x="0" y="-2824"/>
            <a:ext cx="9906000" cy="708569"/>
            <a:chOff x="0" y="-2824"/>
            <a:chExt cx="9906000" cy="7392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80ABAE-41FF-A726-D253-37E6E47F3E3A}"/>
                </a:ext>
              </a:extLst>
            </p:cNvPr>
            <p:cNvSpPr/>
            <p:nvPr userDrawn="1"/>
          </p:nvSpPr>
          <p:spPr>
            <a:xfrm>
              <a:off x="0" y="-2824"/>
              <a:ext cx="9896811" cy="739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FF08060-CA4F-FD4E-2E21-8E1314C18D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21732" b="48952"/>
            <a:stretch>
              <a:fillRect/>
            </a:stretch>
          </p:blipFill>
          <p:spPr>
            <a:xfrm>
              <a:off x="7306227" y="665"/>
              <a:ext cx="2590584" cy="73576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9A3B34-8B59-C710-9376-18C31BF07CFD}"/>
                </a:ext>
              </a:extLst>
            </p:cNvPr>
            <p:cNvSpPr/>
            <p:nvPr userDrawn="1"/>
          </p:nvSpPr>
          <p:spPr>
            <a:xfrm>
              <a:off x="257729" y="-2821"/>
              <a:ext cx="618550" cy="735757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D744332-BC5A-26D6-3F24-4ACE498202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55768" y="158731"/>
              <a:ext cx="422479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8DD19D5-2DFF-1122-C614-54E969F3133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6427"/>
              <a:ext cx="9906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92160A-AE33-EC05-DE7F-4D88B4DDB714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선도기업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전략직종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직무개발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</a:t>
            </a:r>
            <a:r>
              <a:rPr lang="ko-KR" altLang="en-US" sz="900" kern="1200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직무디자인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 연구용역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525220C-6F4D-07DC-339D-EFA742733CB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58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63CD-C894-4517-B9CF-A2C7A06EAF4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E4FF-9C59-483A-9030-FFCEC36C1D7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0" b="78120"/>
          <a:stretch/>
        </p:blipFill>
        <p:spPr>
          <a:xfrm>
            <a:off x="1" y="5940170"/>
            <a:ext cx="1129993" cy="9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9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890FB-6662-4C0C-A235-FB94F8DD481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2B35-6339-49B5-83E5-FA6F7F9C56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49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74" r:id="rId3"/>
    <p:sldLayoutId id="2147483667" r:id="rId4"/>
    <p:sldLayoutId id="214748367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5A6-32DF-4497-4696-5CF2A2A8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EBE20C3-06CA-DA8E-C03B-8E0449A5E6A8}"/>
              </a:ext>
            </a:extLst>
          </p:cNvPr>
          <p:cNvGrpSpPr/>
          <p:nvPr/>
        </p:nvGrpSpPr>
        <p:grpSpPr>
          <a:xfrm>
            <a:off x="236538" y="605780"/>
            <a:ext cx="9432925" cy="461665"/>
            <a:chOff x="381000" y="692150"/>
            <a:chExt cx="9288463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2FA6CE-D8EF-D332-A7C8-87A2DD582A08}"/>
                </a:ext>
              </a:extLst>
            </p:cNvPr>
            <p:cNvSpPr txBox="1"/>
            <p:nvPr/>
          </p:nvSpPr>
          <p:spPr>
            <a:xfrm>
              <a:off x="381000" y="692150"/>
              <a:ext cx="4921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[</a:t>
              </a:r>
              <a:r>
                <a:rPr lang="ko-KR" altLang="en-US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제안발표자료</a:t>
              </a:r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]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0D6B788-2597-2FDD-0426-6DA5C4FFFCCA}"/>
                </a:ext>
              </a:extLst>
            </p:cNvPr>
            <p:cNvCxnSpPr>
              <a:cxnSpLocks/>
            </p:cNvCxnSpPr>
            <p:nvPr/>
          </p:nvCxnSpPr>
          <p:spPr>
            <a:xfrm>
              <a:off x="2319130" y="922982"/>
              <a:ext cx="7350333" cy="0"/>
            </a:xfrm>
            <a:prstGeom prst="line">
              <a:avLst/>
            </a:prstGeom>
            <a:ln w="38100">
              <a:solidFill>
                <a:srgbClr val="0041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E059981-76CA-754C-80E6-7C2AFA8CC536}"/>
              </a:ext>
            </a:extLst>
          </p:cNvPr>
          <p:cNvCxnSpPr>
            <a:cxnSpLocks/>
          </p:cNvCxnSpPr>
          <p:nvPr/>
        </p:nvCxnSpPr>
        <p:spPr>
          <a:xfrm>
            <a:off x="236538" y="6156008"/>
            <a:ext cx="9432925" cy="0"/>
          </a:xfrm>
          <a:prstGeom prst="line">
            <a:avLst/>
          </a:prstGeom>
          <a:ln w="38100">
            <a:solidFill>
              <a:srgbClr val="0041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8C77B4-F35D-267E-0953-31D57AF90B89}"/>
              </a:ext>
            </a:extLst>
          </p:cNvPr>
          <p:cNvSpPr txBox="1"/>
          <p:nvPr/>
        </p:nvSpPr>
        <p:spPr>
          <a:xfrm>
            <a:off x="236536" y="2207528"/>
            <a:ext cx="9432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직업분류 고도화를 위한 직업정보 프레임워크 연구</a:t>
            </a:r>
            <a:endParaRPr lang="en-US" altLang="ko-KR" sz="4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BB41E-DBCF-A3A1-E1F8-7B9D1485EC64}"/>
              </a:ext>
            </a:extLst>
          </p:cNvPr>
          <p:cNvSpPr txBox="1"/>
          <p:nvPr/>
        </p:nvSpPr>
        <p:spPr>
          <a:xfrm>
            <a:off x="2492135" y="3822750"/>
            <a:ext cx="4921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2026. 04.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DD980D-2BC0-D722-7171-32DAB963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6" y="6280346"/>
            <a:ext cx="1871889" cy="457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281E2-A120-D6AE-A2F2-028103F4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28846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7FC0-A881-C75D-8DA9-BEB2F392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3A18942-9AED-5DC5-EC5A-B8D94A848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6A6349-919E-3139-2B5E-5AD363204BB9}"/>
              </a:ext>
            </a:extLst>
          </p:cNvPr>
          <p:cNvSpPr/>
          <p:nvPr/>
        </p:nvSpPr>
        <p:spPr>
          <a:xfrm>
            <a:off x="653796" y="2023236"/>
            <a:ext cx="2973568" cy="282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36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  <a:cs typeface="+mj-cs"/>
              </a:rPr>
              <a:t>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0927E-FDB8-1803-2915-4C757442FC08}"/>
              </a:ext>
            </a:extLst>
          </p:cNvPr>
          <p:cNvSpPr txBox="1"/>
          <p:nvPr/>
        </p:nvSpPr>
        <p:spPr>
          <a:xfrm>
            <a:off x="374644" y="2724699"/>
            <a:ext cx="3038011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137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직업분류 고도화를 위한 직업정보 프레임워크 연구</a:t>
            </a:r>
            <a:endParaRPr lang="en-US" altLang="ko-KR" sz="1137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EDEAF87-5C57-1925-8D78-1639D83C5D51}"/>
              </a:ext>
            </a:extLst>
          </p:cNvPr>
          <p:cNvGrpSpPr/>
          <p:nvPr/>
        </p:nvGrpSpPr>
        <p:grpSpPr>
          <a:xfrm>
            <a:off x="5101166" y="2985844"/>
            <a:ext cx="4525433" cy="1056054"/>
            <a:chOff x="5101167" y="2798365"/>
            <a:chExt cx="4525433" cy="1056054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0A55359-F61A-BBA7-FB34-5109BD26511E}"/>
                </a:ext>
              </a:extLst>
            </p:cNvPr>
            <p:cNvSpPr/>
            <p:nvPr/>
          </p:nvSpPr>
          <p:spPr>
            <a:xfrm>
              <a:off x="5342646" y="3197316"/>
              <a:ext cx="3933334" cy="3183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134" kern="12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ㅇㅇㅇㅇ</a:t>
              </a:r>
              <a:endParaRPr lang="ko-KR" altLang="en-US" sz="1134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30B3C3-8D3E-4E64-8A6A-D3CC1E1505AB}"/>
                </a:ext>
              </a:extLst>
            </p:cNvPr>
            <p:cNvSpPr/>
            <p:nvPr/>
          </p:nvSpPr>
          <p:spPr>
            <a:xfrm>
              <a:off x="5423401" y="2808672"/>
              <a:ext cx="1127232" cy="330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296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수행 방안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060169B-6274-E627-6557-A37C0DE282E8}"/>
                </a:ext>
              </a:extLst>
            </p:cNvPr>
            <p:cNvSpPr/>
            <p:nvPr/>
          </p:nvSpPr>
          <p:spPr>
            <a:xfrm>
              <a:off x="5101167" y="2798365"/>
              <a:ext cx="377026" cy="3416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162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Ⅱ.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CD58B5-46FA-596C-B652-D992E1D9C589}"/>
                </a:ext>
              </a:extLst>
            </p:cNvPr>
            <p:cNvSpPr/>
            <p:nvPr/>
          </p:nvSpPr>
          <p:spPr>
            <a:xfrm>
              <a:off x="9096710" y="3197319"/>
              <a:ext cx="529890" cy="6571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10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11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74DF9D-9945-6D72-820C-106D8C0E5850}"/>
                </a:ext>
              </a:extLst>
            </p:cNvPr>
            <p:cNvSpPr/>
            <p:nvPr/>
          </p:nvSpPr>
          <p:spPr>
            <a:xfrm>
              <a:off x="9045678" y="2814423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296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10</a:t>
              </a:r>
              <a:endParaRPr lang="ko-KR" altLang="en-US" sz="1296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D710DB-F230-7A9D-1024-9F9AE8F65E13}"/>
              </a:ext>
            </a:extLst>
          </p:cNvPr>
          <p:cNvGrpSpPr/>
          <p:nvPr/>
        </p:nvGrpSpPr>
        <p:grpSpPr>
          <a:xfrm>
            <a:off x="5101166" y="880533"/>
            <a:ext cx="4525433" cy="1733545"/>
            <a:chOff x="5101167" y="880533"/>
            <a:chExt cx="4525433" cy="173354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52A161-FBBD-9111-E50C-F1E69E5954E4}"/>
                </a:ext>
              </a:extLst>
            </p:cNvPr>
            <p:cNvSpPr/>
            <p:nvPr/>
          </p:nvSpPr>
          <p:spPr>
            <a:xfrm>
              <a:off x="5342646" y="1279482"/>
              <a:ext cx="3933334" cy="3183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134" kern="12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ㅇㅇㅇㅇ</a:t>
              </a:r>
              <a:endParaRPr lang="en-US" altLang="ko-KR" sz="1134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667F1F5-BDCB-0C94-2976-E67FB67AF8F8}"/>
                </a:ext>
              </a:extLst>
            </p:cNvPr>
            <p:cNvSpPr/>
            <p:nvPr/>
          </p:nvSpPr>
          <p:spPr>
            <a:xfrm>
              <a:off x="5423401" y="890839"/>
              <a:ext cx="801823" cy="330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296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개요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5E3D720-9742-0AF5-0F1B-77724D9F47E8}"/>
                </a:ext>
              </a:extLst>
            </p:cNvPr>
            <p:cNvSpPr/>
            <p:nvPr/>
          </p:nvSpPr>
          <p:spPr>
            <a:xfrm>
              <a:off x="5101167" y="880533"/>
              <a:ext cx="354584" cy="3416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162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Ⅰ. 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37088B6-5FC2-FA7B-61FB-2B22637430E1}"/>
                </a:ext>
              </a:extLst>
            </p:cNvPr>
            <p:cNvSpPr/>
            <p:nvPr/>
          </p:nvSpPr>
          <p:spPr>
            <a:xfrm>
              <a:off x="9096710" y="1279486"/>
              <a:ext cx="529890" cy="133459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04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05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07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08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30ED46B-FD5C-8D56-D19E-065B4A3638A5}"/>
                </a:ext>
              </a:extLst>
            </p:cNvPr>
            <p:cNvSpPr/>
            <p:nvPr/>
          </p:nvSpPr>
          <p:spPr>
            <a:xfrm>
              <a:off x="9045678" y="896591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296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04</a:t>
              </a:r>
              <a:endParaRPr lang="ko-KR" altLang="en-US" sz="1296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21910D6-AA28-F63F-F087-47BB7980B393}"/>
              </a:ext>
            </a:extLst>
          </p:cNvPr>
          <p:cNvGrpSpPr/>
          <p:nvPr/>
        </p:nvGrpSpPr>
        <p:grpSpPr>
          <a:xfrm>
            <a:off x="5101166" y="4413665"/>
            <a:ext cx="4525434" cy="1171924"/>
            <a:chOff x="5101167" y="5190031"/>
            <a:chExt cx="4525434" cy="117192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B7C8C8-8227-C60A-A470-FA180568DAA0}"/>
                </a:ext>
              </a:extLst>
            </p:cNvPr>
            <p:cNvSpPr/>
            <p:nvPr/>
          </p:nvSpPr>
          <p:spPr>
            <a:xfrm>
              <a:off x="5101167" y="5190031"/>
              <a:ext cx="418704" cy="3416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162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Ⅲ.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8E65E5-7F51-1D49-E649-EDB29BE6AA82}"/>
                </a:ext>
              </a:extLst>
            </p:cNvPr>
            <p:cNvSpPr/>
            <p:nvPr/>
          </p:nvSpPr>
          <p:spPr>
            <a:xfrm>
              <a:off x="5423401" y="5243895"/>
              <a:ext cx="1127232" cy="2917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296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관리 방안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CBC2F2C-925F-EA85-7EA5-47BE401605F6}"/>
                </a:ext>
              </a:extLst>
            </p:cNvPr>
            <p:cNvSpPr/>
            <p:nvPr/>
          </p:nvSpPr>
          <p:spPr>
            <a:xfrm>
              <a:off x="9094666" y="5191684"/>
              <a:ext cx="531935" cy="443263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296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24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60C715F-D957-248E-326B-1D8938BC9FF7}"/>
                </a:ext>
              </a:extLst>
            </p:cNvPr>
            <p:cNvSpPr/>
            <p:nvPr/>
          </p:nvSpPr>
          <p:spPr>
            <a:xfrm>
              <a:off x="5342646" y="5634322"/>
              <a:ext cx="3933334" cy="3183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134" kern="12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ㅇㅇㅇ</a:t>
              </a:r>
              <a:endParaRPr lang="en-US" altLang="ko-KR" sz="113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3B774E7-A2FC-9F32-AB48-C4724F6557B7}"/>
                </a:ext>
              </a:extLst>
            </p:cNvPr>
            <p:cNvSpPr/>
            <p:nvPr/>
          </p:nvSpPr>
          <p:spPr>
            <a:xfrm>
              <a:off x="9096710" y="5634326"/>
              <a:ext cx="529890" cy="72762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24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25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13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26</a:t>
              </a: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AA0A8F43-3D5A-BE32-25DF-02175BF1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03022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2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92D1-4710-AC4F-C2B4-2A4BE3F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777BC9D-A26C-1408-918E-A3D0E876F0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C49092-C3A1-2A18-C74F-62E83092C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9285B-C1BA-2C97-C2D8-1740563B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F53FA7-6911-A5A6-6539-9B9E9F7D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79F94C-4E55-3583-1BF3-7071B55F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1FC34D6-A4E2-A8E1-4D0A-1D429FE66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D18F50-6BFF-F7A7-AAF2-613490D62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C87200-29F9-2B85-B452-B2C7DB4DF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27CA46-1015-0C81-0ABB-E34B46A84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34B9288A-41BB-EC07-15F9-E73EC4904BD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B44D532-352A-497C-41C2-B5BB882BAC3A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Ⅰ.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개요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9B32A977-A3A4-A764-1381-1C0F290591A3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170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ㅇㅇㅇ</a:t>
            </a:r>
            <a:endParaRPr lang="ko-KR" altLang="en-US" sz="17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11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BA0E-569D-0886-073F-890EA1C6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5486BB-618F-A46A-3092-C889FE90AF3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20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3BE1C062-206A-1C3C-5EA3-40F0A577A8B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C13C811C-C68E-D6F5-505C-6795D7DD1678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배경 및 필요성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5E3A2-8B7E-1A8E-EAF7-E08EF1C1D952}"/>
              </a:ext>
            </a:extLst>
          </p:cNvPr>
          <p:cNvSpPr/>
          <p:nvPr/>
        </p:nvSpPr>
        <p:spPr>
          <a:xfrm>
            <a:off x="246264" y="2254015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➀ 직업분류체계의 정책적 중요성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6C26D-1E72-D0BB-7A24-AC2E31F17821}"/>
              </a:ext>
            </a:extLst>
          </p:cNvPr>
          <p:cNvSpPr/>
          <p:nvPr/>
        </p:nvSpPr>
        <p:spPr>
          <a:xfrm>
            <a:off x="246264" y="2587476"/>
            <a:ext cx="4598786" cy="1270149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차원의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직업분류체계는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노동시장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생산뿐만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아니라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제공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인력수급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교육·훈련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다양한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영역에서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활용되는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핵심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인프라임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우리나라의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국제표준직업분류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(ISCO-08)를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구축되어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및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행정자료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기준으로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06DDD6-A4CD-B0CE-54A1-36CA5A2F05B4}"/>
              </a:ext>
            </a:extLst>
          </p:cNvPr>
          <p:cNvSpPr/>
          <p:nvPr/>
        </p:nvSpPr>
        <p:spPr>
          <a:xfrm>
            <a:off x="246264" y="4108594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➁ 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개정 동향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DDD73B-C608-D1CC-49EC-6774AE9710C8}"/>
              </a:ext>
            </a:extLst>
          </p:cNvPr>
          <p:cNvSpPr/>
          <p:nvPr/>
        </p:nvSpPr>
        <p:spPr>
          <a:xfrm>
            <a:off x="246264" y="4427626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국제노동기구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(ILO)는 ISCO-28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논의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과정에서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직능수준체계를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(Education),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책임성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(Responsibility),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경험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(Experience),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업무기반학습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(Work-based learning)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확대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96E71C-7804-9219-AB48-4026506D0793}"/>
              </a:ext>
            </a:extLst>
          </p:cNvPr>
          <p:cNvSpPr/>
          <p:nvPr/>
        </p:nvSpPr>
        <p:spPr>
          <a:xfrm>
            <a:off x="246264" y="5412707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➂ 노동시장 환경의 급격한 변화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915DA3-C732-C719-298E-4E38C2EE4C3D}"/>
              </a:ext>
            </a:extLst>
          </p:cNvPr>
          <p:cNvSpPr/>
          <p:nvPr/>
        </p:nvSpPr>
        <p:spPr>
          <a:xfrm>
            <a:off x="246264" y="5731738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기술혁신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디지털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새로운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변화하고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BBA6597D-31BB-A0D3-5375-BD8FF7994978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국제표준직업분류</a:t>
            </a:r>
            <a:r>
              <a:rPr lang="en-US" altLang="ko-KR" dirty="0"/>
              <a:t>(ISCO-28)</a:t>
            </a:r>
            <a:r>
              <a:rPr lang="ko-KR" altLang="en-US" dirty="0"/>
              <a:t>의 개정 작업이 진행됨에 따라 이를 국내 직업분류체계에 반영하기 위한 직업정보 프레임워크 구축이 필요함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46">
            <a:extLst>
              <a:ext uri="{FF2B5EF4-FFF2-40B4-BE49-F238E27FC236}">
                <a16:creationId xmlns:a16="http://schemas.microsoft.com/office/drawing/2014/main" id="{9F547768-954C-A474-CCD3-7BD9091EBE64}"/>
              </a:ext>
            </a:extLst>
          </p:cNvPr>
          <p:cNvSpPr txBox="1"/>
          <p:nvPr/>
        </p:nvSpPr>
        <p:spPr>
          <a:xfrm>
            <a:off x="261816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배경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30D292-F0F9-DF1B-37FC-D4C2253D9854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46">
            <a:extLst>
              <a:ext uri="{FF2B5EF4-FFF2-40B4-BE49-F238E27FC236}">
                <a16:creationId xmlns:a16="http://schemas.microsoft.com/office/drawing/2014/main" id="{D2FAC21B-7811-A33E-D8E0-59C973FC1E64}"/>
              </a:ext>
            </a:extLst>
          </p:cNvPr>
          <p:cNvSpPr txBox="1"/>
          <p:nvPr/>
        </p:nvSpPr>
        <p:spPr>
          <a:xfrm>
            <a:off x="5083054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필요성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B73AD7-8959-689C-B63E-BF9EBAC1E03F}"/>
              </a:ext>
            </a:extLst>
          </p:cNvPr>
          <p:cNvCxnSpPr>
            <a:cxnSpLocks/>
          </p:cNvCxnSpPr>
          <p:nvPr/>
        </p:nvCxnSpPr>
        <p:spPr>
          <a:xfrm>
            <a:off x="5083054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F38914-5EB6-6F1C-B3D0-5959444B05AC}"/>
              </a:ext>
            </a:extLst>
          </p:cNvPr>
          <p:cNvSpPr/>
          <p:nvPr/>
        </p:nvSpPr>
        <p:spPr>
          <a:xfrm>
            <a:off x="5060949" y="2248258"/>
            <a:ext cx="214947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해외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(O*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NET </a:t>
            </a:r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등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231434-0316-1A8B-7647-6CB15A585330}"/>
              </a:ext>
            </a:extLst>
          </p:cNvPr>
          <p:cNvSpPr/>
          <p:nvPr/>
        </p:nvSpPr>
        <p:spPr>
          <a:xfrm>
            <a:off x="7461091" y="2248258"/>
            <a:ext cx="214947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국내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KSCO)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D9EC0-AF47-DB1D-F656-E8CA86D976E8}"/>
              </a:ext>
            </a:extLst>
          </p:cNvPr>
          <p:cNvSpPr txBox="1"/>
          <p:nvPr/>
        </p:nvSpPr>
        <p:spPr>
          <a:xfrm>
            <a:off x="5060950" y="2689857"/>
            <a:ext cx="2149472" cy="1996443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업무활동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기술도구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역량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능력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지식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학력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자격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업무환경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임금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고용전망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=&gt;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다차원 구조화 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C934C-A51C-E227-8EE5-C7B57BD3B8F4}"/>
              </a:ext>
            </a:extLst>
          </p:cNvPr>
          <p:cNvSpPr txBox="1"/>
          <p:nvPr/>
        </p:nvSpPr>
        <p:spPr>
          <a:xfrm>
            <a:off x="7461092" y="2689857"/>
            <a:ext cx="2149472" cy="1996443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직업명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코드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정의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주요 업무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서술형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구조화된 정보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역량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기술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도구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업무환경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자격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=&gt;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서술형 텍스트 중심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A5ED1F-9C4C-DBFA-F662-2245C4388AC7}"/>
              </a:ext>
            </a:extLst>
          </p:cNvPr>
          <p:cNvSpPr/>
          <p:nvPr/>
        </p:nvSpPr>
        <p:spPr>
          <a:xfrm>
            <a:off x="5049716" y="4983480"/>
            <a:ext cx="4583234" cy="1448784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현행 한국표준직업분류는 직업정보가 서술형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비구조화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형태로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체계적인 비교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및 정책 활용에 한계가 존재함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문장 형태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작업 수행 활동이 서술형 문장 형태로 제시되어 있음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표준화된 분류 부재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동일한 업무활동이 서로 다른 표현으로 기술되어 있음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구조 미흡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직업정보가 데이터 구조 형태로 구축되어 있지 않음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BF2B20E8-B503-87EB-C4F5-0E0E3FA5A240}"/>
              </a:ext>
            </a:extLst>
          </p:cNvPr>
          <p:cNvSpPr/>
          <p:nvPr/>
        </p:nvSpPr>
        <p:spPr>
          <a:xfrm rot="10800000">
            <a:off x="6926043" y="4770120"/>
            <a:ext cx="830580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72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9824-E4D3-5456-2FAB-0A3764E9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62BFC1B-C6FC-0BDC-5F32-22E4F1BFD4AC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20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B700FA9F-D358-C4C7-3A4C-970616C376F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E2530316-FABE-B129-DDAC-C152EC1BE66B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목적 및 범위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6E89B613-98F5-8974-61BB-8B1CCF3AA95C}"/>
              </a:ext>
            </a:extLst>
          </p:cNvPr>
          <p:cNvSpPr txBox="1">
            <a:spLocks/>
          </p:cNvSpPr>
          <p:nvPr/>
        </p:nvSpPr>
        <p:spPr>
          <a:xfrm>
            <a:off x="243781" y="873124"/>
            <a:ext cx="9422507" cy="5762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직업분류 고도화를 위해 </a:t>
            </a:r>
            <a:r>
              <a:rPr lang="en-US" altLang="ko-KR" dirty="0"/>
              <a:t>4</a:t>
            </a:r>
            <a:r>
              <a:rPr lang="ko-KR" altLang="en-US" dirty="0"/>
              <a:t>대 연구영역을 단계적으로 추진하여</a:t>
            </a:r>
            <a:r>
              <a:rPr lang="en-US" altLang="ko-KR" dirty="0"/>
              <a:t>, KSCO </a:t>
            </a:r>
            <a:r>
              <a:rPr lang="ko-KR" altLang="en-US" dirty="0"/>
              <a:t>기반 한국형 직업정보 프레임워크를 설계</a:t>
            </a:r>
            <a:r>
              <a:rPr lang="en-US" altLang="ko-KR" dirty="0"/>
              <a:t>·</a:t>
            </a:r>
            <a:r>
              <a:rPr lang="ko-KR" altLang="en-US" dirty="0"/>
              <a:t>구축하고자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F0051A5-37BE-91CA-46D0-4CF5D4B4BFF6}"/>
              </a:ext>
            </a:extLst>
          </p:cNvPr>
          <p:cNvSpPr/>
          <p:nvPr/>
        </p:nvSpPr>
        <p:spPr>
          <a:xfrm>
            <a:off x="236537" y="1988784"/>
            <a:ext cx="959286" cy="900465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목적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23A59E6-26B1-B438-154E-AC1874E33ED2}"/>
              </a:ext>
            </a:extLst>
          </p:cNvPr>
          <p:cNvSpPr/>
          <p:nvPr/>
        </p:nvSpPr>
        <p:spPr>
          <a:xfrm>
            <a:off x="1328145" y="1988785"/>
            <a:ext cx="8304803" cy="9004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기반의 직업정보 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DB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를 체계적으로 정비하고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간 비교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분석 및 정책적 활용이 가능한 직업정보 프레임워크를 구축하는 것임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E560366-51C7-E83A-F023-C71838562A25}"/>
              </a:ext>
            </a:extLst>
          </p:cNvPr>
          <p:cNvGrpSpPr/>
          <p:nvPr/>
        </p:nvGrpSpPr>
        <p:grpSpPr>
          <a:xfrm>
            <a:off x="236537" y="3040380"/>
            <a:ext cx="9405578" cy="3412809"/>
            <a:chOff x="236537" y="3164660"/>
            <a:chExt cx="9405578" cy="3288529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215B924-4E61-A304-5020-D17FF2093AF3}"/>
                </a:ext>
              </a:extLst>
            </p:cNvPr>
            <p:cNvSpPr/>
            <p:nvPr/>
          </p:nvSpPr>
          <p:spPr>
            <a:xfrm>
              <a:off x="236537" y="3164661"/>
              <a:ext cx="959286" cy="3288528"/>
            </a:xfrm>
            <a:prstGeom prst="rect">
              <a:avLst/>
            </a:prstGeom>
            <a:solidFill>
              <a:srgbClr val="004193"/>
            </a:solidFill>
            <a:ln>
              <a:solidFill>
                <a:srgbClr val="0041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127000">
                    <a:noFill/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연구 내용 및 추진 단계</a:t>
              </a:r>
              <a:endPara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7EF0949-DAD4-F400-A23F-83A072539223}"/>
                </a:ext>
              </a:extLst>
            </p:cNvPr>
            <p:cNvSpPr/>
            <p:nvPr/>
          </p:nvSpPr>
          <p:spPr>
            <a:xfrm>
              <a:off x="4199223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3.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한국표준직업분류 고도화 구조적 틀 마련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C50B8FC-A287-F8F5-EB19-001620862BAB}"/>
                </a:ext>
              </a:extLst>
            </p:cNvPr>
            <p:cNvSpPr/>
            <p:nvPr/>
          </p:nvSpPr>
          <p:spPr>
            <a:xfrm>
              <a:off x="1328145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1.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직무 기술 정의서 작성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9B3775C-522E-5851-107E-003A7D144D53}"/>
                </a:ext>
              </a:extLst>
            </p:cNvPr>
            <p:cNvSpPr/>
            <p:nvPr/>
          </p:nvSpPr>
          <p:spPr>
            <a:xfrm>
              <a:off x="7070302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4.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시뮬레이션 및 검증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75" name="AutoShape 22">
              <a:extLst>
                <a:ext uri="{FF2B5EF4-FFF2-40B4-BE49-F238E27FC236}">
                  <a16:creationId xmlns:a16="http://schemas.microsoft.com/office/drawing/2014/main" id="{4DDEE5F9-C783-4F77-0683-4B536F2B8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223" y="3577930"/>
              <a:ext cx="2571812" cy="287525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지식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기술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능력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도구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환경의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6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대 차원 제안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차원별 측정 가능한 직능유형 구성요소 선정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구조화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 간 기능적 비교가 가능한 표준화 구조 설계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행정 데이터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(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고용보험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국가자격 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)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연계 가능 구조 설계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정책 현장 활용방안 및 갱신 체계 제시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프레임워크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구성요소 정의 및 적용기준</a:t>
              </a:r>
            </a:p>
          </p:txBody>
        </p:sp>
        <p:sp>
          <p:nvSpPr>
            <p:cNvPr id="77" name="AutoShape 22">
              <a:extLst>
                <a:ext uri="{FF2B5EF4-FFF2-40B4-BE49-F238E27FC236}">
                  <a16:creationId xmlns:a16="http://schemas.microsoft.com/office/drawing/2014/main" id="{3BAC60F2-BBEB-5AA8-A2FA-C6B647FF3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145" y="3556955"/>
              <a:ext cx="2571812" cy="11788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세분류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업무내용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중심으로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분류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핵심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표준화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간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비교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가능성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제고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직무기술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정의서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0" name="AutoShape 22">
              <a:extLst>
                <a:ext uri="{FF2B5EF4-FFF2-40B4-BE49-F238E27FC236}">
                  <a16:creationId xmlns:a16="http://schemas.microsoft.com/office/drawing/2014/main" id="{FF61EBBA-9979-D148-21B1-E61345C93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303" y="3577929"/>
              <a:ext cx="2571812" cy="287525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 특성이 상이한 중분류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2~3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개 대상 선정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4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단계 분석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직업설명 분석 → 활동 추출 → 차원별 재구성 → 변별력 검토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6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대 차원별 구성요소의 적용 가능성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변별력 분석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정량 분석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+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전문가 정성 평가 이중 검증 실시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피드백 반영 후 구성요소 최종 보완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확정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시뮬레이션 결과보고서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전문가 검토 의견서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프레임워크 최종안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4908B930-E48C-B2EF-6514-25B1AB25AF31}"/>
                </a:ext>
              </a:extLst>
            </p:cNvPr>
            <p:cNvSpPr/>
            <p:nvPr/>
          </p:nvSpPr>
          <p:spPr>
            <a:xfrm>
              <a:off x="1328145" y="4884063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2.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국내</a:t>
              </a:r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·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외</a:t>
              </a:r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직업정보 사례분석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01" name="AutoShape 22">
              <a:extLst>
                <a:ext uri="{FF2B5EF4-FFF2-40B4-BE49-F238E27FC236}">
                  <a16:creationId xmlns:a16="http://schemas.microsoft.com/office/drawing/2014/main" id="{CA244419-9B08-7CD8-3EEE-25809C1A8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145" y="5274299"/>
              <a:ext cx="2571812" cy="11788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O*NET, ESCO, NOC 등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해외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사례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KSCO, KECO, NCS 등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국내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사례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공통요소와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차별요소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직능유형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구성요소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비교분석표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3644FBF2-4E34-D1DA-0242-1D271D06A822}"/>
                </a:ext>
              </a:extLst>
            </p:cNvPr>
            <p:cNvSpPr/>
            <p:nvPr/>
          </p:nvSpPr>
          <p:spPr>
            <a:xfrm rot="5400000">
              <a:off x="3634299" y="4066390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5B2CBC5B-8F3B-27FA-522D-05B460AF0859}"/>
                </a:ext>
              </a:extLst>
            </p:cNvPr>
            <p:cNvSpPr/>
            <p:nvPr/>
          </p:nvSpPr>
          <p:spPr>
            <a:xfrm rot="5400000">
              <a:off x="3634299" y="5783734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F82AD89A-A25A-971F-D566-0502C89ABD0C}"/>
                </a:ext>
              </a:extLst>
            </p:cNvPr>
            <p:cNvSpPr/>
            <p:nvPr/>
          </p:nvSpPr>
          <p:spPr>
            <a:xfrm rot="5400000">
              <a:off x="6517380" y="4818902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019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20AC-AD4C-0744-2021-15F84B23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A383550-BF1D-8C2F-13A2-FE73099ADAF0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20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20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03C47021-0F99-933D-074D-149DF6AB387E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664875FF-15D8-D5ED-03F2-1EA2F17F52B7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추진 전략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1E00CB48-DB32-56A8-6C3B-085B5FF231B8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273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한국 직업 데이터에서 </a:t>
            </a:r>
            <a:r>
              <a:rPr lang="en-US" altLang="ko-KR" dirty="0"/>
              <a:t>AI </a:t>
            </a:r>
            <a:r>
              <a:rPr lang="ko-KR" altLang="en-US" dirty="0"/>
              <a:t>기반으로 직무요소를 도출하고</a:t>
            </a:r>
            <a:r>
              <a:rPr lang="en-US" altLang="ko-KR" dirty="0"/>
              <a:t>, O*NET </a:t>
            </a:r>
            <a:r>
              <a:rPr lang="ko-KR" altLang="en-US" dirty="0"/>
              <a:t>등 국제 체계를 벤치마킹하여 연계 가능한 차원 구조를 설계하며</a:t>
            </a:r>
            <a:r>
              <a:rPr lang="en-US" altLang="ko-KR" dirty="0"/>
              <a:t>, </a:t>
            </a:r>
            <a:r>
              <a:rPr lang="ko-KR" altLang="en-US" dirty="0"/>
              <a:t>도출된 결과의 국제적 타당성을 검증하여 한국형 프레임워크를 구축함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1D3EB44-0D8C-25D4-CF49-AE74ED0D38C7}"/>
              </a:ext>
            </a:extLst>
          </p:cNvPr>
          <p:cNvSpPr/>
          <p:nvPr/>
        </p:nvSpPr>
        <p:spPr>
          <a:xfrm>
            <a:off x="236537" y="1989138"/>
            <a:ext cx="959286" cy="4464049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추진 전략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45EABEF-A173-33AA-849E-364B3261515F}"/>
              </a:ext>
            </a:extLst>
          </p:cNvPr>
          <p:cNvSpPr/>
          <p:nvPr/>
        </p:nvSpPr>
        <p:spPr>
          <a:xfrm>
            <a:off x="1328144" y="1989138"/>
            <a:ext cx="3990617" cy="317090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추진 전략 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데이터 기반 귀납적 접근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31A52D0-A15D-6754-E705-DB8D34BAA59C}"/>
              </a:ext>
            </a:extLst>
          </p:cNvPr>
          <p:cNvSpPr/>
          <p:nvPr/>
        </p:nvSpPr>
        <p:spPr>
          <a:xfrm>
            <a:off x="5643741" y="1989138"/>
            <a:ext cx="3990617" cy="317090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추진 전략 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국제 체계 벤치마킹 및 타당성 검증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0" name="AutoShape 22">
            <a:extLst>
              <a:ext uri="{FF2B5EF4-FFF2-40B4-BE49-F238E27FC236}">
                <a16:creationId xmlns:a16="http://schemas.microsoft.com/office/drawing/2014/main" id="{655397BB-B7B2-3D10-1254-536233F6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742" y="2418025"/>
            <a:ext cx="3990616" cy="403516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핵심 참조 프레임워크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O*NET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 계층구조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GWA → IWA → DWA → Tasks(18,796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4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 범주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 입력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정신적 과정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 산출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타인과의 상호작용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를 직무활동 분류 기준으로 참고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콘텐츠 모델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 영역 구조를 한국형 직능유형 차원 설계의 벤치마크로 활용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비교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검증 대상 해외 체계 참고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ISCO-08: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100" spc="-15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Skill Level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+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직능유형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100" spc="-15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Skill Specialization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 원리 →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대비 직접 연계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ESCO: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자격의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축 연계 구조 → 차원 간 연결 설계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NOC: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기술유형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기술수준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차원 분류 → 차원 구분의 단순성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명확성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활용 방식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체계 간 공통요소와 차별요소를 분석하여 한국형 구성요소의 타당성 확보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체계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(KECO, </a:t>
            </a:r>
            <a:r>
              <a:rPr lang="ko-KR" altLang="en-US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워크피디아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NCS, KQF/SQF)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와의 매핑을 통해 기존 인프라 활용 가능성 확인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기대 효과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 비교 가능성 확보 및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시 한국 분류체계의 즉시 대응 기반 마련</a:t>
            </a:r>
          </a:p>
        </p:txBody>
      </p:sp>
      <p:sp>
        <p:nvSpPr>
          <p:cNvPr id="2" name="AutoShape 22">
            <a:extLst>
              <a:ext uri="{FF2B5EF4-FFF2-40B4-BE49-F238E27FC236}">
                <a16:creationId xmlns:a16="http://schemas.microsoft.com/office/drawing/2014/main" id="{381546D2-4593-5BB1-BB7C-D03BCD59B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144" y="2418025"/>
            <a:ext cx="3990616" cy="403516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분석 대상 자료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 </a:t>
            </a:r>
            <a:r>
              <a:rPr lang="ko-KR" altLang="en-US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세분류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426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직업 설명 텍스트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기본 분석 대상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한국직업사전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6,000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여 개 직무기술서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 보강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NCS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능력단위 및 능력단위요소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한국적 직무 표준 반영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워크피디아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·KNOW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 직업별 숙련도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중요도 데이터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부가정보 연계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방법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AI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텍스트 분석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단계 파이프라인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①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 수집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정제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다수 출처의 직업 설명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직무기술을 통합 수집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가공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② NLP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 분석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자연어 처리를 활용한 문장 단위 구문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의미 분석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③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 추출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 중심 동사 및 행위 표현을 식별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추출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④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통합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의미적으로 유사한 직무활동을 </a:t>
            </a:r>
            <a:r>
              <a:rPr lang="ko-KR" altLang="en-US" sz="11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군집화하여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표준 직무요소로 통합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핵심 원칙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체계의 단순 번역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이식이 아닌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복수 출처 데이터에서 도출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체계는 분류 기준 설계를 위한 참고 프레임워크로 활용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결과는 전문가 검토를 거쳐 최종 확정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이중 검증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기대 효과 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 노동시장의 고유한 산업구조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직무관행이 반영된 실증 기반 직무요소 확보</a:t>
            </a:r>
          </a:p>
        </p:txBody>
      </p:sp>
    </p:spTree>
    <p:extLst>
      <p:ext uri="{BB962C8B-B14F-4D97-AF65-F5344CB8AC3E}">
        <p14:creationId xmlns:p14="http://schemas.microsoft.com/office/powerpoint/2010/main" val="294375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8E50F-AF7C-C8F1-162F-6928BE07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9D6BA16-AB75-50E2-79F2-83A6AA642C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048F405-2703-88D8-38D2-EC0C2618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5456BC-5E0F-EBDF-29E2-618C5026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E80AD-6248-17FF-B9F1-D56D319EE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F20031-CB2E-5F7A-A55B-029726E2A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BE1E5F-3ECB-3D98-3DE6-550FA8C69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8BF4E6-2B24-3190-6E6E-F8F36C319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B0F2FF9-0C3B-7FB7-3C38-5E24828FA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E38A84D-6001-3D82-9C8A-412D5DAF0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FFC89A30-D16B-C13F-C579-C6DADFE4D5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82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42C26F6-2E3D-6CFE-993F-DC7AA43C0BFB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Ⅱ.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수행 방안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2F01F62-2330-7B9F-999E-081C6808FAD7}"/>
              </a:ext>
            </a:extLst>
          </p:cNvPr>
          <p:cNvSpPr txBox="1">
            <a:spLocks/>
          </p:cNvSpPr>
          <p:nvPr/>
        </p:nvSpPr>
        <p:spPr>
          <a:xfrm>
            <a:off x="236539" y="2528265"/>
            <a:ext cx="4608511" cy="3924923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4193"/>
              </a:buClr>
              <a:buFont typeface="Arial Narrow" pitchFamily="34" charset="0"/>
              <a:buAutoNum type="arabicPeriod"/>
              <a:defRPr/>
            </a:pP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ㅇㅇㅇㅇ</a:t>
            </a:r>
            <a:endParaRPr lang="en-US" altLang="ko-KR" sz="11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35217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[영역1] 직무기술 정의서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KSCO 세분류 직업을 대상으로 AI 기반 텍스트 분석과 O*NET 참조 프레임워크를 결합하여, 직업별 직무기술 정의서를 체계적으로 작성함.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5334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513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AI 기반 직무활동 추출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5130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분석 대상 자료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KSCO 세분류 426개 직업 설명 텍스트 (기본 분석 대상)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한국직업사전 6,000여 개 직무기술서 (직무활동 보강)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NCS 능력단위 및 능력단위요소 (한국적 직무 표준 반영)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4단계 파이프라인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① 텍스트 수집·정제: 다수 출처의 직업 설명·직무기술을 통합 수집·가공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② NLP 구조 분석: 자연어 처리를 활용한 문장 단위 구문·의미 분석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③ 직무활동 추출: 행동 중심 동사 및 행위 표현을 식별·추출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④ 군집화·통합: 유사 직무활동을 군집화하여 표준 직무요소로 통합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O*NET 참조 프레임워크 활용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GWA 4대 범주를 직무활동 분류 기준으로 참고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(정보 입력 / 정신적 과정 / 업무 산출 / 타인과의 상호작용)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직무활동 유형: 정보 수집·분석 / 문제 해결·의사결정 /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대인 서비스·의사소통 / 조직 관리·조정 / 기술·장비 활용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품질 확보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전체 배치 처리 전 샘플 10~20개 직업 사전 검증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모든 AI 결과는 전문가 검토를 거쳐 최종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8500" y="1143000"/>
            <a:ext cx="3302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0100" y="1206500"/>
            <a:ext cx="309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직무기술 정의서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0100" y="1460500"/>
            <a:ext cx="3098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① 직업 개요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해당 직업의 정의 및 수행 업무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전반 요약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② 주요 업무내용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현행 KSCO의 직업 설명(서술형)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③ 핵심 직무활동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AI 텍스트 분석을 통해 추출된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행동 중심 직무활동 목록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④ 표준화 직무요소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O*NET 참조 체계와 비교·분석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하여 구조화된 표준 직무요소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산출물: 직업별 직무기술 정의서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[영역1] 표준화 직무요소 구조화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직업명이나 직무 표현이 다르더라도, 공통된 직무요소를 기준으로 직업 간 유사성과 차이를 체계적으로 비교할 수 있음.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8763000" cy="698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8559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표준화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85598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직업 간 공통 활동 통합   |   ■ 의미적 유사 활동 군집화   |   ■ 수행 목적 중심 재구성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00" y="1968500"/>
            <a:ext cx="8763000" cy="2222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" y="2032000"/>
            <a:ext cx="8559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구조화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2286000"/>
            <a:ext cx="8559800" cy="184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CCCC"/>
                </a:solidFill>
                <a:latin typeface="맑은 고딕"/>
              </a:rPr>
              <a:t>┌────────┬──────────┬──────────────────────────┬─────────────────────────┐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 구분   │   직업    │        업무내용            │    표준화 직무요소 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├────────┼──────────┼──────────────────────────┼─────────────────────────┤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동일    │  교사     │ 학생에게 교육과정 가르침,   │ 지식전달, 의사소통,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직무요소 │          │ 평가 및 생활지도            │ 학습자 이해, 수업 설계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       │  강사     │ 수강생에게 이론·기술 교육,  │ 지식전달, 의사소통,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       │          │ 실기 평가                  │ 학습자 이해, 수업 설계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├────────┼──────────┼──────────────────────────┼─────────────────────────┤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유사    │ 데이터    │ 데이터 가공·분석,           │ 분석, 데이터 해석,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직무요소 │ 분석가    │ 의사결정 정보 제공          │ 의사결정 지원     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       │ 마케팅    │ 시장·소비자 정보 분석,      │ 분석, 데이터 해석,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│        │ 전문가    │ 전략 수립                  │ 전략 수립               │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└────────┴──────────┴──────────────────────────┴─────────────────────────┘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500" y="4318000"/>
            <a:ext cx="8763000" cy="16510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100" y="4381500"/>
            <a:ext cx="8559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4635500"/>
            <a:ext cx="8559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CCCC"/>
                </a:solidFill>
                <a:latin typeface="맑은 고딕"/>
              </a:rPr>
              <a:t>  · 교사/강사: 교육 대상·환경이 다르나 직무요소 수준에서 동일 구조 공유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데이터 분석가/마케팅 전문가: 분석 대상이 상이하나 '분석'과 '데이터 해석'이라는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핵심 직무요소를 공통적으로 포함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표준화된 직무요소를 통해 직업 간 비교 분석, 직능유형 구성요소 연계,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정책적 활용의 기초 데이터로서 역할 수행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[영역2] 국내·외 직업정보 사례 분석 - 해외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해외 4개 체계와 국내 6개 체계를 비교 분석하여, 직능유형 구성요소의 공통점·차별점 및 한국형 프레임워크 설계 방향을 도출함.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5334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513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O*NET 콘텐츠 모델 - 6대 영역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5130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① 근로자 특성(Worker Characteristics)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능력(Abilities) 52개, 직업적 관심(RIASEC) 6유형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직업 가치(Work Values), 업무 스타일(Work Styles)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② 근로자 요구사항(Worker Requirements)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기술(Skills) 25개, 지식(Knowledge) 33개 분야, 교육(Education)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③ 경력 요구사항(Experience Requirements)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업무 경험, 입직 요건, 자격(Licensing)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④ 직업 요구사항(Occupational Requirements)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업무활동(GWA 41개), 세부업무활동(DWA ~2,000개)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업무구성(Work Context)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⑤ 인력 특성(Workforce Characteristics)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임금 및 고용동향, 온라인 구직정보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⑥ 직업특정 정보(Occupation-Specific Information)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Tasks(18,796개), Technology Skills,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8500" y="1143000"/>
            <a:ext cx="3302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0100" y="1206500"/>
            <a:ext cx="309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해외 체계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0100" y="1460500"/>
            <a:ext cx="3098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O*NET (미국)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1,016개 직업, Tasks 18,796개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6개 영역 다차원 구조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가장 포괄적 직업정보 체계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ISCO-08 (국제/ILO)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4단계: 주요군(10)→세부(43)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→소군(130)→단위군(436)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직능수준 + 직능유형 분류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ISCO-28 개정 진행 중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ESCO (유럽)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3,008개 직업, 13,890개 기술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직업+기술+자격 3축 연계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NOC (캐나다)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500개 세분류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기술유형+기술수준 2차원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[영역2] 국내외 비교 분석 및 적용방안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국내외 체계의 구성 항목을 비교한 결과, O*NET은 거의 모든 요소를 포괄하는 반면 KSCO는 기본 정보 중심이며, 이를 토대로 3가지 적용방안을 도출함.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국내 직업정보 체계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KSCO (한국표준직업분류)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통계청 관리, 대10/중42/소149/세426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기본 분류 정보 충실, 부가정보 부족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KECO (한국고용직업분류)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직무 수행 내용 유사성 기준 분류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워크피디아 (고용노동부)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500여 개 직업 다차원 정보 제공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국내 체계 중 가장 풍부한 정보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한국직업사전 (한국고용정보원)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6,000여 개 직무기술서 수록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부가직업정보 포함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NCS (국가직무능력표준)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24대분류, 1,100세분류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능력단위 기반 직무정보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KQF/SQF (국가역량체계)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8개 수준 역량 정의 체계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한국형 적용방안 → 6대 차원 도출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적용방안 ① 주요 업무 최신화·보강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ISCO Tasks, O*NET 18,796개,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한국직업사전 6,000여 개,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NCS 능력단위 활용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업무(Work Activities) 차원 근거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적용방안 ② 부가정보 보강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워크피디아 다차원 정보 +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KNOW 숙련도·중요도 데이터를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KSCO와 연계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지식·기술·능력·도구·환경 차원 근거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적용방안 ③ KQF/SQF 연계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수준별 정의 구조를 역량 수준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연계 형태로 설계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개발 완료 분야 중심 선별 적용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역량 수준(Level) 연계 가능성 확보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이상의 분석 결과가 한국형 직능유형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6대 차원 설계의 실증적 근거로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[영역3] 한국형 직능유형 6대 차원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국내외 사례 분석 결과를 기반으로, 직업 수행의 핵심 요소를 중심으로 업무·지식·기술·능력·도구·환경의 6대 차원을 제안함.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" y="12065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3081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업무
(Work Activities)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8161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직업 수행 과정에서 수행되는
주요 업무활동
(정보수집, 데이터분석,
의사결정, 대인서비스 등)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2065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3600" y="13081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지식
(Knowledge)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600" y="18161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직무 수행을 위해 요구되는
이론적·전문적 지식
(사업·경영, 공학·기술,
수학·과학, 보건 등 33개 분야)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065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9200" y="13081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기술
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61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업무 과정에서 활용되는
실무적 기술
(기본기술, 교차기능기술
등 약 25개 요소)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30226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31242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능력
(Abilities)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6322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직무 수행에 요구되는
인지적·신체적 능력
(인지·정신운동·신체·
감각 능력 등 52개)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30226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3600" y="31242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도구
(Tools &amp; Tech)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3600" y="36322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업무 수행에 활용되는
장비, 기술, 소프트웨어
(기술 스킬, 장비·도구,
신기술)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022600"/>
            <a:ext cx="2794000" cy="1714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9200" y="3124200"/>
            <a:ext cx="254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맑은 고딕"/>
              </a:rPr>
              <a:t>환경
(Work Context)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200" y="3632200"/>
            <a:ext cx="254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  <a:latin typeface="맑은 고딕"/>
              </a:rPr>
              <a:t>업무 수행 과정의
물리적·사회적 환경
(실내·실외, 온도·소음,
대면빈도, 팀작업)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4889500"/>
            <a:ext cx="8636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CCCC"/>
                </a:solidFill>
                <a:latin typeface="맑은 고딕"/>
              </a:rPr>
              <a:t>· O*NET 콘텐츠 모델의 구조와 국내 직업정보 활용 특성을 종합적으로 검토하여 설계
· 6대 차원(안)은 연구 수행 과정에서 국내외 사례 분석 및 전문가 검토를 거쳐 조정·확정 가능
· 일회성 분석 도구가 아닌, 향후 직업정보가 지속적으로 축적·갱신될 수 있는 프레임워크로서 설계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[영역3] 구성요소 설계 기준 및 정책적 활용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직능유형 구성요소는 직업 간 비교 가능하고 행정 데이터와 연계 가능한 구조로 설계하며, 직업분류 개정 및 정책 현장에서 직접 활용 가능한 형태로 제시함.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구성요소 설계 기준 3가지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① 직업 간 기능적 비교가 가능한 구조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직업 수행 활동의 공통성을 고려하여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표준화된 직무활동 단위 설정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차원별 측정 가능한 직능유형 구성요소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선정·구조화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② 행정 데이터와 연계 가능한 구조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고용보험, 국가자격 등 행정 데이터와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직접 연결 가능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정책 현장에서 해석 및 활용 가능하도록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구체적 적용방안과 함께 제시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③ 직업분류 체계와 연계 가능한 정보 구조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KSCO 개정 시 직접 활용 가능한 형태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각 구성요소에 대한 개념 정의와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적용 기준을 함께 제시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향후 활용 기반 마련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산출물: 직업정보 프레임워크 설계서,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        구성요소 정의 및 적용기준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정책적 활용 방안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직업군 재구조화 검토 지원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직업 간 기능적 유사성 분석을 통한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직업군 통합·분리 검토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신규 직업 분류 배치 근거 제공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신규 직업의 기능적 위치 파악 및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분류 체계 내 배치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직업분류 개정 시 체계적 분석 기반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직무활동 데이터에 기반한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객관적 분류 기준 활용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직업 간 전환 가능성 분석 기초 자료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고용서비스(직업상담, 취업알선)에서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전직 경로 분석 기초 자료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직업 변동 모니터링 체계 구축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산업구조 변화·기술혁신에 따른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직업 변동 추적·예측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38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90500"/>
            <a:ext cx="381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맑은 고딕"/>
              </a:rPr>
              <a:t>[영역4] 시뮬레이션 검증 및 전문가 검토·조정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1905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맑은 고딕"/>
              </a:rPr>
              <a:t>Ⅱ. 연구 수행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571500"/>
            <a:ext cx="8763000" cy="444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09600"/>
            <a:ext cx="86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맑은 고딕"/>
              </a:rPr>
              <a:t>직무 특성이 상이한 중분류 2~3개를 대상으로 시뮬레이션을 실시하고, 정량 분석과 전문가 정성 평가를 병행하여 프레임워크의 실증적 타당성을 검증함.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500" y="546100"/>
            <a:ext cx="87630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7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시뮬레이션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대상 선정 기준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직무 특성이 서로 다른 산업 영역을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대표하는 직업군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지식 기반 직업과 기술 기반 직업을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모두 포함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예) 전문서비스 + 생산·기술 영역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4단계 시뮬레이션 분석 절차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① 직업 설명 분석: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선정 중분류 내 세분류 직업의 설명·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주요업무·관련 정보 종합분석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② 활동 추출·정리: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AI 기반 텍스트 분석으로 직업 수행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활동 추출, 행동 중심 정리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③ 차원별 재구성: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추출된 활동을 6대 차원에 따라 분류,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직능유형 요소로 재구성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④ 변별력 검토: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직업 간 구조 비교를 통해 각 차원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 구성요소의 유의미성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0" y="1143000"/>
            <a:ext cx="4318000" cy="48895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100" y="12065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검증 및 확정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00" y="1460500"/>
            <a:ext cx="41148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■ 이중 검증 체계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정량 분석: 차원별 적용 가능성,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변별력, 일관성 등 통계적 분석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· 정성 평가: 직업분류·직무분석·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  노동시장 분야 전문가 검토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전문가 검토 주요 항목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□ 직능유형 차원 구분의 적절성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□ 차원별 구성요소 타당성 및 변별력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□ 한국표준직업분류 체계와의 정합성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□ 정책 현장 적용 가능성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□ 향후 직업분류 개정 시 활용 가능성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800" b="1">
                <a:solidFill>
                  <a:srgbClr val="FFFFFF"/>
                </a:solidFill>
                <a:latin typeface="맑은 고딕"/>
              </a:rPr>
              <a:t>■ 최종 확정 프로세스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시뮬레이션 실행 → 결과 분석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→ 전문가 검토 → 피드백 반영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>  → 구성요소 최종 보완·확정</a:t>
            </a:r>
          </a:p>
          <a:p>
            <a:pPr algn="l">
              <a:spcBef>
                <a:spcPts val="150"/>
              </a:spcBef>
            </a:pPr>
            <a:r>
              <a:rPr sz="750" b="0">
                <a:solidFill>
                  <a:srgbClr val="CCCCCC"/>
                </a:solidFill>
                <a:latin typeface="맑은 고딕"/>
              </a:rPr>
              <a:t/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산출물: 시뮬레이션 결과보고서,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  전문가 검토 의견서,</a:t>
            </a:r>
          </a:p>
          <a:p>
            <a:pPr algn="l">
              <a:spcBef>
                <a:spcPts val="150"/>
              </a:spcBef>
            </a:pPr>
            <a:r>
              <a:rPr sz="750" b="1">
                <a:solidFill>
                  <a:srgbClr val="3B82F6"/>
                </a:solidFill>
                <a:latin typeface="맑은 고딕"/>
              </a:rPr>
              <a:t>→   직업정보 프레임워크 최종안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AB8-105A-3414-E16C-64DFD03E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7BCCFA6-D6CE-4C17-D353-236FDB109E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50B815-9BE3-9FE5-CEB7-F17C567D7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76B288-0B43-C1AC-F278-4924DEB9E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8595FB-9828-AA8D-0250-D842EB9AE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725B30-9F41-67DB-4F1C-9327C9C7A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7D4C54-9713-9CDC-4FB0-D3ED6E970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97AFC73-C6FE-0306-E830-242FE1040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6ADB1F2-9A43-CBB9-BC2F-C0D762F14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D94CEB7-1E30-C032-CE16-5841510D0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1642F8A9-A6BF-185A-FC0E-1A009AE0B8F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98B9C43-2C26-FEB1-F95B-E295EAF9F1F1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Ⅲ.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관리 방안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730590C1-05DD-5045-B0F3-BDEB1BD9BBDE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17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수행 조직 및 업무분장</a:t>
            </a:r>
            <a:endParaRPr lang="en-US" altLang="ko-KR" sz="17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17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추진 일정 계획</a:t>
            </a:r>
            <a:endParaRPr lang="en-US" altLang="ko-KR" sz="17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17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품질관리계획</a:t>
            </a:r>
          </a:p>
        </p:txBody>
      </p:sp>
    </p:spTree>
    <p:extLst>
      <p:ext uri="{BB962C8B-B14F-4D97-AF65-F5344CB8AC3E}">
        <p14:creationId xmlns:p14="http://schemas.microsoft.com/office/powerpoint/2010/main" val="3949264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16B2-CCE8-6040-4A8D-9C213165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C0DDCC8B-6BDB-9972-DBDB-D1AF2A578D2D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18479A2-B237-7094-285D-762366062719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수행 조직 및 업무분장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F6F9CE-10B8-7455-40DD-7EB6EC9715D2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4ED582-EA63-0E9D-ED9D-62221E45DD4C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본 연구의 성공적인 수행을 위해 총 </a:t>
            </a:r>
            <a:r>
              <a:rPr kumimoji="0" lang="en-US" altLang="ko-KR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7</a:t>
            </a: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명의 연구진을 투입하고</a:t>
            </a:r>
            <a:r>
              <a:rPr kumimoji="0" lang="en-US" altLang="ko-KR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, </a:t>
            </a: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직무개발 디자인팀을 구성하여</a:t>
            </a:r>
            <a:r>
              <a:rPr kumimoji="0" lang="en-US" altLang="ko-KR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선도기업 맞춤형 컨설팅을 수행할 계획임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77FA0-CF77-5317-A429-0D9AE8C8AF96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757C3E6E-94F7-5FAA-3DC2-BDB5B3DF9838}"/>
              </a:ext>
            </a:extLst>
          </p:cNvPr>
          <p:cNvGraphicFramePr>
            <a:graphicFrameLocks noGrp="1"/>
          </p:cNvGraphicFramePr>
          <p:nvPr/>
        </p:nvGraphicFramePr>
        <p:xfrm>
          <a:off x="1032012" y="5828865"/>
          <a:ext cx="3348218" cy="421386"/>
        </p:xfrm>
        <a:graphic>
          <a:graphicData uri="http://schemas.openxmlformats.org/drawingml/2006/table">
            <a:tbl>
              <a:tblPr/>
              <a:tblGrid>
                <a:gridCol w="3348218">
                  <a:extLst>
                    <a:ext uri="{9D8B030D-6E8A-4147-A177-3AD203B41FA5}">
                      <a16:colId xmlns:a16="http://schemas.microsoft.com/office/drawing/2014/main" val="3028536386"/>
                    </a:ext>
                  </a:extLst>
                </a:gridCol>
              </a:tblGrid>
              <a:tr h="42138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연구 및 사업 관리인력 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 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총 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7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책임연구원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 1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 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공동연구원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  연구보조원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endParaRPr lang="en-US" altLang="ko-KR" sz="1100" kern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17908" marR="17908" marT="17908" marB="1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34146"/>
                  </a:ext>
                </a:extLst>
              </a:tr>
            </a:tbl>
          </a:graphicData>
        </a:graphic>
      </p:graphicFrame>
      <p:grpSp>
        <p:nvGrpSpPr>
          <p:cNvPr id="84" name="그룹 83">
            <a:extLst>
              <a:ext uri="{FF2B5EF4-FFF2-40B4-BE49-F238E27FC236}">
                <a16:creationId xmlns:a16="http://schemas.microsoft.com/office/drawing/2014/main" id="{9D58BD06-7D13-AAD4-79B1-2E22A2D374BB}"/>
              </a:ext>
            </a:extLst>
          </p:cNvPr>
          <p:cNvGrpSpPr/>
          <p:nvPr/>
        </p:nvGrpSpPr>
        <p:grpSpPr>
          <a:xfrm>
            <a:off x="694559" y="2335258"/>
            <a:ext cx="4258441" cy="3247543"/>
            <a:chOff x="1456559" y="1741323"/>
            <a:chExt cx="5093316" cy="3247543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5580ADF-709F-4214-962D-342DDF40DA60}"/>
                </a:ext>
              </a:extLst>
            </p:cNvPr>
            <p:cNvGrpSpPr/>
            <p:nvPr/>
          </p:nvGrpSpPr>
          <p:grpSpPr>
            <a:xfrm>
              <a:off x="3283217" y="1741323"/>
              <a:ext cx="1440000" cy="602987"/>
              <a:chOff x="3283217" y="1741323"/>
              <a:chExt cx="1440000" cy="602987"/>
            </a:xfrm>
          </p:grpSpPr>
          <p:sp>
            <p:nvSpPr>
              <p:cNvPr id="46" name="모서리가 둥근 직사각형 167">
                <a:extLst>
                  <a:ext uri="{FF2B5EF4-FFF2-40B4-BE49-F238E27FC236}">
                    <a16:creationId xmlns:a16="http://schemas.microsoft.com/office/drawing/2014/main" id="{DDD1FCDB-85F0-2022-60F4-FCD6ADE13D5B}"/>
                  </a:ext>
                </a:extLst>
              </p:cNvPr>
              <p:cNvSpPr/>
              <p:nvPr/>
            </p:nvSpPr>
            <p:spPr bwMode="auto">
              <a:xfrm>
                <a:off x="3283217" y="1741323"/>
                <a:ext cx="1440000" cy="306000"/>
              </a:xfrm>
              <a:prstGeom prst="roundRect">
                <a:avLst>
                  <a:gd name="adj" fmla="val 0"/>
                </a:avLst>
              </a:prstGeom>
              <a:solidFill>
                <a:srgbClr val="1F497D"/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연구 책임자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D6672A-6556-7D96-6610-9DC546827B07}"/>
                  </a:ext>
                </a:extLst>
              </p:cNvPr>
              <p:cNvSpPr/>
              <p:nvPr/>
            </p:nvSpPr>
            <p:spPr>
              <a:xfrm>
                <a:off x="3283217" y="2048152"/>
                <a:ext cx="1440000" cy="296158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조세형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48" name="꺾인 연결선 14">
              <a:extLst>
                <a:ext uri="{FF2B5EF4-FFF2-40B4-BE49-F238E27FC236}">
                  <a16:creationId xmlns:a16="http://schemas.microsoft.com/office/drawing/2014/main" id="{8A9B98A8-90DE-47A5-8726-14F3BAD5C0E2}"/>
                </a:ext>
              </a:extLst>
            </p:cNvPr>
            <p:cNvCxnSpPr>
              <a:cxnSpLocks/>
              <a:stCxn id="47" idx="2"/>
              <a:endCxn id="77" idx="0"/>
            </p:cNvCxnSpPr>
            <p:nvPr/>
          </p:nvCxnSpPr>
          <p:spPr>
            <a:xfrm rot="5400000">
              <a:off x="2723809" y="1797060"/>
              <a:ext cx="732158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52" name="꺾인 연결선 14">
              <a:extLst>
                <a:ext uri="{FF2B5EF4-FFF2-40B4-BE49-F238E27FC236}">
                  <a16:creationId xmlns:a16="http://schemas.microsoft.com/office/drawing/2014/main" id="{CB75FA78-2042-420D-C76A-C9DAF79E91AF}"/>
                </a:ext>
              </a:extLst>
            </p:cNvPr>
            <p:cNvCxnSpPr>
              <a:cxnSpLocks/>
              <a:stCxn id="47" idx="2"/>
              <a:endCxn id="21" idx="0"/>
            </p:cNvCxnSpPr>
            <p:nvPr/>
          </p:nvCxnSpPr>
          <p:spPr>
            <a:xfrm rot="16200000" flipH="1">
              <a:off x="4550467" y="1797060"/>
              <a:ext cx="732158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2A313CE-B3B9-5F91-C00B-4D0AA51AD947}"/>
                </a:ext>
              </a:extLst>
            </p:cNvPr>
            <p:cNvSpPr/>
            <p:nvPr/>
          </p:nvSpPr>
          <p:spPr>
            <a:xfrm>
              <a:off x="3915807" y="3077707"/>
              <a:ext cx="2262901" cy="26628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36000" tIns="18000" rIns="0" bIns="18000" rtlCol="0" anchor="ctr"/>
            <a:lstStyle/>
            <a:p>
              <a:pPr algn="ctr" defTabSz="914395">
                <a:tabLst>
                  <a:tab pos="0" algn="l"/>
                </a:tabLst>
                <a:defRPr/>
              </a:pPr>
              <a:endParaRPr lang="ko-KR" altLang="en-US" sz="10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모서리가 둥근 직사각형 167">
              <a:extLst>
                <a:ext uri="{FF2B5EF4-FFF2-40B4-BE49-F238E27FC236}">
                  <a16:creationId xmlns:a16="http://schemas.microsoft.com/office/drawing/2014/main" id="{2388CE75-5823-5858-C853-D7827D6249EB}"/>
                </a:ext>
              </a:extLst>
            </p:cNvPr>
            <p:cNvSpPr/>
            <p:nvPr/>
          </p:nvSpPr>
          <p:spPr bwMode="auto">
            <a:xfrm>
              <a:off x="1456559" y="1741324"/>
              <a:ext cx="1440000" cy="30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rgbClr val="003F56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0" rIns="0" anchor="ctr"/>
            <a:lstStyle/>
            <a:p>
              <a:pPr algn="ctr" defTabSz="914395" eaLnBrk="0" fontAlgn="base" hangingPunct="0">
                <a:lnSpc>
                  <a:spcPts val="17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국가데이터처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E477BA8-0D17-D2D8-B085-5B99F360F731}"/>
                </a:ext>
              </a:extLst>
            </p:cNvPr>
            <p:cNvSpPr/>
            <p:nvPr/>
          </p:nvSpPr>
          <p:spPr>
            <a:xfrm>
              <a:off x="1456559" y="2052478"/>
              <a:ext cx="1440000" cy="291524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061F3E"/>
              </a:solidFill>
              <a:prstDash val="solid"/>
            </a:ln>
            <a:effectLst/>
          </p:spPr>
          <p:txBody>
            <a:bodyPr lIns="36000" tIns="18000" rIns="0" bIns="18000" rtlCol="0" anchor="ctr"/>
            <a:lstStyle/>
            <a:p>
              <a:pPr algn="ctr" defTabSz="91439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/>
              </a:pPr>
              <a:r>
                <a:rPr lang="ko-KR" altLang="en-US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주관부서 담당자</a:t>
              </a:r>
              <a:endParaRPr lang="en-US" altLang="ko-KR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5BE19C7-1FC5-027B-D3D3-DE5FE334F60B}"/>
                </a:ext>
              </a:extLst>
            </p:cNvPr>
            <p:cNvGrpSpPr/>
            <p:nvPr/>
          </p:nvGrpSpPr>
          <p:grpSpPr>
            <a:xfrm>
              <a:off x="1456559" y="3076468"/>
              <a:ext cx="1440000" cy="485672"/>
              <a:chOff x="1456559" y="3076468"/>
              <a:chExt cx="1440000" cy="485672"/>
            </a:xfrm>
          </p:grpSpPr>
          <p:sp>
            <p:nvSpPr>
              <p:cNvPr id="77" name="모서리가 둥근 직사각형 167">
                <a:extLst>
                  <a:ext uri="{FF2B5EF4-FFF2-40B4-BE49-F238E27FC236}">
                    <a16:creationId xmlns:a16="http://schemas.microsoft.com/office/drawing/2014/main" id="{9C00CE84-82C8-C686-12B7-1188949206C8}"/>
                  </a:ext>
                </a:extLst>
              </p:cNvPr>
              <p:cNvSpPr/>
              <p:nvPr/>
            </p:nvSpPr>
            <p:spPr bwMode="auto">
              <a:xfrm>
                <a:off x="1456559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BFBDD0D0-E504-BB49-0F6E-AD46B28821AB}"/>
                  </a:ext>
                </a:extLst>
              </p:cNvPr>
              <p:cNvSpPr/>
              <p:nvPr/>
            </p:nvSpPr>
            <p:spPr>
              <a:xfrm>
                <a:off x="1456559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F5EC7D1-2E8F-80E9-5D00-43FC54C1CD7B}"/>
                </a:ext>
              </a:extLst>
            </p:cNvPr>
            <p:cNvCxnSpPr>
              <a:cxnSpLocks/>
              <a:stCxn id="72" idx="3"/>
              <a:endCxn id="46" idx="1"/>
            </p:cNvCxnSpPr>
            <p:nvPr/>
          </p:nvCxnSpPr>
          <p:spPr>
            <a:xfrm flipV="1">
              <a:off x="2896559" y="1894323"/>
              <a:ext cx="386658" cy="1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45C96417-BD54-4757-3717-5DFECCEF0CA4}"/>
                </a:ext>
              </a:extLst>
            </p:cNvPr>
            <p:cNvGrpSpPr/>
            <p:nvPr/>
          </p:nvGrpSpPr>
          <p:grpSpPr>
            <a:xfrm>
              <a:off x="3283217" y="3076468"/>
              <a:ext cx="1440000" cy="485672"/>
              <a:chOff x="3283217" y="3076468"/>
              <a:chExt cx="1440000" cy="485672"/>
            </a:xfrm>
          </p:grpSpPr>
          <p:sp>
            <p:nvSpPr>
              <p:cNvPr id="19" name="모서리가 둥근 직사각형 167">
                <a:extLst>
                  <a:ext uri="{FF2B5EF4-FFF2-40B4-BE49-F238E27FC236}">
                    <a16:creationId xmlns:a16="http://schemas.microsoft.com/office/drawing/2014/main" id="{7BD3044D-FED4-56CA-EEDD-CA654A1D50F7}"/>
                  </a:ext>
                </a:extLst>
              </p:cNvPr>
              <p:cNvSpPr/>
              <p:nvPr/>
            </p:nvSpPr>
            <p:spPr bwMode="auto">
              <a:xfrm>
                <a:off x="3283217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F3F6CD2-37DC-9021-9C28-87D1EE141677}"/>
                  </a:ext>
                </a:extLst>
              </p:cNvPr>
              <p:cNvSpPr/>
              <p:nvPr/>
            </p:nvSpPr>
            <p:spPr>
              <a:xfrm>
                <a:off x="3283217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40AE8DA2-F999-3F10-9506-DB9D5FA8F545}"/>
                </a:ext>
              </a:extLst>
            </p:cNvPr>
            <p:cNvGrpSpPr/>
            <p:nvPr/>
          </p:nvGrpSpPr>
          <p:grpSpPr>
            <a:xfrm>
              <a:off x="5109875" y="3076468"/>
              <a:ext cx="1440000" cy="485672"/>
              <a:chOff x="5109875" y="3076468"/>
              <a:chExt cx="1440000" cy="485672"/>
            </a:xfrm>
          </p:grpSpPr>
          <p:sp>
            <p:nvSpPr>
              <p:cNvPr id="21" name="모서리가 둥근 직사각형 167">
                <a:extLst>
                  <a:ext uri="{FF2B5EF4-FFF2-40B4-BE49-F238E27FC236}">
                    <a16:creationId xmlns:a16="http://schemas.microsoft.com/office/drawing/2014/main" id="{21778105-1D22-FBD0-5536-B554E0915794}"/>
                  </a:ext>
                </a:extLst>
              </p:cNvPr>
              <p:cNvSpPr/>
              <p:nvPr/>
            </p:nvSpPr>
            <p:spPr bwMode="auto">
              <a:xfrm>
                <a:off x="5109875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E0B4040-2FD4-57F4-7736-DD38F996286B}"/>
                  </a:ext>
                </a:extLst>
              </p:cNvPr>
              <p:cNvSpPr/>
              <p:nvPr/>
            </p:nvSpPr>
            <p:spPr>
              <a:xfrm>
                <a:off x="5109875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3AF1E05-44D1-DCAE-C484-28E79AD03FAD}"/>
                </a:ext>
              </a:extLst>
            </p:cNvPr>
            <p:cNvCxnSpPr>
              <a:cxnSpLocks/>
              <a:stCxn id="19" idx="0"/>
              <a:endCxn id="47" idx="2"/>
            </p:cNvCxnSpPr>
            <p:nvPr/>
          </p:nvCxnSpPr>
          <p:spPr>
            <a:xfrm flipV="1">
              <a:off x="4003217" y="2344310"/>
              <a:ext cx="0" cy="732158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B5E4FAC-64AE-0388-5141-1B94A10EAB36}"/>
                </a:ext>
              </a:extLst>
            </p:cNvPr>
            <p:cNvGrpSpPr/>
            <p:nvPr/>
          </p:nvGrpSpPr>
          <p:grpSpPr>
            <a:xfrm>
              <a:off x="3283217" y="4235230"/>
              <a:ext cx="1440000" cy="753636"/>
              <a:chOff x="3283217" y="4235230"/>
              <a:chExt cx="1440000" cy="753636"/>
            </a:xfrm>
          </p:grpSpPr>
          <p:sp>
            <p:nvSpPr>
              <p:cNvPr id="36" name="모서리가 둥근 직사각형 167">
                <a:extLst>
                  <a:ext uri="{FF2B5EF4-FFF2-40B4-BE49-F238E27FC236}">
                    <a16:creationId xmlns:a16="http://schemas.microsoft.com/office/drawing/2014/main" id="{9EB7C7A3-7568-9DB8-EAEB-8FF76B3099D6}"/>
                  </a:ext>
                </a:extLst>
              </p:cNvPr>
              <p:cNvSpPr/>
              <p:nvPr/>
            </p:nvSpPr>
            <p:spPr bwMode="auto">
              <a:xfrm>
                <a:off x="3283217" y="4235230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연구보조원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B15E9A8-8089-8730-58BB-153FF67D77BC}"/>
                  </a:ext>
                </a:extLst>
              </p:cNvPr>
              <p:cNvSpPr/>
              <p:nvPr/>
            </p:nvSpPr>
            <p:spPr>
              <a:xfrm>
                <a:off x="3283217" y="4454622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00AEF979-EF2B-8D97-9A1A-93F344842B0B}"/>
                  </a:ext>
                </a:extLst>
              </p:cNvPr>
              <p:cNvSpPr/>
              <p:nvPr/>
            </p:nvSpPr>
            <p:spPr>
              <a:xfrm>
                <a:off x="3283217" y="4722586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40" name="꺾인 연결선 14">
              <a:extLst>
                <a:ext uri="{FF2B5EF4-FFF2-40B4-BE49-F238E27FC236}">
                  <a16:creationId xmlns:a16="http://schemas.microsoft.com/office/drawing/2014/main" id="{A60B0F66-5099-BE0C-0BD2-AF162547C8F6}"/>
                </a:ext>
              </a:extLst>
            </p:cNvPr>
            <p:cNvCxnSpPr>
              <a:cxnSpLocks/>
              <a:stCxn id="36" idx="0"/>
              <a:endCxn id="22" idx="2"/>
            </p:cNvCxnSpPr>
            <p:nvPr/>
          </p:nvCxnSpPr>
          <p:spPr>
            <a:xfrm rot="5400000" flipH="1" flipV="1">
              <a:off x="4580001" y="2985356"/>
              <a:ext cx="673090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43" name="꺾인 연결선 14">
              <a:extLst>
                <a:ext uri="{FF2B5EF4-FFF2-40B4-BE49-F238E27FC236}">
                  <a16:creationId xmlns:a16="http://schemas.microsoft.com/office/drawing/2014/main" id="{AFE0356F-B1FA-EBC5-0A01-DFE269BDE429}"/>
                </a:ext>
              </a:extLst>
            </p:cNvPr>
            <p:cNvCxnSpPr>
              <a:cxnSpLocks/>
              <a:stCxn id="78" idx="2"/>
              <a:endCxn id="36" idx="0"/>
            </p:cNvCxnSpPr>
            <p:nvPr/>
          </p:nvCxnSpPr>
          <p:spPr>
            <a:xfrm rot="16200000" flipH="1">
              <a:off x="2753343" y="2985356"/>
              <a:ext cx="673090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10467657-3895-3BFB-5BE4-2BFA4E43DBFE}"/>
                </a:ext>
              </a:extLst>
            </p:cNvPr>
            <p:cNvCxnSpPr>
              <a:cxnSpLocks/>
              <a:stCxn id="36" idx="0"/>
              <a:endCxn id="20" idx="2"/>
            </p:cNvCxnSpPr>
            <p:nvPr/>
          </p:nvCxnSpPr>
          <p:spPr>
            <a:xfrm flipV="1">
              <a:off x="4003217" y="3562140"/>
              <a:ext cx="0" cy="67309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8499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FC66-CE53-ABA6-F306-52DD3041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67EAB8C2-5AD1-ED4D-5F7F-C10817E1AAE0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7D367E4-12BB-6AE6-CABF-E349DF2BD1CC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4193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추진 일정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관리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4193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687E7B-1BA8-DAA1-FE72-28E8B12D88D3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246">
            <a:extLst>
              <a:ext uri="{FF2B5EF4-FFF2-40B4-BE49-F238E27FC236}">
                <a16:creationId xmlns:a16="http://schemas.microsoft.com/office/drawing/2014/main" id="{96EE31A6-F93C-8238-F3A0-46556891A3B5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추진일정관리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7E9F982-583C-9BD6-43A6-A8B159B1BF4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AB702B-6C4D-BEE2-3F1F-0EC46B54D9A0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10000"/>
              </a:lnSpc>
              <a:spcBef>
                <a:spcPts val="300"/>
              </a:spcBef>
            </a:pP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본 과업은 연구 구체화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(5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모듈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), 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연구결과로 약 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8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개월 간 추진되며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용역 종료 후 </a:t>
            </a:r>
            <a:r>
              <a:rPr lang="en-US" altLang="ko-KR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sz="17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개월 간 사후관리를 지원함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C13DD-42AC-39BE-C3A3-C2DFFD8409B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FA92912-A742-AD9F-B82C-B0DA5ED82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530560"/>
              </p:ext>
            </p:extLst>
          </p:nvPr>
        </p:nvGraphicFramePr>
        <p:xfrm>
          <a:off x="236547" y="2076450"/>
          <a:ext cx="9396407" cy="4400560"/>
        </p:xfrm>
        <a:graphic>
          <a:graphicData uri="http://schemas.openxmlformats.org/drawingml/2006/table">
            <a:tbl>
              <a:tblPr/>
              <a:tblGrid>
                <a:gridCol w="1173153">
                  <a:extLst>
                    <a:ext uri="{9D8B030D-6E8A-4147-A177-3AD203B41FA5}">
                      <a16:colId xmlns:a16="http://schemas.microsoft.com/office/drawing/2014/main" val="3040323677"/>
                    </a:ext>
                  </a:extLst>
                </a:gridCol>
                <a:gridCol w="3193686">
                  <a:extLst>
                    <a:ext uri="{9D8B030D-6E8A-4147-A177-3AD203B41FA5}">
                      <a16:colId xmlns:a16="http://schemas.microsoft.com/office/drawing/2014/main" val="412376517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03162231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30200579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82913988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4405200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880119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22182439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55541980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5124985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56116152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7950538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7610491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44494213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91967613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83959643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143341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40506392"/>
                    </a:ext>
                  </a:extLst>
                </a:gridCol>
              </a:tblGrid>
              <a:tr h="29124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단계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추진일정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696950"/>
                  </a:ext>
                </a:extLst>
              </a:tr>
              <a:tr h="291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M+1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M+2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M+3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M+4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M+5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M+6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M+7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M+8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82563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72131"/>
                  </a:ext>
                </a:extLst>
              </a:tr>
              <a:tr h="27272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한국표준직업분류</a:t>
                      </a:r>
                      <a:endParaRPr lang="en-US" altLang="ko-KR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직무기술 정의서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0" spc="-20" baseline="0" dirty="0" err="1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직업별 업무내용 검토 및 핵심 직무 파악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3907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직무활동 추출 및 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방법론 참조 구조화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746068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 직무요소 도출 및 직무기술 정의서 작성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65611"/>
                  </a:ext>
                </a:extLst>
              </a:tr>
              <a:tr h="27272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고도화를 위한 직업정보 프레임워크 연구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935232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비교 미 국내 적용방안 검토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116492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한국형 직능유형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 차원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도출 및 구성요소 설계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9830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직업분류체계와의 연계 방안 및 정책적 활용 방안 제시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639919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17862"/>
                  </a:ext>
                </a:extLst>
              </a:tr>
              <a:tr h="27272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시뮬레이션 및 전문가 검토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시뮬레이션 대상 </a:t>
                      </a:r>
                      <a:r>
                        <a:rPr lang="ko-KR" altLang="en-US" sz="1000" kern="0" spc="-20" baseline="0" dirty="0" err="1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선정 및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95174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전문가 검토 실시 및 구성요소 보완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조정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999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직능유형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구조 최종안 도출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579466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68232"/>
                  </a:ext>
                </a:extLst>
              </a:tr>
              <a:tr h="272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 등 연구 마무리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15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937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099E-1DF0-9103-DA2D-80976FF3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EA47AB7D-BEC3-70E8-1082-6844AA3E74F0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0BF3F63-0FA9-4344-2EA3-890A94911B03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4193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품질관리계획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822C80-AD20-87B5-8780-F93A21E06FE5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0BEE792-E3AA-72C0-254A-FE68CA5E336C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연구수행에 관한 산출물은 사업운영관리 부문과 선도기업별 맞춤형 컨설팅 부문으로 각 부문별</a:t>
            </a:r>
            <a:r>
              <a:rPr kumimoji="0" lang="en-US" altLang="ko-KR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, Process</a:t>
            </a:r>
            <a:r>
              <a:rPr kumimoji="0" lang="ko-KR" altLang="en-US" sz="1700" b="0" i="0" u="none" strike="noStrike" kern="1200" cap="none" spc="-50" normalizeH="0" baseline="0" noProof="0" dirty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별로 최종 산출물을 구성함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C4DBD-47CB-1493-6211-009D330D9F1F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E4F401-322D-5FD6-F6A3-54107B2ECF6A}"/>
              </a:ext>
            </a:extLst>
          </p:cNvPr>
          <p:cNvGraphicFramePr>
            <a:graphicFrameLocks noGrp="1"/>
          </p:cNvGraphicFramePr>
          <p:nvPr/>
        </p:nvGraphicFramePr>
        <p:xfrm>
          <a:off x="596900" y="1673653"/>
          <a:ext cx="8748712" cy="214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8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kern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200" kern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사업운영관리 </a:t>
                      </a:r>
                      <a:r>
                        <a:rPr lang="en-US" altLang="ko-KR" sz="1200" kern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Process</a:t>
                      </a:r>
                      <a:r>
                        <a:rPr lang="ko-KR" altLang="en-US" sz="1200" kern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별 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71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사업운영관리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spc="-50" baseline="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ko-KR" sz="120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endParaRPr lang="ko-KR" altLang="en-US" sz="120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08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spc="-50" baseline="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200" b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월간보고자료</a:t>
                      </a:r>
                      <a:endParaRPr lang="en-US" altLang="ko-KR" sz="1200" b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200" b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중간보고자료</a:t>
                      </a:r>
                      <a:endParaRPr lang="en-US" altLang="ko-KR" sz="1200" b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200" b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최종보고자료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37641B2-6B51-6615-C3E9-4DDDDDB0C908}"/>
              </a:ext>
            </a:extLst>
          </p:cNvPr>
          <p:cNvGraphicFramePr>
            <a:graphicFrameLocks noGrp="1"/>
          </p:cNvGraphicFramePr>
          <p:nvPr/>
        </p:nvGraphicFramePr>
        <p:xfrm>
          <a:off x="596901" y="4157828"/>
          <a:ext cx="8748712" cy="2331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8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3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선도기업별 맞춤형 컨설팅 </a:t>
                      </a:r>
                      <a:r>
                        <a:rPr lang="en-US" altLang="ko-KR" sz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Process</a:t>
                      </a:r>
                      <a:r>
                        <a:rPr lang="ko-KR" altLang="en-US" sz="12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별 산출물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3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맞춤형 컨설팅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spc="-50" baseline="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endParaRPr lang="ko-KR" altLang="en-US" sz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1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산출물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spc="-50" baseline="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선도기업별 장애인 적합 직무개발 결과</a:t>
                      </a:r>
                      <a:endParaRPr lang="en-US" altLang="ko-KR" sz="1200" b="0" kern="1200" spc="-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F49891-0FCA-237B-8B3B-128FB9400057}"/>
              </a:ext>
            </a:extLst>
          </p:cNvPr>
          <p:cNvGrpSpPr/>
          <p:nvPr/>
        </p:nvGrpSpPr>
        <p:grpSpPr>
          <a:xfrm>
            <a:off x="2177593" y="2107065"/>
            <a:ext cx="5761318" cy="459051"/>
            <a:chOff x="3885498" y="2455419"/>
            <a:chExt cx="4353395" cy="432048"/>
          </a:xfrm>
          <a:solidFill>
            <a:srgbClr val="3061A3"/>
          </a:solidFill>
        </p:grpSpPr>
        <p:sp>
          <p:nvSpPr>
            <p:cNvPr id="15" name="AutoShape 108">
              <a:extLst>
                <a:ext uri="{FF2B5EF4-FFF2-40B4-BE49-F238E27FC236}">
                  <a16:creationId xmlns:a16="http://schemas.microsoft.com/office/drawing/2014/main" id="{F31B504A-FA45-D245-8067-C94C774AC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5498" y="2455419"/>
              <a:ext cx="1469700" cy="432048"/>
            </a:xfrm>
            <a:prstGeom prst="homePlate">
              <a:avLst>
                <a:gd name="adj" fmla="val 28533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착수보고 및 모니터링</a:t>
              </a:r>
            </a:p>
          </p:txBody>
        </p:sp>
        <p:sp>
          <p:nvSpPr>
            <p:cNvPr id="16" name="AutoShape 108">
              <a:extLst>
                <a:ext uri="{FF2B5EF4-FFF2-40B4-BE49-F238E27FC236}">
                  <a16:creationId xmlns:a16="http://schemas.microsoft.com/office/drawing/2014/main" id="{DE6749F4-C29B-AB3F-1EB8-1137BDD03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660" y="2455419"/>
              <a:ext cx="1421700" cy="432048"/>
            </a:xfrm>
            <a:prstGeom prst="homePlate">
              <a:avLst>
                <a:gd name="adj" fmla="val 28533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주간</a:t>
              </a:r>
              <a:r>
                <a:rPr lang="en-US" altLang="ko-KR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/</a:t>
              </a: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중간보고</a:t>
              </a:r>
            </a:p>
          </p:txBody>
        </p:sp>
        <p:sp>
          <p:nvSpPr>
            <p:cNvPr id="17" name="AutoShape 108">
              <a:extLst>
                <a:ext uri="{FF2B5EF4-FFF2-40B4-BE49-F238E27FC236}">
                  <a16:creationId xmlns:a16="http://schemas.microsoft.com/office/drawing/2014/main" id="{9808B7FD-F84E-0315-E8DE-231AE5EE6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821" y="2455419"/>
              <a:ext cx="1411072" cy="432048"/>
            </a:xfrm>
            <a:prstGeom prst="homePlate">
              <a:avLst>
                <a:gd name="adj" fmla="val 28533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 eaLnBrk="1" fontAlgn="auto" latinLnBrk="0" hangingPunct="1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최종보고</a:t>
              </a:r>
            </a:p>
          </p:txBody>
        </p:sp>
      </p:grpSp>
      <p:sp>
        <p:nvSpPr>
          <p:cNvPr id="18" name="Text Box 38">
            <a:extLst>
              <a:ext uri="{FF2B5EF4-FFF2-40B4-BE49-F238E27FC236}">
                <a16:creationId xmlns:a16="http://schemas.microsoft.com/office/drawing/2014/main" id="{E038385C-3CC9-2B49-D277-C0D5F533A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593" y="2711566"/>
            <a:ext cx="1801677" cy="94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rIns="3600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9pPr>
          </a:lstStyle>
          <a:p>
            <a:pPr marL="82550" indent="-82550" eaLnBrk="1" fontAlgn="base" hangingPunct="1">
              <a:lnSpc>
                <a:spcPct val="130000"/>
              </a:lnSpc>
              <a:spcBef>
                <a:spcPts val="0"/>
              </a:spcBef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컨설팅 추진 일정 및 운영체계 수립 결과</a:t>
            </a:r>
            <a:endParaRPr lang="en-US" altLang="ko-KR" sz="1100" b="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2550" indent="-82550" eaLnBrk="1" fontAlgn="base" hangingPunct="1">
              <a:lnSpc>
                <a:spcPct val="130000"/>
              </a:lnSpc>
              <a:spcBef>
                <a:spcPts val="0"/>
              </a:spcBef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 요구조사 결과 </a:t>
            </a:r>
            <a:r>
              <a:rPr lang="en-US" altLang="ko-KR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 요구사항</a:t>
            </a:r>
            <a:r>
              <a:rPr lang="en-US" altLang="ko-KR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애로사항 등</a:t>
            </a:r>
            <a:r>
              <a:rPr lang="en-US" altLang="ko-KR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100" b="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Box 38">
            <a:extLst>
              <a:ext uri="{FF2B5EF4-FFF2-40B4-BE49-F238E27FC236}">
                <a16:creationId xmlns:a16="http://schemas.microsoft.com/office/drawing/2014/main" id="{A7655183-D65F-1CF7-FF1A-EBA2D2D76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5055" y="2711566"/>
            <a:ext cx="1880975" cy="506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rIns="3600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9pPr>
          </a:lstStyle>
          <a:p>
            <a:pPr marL="82550" indent="-82550" eaLnBrk="1" fontAlgn="base" hangingPunct="1">
              <a:lnSpc>
                <a:spcPct val="130000"/>
              </a:lnSpc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4193"/>
                </a:solidFill>
                <a:latin typeface="페이퍼로지 4 Regular" pitchFamily="2" charset="-127"/>
                <a:ea typeface="페이퍼로지 4 Regular" pitchFamily="2" charset="-127"/>
              </a:rPr>
              <a:t>주간보고  </a:t>
            </a:r>
            <a:r>
              <a:rPr lang="en-US" altLang="ko-KR" sz="11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4193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4193"/>
                </a:solidFill>
                <a:latin typeface="페이퍼로지 4 Regular" pitchFamily="2" charset="-127"/>
                <a:ea typeface="페이퍼로지 4 Regular" pitchFamily="2" charset="-127"/>
              </a:rPr>
              <a:t>추진현황 및 이슈</a:t>
            </a:r>
            <a:endParaRPr lang="en-US" altLang="ko-KR" sz="11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4193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2550" indent="-82550" eaLnBrk="1" fontAlgn="base" hangingPunct="1">
              <a:lnSpc>
                <a:spcPct val="130000"/>
              </a:lnSpc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중간보고자료</a:t>
            </a:r>
            <a:endParaRPr lang="en-US" altLang="ko-KR" sz="1100" b="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Box 38">
            <a:extLst>
              <a:ext uri="{FF2B5EF4-FFF2-40B4-BE49-F238E27FC236}">
                <a16:creationId xmlns:a16="http://schemas.microsoft.com/office/drawing/2014/main" id="{3F585567-7CA7-B5DA-4A80-1A7CFB509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1487" y="2711566"/>
            <a:ext cx="1801677" cy="984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rIns="3600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Arial" pitchFamily="34" charset="0"/>
                <a:ea typeface="바탕" pitchFamily="18" charset="-127"/>
              </a:defRPr>
            </a:lvl9pPr>
          </a:lstStyle>
          <a:p>
            <a:pPr marL="82550" indent="-82550" eaLnBrk="1" fontAlgn="base" hangingPunct="1">
              <a:lnSpc>
                <a:spcPct val="130000"/>
              </a:lnSpc>
              <a:spcAft>
                <a:spcPts val="300"/>
              </a:spcAft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선도기업 직무개발 컨설팅 사업 만족도 조사 결과</a:t>
            </a:r>
            <a:endParaRPr lang="en-US" altLang="ko-KR" sz="1100" b="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2550" indent="-82550" eaLnBrk="1" fontAlgn="base" hangingPunct="1">
              <a:lnSpc>
                <a:spcPct val="130000"/>
              </a:lnSpc>
              <a:spcAft>
                <a:spcPts val="300"/>
              </a:spcAft>
              <a:buClr>
                <a:srgbClr val="44546A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선도기업 직무개발 컨설팅 사업 개선방안</a:t>
            </a:r>
            <a:endParaRPr lang="en-US" altLang="ko-KR" sz="1100" b="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317B371-B2D6-95A2-1B0D-E6A04A051425}"/>
              </a:ext>
            </a:extLst>
          </p:cNvPr>
          <p:cNvGrpSpPr/>
          <p:nvPr/>
        </p:nvGrpSpPr>
        <p:grpSpPr>
          <a:xfrm>
            <a:off x="2264486" y="5277681"/>
            <a:ext cx="5628686" cy="1136995"/>
            <a:chOff x="2049524" y="5365218"/>
            <a:chExt cx="8891693" cy="9920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740A6C-1441-4B08-840A-C04FBB414202}"/>
                </a:ext>
              </a:extLst>
            </p:cNvPr>
            <p:cNvSpPr txBox="1"/>
            <p:nvPr/>
          </p:nvSpPr>
          <p:spPr>
            <a:xfrm>
              <a:off x="2049524" y="5365218"/>
              <a:ext cx="1537200" cy="992049"/>
            </a:xfrm>
            <a:prstGeom prst="rect">
              <a:avLst/>
            </a:prstGeom>
            <a:pattFill prst="dkUpDiag">
              <a:fgClr>
                <a:schemeClr val="bg2"/>
              </a:fgClr>
              <a:bgClr>
                <a:sysClr val="window" lastClr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en-US"/>
              </a:defPPr>
              <a:lvl1pPr marL="159291" indent="-79646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 sz="900" kern="0" spc="-41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선도기업별 요구분석 결과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선도기업별 컨설팅 전략 방향 수립 결과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5EF71F-E69D-B45D-9CDD-798A877DD112}"/>
                </a:ext>
              </a:extLst>
            </p:cNvPr>
            <p:cNvSpPr txBox="1"/>
            <p:nvPr/>
          </p:nvSpPr>
          <p:spPr>
            <a:xfrm>
              <a:off x="3877561" y="5365218"/>
              <a:ext cx="1537200" cy="992049"/>
            </a:xfrm>
            <a:prstGeom prst="rect">
              <a:avLst/>
            </a:prstGeom>
            <a:pattFill prst="dkUpDiag">
              <a:fgClr>
                <a:schemeClr val="bg2"/>
              </a:fgClr>
              <a:bgClr>
                <a:sysClr val="window" lastClr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en-US"/>
              </a:defPPr>
              <a:lvl1pPr marL="159291" indent="-79646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 sz="900" kern="0" spc="-41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①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실행가능형 직무 후보군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②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전략확산형 직무 후보군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77D23A-EF23-3C06-4D70-CF2BC2B0B6E9}"/>
                </a:ext>
              </a:extLst>
            </p:cNvPr>
            <p:cNvSpPr txBox="1"/>
            <p:nvPr/>
          </p:nvSpPr>
          <p:spPr>
            <a:xfrm>
              <a:off x="5719207" y="5365218"/>
              <a:ext cx="1537200" cy="992049"/>
            </a:xfrm>
            <a:prstGeom prst="rect">
              <a:avLst/>
            </a:prstGeom>
            <a:pattFill prst="dkUpDiag">
              <a:fgClr>
                <a:schemeClr val="bg2"/>
              </a:fgClr>
              <a:bgClr>
                <a:sysClr val="window" lastClr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en-US"/>
              </a:defPPr>
              <a:lvl1pPr marL="159291" indent="-79646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 sz="900" kern="0" spc="-41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선도기업별 직무 평가 도구 및 평가 결과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선도기업별 적합 직무 선정 결과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6C87D-D20D-F4D5-B632-166682A3C494}"/>
                </a:ext>
              </a:extLst>
            </p:cNvPr>
            <p:cNvSpPr txBox="1"/>
            <p:nvPr/>
          </p:nvSpPr>
          <p:spPr>
            <a:xfrm>
              <a:off x="9404017" y="5365218"/>
              <a:ext cx="1537200" cy="992049"/>
            </a:xfrm>
            <a:prstGeom prst="rect">
              <a:avLst/>
            </a:prstGeom>
            <a:pattFill prst="dkUpDiag">
              <a:fgClr>
                <a:schemeClr val="bg2"/>
              </a:fgClr>
              <a:bgClr>
                <a:sysClr val="window" lastClr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ko-KR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59291" indent="-79646" algn="l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장애인 근로자 </a:t>
              </a:r>
              <a:r>
                <a:rPr lang="en-US" altLang="ko-KR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HR </a:t>
              </a:r>
              <a:r>
                <a:rPr lang="ko-KR" altLang="en-US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체계 진단 결과</a:t>
              </a:r>
              <a:endParaRPr lang="en-US" altLang="ko-KR" sz="1000" kern="0" spc="-41" dirty="0"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59291" indent="-79646" algn="l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적합 직무 개발 결과 활용</a:t>
              </a:r>
              <a:r>
                <a:rPr lang="en-US" altLang="ko-KR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kern="0" spc="-4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확산 도구</a:t>
              </a:r>
              <a:endParaRPr lang="en-US" altLang="ko-KR" sz="1000" kern="0" spc="-41" dirty="0"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248CDE-183A-C1CF-F678-8224D355F0D5}"/>
                </a:ext>
              </a:extLst>
            </p:cNvPr>
            <p:cNvSpPr txBox="1"/>
            <p:nvPr/>
          </p:nvSpPr>
          <p:spPr>
            <a:xfrm>
              <a:off x="7557259" y="5365218"/>
              <a:ext cx="1537200" cy="992049"/>
            </a:xfrm>
            <a:prstGeom prst="rect">
              <a:avLst/>
            </a:prstGeom>
            <a:pattFill prst="dkUpDiag">
              <a:fgClr>
                <a:schemeClr val="bg2"/>
              </a:fgClr>
              <a:bgClr>
                <a:sysClr val="window" lastClr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en-US"/>
              </a:defPPr>
              <a:lvl1pPr marL="159291" indent="-79646" defTabSz="804838">
                <a:lnSpc>
                  <a:spcPct val="120000"/>
                </a:lnSpc>
                <a:buFont typeface="Arial" panose="020B0604020202020204" pitchFamily="34" charset="0"/>
                <a:buChar char="•"/>
                <a:defRPr sz="900" kern="0" spc="-41"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5 Medium" pitchFamily="2" charset="-127"/>
                  <a:ea typeface="페이퍼로지 5 Medium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직무별 직무 모형도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직무별 직무 프로파일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직무 수행 내용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직무 수행 요건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A9CDC3E-6D4D-F0B5-979B-BAFC82A45D33}"/>
              </a:ext>
            </a:extLst>
          </p:cNvPr>
          <p:cNvGrpSpPr/>
          <p:nvPr/>
        </p:nvGrpSpPr>
        <p:grpSpPr>
          <a:xfrm>
            <a:off x="2266198" y="4640241"/>
            <a:ext cx="5673476" cy="422434"/>
            <a:chOff x="2049524" y="4514605"/>
            <a:chExt cx="9026205" cy="422434"/>
          </a:xfrm>
          <a:solidFill>
            <a:srgbClr val="3061A3"/>
          </a:solidFill>
        </p:grpSpPr>
        <p:sp>
          <p:nvSpPr>
            <p:cNvPr id="30" name="화살표: 오각형 29">
              <a:extLst>
                <a:ext uri="{FF2B5EF4-FFF2-40B4-BE49-F238E27FC236}">
                  <a16:creationId xmlns:a16="http://schemas.microsoft.com/office/drawing/2014/main" id="{F95A2E7F-1D17-4150-1812-54E6E7EA0683}"/>
                </a:ext>
              </a:extLst>
            </p:cNvPr>
            <p:cNvSpPr/>
            <p:nvPr/>
          </p:nvSpPr>
          <p:spPr>
            <a:xfrm>
              <a:off x="2049524" y="4514605"/>
              <a:ext cx="1674000" cy="422434"/>
            </a:xfrm>
            <a:prstGeom prst="homePlate">
              <a:avLst>
                <a:gd name="adj" fmla="val 28119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/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M1. 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요구분석</a:t>
              </a:r>
            </a:p>
          </p:txBody>
        </p:sp>
        <p:sp>
          <p:nvSpPr>
            <p:cNvPr id="31" name="화살표: 오각형 30">
              <a:extLst>
                <a:ext uri="{FF2B5EF4-FFF2-40B4-BE49-F238E27FC236}">
                  <a16:creationId xmlns:a16="http://schemas.microsoft.com/office/drawing/2014/main" id="{EE4290ED-5386-4867-01FD-3E7B026E9FEA}"/>
                </a:ext>
              </a:extLst>
            </p:cNvPr>
            <p:cNvSpPr/>
            <p:nvPr/>
          </p:nvSpPr>
          <p:spPr>
            <a:xfrm>
              <a:off x="3887575" y="4514605"/>
              <a:ext cx="1674000" cy="422434"/>
            </a:xfrm>
            <a:prstGeom prst="homePlate">
              <a:avLst>
                <a:gd name="adj" fmla="val 28119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/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M2. 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적합 직무 발굴</a:t>
              </a:r>
              <a:endPara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A6102C04-3950-73F9-3714-CF1948190F62}"/>
                </a:ext>
              </a:extLst>
            </p:cNvPr>
            <p:cNvSpPr/>
            <p:nvPr/>
          </p:nvSpPr>
          <p:spPr>
            <a:xfrm>
              <a:off x="5725625" y="4514605"/>
              <a:ext cx="1674000" cy="422434"/>
            </a:xfrm>
            <a:prstGeom prst="homePlate">
              <a:avLst>
                <a:gd name="adj" fmla="val 28119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/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M3. 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적합 직무 선정</a:t>
              </a:r>
              <a:endPara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33" name="화살표: 오각형 32">
              <a:extLst>
                <a:ext uri="{FF2B5EF4-FFF2-40B4-BE49-F238E27FC236}">
                  <a16:creationId xmlns:a16="http://schemas.microsoft.com/office/drawing/2014/main" id="{CDB5B26C-23B0-D5E4-9637-C407AC6561B5}"/>
                </a:ext>
              </a:extLst>
            </p:cNvPr>
            <p:cNvSpPr/>
            <p:nvPr/>
          </p:nvSpPr>
          <p:spPr>
            <a:xfrm>
              <a:off x="7563677" y="4514605"/>
              <a:ext cx="1674000" cy="422434"/>
            </a:xfrm>
            <a:prstGeom prst="homePlate">
              <a:avLst>
                <a:gd name="adj" fmla="val 28119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/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M4.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적합 직무 개발</a:t>
              </a:r>
              <a:endPara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34" name="화살표: 오각형 33">
              <a:extLst>
                <a:ext uri="{FF2B5EF4-FFF2-40B4-BE49-F238E27FC236}">
                  <a16:creationId xmlns:a16="http://schemas.microsoft.com/office/drawing/2014/main" id="{8B7641FD-9A3E-1468-979C-83B7774C0005}"/>
                </a:ext>
              </a:extLst>
            </p:cNvPr>
            <p:cNvSpPr/>
            <p:nvPr/>
          </p:nvSpPr>
          <p:spPr>
            <a:xfrm>
              <a:off x="9401729" y="4514605"/>
              <a:ext cx="1674000" cy="422434"/>
            </a:xfrm>
            <a:prstGeom prst="homePlate">
              <a:avLst>
                <a:gd name="adj" fmla="val 28119"/>
              </a:avLst>
            </a:prstGeom>
            <a:grpFill/>
            <a:ln w="28575">
              <a:solidFill>
                <a:sysClr val="window" lastClr="FFFFFF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0" rIns="36000" bIns="0" rtlCol="0" anchor="ctr"/>
            <a:lstStyle/>
            <a:p>
              <a:pPr algn="ctr"/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M5. 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활용</a:t>
              </a:r>
              <a:r>
                <a:rPr lang="en-US" altLang="ko-KR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확산 </a:t>
              </a:r>
              <a:endPara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endParaRPr>
            </a:p>
            <a:p>
              <a:pPr algn="ctr"/>
              <a:r>
                <a:rPr lang="ko-KR" altLang="en-US" sz="10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Arial" panose="020B0604020202020204" pitchFamily="34" charset="0"/>
                </a:rPr>
                <a:t>방안 마련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385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3266</TotalTime>
  <Words>4825</Words>
  <Application>Microsoft Office PowerPoint</Application>
  <PresentationFormat>A4 용지(210x297mm)</PresentationFormat>
  <Paragraphs>838</Paragraphs>
  <Slides>28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3" baseType="lpstr">
      <vt:lpstr>a고딕14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함초롬바탕</vt:lpstr>
      <vt:lpstr>Aptos</vt:lpstr>
      <vt:lpstr>Aptos Display</vt:lpstr>
      <vt:lpstr>Arial</vt:lpstr>
      <vt:lpstr>Arial Narrow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윤형 이</dc:creator>
  <cp:lastModifiedBy>석주 이</cp:lastModifiedBy>
  <cp:revision>71</cp:revision>
  <cp:lastPrinted>2025-03-27T12:19:48Z</cp:lastPrinted>
  <dcterms:created xsi:type="dcterms:W3CDTF">2025-03-25T05:59:26Z</dcterms:created>
  <dcterms:modified xsi:type="dcterms:W3CDTF">2026-04-16T00:41:03Z</dcterms:modified>
</cp:coreProperties>
</file>