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77240" y="137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[영역1] 직무기술 정의서 작성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601200" y="137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Ⅱ. 연구 수행 방안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02920"/>
            <a:ext cx="1161288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594360"/>
            <a:ext cx="1161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KSCO 세분류 직업을 대상으로 AI 기반 텍스트 분석과 O*NET 참조 프레임워크를 결합하여, 직업별 직무기술 정의서를 체계적으로 작성함.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7132320" cy="5440680"/>
          </a:xfrm>
          <a:prstGeom prst="rect">
            <a:avLst/>
          </a:prstGeom>
          <a:solidFill>
            <a:srgbClr val="1E1E3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97280"/>
            <a:ext cx="713232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097280"/>
            <a:ext cx="6912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기반 직무활동 추출 방법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1444752"/>
            <a:ext cx="6912864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분석 대상 자료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KSCO 세분류 426개 직업 설명 텍스트 (기본 분석 대상)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한국직업사전 6,000여 개 직무기술서 (직무활동 보강)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NCS 능력단위 및 능력단위요소 (한국적 직무 표준 반영)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워크피디아·KNOW의 직업별 숙련도·중요도 데이터 (부가정보 연계)</a:t>
            </a:r>
            <a:endParaRPr lang="en-US" sz="8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8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분석 방법: AI 기반 텍스트 분석 4단계 파이프라인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텍스트 수집·정제: 다수 출처의 직업 설명·직무기술을 통합 수집·가공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NLP 구조 분석: 자연어 처리를 활용한 문장 단위 구문·의미 분석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직무활동 추출: 행동 중심 동사 및 행위 표현을 식별·추출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군집화·통합: 유사 직무활동을 군집화하여 표준 직무요소로 통합</a:t>
            </a:r>
            <a:endParaRPr lang="en-US" sz="8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8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O*NET 참조 프레임워크 활용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GWA 4대 범주(정보 입력 / 정신적 과정 / 업무 산출 / 타인과의 상호작용)를 직무활동 분류 기준으로 참고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직무활동 유형: 정보 수집·분석 / 문제 해결·의사결정 / 대인 서비스·의사소통 / 조직 관리·조정 / 기술·장비 활용</a:t>
            </a:r>
            <a:endParaRPr lang="en-US" sz="8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8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품질 확보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배치 처리 전 샘플 10~20개 직업 사전 검증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AI 분석 결과는 전문가 검토를 거쳐 최종 확정 (이중 검증)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589520" y="1097280"/>
            <a:ext cx="4297680" cy="5440680"/>
          </a:xfrm>
          <a:prstGeom prst="rect">
            <a:avLst/>
          </a:prstGeom>
          <a:solidFill>
            <a:srgbClr val="1E1E3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0" y="1097280"/>
            <a:ext cx="429768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699248" y="1097280"/>
            <a:ext cx="4078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직무기술 정의서 구조 (4부)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699248" y="1444752"/>
            <a:ext cx="4078224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4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① 직업 개요</a:t>
            </a:r>
            <a:endParaRPr lang="en-US" sz="40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직업의 정의 및 수행 업무 전반 요약</a:t>
            </a:r>
            <a:endParaRPr lang="en-US" sz="4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4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② 주요 업무내용</a:t>
            </a:r>
            <a:endParaRPr lang="en-US" sz="40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KSCO의 직업 설명 (서술형)</a:t>
            </a:r>
            <a:endParaRPr lang="en-US" sz="4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4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③ 핵심 직무활동</a:t>
            </a:r>
            <a:endParaRPr lang="en-US" sz="40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텍스트 분석을 통해 추출된 행동 중심 직무활동 목록</a:t>
            </a:r>
            <a:endParaRPr lang="en-US" sz="4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4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④ 표준화 직무요소</a:t>
            </a:r>
            <a:endParaRPr lang="en-US" sz="40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O*NET 참조 체계와 비교·분석하여 구조화된 표준 직무요소</a:t>
            </a:r>
            <a:endParaRPr lang="en-US" sz="4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4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4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85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산출물: 직업별 직무기술 정의서</a:t>
            </a:r>
            <a:endParaRPr lang="en-US" sz="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77240" y="137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[영역1] 표준화 직무요소 구조화 예시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601200" y="137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Ⅱ. 연구 수행 방안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02920"/>
            <a:ext cx="1161288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594360"/>
            <a:ext cx="1161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직업명이나 직무 표현이 다르더라도, 공통된 직무요소를 기준으로 직업 간 유사성과 차이를 체계적으로 비교할 수 있음.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11612880" cy="457200"/>
          </a:xfrm>
          <a:prstGeom prst="rect">
            <a:avLst/>
          </a:prstGeom>
          <a:solidFill>
            <a:srgbClr val="1E1E3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 기준:   ■ 직업 간 공통 활동 통합    |    ■ 의미적 유사 활동 군집화    |    ■ 수행 목적 중심 재구성</a:t>
            </a:r>
            <a:endParaRPr lang="en-US" sz="9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691640"/>
          <a:ext cx="116128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4572000"/>
                <a:gridCol w="4297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업무내용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표준화 직무요소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502920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CCCC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동일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CCCC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직무요소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CCCC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학생에게 교육과정 학습내용을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CCCC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가르치고 평가하며 생활지도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B82F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지식전달, 의사소통,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B82F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학습자 이해, 수업 설계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36"/>
                    </a:solidFill>
                  </a:tcPr>
                </a:tc>
              </a:tr>
              <a:tr h="50292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CCCC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수강생에게 이론·기술을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CCCC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가르치고 실기나 기능을 평가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B82F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지식전달, 의사소통,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B82F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학습자 이해, 수업 설계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36"/>
                    </a:solidFill>
                  </a:tcPr>
                </a:tc>
              </a:tr>
              <a:tr h="502920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CCCC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유사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CCCC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직무요소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분석가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CCCC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데이터를 가공·분석하여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CCCC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의사결정에 필요한 정보를 제공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B82F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분석, 데이터 해석,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B82F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의사결정 지원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36"/>
                    </a:solidFill>
                  </a:tcPr>
                </a:tc>
              </a:tr>
              <a:tr h="50292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마케팅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전문가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CCCC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시장·소비자 정보를 분석하여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CCCC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전략을 수립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B82F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분석, 데이터 해석,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B82F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전략 수립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36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274320" y="4206240"/>
            <a:ext cx="11612880" cy="2331720"/>
          </a:xfrm>
          <a:prstGeom prst="rect">
            <a:avLst/>
          </a:prstGeom>
          <a:solidFill>
            <a:srgbClr val="1E1E3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4320" y="4206240"/>
            <a:ext cx="1161288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9"/>
          <p:cNvSpPr/>
          <p:nvPr/>
        </p:nvSpPr>
        <p:spPr>
          <a:xfrm>
            <a:off x="384048" y="4206240"/>
            <a:ext cx="11393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시사점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84048" y="4553712"/>
            <a:ext cx="113934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교사/강사: 교육 대상·환경이 다르나 직무요소 수준에서 동일 구조 공유</a:t>
            </a:r>
            <a:endParaRPr lang="en-US" sz="80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분석가/마케팅 전문가: 분석 대상이 상이하나 '분석'과 '데이터 해석'이라는 핵심 직무요소를 공통 포함</a:t>
            </a:r>
            <a:endParaRPr lang="en-US" sz="8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85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표준화된 직무요소를 통해 직업 간 비교 분석, 직능유형 구성요소 연계, 정책적 활용의 기초 데이터 역할 수행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77240" y="137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[영역2] 국내·외 직업정보 사례 분석 — 해외 체계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601200" y="137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Ⅱ. 연구 수행 방안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02920"/>
            <a:ext cx="1161288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594360"/>
            <a:ext cx="1161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4개 체계와 국내 6개 체계를 비교 분석하여, 직능유형 구성요소의 공통점·차별점 및 한국형 프레임워크 설계 방향을 도출함.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7132320" cy="5440680"/>
          </a:xfrm>
          <a:prstGeom prst="rect">
            <a:avLst/>
          </a:prstGeom>
          <a:solidFill>
            <a:srgbClr val="1E1E3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97280"/>
            <a:ext cx="713232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097280"/>
            <a:ext cx="6912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O*NET 콘텐츠 모델 — 6대 영역 상세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1444752"/>
            <a:ext cx="6912864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① 근로자 특성 (Worker Characteristics)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능력(Abilities) 52개, 직업적 관심(RIASEC) 6유형, 직업 가치, 업무 스타일</a:t>
            </a:r>
            <a:endParaRPr lang="en-US" sz="8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8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② 근로자 요구사항 (Worker Requirements)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기술(Skills) 25개, 지식(Knowledge) 33개 분야, 교육(Education)</a:t>
            </a:r>
            <a:endParaRPr lang="en-US" sz="8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8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③ 경력 요구사항 (Experience Requirements)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경험, 입직 요건, 자격(Licensing)</a:t>
            </a:r>
            <a:endParaRPr lang="en-US" sz="8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8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④ 직업 요구사항 (Occupational Requirements)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업무활동(GWA 41개), 세부업무활동(DWA ~2,000개), 업무구성(Work Context)</a:t>
            </a:r>
            <a:endParaRPr lang="en-US" sz="8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8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⑤ 인력 특성 (Workforce Characteristics)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임금 및 고용동향, 온라인 구직정보</a:t>
            </a:r>
            <a:endParaRPr lang="en-US" sz="8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8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⑥ 직업특정 정보 (Occupation-Specific Information)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Tasks(18,796개), Technology Skills, Tools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589520" y="1097280"/>
            <a:ext cx="4297680" cy="5440680"/>
          </a:xfrm>
          <a:prstGeom prst="rect">
            <a:avLst/>
          </a:prstGeom>
          <a:solidFill>
            <a:srgbClr val="1E1E3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0" y="1097280"/>
            <a:ext cx="429768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699248" y="1097280"/>
            <a:ext cx="4078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체계 비교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699248" y="1444752"/>
            <a:ext cx="4078224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O*NET (미국)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1,016개 직업, Tasks 18,796개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 영역 다차원 구조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포괄적 직업정보 체계</a:t>
            </a:r>
            <a:endParaRPr lang="en-US" sz="8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8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ISCO-08 (국제/ILO)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4단계: 주요군(10) → 세부(43) → 소군(130) → 단위군(436)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직능수준 + 직능유형 분류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ISCO-28 개정 진행 중</a:t>
            </a:r>
            <a:endParaRPr lang="en-US" sz="8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8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ESCO (유럽)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3,008개 직업, 13,890개 기술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직업 + 기술 + 자격 3축 연계</a:t>
            </a:r>
            <a:endParaRPr lang="en-US" sz="8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8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NOC (캐나다)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500개 세분류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기술유형 + 기술수준 2차원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77240" y="137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[영역2] 국내외 비교 분석 및 적용방안 도출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601200" y="137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Ⅱ. 연구 수행 방안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02920"/>
            <a:ext cx="1161288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594360"/>
            <a:ext cx="1161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국내외 체계 비교 결과, O*NET은 거의 모든 요소를 포괄하는 반면 KSCO는 기본 정보 중심이며, 이를 토대로 3가지 적용방안을 도출함.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5669280" cy="5440680"/>
          </a:xfrm>
          <a:prstGeom prst="rect">
            <a:avLst/>
          </a:prstGeom>
          <a:solidFill>
            <a:srgbClr val="1E1E3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97280"/>
            <a:ext cx="566928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097280"/>
            <a:ext cx="5449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직업정보 체계 요약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1444752"/>
            <a:ext cx="5449824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KSCO (한국표준직업분류)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통계청 관리, 대10/중42/소149/세426, 기본 분류 정보 충실, 부가정보 부족</a:t>
            </a:r>
            <a:endParaRPr lang="en-US" sz="8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8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KECO (한국고용직업분류)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직무 수행 내용 유사성 기준 분류</a:t>
            </a:r>
            <a:endParaRPr lang="en-US" sz="8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8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워크피디아 (고용노동부)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500여 개 직업 다차원 정보 제공, 국내 체계 중 가장 풍부</a:t>
            </a:r>
            <a:endParaRPr lang="en-US" sz="8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8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한국직업사전 (한국고용정보원)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6,000여 개 직무기술서 수록, 부가직업정보 포함</a:t>
            </a:r>
            <a:endParaRPr lang="en-US" sz="8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8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NCS (국가직무능력표준)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24대분류, 1,100세분류, 능력단위 기반 직무정보</a:t>
            </a:r>
            <a:endParaRPr lang="en-US" sz="8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8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KQF/SQF (국가역량체계)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8개 수준 역량 정의 체계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5760720" cy="5440680"/>
          </a:xfrm>
          <a:prstGeom prst="rect">
            <a:avLst/>
          </a:prstGeom>
          <a:solidFill>
            <a:srgbClr val="1E1E3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097280"/>
            <a:ext cx="576072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6236208" y="1097280"/>
            <a:ext cx="5541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한국형 적용방안 → 6대 차원 도출 근거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36208" y="1444752"/>
            <a:ext cx="5541264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적용방안 ① 주요 업무(Tasks) 최신화·보강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ISCO Tasks, O*NET 18,796개, 한국직업사전 6,000여 개, NCS 능력단위 활용</a:t>
            </a:r>
            <a:endParaRPr lang="en-US" sz="8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85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업무(Work Activities) 차원의 근거</a:t>
            </a:r>
            <a:endParaRPr lang="en-US" sz="8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8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적용방안 ② 부가정보 보강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워크피디아 다차원 정보 + KNOW 숙련도·중요도 데이터를 KSCO와 연계</a:t>
            </a:r>
            <a:endParaRPr lang="en-US" sz="8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85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지식·기술·능력·도구·환경 차원의 근거</a:t>
            </a:r>
            <a:endParaRPr lang="en-US" sz="8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8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적용방안 ③ KQF/SQF 연계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수준별 정의 구조를 역량 수준 연계 형태로 설계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완료 분야 중심 선별 적용</a:t>
            </a:r>
            <a:endParaRPr lang="en-US" sz="8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85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역량 수준(Level) 연계 가능성 확보</a:t>
            </a:r>
            <a:endParaRPr lang="en-US" sz="8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8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85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이상의 분석 결과가 한국형 직능유형</a:t>
            </a:r>
            <a:endParaRPr lang="en-US" sz="8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85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6대 차원(업무, 지식, 기술, 능력, 도구, 환경)</a:t>
            </a:r>
            <a:endParaRPr lang="en-US" sz="8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85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설계의 실증적 근거로 직접 활용됨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77240" y="137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[영역3] 한국형 직능유형 6대 차원 프레임워크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601200" y="137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Ⅱ. 연구 수행 방안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02920"/>
            <a:ext cx="1161288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594360"/>
            <a:ext cx="1161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국내외 사례 분석 결과를 기반으로, 직업 수행의 핵심 요소를 중심으로 업무·지식·기술·능력·도구·환경의 6대 차원을 제안함.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3749040" cy="1965960"/>
          </a:xfrm>
          <a:prstGeom prst="rect">
            <a:avLst/>
          </a:prstGeom>
          <a:solidFill>
            <a:srgbClr val="1E1E3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887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(Work Activities)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7373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직업 수행 과정에서 수행되는 주요 업무활동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(정보수집, 데이터분석, 의사결정, 대인서비스 등)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42232" y="1097280"/>
            <a:ext cx="3749040" cy="1965960"/>
          </a:xfrm>
          <a:prstGeom prst="rect">
            <a:avLst/>
          </a:prstGeom>
          <a:solidFill>
            <a:srgbClr val="1E1E3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79392" y="11887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(Knowledge)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79392" y="17373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직무 수행을 위해 요구되는 이론적·전문적 지식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(사업·경영, 공학·기술, 수학·과학, 보건 등 33개 분야)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010144" y="1097280"/>
            <a:ext cx="3749040" cy="1965960"/>
          </a:xfrm>
          <a:prstGeom prst="rect">
            <a:avLst/>
          </a:prstGeom>
          <a:solidFill>
            <a:srgbClr val="1E1E3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47304" y="11887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(Skills)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47304" y="17373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과정에서 활용되는 실무적 기술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(기본기술, 교차기능기술 등 약 25개 요소)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3182112"/>
            <a:ext cx="3749040" cy="1965960"/>
          </a:xfrm>
          <a:prstGeom prst="rect">
            <a:avLst/>
          </a:prstGeom>
          <a:solidFill>
            <a:srgbClr val="1E1E3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2735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능력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(Abilities)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3822192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직무 수행에 요구되는 인지적·신체적 능력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(인지·정신운동·신체·감각 능력 등 52개)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142232" y="3182112"/>
            <a:ext cx="3749040" cy="1965960"/>
          </a:xfrm>
          <a:prstGeom prst="rect">
            <a:avLst/>
          </a:prstGeom>
          <a:solidFill>
            <a:srgbClr val="1E1E3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79392" y="32735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(Tools &amp; Tech)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79392" y="3822192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수행에 활용되는 장비, 기술, 소프트웨어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(기술 스킬, 장비·도구, 신기술)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010144" y="3182112"/>
            <a:ext cx="3749040" cy="1965960"/>
          </a:xfrm>
          <a:prstGeom prst="rect">
            <a:avLst/>
          </a:prstGeom>
          <a:solidFill>
            <a:srgbClr val="1E1E3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47304" y="32735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(Work Context)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47304" y="3822192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수행 과정의 물리적·사회적 환경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(실내·실외, 온도·소음, 대면빈도, 팀작업)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389120" y="3063240"/>
            <a:ext cx="338328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4389120" y="30632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KSCO 직업정보 프레임워크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" y="5212080"/>
            <a:ext cx="11612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O*NET 콘텐츠 모델의 구조와 국내 직업정보 활용 특성을 종합적으로 검토하여 설계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6대 차원(안)은 연구 수행 과정에서 국내외 사례 분석 및 전문가 검토를 거쳐 조정·확정 가능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일회성 분석 도구가 아닌, 향후 직업정보가 지속적으로 축적·갱신될 수 있는 프레임워크로서 설계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77240" y="137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[영역3] 구성요소 설계 기준 및 정책적 활용 방안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601200" y="137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Ⅱ. 연구 수행 방안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02920"/>
            <a:ext cx="1161288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594360"/>
            <a:ext cx="1161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직능유형 구성요소는 직업 간 비교 가능하고 행정 데이터와 연계 가능한 구조로 설계하며, 직업분류 개정 및 정책 현장에서 직접 활용 가능한 형태로 제시함.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5669280" cy="5440680"/>
          </a:xfrm>
          <a:prstGeom prst="rect">
            <a:avLst/>
          </a:prstGeom>
          <a:solidFill>
            <a:srgbClr val="1E1E3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97280"/>
            <a:ext cx="566928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097280"/>
            <a:ext cx="5449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구성요소 설계 기준 3가지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1444752"/>
            <a:ext cx="5449824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① 직업 간 기능적 비교가 가능한 구조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직업 수행 활동의 공통성을 고려하여 표준화된 직무활동 단위 설정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차원별 측정 가능한 직능유형 구성요소 선정·구조화</a:t>
            </a:r>
            <a:endParaRPr lang="en-US" sz="8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8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② 행정 데이터와 연계 가능한 구조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고용보험, 국가자격 등 행정 데이터와 직접 연결 가능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정책 현장에서 해석 및 활용 가능하도록 구체적 적용방안과 함께 제시</a:t>
            </a:r>
            <a:endParaRPr lang="en-US" sz="8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8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③ 직업분류 체계와 연계 가능한 정보 구조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KSCO 개정 시 직접 활용 가능한 형태로 제시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구성요소에 대한 개념 정의와 적용 기준을 함께 제시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활용 기반 마련</a:t>
            </a:r>
            <a:endParaRPr lang="en-US" sz="8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8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85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산출물: 직업정보 프레임워크 설계서,</a:t>
            </a:r>
            <a:endParaRPr lang="en-US" sz="8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85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        구성요소 정의 및 적용기준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5760720" cy="5440680"/>
          </a:xfrm>
          <a:prstGeom prst="rect">
            <a:avLst/>
          </a:prstGeom>
          <a:solidFill>
            <a:srgbClr val="1E1E3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097280"/>
            <a:ext cx="576072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6236208" y="1097280"/>
            <a:ext cx="5541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정책적 활용 방안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36208" y="1444752"/>
            <a:ext cx="5541264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직업군 재구조화 검토 지원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직업 간 기능적 유사성 분석을 통한 직업군 통합·분리 검토</a:t>
            </a:r>
            <a:endParaRPr lang="en-US" sz="8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8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신규 직업 분류 배치 근거 제공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직업의 기능적 위치 파악 및 분류 체계 내 배치</a:t>
            </a:r>
            <a:endParaRPr lang="en-US" sz="8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8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직업분류 개정 시 체계적 분석 기반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직무활동 데이터에 기반한 객관적 분류 기준 활용</a:t>
            </a:r>
            <a:endParaRPr lang="en-US" sz="8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8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직업 간 전환 가능성 분석 기초 자료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고용서비스(직업상담, 취업알선)에서 전직 경로 분석</a:t>
            </a:r>
            <a:endParaRPr lang="en-US" sz="8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8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직업 변동 모니터링 체계 구축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산업구조 변화·기술혁신에 따른 직업 변동 추적·예측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77240" y="137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[영역4] 시뮬레이션 검증 및 전문가 검토·조정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601200" y="137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Ⅱ. 연구 수행 방안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02920"/>
            <a:ext cx="1161288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594360"/>
            <a:ext cx="1161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직무 특성이 상이한 중분류 2~3개를 대상으로 시뮬레이션을 실시하고, 정량 분석과 전문가 정성 평가를 병행하여 프레임워크의 실증적 타당성을 검증함.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5669280" cy="5440680"/>
          </a:xfrm>
          <a:prstGeom prst="rect">
            <a:avLst/>
          </a:prstGeom>
          <a:solidFill>
            <a:srgbClr val="1E1E3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97280"/>
            <a:ext cx="566928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097280"/>
            <a:ext cx="5449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시뮬레이션 계획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1444752"/>
            <a:ext cx="5449824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대상 선정 기준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직무 특성이 서로 다른 산업 영역을 대표하는 직업군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 기반 직업과 기술 기반 직업을 모두 포함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전문서비스 영역 + 생산·기술 영역 각 1개 이상</a:t>
            </a:r>
            <a:endParaRPr lang="en-US" sz="8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8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4단계 시뮬레이션 분석 절차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직업 설명 분석: 선정 중분류 내 세분류 직업의 설명·주요업무·관련 정보 종합분석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활동 추출·정리: AI 기반 텍스트 분석으로 직업 수행 활동 추출, 행동 중심 정리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차원별 재구성: 추출된 활동을 6대 차원에 따라 분류, 직능유형 요소로 재구성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변별력 검토: 직업 간 구조 비교를 통해 각 차원의 구성요소 유의미성 확인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5760720" cy="5440680"/>
          </a:xfrm>
          <a:prstGeom prst="rect">
            <a:avLst/>
          </a:prstGeom>
          <a:solidFill>
            <a:srgbClr val="1E1E3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097280"/>
            <a:ext cx="576072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6236208" y="1097280"/>
            <a:ext cx="5541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및 확정 절차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36208" y="1444752"/>
            <a:ext cx="5541264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이중 검증 체계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정량 분석: 차원별 적용 가능성, 변별력, 일관성 등 통계적 분석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정성 평가: 직업분류·직무분석·노동시장 분야 전문가 검토</a:t>
            </a:r>
            <a:endParaRPr lang="en-US" sz="8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8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전문가 검토 주요 항목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직능유형 차원 구분의 적절성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차원별 구성요소 타당성 및 변별력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한국표준직업분류 체계와의 정합성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정책 현장 적용 가능성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직업분류 개정 시 활용 가능성</a:t>
            </a:r>
            <a:endParaRPr lang="en-US" sz="8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8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최종 확정 프로세스</a:t>
            </a:r>
            <a:endParaRPr lang="en-US" sz="85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시뮬레이션 실행 → 결과 분석 → 전문가 검토 → 피드백 반영 → 구성요소 최종 보완·확정</a:t>
            </a:r>
            <a:endParaRPr lang="en-US" sz="8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8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85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산출물: 시뮬레이션 결과보고서, 전문가 검토 의견서, 직업정보 프레임워크 최종안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연구 수행 방안</dc:title>
  <dc:subject>PptxGenJS Presentation</dc:subject>
  <dc:creator>(사)한국직업자격학회</dc:creator>
  <cp:lastModifiedBy>(사)한국직업자격학회</cp:lastModifiedBy>
  <cp:revision>1</cp:revision>
  <dcterms:created xsi:type="dcterms:W3CDTF">2026-04-16T00:59:06Z</dcterms:created>
  <dcterms:modified xsi:type="dcterms:W3CDTF">2026-04-16T00:59:06Z</dcterms:modified>
</cp:coreProperties>
</file>